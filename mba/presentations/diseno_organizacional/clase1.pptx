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handoutMasterIdLst>
    <p:handoutMasterId r:id="rId45"/>
  </p:handoutMasterIdLst>
  <p:sldIdLst>
    <p:sldId id="291" r:id="rId2"/>
    <p:sldId id="293" r:id="rId3"/>
    <p:sldId id="294" r:id="rId4"/>
    <p:sldId id="295" r:id="rId5"/>
    <p:sldId id="339" r:id="rId6"/>
    <p:sldId id="296" r:id="rId7"/>
    <p:sldId id="297" r:id="rId8"/>
    <p:sldId id="337" r:id="rId9"/>
    <p:sldId id="338" r:id="rId10"/>
    <p:sldId id="299" r:id="rId11"/>
    <p:sldId id="300" r:id="rId12"/>
    <p:sldId id="301" r:id="rId13"/>
    <p:sldId id="302" r:id="rId14"/>
    <p:sldId id="303" r:id="rId15"/>
    <p:sldId id="304" r:id="rId16"/>
    <p:sldId id="305" r:id="rId17"/>
    <p:sldId id="306" r:id="rId18"/>
    <p:sldId id="307" r:id="rId19"/>
    <p:sldId id="308" r:id="rId20"/>
    <p:sldId id="309" r:id="rId21"/>
    <p:sldId id="310" r:id="rId22"/>
    <p:sldId id="311" r:id="rId23"/>
    <p:sldId id="312" r:id="rId24"/>
    <p:sldId id="333" r:id="rId25"/>
    <p:sldId id="332" r:id="rId26"/>
    <p:sldId id="334" r:id="rId27"/>
    <p:sldId id="314" r:id="rId28"/>
    <p:sldId id="316" r:id="rId29"/>
    <p:sldId id="317" r:id="rId30"/>
    <p:sldId id="318" r:id="rId31"/>
    <p:sldId id="319" r:id="rId32"/>
    <p:sldId id="320" r:id="rId33"/>
    <p:sldId id="321" r:id="rId34"/>
    <p:sldId id="336" r:id="rId35"/>
    <p:sldId id="323" r:id="rId36"/>
    <p:sldId id="324" r:id="rId37"/>
    <p:sldId id="325" r:id="rId38"/>
    <p:sldId id="326" r:id="rId39"/>
    <p:sldId id="327" r:id="rId40"/>
    <p:sldId id="328" r:id="rId41"/>
    <p:sldId id="329" r:id="rId42"/>
    <p:sldId id="330" r:id="rId43"/>
  </p:sldIdLst>
  <p:sldSz cx="9144000" cy="6858000" type="screen4x3"/>
  <p:notesSz cx="7099300" cy="10234613"/>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0060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1197" autoAdjust="0"/>
  </p:normalViewPr>
  <p:slideViewPr>
    <p:cSldViewPr>
      <p:cViewPr varScale="1">
        <p:scale>
          <a:sx n="74" d="100"/>
          <a:sy n="74" d="100"/>
        </p:scale>
        <p:origin x="1084" y="56"/>
      </p:cViewPr>
      <p:guideLst>
        <p:guide orient="horz" pos="2160"/>
        <p:guide pos="2880"/>
      </p:guideLst>
    </p:cSldViewPr>
  </p:slideViewPr>
  <p:notesTextViewPr>
    <p:cViewPr>
      <p:scale>
        <a:sx n="100" d="100"/>
        <a:sy n="100" d="100"/>
      </p:scale>
      <p:origin x="0" y="0"/>
    </p:cViewPr>
  </p:notesTextViewPr>
  <p:sorterViewPr>
    <p:cViewPr>
      <p:scale>
        <a:sx n="144" d="100"/>
        <a:sy n="144" d="100"/>
      </p:scale>
      <p:origin x="0" y="-13684"/>
    </p:cViewPr>
  </p:sorterViewPr>
  <p:notesViewPr>
    <p:cSldViewPr>
      <p:cViewPr varScale="1">
        <p:scale>
          <a:sx n="60" d="100"/>
          <a:sy n="60" d="100"/>
        </p:scale>
        <p:origin x="-2478" y="-78"/>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ana delle donne" userId="bccfde87c812eabf" providerId="LiveId" clId="{63C4EB39-52B5-4101-B6B9-27F9C95430F6}"/>
    <pc:docChg chg="modSld">
      <pc:chgData name="adriana delle donne" userId="bccfde87c812eabf" providerId="LiveId" clId="{63C4EB39-52B5-4101-B6B9-27F9C95430F6}" dt="2026-08-05T19:57:24.097" v="40" actId="1076"/>
      <pc:docMkLst>
        <pc:docMk/>
      </pc:docMkLst>
      <pc:sldChg chg="addSp modSp mod">
        <pc:chgData name="adriana delle donne" userId="bccfde87c812eabf" providerId="LiveId" clId="{63C4EB39-52B5-4101-B6B9-27F9C95430F6}" dt="2026-08-05T19:57:24.097" v="40" actId="1076"/>
        <pc:sldMkLst>
          <pc:docMk/>
          <pc:sldMk cId="2043617278" sldId="337"/>
        </pc:sldMkLst>
        <pc:spChg chg="add mod">
          <ac:chgData name="adriana delle donne" userId="bccfde87c812eabf" providerId="LiveId" clId="{63C4EB39-52B5-4101-B6B9-27F9C95430F6}" dt="2026-08-05T19:57:15.081" v="39" actId="113"/>
          <ac:spMkLst>
            <pc:docMk/>
            <pc:sldMk cId="2043617278" sldId="337"/>
            <ac:spMk id="3" creationId="{BB80AF19-AA4D-8386-A633-64839A55A2E4}"/>
          </ac:spMkLst>
        </pc:spChg>
        <pc:spChg chg="mod">
          <ac:chgData name="adriana delle donne" userId="bccfde87c812eabf" providerId="LiveId" clId="{63C4EB39-52B5-4101-B6B9-27F9C95430F6}" dt="2026-08-05T19:57:24.097" v="40" actId="1076"/>
          <ac:spMkLst>
            <pc:docMk/>
            <pc:sldMk cId="2043617278" sldId="337"/>
            <ac:spMk id="6" creationId="{A10EE227-7407-A57F-4E6D-D8BA56FEA4E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1175"/>
          </a:xfrm>
          <a:prstGeom prst="rect">
            <a:avLst/>
          </a:prstGeom>
        </p:spPr>
        <p:txBody>
          <a:bodyPr vert="horz" lIns="99048" tIns="49524" rIns="99048" bIns="49524" rtlCol="0"/>
          <a:lstStyle>
            <a:lvl1pPr algn="l" eaLnBrk="1" hangingPunct="1">
              <a:defRPr sz="1300">
                <a:latin typeface="Arial" charset="0"/>
              </a:defRPr>
            </a:lvl1pPr>
          </a:lstStyle>
          <a:p>
            <a:pPr>
              <a:defRPr/>
            </a:pPr>
            <a:endParaRPr lang="en-US"/>
          </a:p>
        </p:txBody>
      </p:sp>
      <p:sp>
        <p:nvSpPr>
          <p:cNvPr id="3" name="Date Placeholder 2"/>
          <p:cNvSpPr>
            <a:spLocks noGrp="1"/>
          </p:cNvSpPr>
          <p:nvPr>
            <p:ph type="dt" sz="quarter" idx="1"/>
          </p:nvPr>
        </p:nvSpPr>
        <p:spPr>
          <a:xfrm>
            <a:off x="4021138" y="0"/>
            <a:ext cx="3076575" cy="511175"/>
          </a:xfrm>
          <a:prstGeom prst="rect">
            <a:avLst/>
          </a:prstGeom>
        </p:spPr>
        <p:txBody>
          <a:bodyPr vert="horz" lIns="99048" tIns="49524" rIns="99048" bIns="49524" rtlCol="0"/>
          <a:lstStyle>
            <a:lvl1pPr algn="r" eaLnBrk="1" hangingPunct="1">
              <a:defRPr sz="1300">
                <a:latin typeface="Arial" charset="0"/>
              </a:defRPr>
            </a:lvl1pPr>
          </a:lstStyle>
          <a:p>
            <a:pPr>
              <a:defRPr/>
            </a:pPr>
            <a:fld id="{8286F339-F4CE-447E-A448-43AF179C305B}" type="datetimeFigureOut">
              <a:rPr lang="en-US"/>
              <a:pPr>
                <a:defRPr/>
              </a:pPr>
              <a:t>8/5/2026</a:t>
            </a:fld>
            <a:endParaRPr lang="en-US"/>
          </a:p>
        </p:txBody>
      </p:sp>
      <p:sp>
        <p:nvSpPr>
          <p:cNvPr id="4" name="Footer Placeholder 3"/>
          <p:cNvSpPr>
            <a:spLocks noGrp="1"/>
          </p:cNvSpPr>
          <p:nvPr>
            <p:ph type="ftr" sz="quarter" idx="2"/>
          </p:nvPr>
        </p:nvSpPr>
        <p:spPr>
          <a:xfrm>
            <a:off x="0" y="9721850"/>
            <a:ext cx="3076575" cy="511175"/>
          </a:xfrm>
          <a:prstGeom prst="rect">
            <a:avLst/>
          </a:prstGeom>
        </p:spPr>
        <p:txBody>
          <a:bodyPr vert="horz" lIns="99048" tIns="49524" rIns="99048" bIns="49524" rtlCol="0" anchor="b"/>
          <a:lstStyle>
            <a:lvl1pPr algn="l" eaLnBrk="1" hangingPunct="1">
              <a:defRPr sz="1300">
                <a:latin typeface="Arial" charset="0"/>
              </a:defRPr>
            </a:lvl1pPr>
          </a:lstStyle>
          <a:p>
            <a:pPr>
              <a:defRPr/>
            </a:pPr>
            <a:endParaRPr lang="en-US"/>
          </a:p>
        </p:txBody>
      </p:sp>
      <p:sp>
        <p:nvSpPr>
          <p:cNvPr id="5" name="Slide Number Placeholder 4"/>
          <p:cNvSpPr>
            <a:spLocks noGrp="1"/>
          </p:cNvSpPr>
          <p:nvPr>
            <p:ph type="sldNum" sz="quarter" idx="3"/>
          </p:nvPr>
        </p:nvSpPr>
        <p:spPr>
          <a:xfrm>
            <a:off x="4021138" y="9721850"/>
            <a:ext cx="3076575" cy="511175"/>
          </a:xfrm>
          <a:prstGeom prst="rect">
            <a:avLst/>
          </a:prstGeom>
        </p:spPr>
        <p:txBody>
          <a:bodyPr vert="horz" wrap="square" lIns="99048" tIns="49524" rIns="99048" bIns="49524" numCol="1" anchor="b" anchorCtr="0" compatLnSpc="1">
            <a:prstTxWarp prst="textNoShape">
              <a:avLst/>
            </a:prstTxWarp>
          </a:bodyPr>
          <a:lstStyle>
            <a:lvl1pPr algn="r" eaLnBrk="1" hangingPunct="1">
              <a:defRPr sz="1300"/>
            </a:lvl1pPr>
          </a:lstStyle>
          <a:p>
            <a:fld id="{C98DCBA1-C81C-43B3-B667-F60DA5745595}" type="slidenum">
              <a:rPr lang="en-US" altLang="es-AR"/>
              <a:pPr/>
              <a:t>‹Nº›</a:t>
            </a:fld>
            <a:endParaRPr lang="en-US" altLang="es-AR"/>
          </a:p>
        </p:txBody>
      </p:sp>
    </p:spTree>
    <p:extLst>
      <p:ext uri="{BB962C8B-B14F-4D97-AF65-F5344CB8AC3E}">
        <p14:creationId xmlns:p14="http://schemas.microsoft.com/office/powerpoint/2010/main" val="15616761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1175"/>
          </a:xfrm>
          <a:prstGeom prst="rect">
            <a:avLst/>
          </a:prstGeom>
        </p:spPr>
        <p:txBody>
          <a:bodyPr vert="horz" lIns="99048" tIns="49524" rIns="99048" bIns="49524" rtlCol="0"/>
          <a:lstStyle>
            <a:lvl1pPr algn="l" eaLnBrk="1" hangingPunct="1">
              <a:defRPr sz="1300">
                <a:latin typeface="Arial" charset="0"/>
              </a:defRPr>
            </a:lvl1pPr>
          </a:lstStyle>
          <a:p>
            <a:pPr>
              <a:defRPr/>
            </a:pPr>
            <a:endParaRPr lang="en-US"/>
          </a:p>
        </p:txBody>
      </p:sp>
      <p:sp>
        <p:nvSpPr>
          <p:cNvPr id="3" name="Date Placeholder 2"/>
          <p:cNvSpPr>
            <a:spLocks noGrp="1"/>
          </p:cNvSpPr>
          <p:nvPr>
            <p:ph type="dt" idx="1"/>
          </p:nvPr>
        </p:nvSpPr>
        <p:spPr>
          <a:xfrm>
            <a:off x="4021138" y="0"/>
            <a:ext cx="3076575" cy="511175"/>
          </a:xfrm>
          <a:prstGeom prst="rect">
            <a:avLst/>
          </a:prstGeom>
        </p:spPr>
        <p:txBody>
          <a:bodyPr vert="horz" lIns="99048" tIns="49524" rIns="99048" bIns="49524" rtlCol="0"/>
          <a:lstStyle>
            <a:lvl1pPr algn="r" eaLnBrk="1" hangingPunct="1">
              <a:defRPr sz="1300">
                <a:latin typeface="Arial" charset="0"/>
              </a:defRPr>
            </a:lvl1pPr>
          </a:lstStyle>
          <a:p>
            <a:pPr>
              <a:defRPr/>
            </a:pPr>
            <a:fld id="{EF75DCD2-C77D-456E-917A-4E772FDEFA13}" type="datetimeFigureOut">
              <a:rPr lang="en-US"/>
              <a:pPr>
                <a:defRPr/>
              </a:pPr>
              <a:t>8/5/2026</a:t>
            </a:fld>
            <a:endParaRPr lang="en-US"/>
          </a:p>
        </p:txBody>
      </p:sp>
      <p:sp>
        <p:nvSpPr>
          <p:cNvPr id="4" name="Slide Image Placehold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pPr lvl="0"/>
            <a:endParaRPr lang="en-US" noProof="0"/>
          </a:p>
        </p:txBody>
      </p:sp>
      <p:sp>
        <p:nvSpPr>
          <p:cNvPr id="5" name="Notes Placeholder 4"/>
          <p:cNvSpPr>
            <a:spLocks noGrp="1"/>
          </p:cNvSpPr>
          <p:nvPr>
            <p:ph type="body" sz="quarter" idx="3"/>
          </p:nvPr>
        </p:nvSpPr>
        <p:spPr>
          <a:xfrm>
            <a:off x="709613" y="4860925"/>
            <a:ext cx="5680075" cy="4605338"/>
          </a:xfrm>
          <a:prstGeom prst="rect">
            <a:avLst/>
          </a:prstGeom>
        </p:spPr>
        <p:txBody>
          <a:bodyPr vert="horz" lIns="99048" tIns="49524" rIns="99048" bIns="49524"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721850"/>
            <a:ext cx="3076575" cy="511175"/>
          </a:xfrm>
          <a:prstGeom prst="rect">
            <a:avLst/>
          </a:prstGeom>
        </p:spPr>
        <p:txBody>
          <a:bodyPr vert="horz" lIns="99048" tIns="49524" rIns="99048" bIns="49524" rtlCol="0" anchor="b"/>
          <a:lstStyle>
            <a:lvl1pPr algn="l" eaLnBrk="1" hangingPunct="1">
              <a:defRPr sz="1300">
                <a:latin typeface="Arial" charset="0"/>
              </a:defRPr>
            </a:lvl1pPr>
          </a:lstStyle>
          <a:p>
            <a:pPr>
              <a:defRPr/>
            </a:pPr>
            <a:endParaRPr lang="en-US"/>
          </a:p>
        </p:txBody>
      </p:sp>
      <p:sp>
        <p:nvSpPr>
          <p:cNvPr id="7" name="Slide Number Placeholder 6"/>
          <p:cNvSpPr>
            <a:spLocks noGrp="1"/>
          </p:cNvSpPr>
          <p:nvPr>
            <p:ph type="sldNum" sz="quarter" idx="5"/>
          </p:nvPr>
        </p:nvSpPr>
        <p:spPr>
          <a:xfrm>
            <a:off x="4021138" y="9721850"/>
            <a:ext cx="3076575" cy="511175"/>
          </a:xfrm>
          <a:prstGeom prst="rect">
            <a:avLst/>
          </a:prstGeom>
        </p:spPr>
        <p:txBody>
          <a:bodyPr vert="horz" wrap="square" lIns="99048" tIns="49524" rIns="99048" bIns="49524" numCol="1" anchor="b" anchorCtr="0" compatLnSpc="1">
            <a:prstTxWarp prst="textNoShape">
              <a:avLst/>
            </a:prstTxWarp>
          </a:bodyPr>
          <a:lstStyle>
            <a:lvl1pPr algn="r" eaLnBrk="1" hangingPunct="1">
              <a:defRPr sz="1300"/>
            </a:lvl1pPr>
          </a:lstStyle>
          <a:p>
            <a:fld id="{225F76C3-8B63-4571-95E5-A6800F961334}" type="slidenum">
              <a:rPr lang="en-US" altLang="es-AR"/>
              <a:pPr/>
              <a:t>‹Nº›</a:t>
            </a:fld>
            <a:endParaRPr lang="en-US" altLang="es-AR"/>
          </a:p>
        </p:txBody>
      </p:sp>
    </p:spTree>
    <p:extLst>
      <p:ext uri="{BB962C8B-B14F-4D97-AF65-F5344CB8AC3E}">
        <p14:creationId xmlns:p14="http://schemas.microsoft.com/office/powerpoint/2010/main" val="30640032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4" name="Rectangle 6"/>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9"/>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10"/>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000">
                <a:solidFill>
                  <a:srgbClr val="FFFFFF"/>
                </a:solidFill>
              </a:defRPr>
            </a:lvl1pPr>
          </a:lstStyle>
          <a:p>
            <a:pPr>
              <a:defRPr/>
            </a:pPr>
            <a:endParaRPr lang="en-US"/>
          </a:p>
        </p:txBody>
      </p:sp>
      <p:sp>
        <p:nvSpPr>
          <p:cNvPr id="10"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endParaRPr lang="en-US"/>
          </a:p>
        </p:txBody>
      </p:sp>
      <p:sp>
        <p:nvSpPr>
          <p:cNvPr id="11"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7F738DB3-BA8E-4E8C-85A4-AB5FE415A9AE}" type="slidenum">
              <a:rPr lang="en-US" altLang="es-AR"/>
              <a:pPr/>
              <a:t>‹Nº›</a:t>
            </a:fld>
            <a:endParaRPr lang="en-US" altLang="es-AR"/>
          </a:p>
        </p:txBody>
      </p:sp>
    </p:spTree>
    <p:extLst>
      <p:ext uri="{BB962C8B-B14F-4D97-AF65-F5344CB8AC3E}">
        <p14:creationId xmlns:p14="http://schemas.microsoft.com/office/powerpoint/2010/main" val="30153580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lang="en-US"/>
              <a:t>Click to edit Master title style</a:t>
            </a:r>
          </a:p>
        </p:txBody>
      </p:sp>
      <p:sp>
        <p:nvSpPr>
          <p:cNvPr id="8" name="Content Placeholder 7"/>
          <p:cNvSpPr>
            <a:spLocks noGrp="1"/>
          </p:cNvSpPr>
          <p:nvPr>
            <p:ph sz="quarter" idx="1"/>
          </p:nvPr>
        </p:nvSpPr>
        <p:spPr>
          <a:xfrm>
            <a:off x="612648" y="1600200"/>
            <a:ext cx="81534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r>
              <a:rPr lang="en-US"/>
              <a:t>6 y 7 de abril</a:t>
            </a:r>
            <a:endParaRPr lang="en-US" dirty="0"/>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fld id="{D45FF577-3E5A-41AA-B027-50438E4DF553}" type="slidenum">
              <a:rPr lang="en-US" altLang="es-AR"/>
              <a:pPr/>
              <a:t>‹Nº›</a:t>
            </a:fld>
            <a:endParaRPr lang="en-US" altLang="es-AR"/>
          </a:p>
        </p:txBody>
      </p:sp>
    </p:spTree>
    <p:extLst>
      <p:ext uri="{BB962C8B-B14F-4D97-AF65-F5344CB8AC3E}">
        <p14:creationId xmlns:p14="http://schemas.microsoft.com/office/powerpoint/2010/main" val="494747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a:lvl1pPr>
          </a:lstStyle>
          <a:p>
            <a:pPr>
              <a:defRPr/>
            </a:pPr>
            <a:r>
              <a:rPr lang="en-US"/>
              <a:t>6 y 7 de abril</a:t>
            </a:r>
            <a:endParaRPr lang="en-US" dirty="0"/>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a:lvl1pPr>
          </a:lstStyle>
          <a:p>
            <a:fld id="{727B4F04-DDA9-44D4-8EF0-54A68A1552F5}" type="slidenum">
              <a:rPr lang="en-US" altLang="es-AR"/>
              <a:pPr/>
              <a:t>‹Nº›</a:t>
            </a:fld>
            <a:endParaRPr lang="en-US" altLang="es-AR"/>
          </a:p>
        </p:txBody>
      </p:sp>
      <p:sp>
        <p:nvSpPr>
          <p:cNvPr id="9" name="Footer Placeholder 13"/>
          <p:cNvSpPr>
            <a:spLocks noGrp="1"/>
          </p:cNvSpPr>
          <p:nvPr>
            <p:ph type="ftr"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274504424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rtlCol="0"/>
          <a:lstStyle>
            <a:lvl1pPr>
              <a:defRPr/>
            </a:lvl1pPr>
          </a:lstStyle>
          <a:p>
            <a:pPr>
              <a:defRPr/>
            </a:pPr>
            <a:r>
              <a:rPr lang="en-US"/>
              <a:t>6 y 7 de abril</a:t>
            </a:r>
          </a:p>
        </p:txBody>
      </p:sp>
      <p:sp>
        <p:nvSpPr>
          <p:cNvPr id="6" name="Slide Number Placeholder 9"/>
          <p:cNvSpPr>
            <a:spLocks noGrp="1"/>
          </p:cNvSpPr>
          <p:nvPr>
            <p:ph type="sldNum" sz="quarter" idx="11"/>
          </p:nvPr>
        </p:nvSpPr>
        <p:spPr/>
        <p:txBody>
          <a:bodyPr/>
          <a:lstStyle>
            <a:lvl1pPr>
              <a:defRPr/>
            </a:lvl1pPr>
          </a:lstStyle>
          <a:p>
            <a:fld id="{A6401167-8941-4E5A-AB97-B58C5C01768A}" type="slidenum">
              <a:rPr lang="en-US" altLang="es-AR"/>
              <a:pPr/>
              <a:t>‹Nº›</a:t>
            </a:fld>
            <a:endParaRPr lang="en-US" altLang="es-AR"/>
          </a:p>
        </p:txBody>
      </p:sp>
      <p:sp>
        <p:nvSpPr>
          <p:cNvPr id="7" name="Footer Placeholder 11"/>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3765264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a:lvl1pPr>
          </a:lstStyle>
          <a:p>
            <a:pPr>
              <a:defRPr/>
            </a:pPr>
            <a:r>
              <a:rPr lang="en-US"/>
              <a:t>6 y 7 de abril</a:t>
            </a:r>
          </a:p>
        </p:txBody>
      </p:sp>
      <p:sp>
        <p:nvSpPr>
          <p:cNvPr id="8" name="Slide Number Placeholder 11"/>
          <p:cNvSpPr>
            <a:spLocks noGrp="1"/>
          </p:cNvSpPr>
          <p:nvPr>
            <p:ph type="sldNum" sz="quarter" idx="11"/>
          </p:nvPr>
        </p:nvSpPr>
        <p:spPr/>
        <p:txBody>
          <a:bodyPr/>
          <a:lstStyle>
            <a:lvl1pPr>
              <a:defRPr/>
            </a:lvl1pPr>
          </a:lstStyle>
          <a:p>
            <a:fld id="{B3C94ACD-CB72-4069-A99D-7C45AE8B97C1}" type="slidenum">
              <a:rPr lang="en-US" altLang="es-AR"/>
              <a:pPr/>
              <a:t>‹Nº›</a:t>
            </a:fld>
            <a:endParaRPr lang="en-US" altLang="es-AR"/>
          </a:p>
        </p:txBody>
      </p:sp>
      <p:sp>
        <p:nvSpPr>
          <p:cNvPr id="9" name="Footer Placeholder 13"/>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1632170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r>
              <a:rPr lang="en-US"/>
              <a:t>6 y 7 de abril</a:t>
            </a:r>
            <a:endParaRPr lang="en-US" dirty="0"/>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22"/>
          <p:cNvSpPr>
            <a:spLocks noGrp="1"/>
          </p:cNvSpPr>
          <p:nvPr>
            <p:ph type="sldNum" sz="quarter" idx="12"/>
          </p:nvPr>
        </p:nvSpPr>
        <p:spPr/>
        <p:txBody>
          <a:bodyPr/>
          <a:lstStyle>
            <a:lvl1pPr>
              <a:defRPr/>
            </a:lvl1pPr>
          </a:lstStyle>
          <a:p>
            <a:fld id="{9E625559-1E23-4D86-BFC4-DF5269061513}" type="slidenum">
              <a:rPr lang="en-US" altLang="es-AR"/>
              <a:pPr/>
              <a:t>‹Nº›</a:t>
            </a:fld>
            <a:endParaRPr lang="en-US" altLang="es-AR"/>
          </a:p>
        </p:txBody>
      </p:sp>
    </p:spTree>
    <p:extLst>
      <p:ext uri="{BB962C8B-B14F-4D97-AF65-F5344CB8AC3E}">
        <p14:creationId xmlns:p14="http://schemas.microsoft.com/office/powerpoint/2010/main" val="957278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r>
              <a:rPr lang="en-US"/>
              <a:t>6 y 7 de abril</a:t>
            </a:r>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4B8FF724-2742-47EF-8E9D-7DCC34684148}" type="slidenum">
              <a:rPr lang="en-US" altLang="es-AR"/>
              <a:pPr/>
              <a:t>‹Nº›</a:t>
            </a:fld>
            <a:endParaRPr lang="en-US" altLang="es-AR"/>
          </a:p>
        </p:txBody>
      </p:sp>
    </p:spTree>
    <p:extLst>
      <p:ext uri="{BB962C8B-B14F-4D97-AF65-F5344CB8AC3E}">
        <p14:creationId xmlns:p14="http://schemas.microsoft.com/office/powerpoint/2010/main" val="3974519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r>
              <a:rPr lang="en-US"/>
              <a:t>6 y 7 de abril</a:t>
            </a:r>
            <a:endParaRPr lang="en-US" dirty="0"/>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fld id="{4A290021-296B-4336-9C20-343121460681}" type="slidenum">
              <a:rPr lang="en-US" altLang="es-AR"/>
              <a:pPr/>
              <a:t>‹Nº›</a:t>
            </a:fld>
            <a:endParaRPr lang="en-US" altLang="es-AR"/>
          </a:p>
        </p:txBody>
      </p:sp>
    </p:spTree>
    <p:extLst>
      <p:ext uri="{BB962C8B-B14F-4D97-AF65-F5344CB8AC3E}">
        <p14:creationId xmlns:p14="http://schemas.microsoft.com/office/powerpoint/2010/main" val="38548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Rectangle 7"/>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8"/>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9"/>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Rectangle 10"/>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r>
              <a:rPr lang="en-US"/>
              <a:t>6 y 7 de abril</a:t>
            </a:r>
          </a:p>
        </p:txBody>
      </p:sp>
      <p:sp>
        <p:nvSpPr>
          <p:cNvPr id="10" name="Slide Number Placeholder 12"/>
          <p:cNvSpPr>
            <a:spLocks noGrp="1"/>
          </p:cNvSpPr>
          <p:nvPr>
            <p:ph type="sldNum" sz="quarter" idx="11"/>
          </p:nvPr>
        </p:nvSpPr>
        <p:spPr>
          <a:xfrm>
            <a:off x="0" y="4667250"/>
            <a:ext cx="1447800" cy="663575"/>
          </a:xfrm>
        </p:spPr>
        <p:txBody>
          <a:bodyPr/>
          <a:lstStyle>
            <a:lvl1pPr>
              <a:defRPr sz="2800"/>
            </a:lvl1pPr>
          </a:lstStyle>
          <a:p>
            <a:fld id="{FA263691-C17C-4B3E-B626-8A018191B239}" type="slidenum">
              <a:rPr lang="en-US" altLang="es-AR"/>
              <a:pPr/>
              <a:t>‹Nº›</a:t>
            </a:fld>
            <a:endParaRPr lang="en-US" altLang="es-AR"/>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endParaRPr lang="en-US"/>
          </a:p>
        </p:txBody>
      </p:sp>
    </p:spTree>
    <p:extLst>
      <p:ext uri="{BB962C8B-B14F-4D97-AF65-F5344CB8AC3E}">
        <p14:creationId xmlns:p14="http://schemas.microsoft.com/office/powerpoint/2010/main" val="98089999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r>
              <a:rPr lang="en-US"/>
              <a:t>6 y 7 de abril</a:t>
            </a:r>
            <a:endParaRPr lang="en-US" dirty="0"/>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fld id="{BB9A5B4A-758F-47E6-B4B8-FB250DDFEC4C}" type="slidenum">
              <a:rPr lang="en-US" altLang="es-AR"/>
              <a:pPr/>
              <a:t>‹Nº›</a:t>
            </a:fld>
            <a:endParaRPr lang="en-US" altLang="es-AR"/>
          </a:p>
        </p:txBody>
      </p:sp>
    </p:spTree>
    <p:extLst>
      <p:ext uri="{BB962C8B-B14F-4D97-AF65-F5344CB8AC3E}">
        <p14:creationId xmlns:p14="http://schemas.microsoft.com/office/powerpoint/2010/main" val="3506183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6"/>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r>
              <a:rPr lang="en-US"/>
              <a:t>6 y 7 de abril</a:t>
            </a:r>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endParaRPr lang="en-US"/>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fld id="{4572C4D4-2A4D-4F93-A652-D8F36D559F18}" type="slidenum">
              <a:rPr lang="en-US" altLang="es-AR"/>
              <a:pPr/>
              <a:t>‹Nº›</a:t>
            </a:fld>
            <a:endParaRPr lang="en-US" altLang="es-AR"/>
          </a:p>
        </p:txBody>
      </p:sp>
    </p:spTree>
    <p:extLst>
      <p:ext uri="{BB962C8B-B14F-4D97-AF65-F5344CB8AC3E}">
        <p14:creationId xmlns:p14="http://schemas.microsoft.com/office/powerpoint/2010/main" val="386608570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s-AR"/>
              <a:t>Click to edit Master title style</a:t>
            </a:r>
          </a:p>
        </p:txBody>
      </p:sp>
      <p:sp>
        <p:nvSpPr>
          <p:cNvPr id="1027" name="Text Placeholder 12"/>
          <p:cNvSpPr>
            <a:spLocks noGrp="1"/>
          </p:cNvSpPr>
          <p:nvPr>
            <p:ph type="body" idx="1"/>
          </p:nvPr>
        </p:nvSpPr>
        <p:spPr bwMode="auto">
          <a:xfrm>
            <a:off x="612775" y="1600200"/>
            <a:ext cx="8153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s-AR"/>
              <a:t>Click to edit Master text styles</a:t>
            </a:r>
          </a:p>
          <a:p>
            <a:pPr lvl="1"/>
            <a:r>
              <a:rPr lang="en-US" altLang="es-AR"/>
              <a:t>Second level</a:t>
            </a:r>
          </a:p>
          <a:p>
            <a:pPr lvl="2"/>
            <a:r>
              <a:rPr lang="en-US" altLang="es-AR"/>
              <a:t>Third level</a:t>
            </a:r>
          </a:p>
          <a:p>
            <a:pPr lvl="3"/>
            <a:r>
              <a:rPr lang="en-US" altLang="es-AR"/>
              <a:t>Fourth level</a:t>
            </a:r>
          </a:p>
          <a:p>
            <a:pPr lvl="4"/>
            <a:r>
              <a:rPr lang="en-US" altLang="es-AR"/>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Arial" charset="0"/>
              </a:defRPr>
            </a:lvl1pPr>
          </a:lstStyle>
          <a:p>
            <a:pPr>
              <a:defRPr/>
            </a:pPr>
            <a:r>
              <a:rPr lang="en-US"/>
              <a:t>6 y 7 de abril</a:t>
            </a:r>
            <a:endParaRPr lang="en-US" dirty="0"/>
          </a:p>
        </p:txBody>
      </p:sp>
      <p:sp>
        <p:nvSpPr>
          <p:cNvPr id="3" name="Footer Placeholder 2"/>
          <p:cNvSpPr>
            <a:spLocks noGrp="1"/>
          </p:cNvSpPr>
          <p:nvPr>
            <p:ph type="ftr" sz="quarter" idx="3"/>
          </p:nvPr>
        </p:nvSpPr>
        <p:spPr>
          <a:xfrm>
            <a:off x="609600" y="6248400"/>
            <a:ext cx="5421313" cy="365125"/>
          </a:xfrm>
          <a:prstGeom prst="rect">
            <a:avLst/>
          </a:prstGeom>
        </p:spPr>
        <p:txBody>
          <a:bodyPr vert="horz" anchor="ctr"/>
          <a:lstStyle>
            <a:lvl1pPr algn="r" eaLnBrk="1" latinLnBrk="0" hangingPunct="1">
              <a:defRPr kumimoji="0" sz="1400">
                <a:solidFill>
                  <a:schemeClr val="tx2"/>
                </a:solidFill>
                <a:latin typeface="Arial" charset="0"/>
              </a:defRPr>
            </a:lvl1pPr>
          </a:lstStyle>
          <a:p>
            <a:pPr>
              <a:defRPr/>
            </a:pPr>
            <a:endParaRPr lang="en-US"/>
          </a:p>
        </p:txBody>
      </p:sp>
      <p:sp>
        <p:nvSpPr>
          <p:cNvPr id="7" name="Rectangle 6"/>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Rectangle 8"/>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3" name="Slide Number Placeholder 22"/>
          <p:cNvSpPr>
            <a:spLocks noGrp="1"/>
          </p:cNvSpPr>
          <p:nvPr>
            <p:ph type="sldNum" sz="quarter" idx="4"/>
          </p:nvPr>
        </p:nvSpPr>
        <p:spPr>
          <a:xfrm>
            <a:off x="0" y="1271588"/>
            <a:ext cx="533400" cy="244475"/>
          </a:xfrm>
          <a:prstGeom prst="rect">
            <a:avLst/>
          </a:prstGeom>
        </p:spPr>
        <p:txBody>
          <a:bodyPr vert="horz" wrap="square" lIns="91440" tIns="45720" rIns="91440" bIns="45720" numCol="1" anchor="ctr" anchorCtr="0" compatLnSpc="1">
            <a:prstTxWarp prst="textNoShape">
              <a:avLst/>
            </a:prstTxWarp>
            <a:normAutofit/>
          </a:bodyPr>
          <a:lstStyle>
            <a:lvl1pPr algn="ctr" eaLnBrk="1" hangingPunct="1">
              <a:defRPr sz="1400" b="1">
                <a:solidFill>
                  <a:srgbClr val="FFFFFF"/>
                </a:solidFill>
              </a:defRPr>
            </a:lvl1pPr>
          </a:lstStyle>
          <a:p>
            <a:fld id="{3F464134-1F0A-4507-BFE1-E57CDEEA7BAD}" type="slidenum">
              <a:rPr lang="en-US" altLang="es-AR"/>
              <a:pPr/>
              <a:t>‹Nº›</a:t>
            </a:fld>
            <a:endParaRPr lang="en-US" altLang="es-AR"/>
          </a:p>
        </p:txBody>
      </p:sp>
    </p:spTree>
  </p:cSld>
  <p:clrMap bg1="lt1" tx1="dk1" bg2="lt2" tx2="dk2" accent1="accent1" accent2="accent2" accent3="accent3" accent4="accent4" accent5="accent5" accent6="accent6" hlink="hlink" folHlink="folHlink"/>
  <p:sldLayoutIdLst>
    <p:sldLayoutId id="2147484545" r:id="rId1"/>
    <p:sldLayoutId id="2147484526" r:id="rId2"/>
    <p:sldLayoutId id="2147484546" r:id="rId3"/>
    <p:sldLayoutId id="2147484547" r:id="rId4"/>
    <p:sldLayoutId id="2147484548" r:id="rId5"/>
    <p:sldLayoutId id="2147484527" r:id="rId6"/>
    <p:sldLayoutId id="2147484549" r:id="rId7"/>
    <p:sldLayoutId id="2147484528" r:id="rId8"/>
    <p:sldLayoutId id="2147484550" r:id="rId9"/>
    <p:sldLayoutId id="2147484529" r:id="rId10"/>
    <p:sldLayoutId id="2147484551" r:id="rId11"/>
  </p:sldLayoutIdLst>
  <p:hf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w Cen MT"/>
        </a:defRPr>
      </a:lvl2pPr>
      <a:lvl3pPr algn="l" rtl="0" eaLnBrk="0" fontAlgn="base" hangingPunct="0">
        <a:spcBef>
          <a:spcPct val="0"/>
        </a:spcBef>
        <a:spcAft>
          <a:spcPct val="0"/>
        </a:spcAft>
        <a:defRPr sz="4400">
          <a:solidFill>
            <a:schemeClr val="tx2"/>
          </a:solidFill>
          <a:latin typeface="Tw Cen MT"/>
        </a:defRPr>
      </a:lvl3pPr>
      <a:lvl4pPr algn="l" rtl="0" eaLnBrk="0" fontAlgn="base" hangingPunct="0">
        <a:spcBef>
          <a:spcPct val="0"/>
        </a:spcBef>
        <a:spcAft>
          <a:spcPct val="0"/>
        </a:spcAft>
        <a:defRPr sz="4400">
          <a:solidFill>
            <a:schemeClr val="tx2"/>
          </a:solidFill>
          <a:latin typeface="Tw Cen MT"/>
        </a:defRPr>
      </a:lvl4pPr>
      <a:lvl5pPr algn="l" rtl="0" eaLnBrk="0" fontAlgn="base" hangingPunct="0">
        <a:spcBef>
          <a:spcPct val="0"/>
        </a:spcBef>
        <a:spcAft>
          <a:spcPct val="0"/>
        </a:spcAft>
        <a:defRPr sz="4400">
          <a:solidFill>
            <a:schemeClr val="tx2"/>
          </a:solidFill>
          <a:latin typeface="Tw Cen MT"/>
        </a:defRPr>
      </a:lvl5pPr>
      <a:lvl6pPr marL="457200" algn="l" rtl="0" fontAlgn="base">
        <a:spcBef>
          <a:spcPct val="0"/>
        </a:spcBef>
        <a:spcAft>
          <a:spcPct val="0"/>
        </a:spcAft>
        <a:defRPr sz="4400">
          <a:solidFill>
            <a:schemeClr val="tx2"/>
          </a:solidFill>
          <a:latin typeface="Tw Cen MT"/>
        </a:defRPr>
      </a:lvl6pPr>
      <a:lvl7pPr marL="914400" algn="l" rtl="0" fontAlgn="base">
        <a:spcBef>
          <a:spcPct val="0"/>
        </a:spcBef>
        <a:spcAft>
          <a:spcPct val="0"/>
        </a:spcAft>
        <a:defRPr sz="4400">
          <a:solidFill>
            <a:schemeClr val="tx2"/>
          </a:solidFill>
          <a:latin typeface="Tw Cen MT"/>
        </a:defRPr>
      </a:lvl7pPr>
      <a:lvl8pPr marL="1371600" algn="l" rtl="0" fontAlgn="base">
        <a:spcBef>
          <a:spcPct val="0"/>
        </a:spcBef>
        <a:spcAft>
          <a:spcPct val="0"/>
        </a:spcAft>
        <a:defRPr sz="4400">
          <a:solidFill>
            <a:schemeClr val="tx2"/>
          </a:solidFill>
          <a:latin typeface="Tw Cen MT"/>
        </a:defRPr>
      </a:lvl8pPr>
      <a:lvl9pPr marL="1828800" algn="l" rtl="0" fontAlgn="base">
        <a:spcBef>
          <a:spcPct val="0"/>
        </a:spcBef>
        <a:spcAft>
          <a:spcPct val="0"/>
        </a:spcAft>
        <a:defRPr sz="4400">
          <a:solidFill>
            <a:schemeClr val="tx2"/>
          </a:solidFill>
          <a:latin typeface="Tw Cen MT"/>
        </a:defRPr>
      </a:lvl9pPr>
    </p:titleStyle>
    <p:bodyStyle>
      <a:lvl1pPr marL="319088" indent="-319088" algn="l" rtl="0" eaLnBrk="0" fontAlgn="base" hangingPunct="0">
        <a:spcBef>
          <a:spcPts val="700"/>
        </a:spcBef>
        <a:spcAft>
          <a:spcPct val="0"/>
        </a:spcAft>
        <a:buClr>
          <a:schemeClr val="accent2"/>
        </a:buClr>
        <a:buSzPct val="60000"/>
        <a:buFont typeface="Wingdings" panose="05000000000000000000"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anose="05020102010507070707"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anose="05000000000000000000"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anose="05000000000000000000"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anose="05000000000000000000"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E0363238-001F-FEDA-2A84-7AD2040B3C8E}"/>
              </a:ext>
            </a:extLst>
          </p:cNvPr>
          <p:cNvPicPr>
            <a:picLocks noChangeAspect="1"/>
          </p:cNvPicPr>
          <p:nvPr/>
        </p:nvPicPr>
        <p:blipFill>
          <a:blip r:embed="rId2"/>
          <a:stretch>
            <a:fillRect/>
          </a:stretch>
        </p:blipFill>
        <p:spPr>
          <a:xfrm>
            <a:off x="1066800" y="2049313"/>
            <a:ext cx="7267062" cy="1176630"/>
          </a:xfrm>
          <a:prstGeom prst="rect">
            <a:avLst/>
          </a:prstGeom>
        </p:spPr>
      </p:pic>
      <p:sp>
        <p:nvSpPr>
          <p:cNvPr id="7" name="CuadroTexto 6">
            <a:extLst>
              <a:ext uri="{FF2B5EF4-FFF2-40B4-BE49-F238E27FC236}">
                <a16:creationId xmlns:a16="http://schemas.microsoft.com/office/drawing/2014/main" id="{4B6A1A7E-89B0-0F62-1B33-087814E2BE32}"/>
              </a:ext>
            </a:extLst>
          </p:cNvPr>
          <p:cNvSpPr txBox="1"/>
          <p:nvPr/>
        </p:nvSpPr>
        <p:spPr>
          <a:xfrm>
            <a:off x="2438400" y="4876800"/>
            <a:ext cx="4038606" cy="954107"/>
          </a:xfrm>
          <a:prstGeom prst="rect">
            <a:avLst/>
          </a:prstGeom>
          <a:noFill/>
        </p:spPr>
        <p:txBody>
          <a:bodyPr wrap="none" rtlCol="0">
            <a:spAutoFit/>
          </a:bodyPr>
          <a:lstStyle/>
          <a:p>
            <a:r>
              <a:rPr lang="es-AR" sz="2800" b="1" dirty="0">
                <a:latin typeface="+mj-lt"/>
              </a:rPr>
              <a:t>Profesora </a:t>
            </a:r>
          </a:p>
          <a:p>
            <a:r>
              <a:rPr lang="es-AR" sz="2800" b="1" dirty="0">
                <a:latin typeface="+mj-lt"/>
              </a:rPr>
              <a:t>Dra. Adriana Delle Donne</a:t>
            </a:r>
          </a:p>
        </p:txBody>
      </p:sp>
      <p:sp>
        <p:nvSpPr>
          <p:cNvPr id="8" name="CuadroTexto 7">
            <a:extLst>
              <a:ext uri="{FF2B5EF4-FFF2-40B4-BE49-F238E27FC236}">
                <a16:creationId xmlns:a16="http://schemas.microsoft.com/office/drawing/2014/main" id="{FD6DB1E1-0588-74EC-AE0F-2B275872BCC9}"/>
              </a:ext>
            </a:extLst>
          </p:cNvPr>
          <p:cNvSpPr txBox="1"/>
          <p:nvPr/>
        </p:nvSpPr>
        <p:spPr>
          <a:xfrm>
            <a:off x="1187868" y="3039555"/>
            <a:ext cx="6768263" cy="1384995"/>
          </a:xfrm>
          <a:prstGeom prst="rect">
            <a:avLst/>
          </a:prstGeom>
          <a:noFill/>
        </p:spPr>
        <p:txBody>
          <a:bodyPr wrap="none" rtlCol="0">
            <a:spAutoFit/>
          </a:bodyPr>
          <a:lstStyle/>
          <a:p>
            <a:pPr algn="ctr"/>
            <a:r>
              <a:rPr lang="es-AR" sz="2800" b="1" dirty="0">
                <a:solidFill>
                  <a:srgbClr val="CC0000"/>
                </a:solidFill>
                <a:latin typeface="+mj-lt"/>
              </a:rPr>
              <a:t>Clase N 1</a:t>
            </a:r>
          </a:p>
          <a:p>
            <a:pPr algn="ctr"/>
            <a:r>
              <a:rPr lang="es-AR" sz="2800" b="1" dirty="0">
                <a:solidFill>
                  <a:srgbClr val="CC0000"/>
                </a:solidFill>
                <a:latin typeface="+mj-lt"/>
              </a:rPr>
              <a:t>Modelo de comportamiento –</a:t>
            </a:r>
          </a:p>
          <a:p>
            <a:pPr algn="ctr"/>
            <a:r>
              <a:rPr lang="es-AR" sz="2800" b="1" dirty="0">
                <a:solidFill>
                  <a:srgbClr val="CC0000"/>
                </a:solidFill>
                <a:latin typeface="+mj-lt"/>
              </a:rPr>
              <a:t> Conflictos de interés – Rol del conocimiento</a:t>
            </a:r>
          </a:p>
        </p:txBody>
      </p:sp>
      <p:pic>
        <p:nvPicPr>
          <p:cNvPr id="2" name="Imagen 1">
            <a:extLst>
              <a:ext uri="{FF2B5EF4-FFF2-40B4-BE49-F238E27FC236}">
                <a16:creationId xmlns:a16="http://schemas.microsoft.com/office/drawing/2014/main" id="{980A350D-D079-3C58-C654-891C62E1A56D}"/>
              </a:ext>
            </a:extLst>
          </p:cNvPr>
          <p:cNvPicPr>
            <a:picLocks noChangeAspect="1"/>
          </p:cNvPicPr>
          <p:nvPr/>
        </p:nvPicPr>
        <p:blipFill>
          <a:blip r:embed="rId3"/>
          <a:stretch>
            <a:fillRect/>
          </a:stretch>
        </p:blipFill>
        <p:spPr>
          <a:xfrm>
            <a:off x="3742533" y="325032"/>
            <a:ext cx="1658932" cy="1658932"/>
          </a:xfrm>
          <a:prstGeom prst="rect">
            <a:avLst/>
          </a:prstGeom>
        </p:spPr>
      </p:pic>
    </p:spTree>
    <p:extLst>
      <p:ext uri="{BB962C8B-B14F-4D97-AF65-F5344CB8AC3E}">
        <p14:creationId xmlns:p14="http://schemas.microsoft.com/office/powerpoint/2010/main" val="3534776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2744"/>
        </a:solidFill>
        <a:effectLst/>
      </p:bgPr>
    </p:bg>
    <p:spTree>
      <p:nvGrpSpPr>
        <p:cNvPr id="1" name=""/>
        <p:cNvGrpSpPr/>
        <p:nvPr/>
      </p:nvGrpSpPr>
      <p:grpSpPr>
        <a:xfrm>
          <a:off x="0" y="0"/>
          <a:ext cx="0" cy="0"/>
          <a:chOff x="0" y="0"/>
          <a:chExt cx="0" cy="0"/>
        </a:xfrm>
      </p:grpSpPr>
      <p:sp>
        <p:nvSpPr>
          <p:cNvPr id="10" name="Bg"/>
          <p:cNvSpPr>
            <a:spLocks noGrp="1"/>
          </p:cNvSpPr>
          <p:nvPr/>
        </p:nvSpPr>
        <p:spPr>
          <a:xfrm>
            <a:off x="0" y="0"/>
            <a:ext cx="9144000" cy="6858000"/>
          </a:xfrm>
          <a:prstGeom prst="rect">
            <a:avLst/>
          </a:prstGeom>
          <a:solidFill>
            <a:srgbClr val="1A2744"/>
          </a:solidFill>
          <a:ln>
            <a:noFill/>
          </a:ln>
        </p:spPr>
        <p:txBody>
          <a:bodyPr/>
          <a:lstStyle/>
          <a:p>
            <a:endParaRPr/>
          </a:p>
        </p:txBody>
      </p:sp>
      <p:sp>
        <p:nvSpPr>
          <p:cNvPr id="11" name="TopBar"/>
          <p:cNvSpPr>
            <a:spLocks noGrp="1"/>
          </p:cNvSpPr>
          <p:nvPr/>
        </p:nvSpPr>
        <p:spPr>
          <a:xfrm>
            <a:off x="0" y="0"/>
            <a:ext cx="9144000" cy="228600"/>
          </a:xfrm>
          <a:prstGeom prst="rect">
            <a:avLst/>
          </a:prstGeom>
          <a:solidFill>
            <a:srgbClr val="D4A017"/>
          </a:solidFill>
          <a:ln>
            <a:noFill/>
          </a:ln>
        </p:spPr>
        <p:txBody>
          <a:bodyPr/>
          <a:lstStyle/>
          <a:p>
            <a:endParaRPr/>
          </a:p>
        </p:txBody>
      </p:sp>
      <p:sp>
        <p:nvSpPr>
          <p:cNvPr id="12" name="BotBar"/>
          <p:cNvSpPr>
            <a:spLocks noGrp="1"/>
          </p:cNvSpPr>
          <p:nvPr/>
        </p:nvSpPr>
        <p:spPr>
          <a:xfrm>
            <a:off x="0" y="6629400"/>
            <a:ext cx="9144000" cy="228600"/>
          </a:xfrm>
          <a:prstGeom prst="rect">
            <a:avLst/>
          </a:prstGeom>
          <a:solidFill>
            <a:srgbClr val="D4A017"/>
          </a:solidFill>
          <a:ln>
            <a:noFill/>
          </a:ln>
        </p:spPr>
        <p:txBody>
          <a:bodyPr/>
          <a:lstStyle/>
          <a:p>
            <a:endParaRPr/>
          </a:p>
        </p:txBody>
      </p:sp>
      <p:sp>
        <p:nvSpPr>
          <p:cNvPr id="13" name="Label"/>
          <p:cNvSpPr txBox="1"/>
          <p:nvPr/>
        </p:nvSpPr>
        <p:spPr>
          <a:xfrm>
            <a:off x="304800" y="457200"/>
            <a:ext cx="8534400" cy="457200"/>
          </a:xfrm>
          <a:prstGeom prst="rect">
            <a:avLst/>
          </a:prstGeom>
          <a:noFill/>
          <a:ln>
            <a:noFill/>
          </a:ln>
        </p:spPr>
        <p:txBody>
          <a:bodyPr wrap="square" anchor="ctr"/>
          <a:lstStyle/>
          <a:p>
            <a:pPr algn="ctr">
              <a:buNone/>
            </a:pPr>
            <a:r>
              <a:rPr lang="es-AR" sz="1800" b="1" i="1" dirty="0">
                <a:solidFill>
                  <a:srgbClr val="D4A017"/>
                </a:solidFill>
                <a:latin typeface="Tw Cen MT"/>
              </a:rPr>
              <a:t>PREGUNTA CENTRAL DEL CURSO</a:t>
            </a:r>
          </a:p>
        </p:txBody>
      </p:sp>
      <p:sp>
        <p:nvSpPr>
          <p:cNvPr id="14" name="Q1"/>
          <p:cNvSpPr txBox="1"/>
          <p:nvPr/>
        </p:nvSpPr>
        <p:spPr>
          <a:xfrm>
            <a:off x="457200" y="1143000"/>
            <a:ext cx="8229600" cy="2133600"/>
          </a:xfrm>
          <a:prstGeom prst="rect">
            <a:avLst/>
          </a:prstGeom>
          <a:noFill/>
          <a:ln>
            <a:noFill/>
          </a:ln>
        </p:spPr>
        <p:txBody>
          <a:bodyPr wrap="square" anchor="ctr"/>
          <a:lstStyle/>
          <a:p>
            <a:pPr algn="ctr">
              <a:buNone/>
            </a:pPr>
            <a:r>
              <a:rPr lang="es-AR" sz="3600" b="1" dirty="0">
                <a:solidFill>
                  <a:srgbClr val="FFFFFF"/>
                </a:solidFill>
                <a:latin typeface="Tw Cen MT"/>
              </a:rPr>
              <a:t>¿Cómo organizar internamente a las compañías para minimizar los puntos de fuga de valor?</a:t>
            </a:r>
          </a:p>
        </p:txBody>
      </p:sp>
      <p:sp>
        <p:nvSpPr>
          <p:cNvPr id="15" name="Divider"/>
          <p:cNvSpPr>
            <a:spLocks noGrp="1"/>
          </p:cNvSpPr>
          <p:nvPr/>
        </p:nvSpPr>
        <p:spPr>
          <a:xfrm>
            <a:off x="2286000" y="3352800"/>
            <a:ext cx="4572000" cy="76200"/>
          </a:xfrm>
          <a:prstGeom prst="rect">
            <a:avLst/>
          </a:prstGeom>
          <a:solidFill>
            <a:srgbClr val="D4A017"/>
          </a:solidFill>
          <a:ln>
            <a:noFill/>
          </a:ln>
        </p:spPr>
        <p:txBody>
          <a:bodyPr/>
          <a:lstStyle/>
          <a:p>
            <a:endParaRPr/>
          </a:p>
        </p:txBody>
      </p:sp>
      <p:sp>
        <p:nvSpPr>
          <p:cNvPr id="16" name="Q2"/>
          <p:cNvSpPr txBox="1"/>
          <p:nvPr/>
        </p:nvSpPr>
        <p:spPr>
          <a:xfrm>
            <a:off x="457200" y="3505200"/>
            <a:ext cx="8229600" cy="2133600"/>
          </a:xfrm>
          <a:prstGeom prst="rect">
            <a:avLst/>
          </a:prstGeom>
          <a:noFill/>
          <a:ln>
            <a:noFill/>
          </a:ln>
        </p:spPr>
        <p:txBody>
          <a:bodyPr wrap="square" anchor="ctr"/>
          <a:lstStyle/>
          <a:p>
            <a:pPr algn="ctr">
              <a:buNone/>
            </a:pPr>
            <a:r>
              <a:rPr lang="es-AR" sz="3600" b="1" dirty="0">
                <a:solidFill>
                  <a:srgbClr val="FFFFFF"/>
                </a:solidFill>
                <a:latin typeface="Tw Cen MT"/>
              </a:rPr>
              <a:t>¿Cómo diseñar organizaciones que motiven a tomar decisiones que incrementen el valor?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La Organización</a:t>
            </a:r>
          </a:p>
        </p:txBody>
      </p:sp>
      <p:sp>
        <p:nvSpPr>
          <p:cNvPr id="13" name="Content"/>
          <p:cNvSpPr txBox="1"/>
          <p:nvPr/>
        </p:nvSpPr>
        <p:spPr>
          <a:xfrm>
            <a:off x="1104900" y="1371600"/>
            <a:ext cx="6934200" cy="5486400"/>
          </a:xfrm>
          <a:prstGeom prst="rect">
            <a:avLst/>
          </a:prstGeom>
          <a:noFill/>
          <a:ln>
            <a:noFill/>
          </a:ln>
        </p:spPr>
        <p:txBody>
          <a:bodyPr wrap="square" lIns="91440" tIns="91440" rIns="91440" bIns="91440" anchor="t"/>
          <a:lstStyle/>
          <a:p>
            <a:pPr marL="342900" indent="-342900">
              <a:spcBef>
                <a:spcPts val="400"/>
              </a:spcBef>
              <a:buFont typeface="Arial" panose="020B0604020202020204" pitchFamily="34" charset="0"/>
              <a:buChar char="•"/>
            </a:pPr>
            <a:r>
              <a:rPr lang="es-AR" sz="2400" dirty="0">
                <a:solidFill>
                  <a:srgbClr val="222222"/>
                </a:solidFill>
                <a:latin typeface="Tw Cen MT"/>
              </a:rPr>
              <a:t>Una organización es un sistema diseñado para alcanzar metas y objetivos a través de personas.</a:t>
            </a:r>
          </a:p>
          <a:p>
            <a:pPr>
              <a:spcBef>
                <a:spcPts val="400"/>
              </a:spcBef>
              <a:buChar char="■"/>
            </a:pPr>
            <a:endParaRPr lang="es-AR" sz="2400" dirty="0">
              <a:solidFill>
                <a:srgbClr val="222222"/>
              </a:solidFill>
              <a:latin typeface="Tw Cen MT"/>
            </a:endParaRPr>
          </a:p>
          <a:p>
            <a:pPr marL="342900" indent="-342900">
              <a:spcBef>
                <a:spcPts val="400"/>
              </a:spcBef>
              <a:buFont typeface="Arial" panose="020B0604020202020204" pitchFamily="34" charset="0"/>
              <a:buChar char="•"/>
            </a:pPr>
            <a:r>
              <a:rPr lang="es-AR" sz="2400" dirty="0">
                <a:solidFill>
                  <a:srgbClr val="222222"/>
                </a:solidFill>
                <a:latin typeface="Tw Cen MT"/>
              </a:rPr>
              <a:t>Existe cuando hay personas dispuestas a actuar conjuntamente, con mínimo costo de tiempo, esfuerzo y conflictos.</a:t>
            </a:r>
          </a:p>
          <a:p>
            <a:pPr>
              <a:spcBef>
                <a:spcPts val="400"/>
              </a:spcBef>
              <a:buChar char="■"/>
            </a:pPr>
            <a:endParaRPr lang="es-AR" sz="2400" dirty="0">
              <a:solidFill>
                <a:srgbClr val="222222"/>
              </a:solidFill>
              <a:latin typeface="Tw Cen MT"/>
            </a:endParaRPr>
          </a:p>
          <a:p>
            <a:pPr marL="342900" indent="-342900">
              <a:spcBef>
                <a:spcPts val="400"/>
              </a:spcBef>
              <a:buFont typeface="Arial" panose="020B0604020202020204" pitchFamily="34" charset="0"/>
              <a:buChar char="•"/>
            </a:pPr>
            <a:r>
              <a:rPr lang="es-ES" sz="2400" dirty="0">
                <a:solidFill>
                  <a:srgbClr val="222222"/>
                </a:solidFill>
                <a:latin typeface="Tw Cen MT"/>
              </a:rPr>
              <a:t>Los objetivos organizacionales y los personales frecuentemente entran en conflicto.</a:t>
            </a:r>
            <a:endParaRPr lang="es-AR" sz="2400" b="1" dirty="0">
              <a:solidFill>
                <a:srgbClr val="222222"/>
              </a:solidFill>
              <a:latin typeface="Tw Cen MT"/>
            </a:endParaRPr>
          </a:p>
          <a:p>
            <a:pPr>
              <a:spcBef>
                <a:spcPts val="400"/>
              </a:spcBef>
              <a:buChar char="■"/>
            </a:pPr>
            <a:endParaRPr lang="es-AR" sz="2400" b="1" dirty="0">
              <a:solidFill>
                <a:srgbClr val="222222"/>
              </a:solidFill>
              <a:latin typeface="Tw Cen MT"/>
            </a:endParaRPr>
          </a:p>
          <a:p>
            <a:pPr marL="342900" indent="-342900">
              <a:spcBef>
                <a:spcPts val="400"/>
              </a:spcBef>
              <a:buFont typeface="Arial" panose="020B0604020202020204" pitchFamily="34" charset="0"/>
              <a:buChar char="•"/>
            </a:pPr>
            <a:r>
              <a:rPr lang="es-AR" sz="2400" dirty="0">
                <a:solidFill>
                  <a:srgbClr val="222222"/>
                </a:solidFill>
                <a:latin typeface="Tw Cen MT"/>
              </a:rPr>
              <a:t>Existen puntos de fuga de valor motivados por la estructura interna.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3050"/>
        </a:solidFill>
        <a:effectLst/>
      </p:bgPr>
    </p:bg>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11204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r>
              <a:rPr lang="es-AR" sz="2800" b="1" dirty="0">
                <a:solidFill>
                  <a:srgbClr val="FFFFFF"/>
                </a:solidFill>
                <a:latin typeface="Tw Cen MT"/>
              </a:rPr>
              <a:t>Caso: </a:t>
            </a:r>
            <a:r>
              <a:rPr lang="en-US" sz="2800" b="1" dirty="0">
                <a:solidFill>
                  <a:srgbClr val="FFFFFF"/>
                </a:solidFill>
                <a:latin typeface="Calibri"/>
              </a:rPr>
              <a:t>ASOS (2023) — </a:t>
            </a:r>
            <a:r>
              <a:rPr lang="en-US" sz="2800" b="1" dirty="0" err="1">
                <a:solidFill>
                  <a:srgbClr val="FFFFFF"/>
                </a:solidFill>
                <a:latin typeface="Calibri"/>
              </a:rPr>
              <a:t>Trabajando</a:t>
            </a:r>
            <a:r>
              <a:rPr lang="en-US" sz="2800" b="1" dirty="0">
                <a:solidFill>
                  <a:srgbClr val="FFFFFF"/>
                </a:solidFill>
                <a:latin typeface="Calibri"/>
              </a:rPr>
              <a:t> para </a:t>
            </a:r>
            <a:r>
              <a:rPr lang="en-US" sz="2800" b="1" dirty="0" err="1">
                <a:solidFill>
                  <a:srgbClr val="FFFFFF"/>
                </a:solidFill>
                <a:latin typeface="Calibri"/>
              </a:rPr>
              <a:t>destruir</a:t>
            </a:r>
            <a:r>
              <a:rPr lang="en-US" sz="2800" b="1" dirty="0">
                <a:solidFill>
                  <a:srgbClr val="FFFFFF"/>
                </a:solidFill>
                <a:latin typeface="Calibri"/>
              </a:rPr>
              <a:t> valor</a:t>
            </a:r>
          </a:p>
          <a:p>
            <a:pPr algn="l">
              <a:buNone/>
            </a:pPr>
            <a:endParaRPr lang="es-AR" sz="3200" b="1" dirty="0">
              <a:solidFill>
                <a:srgbClr val="FFFFFF"/>
              </a:solidFill>
              <a:latin typeface="Tw Cen MT"/>
            </a:endParaRPr>
          </a:p>
        </p:txBody>
      </p:sp>
      <p:sp>
        <p:nvSpPr>
          <p:cNvPr id="2" name="Rectangle 1">
            <a:extLst>
              <a:ext uri="{FF2B5EF4-FFF2-40B4-BE49-F238E27FC236}">
                <a16:creationId xmlns:a16="http://schemas.microsoft.com/office/drawing/2014/main" id="{B98FB495-EBF6-1857-7AAA-FEB839FA89E9}"/>
              </a:ext>
            </a:extLst>
          </p:cNvPr>
          <p:cNvSpPr/>
          <p:nvPr/>
        </p:nvSpPr>
        <p:spPr>
          <a:xfrm>
            <a:off x="1" y="856579"/>
            <a:ext cx="9144095" cy="5588923"/>
          </a:xfrm>
          <a:prstGeom prst="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342991"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2AE00661-0DC4-8FB2-850B-B6CBABF5AC8C}"/>
              </a:ext>
            </a:extLst>
          </p:cNvPr>
          <p:cNvSpPr/>
          <p:nvPr/>
        </p:nvSpPr>
        <p:spPr>
          <a:xfrm>
            <a:off x="1" y="856580"/>
            <a:ext cx="9144095" cy="898718"/>
          </a:xfrm>
          <a:prstGeom prst="rect">
            <a:avLst/>
          </a:prstGeom>
          <a:solidFill>
            <a:srgbClr val="8B0A1E"/>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342991"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97C49CB6-C6BA-2845-8333-1997252C37B7}"/>
              </a:ext>
            </a:extLst>
          </p:cNvPr>
          <p:cNvSpPr/>
          <p:nvPr/>
        </p:nvSpPr>
        <p:spPr>
          <a:xfrm>
            <a:off x="-95" y="856580"/>
            <a:ext cx="151012" cy="5588922"/>
          </a:xfrm>
          <a:prstGeom prst="rect">
            <a:avLst/>
          </a:prstGeom>
          <a:solidFill>
            <a:srgbClr val="8B0A1E"/>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342991"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prstClr val="white"/>
              </a:solidFill>
              <a:effectLst/>
              <a:uLnTx/>
              <a:uFillTx/>
              <a:latin typeface="Calibri"/>
              <a:ea typeface="+mn-ea"/>
              <a:cs typeface="+mn-cs"/>
            </a:endParaRPr>
          </a:p>
        </p:txBody>
      </p:sp>
      <p:sp>
        <p:nvSpPr>
          <p:cNvPr id="9" name="Rectangle 8">
            <a:extLst>
              <a:ext uri="{FF2B5EF4-FFF2-40B4-BE49-F238E27FC236}">
                <a16:creationId xmlns:a16="http://schemas.microsoft.com/office/drawing/2014/main" id="{6323B797-9872-1583-54C5-6B9E96E32891}"/>
              </a:ext>
            </a:extLst>
          </p:cNvPr>
          <p:cNvSpPr/>
          <p:nvPr/>
        </p:nvSpPr>
        <p:spPr>
          <a:xfrm>
            <a:off x="260672" y="1908533"/>
            <a:ext cx="2195132" cy="1063267"/>
          </a:xfrm>
          <a:prstGeom prst="rect">
            <a:avLst/>
          </a:prstGeom>
          <a:solidFill>
            <a:srgbClr val="A32D2D"/>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342991"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prstClr val="white"/>
              </a:solidFill>
              <a:effectLst/>
              <a:uLnTx/>
              <a:uFillTx/>
              <a:latin typeface="Calibri"/>
              <a:ea typeface="+mn-ea"/>
              <a:cs typeface="+mn-cs"/>
            </a:endParaRPr>
          </a:p>
        </p:txBody>
      </p:sp>
      <p:sp>
        <p:nvSpPr>
          <p:cNvPr id="14" name="TextBox 9">
            <a:extLst>
              <a:ext uri="{FF2B5EF4-FFF2-40B4-BE49-F238E27FC236}">
                <a16:creationId xmlns:a16="http://schemas.microsoft.com/office/drawing/2014/main" id="{E848DD69-021F-0FE2-1D1D-AC1DE10864DF}"/>
              </a:ext>
            </a:extLst>
          </p:cNvPr>
          <p:cNvSpPr txBox="1"/>
          <p:nvPr/>
        </p:nvSpPr>
        <p:spPr>
          <a:xfrm>
            <a:off x="-533400" y="3767125"/>
            <a:ext cx="2057936" cy="623376"/>
          </a:xfrm>
          <a:prstGeom prst="rect">
            <a:avLst/>
          </a:prstGeom>
          <a:noFill/>
        </p:spPr>
        <p:txBody>
          <a:bodyPr wrap="square">
            <a:spAutoFit/>
          </a:bodyPr>
          <a:lstStyle/>
          <a:p>
            <a:pPr algn="ctr" defTabSz="342991" eaLnBrk="1" fontAlgn="auto" hangingPunct="1">
              <a:spcBef>
                <a:spcPts val="0"/>
              </a:spcBef>
              <a:spcAft>
                <a:spcPts val="0"/>
              </a:spcAft>
            </a:pPr>
            <a:r>
              <a:rPr sz="3451" b="1">
                <a:solidFill>
                  <a:srgbClr val="FFFFFF"/>
                </a:solidFill>
                <a:latin typeface="Calibri"/>
              </a:rPr>
              <a:t>6%</a:t>
            </a:r>
          </a:p>
        </p:txBody>
      </p:sp>
      <p:sp>
        <p:nvSpPr>
          <p:cNvPr id="15" name="TextBox 10">
            <a:extLst>
              <a:ext uri="{FF2B5EF4-FFF2-40B4-BE49-F238E27FC236}">
                <a16:creationId xmlns:a16="http://schemas.microsoft.com/office/drawing/2014/main" id="{760F3817-BDE6-7F82-1927-CA4C582B58AB}"/>
              </a:ext>
            </a:extLst>
          </p:cNvPr>
          <p:cNvSpPr txBox="1"/>
          <p:nvPr/>
        </p:nvSpPr>
        <p:spPr>
          <a:xfrm>
            <a:off x="329270" y="2491616"/>
            <a:ext cx="2057936" cy="461665"/>
          </a:xfrm>
          <a:prstGeom prst="rect">
            <a:avLst/>
          </a:prstGeom>
          <a:noFill/>
        </p:spPr>
        <p:txBody>
          <a:bodyPr wrap="square">
            <a:spAutoFit/>
          </a:bodyPr>
          <a:lstStyle/>
          <a:p>
            <a:pPr algn="ctr" defTabSz="342991" eaLnBrk="1" fontAlgn="auto" hangingPunct="1">
              <a:spcBef>
                <a:spcPts val="0"/>
              </a:spcBef>
              <a:spcAft>
                <a:spcPts val="0"/>
              </a:spcAft>
            </a:pPr>
            <a:r>
              <a:rPr sz="1200" dirty="0">
                <a:solidFill>
                  <a:srgbClr val="FFFFFF"/>
                </a:solidFill>
                <a:latin typeface="Calibri"/>
              </a:rPr>
              <a:t>de </a:t>
            </a:r>
            <a:r>
              <a:rPr sz="1200" dirty="0" err="1">
                <a:solidFill>
                  <a:srgbClr val="FFFFFF"/>
                </a:solidFill>
                <a:latin typeface="Calibri"/>
              </a:rPr>
              <a:t>los</a:t>
            </a:r>
            <a:r>
              <a:rPr sz="1200" dirty="0">
                <a:solidFill>
                  <a:srgbClr val="FFFFFF"/>
                </a:solidFill>
                <a:latin typeface="Calibri"/>
              </a:rPr>
              <a:t> </a:t>
            </a:r>
            <a:r>
              <a:rPr sz="1200" dirty="0" err="1">
                <a:solidFill>
                  <a:srgbClr val="FFFFFF"/>
                </a:solidFill>
                <a:latin typeface="Calibri"/>
              </a:rPr>
              <a:t>clientes</a:t>
            </a:r>
            <a:r>
              <a:rPr sz="1200" dirty="0">
                <a:solidFill>
                  <a:srgbClr val="FFFFFF"/>
                </a:solidFill>
                <a:latin typeface="Calibri"/>
              </a:rPr>
              <a:t> </a:t>
            </a:r>
            <a:r>
              <a:rPr sz="1200" dirty="0" err="1">
                <a:solidFill>
                  <a:srgbClr val="FFFFFF"/>
                </a:solidFill>
                <a:latin typeface="Calibri"/>
              </a:rPr>
              <a:t>activos</a:t>
            </a:r>
            <a:r>
              <a:rPr sz="1200" dirty="0">
                <a:solidFill>
                  <a:srgbClr val="FFFFFF"/>
                </a:solidFill>
                <a:latin typeface="Calibri"/>
              </a:rPr>
              <a:t>
</a:t>
            </a:r>
            <a:r>
              <a:rPr sz="1200" dirty="0" err="1">
                <a:solidFill>
                  <a:srgbClr val="FFFFFF"/>
                </a:solidFill>
                <a:latin typeface="Calibri"/>
              </a:rPr>
              <a:t>destruía</a:t>
            </a:r>
            <a:r>
              <a:rPr sz="1200" dirty="0">
                <a:solidFill>
                  <a:srgbClr val="FFFFFF"/>
                </a:solidFill>
                <a:latin typeface="Calibri"/>
              </a:rPr>
              <a:t> valor</a:t>
            </a:r>
          </a:p>
        </p:txBody>
      </p:sp>
      <p:sp>
        <p:nvSpPr>
          <p:cNvPr id="16" name="Rectangle 11">
            <a:extLst>
              <a:ext uri="{FF2B5EF4-FFF2-40B4-BE49-F238E27FC236}">
                <a16:creationId xmlns:a16="http://schemas.microsoft.com/office/drawing/2014/main" id="{2A8E1772-22FC-1D66-0511-DE1D291F4980}"/>
              </a:ext>
            </a:extLst>
          </p:cNvPr>
          <p:cNvSpPr/>
          <p:nvPr/>
        </p:nvSpPr>
        <p:spPr>
          <a:xfrm>
            <a:off x="3210380" y="1908533"/>
            <a:ext cx="2195132" cy="1063267"/>
          </a:xfrm>
          <a:prstGeom prst="rect">
            <a:avLst/>
          </a:prstGeom>
          <a:solidFill>
            <a:srgbClr val="B04510"/>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342991"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prstClr val="white"/>
              </a:solidFill>
              <a:effectLst/>
              <a:uLnTx/>
              <a:uFillTx/>
              <a:latin typeface="Calibri"/>
              <a:ea typeface="+mn-ea"/>
              <a:cs typeface="+mn-cs"/>
            </a:endParaRPr>
          </a:p>
        </p:txBody>
      </p:sp>
      <p:sp>
        <p:nvSpPr>
          <p:cNvPr id="17" name="TextBox 12">
            <a:extLst>
              <a:ext uri="{FF2B5EF4-FFF2-40B4-BE49-F238E27FC236}">
                <a16:creationId xmlns:a16="http://schemas.microsoft.com/office/drawing/2014/main" id="{F4265BDD-36E2-EC11-D436-C3AEDDAF461A}"/>
              </a:ext>
            </a:extLst>
          </p:cNvPr>
          <p:cNvSpPr txBox="1"/>
          <p:nvPr/>
        </p:nvSpPr>
        <p:spPr>
          <a:xfrm>
            <a:off x="3278978" y="1949692"/>
            <a:ext cx="2057936" cy="623376"/>
          </a:xfrm>
          <a:prstGeom prst="rect">
            <a:avLst/>
          </a:prstGeom>
          <a:noFill/>
        </p:spPr>
        <p:txBody>
          <a:bodyPr wrap="square">
            <a:spAutoFit/>
          </a:bodyPr>
          <a:lstStyle/>
          <a:p>
            <a:pPr algn="ctr" defTabSz="342991" eaLnBrk="1" fontAlgn="auto" hangingPunct="1">
              <a:spcBef>
                <a:spcPts val="0"/>
              </a:spcBef>
              <a:spcAft>
                <a:spcPts val="0"/>
              </a:spcAft>
            </a:pPr>
            <a:r>
              <a:rPr sz="3451" b="1">
                <a:solidFill>
                  <a:srgbClr val="FFFFFF"/>
                </a:solidFill>
                <a:latin typeface="Calibri"/>
              </a:rPr>
              <a:t>£100M</a:t>
            </a:r>
          </a:p>
        </p:txBody>
      </p:sp>
      <p:sp>
        <p:nvSpPr>
          <p:cNvPr id="18" name="TextBox 13">
            <a:extLst>
              <a:ext uri="{FF2B5EF4-FFF2-40B4-BE49-F238E27FC236}">
                <a16:creationId xmlns:a16="http://schemas.microsoft.com/office/drawing/2014/main" id="{B11DFA06-7C0C-EDF7-BD95-A18E087996E0}"/>
              </a:ext>
            </a:extLst>
          </p:cNvPr>
          <p:cNvSpPr txBox="1"/>
          <p:nvPr/>
        </p:nvSpPr>
        <p:spPr>
          <a:xfrm>
            <a:off x="3278978" y="2491616"/>
            <a:ext cx="2057936" cy="461665"/>
          </a:xfrm>
          <a:prstGeom prst="rect">
            <a:avLst/>
          </a:prstGeom>
          <a:noFill/>
        </p:spPr>
        <p:txBody>
          <a:bodyPr wrap="square">
            <a:spAutoFit/>
          </a:bodyPr>
          <a:lstStyle/>
          <a:p>
            <a:pPr algn="ctr" defTabSz="342991" eaLnBrk="1" fontAlgn="auto" hangingPunct="1">
              <a:spcBef>
                <a:spcPts val="0"/>
              </a:spcBef>
              <a:spcAft>
                <a:spcPts val="0"/>
              </a:spcAft>
            </a:pPr>
            <a:r>
              <a:rPr sz="1200" dirty="0">
                <a:solidFill>
                  <a:srgbClr val="FFFFFF"/>
                </a:solidFill>
                <a:latin typeface="Calibri"/>
              </a:rPr>
              <a:t>de </a:t>
            </a:r>
            <a:r>
              <a:rPr sz="1200" dirty="0" err="1">
                <a:solidFill>
                  <a:srgbClr val="FFFFFF"/>
                </a:solidFill>
                <a:latin typeface="Calibri"/>
              </a:rPr>
              <a:t>pérdida</a:t>
            </a:r>
            <a:r>
              <a:rPr sz="1200" dirty="0">
                <a:solidFill>
                  <a:srgbClr val="FFFFFF"/>
                </a:solidFill>
                <a:latin typeface="Calibri"/>
              </a:rPr>
              <a:t> </a:t>
            </a:r>
            <a:r>
              <a:rPr sz="1200" dirty="0" err="1">
                <a:solidFill>
                  <a:srgbClr val="FFFFFF"/>
                </a:solidFill>
                <a:latin typeface="Calibri"/>
              </a:rPr>
              <a:t>en</a:t>
            </a:r>
            <a:r>
              <a:rPr sz="1200" dirty="0">
                <a:solidFill>
                  <a:srgbClr val="FFFFFF"/>
                </a:solidFill>
                <a:latin typeface="Calibri"/>
              </a:rPr>
              <a:t> un solo</a:t>
            </a:r>
            <a:r>
              <a:rPr lang="es-419" sz="1200" dirty="0">
                <a:solidFill>
                  <a:srgbClr val="FFFFFF"/>
                </a:solidFill>
                <a:latin typeface="Calibri"/>
              </a:rPr>
              <a:t>  </a:t>
            </a:r>
            <a:r>
              <a:rPr sz="1200" dirty="0" err="1">
                <a:solidFill>
                  <a:srgbClr val="FFFFFF"/>
                </a:solidFill>
                <a:latin typeface="Calibri"/>
              </a:rPr>
              <a:t>semestre</a:t>
            </a:r>
            <a:r>
              <a:rPr lang="es-419" sz="1200" dirty="0">
                <a:solidFill>
                  <a:srgbClr val="FFFFFF"/>
                </a:solidFill>
                <a:latin typeface="Calibri"/>
              </a:rPr>
              <a:t> </a:t>
            </a:r>
            <a:r>
              <a:rPr sz="1200" dirty="0" err="1">
                <a:solidFill>
                  <a:srgbClr val="FFFFFF"/>
                </a:solidFill>
                <a:latin typeface="Calibri"/>
              </a:rPr>
              <a:t>por</a:t>
            </a:r>
            <a:r>
              <a:rPr sz="1200" dirty="0">
                <a:solidFill>
                  <a:srgbClr val="FFFFFF"/>
                </a:solidFill>
                <a:latin typeface="Calibri"/>
              </a:rPr>
              <a:t> ese 6%</a:t>
            </a:r>
          </a:p>
        </p:txBody>
      </p:sp>
      <p:sp>
        <p:nvSpPr>
          <p:cNvPr id="19" name="Rectangle 14">
            <a:extLst>
              <a:ext uri="{FF2B5EF4-FFF2-40B4-BE49-F238E27FC236}">
                <a16:creationId xmlns:a16="http://schemas.microsoft.com/office/drawing/2014/main" id="{502E1D53-C9DE-2CC0-6339-FC0A5D8C248D}"/>
              </a:ext>
            </a:extLst>
          </p:cNvPr>
          <p:cNvSpPr/>
          <p:nvPr/>
        </p:nvSpPr>
        <p:spPr>
          <a:xfrm>
            <a:off x="6160088" y="1908533"/>
            <a:ext cx="2195132" cy="1063267"/>
          </a:xfrm>
          <a:prstGeom prst="rect">
            <a:avLst/>
          </a:prstGeom>
          <a:solidFill>
            <a:srgbClr val="5A0010"/>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342991"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prstClr val="white"/>
              </a:solidFill>
              <a:effectLst/>
              <a:uLnTx/>
              <a:uFillTx/>
              <a:latin typeface="Calibri"/>
              <a:ea typeface="+mn-ea"/>
              <a:cs typeface="+mn-cs"/>
            </a:endParaRPr>
          </a:p>
        </p:txBody>
      </p:sp>
      <p:sp>
        <p:nvSpPr>
          <p:cNvPr id="20" name="TextBox 15">
            <a:extLst>
              <a:ext uri="{FF2B5EF4-FFF2-40B4-BE49-F238E27FC236}">
                <a16:creationId xmlns:a16="http://schemas.microsoft.com/office/drawing/2014/main" id="{21B95A87-A7B3-2E62-C540-E941EAB07DB1}"/>
              </a:ext>
            </a:extLst>
          </p:cNvPr>
          <p:cNvSpPr txBox="1"/>
          <p:nvPr/>
        </p:nvSpPr>
        <p:spPr>
          <a:xfrm>
            <a:off x="6228686" y="1949692"/>
            <a:ext cx="2057936" cy="623376"/>
          </a:xfrm>
          <a:prstGeom prst="rect">
            <a:avLst/>
          </a:prstGeom>
          <a:noFill/>
        </p:spPr>
        <p:txBody>
          <a:bodyPr wrap="square">
            <a:spAutoFit/>
          </a:bodyPr>
          <a:lstStyle/>
          <a:p>
            <a:pPr algn="ctr" defTabSz="342991" eaLnBrk="1" fontAlgn="auto" hangingPunct="1">
              <a:spcBef>
                <a:spcPts val="0"/>
              </a:spcBef>
              <a:spcAft>
                <a:spcPts val="0"/>
              </a:spcAft>
            </a:pPr>
            <a:r>
              <a:rPr sz="3451" b="1">
                <a:solidFill>
                  <a:srgbClr val="FFFFFF"/>
                </a:solidFill>
                <a:latin typeface="Calibri"/>
              </a:rPr>
              <a:t>&gt;EBIT</a:t>
            </a:r>
          </a:p>
        </p:txBody>
      </p:sp>
      <p:sp>
        <p:nvSpPr>
          <p:cNvPr id="21" name="TextBox 16">
            <a:extLst>
              <a:ext uri="{FF2B5EF4-FFF2-40B4-BE49-F238E27FC236}">
                <a16:creationId xmlns:a16="http://schemas.microsoft.com/office/drawing/2014/main" id="{57D74270-7AE7-D3DF-E51B-0B43B907A90D}"/>
              </a:ext>
            </a:extLst>
          </p:cNvPr>
          <p:cNvSpPr txBox="1"/>
          <p:nvPr/>
        </p:nvSpPr>
        <p:spPr>
          <a:xfrm>
            <a:off x="6228686" y="2491616"/>
            <a:ext cx="2057936" cy="461665"/>
          </a:xfrm>
          <a:prstGeom prst="rect">
            <a:avLst/>
          </a:prstGeom>
          <a:noFill/>
        </p:spPr>
        <p:txBody>
          <a:bodyPr wrap="square">
            <a:spAutoFit/>
          </a:bodyPr>
          <a:lstStyle/>
          <a:p>
            <a:pPr algn="ctr" defTabSz="342991" eaLnBrk="1" fontAlgn="auto" hangingPunct="1">
              <a:spcBef>
                <a:spcPts val="0"/>
              </a:spcBef>
              <a:spcAft>
                <a:spcPts val="0"/>
              </a:spcAft>
            </a:pPr>
            <a:r>
              <a:rPr sz="1200" dirty="0">
                <a:solidFill>
                  <a:srgbClr val="FFFFFF"/>
                </a:solidFill>
                <a:latin typeface="Calibri"/>
              </a:rPr>
              <a:t>La </a:t>
            </a:r>
            <a:r>
              <a:rPr sz="1200" dirty="0" err="1">
                <a:solidFill>
                  <a:srgbClr val="FFFFFF"/>
                </a:solidFill>
                <a:latin typeface="Calibri"/>
              </a:rPr>
              <a:t>pérdida</a:t>
            </a:r>
            <a:r>
              <a:rPr sz="1200" dirty="0">
                <a:solidFill>
                  <a:srgbClr val="FFFFFF"/>
                </a:solidFill>
                <a:latin typeface="Calibri"/>
              </a:rPr>
              <a:t> </a:t>
            </a:r>
            <a:r>
              <a:rPr sz="1200" dirty="0" err="1">
                <a:solidFill>
                  <a:srgbClr val="FFFFFF"/>
                </a:solidFill>
                <a:latin typeface="Calibri"/>
              </a:rPr>
              <a:t>superaba</a:t>
            </a:r>
            <a:r>
              <a:rPr sz="1200" dirty="0">
                <a:solidFill>
                  <a:srgbClr val="FFFFFF"/>
                </a:solidFill>
                <a:latin typeface="Calibri"/>
              </a:rPr>
              <a:t> </a:t>
            </a:r>
            <a:r>
              <a:rPr sz="1200" dirty="0" err="1">
                <a:solidFill>
                  <a:srgbClr val="FFFFFF"/>
                </a:solidFill>
                <a:latin typeface="Calibri"/>
              </a:rPr>
              <a:t>el</a:t>
            </a:r>
            <a:r>
              <a:rPr sz="1200" dirty="0">
                <a:solidFill>
                  <a:srgbClr val="FFFFFF"/>
                </a:solidFill>
                <a:latin typeface="Calibri"/>
              </a:rPr>
              <a:t>
</a:t>
            </a:r>
            <a:r>
              <a:rPr sz="1200" dirty="0" err="1">
                <a:solidFill>
                  <a:srgbClr val="FFFFFF"/>
                </a:solidFill>
                <a:latin typeface="Calibri"/>
              </a:rPr>
              <a:t>resultado</a:t>
            </a:r>
            <a:r>
              <a:rPr sz="1200" dirty="0">
                <a:solidFill>
                  <a:srgbClr val="FFFFFF"/>
                </a:solidFill>
                <a:latin typeface="Calibri"/>
              </a:rPr>
              <a:t> </a:t>
            </a:r>
            <a:r>
              <a:rPr sz="1200" dirty="0" err="1">
                <a:solidFill>
                  <a:srgbClr val="FFFFFF"/>
                </a:solidFill>
                <a:latin typeface="Calibri"/>
              </a:rPr>
              <a:t>operativo</a:t>
            </a:r>
            <a:r>
              <a:rPr sz="1200" dirty="0">
                <a:solidFill>
                  <a:srgbClr val="FFFFFF"/>
                </a:solidFill>
                <a:latin typeface="Calibri"/>
              </a:rPr>
              <a:t> total</a:t>
            </a:r>
          </a:p>
        </p:txBody>
      </p:sp>
      <p:sp>
        <p:nvSpPr>
          <p:cNvPr id="24" name="Rectangle 19">
            <a:extLst>
              <a:ext uri="{FF2B5EF4-FFF2-40B4-BE49-F238E27FC236}">
                <a16:creationId xmlns:a16="http://schemas.microsoft.com/office/drawing/2014/main" id="{19209EB1-EB55-CF2B-B1EF-99F252D5A526}"/>
              </a:ext>
            </a:extLst>
          </p:cNvPr>
          <p:cNvSpPr/>
          <p:nvPr/>
        </p:nvSpPr>
        <p:spPr>
          <a:xfrm>
            <a:off x="252950" y="3125035"/>
            <a:ext cx="4319050" cy="3361625"/>
          </a:xfrm>
          <a:prstGeom prst="rect">
            <a:avLst/>
          </a:prstGeom>
          <a:solidFill>
            <a:srgbClr val="FBF2F2"/>
          </a:solidFill>
          <a:ln w="9525" cap="flat" cmpd="sng" algn="ctr">
            <a:solidFill>
              <a:srgbClr val="8B0A1E"/>
            </a:solidFill>
            <a:prstDash val="solid"/>
          </a:ln>
          <a:effectLst>
            <a:outerShdw blurRad="40000" dist="23000" dir="5400000" rotWithShape="0">
              <a:srgbClr val="000000">
                <a:alpha val="35000"/>
              </a:srgbClr>
            </a:outerShdw>
          </a:effectLst>
        </p:spPr>
        <p:txBody>
          <a:bodyPr rtlCol="0" anchor="ctr"/>
          <a:lstStyle/>
          <a:p>
            <a:pPr marL="0" marR="0" lvl="0" indent="0" algn="ctr" defTabSz="342991"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prstClr val="white"/>
              </a:solidFill>
              <a:effectLst/>
              <a:uLnTx/>
              <a:uFillTx/>
              <a:latin typeface="Calibri"/>
              <a:ea typeface="+mn-ea"/>
              <a:cs typeface="+mn-cs"/>
            </a:endParaRPr>
          </a:p>
        </p:txBody>
      </p:sp>
      <p:sp>
        <p:nvSpPr>
          <p:cNvPr id="25" name="TextBox 20">
            <a:extLst>
              <a:ext uri="{FF2B5EF4-FFF2-40B4-BE49-F238E27FC236}">
                <a16:creationId xmlns:a16="http://schemas.microsoft.com/office/drawing/2014/main" id="{B34AC333-C5A2-7B46-A2EE-6079A8D66C73}"/>
              </a:ext>
            </a:extLst>
          </p:cNvPr>
          <p:cNvSpPr txBox="1"/>
          <p:nvPr/>
        </p:nvSpPr>
        <p:spPr>
          <a:xfrm>
            <a:off x="377289" y="3134029"/>
            <a:ext cx="3978676" cy="338554"/>
          </a:xfrm>
          <a:prstGeom prst="rect">
            <a:avLst/>
          </a:prstGeom>
          <a:noFill/>
        </p:spPr>
        <p:txBody>
          <a:bodyPr wrap="square">
            <a:spAutoFit/>
          </a:bodyPr>
          <a:lstStyle/>
          <a:p>
            <a:pPr defTabSz="342991" eaLnBrk="1" fontAlgn="auto" hangingPunct="1">
              <a:spcBef>
                <a:spcPts val="0"/>
              </a:spcBef>
              <a:spcAft>
                <a:spcPts val="0"/>
              </a:spcAft>
            </a:pPr>
            <a:r>
              <a:rPr sz="1600" b="1" dirty="0">
                <a:solidFill>
                  <a:srgbClr val="8B0A1E"/>
                </a:solidFill>
                <a:latin typeface="Calibri"/>
              </a:rPr>
              <a:t>HALLAZGO</a:t>
            </a:r>
          </a:p>
        </p:txBody>
      </p:sp>
      <p:sp>
        <p:nvSpPr>
          <p:cNvPr id="26" name="TextBox 21">
            <a:extLst>
              <a:ext uri="{FF2B5EF4-FFF2-40B4-BE49-F238E27FC236}">
                <a16:creationId xmlns:a16="http://schemas.microsoft.com/office/drawing/2014/main" id="{C55C0F6D-9013-DB81-1E91-4225983D1BE7}"/>
              </a:ext>
            </a:extLst>
          </p:cNvPr>
          <p:cNvSpPr txBox="1"/>
          <p:nvPr/>
        </p:nvSpPr>
        <p:spPr>
          <a:xfrm>
            <a:off x="377289" y="3360402"/>
            <a:ext cx="3978676" cy="2898229"/>
          </a:xfrm>
          <a:prstGeom prst="rect">
            <a:avLst/>
          </a:prstGeom>
          <a:noFill/>
        </p:spPr>
        <p:txBody>
          <a:bodyPr wrap="square">
            <a:spAutoFit/>
          </a:bodyPr>
          <a:lstStyle/>
          <a:p>
            <a:pPr defTabSz="342991" eaLnBrk="1" fontAlgn="auto" hangingPunct="1">
              <a:spcBef>
                <a:spcPts val="0"/>
              </a:spcBef>
              <a:spcAft>
                <a:spcPts val="0"/>
              </a:spcAft>
            </a:pPr>
            <a:r>
              <a:rPr sz="1300" dirty="0">
                <a:solidFill>
                  <a:srgbClr val="1A1A2E"/>
                </a:solidFill>
                <a:latin typeface="Calibri"/>
              </a:rPr>
              <a:t>Un 6% de </a:t>
            </a:r>
            <a:r>
              <a:rPr sz="1300" dirty="0" err="1">
                <a:solidFill>
                  <a:srgbClr val="1A1A2E"/>
                </a:solidFill>
                <a:latin typeface="Calibri"/>
              </a:rPr>
              <a:t>los</a:t>
            </a:r>
            <a:r>
              <a:rPr sz="1300" dirty="0">
                <a:solidFill>
                  <a:srgbClr val="1A1A2E"/>
                </a:solidFill>
                <a:latin typeface="Calibri"/>
              </a:rPr>
              <a:t> </a:t>
            </a:r>
            <a:r>
              <a:rPr sz="1300" dirty="0" err="1">
                <a:solidFill>
                  <a:srgbClr val="1A1A2E"/>
                </a:solidFill>
                <a:latin typeface="Calibri"/>
              </a:rPr>
              <a:t>clientes</a:t>
            </a:r>
            <a:r>
              <a:rPr sz="1300" dirty="0">
                <a:solidFill>
                  <a:srgbClr val="1A1A2E"/>
                </a:solidFill>
                <a:latin typeface="Calibri"/>
              </a:rPr>
              <a:t> </a:t>
            </a:r>
            <a:r>
              <a:rPr sz="1300" dirty="0" err="1">
                <a:solidFill>
                  <a:srgbClr val="1A1A2E"/>
                </a:solidFill>
                <a:latin typeface="Calibri"/>
              </a:rPr>
              <a:t>activos</a:t>
            </a:r>
            <a:r>
              <a:rPr sz="1300" dirty="0">
                <a:solidFill>
                  <a:srgbClr val="1A1A2E"/>
                </a:solidFill>
                <a:latin typeface="Calibri"/>
              </a:rPr>
              <a:t> </a:t>
            </a:r>
            <a:r>
              <a:rPr sz="1300" dirty="0" err="1">
                <a:solidFill>
                  <a:srgbClr val="1A1A2E"/>
                </a:solidFill>
                <a:latin typeface="Calibri"/>
              </a:rPr>
              <a:t>compraba</a:t>
            </a:r>
            <a:r>
              <a:rPr sz="1300" dirty="0">
                <a:solidFill>
                  <a:srgbClr val="1A1A2E"/>
                </a:solidFill>
                <a:latin typeface="Calibri"/>
              </a:rPr>
              <a:t> </a:t>
            </a:r>
            <a:r>
              <a:rPr sz="1300" dirty="0" err="1">
                <a:solidFill>
                  <a:srgbClr val="1A1A2E"/>
                </a:solidFill>
                <a:latin typeface="Calibri"/>
              </a:rPr>
              <a:t>mucho</a:t>
            </a:r>
            <a:r>
              <a:rPr sz="1300" dirty="0">
                <a:solidFill>
                  <a:srgbClr val="1A1A2E"/>
                </a:solidFill>
                <a:latin typeface="Calibri"/>
              </a:rPr>
              <a:t>, </a:t>
            </a:r>
            <a:r>
              <a:rPr sz="1300" dirty="0" err="1">
                <a:solidFill>
                  <a:srgbClr val="1A1A2E"/>
                </a:solidFill>
                <a:latin typeface="Calibri"/>
              </a:rPr>
              <a:t>devolvía</a:t>
            </a:r>
            <a:r>
              <a:rPr sz="1300" dirty="0">
                <a:solidFill>
                  <a:srgbClr val="1A1A2E"/>
                </a:solidFill>
                <a:latin typeface="Calibri"/>
              </a:rPr>
              <a:t> </a:t>
            </a:r>
            <a:r>
              <a:rPr sz="1300" dirty="0" err="1">
                <a:solidFill>
                  <a:srgbClr val="1A1A2E"/>
                </a:solidFill>
                <a:latin typeface="Calibri"/>
              </a:rPr>
              <a:t>casi</a:t>
            </a:r>
            <a:r>
              <a:rPr sz="1300" dirty="0">
                <a:solidFill>
                  <a:srgbClr val="1A1A2E"/>
                </a:solidFill>
                <a:latin typeface="Calibri"/>
              </a:rPr>
              <a:t> </a:t>
            </a:r>
            <a:r>
              <a:rPr sz="1300" dirty="0" err="1">
                <a:solidFill>
                  <a:srgbClr val="1A1A2E"/>
                </a:solidFill>
                <a:latin typeface="Calibri"/>
              </a:rPr>
              <a:t>todo</a:t>
            </a:r>
            <a:r>
              <a:rPr sz="1300" dirty="0">
                <a:solidFill>
                  <a:srgbClr val="1A1A2E"/>
                </a:solidFill>
                <a:latin typeface="Calibri"/>
              </a:rPr>
              <a:t>, </a:t>
            </a:r>
            <a:r>
              <a:rPr sz="1300" dirty="0" err="1">
                <a:solidFill>
                  <a:srgbClr val="1A1A2E"/>
                </a:solidFill>
                <a:latin typeface="Calibri"/>
              </a:rPr>
              <a:t>compraba</a:t>
            </a:r>
            <a:r>
              <a:rPr sz="1300" dirty="0">
                <a:solidFill>
                  <a:srgbClr val="1A1A2E"/>
                </a:solidFill>
                <a:latin typeface="Calibri"/>
              </a:rPr>
              <a:t> solo con </a:t>
            </a:r>
            <a:r>
              <a:rPr sz="1300" dirty="0" err="1">
                <a:solidFill>
                  <a:srgbClr val="1A1A2E"/>
                </a:solidFill>
                <a:latin typeface="Calibri"/>
              </a:rPr>
              <a:t>descuento</a:t>
            </a:r>
            <a:r>
              <a:rPr sz="1300" dirty="0">
                <a:solidFill>
                  <a:srgbClr val="1A1A2E"/>
                </a:solidFill>
                <a:latin typeface="Calibri"/>
              </a:rPr>
              <a:t> y </a:t>
            </a:r>
            <a:r>
              <a:rPr sz="1300" dirty="0" err="1">
                <a:solidFill>
                  <a:srgbClr val="1A1A2E"/>
                </a:solidFill>
                <a:latin typeface="Calibri"/>
              </a:rPr>
              <a:t>algunas</a:t>
            </a:r>
            <a:r>
              <a:rPr sz="1300" dirty="0">
                <a:solidFill>
                  <a:srgbClr val="1A1A2E"/>
                </a:solidFill>
                <a:latin typeface="Calibri"/>
              </a:rPr>
              <a:t> </a:t>
            </a:r>
            <a:r>
              <a:rPr sz="1300" dirty="0" err="1">
                <a:solidFill>
                  <a:srgbClr val="1A1A2E"/>
                </a:solidFill>
                <a:latin typeface="Calibri"/>
              </a:rPr>
              <a:t>cuentas</a:t>
            </a:r>
            <a:r>
              <a:rPr sz="1300" dirty="0">
                <a:solidFill>
                  <a:srgbClr val="1A1A2E"/>
                </a:solidFill>
                <a:latin typeface="Calibri"/>
              </a:rPr>
              <a:t> </a:t>
            </a:r>
            <a:r>
              <a:rPr sz="1300" dirty="0" err="1">
                <a:solidFill>
                  <a:srgbClr val="1A1A2E"/>
                </a:solidFill>
                <a:latin typeface="Calibri"/>
              </a:rPr>
              <a:t>usaban</a:t>
            </a:r>
            <a:r>
              <a:rPr sz="1300" dirty="0">
                <a:solidFill>
                  <a:srgbClr val="1A1A2E"/>
                </a:solidFill>
                <a:latin typeface="Calibri"/>
              </a:rPr>
              <a:t> la </a:t>
            </a:r>
            <a:r>
              <a:rPr sz="1300" dirty="0" err="1">
                <a:solidFill>
                  <a:srgbClr val="1A1A2E"/>
                </a:solidFill>
                <a:latin typeface="Calibri"/>
              </a:rPr>
              <a:t>ropa</a:t>
            </a:r>
            <a:r>
              <a:rPr sz="1300" dirty="0">
                <a:solidFill>
                  <a:srgbClr val="1A1A2E"/>
                </a:solidFill>
                <a:latin typeface="Calibri"/>
              </a:rPr>
              <a:t> y luego la </a:t>
            </a:r>
            <a:r>
              <a:rPr sz="1300" dirty="0" err="1">
                <a:solidFill>
                  <a:srgbClr val="1A1A2E"/>
                </a:solidFill>
                <a:latin typeface="Calibri"/>
              </a:rPr>
              <a:t>devolvían</a:t>
            </a:r>
            <a:r>
              <a:rPr sz="1300" dirty="0">
                <a:solidFill>
                  <a:srgbClr val="1A1A2E"/>
                </a:solidFill>
                <a:latin typeface="Calibri"/>
              </a:rPr>
              <a:t>.</a:t>
            </a:r>
            <a:endParaRPr lang="es-419" sz="1300" dirty="0">
              <a:solidFill>
                <a:srgbClr val="1A1A2E"/>
              </a:solidFill>
              <a:latin typeface="Calibri"/>
            </a:endParaRPr>
          </a:p>
          <a:p>
            <a:pPr defTabSz="342991" eaLnBrk="1" fontAlgn="auto" hangingPunct="1">
              <a:spcBef>
                <a:spcPts val="0"/>
              </a:spcBef>
              <a:spcAft>
                <a:spcPts val="0"/>
              </a:spcAft>
            </a:pPr>
            <a:endParaRPr lang="es-419" sz="1300" dirty="0">
              <a:solidFill>
                <a:srgbClr val="1A1A2E"/>
              </a:solidFill>
              <a:latin typeface="Calibri"/>
            </a:endParaRPr>
          </a:p>
          <a:p>
            <a:pPr defTabSz="342991" eaLnBrk="1" fontAlgn="auto" hangingPunct="1">
              <a:spcBef>
                <a:spcPts val="0"/>
              </a:spcBef>
              <a:spcAft>
                <a:spcPts val="0"/>
              </a:spcAft>
            </a:pPr>
            <a:r>
              <a:rPr lang="es-AR" sz="1300" b="1" dirty="0">
                <a:latin typeface="Calibri" panose="020F0502020204030204" pitchFamily="34" charset="0"/>
                <a:ea typeface="Calibri" panose="020F0502020204030204" pitchFamily="34" charset="0"/>
                <a:cs typeface="Calibri" panose="020F0502020204030204" pitchFamily="34" charset="0"/>
              </a:rPr>
              <a:t>"lealtad destructiva"</a:t>
            </a:r>
            <a:r>
              <a:rPr lang="es-AR" sz="1300" dirty="0">
                <a:latin typeface="Calibri" panose="020F0502020204030204" pitchFamily="34" charset="0"/>
                <a:ea typeface="Calibri" panose="020F0502020204030204" pitchFamily="34" charset="0"/>
                <a:cs typeface="Calibri" panose="020F0502020204030204" pitchFamily="34" charset="0"/>
              </a:rPr>
              <a:t> El t[</a:t>
            </a:r>
            <a:r>
              <a:rPr lang="es-AR" sz="1300" dirty="0" err="1">
                <a:latin typeface="Calibri" panose="020F0502020204030204" pitchFamily="34" charset="0"/>
                <a:ea typeface="Calibri" panose="020F0502020204030204" pitchFamily="34" charset="0"/>
                <a:cs typeface="Calibri" panose="020F0502020204030204" pitchFamily="34" charset="0"/>
              </a:rPr>
              <a:t>ipico</a:t>
            </a:r>
            <a:r>
              <a:rPr lang="es-AR" sz="1300" dirty="0">
                <a:latin typeface="Calibri" panose="020F0502020204030204" pitchFamily="34" charset="0"/>
                <a:ea typeface="Calibri" panose="020F0502020204030204" pitchFamily="34" charset="0"/>
                <a:cs typeface="Calibri" panose="020F0502020204030204" pitchFamily="34" charset="0"/>
              </a:rPr>
              <a:t> cliente ASOS es no rentable por ser hiperactivo ; la empresa trabajó intensamente para retenerlo y cada interacción destruía valor.</a:t>
            </a:r>
            <a:endParaRPr sz="1300" dirty="0">
              <a:solidFill>
                <a:srgbClr val="1A1A2E"/>
              </a:solidFill>
              <a:latin typeface="Calibri" panose="020F0502020204030204" pitchFamily="34" charset="0"/>
              <a:ea typeface="Calibri" panose="020F0502020204030204" pitchFamily="34" charset="0"/>
              <a:cs typeface="Calibri" panose="020F0502020204030204" pitchFamily="34" charset="0"/>
            </a:endParaRPr>
          </a:p>
          <a:p>
            <a:pPr defTabSz="342991" eaLnBrk="1" fontAlgn="auto" hangingPunct="1">
              <a:spcBef>
                <a:spcPts val="750"/>
              </a:spcBef>
              <a:spcAft>
                <a:spcPts val="0"/>
              </a:spcAft>
            </a:pPr>
            <a:r>
              <a:rPr sz="1300" dirty="0">
                <a:solidFill>
                  <a:srgbClr val="1A1A2E"/>
                </a:solidFill>
                <a:latin typeface="Calibri"/>
              </a:rPr>
              <a:t>Ese 6% </a:t>
            </a:r>
            <a:r>
              <a:rPr sz="1300" dirty="0" err="1">
                <a:solidFill>
                  <a:srgbClr val="1A1A2E"/>
                </a:solidFill>
                <a:latin typeface="Calibri"/>
              </a:rPr>
              <a:t>estaba</a:t>
            </a:r>
            <a:r>
              <a:rPr sz="1300" dirty="0">
                <a:solidFill>
                  <a:srgbClr val="1A1A2E"/>
                </a:solidFill>
                <a:latin typeface="Calibri"/>
              </a:rPr>
              <a:t> </a:t>
            </a:r>
            <a:r>
              <a:rPr sz="1300" dirty="0" err="1">
                <a:solidFill>
                  <a:srgbClr val="1A1A2E"/>
                </a:solidFill>
                <a:latin typeface="Calibri"/>
              </a:rPr>
              <a:t>costando</a:t>
            </a:r>
            <a:r>
              <a:rPr sz="1300" dirty="0">
                <a:solidFill>
                  <a:srgbClr val="1A1A2E"/>
                </a:solidFill>
                <a:latin typeface="Calibri"/>
              </a:rPr>
              <a:t> a ASOS </a:t>
            </a:r>
            <a:r>
              <a:rPr sz="1300" dirty="0" err="1">
                <a:solidFill>
                  <a:srgbClr val="1A1A2E"/>
                </a:solidFill>
                <a:latin typeface="Calibri"/>
              </a:rPr>
              <a:t>más</a:t>
            </a:r>
            <a:r>
              <a:rPr sz="1300" dirty="0">
                <a:solidFill>
                  <a:srgbClr val="1A1A2E"/>
                </a:solidFill>
                <a:latin typeface="Calibri"/>
              </a:rPr>
              <a:t> de £100 </a:t>
            </a:r>
            <a:r>
              <a:rPr sz="1300" dirty="0" err="1">
                <a:solidFill>
                  <a:srgbClr val="1A1A2E"/>
                </a:solidFill>
                <a:latin typeface="Calibri"/>
              </a:rPr>
              <a:t>millones</a:t>
            </a:r>
            <a:r>
              <a:rPr sz="1300" dirty="0">
                <a:solidFill>
                  <a:srgbClr val="1A1A2E"/>
                </a:solidFill>
                <a:latin typeface="Calibri"/>
              </a:rPr>
              <a:t> </a:t>
            </a:r>
            <a:r>
              <a:rPr sz="1300" dirty="0" err="1">
                <a:solidFill>
                  <a:srgbClr val="1A1A2E"/>
                </a:solidFill>
                <a:latin typeface="Calibri"/>
              </a:rPr>
              <a:t>en</a:t>
            </a:r>
            <a:r>
              <a:rPr sz="1300" dirty="0">
                <a:solidFill>
                  <a:srgbClr val="1A1A2E"/>
                </a:solidFill>
                <a:latin typeface="Calibri"/>
              </a:rPr>
              <a:t> </a:t>
            </a:r>
            <a:r>
              <a:rPr sz="1300" dirty="0" err="1">
                <a:solidFill>
                  <a:srgbClr val="1A1A2E"/>
                </a:solidFill>
                <a:latin typeface="Calibri"/>
              </a:rPr>
              <a:t>el</a:t>
            </a:r>
            <a:r>
              <a:rPr sz="1300" dirty="0">
                <a:solidFill>
                  <a:srgbClr val="1A1A2E"/>
                </a:solidFill>
                <a:latin typeface="Calibri"/>
              </a:rPr>
              <a:t> </a:t>
            </a:r>
            <a:r>
              <a:rPr sz="1300" dirty="0" err="1">
                <a:solidFill>
                  <a:srgbClr val="1A1A2E"/>
                </a:solidFill>
                <a:latin typeface="Calibri"/>
              </a:rPr>
              <a:t>semestre</a:t>
            </a:r>
            <a:r>
              <a:rPr sz="1300" dirty="0">
                <a:solidFill>
                  <a:srgbClr val="1A1A2E"/>
                </a:solidFill>
                <a:latin typeface="Calibri"/>
              </a:rPr>
              <a:t> — </a:t>
            </a:r>
            <a:r>
              <a:rPr sz="1300" dirty="0" err="1">
                <a:solidFill>
                  <a:srgbClr val="1A1A2E"/>
                </a:solidFill>
                <a:latin typeface="Calibri"/>
              </a:rPr>
              <a:t>más</a:t>
            </a:r>
            <a:r>
              <a:rPr sz="1300" dirty="0">
                <a:solidFill>
                  <a:srgbClr val="1A1A2E"/>
                </a:solidFill>
                <a:latin typeface="Calibri"/>
              </a:rPr>
              <a:t> </a:t>
            </a:r>
            <a:r>
              <a:rPr sz="1300" dirty="0" err="1">
                <a:solidFill>
                  <a:srgbClr val="1A1A2E"/>
                </a:solidFill>
                <a:latin typeface="Calibri"/>
              </a:rPr>
              <a:t>que</a:t>
            </a:r>
            <a:r>
              <a:rPr sz="1300" dirty="0">
                <a:solidFill>
                  <a:srgbClr val="1A1A2E"/>
                </a:solidFill>
                <a:latin typeface="Calibri"/>
              </a:rPr>
              <a:t> la </a:t>
            </a:r>
            <a:r>
              <a:rPr sz="1300" dirty="0" err="1">
                <a:solidFill>
                  <a:srgbClr val="1A1A2E"/>
                </a:solidFill>
                <a:latin typeface="Calibri"/>
              </a:rPr>
              <a:t>pérdida</a:t>
            </a:r>
            <a:r>
              <a:rPr sz="1300" dirty="0">
                <a:solidFill>
                  <a:srgbClr val="1A1A2E"/>
                </a:solidFill>
                <a:latin typeface="Calibri"/>
              </a:rPr>
              <a:t> </a:t>
            </a:r>
            <a:r>
              <a:rPr sz="1300" dirty="0" err="1">
                <a:solidFill>
                  <a:srgbClr val="1A1A2E"/>
                </a:solidFill>
                <a:latin typeface="Calibri"/>
              </a:rPr>
              <a:t>operativa</a:t>
            </a:r>
            <a:r>
              <a:rPr sz="1300" dirty="0">
                <a:solidFill>
                  <a:srgbClr val="1A1A2E"/>
                </a:solidFill>
                <a:latin typeface="Calibri"/>
              </a:rPr>
              <a:t> total de la </a:t>
            </a:r>
            <a:r>
              <a:rPr sz="1300" dirty="0" err="1">
                <a:solidFill>
                  <a:srgbClr val="1A1A2E"/>
                </a:solidFill>
                <a:latin typeface="Calibri"/>
              </a:rPr>
              <a:t>empresa</a:t>
            </a:r>
            <a:r>
              <a:rPr sz="1300" dirty="0">
                <a:solidFill>
                  <a:srgbClr val="1A1A2E"/>
                </a:solidFill>
                <a:latin typeface="Calibri"/>
              </a:rPr>
              <a:t>.</a:t>
            </a:r>
          </a:p>
          <a:p>
            <a:pPr defTabSz="342991" eaLnBrk="1" fontAlgn="auto" hangingPunct="1">
              <a:spcBef>
                <a:spcPts val="750"/>
              </a:spcBef>
              <a:spcAft>
                <a:spcPts val="0"/>
              </a:spcAft>
            </a:pPr>
            <a:r>
              <a:rPr sz="1300" dirty="0">
                <a:solidFill>
                  <a:srgbClr val="1A1A2E"/>
                </a:solidFill>
                <a:latin typeface="Calibri"/>
              </a:rPr>
              <a:t>Lo </a:t>
            </a:r>
            <a:r>
              <a:rPr sz="1300" dirty="0" err="1">
                <a:solidFill>
                  <a:srgbClr val="1A1A2E"/>
                </a:solidFill>
                <a:latin typeface="Calibri"/>
              </a:rPr>
              <a:t>más</a:t>
            </a:r>
            <a:r>
              <a:rPr sz="1300" dirty="0">
                <a:solidFill>
                  <a:srgbClr val="1A1A2E"/>
                </a:solidFill>
                <a:latin typeface="Calibri"/>
              </a:rPr>
              <a:t> </a:t>
            </a:r>
            <a:r>
              <a:rPr sz="1300" dirty="0" err="1">
                <a:solidFill>
                  <a:srgbClr val="1A1A2E"/>
                </a:solidFill>
                <a:latin typeface="Calibri"/>
              </a:rPr>
              <a:t>paradójico</a:t>
            </a:r>
            <a:r>
              <a:rPr sz="1300" dirty="0">
                <a:solidFill>
                  <a:srgbClr val="1A1A2E"/>
                </a:solidFill>
                <a:latin typeface="Calibri"/>
              </a:rPr>
              <a:t>: </a:t>
            </a:r>
            <a:r>
              <a:rPr sz="1300" dirty="0" err="1">
                <a:solidFill>
                  <a:srgbClr val="1A1A2E"/>
                </a:solidFill>
                <a:latin typeface="Calibri"/>
              </a:rPr>
              <a:t>recibía</a:t>
            </a:r>
            <a:r>
              <a:rPr sz="1300" dirty="0">
                <a:solidFill>
                  <a:srgbClr val="1A1A2E"/>
                </a:solidFill>
                <a:latin typeface="Calibri"/>
              </a:rPr>
              <a:t> </a:t>
            </a:r>
            <a:r>
              <a:rPr sz="1300" dirty="0" err="1">
                <a:solidFill>
                  <a:srgbClr val="1A1A2E"/>
                </a:solidFill>
                <a:latin typeface="Calibri"/>
              </a:rPr>
              <a:t>exactamente</a:t>
            </a:r>
            <a:r>
              <a:rPr sz="1300" dirty="0">
                <a:solidFill>
                  <a:srgbClr val="1A1A2E"/>
                </a:solidFill>
                <a:latin typeface="Calibri"/>
              </a:rPr>
              <a:t> </a:t>
            </a:r>
            <a:r>
              <a:rPr sz="1300" dirty="0" err="1">
                <a:solidFill>
                  <a:srgbClr val="1A1A2E"/>
                </a:solidFill>
                <a:latin typeface="Calibri"/>
              </a:rPr>
              <a:t>el</a:t>
            </a:r>
            <a:r>
              <a:rPr sz="1300" dirty="0">
                <a:solidFill>
                  <a:srgbClr val="1A1A2E"/>
                </a:solidFill>
                <a:latin typeface="Calibri"/>
              </a:rPr>
              <a:t> </a:t>
            </a:r>
            <a:r>
              <a:rPr sz="1300" dirty="0" err="1">
                <a:solidFill>
                  <a:srgbClr val="1A1A2E"/>
                </a:solidFill>
                <a:latin typeface="Calibri"/>
              </a:rPr>
              <a:t>mismo</a:t>
            </a:r>
            <a:r>
              <a:rPr sz="1300" dirty="0">
                <a:solidFill>
                  <a:srgbClr val="1A1A2E"/>
                </a:solidFill>
                <a:latin typeface="Calibri"/>
              </a:rPr>
              <a:t> </a:t>
            </a:r>
            <a:r>
              <a:rPr sz="1300" dirty="0" err="1">
                <a:solidFill>
                  <a:srgbClr val="1A1A2E"/>
                </a:solidFill>
                <a:latin typeface="Calibri"/>
              </a:rPr>
              <a:t>nivel</a:t>
            </a:r>
            <a:r>
              <a:rPr sz="1300" dirty="0">
                <a:solidFill>
                  <a:srgbClr val="1A1A2E"/>
                </a:solidFill>
                <a:latin typeface="Calibri"/>
              </a:rPr>
              <a:t> de </a:t>
            </a:r>
            <a:r>
              <a:rPr sz="1300" dirty="0" err="1">
                <a:solidFill>
                  <a:srgbClr val="1A1A2E"/>
                </a:solidFill>
                <a:latin typeface="Calibri"/>
              </a:rPr>
              <a:t>servicio</a:t>
            </a:r>
            <a:r>
              <a:rPr sz="1300" dirty="0">
                <a:solidFill>
                  <a:srgbClr val="1A1A2E"/>
                </a:solidFill>
                <a:latin typeface="Calibri"/>
              </a:rPr>
              <a:t> </a:t>
            </a:r>
            <a:r>
              <a:rPr sz="1300" dirty="0" err="1">
                <a:solidFill>
                  <a:srgbClr val="1A1A2E"/>
                </a:solidFill>
                <a:latin typeface="Calibri"/>
              </a:rPr>
              <a:t>gratuito</a:t>
            </a:r>
            <a:r>
              <a:rPr sz="1300" dirty="0">
                <a:solidFill>
                  <a:srgbClr val="1A1A2E"/>
                </a:solidFill>
                <a:latin typeface="Calibri"/>
              </a:rPr>
              <a:t> </a:t>
            </a:r>
            <a:r>
              <a:rPr sz="1300" dirty="0" err="1">
                <a:solidFill>
                  <a:srgbClr val="1A1A2E"/>
                </a:solidFill>
                <a:latin typeface="Calibri"/>
              </a:rPr>
              <a:t>que</a:t>
            </a:r>
            <a:r>
              <a:rPr sz="1300" dirty="0">
                <a:solidFill>
                  <a:srgbClr val="1A1A2E"/>
                </a:solidFill>
                <a:latin typeface="Calibri"/>
              </a:rPr>
              <a:t> </a:t>
            </a:r>
            <a:r>
              <a:rPr sz="1300" dirty="0" err="1">
                <a:solidFill>
                  <a:srgbClr val="1A1A2E"/>
                </a:solidFill>
                <a:latin typeface="Calibri"/>
              </a:rPr>
              <a:t>el</a:t>
            </a:r>
            <a:r>
              <a:rPr sz="1300" dirty="0">
                <a:solidFill>
                  <a:srgbClr val="1A1A2E"/>
                </a:solidFill>
                <a:latin typeface="Calibri"/>
              </a:rPr>
              <a:t> </a:t>
            </a:r>
            <a:r>
              <a:rPr sz="1300" dirty="0" err="1">
                <a:solidFill>
                  <a:srgbClr val="1A1A2E"/>
                </a:solidFill>
                <a:latin typeface="Calibri"/>
              </a:rPr>
              <a:t>cliente</a:t>
            </a:r>
            <a:r>
              <a:rPr sz="1300" dirty="0">
                <a:solidFill>
                  <a:srgbClr val="1A1A2E"/>
                </a:solidFill>
                <a:latin typeface="Calibri"/>
              </a:rPr>
              <a:t> </a:t>
            </a:r>
            <a:r>
              <a:rPr sz="1300" dirty="0" err="1">
                <a:solidFill>
                  <a:srgbClr val="1A1A2E"/>
                </a:solidFill>
                <a:latin typeface="Calibri"/>
              </a:rPr>
              <a:t>más</a:t>
            </a:r>
            <a:r>
              <a:rPr sz="1300" dirty="0">
                <a:solidFill>
                  <a:srgbClr val="1A1A2E"/>
                </a:solidFill>
                <a:latin typeface="Calibri"/>
              </a:rPr>
              <a:t> rentable.</a:t>
            </a:r>
          </a:p>
        </p:txBody>
      </p:sp>
      <p:sp>
        <p:nvSpPr>
          <p:cNvPr id="27" name="Rectangle 22">
            <a:extLst>
              <a:ext uri="{FF2B5EF4-FFF2-40B4-BE49-F238E27FC236}">
                <a16:creationId xmlns:a16="http://schemas.microsoft.com/office/drawing/2014/main" id="{2BA5C7AB-BE01-0065-E8DE-97C6DB6EEBC3}"/>
              </a:ext>
            </a:extLst>
          </p:cNvPr>
          <p:cNvSpPr/>
          <p:nvPr/>
        </p:nvSpPr>
        <p:spPr>
          <a:xfrm>
            <a:off x="4696339" y="3618894"/>
            <a:ext cx="4321665" cy="2126534"/>
          </a:xfrm>
          <a:prstGeom prst="rect">
            <a:avLst/>
          </a:prstGeom>
          <a:solidFill>
            <a:srgbClr val="5A0010"/>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342991" eaLnBrk="1" fontAlgn="auto" latinLnBrk="0" hangingPunct="1">
              <a:lnSpc>
                <a:spcPct val="100000"/>
              </a:lnSpc>
              <a:spcBef>
                <a:spcPts val="0"/>
              </a:spcBef>
              <a:spcAft>
                <a:spcPts val="0"/>
              </a:spcAft>
              <a:buClrTx/>
              <a:buSzTx/>
              <a:buFontTx/>
              <a:buNone/>
              <a:tabLst/>
              <a:defRPr/>
            </a:pPr>
            <a:endParaRPr kumimoji="0" b="0" i="0" u="none" strike="noStrike" kern="0" cap="none" spc="0" normalizeH="0" baseline="0" noProof="0">
              <a:ln>
                <a:noFill/>
              </a:ln>
              <a:solidFill>
                <a:prstClr val="white"/>
              </a:solidFill>
              <a:effectLst/>
              <a:uLnTx/>
              <a:uFillTx/>
              <a:latin typeface="Calibri"/>
              <a:ea typeface="+mn-ea"/>
              <a:cs typeface="+mn-cs"/>
            </a:endParaRPr>
          </a:p>
        </p:txBody>
      </p:sp>
      <p:sp>
        <p:nvSpPr>
          <p:cNvPr id="28" name="TextBox 23">
            <a:extLst>
              <a:ext uri="{FF2B5EF4-FFF2-40B4-BE49-F238E27FC236}">
                <a16:creationId xmlns:a16="http://schemas.microsoft.com/office/drawing/2014/main" id="{F6F455C6-C954-2EB9-0ACA-DFD667C38466}"/>
              </a:ext>
            </a:extLst>
          </p:cNvPr>
          <p:cNvSpPr txBox="1"/>
          <p:nvPr/>
        </p:nvSpPr>
        <p:spPr>
          <a:xfrm>
            <a:off x="4819719" y="3739565"/>
            <a:ext cx="4047274" cy="369332"/>
          </a:xfrm>
          <a:prstGeom prst="rect">
            <a:avLst/>
          </a:prstGeom>
          <a:noFill/>
        </p:spPr>
        <p:txBody>
          <a:bodyPr wrap="square">
            <a:spAutoFit/>
          </a:bodyPr>
          <a:lstStyle/>
          <a:p>
            <a:pPr defTabSz="342991" eaLnBrk="1" fontAlgn="auto" hangingPunct="1">
              <a:spcBef>
                <a:spcPts val="0"/>
              </a:spcBef>
              <a:spcAft>
                <a:spcPts val="0"/>
              </a:spcAft>
            </a:pPr>
            <a:r>
              <a:rPr b="1">
                <a:solidFill>
                  <a:srgbClr val="C8A45A"/>
                </a:solidFill>
                <a:latin typeface="Calibri"/>
              </a:rPr>
              <a:t>CONCLUSIÓN</a:t>
            </a:r>
          </a:p>
        </p:txBody>
      </p:sp>
      <p:sp>
        <p:nvSpPr>
          <p:cNvPr id="29" name="TextBox 24">
            <a:extLst>
              <a:ext uri="{FF2B5EF4-FFF2-40B4-BE49-F238E27FC236}">
                <a16:creationId xmlns:a16="http://schemas.microsoft.com/office/drawing/2014/main" id="{80A212C8-4685-713E-B51B-B0EFB0590229}"/>
              </a:ext>
            </a:extLst>
          </p:cNvPr>
          <p:cNvSpPr txBox="1"/>
          <p:nvPr/>
        </p:nvSpPr>
        <p:spPr>
          <a:xfrm>
            <a:off x="4751121" y="4080409"/>
            <a:ext cx="4047274" cy="646331"/>
          </a:xfrm>
          <a:prstGeom prst="rect">
            <a:avLst/>
          </a:prstGeom>
          <a:noFill/>
        </p:spPr>
        <p:txBody>
          <a:bodyPr wrap="square">
            <a:spAutoFit/>
          </a:bodyPr>
          <a:lstStyle/>
          <a:p>
            <a:pPr defTabSz="342991" eaLnBrk="1" fontAlgn="auto" hangingPunct="1">
              <a:spcBef>
                <a:spcPts val="0"/>
              </a:spcBef>
              <a:spcAft>
                <a:spcPts val="0"/>
              </a:spcAft>
            </a:pPr>
            <a:r>
              <a:rPr b="1" dirty="0">
                <a:solidFill>
                  <a:srgbClr val="FFFFFF"/>
                </a:solidFill>
                <a:latin typeface="Calibri"/>
              </a:rPr>
              <a:t>La </a:t>
            </a:r>
            <a:r>
              <a:rPr b="1" dirty="0" err="1">
                <a:solidFill>
                  <a:srgbClr val="FFFFFF"/>
                </a:solidFill>
                <a:latin typeface="Calibri"/>
              </a:rPr>
              <a:t>empresa</a:t>
            </a:r>
            <a:r>
              <a:rPr b="1" dirty="0">
                <a:solidFill>
                  <a:srgbClr val="FFFFFF"/>
                </a:solidFill>
                <a:latin typeface="Calibri"/>
              </a:rPr>
              <a:t> </a:t>
            </a:r>
            <a:r>
              <a:rPr b="1" dirty="0" err="1">
                <a:solidFill>
                  <a:srgbClr val="FFFFFF"/>
                </a:solidFill>
                <a:latin typeface="Calibri"/>
              </a:rPr>
              <a:t>había</a:t>
            </a:r>
            <a:r>
              <a:rPr b="1" dirty="0">
                <a:solidFill>
                  <a:srgbClr val="FFFFFF"/>
                </a:solidFill>
                <a:latin typeface="Calibri"/>
              </a:rPr>
              <a:t> </a:t>
            </a:r>
            <a:r>
              <a:rPr b="1" dirty="0" err="1">
                <a:solidFill>
                  <a:srgbClr val="FFFFFF"/>
                </a:solidFill>
                <a:latin typeface="Calibri"/>
              </a:rPr>
              <a:t>estado</a:t>
            </a:r>
            <a:r>
              <a:rPr b="1" dirty="0">
                <a:solidFill>
                  <a:srgbClr val="FFFFFF"/>
                </a:solidFill>
                <a:latin typeface="Calibri"/>
              </a:rPr>
              <a:t> </a:t>
            </a:r>
            <a:r>
              <a:rPr b="1" dirty="0" err="1">
                <a:solidFill>
                  <a:srgbClr val="FFFFFF"/>
                </a:solidFill>
                <a:latin typeface="Calibri"/>
              </a:rPr>
              <a:t>trabajando</a:t>
            </a:r>
            <a:r>
              <a:rPr b="1" dirty="0">
                <a:solidFill>
                  <a:srgbClr val="FFFFFF"/>
                </a:solidFill>
                <a:latin typeface="Calibri"/>
              </a:rPr>
              <a:t> con </a:t>
            </a:r>
            <a:r>
              <a:rPr b="1" dirty="0" err="1">
                <a:solidFill>
                  <a:srgbClr val="FFFFFF"/>
                </a:solidFill>
                <a:latin typeface="Calibri"/>
              </a:rPr>
              <a:t>toda</a:t>
            </a:r>
            <a:r>
              <a:rPr b="1" dirty="0">
                <a:solidFill>
                  <a:srgbClr val="FFFFFF"/>
                </a:solidFill>
                <a:latin typeface="Calibri"/>
              </a:rPr>
              <a:t> </a:t>
            </a:r>
            <a:r>
              <a:rPr b="1" dirty="0" err="1">
                <a:solidFill>
                  <a:srgbClr val="FFFFFF"/>
                </a:solidFill>
                <a:latin typeface="Calibri"/>
              </a:rPr>
              <a:t>su</a:t>
            </a:r>
            <a:r>
              <a:rPr b="1" dirty="0">
                <a:solidFill>
                  <a:srgbClr val="FFFFFF"/>
                </a:solidFill>
                <a:latin typeface="Calibri"/>
              </a:rPr>
              <a:t> </a:t>
            </a:r>
            <a:r>
              <a:rPr b="1" dirty="0" err="1">
                <a:solidFill>
                  <a:srgbClr val="FFFFFF"/>
                </a:solidFill>
                <a:latin typeface="Calibri"/>
              </a:rPr>
              <a:t>eficiencia</a:t>
            </a:r>
            <a:r>
              <a:rPr b="1" dirty="0">
                <a:solidFill>
                  <a:srgbClr val="FFFFFF"/>
                </a:solidFill>
                <a:latin typeface="Calibri"/>
              </a:rPr>
              <a:t> para </a:t>
            </a:r>
            <a:r>
              <a:rPr b="1" dirty="0" err="1">
                <a:solidFill>
                  <a:srgbClr val="FFFFFF"/>
                </a:solidFill>
                <a:latin typeface="Calibri"/>
              </a:rPr>
              <a:t>destruir</a:t>
            </a:r>
            <a:r>
              <a:rPr b="1" dirty="0">
                <a:solidFill>
                  <a:srgbClr val="FFFFFF"/>
                </a:solidFill>
                <a:latin typeface="Calibri"/>
              </a:rPr>
              <a:t> valor.</a:t>
            </a:r>
          </a:p>
        </p:txBody>
      </p:sp>
      <p:sp>
        <p:nvSpPr>
          <p:cNvPr id="30" name="TextBox 25">
            <a:extLst>
              <a:ext uri="{FF2B5EF4-FFF2-40B4-BE49-F238E27FC236}">
                <a16:creationId xmlns:a16="http://schemas.microsoft.com/office/drawing/2014/main" id="{6E479AEA-9B1A-F2FB-4CC4-02FC7B485413}"/>
              </a:ext>
            </a:extLst>
          </p:cNvPr>
          <p:cNvSpPr txBox="1"/>
          <p:nvPr/>
        </p:nvSpPr>
        <p:spPr>
          <a:xfrm>
            <a:off x="4819719" y="4831932"/>
            <a:ext cx="4047274" cy="923330"/>
          </a:xfrm>
          <a:prstGeom prst="rect">
            <a:avLst/>
          </a:prstGeom>
          <a:noFill/>
        </p:spPr>
        <p:txBody>
          <a:bodyPr wrap="square">
            <a:spAutoFit/>
          </a:bodyPr>
          <a:lstStyle/>
          <a:p>
            <a:pPr defTabSz="342991" eaLnBrk="1" fontAlgn="auto" hangingPunct="1">
              <a:spcBef>
                <a:spcPts val="0"/>
              </a:spcBef>
              <a:spcAft>
                <a:spcPts val="0"/>
              </a:spcAft>
            </a:pPr>
            <a:r>
              <a:rPr i="1" dirty="0">
                <a:solidFill>
                  <a:srgbClr val="CCCCCC"/>
                </a:solidFill>
                <a:latin typeface="Calibri"/>
              </a:rPr>
              <a:t>No era </a:t>
            </a:r>
            <a:r>
              <a:rPr i="1" dirty="0" err="1">
                <a:solidFill>
                  <a:srgbClr val="CCCCCC"/>
                </a:solidFill>
                <a:latin typeface="Calibri"/>
              </a:rPr>
              <a:t>una</a:t>
            </a:r>
            <a:r>
              <a:rPr i="1" dirty="0">
                <a:solidFill>
                  <a:srgbClr val="CCCCCC"/>
                </a:solidFill>
                <a:latin typeface="Calibri"/>
              </a:rPr>
              <a:t> mala </a:t>
            </a:r>
            <a:r>
              <a:rPr i="1" dirty="0" err="1">
                <a:solidFill>
                  <a:srgbClr val="CCCCCC"/>
                </a:solidFill>
                <a:latin typeface="Calibri"/>
              </a:rPr>
              <a:t>decisión</a:t>
            </a:r>
            <a:r>
              <a:rPr i="1" dirty="0">
                <a:solidFill>
                  <a:srgbClr val="CCCCCC"/>
                </a:solidFill>
                <a:latin typeface="Calibri"/>
              </a:rPr>
              <a:t> </a:t>
            </a:r>
            <a:r>
              <a:rPr i="1" dirty="0" err="1">
                <a:solidFill>
                  <a:srgbClr val="CCCCCC"/>
                </a:solidFill>
                <a:latin typeface="Calibri"/>
              </a:rPr>
              <a:t>aislada</a:t>
            </a:r>
            <a:r>
              <a:rPr i="1" dirty="0">
                <a:solidFill>
                  <a:srgbClr val="CCCCCC"/>
                </a:solidFill>
                <a:latin typeface="Calibri"/>
              </a:rPr>
              <a:t>. Era </a:t>
            </a:r>
            <a:r>
              <a:rPr i="1" dirty="0" err="1">
                <a:solidFill>
                  <a:srgbClr val="CCCCCC"/>
                </a:solidFill>
                <a:latin typeface="Calibri"/>
              </a:rPr>
              <a:t>el</a:t>
            </a:r>
            <a:r>
              <a:rPr i="1" dirty="0">
                <a:solidFill>
                  <a:srgbClr val="CCCCCC"/>
                </a:solidFill>
                <a:latin typeface="Calibri"/>
              </a:rPr>
              <a:t> </a:t>
            </a:r>
            <a:r>
              <a:rPr i="1" dirty="0" err="1">
                <a:solidFill>
                  <a:srgbClr val="CCCCCC"/>
                </a:solidFill>
                <a:latin typeface="Calibri"/>
              </a:rPr>
              <a:t>resultado</a:t>
            </a:r>
            <a:r>
              <a:rPr i="1" dirty="0">
                <a:solidFill>
                  <a:srgbClr val="CCCCCC"/>
                </a:solidFill>
                <a:latin typeface="Calibri"/>
              </a:rPr>
              <a:t> de </a:t>
            </a:r>
            <a:r>
              <a:rPr i="1" dirty="0" err="1">
                <a:solidFill>
                  <a:srgbClr val="CCCCCC"/>
                </a:solidFill>
                <a:latin typeface="Calibri"/>
              </a:rPr>
              <a:t>años</a:t>
            </a:r>
            <a:r>
              <a:rPr i="1" dirty="0">
                <a:solidFill>
                  <a:srgbClr val="CCCCCC"/>
                </a:solidFill>
                <a:latin typeface="Calibri"/>
              </a:rPr>
              <a:t> de </a:t>
            </a:r>
            <a:r>
              <a:rPr i="1" dirty="0" err="1">
                <a:solidFill>
                  <a:srgbClr val="CCCCCC"/>
                </a:solidFill>
                <a:latin typeface="Calibri"/>
              </a:rPr>
              <a:t>crecimiento</a:t>
            </a:r>
            <a:r>
              <a:rPr i="1" dirty="0">
                <a:solidFill>
                  <a:srgbClr val="CCCCCC"/>
                </a:solidFill>
                <a:latin typeface="Calibri"/>
              </a:rPr>
              <a:t> sin </a:t>
            </a:r>
            <a:r>
              <a:rPr i="1" dirty="0" err="1">
                <a:solidFill>
                  <a:srgbClr val="CCCCCC"/>
                </a:solidFill>
                <a:latin typeface="Calibri"/>
              </a:rPr>
              <a:t>medir</a:t>
            </a:r>
            <a:r>
              <a:rPr i="1" dirty="0">
                <a:solidFill>
                  <a:srgbClr val="CCCCCC"/>
                </a:solidFill>
                <a:latin typeface="Calibri"/>
              </a:rPr>
              <a:t> la </a:t>
            </a:r>
            <a:r>
              <a:rPr i="1" dirty="0" err="1">
                <a:solidFill>
                  <a:srgbClr val="CCCCCC"/>
                </a:solidFill>
                <a:latin typeface="Calibri"/>
              </a:rPr>
              <a:t>rentabilidad</a:t>
            </a:r>
            <a:r>
              <a:rPr i="1" dirty="0">
                <a:solidFill>
                  <a:srgbClr val="CCCCCC"/>
                </a:solidFill>
                <a:latin typeface="Calibri"/>
              </a:rPr>
              <a:t> </a:t>
            </a:r>
            <a:r>
              <a:rPr i="1" dirty="0" err="1">
                <a:solidFill>
                  <a:srgbClr val="CCCCCC"/>
                </a:solidFill>
                <a:latin typeface="Calibri"/>
              </a:rPr>
              <a:t>por</a:t>
            </a:r>
            <a:r>
              <a:rPr i="1" dirty="0">
                <a:solidFill>
                  <a:srgbClr val="CCCCCC"/>
                </a:solidFill>
                <a:latin typeface="Calibri"/>
              </a:rPr>
              <a:t> </a:t>
            </a:r>
            <a:r>
              <a:rPr i="1" dirty="0" err="1">
                <a:solidFill>
                  <a:srgbClr val="CCCCCC"/>
                </a:solidFill>
                <a:latin typeface="Calibri"/>
              </a:rPr>
              <a:t>cliente</a:t>
            </a:r>
            <a:r>
              <a:rPr i="1" dirty="0">
                <a:solidFill>
                  <a:srgbClr val="CCCCCC"/>
                </a:solidFill>
                <a:latin typeface="Calibri"/>
              </a:rPr>
              <a:t> .</a:t>
            </a:r>
          </a:p>
        </p:txBody>
      </p:sp>
      <p:sp>
        <p:nvSpPr>
          <p:cNvPr id="33" name="TextBox 18">
            <a:extLst>
              <a:ext uri="{FF2B5EF4-FFF2-40B4-BE49-F238E27FC236}">
                <a16:creationId xmlns:a16="http://schemas.microsoft.com/office/drawing/2014/main" id="{76659EB1-6410-7038-0CD2-E1855514B342}"/>
              </a:ext>
            </a:extLst>
          </p:cNvPr>
          <p:cNvSpPr txBox="1"/>
          <p:nvPr/>
        </p:nvSpPr>
        <p:spPr>
          <a:xfrm>
            <a:off x="252950" y="802798"/>
            <a:ext cx="8506135" cy="830997"/>
          </a:xfrm>
          <a:prstGeom prst="rect">
            <a:avLst/>
          </a:prstGeom>
          <a:noFill/>
        </p:spPr>
        <p:txBody>
          <a:bodyPr wrap="square">
            <a:spAutoFit/>
          </a:bodyPr>
          <a:lstStyle/>
          <a:p>
            <a:pPr defTabSz="342991" eaLnBrk="1" fontAlgn="auto" hangingPunct="1">
              <a:spcBef>
                <a:spcPts val="0"/>
              </a:spcBef>
              <a:spcAft>
                <a:spcPts val="0"/>
              </a:spcAft>
            </a:pPr>
            <a:r>
              <a:rPr sz="1600" i="1" dirty="0">
                <a:solidFill>
                  <a:schemeClr val="bg1">
                    <a:lumMod val="95000"/>
                  </a:schemeClr>
                </a:solidFill>
                <a:latin typeface="Calibri"/>
              </a:rPr>
              <a:t>ASOS — </a:t>
            </a:r>
            <a:r>
              <a:rPr sz="1600" i="1" dirty="0" err="1">
                <a:solidFill>
                  <a:schemeClr val="bg1">
                    <a:lumMod val="95000"/>
                  </a:schemeClr>
                </a:solidFill>
                <a:latin typeface="Calibri"/>
              </a:rPr>
              <a:t>el</a:t>
            </a:r>
            <a:r>
              <a:rPr sz="1600" i="1" dirty="0">
                <a:solidFill>
                  <a:schemeClr val="bg1">
                    <a:lumMod val="95000"/>
                  </a:schemeClr>
                </a:solidFill>
                <a:latin typeface="Calibri"/>
              </a:rPr>
              <a:t> mayor </a:t>
            </a:r>
            <a:r>
              <a:rPr sz="1600" i="1" dirty="0" err="1">
                <a:solidFill>
                  <a:schemeClr val="bg1">
                    <a:lumMod val="95000"/>
                  </a:schemeClr>
                </a:solidFill>
                <a:latin typeface="Calibri"/>
              </a:rPr>
              <a:t>minorista</a:t>
            </a:r>
            <a:r>
              <a:rPr sz="1600" i="1" dirty="0">
                <a:solidFill>
                  <a:schemeClr val="bg1">
                    <a:lumMod val="95000"/>
                  </a:schemeClr>
                </a:solidFill>
                <a:latin typeface="Calibri"/>
              </a:rPr>
              <a:t> de </a:t>
            </a:r>
            <a:r>
              <a:rPr sz="1600" i="1" dirty="0" err="1">
                <a:solidFill>
                  <a:schemeClr val="bg1">
                    <a:lumMod val="95000"/>
                  </a:schemeClr>
                </a:solidFill>
                <a:latin typeface="Calibri"/>
              </a:rPr>
              <a:t>moda</a:t>
            </a:r>
            <a:r>
              <a:rPr sz="1600" i="1" dirty="0">
                <a:solidFill>
                  <a:schemeClr val="bg1">
                    <a:lumMod val="95000"/>
                  </a:schemeClr>
                </a:solidFill>
                <a:latin typeface="Calibri"/>
              </a:rPr>
              <a:t> online del Reino </a:t>
            </a:r>
            <a:r>
              <a:rPr sz="1600" i="1" dirty="0" err="1">
                <a:solidFill>
                  <a:schemeClr val="bg1">
                    <a:lumMod val="95000"/>
                  </a:schemeClr>
                </a:solidFill>
                <a:latin typeface="Calibri"/>
              </a:rPr>
              <a:t>Unido</a:t>
            </a:r>
            <a:r>
              <a:rPr sz="1600" i="1" dirty="0">
                <a:solidFill>
                  <a:schemeClr val="bg1">
                    <a:lumMod val="95000"/>
                  </a:schemeClr>
                </a:solidFill>
                <a:latin typeface="Calibri"/>
              </a:rPr>
              <a:t> — </a:t>
            </a:r>
            <a:r>
              <a:rPr sz="1600" i="1" dirty="0" err="1">
                <a:solidFill>
                  <a:schemeClr val="bg1">
                    <a:lumMod val="95000"/>
                  </a:schemeClr>
                </a:solidFill>
                <a:latin typeface="Calibri"/>
              </a:rPr>
              <a:t>construyó</a:t>
            </a:r>
            <a:r>
              <a:rPr sz="1600" i="1" dirty="0">
                <a:solidFill>
                  <a:schemeClr val="bg1">
                    <a:lumMod val="95000"/>
                  </a:schemeClr>
                </a:solidFill>
                <a:latin typeface="Calibri"/>
              </a:rPr>
              <a:t> </a:t>
            </a:r>
            <a:r>
              <a:rPr sz="1600" i="1" dirty="0" err="1">
                <a:solidFill>
                  <a:schemeClr val="bg1">
                    <a:lumMod val="95000"/>
                  </a:schemeClr>
                </a:solidFill>
                <a:latin typeface="Calibri"/>
              </a:rPr>
              <a:t>su</a:t>
            </a:r>
            <a:r>
              <a:rPr sz="1600" i="1" dirty="0">
                <a:solidFill>
                  <a:schemeClr val="bg1">
                    <a:lumMod val="95000"/>
                  </a:schemeClr>
                </a:solidFill>
                <a:latin typeface="Calibri"/>
              </a:rPr>
              <a:t> </a:t>
            </a:r>
            <a:r>
              <a:rPr sz="1600" i="1" dirty="0" err="1">
                <a:solidFill>
                  <a:schemeClr val="bg1">
                    <a:lumMod val="95000"/>
                  </a:schemeClr>
                </a:solidFill>
                <a:latin typeface="Calibri"/>
              </a:rPr>
              <a:t>propuesta</a:t>
            </a:r>
            <a:r>
              <a:rPr sz="1600" i="1" dirty="0">
                <a:solidFill>
                  <a:schemeClr val="bg1">
                    <a:lumMod val="95000"/>
                  </a:schemeClr>
                </a:solidFill>
                <a:latin typeface="Calibri"/>
              </a:rPr>
              <a:t> de valor </a:t>
            </a:r>
            <a:r>
              <a:rPr sz="1600" i="1" dirty="0" err="1">
                <a:solidFill>
                  <a:schemeClr val="bg1">
                    <a:lumMod val="95000"/>
                  </a:schemeClr>
                </a:solidFill>
                <a:latin typeface="Calibri"/>
              </a:rPr>
              <a:t>sobre</a:t>
            </a:r>
            <a:r>
              <a:rPr sz="1600" i="1" dirty="0">
                <a:solidFill>
                  <a:schemeClr val="bg1">
                    <a:lumMod val="95000"/>
                  </a:schemeClr>
                </a:solidFill>
                <a:latin typeface="Calibri"/>
              </a:rPr>
              <a:t> la </a:t>
            </a:r>
            <a:r>
              <a:rPr sz="1600" i="1" dirty="0" err="1">
                <a:solidFill>
                  <a:schemeClr val="bg1">
                    <a:lumMod val="95000"/>
                  </a:schemeClr>
                </a:solidFill>
                <a:latin typeface="Calibri"/>
              </a:rPr>
              <a:t>devolución</a:t>
            </a:r>
            <a:r>
              <a:rPr sz="1600" i="1" dirty="0">
                <a:solidFill>
                  <a:schemeClr val="bg1">
                    <a:lumMod val="95000"/>
                  </a:schemeClr>
                </a:solidFill>
                <a:latin typeface="Calibri"/>
              </a:rPr>
              <a:t> </a:t>
            </a:r>
            <a:r>
              <a:rPr sz="1600" i="1" dirty="0" err="1">
                <a:solidFill>
                  <a:schemeClr val="bg1">
                    <a:lumMod val="95000"/>
                  </a:schemeClr>
                </a:solidFill>
                <a:latin typeface="Calibri"/>
              </a:rPr>
              <a:t>gratuita</a:t>
            </a:r>
            <a:r>
              <a:rPr sz="1600" i="1" dirty="0">
                <a:solidFill>
                  <a:schemeClr val="bg1">
                    <a:lumMod val="95000"/>
                  </a:schemeClr>
                </a:solidFill>
                <a:latin typeface="Calibri"/>
              </a:rPr>
              <a:t> e </a:t>
            </a:r>
            <a:r>
              <a:rPr sz="1600" i="1" dirty="0" err="1">
                <a:solidFill>
                  <a:schemeClr val="bg1">
                    <a:lumMod val="95000"/>
                  </a:schemeClr>
                </a:solidFill>
                <a:latin typeface="Calibri"/>
              </a:rPr>
              <a:t>ilimitada</a:t>
            </a:r>
            <a:r>
              <a:rPr sz="1600" i="1" dirty="0">
                <a:solidFill>
                  <a:schemeClr val="bg1">
                    <a:lumMod val="95000"/>
                  </a:schemeClr>
                </a:solidFill>
                <a:latin typeface="Calibri"/>
              </a:rPr>
              <a:t>. En 2023, al </a:t>
            </a:r>
            <a:r>
              <a:rPr sz="1600" i="1" dirty="0" err="1">
                <a:solidFill>
                  <a:schemeClr val="bg1">
                    <a:lumMod val="95000"/>
                  </a:schemeClr>
                </a:solidFill>
                <a:latin typeface="Calibri"/>
              </a:rPr>
              <a:t>consolidar</a:t>
            </a:r>
            <a:r>
              <a:rPr sz="1600" i="1" dirty="0">
                <a:solidFill>
                  <a:schemeClr val="bg1">
                    <a:lumMod val="95000"/>
                  </a:schemeClr>
                </a:solidFill>
                <a:latin typeface="Calibri"/>
              </a:rPr>
              <a:t> </a:t>
            </a:r>
            <a:r>
              <a:rPr sz="1600" i="1" dirty="0" err="1">
                <a:solidFill>
                  <a:schemeClr val="bg1">
                    <a:lumMod val="95000"/>
                  </a:schemeClr>
                </a:solidFill>
                <a:latin typeface="Calibri"/>
              </a:rPr>
              <a:t>por</a:t>
            </a:r>
            <a:r>
              <a:rPr sz="1600" i="1" dirty="0">
                <a:solidFill>
                  <a:schemeClr val="bg1">
                    <a:lumMod val="95000"/>
                  </a:schemeClr>
                </a:solidFill>
                <a:latin typeface="Calibri"/>
              </a:rPr>
              <a:t> </a:t>
            </a:r>
            <a:r>
              <a:rPr sz="1600" i="1" dirty="0" err="1">
                <a:solidFill>
                  <a:schemeClr val="bg1">
                    <a:lumMod val="95000"/>
                  </a:schemeClr>
                </a:solidFill>
                <a:latin typeface="Calibri"/>
              </a:rPr>
              <a:t>primera</a:t>
            </a:r>
            <a:r>
              <a:rPr sz="1600" i="1" dirty="0">
                <a:solidFill>
                  <a:schemeClr val="bg1">
                    <a:lumMod val="95000"/>
                  </a:schemeClr>
                </a:solidFill>
                <a:latin typeface="Calibri"/>
              </a:rPr>
              <a:t> </a:t>
            </a:r>
            <a:r>
              <a:rPr sz="1600" i="1" dirty="0" err="1">
                <a:solidFill>
                  <a:schemeClr val="bg1">
                    <a:lumMod val="95000"/>
                  </a:schemeClr>
                </a:solidFill>
                <a:latin typeface="Calibri"/>
              </a:rPr>
              <a:t>vez</a:t>
            </a:r>
            <a:r>
              <a:rPr sz="1600" i="1" dirty="0">
                <a:solidFill>
                  <a:schemeClr val="bg1">
                    <a:lumMod val="95000"/>
                  </a:schemeClr>
                </a:solidFill>
                <a:latin typeface="Calibri"/>
              </a:rPr>
              <a:t> </a:t>
            </a:r>
            <a:r>
              <a:rPr sz="1600" i="1" dirty="0" err="1">
                <a:solidFill>
                  <a:schemeClr val="bg1">
                    <a:lumMod val="95000"/>
                  </a:schemeClr>
                </a:solidFill>
                <a:latin typeface="Calibri"/>
              </a:rPr>
              <a:t>los</a:t>
            </a:r>
            <a:r>
              <a:rPr sz="1600" i="1" dirty="0">
                <a:solidFill>
                  <a:schemeClr val="bg1">
                    <a:lumMod val="95000"/>
                  </a:schemeClr>
                </a:solidFill>
                <a:latin typeface="Calibri"/>
              </a:rPr>
              <a:t> </a:t>
            </a:r>
            <a:r>
              <a:rPr sz="1600" i="1" dirty="0" err="1">
                <a:solidFill>
                  <a:schemeClr val="bg1">
                    <a:lumMod val="95000"/>
                  </a:schemeClr>
                </a:solidFill>
                <a:latin typeface="Calibri"/>
              </a:rPr>
              <a:t>datos</a:t>
            </a:r>
            <a:r>
              <a:rPr sz="1600" i="1" dirty="0">
                <a:solidFill>
                  <a:schemeClr val="bg1">
                    <a:lumMod val="95000"/>
                  </a:schemeClr>
                </a:solidFill>
                <a:latin typeface="Calibri"/>
              </a:rPr>
              <a:t> de </a:t>
            </a:r>
            <a:r>
              <a:rPr sz="1600" i="1" dirty="0" err="1">
                <a:solidFill>
                  <a:schemeClr val="bg1">
                    <a:lumMod val="95000"/>
                  </a:schemeClr>
                </a:solidFill>
                <a:latin typeface="Calibri"/>
              </a:rPr>
              <a:t>compras</a:t>
            </a:r>
            <a:r>
              <a:rPr sz="1600" i="1" dirty="0">
                <a:solidFill>
                  <a:schemeClr val="bg1">
                    <a:lumMod val="95000"/>
                  </a:schemeClr>
                </a:solidFill>
                <a:latin typeface="Calibri"/>
              </a:rPr>
              <a:t>, </a:t>
            </a:r>
            <a:r>
              <a:rPr sz="1600" i="1" dirty="0" err="1">
                <a:solidFill>
                  <a:schemeClr val="bg1">
                    <a:lumMod val="95000"/>
                  </a:schemeClr>
                </a:solidFill>
                <a:latin typeface="Calibri"/>
              </a:rPr>
              <a:t>devoluciones</a:t>
            </a:r>
            <a:r>
              <a:rPr sz="1600" i="1" dirty="0">
                <a:solidFill>
                  <a:schemeClr val="bg1">
                    <a:lumMod val="95000"/>
                  </a:schemeClr>
                </a:solidFill>
                <a:latin typeface="Calibri"/>
              </a:rPr>
              <a:t>, </a:t>
            </a:r>
            <a:r>
              <a:rPr sz="1600" i="1" dirty="0" err="1">
                <a:solidFill>
                  <a:schemeClr val="bg1">
                    <a:lumMod val="95000"/>
                  </a:schemeClr>
                </a:solidFill>
                <a:latin typeface="Calibri"/>
              </a:rPr>
              <a:t>descuentos</a:t>
            </a:r>
            <a:r>
              <a:rPr sz="1600" i="1" dirty="0">
                <a:solidFill>
                  <a:schemeClr val="bg1">
                    <a:lumMod val="95000"/>
                  </a:schemeClr>
                </a:solidFill>
                <a:latin typeface="Calibri"/>
              </a:rPr>
              <a:t> y </a:t>
            </a:r>
            <a:r>
              <a:rPr sz="1600" i="1" dirty="0" err="1">
                <a:solidFill>
                  <a:schemeClr val="bg1">
                    <a:lumMod val="95000"/>
                  </a:schemeClr>
                </a:solidFill>
                <a:latin typeface="Calibri"/>
              </a:rPr>
              <a:t>costos</a:t>
            </a:r>
            <a:r>
              <a:rPr sz="1600" i="1" dirty="0">
                <a:solidFill>
                  <a:schemeClr val="bg1">
                    <a:lumMod val="95000"/>
                  </a:schemeClr>
                </a:solidFill>
                <a:latin typeface="Calibri"/>
              </a:rPr>
              <a:t> </a:t>
            </a:r>
            <a:r>
              <a:rPr sz="1600" i="1" dirty="0" err="1">
                <a:solidFill>
                  <a:schemeClr val="bg1">
                    <a:lumMod val="95000"/>
                  </a:schemeClr>
                </a:solidFill>
                <a:latin typeface="Calibri"/>
              </a:rPr>
              <a:t>logísticos</a:t>
            </a:r>
            <a:r>
              <a:rPr sz="1600" i="1" dirty="0">
                <a:solidFill>
                  <a:schemeClr val="bg1">
                    <a:lumMod val="95000"/>
                  </a:schemeClr>
                </a:solidFill>
                <a:latin typeface="Calibri"/>
              </a:rPr>
              <a:t> </a:t>
            </a:r>
            <a:r>
              <a:rPr sz="1600" i="1" dirty="0" err="1">
                <a:solidFill>
                  <a:schemeClr val="bg1">
                    <a:lumMod val="95000"/>
                  </a:schemeClr>
                </a:solidFill>
                <a:latin typeface="Calibri"/>
              </a:rPr>
              <a:t>por</a:t>
            </a:r>
            <a:r>
              <a:rPr sz="1600" i="1" dirty="0">
                <a:solidFill>
                  <a:schemeClr val="bg1">
                    <a:lumMod val="95000"/>
                  </a:schemeClr>
                </a:solidFill>
                <a:latin typeface="Calibri"/>
              </a:rPr>
              <a:t> </a:t>
            </a:r>
            <a:r>
              <a:rPr sz="1600" i="1" dirty="0" err="1">
                <a:solidFill>
                  <a:schemeClr val="bg1">
                    <a:lumMod val="95000"/>
                  </a:schemeClr>
                </a:solidFill>
                <a:latin typeface="Calibri"/>
              </a:rPr>
              <a:t>cliente</a:t>
            </a:r>
            <a:r>
              <a:rPr sz="1600" i="1" dirty="0">
                <a:solidFill>
                  <a:schemeClr val="bg1">
                    <a:lumMod val="95000"/>
                  </a:schemeClr>
                </a:solidFill>
                <a:latin typeface="Calibri"/>
              </a:rPr>
              <a:t>, </a:t>
            </a:r>
            <a:r>
              <a:rPr sz="1600" i="1" dirty="0" err="1">
                <a:solidFill>
                  <a:schemeClr val="bg1">
                    <a:lumMod val="95000"/>
                  </a:schemeClr>
                </a:solidFill>
                <a:latin typeface="Calibri"/>
              </a:rPr>
              <a:t>descubrió</a:t>
            </a:r>
            <a:r>
              <a:rPr sz="1600" i="1" dirty="0">
                <a:solidFill>
                  <a:schemeClr val="bg1">
                    <a:lumMod val="95000"/>
                  </a:schemeClr>
                </a:solidFill>
                <a:latin typeface="Calibri"/>
              </a:rPr>
              <a:t> algo </a:t>
            </a:r>
            <a:r>
              <a:rPr sz="1600" i="1" dirty="0" err="1">
                <a:solidFill>
                  <a:schemeClr val="bg1">
                    <a:lumMod val="95000"/>
                  </a:schemeClr>
                </a:solidFill>
                <a:latin typeface="Calibri"/>
              </a:rPr>
              <a:t>inesperado</a:t>
            </a:r>
            <a:r>
              <a:rPr sz="1600" i="1" dirty="0">
                <a:solidFill>
                  <a:schemeClr val="bg1">
                    <a:lumMod val="95000"/>
                  </a:schemeClr>
                </a:solidFill>
                <a:latin typeface="Calibri"/>
              </a:rPr>
              <a:t>.</a:t>
            </a:r>
          </a:p>
        </p:txBody>
      </p:sp>
      <p:sp>
        <p:nvSpPr>
          <p:cNvPr id="36" name="TextBox 7">
            <a:extLst>
              <a:ext uri="{FF2B5EF4-FFF2-40B4-BE49-F238E27FC236}">
                <a16:creationId xmlns:a16="http://schemas.microsoft.com/office/drawing/2014/main" id="{B93920EF-5431-680C-3929-374C3E357F00}"/>
              </a:ext>
            </a:extLst>
          </p:cNvPr>
          <p:cNvSpPr txBox="1"/>
          <p:nvPr/>
        </p:nvSpPr>
        <p:spPr>
          <a:xfrm>
            <a:off x="3139999" y="6533375"/>
            <a:ext cx="5619086" cy="276999"/>
          </a:xfrm>
          <a:prstGeom prst="rect">
            <a:avLst/>
          </a:prstGeom>
          <a:noFill/>
        </p:spPr>
        <p:txBody>
          <a:bodyPr wrap="square">
            <a:spAutoFit/>
          </a:bodyPr>
          <a:lstStyle/>
          <a:p>
            <a:pPr algn="l"/>
            <a:r>
              <a:rPr sz="1200" dirty="0">
                <a:solidFill>
                  <a:schemeClr val="bg1"/>
                </a:solidFill>
                <a:latin typeface="Calibri"/>
              </a:rPr>
              <a:t>Fuente: ASOS Plc. Results Presentation (mayo 2023) · Annual Report (</a:t>
            </a:r>
            <a:r>
              <a:rPr sz="1200" dirty="0" err="1">
                <a:solidFill>
                  <a:schemeClr val="bg1"/>
                </a:solidFill>
                <a:latin typeface="Calibri"/>
              </a:rPr>
              <a:t>septiembre</a:t>
            </a:r>
            <a:r>
              <a:rPr sz="1200" dirty="0">
                <a:solidFill>
                  <a:schemeClr val="bg1"/>
                </a:solidFill>
                <a:latin typeface="Calibri"/>
              </a:rPr>
              <a:t> 2023) </a:t>
            </a:r>
          </a:p>
        </p:txBody>
      </p:sp>
      <p:sp>
        <p:nvSpPr>
          <p:cNvPr id="6" name="TextBox 9">
            <a:extLst>
              <a:ext uri="{FF2B5EF4-FFF2-40B4-BE49-F238E27FC236}">
                <a16:creationId xmlns:a16="http://schemas.microsoft.com/office/drawing/2014/main" id="{8997D237-309B-6535-BE0E-28DC108776A0}"/>
              </a:ext>
            </a:extLst>
          </p:cNvPr>
          <p:cNvSpPr txBox="1"/>
          <p:nvPr/>
        </p:nvSpPr>
        <p:spPr>
          <a:xfrm>
            <a:off x="75411" y="1804482"/>
            <a:ext cx="2743200" cy="731520"/>
          </a:xfrm>
          <a:prstGeom prst="rect">
            <a:avLst/>
          </a:prstGeom>
          <a:noFill/>
        </p:spPr>
        <p:txBody>
          <a:bodyPr wrap="square">
            <a:spAutoFit/>
          </a:bodyPr>
          <a:lstStyle/>
          <a:p>
            <a:pPr algn="ctr"/>
            <a:r>
              <a:rPr sz="4600" b="1" i="0" dirty="0">
                <a:solidFill>
                  <a:srgbClr val="FFFFFF"/>
                </a:solidFill>
                <a:latin typeface="Calibri"/>
              </a:rPr>
              <a:t>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49AA8FB-BDA4-AB7B-FF96-86ADBDBC8E94}"/>
              </a:ext>
            </a:extLst>
          </p:cNvPr>
          <p:cNvSpPr>
            <a:spLocks noGrp="1"/>
          </p:cNvSpPr>
          <p:nvPr>
            <p:ph type="sldNum" sz="quarter" idx="12"/>
          </p:nvPr>
        </p:nvSpPr>
        <p:spPr/>
        <p:txBody>
          <a:bodyPr/>
          <a:lstStyle/>
          <a:p>
            <a:fld id="{4B8FF724-2742-47EF-8E9D-7DCC34684148}" type="slidenum">
              <a:rPr lang="en-US" altLang="es-AR" smtClean="0"/>
              <a:pPr/>
              <a:t>5</a:t>
            </a:fld>
            <a:endParaRPr lang="en-US" altLang="es-AR"/>
          </a:p>
        </p:txBody>
      </p:sp>
      <p:pic>
        <p:nvPicPr>
          <p:cNvPr id="6" name="Imagen 5" descr="Bed Bath &amp; Beyond used aggressive discount strategies, resulting in increased sales but reduced profits, leading to its closure in 2023.&#10;&#10;El contenido generado por IA puede ser incorrecto.">
            <a:extLst>
              <a:ext uri="{FF2B5EF4-FFF2-40B4-BE49-F238E27FC236}">
                <a16:creationId xmlns:a16="http://schemas.microsoft.com/office/drawing/2014/main" id="{E9A20D88-8698-DA79-70FC-1EADCD04CAB0}"/>
              </a:ext>
            </a:extLst>
          </p:cNvPr>
          <p:cNvPicPr>
            <a:picLocks noChangeAspect="1"/>
          </p:cNvPicPr>
          <p:nvPr/>
        </p:nvPicPr>
        <p:blipFill>
          <a:blip r:embed="rId2"/>
          <a:stretch>
            <a:fillRect/>
          </a:stretch>
        </p:blipFill>
        <p:spPr>
          <a:xfrm>
            <a:off x="1" y="1"/>
            <a:ext cx="9144000" cy="6858000"/>
          </a:xfrm>
          <a:prstGeom prst="rect">
            <a:avLst/>
          </a:prstGeom>
        </p:spPr>
      </p:pic>
    </p:spTree>
    <p:extLst>
      <p:ext uri="{BB962C8B-B14F-4D97-AF65-F5344CB8AC3E}">
        <p14:creationId xmlns:p14="http://schemas.microsoft.com/office/powerpoint/2010/main" val="3936818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3050"/>
        </a:solidFill>
        <a:effectLst/>
      </p:bgPr>
    </p:bg>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11204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Caso: Stearns &amp; Co. — ¿Quién captura el conocimiento?</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None/>
            </a:pPr>
            <a:r>
              <a:rPr lang="es-AR" sz="2400" b="1" dirty="0">
                <a:solidFill>
                  <a:srgbClr val="D4A017"/>
                </a:solidFill>
                <a:latin typeface="Tw Cen MT"/>
              </a:rPr>
              <a:t>CONTEXTO</a:t>
            </a:r>
          </a:p>
          <a:p>
            <a:pPr>
              <a:spcBef>
                <a:spcPts val="500"/>
              </a:spcBef>
              <a:buChar char="■"/>
            </a:pPr>
            <a:r>
              <a:rPr lang="es-AR" sz="2400" dirty="0">
                <a:solidFill>
                  <a:srgbClr val="E8F0FF"/>
                </a:solidFill>
                <a:latin typeface="Tw Cen MT"/>
              </a:rPr>
              <a:t>Stearns es una empresa de contabilidad especializada en cálculo de impuestos personales.</a:t>
            </a:r>
          </a:p>
          <a:p>
            <a:pPr>
              <a:spcBef>
                <a:spcPts val="500"/>
              </a:spcBef>
              <a:buChar char="■"/>
            </a:pPr>
            <a:r>
              <a:rPr lang="es-AR" sz="2400" dirty="0">
                <a:solidFill>
                  <a:srgbClr val="E8F0FF"/>
                </a:solidFill>
                <a:latin typeface="Tw Cen MT"/>
              </a:rPr>
              <a:t>Su ventaja competitiva: bases de datos y herramientas de análisis desarrolladas por programadores altamente capacitados.</a:t>
            </a:r>
          </a:p>
          <a:p>
            <a:pPr>
              <a:spcBef>
                <a:spcPts val="500"/>
              </a:spcBef>
              <a:buChar char="■"/>
            </a:pPr>
            <a:r>
              <a:rPr lang="es-AR" sz="2400" dirty="0">
                <a:solidFill>
                  <a:srgbClr val="E8F0FF"/>
                </a:solidFill>
                <a:latin typeface="Tw Cen MT"/>
              </a:rPr>
              <a:t>Cuatro programadores trabajan en entorno virtual con flexibilidad horaria.</a:t>
            </a:r>
          </a:p>
          <a:p>
            <a:pPr>
              <a:spcBef>
                <a:spcPts val="500"/>
              </a:spcBef>
            </a:pPr>
            <a:endParaRPr lang="es-AR" sz="2400" dirty="0">
              <a:solidFill>
                <a:srgbClr val="E8F0FF"/>
              </a:solidFill>
              <a:latin typeface="Tw Cen MT"/>
            </a:endParaRPr>
          </a:p>
          <a:p>
            <a:pPr>
              <a:spcBef>
                <a:spcPts val="500"/>
              </a:spcBef>
              <a:buNone/>
            </a:pPr>
            <a:r>
              <a:rPr lang="es-AR" sz="2400" b="1" dirty="0">
                <a:solidFill>
                  <a:srgbClr val="D4A017"/>
                </a:solidFill>
                <a:latin typeface="Tw Cen MT"/>
              </a:rPr>
              <a:t>EL PROGRAMA DE INCENTIVOS</a:t>
            </a:r>
          </a:p>
          <a:p>
            <a:pPr>
              <a:spcBef>
                <a:spcPts val="500"/>
              </a:spcBef>
              <a:buChar char="■"/>
            </a:pPr>
            <a:r>
              <a:rPr lang="es-AR" sz="2400" dirty="0">
                <a:solidFill>
                  <a:srgbClr val="E8F0FF"/>
                </a:solidFill>
                <a:latin typeface="Tw Cen MT"/>
              </a:rPr>
              <a:t>Premio del 5% de los ahorros generados por innovaciones durante 3 meses.</a:t>
            </a:r>
          </a:p>
          <a:p>
            <a:pPr>
              <a:spcBef>
                <a:spcPts val="500"/>
              </a:spcBef>
              <a:buChar char="■"/>
            </a:pPr>
            <a:r>
              <a:rPr lang="es-AR" sz="2400" dirty="0">
                <a:solidFill>
                  <a:srgbClr val="E8F0FF"/>
                </a:solidFill>
                <a:latin typeface="Tw Cen MT"/>
              </a:rPr>
              <a:t>Plan de participación de utilidades.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3050"/>
        </a:solidFill>
        <a:effectLst/>
      </p:bgPr>
    </p:bg>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11204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Caso Stearns — El Pacto</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None/>
            </a:pPr>
            <a:r>
              <a:rPr lang="es-AR" sz="2000" b="1" dirty="0">
                <a:solidFill>
                  <a:srgbClr val="D4A017"/>
                </a:solidFill>
                <a:latin typeface="Tw Cen MT"/>
              </a:rPr>
              <a:t>LO QUE OCURRIÓ</a:t>
            </a:r>
          </a:p>
          <a:p>
            <a:pPr>
              <a:spcBef>
                <a:spcPts val="500"/>
              </a:spcBef>
              <a:buChar char="■"/>
            </a:pPr>
            <a:r>
              <a:rPr lang="es-AR" sz="2000" b="1" dirty="0">
                <a:solidFill>
                  <a:srgbClr val="E8F0FF"/>
                </a:solidFill>
                <a:latin typeface="Tw Cen MT"/>
              </a:rPr>
              <a:t>Dos programadores crearon una macro que reduce drásticamente el tiempo de trabajo.</a:t>
            </a:r>
          </a:p>
          <a:p>
            <a:pPr>
              <a:spcBef>
                <a:spcPts val="500"/>
              </a:spcBef>
              <a:buChar char="■"/>
            </a:pPr>
            <a:r>
              <a:rPr lang="es-AR" sz="2000" dirty="0">
                <a:solidFill>
                  <a:srgbClr val="E8F0FF"/>
                </a:solidFill>
                <a:latin typeface="Tw Cen MT"/>
              </a:rPr>
              <a:t>Decidieron </a:t>
            </a:r>
            <a:r>
              <a:rPr lang="es-AR" sz="2000" b="1" dirty="0">
                <a:solidFill>
                  <a:srgbClr val="E8F0FF"/>
                </a:solidFill>
                <a:latin typeface="Tw Cen MT"/>
              </a:rPr>
              <a:t>NO </a:t>
            </a:r>
            <a:r>
              <a:rPr lang="es-AR" sz="2000" dirty="0">
                <a:solidFill>
                  <a:srgbClr val="E8F0FF"/>
                </a:solidFill>
                <a:latin typeface="Tw Cen MT"/>
              </a:rPr>
              <a:t>compartirla con la empresa por dos razones:</a:t>
            </a:r>
          </a:p>
          <a:p>
            <a:pPr marL="457200" indent="-228600">
              <a:spcBef>
                <a:spcPts val="200"/>
              </a:spcBef>
              <a:buChar char="▸"/>
            </a:pPr>
            <a:r>
              <a:rPr lang="es-AR" sz="2000" dirty="0">
                <a:solidFill>
                  <a:srgbClr val="E8F0FF"/>
                </a:solidFill>
                <a:latin typeface="Tw Cen MT"/>
              </a:rPr>
              <a:t>El premio económico no compensaba el tiempo libre ganado.</a:t>
            </a:r>
          </a:p>
          <a:p>
            <a:pPr marL="457200" indent="-228600">
              <a:spcBef>
                <a:spcPts val="200"/>
              </a:spcBef>
              <a:buChar char="▸"/>
            </a:pPr>
            <a:r>
              <a:rPr lang="es-AR" sz="2000" dirty="0">
                <a:solidFill>
                  <a:srgbClr val="E8F0FF"/>
                </a:solidFill>
                <a:latin typeface="Tw Cen MT"/>
              </a:rPr>
              <a:t>Temor: si la empresa lo sabía, podría despedir a uno del equipo.</a:t>
            </a:r>
          </a:p>
          <a:p>
            <a:pPr>
              <a:spcBef>
                <a:spcPts val="500"/>
              </a:spcBef>
              <a:buChar char="■"/>
            </a:pPr>
            <a:r>
              <a:rPr lang="es-AR" sz="2000" b="1" dirty="0">
                <a:solidFill>
                  <a:srgbClr val="E8F0FF"/>
                </a:solidFill>
                <a:latin typeface="Tw Cen MT"/>
              </a:rPr>
              <a:t>Los cuatro hicieron un pacto de silencio.</a:t>
            </a:r>
          </a:p>
          <a:p>
            <a:pPr>
              <a:spcBef>
                <a:spcPts val="500"/>
              </a:spcBef>
              <a:buNone/>
            </a:pPr>
            <a:endParaRPr lang="es-AR" sz="2000" b="1" dirty="0">
              <a:solidFill>
                <a:srgbClr val="D4A017"/>
              </a:solidFill>
              <a:latin typeface="Tw Cen MT"/>
            </a:endParaRPr>
          </a:p>
          <a:p>
            <a:pPr>
              <a:spcBef>
                <a:spcPts val="500"/>
              </a:spcBef>
              <a:buNone/>
            </a:pPr>
            <a:r>
              <a:rPr lang="es-AR" sz="2000" b="1" dirty="0">
                <a:solidFill>
                  <a:srgbClr val="D4A017"/>
                </a:solidFill>
                <a:latin typeface="Tw Cen MT"/>
              </a:rPr>
              <a:t>RESULTADO</a:t>
            </a:r>
          </a:p>
          <a:p>
            <a:pPr>
              <a:spcBef>
                <a:spcPts val="500"/>
              </a:spcBef>
              <a:buChar char="■"/>
            </a:pPr>
            <a:r>
              <a:rPr lang="es-AR" sz="2000" dirty="0">
                <a:solidFill>
                  <a:srgbClr val="E8F0FF"/>
                </a:solidFill>
                <a:latin typeface="Tw Cen MT"/>
              </a:rPr>
              <a:t>El gerente notó que la productividad mejoraba sin entender por qué. No investigó... la métrica superficial era buena.</a:t>
            </a:r>
          </a:p>
          <a:p>
            <a:pPr>
              <a:spcBef>
                <a:spcPts val="500"/>
              </a:spcBef>
              <a:buChar char="■"/>
            </a:pPr>
            <a:endParaRPr lang="es-AR" sz="2000" dirty="0">
              <a:solidFill>
                <a:srgbClr val="E8F0FF"/>
              </a:solidFill>
              <a:latin typeface="Tw Cen MT"/>
            </a:endParaRPr>
          </a:p>
          <a:p>
            <a:pPr algn="ctr">
              <a:spcBef>
                <a:spcPts val="500"/>
              </a:spcBef>
            </a:pPr>
            <a:r>
              <a:rPr lang="es-AR" sz="2400" b="1" dirty="0">
                <a:solidFill>
                  <a:srgbClr val="E8F0FF"/>
                </a:solidFill>
                <a:latin typeface="Tw Cen MT"/>
              </a:rPr>
              <a:t>Los incentivos mal diseñados generan fuga de valor aunque los números parezcan buenos</a:t>
            </a:r>
            <a:r>
              <a:rPr lang="es-AR" sz="2000" b="1" dirty="0">
                <a:solidFill>
                  <a:srgbClr val="E8F0FF"/>
                </a:solidFill>
                <a:latin typeface="Tw Cen MT"/>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C0F58-7304-1C73-A75F-1F3DD6E17B9B}"/>
            </a:ext>
          </a:extLst>
        </p:cNvPr>
        <p:cNvGrpSpPr/>
        <p:nvPr/>
      </p:nvGrpSpPr>
      <p:grpSpPr>
        <a:xfrm>
          <a:off x="0" y="0"/>
          <a:ext cx="0" cy="0"/>
          <a:chOff x="0" y="0"/>
          <a:chExt cx="0" cy="0"/>
        </a:xfrm>
      </p:grpSpPr>
      <p:sp>
        <p:nvSpPr>
          <p:cNvPr id="10" name="TitleBar">
            <a:extLst>
              <a:ext uri="{FF2B5EF4-FFF2-40B4-BE49-F238E27FC236}">
                <a16:creationId xmlns:a16="http://schemas.microsoft.com/office/drawing/2014/main" id="{9CD6ECF2-AE87-A003-5964-0E651483BF95}"/>
              </a:ext>
            </a:extLst>
          </p:cNvP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a:extLst>
              <a:ext uri="{FF2B5EF4-FFF2-40B4-BE49-F238E27FC236}">
                <a16:creationId xmlns:a16="http://schemas.microsoft.com/office/drawing/2014/main" id="{90CEB75F-A842-01D5-9376-1A47497BDE1D}"/>
              </a:ext>
            </a:extLst>
          </p:cNvPr>
          <p:cNvSpPr>
            <a:spLocks noGrp="1"/>
          </p:cNvSpPr>
          <p:nvPr/>
        </p:nvSpPr>
        <p:spPr>
          <a:xfrm>
            <a:off x="0" y="1066800"/>
            <a:ext cx="9144000" cy="76200"/>
          </a:xfrm>
          <a:prstGeom prst="rect">
            <a:avLst/>
          </a:prstGeom>
          <a:solidFill>
            <a:srgbClr val="D4A017"/>
          </a:solidFill>
          <a:ln>
            <a:noFill/>
          </a:ln>
        </p:spPr>
        <p:txBody>
          <a:bodyPr/>
          <a:lstStyle/>
          <a:p>
            <a:endParaRPr sz="2000">
              <a:latin typeface="+mj-lt"/>
            </a:endParaRPr>
          </a:p>
        </p:txBody>
      </p:sp>
      <p:sp>
        <p:nvSpPr>
          <p:cNvPr id="12" name="TitleText">
            <a:extLst>
              <a:ext uri="{FF2B5EF4-FFF2-40B4-BE49-F238E27FC236}">
                <a16:creationId xmlns:a16="http://schemas.microsoft.com/office/drawing/2014/main" id="{F45E5606-2736-CFD4-28EF-58340D1B2A7F}"/>
              </a:ext>
            </a:extLst>
          </p:cNvPr>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Compromiso Laboral</a:t>
            </a:r>
          </a:p>
        </p:txBody>
      </p:sp>
      <p:sp>
        <p:nvSpPr>
          <p:cNvPr id="6" name="CuadroTexto 5">
            <a:extLst>
              <a:ext uri="{FF2B5EF4-FFF2-40B4-BE49-F238E27FC236}">
                <a16:creationId xmlns:a16="http://schemas.microsoft.com/office/drawing/2014/main" id="{A10EE227-7407-A57F-4E6D-D8BA56FEA4ED}"/>
              </a:ext>
            </a:extLst>
          </p:cNvPr>
          <p:cNvSpPr txBox="1"/>
          <p:nvPr/>
        </p:nvSpPr>
        <p:spPr>
          <a:xfrm>
            <a:off x="283234" y="2362200"/>
            <a:ext cx="8001000" cy="4093428"/>
          </a:xfrm>
          <a:prstGeom prst="rect">
            <a:avLst/>
          </a:prstGeom>
          <a:noFill/>
        </p:spPr>
        <p:txBody>
          <a:bodyPr wrap="square">
            <a:spAutoFit/>
          </a:bodyPr>
          <a:lstStyle/>
          <a:p>
            <a:pPr marL="342900" lvl="0" indent="-342900">
              <a:buFont typeface="Arial" panose="020B0604020202020204" pitchFamily="34" charset="0"/>
              <a:buChar char="•"/>
            </a:pPr>
            <a:r>
              <a:rPr lang="es-419" sz="2000" b="1" dirty="0">
                <a:latin typeface="+mj-lt"/>
              </a:rPr>
              <a:t>Compromiso global (</a:t>
            </a:r>
            <a:r>
              <a:rPr lang="es-419" sz="2000" b="1" dirty="0" err="1">
                <a:latin typeface="+mj-lt"/>
              </a:rPr>
              <a:t>engagement</a:t>
            </a:r>
            <a:r>
              <a:rPr lang="es-419" sz="2000" b="1" dirty="0">
                <a:latin typeface="+mj-lt"/>
              </a:rPr>
              <a:t>):</a:t>
            </a:r>
            <a:r>
              <a:rPr lang="es-419" sz="2000" dirty="0">
                <a:latin typeface="+mj-lt"/>
              </a:rPr>
              <a:t> cayó de 23% (2022-2023, máximo histórico) a </a:t>
            </a:r>
            <a:r>
              <a:rPr lang="es-419" sz="2000" b="1" dirty="0">
                <a:latin typeface="+mj-lt"/>
              </a:rPr>
              <a:t>20% en 2025</a:t>
            </a:r>
          </a:p>
          <a:p>
            <a:pPr marL="342900" lvl="0" indent="-342900">
              <a:buFont typeface="Arial" panose="020B0604020202020204" pitchFamily="34" charset="0"/>
              <a:buChar char="•"/>
            </a:pPr>
            <a:endParaRPr lang="es-419" sz="2000" dirty="0">
              <a:latin typeface="+mj-lt"/>
            </a:endParaRPr>
          </a:p>
          <a:p>
            <a:pPr marL="342900" lvl="0" indent="-342900">
              <a:buFont typeface="Arial" panose="020B0604020202020204" pitchFamily="34" charset="0"/>
              <a:buChar char="•"/>
            </a:pPr>
            <a:r>
              <a:rPr lang="es-419" sz="2000" b="1" dirty="0">
                <a:latin typeface="+mj-lt"/>
              </a:rPr>
              <a:t>Muestra:</a:t>
            </a:r>
            <a:r>
              <a:rPr lang="es-419" sz="2000" dirty="0">
                <a:latin typeface="+mj-lt"/>
              </a:rPr>
              <a:t> 263.810 encuestados en más de 160 países, incluyendo 141.444 empleados </a:t>
            </a:r>
          </a:p>
          <a:p>
            <a:pPr marL="342900" lvl="0" indent="-342900">
              <a:buFont typeface="Arial" panose="020B0604020202020204" pitchFamily="34" charset="0"/>
              <a:buChar char="•"/>
            </a:pPr>
            <a:endParaRPr lang="es-419" sz="2000" dirty="0">
              <a:latin typeface="+mj-lt"/>
            </a:endParaRPr>
          </a:p>
          <a:p>
            <a:pPr marL="342900" lvl="0" indent="-342900">
              <a:buFont typeface="Arial" panose="020B0604020202020204" pitchFamily="34" charset="0"/>
              <a:buChar char="•"/>
            </a:pPr>
            <a:r>
              <a:rPr lang="es-419" sz="2000" b="1" dirty="0">
                <a:latin typeface="+mj-lt"/>
              </a:rPr>
              <a:t>Compromiso de managers:</a:t>
            </a:r>
            <a:r>
              <a:rPr lang="es-419" sz="2000" dirty="0">
                <a:latin typeface="+mj-lt"/>
              </a:rPr>
              <a:t> cayó fuertemente de 27% (2024) a </a:t>
            </a:r>
            <a:r>
              <a:rPr lang="es-419" sz="2000" b="1" dirty="0">
                <a:latin typeface="+mj-lt"/>
              </a:rPr>
              <a:t>22% (2025)</a:t>
            </a:r>
            <a:r>
              <a:rPr lang="es-419" sz="2000" dirty="0">
                <a:latin typeface="+mj-lt"/>
              </a:rPr>
              <a:t> — la mayor caída interanual de la serie</a:t>
            </a:r>
          </a:p>
          <a:p>
            <a:pPr marL="342900" lvl="0" indent="-342900">
              <a:buFont typeface="Arial" panose="020B0604020202020204" pitchFamily="34" charset="0"/>
              <a:buChar char="•"/>
            </a:pPr>
            <a:endParaRPr lang="es-419" sz="2000" dirty="0">
              <a:latin typeface="+mj-lt"/>
            </a:endParaRPr>
          </a:p>
          <a:p>
            <a:pPr marL="342900" lvl="0" indent="-342900">
              <a:buFont typeface="Arial" panose="020B0604020202020204" pitchFamily="34" charset="0"/>
              <a:buChar char="•"/>
            </a:pPr>
            <a:r>
              <a:rPr lang="es-419" sz="2000" b="1" dirty="0">
                <a:latin typeface="+mj-lt"/>
              </a:rPr>
              <a:t>Costo económico:</a:t>
            </a:r>
            <a:r>
              <a:rPr lang="es-419" sz="2000" dirty="0">
                <a:latin typeface="+mj-lt"/>
              </a:rPr>
              <a:t> el bajo compromiso le cuesta a la economía global </a:t>
            </a:r>
            <a:r>
              <a:rPr lang="es-419" sz="2000" b="1" dirty="0">
                <a:latin typeface="+mj-lt"/>
              </a:rPr>
              <a:t>US$10 billones anuales</a:t>
            </a:r>
            <a:r>
              <a:rPr lang="es-419" sz="2000" dirty="0">
                <a:latin typeface="+mj-lt"/>
              </a:rPr>
              <a:t> (~9% del PBI mundial)</a:t>
            </a:r>
          </a:p>
          <a:p>
            <a:pPr marL="342900" lvl="0" indent="-342900">
              <a:buFont typeface="Arial" panose="020B0604020202020204" pitchFamily="34" charset="0"/>
              <a:buChar char="•"/>
            </a:pPr>
            <a:endParaRPr lang="es-419" sz="2000" dirty="0">
              <a:latin typeface="+mj-lt"/>
            </a:endParaRPr>
          </a:p>
          <a:p>
            <a:pPr marL="342900" lvl="0" indent="-342900">
              <a:buFont typeface="Arial" panose="020B0604020202020204" pitchFamily="34" charset="0"/>
              <a:buChar char="•"/>
            </a:pPr>
            <a:r>
              <a:rPr lang="es-419" sz="2000" b="1" dirty="0">
                <a:latin typeface="+mj-lt"/>
              </a:rPr>
              <a:t>Europa:</a:t>
            </a:r>
            <a:r>
              <a:rPr lang="es-419" sz="2000" dirty="0">
                <a:latin typeface="+mj-lt"/>
              </a:rPr>
              <a:t> región con menor compromiso mundial, estancada en </a:t>
            </a:r>
            <a:r>
              <a:rPr lang="es-419" sz="2000" b="1" dirty="0">
                <a:latin typeface="+mj-lt"/>
              </a:rPr>
              <a:t>13%</a:t>
            </a:r>
          </a:p>
        </p:txBody>
      </p:sp>
      <p:sp>
        <p:nvSpPr>
          <p:cNvPr id="9" name="CuadroTexto 8">
            <a:extLst>
              <a:ext uri="{FF2B5EF4-FFF2-40B4-BE49-F238E27FC236}">
                <a16:creationId xmlns:a16="http://schemas.microsoft.com/office/drawing/2014/main" id="{7638A7BD-2D55-0C9B-D840-BA73AA1CC4DD}"/>
              </a:ext>
            </a:extLst>
          </p:cNvPr>
          <p:cNvSpPr txBox="1"/>
          <p:nvPr/>
        </p:nvSpPr>
        <p:spPr>
          <a:xfrm>
            <a:off x="0" y="1251549"/>
            <a:ext cx="8839200" cy="707886"/>
          </a:xfrm>
          <a:prstGeom prst="rect">
            <a:avLst/>
          </a:prstGeom>
          <a:noFill/>
        </p:spPr>
        <p:txBody>
          <a:bodyPr wrap="square">
            <a:spAutoFit/>
          </a:bodyPr>
          <a:lstStyle/>
          <a:p>
            <a:pPr marL="0" marR="0" indent="0" algn="l" rtl="0">
              <a:buNone/>
            </a:pPr>
            <a:r>
              <a:rPr lang="es-419" sz="2000" b="0" i="0" dirty="0">
                <a:solidFill>
                  <a:srgbClr val="0B0B0B"/>
                </a:solidFill>
                <a:effectLst/>
                <a:latin typeface="+mj-lt"/>
              </a:rPr>
              <a:t>Gallup, </a:t>
            </a:r>
            <a:r>
              <a:rPr lang="es-419" sz="2000" b="0" i="1" dirty="0">
                <a:solidFill>
                  <a:srgbClr val="0B0B0B"/>
                </a:solidFill>
                <a:effectLst/>
                <a:latin typeface="+mj-lt"/>
              </a:rPr>
              <a:t>State </a:t>
            </a:r>
            <a:r>
              <a:rPr lang="es-419" sz="2000" b="0" i="1" dirty="0" err="1">
                <a:solidFill>
                  <a:srgbClr val="0B0B0B"/>
                </a:solidFill>
                <a:effectLst/>
                <a:latin typeface="+mj-lt"/>
              </a:rPr>
              <a:t>of</a:t>
            </a:r>
            <a:r>
              <a:rPr lang="es-419" sz="2000" b="0" i="1" dirty="0">
                <a:solidFill>
                  <a:srgbClr val="0B0B0B"/>
                </a:solidFill>
                <a:effectLst/>
                <a:latin typeface="+mj-lt"/>
              </a:rPr>
              <a:t> </a:t>
            </a:r>
            <a:r>
              <a:rPr lang="es-419" sz="2000" b="0" i="1" dirty="0" err="1">
                <a:solidFill>
                  <a:srgbClr val="0B0B0B"/>
                </a:solidFill>
                <a:effectLst/>
                <a:latin typeface="+mj-lt"/>
              </a:rPr>
              <a:t>the</a:t>
            </a:r>
            <a:r>
              <a:rPr lang="es-419" sz="2000" b="0" i="1" dirty="0">
                <a:solidFill>
                  <a:srgbClr val="0B0B0B"/>
                </a:solidFill>
                <a:effectLst/>
                <a:latin typeface="+mj-lt"/>
              </a:rPr>
              <a:t> Global </a:t>
            </a:r>
            <a:r>
              <a:rPr lang="es-419" sz="2000" b="0" i="1" dirty="0" err="1">
                <a:solidFill>
                  <a:srgbClr val="0B0B0B"/>
                </a:solidFill>
                <a:effectLst/>
                <a:latin typeface="+mj-lt"/>
              </a:rPr>
              <a:t>Workplace</a:t>
            </a:r>
            <a:r>
              <a:rPr lang="es-419" sz="2000" b="0" i="1" dirty="0">
                <a:solidFill>
                  <a:srgbClr val="0B0B0B"/>
                </a:solidFill>
                <a:effectLst/>
                <a:latin typeface="+mj-lt"/>
              </a:rPr>
              <a:t>: 2026 </a:t>
            </a:r>
            <a:r>
              <a:rPr lang="es-419" sz="2000" b="0" i="1" dirty="0" err="1">
                <a:solidFill>
                  <a:srgbClr val="0B0B0B"/>
                </a:solidFill>
                <a:effectLst/>
                <a:latin typeface="+mj-lt"/>
              </a:rPr>
              <a:t>Report</a:t>
            </a:r>
            <a:r>
              <a:rPr lang="es-419" sz="2000" b="0" i="0" dirty="0">
                <a:solidFill>
                  <a:srgbClr val="0B0B0B"/>
                </a:solidFill>
                <a:effectLst/>
                <a:latin typeface="+mj-lt"/>
              </a:rPr>
              <a:t>, gallup.com/</a:t>
            </a:r>
            <a:r>
              <a:rPr lang="es-419" sz="2000" b="0" i="0" dirty="0" err="1">
                <a:solidFill>
                  <a:srgbClr val="0B0B0B"/>
                </a:solidFill>
                <a:effectLst/>
                <a:latin typeface="+mj-lt"/>
              </a:rPr>
              <a:t>workplace</a:t>
            </a:r>
            <a:r>
              <a:rPr lang="es-419" sz="2000" b="0" i="0" dirty="0">
                <a:solidFill>
                  <a:srgbClr val="0B0B0B"/>
                </a:solidFill>
                <a:effectLst/>
                <a:latin typeface="+mj-lt"/>
              </a:rPr>
              <a:t>/349484</a:t>
            </a:r>
          </a:p>
          <a:p>
            <a:pPr marL="0" marR="0" indent="0" algn="l">
              <a:buNone/>
            </a:pPr>
            <a:endParaRPr lang="es-419" sz="2000" b="0" i="0" dirty="0">
              <a:solidFill>
                <a:srgbClr val="0B0B0B"/>
              </a:solidFill>
              <a:effectLst/>
              <a:latin typeface="+mj-lt"/>
            </a:endParaRPr>
          </a:p>
        </p:txBody>
      </p:sp>
      <p:sp>
        <p:nvSpPr>
          <p:cNvPr id="3" name="CuadroTexto 2">
            <a:extLst>
              <a:ext uri="{FF2B5EF4-FFF2-40B4-BE49-F238E27FC236}">
                <a16:creationId xmlns:a16="http://schemas.microsoft.com/office/drawing/2014/main" id="{BB80AF19-AA4D-8386-A633-64839A55A2E4}"/>
              </a:ext>
            </a:extLst>
          </p:cNvPr>
          <p:cNvSpPr txBox="1"/>
          <p:nvPr/>
        </p:nvSpPr>
        <p:spPr>
          <a:xfrm>
            <a:off x="457200" y="1785834"/>
            <a:ext cx="8610600" cy="400110"/>
          </a:xfrm>
          <a:prstGeom prst="rect">
            <a:avLst/>
          </a:prstGeom>
          <a:noFill/>
        </p:spPr>
        <p:txBody>
          <a:bodyPr wrap="square">
            <a:spAutoFit/>
          </a:bodyPr>
          <a:lstStyle/>
          <a:p>
            <a:r>
              <a:rPr lang="es-419" sz="2000" b="1" i="1" dirty="0">
                <a:latin typeface="+mj-lt"/>
              </a:rPr>
              <a:t>Empleados involucrados y entusiasmados con su trabajo y su lugar de trabajo</a:t>
            </a:r>
          </a:p>
        </p:txBody>
      </p:sp>
    </p:spTree>
    <p:extLst>
      <p:ext uri="{BB962C8B-B14F-4D97-AF65-F5344CB8AC3E}">
        <p14:creationId xmlns:p14="http://schemas.microsoft.com/office/powerpoint/2010/main" val="2043617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42F98-E109-5474-E7DF-C3078EF8DEE1}"/>
            </a:ext>
          </a:extLst>
        </p:cNvPr>
        <p:cNvGrpSpPr/>
        <p:nvPr/>
      </p:nvGrpSpPr>
      <p:grpSpPr>
        <a:xfrm>
          <a:off x="0" y="0"/>
          <a:ext cx="0" cy="0"/>
          <a:chOff x="0" y="0"/>
          <a:chExt cx="0" cy="0"/>
        </a:xfrm>
      </p:grpSpPr>
      <p:sp>
        <p:nvSpPr>
          <p:cNvPr id="10" name="TitleBar">
            <a:extLst>
              <a:ext uri="{FF2B5EF4-FFF2-40B4-BE49-F238E27FC236}">
                <a16:creationId xmlns:a16="http://schemas.microsoft.com/office/drawing/2014/main" id="{C44554E7-CEFE-76C8-C8FA-B0BCBDBA13E6}"/>
              </a:ext>
            </a:extLst>
          </p:cNvP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a:extLst>
              <a:ext uri="{FF2B5EF4-FFF2-40B4-BE49-F238E27FC236}">
                <a16:creationId xmlns:a16="http://schemas.microsoft.com/office/drawing/2014/main" id="{9C771939-41D5-F65D-B628-905700CD3513}"/>
              </a:ext>
            </a:extLst>
          </p:cNvPr>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a:extLst>
              <a:ext uri="{FF2B5EF4-FFF2-40B4-BE49-F238E27FC236}">
                <a16:creationId xmlns:a16="http://schemas.microsoft.com/office/drawing/2014/main" id="{E4F96B6F-4DC2-51C6-928C-4C4C2EEAFC76}"/>
              </a:ext>
            </a:extLst>
          </p:cNvPr>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Compromiso Laboral – serie histórica</a:t>
            </a:r>
          </a:p>
        </p:txBody>
      </p:sp>
      <p:pic>
        <p:nvPicPr>
          <p:cNvPr id="4" name="Imagen 3" descr="The graph shows a declining trend in global employee engagement from 2009 to 2025, with a peak in 2012 and a notable drop in 2019.&#10;&#10;El contenido generado por IA puede ser incorrecto.">
            <a:extLst>
              <a:ext uri="{FF2B5EF4-FFF2-40B4-BE49-F238E27FC236}">
                <a16:creationId xmlns:a16="http://schemas.microsoft.com/office/drawing/2014/main" id="{0FEFCD73-2E9C-6764-CB28-18A22D7611AB}"/>
              </a:ext>
            </a:extLst>
          </p:cNvPr>
          <p:cNvPicPr>
            <a:picLocks noChangeAspect="1"/>
          </p:cNvPicPr>
          <p:nvPr/>
        </p:nvPicPr>
        <p:blipFill>
          <a:blip r:embed="rId2"/>
          <a:stretch>
            <a:fillRect/>
          </a:stretch>
        </p:blipFill>
        <p:spPr>
          <a:xfrm>
            <a:off x="116484" y="1264489"/>
            <a:ext cx="9027516" cy="5249334"/>
          </a:xfrm>
          <a:prstGeom prst="rect">
            <a:avLst/>
          </a:prstGeom>
        </p:spPr>
      </p:pic>
    </p:spTree>
    <p:extLst>
      <p:ext uri="{BB962C8B-B14F-4D97-AF65-F5344CB8AC3E}">
        <p14:creationId xmlns:p14="http://schemas.microsoft.com/office/powerpoint/2010/main" val="3433682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14523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52B788"/>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TALLER — Puntos de Fuga de Valor</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Char char="■"/>
            </a:pPr>
            <a:r>
              <a:rPr lang="es-AR" sz="2400" b="1" dirty="0">
                <a:solidFill>
                  <a:srgbClr val="E8F5E9"/>
                </a:solidFill>
                <a:latin typeface="Tw Cen MT"/>
              </a:rPr>
              <a:t> Reflexionen sobre la organización interna de sus empresas:</a:t>
            </a:r>
          </a:p>
          <a:p>
            <a:pPr>
              <a:spcBef>
                <a:spcPts val="500"/>
              </a:spcBef>
              <a:buChar char="■"/>
            </a:pPr>
            <a:endParaRPr lang="es-AR" sz="2400" b="1" dirty="0">
              <a:solidFill>
                <a:srgbClr val="E8F5E9"/>
              </a:solidFill>
              <a:latin typeface="Tw Cen MT"/>
            </a:endParaRPr>
          </a:p>
          <a:p>
            <a:pPr>
              <a:spcBef>
                <a:spcPts val="500"/>
              </a:spcBef>
              <a:buChar char="■"/>
            </a:pPr>
            <a:r>
              <a:rPr lang="es-AR" sz="2400" dirty="0">
                <a:solidFill>
                  <a:srgbClr val="E8F5E9"/>
                </a:solidFill>
                <a:latin typeface="Tw Cen MT"/>
              </a:rPr>
              <a:t> ¿Pueden identificar los puntos de fuga de valor? ¿Cuáles son?</a:t>
            </a:r>
          </a:p>
          <a:p>
            <a:pPr>
              <a:spcBef>
                <a:spcPts val="500"/>
              </a:spcBef>
              <a:buChar char="■"/>
            </a:pPr>
            <a:endParaRPr lang="es-AR" sz="2400" dirty="0">
              <a:solidFill>
                <a:srgbClr val="E8F5E9"/>
              </a:solidFill>
              <a:latin typeface="Tw Cen MT"/>
            </a:endParaRPr>
          </a:p>
          <a:p>
            <a:pPr>
              <a:spcBef>
                <a:spcPts val="500"/>
              </a:spcBef>
              <a:buChar char="■"/>
            </a:pPr>
            <a:r>
              <a:rPr lang="es-AR" sz="2400" dirty="0">
                <a:solidFill>
                  <a:srgbClr val="E8F5E9"/>
                </a:solidFill>
                <a:latin typeface="Tw Cen MT"/>
              </a:rPr>
              <a:t> ¿Cómo influye el comportamiento de las personas en la fuga o generación de valor?</a:t>
            </a:r>
          </a:p>
          <a:p>
            <a:pPr>
              <a:spcBef>
                <a:spcPts val="500"/>
              </a:spcBef>
              <a:buChar char="■"/>
            </a:pPr>
            <a:endParaRPr lang="es-AR" sz="2400" dirty="0">
              <a:solidFill>
                <a:srgbClr val="E8F5E9"/>
              </a:solidFill>
              <a:latin typeface="Tw Cen MT"/>
            </a:endParaRPr>
          </a:p>
          <a:p>
            <a:pPr>
              <a:spcBef>
                <a:spcPts val="500"/>
              </a:spcBef>
              <a:buChar char="■"/>
            </a:pPr>
            <a:r>
              <a:rPr lang="es-AR" sz="2400" dirty="0">
                <a:solidFill>
                  <a:srgbClr val="E8F5E9"/>
                </a:solidFill>
                <a:latin typeface="Tw Cen MT"/>
              </a:rPr>
              <a:t> ¿Cómo diseñar organizaciones que motiven a incrementar el valor?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Comportamiento Organizacional (CO)</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Char char="■"/>
            </a:pPr>
            <a:r>
              <a:rPr lang="es-AR" sz="2400" dirty="0">
                <a:solidFill>
                  <a:srgbClr val="222222"/>
                </a:solidFill>
                <a:latin typeface="Tw Cen MT"/>
              </a:rPr>
              <a:t>La economía estudia cómo la sociedad gestiona recursos escasos.</a:t>
            </a:r>
          </a:p>
          <a:p>
            <a:pPr>
              <a:spcBef>
                <a:spcPts val="500"/>
              </a:spcBef>
              <a:buChar char="■"/>
            </a:pPr>
            <a:endParaRPr lang="es-AR" sz="2400" dirty="0">
              <a:solidFill>
                <a:srgbClr val="222222"/>
              </a:solidFill>
              <a:latin typeface="Tw Cen MT"/>
            </a:endParaRPr>
          </a:p>
          <a:p>
            <a:pPr>
              <a:spcBef>
                <a:spcPts val="500"/>
              </a:spcBef>
              <a:buChar char="■"/>
            </a:pPr>
            <a:r>
              <a:rPr lang="es-AR" sz="2400" dirty="0">
                <a:solidFill>
                  <a:srgbClr val="222222"/>
                </a:solidFill>
                <a:latin typeface="Tw Cen MT"/>
              </a:rPr>
              <a:t>El CO surge como área del conocimiento en los años 60, apoyándose en Psicología, Sociología, Antropología y Ciencias Sociales.</a:t>
            </a:r>
          </a:p>
          <a:p>
            <a:pPr>
              <a:spcBef>
                <a:spcPts val="500"/>
              </a:spcBef>
              <a:buChar char="■"/>
            </a:pPr>
            <a:endParaRPr lang="es-AR" sz="2400" dirty="0">
              <a:solidFill>
                <a:srgbClr val="222222"/>
              </a:solidFill>
              <a:latin typeface="Tw Cen MT"/>
            </a:endParaRPr>
          </a:p>
          <a:p>
            <a:pPr>
              <a:spcBef>
                <a:spcPts val="500"/>
              </a:spcBef>
              <a:buNone/>
            </a:pPr>
            <a:r>
              <a:rPr lang="es-AR" sz="2400" b="1" dirty="0">
                <a:solidFill>
                  <a:srgbClr val="8B0000"/>
                </a:solidFill>
                <a:latin typeface="Tw Cen MT"/>
              </a:rPr>
              <a:t>Definición (Robbins &amp; Judge, 2013):</a:t>
            </a:r>
          </a:p>
          <a:p>
            <a:pPr>
              <a:spcBef>
                <a:spcPts val="500"/>
              </a:spcBef>
              <a:buChar char="■"/>
            </a:pPr>
            <a:r>
              <a:rPr lang="es-AR" altLang="es-AR" sz="2400" b="1" dirty="0">
                <a:latin typeface="+mj-lt"/>
              </a:rPr>
              <a:t>Es un campo de estudio que investiga el efecto que tienen los individuos, los grupos y la estructura sobre el comportamiento dentro de las organizaciones, con el propósito de aplicar dicho conocimiento para mejorar la efectividad de las organizaciones.</a:t>
            </a:r>
            <a:endParaRPr lang="es-AR" sz="2400" b="1" dirty="0">
              <a:solidFill>
                <a:srgbClr val="222222"/>
              </a:solidFill>
              <a:latin typeface="+mj-lt"/>
            </a:endParaRPr>
          </a:p>
          <a:p>
            <a:pPr>
              <a:spcBef>
                <a:spcPts val="500"/>
              </a:spcBef>
              <a:buChar char="■"/>
            </a:pPr>
            <a:endParaRPr lang="es-AR" sz="2400" dirty="0">
              <a:solidFill>
                <a:srgbClr val="222222"/>
              </a:solidFill>
              <a:latin typeface="Tw Cen MT"/>
            </a:endParaRPr>
          </a:p>
          <a:p>
            <a:pPr>
              <a:spcBef>
                <a:spcPts val="500"/>
              </a:spcBef>
              <a:buChar char="■"/>
            </a:pPr>
            <a:r>
              <a:rPr lang="es-AR" sz="2400" dirty="0">
                <a:solidFill>
                  <a:srgbClr val="222222"/>
                </a:solidFill>
                <a:latin typeface="Tw Cen MT"/>
              </a:rPr>
              <a:t>Tres niveles de análisis: </a:t>
            </a:r>
            <a:r>
              <a:rPr lang="es-AR" sz="2400" b="1" dirty="0">
                <a:solidFill>
                  <a:srgbClr val="222222"/>
                </a:solidFill>
                <a:latin typeface="Tw Cen MT"/>
              </a:rPr>
              <a:t>Individuos — Grupos — Estructuras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Preguntas Clave</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Char char="■"/>
            </a:pPr>
            <a:r>
              <a:rPr lang="es-AR" sz="2800" dirty="0">
                <a:solidFill>
                  <a:srgbClr val="222222"/>
                </a:solidFill>
                <a:latin typeface="Tw Cen MT"/>
              </a:rPr>
              <a:t>¿Qué lleva a una persona a tomar decisiones para aumentar el valor de la compañía?</a:t>
            </a:r>
          </a:p>
          <a:p>
            <a:pPr>
              <a:spcBef>
                <a:spcPts val="500"/>
              </a:spcBef>
              <a:buChar char="■"/>
            </a:pPr>
            <a:endParaRPr lang="es-AR" sz="2800" dirty="0">
              <a:solidFill>
                <a:srgbClr val="222222"/>
              </a:solidFill>
              <a:latin typeface="Tw Cen MT"/>
            </a:endParaRPr>
          </a:p>
          <a:p>
            <a:pPr>
              <a:spcBef>
                <a:spcPts val="500"/>
              </a:spcBef>
              <a:buChar char="■"/>
            </a:pPr>
            <a:r>
              <a:rPr lang="es-AR" sz="2800" dirty="0">
                <a:solidFill>
                  <a:srgbClr val="222222"/>
                </a:solidFill>
                <a:latin typeface="Tw Cen MT"/>
              </a:rPr>
              <a:t>¿Por qué NO tomaría decisiones que aumenten su propio interés?</a:t>
            </a:r>
          </a:p>
          <a:p>
            <a:pPr>
              <a:spcBef>
                <a:spcPts val="500"/>
              </a:spcBef>
              <a:buChar char="■"/>
            </a:pPr>
            <a:endParaRPr lang="es-AR" sz="2800" dirty="0">
              <a:solidFill>
                <a:srgbClr val="222222"/>
              </a:solidFill>
              <a:latin typeface="Tw Cen MT"/>
            </a:endParaRPr>
          </a:p>
          <a:p>
            <a:pPr>
              <a:spcBef>
                <a:spcPts val="500"/>
              </a:spcBef>
              <a:buChar char="■"/>
            </a:pPr>
            <a:r>
              <a:rPr lang="es-AR" sz="2800" dirty="0">
                <a:solidFill>
                  <a:srgbClr val="222222"/>
                </a:solidFill>
                <a:latin typeface="Tw Cen MT"/>
              </a:rPr>
              <a:t>¿Puede una persona apoyar un cambio que disminuirá su bienestar simplemente porque aumenta el valor de la compañía?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Toma de Decisión</a:t>
            </a:r>
          </a:p>
        </p:txBody>
      </p:sp>
      <p:sp>
        <p:nvSpPr>
          <p:cNvPr id="13" name="Content"/>
          <p:cNvSpPr txBox="1"/>
          <p:nvPr/>
        </p:nvSpPr>
        <p:spPr>
          <a:xfrm>
            <a:off x="289560" y="1130166"/>
            <a:ext cx="8854440" cy="5486400"/>
          </a:xfrm>
          <a:prstGeom prst="rect">
            <a:avLst/>
          </a:prstGeom>
          <a:noFill/>
          <a:ln>
            <a:noFill/>
          </a:ln>
        </p:spPr>
        <p:txBody>
          <a:bodyPr wrap="square" lIns="91440" tIns="91440" rIns="91440" bIns="91440" anchor="t"/>
          <a:lstStyle/>
          <a:p>
            <a:pPr>
              <a:spcBef>
                <a:spcPts val="500"/>
              </a:spcBef>
              <a:buChar char="■"/>
            </a:pPr>
            <a:r>
              <a:rPr lang="es-AR" sz="2400" dirty="0">
                <a:solidFill>
                  <a:srgbClr val="222222"/>
                </a:solidFill>
                <a:latin typeface="Tw Cen MT"/>
              </a:rPr>
              <a:t> Actividad inherente a los procesos gerenciales.</a:t>
            </a:r>
          </a:p>
          <a:p>
            <a:pPr>
              <a:spcBef>
                <a:spcPts val="500"/>
              </a:spcBef>
              <a:buChar char="■"/>
            </a:pPr>
            <a:endParaRPr lang="es-AR" sz="2400" dirty="0">
              <a:solidFill>
                <a:srgbClr val="222222"/>
              </a:solidFill>
              <a:latin typeface="Tw Cen MT"/>
            </a:endParaRPr>
          </a:p>
          <a:p>
            <a:pPr>
              <a:spcBef>
                <a:spcPts val="500"/>
              </a:spcBef>
              <a:buChar char="■"/>
            </a:pPr>
            <a:r>
              <a:rPr lang="es-AR" sz="2400" dirty="0">
                <a:solidFill>
                  <a:srgbClr val="222222"/>
                </a:solidFill>
                <a:latin typeface="Tw Cen MT"/>
              </a:rPr>
              <a:t> Implica considerar: condiciones del entorno cambiante, información organizacional, decisiones pasadas, resultados y proyecciones.</a:t>
            </a:r>
          </a:p>
          <a:p>
            <a:pPr>
              <a:spcBef>
                <a:spcPts val="500"/>
              </a:spcBef>
              <a:buChar char="■"/>
            </a:pPr>
            <a:endParaRPr lang="es-AR" sz="2400" dirty="0">
              <a:solidFill>
                <a:srgbClr val="222222"/>
              </a:solidFill>
              <a:latin typeface="Tw Cen MT"/>
            </a:endParaRPr>
          </a:p>
          <a:p>
            <a:pPr>
              <a:spcBef>
                <a:spcPts val="500"/>
              </a:spcBef>
              <a:buChar char="■"/>
            </a:pPr>
            <a:r>
              <a:rPr lang="es-AR" sz="2400" dirty="0">
                <a:solidFill>
                  <a:srgbClr val="222222"/>
                </a:solidFill>
                <a:latin typeface="Tw Cen MT"/>
              </a:rPr>
              <a:t> Las organizaciones son conjuntos de individuos embarcados en un proceso de toma de decisiones.</a:t>
            </a:r>
          </a:p>
          <a:p>
            <a:pPr>
              <a:spcBef>
                <a:spcPts val="500"/>
              </a:spcBef>
              <a:buChar char="■"/>
            </a:pPr>
            <a:endParaRPr lang="es-AR" sz="2400" dirty="0">
              <a:solidFill>
                <a:srgbClr val="222222"/>
              </a:solidFill>
              <a:latin typeface="Tw Cen MT"/>
            </a:endParaRPr>
          </a:p>
          <a:p>
            <a:pPr>
              <a:spcBef>
                <a:spcPts val="500"/>
              </a:spcBef>
              <a:buChar char="■"/>
            </a:pPr>
            <a:r>
              <a:rPr lang="es-AR" sz="2400" dirty="0">
                <a:solidFill>
                  <a:srgbClr val="222222"/>
                </a:solidFill>
                <a:latin typeface="Tw Cen MT"/>
              </a:rPr>
              <a:t> Estos individuos tienen sus propias necesidades, motivos e inclinaciones.</a:t>
            </a:r>
          </a:p>
          <a:p>
            <a:pPr>
              <a:spcBef>
                <a:spcPts val="500"/>
              </a:spcBef>
              <a:buNone/>
            </a:pPr>
            <a:r>
              <a:rPr lang="es-AR" sz="2400" b="1" dirty="0">
                <a:solidFill>
                  <a:srgbClr val="8B0000"/>
                </a:solidFill>
                <a:latin typeface="Tw Cen MT"/>
              </a:rPr>
              <a:t>LA TENSIÓN CENTRAL</a:t>
            </a:r>
          </a:p>
          <a:p>
            <a:pPr algn="ctr">
              <a:spcBef>
                <a:spcPts val="500"/>
              </a:spcBef>
              <a:buChar char="■"/>
            </a:pPr>
            <a:r>
              <a:rPr lang="es-AR" sz="2400" b="1" dirty="0">
                <a:solidFill>
                  <a:srgbClr val="222222"/>
                </a:solidFill>
                <a:latin typeface="Tw Cen MT"/>
              </a:rPr>
              <a:t> Las decisiones individuales óptimas no siempre coinciden con las decisiones que maximizan el valor organizacional.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Implicancias en la Dirección</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Char char="■"/>
            </a:pPr>
            <a:r>
              <a:rPr lang="es-AR" sz="2400" dirty="0">
                <a:solidFill>
                  <a:srgbClr val="222222"/>
                </a:solidFill>
                <a:latin typeface="Tw Cen MT"/>
              </a:rPr>
              <a:t>¿Cómo se puede influir en las decisiones de empleados, clientes y contratistas?</a:t>
            </a:r>
          </a:p>
          <a:p>
            <a:pPr>
              <a:spcBef>
                <a:spcPts val="500"/>
              </a:spcBef>
              <a:buChar char="■"/>
            </a:pPr>
            <a:r>
              <a:rPr lang="es-AR" sz="2400" b="1" dirty="0">
                <a:solidFill>
                  <a:srgbClr val="222222"/>
                </a:solidFill>
                <a:latin typeface="Tw Cen MT"/>
              </a:rPr>
              <a:t>Las preferencias de las personas son, en general, inobservables.</a:t>
            </a:r>
          </a:p>
          <a:p>
            <a:pPr>
              <a:spcBef>
                <a:spcPts val="500"/>
              </a:spcBef>
              <a:buChar char="■"/>
            </a:pPr>
            <a:r>
              <a:rPr lang="es-AR" sz="2400" dirty="0">
                <a:solidFill>
                  <a:srgbClr val="222222"/>
                </a:solidFill>
                <a:latin typeface="Tw Cen MT"/>
              </a:rPr>
              <a:t>Los directivos pueden influir en la conducta a través del diseño de restricciones.</a:t>
            </a:r>
          </a:p>
          <a:p>
            <a:pPr>
              <a:spcBef>
                <a:spcPts val="500"/>
              </a:spcBef>
              <a:buChar char="■"/>
            </a:pPr>
            <a:r>
              <a:rPr lang="es-AR" sz="2400" b="1" dirty="0">
                <a:solidFill>
                  <a:srgbClr val="222222"/>
                </a:solidFill>
                <a:latin typeface="Tw Cen MT"/>
              </a:rPr>
              <a:t>Las personas se las ingenian para minimizar el efecto de las restricciones.</a:t>
            </a:r>
          </a:p>
          <a:p>
            <a:pPr>
              <a:spcBef>
                <a:spcPts val="500"/>
              </a:spcBef>
              <a:buChar char="■"/>
            </a:pPr>
            <a:r>
              <a:rPr lang="es-AR" sz="2400" dirty="0">
                <a:solidFill>
                  <a:srgbClr val="222222"/>
                </a:solidFill>
                <a:latin typeface="Tw Cen MT"/>
              </a:rPr>
              <a:t>Las reglas son restricciones al comportamiento, pero también generan señales e incentivos.</a:t>
            </a:r>
          </a:p>
          <a:p>
            <a:pPr>
              <a:spcBef>
                <a:spcPts val="500"/>
              </a:spcBef>
              <a:buNone/>
            </a:pPr>
            <a:r>
              <a:rPr lang="es-AR" sz="2400" b="1" dirty="0">
                <a:solidFill>
                  <a:srgbClr val="8B0000"/>
                </a:solidFill>
                <a:latin typeface="Tw Cen MT"/>
              </a:rPr>
              <a:t>CLAVE</a:t>
            </a:r>
          </a:p>
          <a:p>
            <a:pPr>
              <a:spcBef>
                <a:spcPts val="500"/>
              </a:spcBef>
              <a:buChar char="■"/>
            </a:pPr>
            <a:r>
              <a:rPr lang="es-AR" sz="2400" dirty="0">
                <a:solidFill>
                  <a:srgbClr val="222222"/>
                </a:solidFill>
                <a:latin typeface="Tw Cen MT"/>
              </a:rPr>
              <a:t>Entender el modelo de comportamiento es el primer paso para diseñar mejores organizaciones.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Modelos de Comportamiento — Introducción</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None/>
            </a:pPr>
            <a:r>
              <a:rPr lang="es-AR" sz="2800" b="1" dirty="0">
                <a:solidFill>
                  <a:srgbClr val="8B0000"/>
                </a:solidFill>
                <a:latin typeface="Tw Cen MT"/>
              </a:rPr>
              <a:t>Un modelo de comportamiento útil debe:</a:t>
            </a:r>
          </a:p>
          <a:p>
            <a:pPr>
              <a:spcBef>
                <a:spcPts val="500"/>
              </a:spcBef>
              <a:buChar char="■"/>
            </a:pPr>
            <a:r>
              <a:rPr lang="es-AR" sz="2800" dirty="0">
                <a:solidFill>
                  <a:srgbClr val="222222"/>
                </a:solidFill>
                <a:latin typeface="Tw Cen MT"/>
              </a:rPr>
              <a:t>Tener carácter general con un número reducido de variables.</a:t>
            </a:r>
          </a:p>
          <a:p>
            <a:pPr>
              <a:spcBef>
                <a:spcPts val="500"/>
              </a:spcBef>
              <a:buChar char="■"/>
            </a:pPr>
            <a:r>
              <a:rPr lang="es-AR" sz="2800" dirty="0">
                <a:solidFill>
                  <a:srgbClr val="222222"/>
                </a:solidFill>
                <a:latin typeface="Tw Cen MT"/>
              </a:rPr>
              <a:t>Ser cómodo y fácil de aplicar.</a:t>
            </a:r>
          </a:p>
          <a:p>
            <a:pPr>
              <a:spcBef>
                <a:spcPts val="500"/>
              </a:spcBef>
              <a:buChar char="■"/>
            </a:pPr>
            <a:r>
              <a:rPr lang="es-AR" sz="2800" dirty="0">
                <a:solidFill>
                  <a:srgbClr val="222222"/>
                </a:solidFill>
                <a:latin typeface="Tw Cen MT"/>
              </a:rPr>
              <a:t>Explicar un amplio rango de fenómenos sociales.</a:t>
            </a:r>
          </a:p>
          <a:p>
            <a:pPr>
              <a:spcBef>
                <a:spcPts val="500"/>
              </a:spcBef>
              <a:buChar char="■"/>
            </a:pPr>
            <a:r>
              <a:rPr lang="es-AR" sz="2800" dirty="0">
                <a:solidFill>
                  <a:srgbClr val="222222"/>
                </a:solidFill>
                <a:latin typeface="Tw Cen MT"/>
              </a:rPr>
              <a:t>Permitir predecir conductas para conocer el impacto de las decisiones gerenciales.</a:t>
            </a:r>
          </a:p>
          <a:p>
            <a:pPr>
              <a:spcBef>
                <a:spcPts val="500"/>
              </a:spcBef>
              <a:buNone/>
            </a:pPr>
            <a:endParaRPr lang="es-AR" sz="2800" b="1" dirty="0">
              <a:solidFill>
                <a:srgbClr val="8B0000"/>
              </a:solidFill>
              <a:latin typeface="Tw Cen MT"/>
            </a:endParaRPr>
          </a:p>
          <a:p>
            <a:pPr>
              <a:spcBef>
                <a:spcPts val="500"/>
              </a:spcBef>
              <a:buNone/>
            </a:pPr>
            <a:r>
              <a:rPr lang="es-AR" sz="2800" b="1" dirty="0">
                <a:solidFill>
                  <a:srgbClr val="8B0000"/>
                </a:solidFill>
                <a:latin typeface="Tw Cen MT"/>
              </a:rPr>
              <a:t>LOS 5 MODELOS QUE EXPLORAREMOS</a:t>
            </a:r>
          </a:p>
          <a:p>
            <a:pPr>
              <a:spcBef>
                <a:spcPts val="500"/>
              </a:spcBef>
              <a:buChar char="■"/>
            </a:pPr>
            <a:r>
              <a:rPr lang="es-AR" sz="2800" b="1" dirty="0">
                <a:solidFill>
                  <a:srgbClr val="222222"/>
                </a:solidFill>
                <a:latin typeface="Tw Cen MT"/>
              </a:rPr>
              <a:t>Económico  ▸  REMM  ▸  Psicológico  ▸  Sociológico  ▸  Político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Modelo Económico (Maximizador de Dinero)</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None/>
            </a:pPr>
            <a:r>
              <a:rPr lang="es-AR" sz="2400" b="1" dirty="0">
                <a:solidFill>
                  <a:srgbClr val="8B0000"/>
                </a:solidFill>
                <a:latin typeface="Tw Cen MT"/>
              </a:rPr>
              <a:t>Supuestos centrales:</a:t>
            </a:r>
          </a:p>
          <a:p>
            <a:pPr>
              <a:spcBef>
                <a:spcPts val="500"/>
              </a:spcBef>
              <a:buChar char="■"/>
            </a:pPr>
            <a:r>
              <a:rPr lang="es-AR" sz="2400" dirty="0">
                <a:solidFill>
                  <a:srgbClr val="222222"/>
                </a:solidFill>
                <a:latin typeface="Tw Cen MT"/>
              </a:rPr>
              <a:t>Deseos personales ilimitados y recursos escasos para satisfacerlos.</a:t>
            </a:r>
          </a:p>
          <a:p>
            <a:pPr>
              <a:spcBef>
                <a:spcPts val="500"/>
              </a:spcBef>
              <a:buChar char="■"/>
            </a:pPr>
            <a:r>
              <a:rPr lang="es-AR" sz="2400" dirty="0">
                <a:solidFill>
                  <a:srgbClr val="222222"/>
                </a:solidFill>
                <a:latin typeface="Tw Cen MT"/>
              </a:rPr>
              <a:t>El individuo busca maximizar la riqueza monetaria.</a:t>
            </a:r>
          </a:p>
          <a:p>
            <a:pPr>
              <a:spcBef>
                <a:spcPts val="500"/>
              </a:spcBef>
              <a:buChar char="■"/>
            </a:pPr>
            <a:r>
              <a:rPr lang="es-AR" sz="2400" dirty="0">
                <a:solidFill>
                  <a:srgbClr val="222222"/>
                </a:solidFill>
                <a:latin typeface="Tw Cen MT"/>
              </a:rPr>
              <a:t>Aversión al riesgo: elige lo más seguro.</a:t>
            </a:r>
          </a:p>
          <a:p>
            <a:pPr>
              <a:spcBef>
                <a:spcPts val="500"/>
              </a:spcBef>
              <a:buNone/>
            </a:pPr>
            <a:endParaRPr lang="es-AR" sz="2400" b="1" dirty="0">
              <a:solidFill>
                <a:srgbClr val="8B0000"/>
              </a:solidFill>
              <a:latin typeface="Tw Cen MT"/>
            </a:endParaRPr>
          </a:p>
          <a:p>
            <a:pPr>
              <a:spcBef>
                <a:spcPts val="500"/>
              </a:spcBef>
              <a:buNone/>
            </a:pPr>
            <a:r>
              <a:rPr lang="es-AR" sz="2400" b="1" dirty="0">
                <a:solidFill>
                  <a:srgbClr val="8B0000"/>
                </a:solidFill>
                <a:latin typeface="Tw Cen MT"/>
              </a:rPr>
              <a:t>Implicancias:</a:t>
            </a:r>
          </a:p>
          <a:p>
            <a:pPr>
              <a:spcBef>
                <a:spcPts val="500"/>
              </a:spcBef>
              <a:buChar char="■"/>
            </a:pPr>
            <a:r>
              <a:rPr lang="es-AR" sz="2400" dirty="0">
                <a:solidFill>
                  <a:srgbClr val="222222"/>
                </a:solidFill>
                <a:latin typeface="Tw Cen MT"/>
              </a:rPr>
              <a:t>Un directivo puede inducir comportamientos estableciendo incentivos correctos.</a:t>
            </a:r>
          </a:p>
          <a:p>
            <a:pPr>
              <a:spcBef>
                <a:spcPts val="500"/>
              </a:spcBef>
              <a:buChar char="■"/>
            </a:pPr>
            <a:r>
              <a:rPr lang="es-AR" sz="2400" b="1" dirty="0">
                <a:solidFill>
                  <a:srgbClr val="222222"/>
                </a:solidFill>
                <a:latin typeface="Tw Cen MT"/>
              </a:rPr>
              <a:t>Si los incentivos no son correctos, se induce comportamiento perverso.</a:t>
            </a:r>
          </a:p>
          <a:p>
            <a:pPr>
              <a:spcBef>
                <a:spcPts val="500"/>
              </a:spcBef>
              <a:buNone/>
            </a:pPr>
            <a:r>
              <a:rPr lang="es-AR" sz="2400" b="1" dirty="0">
                <a:solidFill>
                  <a:srgbClr val="8B0000"/>
                </a:solidFill>
                <a:latin typeface="Tw Cen MT"/>
              </a:rPr>
              <a:t>LIMITACIÓN</a:t>
            </a:r>
          </a:p>
          <a:p>
            <a:pPr>
              <a:spcBef>
                <a:spcPts val="500"/>
              </a:spcBef>
              <a:buChar char="■"/>
            </a:pPr>
            <a:r>
              <a:rPr lang="es-AR" sz="2400" dirty="0">
                <a:solidFill>
                  <a:srgbClr val="222222"/>
                </a:solidFill>
                <a:latin typeface="Tw Cen MT"/>
              </a:rPr>
              <a:t>No explica conductas altruistas ni la complejidad real de las motivaciones humanas.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Modelo Sociológico</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None/>
            </a:pPr>
            <a:r>
              <a:rPr lang="es-AR" sz="2800" b="1" dirty="0">
                <a:solidFill>
                  <a:srgbClr val="8B0000"/>
                </a:solidFill>
                <a:latin typeface="Tw Cen MT"/>
              </a:rPr>
              <a:t>El individuo como producto de su ambiente cultural.</a:t>
            </a:r>
          </a:p>
          <a:p>
            <a:pPr>
              <a:spcBef>
                <a:spcPts val="500"/>
              </a:spcBef>
              <a:buChar char="■"/>
            </a:pPr>
            <a:r>
              <a:rPr lang="es-AR" sz="2800" dirty="0">
                <a:solidFill>
                  <a:srgbClr val="222222"/>
                </a:solidFill>
                <a:latin typeface="Tw Cen MT"/>
              </a:rPr>
              <a:t>Son convencionales y conformistas: su comportamiento está predeterminado por tabúes, costumbres y tradiciones.</a:t>
            </a:r>
          </a:p>
          <a:p>
            <a:pPr>
              <a:spcBef>
                <a:spcPts val="500"/>
              </a:spcBef>
              <a:buChar char="■"/>
            </a:pPr>
            <a:r>
              <a:rPr lang="es-AR" sz="2800" dirty="0">
                <a:solidFill>
                  <a:srgbClr val="222222"/>
                </a:solidFill>
                <a:latin typeface="Tw Cen MT"/>
              </a:rPr>
              <a:t>No evalúan hechos ni alternativas: su conducta es el reflejo de la sociedad en que nacieron.</a:t>
            </a:r>
          </a:p>
          <a:p>
            <a:pPr>
              <a:spcBef>
                <a:spcPts val="500"/>
              </a:spcBef>
              <a:buChar char="■"/>
            </a:pPr>
            <a:r>
              <a:rPr lang="es-AR" sz="2800" b="1" dirty="0">
                <a:solidFill>
                  <a:srgbClr val="222222"/>
                </a:solidFill>
                <a:latin typeface="Tw Cen MT"/>
              </a:rPr>
              <a:t>“Víctimas Sociales”: el individuo no tiene agencia propia.</a:t>
            </a:r>
          </a:p>
          <a:p>
            <a:pPr>
              <a:spcBef>
                <a:spcPts val="500"/>
              </a:spcBef>
              <a:buNone/>
            </a:pPr>
            <a:r>
              <a:rPr lang="es-AR" sz="2800" b="1" dirty="0">
                <a:solidFill>
                  <a:srgbClr val="8B0000"/>
                </a:solidFill>
                <a:latin typeface="Tw Cen MT"/>
              </a:rPr>
              <a:t>LIMITACIÓN</a:t>
            </a:r>
          </a:p>
          <a:p>
            <a:pPr>
              <a:spcBef>
                <a:spcPts val="500"/>
              </a:spcBef>
              <a:buChar char="■"/>
            </a:pPr>
            <a:r>
              <a:rPr lang="es-AR" sz="2800" dirty="0">
                <a:solidFill>
                  <a:srgbClr val="222222"/>
                </a:solidFill>
                <a:latin typeface="Tw Cen MT"/>
              </a:rPr>
              <a:t>¿Cómo se producen entonces los cambios sociales? Si todos son conformistas, el cambio sería imposible.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Modelo Psicológico — Maslow</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Char char="■"/>
            </a:pPr>
            <a:r>
              <a:rPr lang="es-AR" sz="2800" dirty="0">
                <a:solidFill>
                  <a:srgbClr val="222222"/>
                </a:solidFill>
                <a:latin typeface="Tw Cen MT"/>
              </a:rPr>
              <a:t>El individuo tiene necesidades jerarquizadas. Satisfecha una, surge la siguiente.</a:t>
            </a:r>
          </a:p>
          <a:p>
            <a:pPr>
              <a:spcBef>
                <a:spcPts val="500"/>
              </a:spcBef>
              <a:buNone/>
            </a:pPr>
            <a:r>
              <a:rPr lang="es-AR" sz="2800" b="1" dirty="0">
                <a:solidFill>
                  <a:srgbClr val="8B0000"/>
                </a:solidFill>
                <a:latin typeface="Tw Cen MT"/>
              </a:rPr>
              <a:t>Necesidades Deficitarias (carencia):</a:t>
            </a:r>
          </a:p>
          <a:p>
            <a:pPr marL="457200" indent="-228600">
              <a:spcBef>
                <a:spcPts val="200"/>
              </a:spcBef>
              <a:buChar char="▸"/>
            </a:pPr>
            <a:r>
              <a:rPr lang="es-AR" sz="2800" dirty="0">
                <a:solidFill>
                  <a:srgbClr val="222222"/>
                </a:solidFill>
                <a:latin typeface="Tw Cen MT"/>
              </a:rPr>
              <a:t>Fisiológicas: comer, dormir, refugio.</a:t>
            </a:r>
          </a:p>
          <a:p>
            <a:pPr marL="457200" indent="-228600">
              <a:spcBef>
                <a:spcPts val="200"/>
              </a:spcBef>
              <a:buChar char="▸"/>
            </a:pPr>
            <a:r>
              <a:rPr lang="es-AR" sz="2800" dirty="0">
                <a:solidFill>
                  <a:srgbClr val="222222"/>
                </a:solidFill>
                <a:latin typeface="Tw Cen MT"/>
              </a:rPr>
              <a:t>Seguridad: empleo estable, ingresos, protección.</a:t>
            </a:r>
          </a:p>
          <a:p>
            <a:pPr marL="457200" indent="-228600">
              <a:spcBef>
                <a:spcPts val="200"/>
              </a:spcBef>
              <a:buChar char="▸"/>
            </a:pPr>
            <a:r>
              <a:rPr lang="es-AR" sz="2800" dirty="0">
                <a:solidFill>
                  <a:srgbClr val="222222"/>
                </a:solidFill>
                <a:latin typeface="Tw Cen MT"/>
              </a:rPr>
              <a:t>Amor, afecto y pertenencia.</a:t>
            </a:r>
          </a:p>
          <a:p>
            <a:pPr marL="457200" indent="-228600">
              <a:spcBef>
                <a:spcPts val="200"/>
              </a:spcBef>
              <a:buChar char="▸"/>
            </a:pPr>
            <a:r>
              <a:rPr lang="es-AR" sz="2800" dirty="0">
                <a:solidFill>
                  <a:srgbClr val="222222"/>
                </a:solidFill>
                <a:latin typeface="Tw Cen MT"/>
              </a:rPr>
              <a:t>Estima: reconocimiento y respeto.</a:t>
            </a:r>
          </a:p>
          <a:p>
            <a:pPr>
              <a:spcBef>
                <a:spcPts val="500"/>
              </a:spcBef>
              <a:buNone/>
            </a:pPr>
            <a:r>
              <a:rPr lang="es-AR" sz="2800" b="1" dirty="0">
                <a:solidFill>
                  <a:srgbClr val="8B0000"/>
                </a:solidFill>
                <a:latin typeface="Tw Cen MT"/>
              </a:rPr>
              <a:t>Necesidades de Crecimiento:</a:t>
            </a:r>
          </a:p>
          <a:p>
            <a:pPr marL="457200" indent="-228600">
              <a:spcBef>
                <a:spcPts val="200"/>
              </a:spcBef>
              <a:buChar char="▸"/>
            </a:pPr>
            <a:r>
              <a:rPr lang="es-AR" sz="2800" dirty="0">
                <a:solidFill>
                  <a:srgbClr val="222222"/>
                </a:solidFill>
                <a:latin typeface="Tw Cen MT"/>
              </a:rPr>
              <a:t>Autorrealización, necesidades cognitivas y estéticas.</a:t>
            </a:r>
          </a:p>
          <a:p>
            <a:pPr>
              <a:spcBef>
                <a:spcPts val="500"/>
              </a:spcBef>
              <a:buNone/>
            </a:pPr>
            <a:r>
              <a:rPr lang="es-AR" sz="2800" b="1" dirty="0">
                <a:solidFill>
                  <a:srgbClr val="8B0000"/>
                </a:solidFill>
                <a:latin typeface="Tw Cen MT"/>
              </a:rPr>
              <a:t>LIMITACIÓN</a:t>
            </a:r>
          </a:p>
          <a:p>
            <a:pPr>
              <a:spcBef>
                <a:spcPts val="500"/>
              </a:spcBef>
              <a:buChar char="■"/>
            </a:pPr>
            <a:r>
              <a:rPr lang="es-AR" sz="2800" dirty="0">
                <a:solidFill>
                  <a:srgbClr val="222222"/>
                </a:solidFill>
                <a:latin typeface="Tw Cen MT"/>
              </a:rPr>
              <a:t>La jerarquía es rígida: no permite sustituciones entre niveles.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Modelo Político</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None/>
            </a:pPr>
            <a:r>
              <a:rPr lang="es-AR" sz="2800" b="1" dirty="0">
                <a:solidFill>
                  <a:srgbClr val="8B0000"/>
                </a:solidFill>
                <a:latin typeface="Tw Cen MT"/>
              </a:rPr>
              <a:t>El individuo como agente perfecto del bien común.</a:t>
            </a:r>
          </a:p>
          <a:p>
            <a:pPr>
              <a:spcBef>
                <a:spcPts val="500"/>
              </a:spcBef>
              <a:buChar char="■"/>
            </a:pPr>
            <a:r>
              <a:rPr lang="es-AR" sz="2800" dirty="0">
                <a:solidFill>
                  <a:srgbClr val="222222"/>
                </a:solidFill>
                <a:latin typeface="Tw Cen MT"/>
              </a:rPr>
              <a:t>Intenta maximizar el interés público más que el propio.</a:t>
            </a:r>
          </a:p>
          <a:p>
            <a:pPr>
              <a:spcBef>
                <a:spcPts val="500"/>
              </a:spcBef>
              <a:buChar char="■"/>
            </a:pPr>
            <a:r>
              <a:rPr lang="es-AR" sz="2800" dirty="0">
                <a:solidFill>
                  <a:srgbClr val="222222"/>
                </a:solidFill>
                <a:latin typeface="Tw Cen MT"/>
              </a:rPr>
              <a:t>Un agente perfecto maximilizará las preferencias de la comunidad, incluso negando las propias.</a:t>
            </a:r>
          </a:p>
          <a:p>
            <a:pPr>
              <a:spcBef>
                <a:spcPts val="500"/>
              </a:spcBef>
              <a:buNone/>
            </a:pPr>
            <a:r>
              <a:rPr lang="es-AR" sz="2800" b="1" dirty="0">
                <a:solidFill>
                  <a:srgbClr val="8B0000"/>
                </a:solidFill>
                <a:latin typeface="Tw Cen MT"/>
              </a:rPr>
              <a:t>LIMITACIÓN</a:t>
            </a:r>
          </a:p>
          <a:p>
            <a:pPr>
              <a:spcBef>
                <a:spcPts val="500"/>
              </a:spcBef>
              <a:buChar char="■"/>
            </a:pPr>
            <a:r>
              <a:rPr lang="es-AR" sz="2800" dirty="0">
                <a:solidFill>
                  <a:srgbClr val="222222"/>
                </a:solidFill>
                <a:latin typeface="Tw Cen MT"/>
              </a:rPr>
              <a:t>¿Existe realmente este tipo de individuo? La evidencia empírica sugiere que el interés propio siempre está presente.</a:t>
            </a:r>
          </a:p>
          <a:p>
            <a:pPr>
              <a:spcBef>
                <a:spcPts val="500"/>
              </a:spcBef>
              <a:buChar char="■"/>
            </a:pPr>
            <a:r>
              <a:rPr lang="es-AR" sz="2800" dirty="0">
                <a:solidFill>
                  <a:srgbClr val="222222"/>
                </a:solidFill>
                <a:latin typeface="Tw Cen MT"/>
              </a:rPr>
              <a:t>Util como ideal normativo, no como modelo descriptivo de comportamiento.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REMM — El Modelo Integrador</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Char char="■"/>
            </a:pPr>
            <a:r>
              <a:rPr lang="es-AR" sz="2800" b="1" dirty="0">
                <a:solidFill>
                  <a:srgbClr val="222222"/>
                </a:solidFill>
                <a:latin typeface="Tw Cen MT"/>
              </a:rPr>
              <a:t>Resourceful, Evaluative, </a:t>
            </a:r>
            <a:r>
              <a:rPr lang="es-AR" sz="2800" b="1" dirty="0" err="1">
                <a:solidFill>
                  <a:srgbClr val="222222"/>
                </a:solidFill>
                <a:latin typeface="Tw Cen MT"/>
              </a:rPr>
              <a:t>Maximizing</a:t>
            </a:r>
            <a:r>
              <a:rPr lang="es-AR" sz="2800" b="1" dirty="0">
                <a:solidFill>
                  <a:srgbClr val="222222"/>
                </a:solidFill>
                <a:latin typeface="Tw Cen MT"/>
              </a:rPr>
              <a:t> </a:t>
            </a:r>
            <a:r>
              <a:rPr lang="es-AR" sz="2800" b="1" dirty="0" err="1">
                <a:solidFill>
                  <a:srgbClr val="222222"/>
                </a:solidFill>
                <a:latin typeface="Tw Cen MT"/>
              </a:rPr>
              <a:t>Model</a:t>
            </a:r>
            <a:endParaRPr lang="es-AR" sz="2800" b="1" dirty="0">
              <a:solidFill>
                <a:srgbClr val="222222"/>
              </a:solidFill>
              <a:latin typeface="Tw Cen MT"/>
            </a:endParaRPr>
          </a:p>
          <a:p>
            <a:pPr algn="ctr">
              <a:spcBef>
                <a:spcPts val="500"/>
              </a:spcBef>
            </a:pPr>
            <a:r>
              <a:rPr lang="es-ES" altLang="es-AR" sz="2800" b="1" dirty="0">
                <a:solidFill>
                  <a:srgbClr val="222222"/>
                </a:solidFill>
                <a:latin typeface="Tw Cen MT"/>
              </a:rPr>
              <a:t>Ingenioso, Evaluador y </a:t>
            </a:r>
            <a:r>
              <a:rPr lang="es-ES" altLang="es-AR" sz="2800" b="1" dirty="0" err="1">
                <a:solidFill>
                  <a:srgbClr val="222222"/>
                </a:solidFill>
                <a:latin typeface="Tw Cen MT"/>
              </a:rPr>
              <a:t>Maximizador</a:t>
            </a:r>
            <a:endParaRPr lang="es-AR" sz="2800" b="1" dirty="0">
              <a:solidFill>
                <a:srgbClr val="222222"/>
              </a:solidFill>
              <a:latin typeface="Tw Cen MT"/>
            </a:endParaRPr>
          </a:p>
          <a:p>
            <a:pPr>
              <a:spcBef>
                <a:spcPts val="500"/>
              </a:spcBef>
              <a:buNone/>
            </a:pPr>
            <a:r>
              <a:rPr lang="es-AR" sz="2800" b="1" dirty="0">
                <a:solidFill>
                  <a:srgbClr val="8B0000"/>
                </a:solidFill>
                <a:latin typeface="Tw Cen MT"/>
              </a:rPr>
              <a:t>Incorpora y supera a los modelos anteriores:</a:t>
            </a:r>
          </a:p>
          <a:p>
            <a:pPr>
              <a:spcBef>
                <a:spcPts val="500"/>
              </a:spcBef>
              <a:buChar char="■"/>
            </a:pPr>
            <a:r>
              <a:rPr lang="es-AR" sz="2800" dirty="0">
                <a:solidFill>
                  <a:srgbClr val="222222"/>
                </a:solidFill>
                <a:latin typeface="Tw Cen MT"/>
              </a:rPr>
              <a:t>Del Económico: no busca solo bienes materiales, sino satisfacer cualquier anhelo.</a:t>
            </a:r>
          </a:p>
          <a:p>
            <a:pPr>
              <a:spcBef>
                <a:spcPts val="500"/>
              </a:spcBef>
              <a:buChar char="■"/>
            </a:pPr>
            <a:r>
              <a:rPr lang="es-AR" sz="2800" dirty="0">
                <a:solidFill>
                  <a:srgbClr val="222222"/>
                </a:solidFill>
                <a:latin typeface="Tw Cen MT"/>
              </a:rPr>
              <a:t>Del Sociológico: la cultura condiciona pero no determina totalmente — el individuo puede no seguir las normas.</a:t>
            </a:r>
          </a:p>
          <a:p>
            <a:pPr>
              <a:spcBef>
                <a:spcPts val="500"/>
              </a:spcBef>
              <a:buChar char="■"/>
            </a:pPr>
            <a:r>
              <a:rPr lang="es-AR" sz="2800" dirty="0">
                <a:solidFill>
                  <a:srgbClr val="222222"/>
                </a:solidFill>
                <a:latin typeface="Tw Cen MT"/>
              </a:rPr>
              <a:t>Del Psicológico: los bienes NO están predeterminados; el individuo rejerarquiza según sus cálculos.</a:t>
            </a:r>
          </a:p>
          <a:p>
            <a:pPr>
              <a:spcBef>
                <a:spcPts val="500"/>
              </a:spcBef>
              <a:buChar char="■"/>
            </a:pPr>
            <a:r>
              <a:rPr lang="es-AR" sz="2800" dirty="0">
                <a:solidFill>
                  <a:srgbClr val="222222"/>
                </a:solidFill>
                <a:latin typeface="Tw Cen MT"/>
              </a:rPr>
              <a:t>Del Político: el altruismo existe, pero tiene límite claro en el interés propio.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REMM — Postulados</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None/>
            </a:pPr>
            <a:r>
              <a:rPr lang="es-AR" sz="2200" b="1" dirty="0">
                <a:solidFill>
                  <a:srgbClr val="8B0000"/>
                </a:solidFill>
                <a:latin typeface="Tw Cen MT"/>
              </a:rPr>
              <a:t>a) INGENIOSO</a:t>
            </a:r>
          </a:p>
          <a:p>
            <a:pPr>
              <a:spcBef>
                <a:spcPts val="500"/>
              </a:spcBef>
              <a:buChar char="■"/>
            </a:pPr>
            <a:r>
              <a:rPr lang="es-AR" sz="2200" dirty="0">
                <a:solidFill>
                  <a:srgbClr val="222222"/>
                </a:solidFill>
                <a:latin typeface="Tw Cen MT"/>
              </a:rPr>
              <a:t>Creativo para no restringir su comportamiento. Siempre encuentra sustitutos o nuevas soluciones.</a:t>
            </a:r>
          </a:p>
          <a:p>
            <a:pPr>
              <a:spcBef>
                <a:spcPts val="500"/>
              </a:spcBef>
              <a:buNone/>
            </a:pPr>
            <a:r>
              <a:rPr lang="es-AR" sz="2200" b="1" dirty="0">
                <a:solidFill>
                  <a:srgbClr val="8B0000"/>
                </a:solidFill>
                <a:latin typeface="Tw Cen MT"/>
              </a:rPr>
              <a:t>b) EVALUADOR</a:t>
            </a:r>
          </a:p>
          <a:p>
            <a:pPr>
              <a:spcBef>
                <a:spcPts val="500"/>
              </a:spcBef>
              <a:buChar char="■"/>
            </a:pPr>
            <a:r>
              <a:rPr lang="es-AR" sz="2200" dirty="0">
                <a:solidFill>
                  <a:srgbClr val="222222"/>
                </a:solidFill>
                <a:latin typeface="Tw Cen MT"/>
              </a:rPr>
              <a:t>Se preocupa por casi todo: honor, conocimiento, relaciones, normas, salud, arte.</a:t>
            </a:r>
          </a:p>
          <a:p>
            <a:pPr>
              <a:spcBef>
                <a:spcPts val="500"/>
              </a:spcBef>
              <a:buChar char="■"/>
            </a:pPr>
            <a:r>
              <a:rPr lang="es-AR" sz="2200" dirty="0">
                <a:solidFill>
                  <a:srgbClr val="222222"/>
                </a:solidFill>
                <a:latin typeface="Tw Cen MT"/>
              </a:rPr>
              <a:t>Hace intercambios. Sus preferencias son transitivas. Deseos son ilimitados.</a:t>
            </a:r>
          </a:p>
          <a:p>
            <a:pPr>
              <a:spcBef>
                <a:spcPts val="500"/>
              </a:spcBef>
              <a:buNone/>
            </a:pPr>
            <a:r>
              <a:rPr lang="es-AR" sz="2200" b="1" dirty="0">
                <a:solidFill>
                  <a:srgbClr val="8B0000"/>
                </a:solidFill>
                <a:latin typeface="Tw Cen MT"/>
              </a:rPr>
              <a:t>c) MAXIMIZADOR</a:t>
            </a:r>
          </a:p>
          <a:p>
            <a:pPr>
              <a:spcBef>
                <a:spcPts val="500"/>
              </a:spcBef>
              <a:buChar char="■"/>
            </a:pPr>
            <a:r>
              <a:rPr lang="es-AR" sz="2200" dirty="0">
                <a:solidFill>
                  <a:srgbClr val="222222"/>
                </a:solidFill>
                <a:latin typeface="Tw Cen MT"/>
              </a:rPr>
              <a:t>Busca el mayor nivel de valor posible, limitado por recursos escasos, leyes y conocimiento.</a:t>
            </a:r>
          </a:p>
          <a:p>
            <a:pPr>
              <a:spcBef>
                <a:spcPts val="500"/>
              </a:spcBef>
              <a:buChar char="■"/>
            </a:pPr>
            <a:endParaRPr lang="es-AR" sz="2200" dirty="0">
              <a:solidFill>
                <a:srgbClr val="222222"/>
              </a:solidFill>
              <a:latin typeface="Tw Cen MT"/>
            </a:endParaRPr>
          </a:p>
          <a:p>
            <a:pPr algn="ctr">
              <a:spcBef>
                <a:spcPts val="500"/>
              </a:spcBef>
            </a:pPr>
            <a:r>
              <a:rPr lang="es-AR" sz="2200" b="1" dirty="0">
                <a:solidFill>
                  <a:srgbClr val="222222"/>
                </a:solidFill>
                <a:latin typeface="Tw Cen MT"/>
              </a:rPr>
              <a:t>No existen necesidades: </a:t>
            </a:r>
            <a:r>
              <a:rPr lang="es-AR" altLang="es-AR" sz="2200" b="1" dirty="0">
                <a:solidFill>
                  <a:srgbClr val="222222"/>
                </a:solidFill>
                <a:latin typeface="Tw Cen MT"/>
              </a:rPr>
              <a:t>los individuos están dispuestos a sacrificar un poco de casi todo lo que les importa (Incluso reputación / moral) por una cantidad suficientemente grande de cosas deseadas.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REMM — Restricciones y Comportamiento</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Char char="■"/>
            </a:pPr>
            <a:r>
              <a:rPr lang="es-AR" sz="2400" b="1" dirty="0">
                <a:solidFill>
                  <a:srgbClr val="222222"/>
                </a:solidFill>
                <a:latin typeface="Tw Cen MT"/>
              </a:rPr>
              <a:t>Las nuevas restricciones generan nuevos comportamientos.</a:t>
            </a:r>
          </a:p>
          <a:p>
            <a:pPr>
              <a:spcBef>
                <a:spcPts val="500"/>
              </a:spcBef>
              <a:buChar char="■"/>
            </a:pPr>
            <a:r>
              <a:rPr lang="es-AR" sz="2400" dirty="0">
                <a:solidFill>
                  <a:srgbClr val="222222"/>
                </a:solidFill>
                <a:latin typeface="Tw Cen MT"/>
              </a:rPr>
              <a:t>El individuo busca sustitutos o inventa soluciones alternativas.</a:t>
            </a:r>
          </a:p>
          <a:p>
            <a:pPr>
              <a:spcBef>
                <a:spcPts val="500"/>
              </a:spcBef>
              <a:buChar char="■"/>
            </a:pPr>
            <a:r>
              <a:rPr lang="es-AR" sz="2400" dirty="0">
                <a:solidFill>
                  <a:srgbClr val="222222"/>
                </a:solidFill>
                <a:latin typeface="Tw Cen MT"/>
              </a:rPr>
              <a:t>No importa si son políticos, directivos, académicos o trabajadores: todos responden creativamente a las oportunidades del entorno.</a:t>
            </a:r>
          </a:p>
          <a:p>
            <a:pPr>
              <a:spcBef>
                <a:spcPts val="500"/>
              </a:spcBef>
              <a:buNone/>
            </a:pPr>
            <a:endParaRPr lang="es-AR" sz="2400" b="1" dirty="0">
              <a:solidFill>
                <a:srgbClr val="8B0000"/>
              </a:solidFill>
              <a:latin typeface="Tw Cen MT"/>
            </a:endParaRPr>
          </a:p>
          <a:p>
            <a:pPr>
              <a:spcBef>
                <a:spcPts val="500"/>
              </a:spcBef>
              <a:buNone/>
            </a:pPr>
            <a:r>
              <a:rPr lang="es-AR" sz="2400" b="1" dirty="0">
                <a:solidFill>
                  <a:srgbClr val="8B0000"/>
                </a:solidFill>
                <a:latin typeface="Tw Cen MT"/>
              </a:rPr>
              <a:t>EL DESAFÍO ORGANIZACIONAL</a:t>
            </a:r>
          </a:p>
          <a:p>
            <a:pPr algn="ctr">
              <a:spcBef>
                <a:spcPts val="500"/>
              </a:spcBef>
            </a:pPr>
            <a:r>
              <a:rPr lang="es-AR" sz="2400" b="1" dirty="0">
                <a:solidFill>
                  <a:srgbClr val="222222"/>
                </a:solidFill>
                <a:latin typeface="Tw Cen MT"/>
              </a:rPr>
              <a:t>Establecer reglas y procedimientos que aprovechen y dirijan la energía creativa de los REMM para aumentar el uso eficaz de los recursos escasos. (Jensen, 1992).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Mapa Comparativo de los 5 Modelos</a:t>
            </a:r>
          </a:p>
        </p:txBody>
      </p:sp>
      <p:sp>
        <p:nvSpPr>
          <p:cNvPr id="13" name="Content"/>
          <p:cNvSpPr txBox="1"/>
          <p:nvPr/>
        </p:nvSpPr>
        <p:spPr>
          <a:xfrm>
            <a:off x="304800" y="1063592"/>
            <a:ext cx="8534400" cy="5486400"/>
          </a:xfrm>
          <a:prstGeom prst="rect">
            <a:avLst/>
          </a:prstGeom>
          <a:noFill/>
          <a:ln>
            <a:noFill/>
          </a:ln>
        </p:spPr>
        <p:txBody>
          <a:bodyPr wrap="square" lIns="91440" tIns="91440" rIns="91440" bIns="91440" anchor="t"/>
          <a:lstStyle/>
          <a:p>
            <a:pPr>
              <a:spcBef>
                <a:spcPts val="500"/>
              </a:spcBef>
              <a:buChar char="■"/>
            </a:pPr>
            <a:r>
              <a:rPr lang="es-AR" sz="2400" dirty="0">
                <a:solidFill>
                  <a:srgbClr val="222222"/>
                </a:solidFill>
                <a:latin typeface="Tw Cen MT"/>
              </a:rPr>
              <a:t>Modelo Económico: Maximiza dinero / Racional puro / No altruismo.</a:t>
            </a:r>
          </a:p>
          <a:p>
            <a:pPr>
              <a:spcBef>
                <a:spcPts val="500"/>
              </a:spcBef>
              <a:buChar char="■"/>
            </a:pPr>
            <a:r>
              <a:rPr lang="es-AR" sz="2400" dirty="0">
                <a:solidFill>
                  <a:srgbClr val="222222"/>
                </a:solidFill>
                <a:latin typeface="Tw Cen MT"/>
              </a:rPr>
              <a:t>Modelo Sociológico: Producto de la cultura / Conformista / Sin posibilidad de cambios.</a:t>
            </a:r>
          </a:p>
          <a:p>
            <a:pPr>
              <a:spcBef>
                <a:spcPts val="500"/>
              </a:spcBef>
              <a:buChar char="■"/>
            </a:pPr>
            <a:r>
              <a:rPr lang="es-AR" sz="2400" dirty="0">
                <a:solidFill>
                  <a:srgbClr val="222222"/>
                </a:solidFill>
                <a:latin typeface="Tw Cen MT"/>
              </a:rPr>
              <a:t>Modelo Psicológico: Necesidades jerárquicas (Maslow) / Se sube por escalones rígidos / no puede haber intercambio.</a:t>
            </a:r>
          </a:p>
          <a:p>
            <a:pPr>
              <a:spcBef>
                <a:spcPts val="500"/>
              </a:spcBef>
              <a:buChar char="■"/>
            </a:pPr>
            <a:r>
              <a:rPr lang="es-AR" sz="2400" dirty="0">
                <a:solidFill>
                  <a:srgbClr val="222222"/>
                </a:solidFill>
                <a:latin typeface="Tw Cen MT"/>
              </a:rPr>
              <a:t>Modelo Político: Maximiza bien común / Agente perfecto / Ideal normativo, no descriptivo.</a:t>
            </a:r>
          </a:p>
          <a:p>
            <a:pPr>
              <a:spcBef>
                <a:spcPts val="500"/>
              </a:spcBef>
              <a:buChar char="■"/>
            </a:pPr>
            <a:endParaRPr lang="es-AR" sz="2400" dirty="0">
              <a:solidFill>
                <a:srgbClr val="222222"/>
              </a:solidFill>
              <a:latin typeface="Tw Cen MT"/>
            </a:endParaRPr>
          </a:p>
          <a:p>
            <a:pPr>
              <a:spcBef>
                <a:spcPts val="500"/>
              </a:spcBef>
              <a:buChar char="■"/>
            </a:pPr>
            <a:r>
              <a:rPr lang="es-AR" sz="2400" b="1" dirty="0">
                <a:solidFill>
                  <a:srgbClr val="222222"/>
                </a:solidFill>
                <a:latin typeface="Tw Cen MT"/>
              </a:rPr>
              <a:t>REMM: Ingenioso + Evaluador + </a:t>
            </a:r>
            <a:r>
              <a:rPr lang="es-AR" sz="2400" b="1" dirty="0" err="1">
                <a:solidFill>
                  <a:srgbClr val="222222"/>
                </a:solidFill>
                <a:latin typeface="Tw Cen MT"/>
              </a:rPr>
              <a:t>Maximizador</a:t>
            </a:r>
            <a:r>
              <a:rPr lang="es-AR" sz="2400" b="1" dirty="0">
                <a:solidFill>
                  <a:srgbClr val="222222"/>
                </a:solidFill>
                <a:latin typeface="Tw Cen MT"/>
              </a:rPr>
              <a:t> / Modelo más completo y realista</a:t>
            </a:r>
          </a:p>
          <a:p>
            <a:pPr>
              <a:spcBef>
                <a:spcPts val="500"/>
              </a:spcBef>
              <a:buChar char="■"/>
            </a:pPr>
            <a:endParaRPr lang="es-AR" sz="2400" b="1" dirty="0">
              <a:solidFill>
                <a:srgbClr val="222222"/>
              </a:solidFill>
              <a:latin typeface="Tw Cen MT"/>
            </a:endParaRPr>
          </a:p>
          <a:p>
            <a:pPr>
              <a:spcBef>
                <a:spcPts val="500"/>
              </a:spcBef>
              <a:buNone/>
            </a:pPr>
            <a:r>
              <a:rPr lang="es-AR" sz="2400" b="1" dirty="0">
                <a:solidFill>
                  <a:srgbClr val="8B0000"/>
                </a:solidFill>
                <a:latin typeface="Tw Cen MT"/>
              </a:rPr>
              <a:t>→ El REMM es el modelo base de la arquitectura organizacional.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A3050"/>
        </a:solidFill>
        <a:effectLst/>
      </p:bgPr>
    </p:bg>
    <p:spTree>
      <p:nvGrpSpPr>
        <p:cNvPr id="1" name="">
          <a:extLst>
            <a:ext uri="{FF2B5EF4-FFF2-40B4-BE49-F238E27FC236}">
              <a16:creationId xmlns:a16="http://schemas.microsoft.com/office/drawing/2014/main" id="{ADF278F5-D2F9-7557-95B3-B78D2F6E8C94}"/>
            </a:ext>
          </a:extLst>
        </p:cNvPr>
        <p:cNvGrpSpPr/>
        <p:nvPr/>
      </p:nvGrpSpPr>
      <p:grpSpPr>
        <a:xfrm>
          <a:off x="0" y="0"/>
          <a:ext cx="0" cy="0"/>
          <a:chOff x="0" y="0"/>
          <a:chExt cx="0" cy="0"/>
        </a:xfrm>
      </p:grpSpPr>
      <p:sp>
        <p:nvSpPr>
          <p:cNvPr id="10" name="TitleBar">
            <a:extLst>
              <a:ext uri="{FF2B5EF4-FFF2-40B4-BE49-F238E27FC236}">
                <a16:creationId xmlns:a16="http://schemas.microsoft.com/office/drawing/2014/main" id="{F2EF306A-AB8A-3D16-0D3E-5E8E2414C374}"/>
              </a:ext>
            </a:extLst>
          </p:cNvPr>
          <p:cNvSpPr>
            <a:spLocks noGrp="1"/>
          </p:cNvSpPr>
          <p:nvPr/>
        </p:nvSpPr>
        <p:spPr>
          <a:xfrm>
            <a:off x="0" y="213200"/>
            <a:ext cx="9144000" cy="853600"/>
          </a:xfrm>
          <a:prstGeom prst="rect">
            <a:avLst/>
          </a:prstGeom>
          <a:solidFill>
            <a:srgbClr val="112040"/>
          </a:solidFill>
          <a:ln>
            <a:noFill/>
          </a:ln>
        </p:spPr>
        <p:txBody>
          <a:bodyPr/>
          <a:lstStyle/>
          <a:p>
            <a:r>
              <a:rPr kumimoji="0" lang="en-US" sz="2400" b="1" i="0" u="none" strike="noStrike" kern="1200" cap="none" spc="0" normalizeH="0" baseline="0" noProof="0" dirty="0">
                <a:ln>
                  <a:noFill/>
                </a:ln>
                <a:solidFill>
                  <a:srgbClr val="E8A020"/>
                </a:solidFill>
                <a:effectLst/>
                <a:uLnTx/>
                <a:uFillTx/>
                <a:latin typeface="Calibri" pitchFamily="34" charset="0"/>
                <a:ea typeface="Calibri" pitchFamily="34" charset="-122"/>
                <a:cs typeface="Calibri" pitchFamily="34" charset="-120"/>
              </a:rPr>
              <a:t>CASO: </a:t>
            </a:r>
            <a:r>
              <a:rPr kumimoji="0" lang="en-US" sz="2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La Trampa de </a:t>
            </a:r>
            <a:r>
              <a:rPr kumimoji="0" lang="en-US" sz="2400"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los</a:t>
            </a:r>
            <a:r>
              <a:rPr kumimoji="0" lang="en-US" sz="2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2400"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Incentivos</a:t>
            </a:r>
            <a:r>
              <a:rPr kumimoji="0" lang="en-US" sz="2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Mal </a:t>
            </a:r>
            <a:r>
              <a:rPr kumimoji="0" lang="en-US" sz="2400"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Diseñados</a:t>
            </a:r>
            <a:r>
              <a:rPr kumimoji="0" lang="en-US" sz="2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 Amazon (2023–2025)</a:t>
            </a:r>
            <a:endParaRPr sz="2400" dirty="0"/>
          </a:p>
        </p:txBody>
      </p:sp>
      <p:sp>
        <p:nvSpPr>
          <p:cNvPr id="11" name="AccentLine">
            <a:extLst>
              <a:ext uri="{FF2B5EF4-FFF2-40B4-BE49-F238E27FC236}">
                <a16:creationId xmlns:a16="http://schemas.microsoft.com/office/drawing/2014/main" id="{78DFF487-AEED-1C53-FFE0-D109574E30BB}"/>
              </a:ext>
            </a:extLst>
          </p:cNvPr>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6" name="Shape 2"/>
          <p:cNvSpPr/>
          <p:nvPr/>
        </p:nvSpPr>
        <p:spPr>
          <a:xfrm>
            <a:off x="237744" y="1288502"/>
            <a:ext cx="2560320" cy="4711246"/>
          </a:xfrm>
          <a:prstGeom prst="rect">
            <a:avLst/>
          </a:prstGeom>
          <a:solidFill>
            <a:srgbClr val="FFFFFF"/>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sz="2000" dirty="0"/>
          </a:p>
        </p:txBody>
      </p:sp>
      <p:sp>
        <p:nvSpPr>
          <p:cNvPr id="7" name="Shape 3"/>
          <p:cNvSpPr/>
          <p:nvPr/>
        </p:nvSpPr>
        <p:spPr>
          <a:xfrm>
            <a:off x="228600" y="1661922"/>
            <a:ext cx="2697480" cy="64008"/>
          </a:xfrm>
          <a:prstGeom prst="rect">
            <a:avLst/>
          </a:prstGeom>
          <a:solidFill>
            <a:srgbClr val="1E2761"/>
          </a:solidFill>
          <a:ln w="12700">
            <a:solidFill>
              <a:srgbClr val="1E2761"/>
            </a:solidFill>
            <a:prstDash val="solid"/>
          </a:ln>
        </p:spPr>
        <p:txBody>
          <a:bodyPr/>
          <a:lstStyle/>
          <a:p>
            <a:endParaRPr lang="en-US"/>
          </a:p>
        </p:txBody>
      </p:sp>
      <p:sp>
        <p:nvSpPr>
          <p:cNvPr id="8" name="Text 4"/>
          <p:cNvSpPr/>
          <p:nvPr/>
        </p:nvSpPr>
        <p:spPr>
          <a:xfrm>
            <a:off x="434340" y="1295400"/>
            <a:ext cx="2423160" cy="347472"/>
          </a:xfrm>
          <a:prstGeom prst="rect">
            <a:avLst/>
          </a:prstGeom>
          <a:noFill/>
          <a:ln/>
        </p:spPr>
        <p:txBody>
          <a:bodyPr wrap="square" lIns="0" tIns="0" rIns="0" bIns="0" rtlCol="0" anchor="ctr"/>
          <a:lstStyle/>
          <a:p>
            <a:r>
              <a:rPr lang="en-US" b="1" dirty="0">
                <a:solidFill>
                  <a:srgbClr val="1E2761"/>
                </a:solidFill>
                <a:latin typeface="Calibri" pitchFamily="34" charset="0"/>
                <a:ea typeface="Calibri" pitchFamily="34" charset="-122"/>
                <a:cs typeface="Calibri" pitchFamily="34" charset="-120"/>
              </a:rPr>
              <a:t>📋  CONTEXTO</a:t>
            </a:r>
            <a:endParaRPr lang="en-US" dirty="0"/>
          </a:p>
        </p:txBody>
      </p:sp>
      <p:sp>
        <p:nvSpPr>
          <p:cNvPr id="9" name="Text 5"/>
          <p:cNvSpPr/>
          <p:nvPr/>
        </p:nvSpPr>
        <p:spPr>
          <a:xfrm>
            <a:off x="404622" y="1840632"/>
            <a:ext cx="2423160" cy="3063240"/>
          </a:xfrm>
          <a:prstGeom prst="rect">
            <a:avLst/>
          </a:prstGeom>
          <a:noFill/>
          <a:ln/>
        </p:spPr>
        <p:txBody>
          <a:bodyPr wrap="square" lIns="0" tIns="0" rIns="0" bIns="0" rtlCol="0" anchor="t"/>
          <a:lstStyle/>
          <a:p>
            <a:r>
              <a:rPr lang="en-US" sz="1700" dirty="0">
                <a:solidFill>
                  <a:srgbClr val="374151"/>
                </a:solidFill>
                <a:latin typeface="+mn-lt"/>
                <a:ea typeface="Calibri" pitchFamily="34" charset="-122"/>
                <a:cs typeface="Calibri" pitchFamily="34" charset="-120"/>
              </a:rPr>
              <a:t>Amazon construyó su ventaja competitiva sobre una política de devoluciones sin </a:t>
            </a:r>
            <a:r>
              <a:rPr lang="en-US" sz="1700" dirty="0" err="1">
                <a:solidFill>
                  <a:srgbClr val="374151"/>
                </a:solidFill>
                <a:latin typeface="+mn-lt"/>
                <a:ea typeface="Calibri" pitchFamily="34" charset="-122"/>
                <a:cs typeface="Calibri" pitchFamily="34" charset="-120"/>
              </a:rPr>
              <a:t>problemas</a:t>
            </a:r>
            <a:r>
              <a:rPr lang="en-US" sz="1700" dirty="0">
                <a:solidFill>
                  <a:srgbClr val="374151"/>
                </a:solidFill>
                <a:latin typeface="+mn-lt"/>
                <a:ea typeface="Calibri" pitchFamily="34" charset="-122"/>
                <a:cs typeface="Calibri" pitchFamily="34" charset="-120"/>
              </a:rPr>
              <a:t>:</a:t>
            </a:r>
            <a:endParaRPr lang="en-US" sz="1700" dirty="0">
              <a:latin typeface="+mn-lt"/>
            </a:endParaRPr>
          </a:p>
          <a:p>
            <a:r>
              <a:rPr lang="en-US" sz="1700" dirty="0">
                <a:solidFill>
                  <a:srgbClr val="374151"/>
                </a:solidFill>
                <a:latin typeface="+mn-lt"/>
                <a:ea typeface="Calibri" pitchFamily="34" charset="-122"/>
                <a:cs typeface="Calibri" pitchFamily="34" charset="-120"/>
              </a:rPr>
              <a:t> </a:t>
            </a:r>
            <a:endParaRPr lang="en-US" sz="1700" dirty="0">
              <a:latin typeface="+mn-lt"/>
            </a:endParaRPr>
          </a:p>
          <a:p>
            <a:r>
              <a:rPr lang="en-US" sz="1700" b="1" dirty="0">
                <a:solidFill>
                  <a:srgbClr val="374151"/>
                </a:solidFill>
                <a:latin typeface="+mn-lt"/>
                <a:ea typeface="Calibri" pitchFamily="34" charset="-122"/>
                <a:cs typeface="Calibri" pitchFamily="34" charset="-120"/>
              </a:rPr>
              <a:t>30 días · sin preguntas · reembolso inmediato</a:t>
            </a:r>
            <a:endParaRPr lang="en-US" sz="1700" dirty="0">
              <a:latin typeface="+mn-lt"/>
            </a:endParaRPr>
          </a:p>
          <a:p>
            <a:r>
              <a:rPr lang="en-US" sz="1700" dirty="0">
                <a:solidFill>
                  <a:srgbClr val="374151"/>
                </a:solidFill>
                <a:latin typeface="+mn-lt"/>
                <a:ea typeface="Calibri" pitchFamily="34" charset="-122"/>
                <a:cs typeface="Calibri" pitchFamily="34" charset="-120"/>
              </a:rPr>
              <a:t> </a:t>
            </a:r>
            <a:endParaRPr lang="en-US" sz="1700" dirty="0">
              <a:latin typeface="+mn-lt"/>
            </a:endParaRPr>
          </a:p>
          <a:p>
            <a:r>
              <a:rPr lang="en-US" sz="1700" dirty="0">
                <a:solidFill>
                  <a:srgbClr val="374151"/>
                </a:solidFill>
                <a:latin typeface="+mn-lt"/>
                <a:ea typeface="Calibri" pitchFamily="34" charset="-122"/>
                <a:cs typeface="Calibri" pitchFamily="34" charset="-120"/>
              </a:rPr>
              <a:t>Su </a:t>
            </a:r>
            <a:r>
              <a:rPr lang="en-US" sz="1700" dirty="0" err="1">
                <a:solidFill>
                  <a:srgbClr val="374151"/>
                </a:solidFill>
                <a:latin typeface="+mn-lt"/>
                <a:ea typeface="Calibri" pitchFamily="34" charset="-122"/>
                <a:cs typeface="Calibri" pitchFamily="34" charset="-120"/>
              </a:rPr>
              <a:t>programa</a:t>
            </a:r>
            <a:r>
              <a:rPr lang="en-US" sz="1700" dirty="0">
                <a:solidFill>
                  <a:srgbClr val="374151"/>
                </a:solidFill>
                <a:latin typeface="+mn-lt"/>
                <a:ea typeface="Calibri" pitchFamily="34" charset="-122"/>
                <a:cs typeface="Calibri" pitchFamily="34" charset="-120"/>
              </a:rPr>
              <a:t> </a:t>
            </a:r>
            <a:r>
              <a:rPr lang="en-US" sz="1700" dirty="0" err="1">
                <a:solidFill>
                  <a:srgbClr val="374151"/>
                </a:solidFill>
                <a:latin typeface="+mn-lt"/>
                <a:ea typeface="Calibri" pitchFamily="34" charset="-122"/>
                <a:cs typeface="Calibri" pitchFamily="34" charset="-120"/>
              </a:rPr>
              <a:t>garantizaba</a:t>
            </a:r>
            <a:r>
              <a:rPr lang="en-US" sz="1700" dirty="0">
                <a:solidFill>
                  <a:srgbClr val="374151"/>
                </a:solidFill>
                <a:latin typeface="+mn-lt"/>
                <a:ea typeface="Calibri" pitchFamily="34" charset="-122"/>
                <a:cs typeface="Calibri" pitchFamily="34" charset="-120"/>
              </a:rPr>
              <a:t> el reembolso al comprador, transfiriendo el costo al </a:t>
            </a:r>
            <a:r>
              <a:rPr lang="en-US" sz="1700" dirty="0" err="1">
                <a:solidFill>
                  <a:srgbClr val="374151"/>
                </a:solidFill>
                <a:latin typeface="+mn-lt"/>
                <a:ea typeface="Calibri" pitchFamily="34" charset="-122"/>
                <a:cs typeface="Calibri" pitchFamily="34" charset="-120"/>
              </a:rPr>
              <a:t>vendedor</a:t>
            </a:r>
            <a:r>
              <a:rPr lang="en-US" sz="1700" dirty="0">
                <a:solidFill>
                  <a:srgbClr val="374151"/>
                </a:solidFill>
                <a:latin typeface="+mn-lt"/>
                <a:ea typeface="Calibri" pitchFamily="34" charset="-122"/>
                <a:cs typeface="Calibri" pitchFamily="34" charset="-120"/>
              </a:rPr>
              <a:t>.</a:t>
            </a:r>
            <a:endParaRPr lang="en-US" sz="1700" dirty="0">
              <a:latin typeface="+mn-lt"/>
            </a:endParaRPr>
          </a:p>
          <a:p>
            <a:r>
              <a:rPr lang="en-US" sz="1700" dirty="0">
                <a:solidFill>
                  <a:srgbClr val="374151"/>
                </a:solidFill>
                <a:latin typeface="+mn-lt"/>
                <a:ea typeface="Calibri" pitchFamily="34" charset="-122"/>
                <a:cs typeface="Calibri" pitchFamily="34" charset="-120"/>
              </a:rPr>
              <a:t> </a:t>
            </a:r>
            <a:endParaRPr lang="en-US" sz="1700" dirty="0">
              <a:latin typeface="+mn-lt"/>
            </a:endParaRPr>
          </a:p>
          <a:p>
            <a:r>
              <a:rPr lang="en-US" sz="1700" dirty="0">
                <a:solidFill>
                  <a:srgbClr val="374151"/>
                </a:solidFill>
                <a:latin typeface="+mn-lt"/>
                <a:ea typeface="Calibri" pitchFamily="34" charset="-122"/>
                <a:cs typeface="Calibri" pitchFamily="34" charset="-120"/>
              </a:rPr>
              <a:t>Principio rector: </a:t>
            </a:r>
            <a:r>
              <a:rPr lang="en-US" sz="1700" i="1" dirty="0">
                <a:solidFill>
                  <a:srgbClr val="374151"/>
                </a:solidFill>
                <a:latin typeface="+mn-lt"/>
                <a:ea typeface="Calibri" pitchFamily="34" charset="-122"/>
                <a:cs typeface="Calibri" pitchFamily="34" charset="-120"/>
              </a:rPr>
              <a:t>"customer obsession"</a:t>
            </a:r>
            <a:endParaRPr lang="en-US" sz="1700" dirty="0">
              <a:latin typeface="+mn-lt"/>
            </a:endParaRPr>
          </a:p>
        </p:txBody>
      </p:sp>
      <p:sp>
        <p:nvSpPr>
          <p:cNvPr id="14" name="Shape 6"/>
          <p:cNvSpPr/>
          <p:nvPr/>
        </p:nvSpPr>
        <p:spPr>
          <a:xfrm>
            <a:off x="3227832" y="1358445"/>
            <a:ext cx="2697480" cy="4641303"/>
          </a:xfrm>
          <a:prstGeom prst="rect">
            <a:avLst/>
          </a:prstGeom>
          <a:solidFill>
            <a:srgbClr val="FFFFFF"/>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15" name="Shape 7"/>
          <p:cNvSpPr/>
          <p:nvPr/>
        </p:nvSpPr>
        <p:spPr>
          <a:xfrm>
            <a:off x="3227832" y="1661922"/>
            <a:ext cx="2697480" cy="64008"/>
          </a:xfrm>
          <a:prstGeom prst="rect">
            <a:avLst/>
          </a:prstGeom>
          <a:solidFill>
            <a:srgbClr val="B91C1C"/>
          </a:solidFill>
          <a:ln w="12700">
            <a:solidFill>
              <a:srgbClr val="B91C1C"/>
            </a:solidFill>
            <a:prstDash val="solid"/>
          </a:ln>
        </p:spPr>
        <p:txBody>
          <a:bodyPr/>
          <a:lstStyle/>
          <a:p>
            <a:endParaRPr lang="en-US"/>
          </a:p>
        </p:txBody>
      </p:sp>
      <p:sp>
        <p:nvSpPr>
          <p:cNvPr id="16" name="Text 8"/>
          <p:cNvSpPr/>
          <p:nvPr/>
        </p:nvSpPr>
        <p:spPr>
          <a:xfrm>
            <a:off x="3364992" y="1341261"/>
            <a:ext cx="2423160" cy="347472"/>
          </a:xfrm>
          <a:prstGeom prst="rect">
            <a:avLst/>
          </a:prstGeom>
          <a:noFill/>
          <a:ln/>
        </p:spPr>
        <p:txBody>
          <a:bodyPr wrap="square" lIns="0" tIns="0" rIns="0" bIns="0" rtlCol="0" anchor="ctr"/>
          <a:lstStyle/>
          <a:p>
            <a:r>
              <a:rPr lang="en-US" b="1" dirty="0">
                <a:solidFill>
                  <a:srgbClr val="B91C1C"/>
                </a:solidFill>
                <a:latin typeface="Calibri" pitchFamily="34" charset="0"/>
                <a:ea typeface="Calibri" pitchFamily="34" charset="-122"/>
                <a:cs typeface="Calibri" pitchFamily="34" charset="-120"/>
              </a:rPr>
              <a:t>⚠️  LO QUE OCURRIÓ</a:t>
            </a:r>
            <a:endParaRPr lang="en-US" dirty="0"/>
          </a:p>
        </p:txBody>
      </p:sp>
      <p:sp>
        <p:nvSpPr>
          <p:cNvPr id="17" name="Text 9"/>
          <p:cNvSpPr/>
          <p:nvPr/>
        </p:nvSpPr>
        <p:spPr>
          <a:xfrm>
            <a:off x="3394710" y="1790540"/>
            <a:ext cx="2530602" cy="3063240"/>
          </a:xfrm>
          <a:prstGeom prst="rect">
            <a:avLst/>
          </a:prstGeom>
          <a:noFill/>
          <a:ln/>
        </p:spPr>
        <p:txBody>
          <a:bodyPr wrap="square" lIns="0" tIns="0" rIns="0" bIns="0" rtlCol="0" anchor="t"/>
          <a:lstStyle/>
          <a:p>
            <a:r>
              <a:rPr lang="en-US" sz="1500" b="1" dirty="0">
                <a:solidFill>
                  <a:srgbClr val="374151"/>
                </a:solidFill>
                <a:latin typeface="+mn-lt"/>
                <a:ea typeface="Calibri" pitchFamily="34" charset="-122"/>
                <a:cs typeface="Calibri" pitchFamily="34" charset="-120"/>
              </a:rPr>
              <a:t>Wardrobing</a:t>
            </a:r>
            <a:r>
              <a:rPr lang="en-US" sz="1500" dirty="0">
                <a:solidFill>
                  <a:srgbClr val="374151"/>
                </a:solidFill>
                <a:latin typeface="+mn-lt"/>
                <a:ea typeface="Calibri" pitchFamily="34" charset="-122"/>
                <a:cs typeface="Calibri" pitchFamily="34" charset="-120"/>
              </a:rPr>
              <a:t>: ropa y electrónica usadas como alquiler gratuito y luego devueltas. </a:t>
            </a:r>
            <a:endParaRPr lang="en-US" sz="1500" dirty="0">
              <a:latin typeface="+mn-lt"/>
            </a:endParaRPr>
          </a:p>
          <a:p>
            <a:r>
              <a:rPr lang="en-US" sz="1500" b="1" dirty="0">
                <a:solidFill>
                  <a:srgbClr val="374151"/>
                </a:solidFill>
                <a:latin typeface="+mn-lt"/>
                <a:ea typeface="Calibri" pitchFamily="34" charset="-122"/>
                <a:cs typeface="Calibri" pitchFamily="34" charset="-120"/>
              </a:rPr>
              <a:t>Bracketing</a:t>
            </a:r>
            <a:r>
              <a:rPr lang="en-US" sz="1500" dirty="0">
                <a:solidFill>
                  <a:srgbClr val="374151"/>
                </a:solidFill>
                <a:latin typeface="+mn-lt"/>
                <a:ea typeface="Calibri" pitchFamily="34" charset="-122"/>
                <a:cs typeface="Calibri" pitchFamily="34" charset="-120"/>
              </a:rPr>
              <a:t>: compra de múltiples variantes con intención de retener solo una. </a:t>
            </a:r>
            <a:endParaRPr lang="en-US" sz="1500" dirty="0">
              <a:latin typeface="+mn-lt"/>
            </a:endParaRPr>
          </a:p>
          <a:p>
            <a:r>
              <a:rPr lang="en-US" sz="1500" b="1" dirty="0">
                <a:solidFill>
                  <a:srgbClr val="374151"/>
                </a:solidFill>
                <a:latin typeface="+mn-lt"/>
                <a:ea typeface="Calibri" pitchFamily="34" charset="-122"/>
                <a:cs typeface="Calibri" pitchFamily="34" charset="-120"/>
              </a:rPr>
              <a:t>Fraude directo</a:t>
            </a:r>
            <a:r>
              <a:rPr lang="en-US" sz="1500" dirty="0">
                <a:solidFill>
                  <a:srgbClr val="374151"/>
                </a:solidFill>
                <a:latin typeface="+mn-lt"/>
                <a:ea typeface="Calibri" pitchFamily="34" charset="-122"/>
                <a:cs typeface="Calibri" pitchFamily="34" charset="-120"/>
              </a:rPr>
              <a:t>: devolución de artículos distintos o sin valor. </a:t>
            </a:r>
            <a:endParaRPr lang="en-US" sz="1500" dirty="0">
              <a:latin typeface="+mn-lt"/>
            </a:endParaRPr>
          </a:p>
          <a:p>
            <a:r>
              <a:rPr lang="en-US" sz="1500" b="1" dirty="0">
                <a:solidFill>
                  <a:srgbClr val="374151"/>
                </a:solidFill>
                <a:latin typeface="+mn-lt"/>
                <a:ea typeface="Calibri" pitchFamily="34" charset="-122"/>
                <a:cs typeface="Calibri" pitchFamily="34" charset="-120"/>
              </a:rPr>
              <a:t>Redes organizadas</a:t>
            </a:r>
            <a:r>
              <a:rPr lang="en-US" sz="1500" dirty="0">
                <a:solidFill>
                  <a:srgbClr val="374151"/>
                </a:solidFill>
                <a:latin typeface="+mn-lt"/>
                <a:ea typeface="Calibri" pitchFamily="34" charset="-122"/>
                <a:cs typeface="Calibri" pitchFamily="34" charset="-120"/>
              </a:rPr>
              <a:t>: Amazon demandó en dic. 2023 a la red lituana REKK por fraude sistemático en electrónica y artículos de oro. </a:t>
            </a:r>
          </a:p>
          <a:p>
            <a:endParaRPr lang="en-US" sz="1500" dirty="0">
              <a:latin typeface="+mn-lt"/>
            </a:endParaRPr>
          </a:p>
          <a:p>
            <a:r>
              <a:rPr lang="en-US" sz="1500" b="1" dirty="0">
                <a:solidFill>
                  <a:srgbClr val="374151"/>
                </a:solidFill>
                <a:latin typeface="+mn-lt"/>
                <a:ea typeface="Calibri" pitchFamily="34" charset="-122"/>
                <a:cs typeface="Calibri" pitchFamily="34" charset="-120"/>
              </a:rPr>
              <a:t>Resultado: </a:t>
            </a:r>
            <a:r>
              <a:rPr lang="en-US" sz="1500" dirty="0">
                <a:solidFill>
                  <a:srgbClr val="374151"/>
                </a:solidFill>
                <a:latin typeface="+mn-lt"/>
                <a:ea typeface="Calibri" pitchFamily="34" charset="-122"/>
                <a:cs typeface="Calibri" pitchFamily="34" charset="-120"/>
              </a:rPr>
              <a:t>El 15% de todas las devoluciones fueron </a:t>
            </a:r>
            <a:r>
              <a:rPr lang="en-US" sz="1500" dirty="0" err="1">
                <a:solidFill>
                  <a:srgbClr val="374151"/>
                </a:solidFill>
                <a:latin typeface="+mn-lt"/>
                <a:ea typeface="Calibri" pitchFamily="34" charset="-122"/>
                <a:cs typeface="Calibri" pitchFamily="34" charset="-120"/>
              </a:rPr>
              <a:t>fraudulentas</a:t>
            </a:r>
            <a:r>
              <a:rPr lang="en-US" sz="1500" dirty="0">
                <a:solidFill>
                  <a:srgbClr val="374151"/>
                </a:solidFill>
                <a:latin typeface="+mn-lt"/>
                <a:ea typeface="Calibri" pitchFamily="34" charset="-122"/>
                <a:cs typeface="Calibri" pitchFamily="34" charset="-120"/>
              </a:rPr>
              <a:t>.</a:t>
            </a:r>
            <a:endParaRPr lang="en-US" sz="1500" dirty="0">
              <a:latin typeface="+mn-lt"/>
            </a:endParaRPr>
          </a:p>
        </p:txBody>
      </p:sp>
      <p:sp>
        <p:nvSpPr>
          <p:cNvPr id="18" name="Shape 10"/>
          <p:cNvSpPr/>
          <p:nvPr/>
        </p:nvSpPr>
        <p:spPr>
          <a:xfrm>
            <a:off x="6080760" y="1341261"/>
            <a:ext cx="2868810" cy="4658488"/>
          </a:xfrm>
          <a:prstGeom prst="rect">
            <a:avLst/>
          </a:prstGeom>
          <a:solidFill>
            <a:srgbClr val="FFFFFF"/>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19" name="Shape 11"/>
          <p:cNvSpPr/>
          <p:nvPr/>
        </p:nvSpPr>
        <p:spPr>
          <a:xfrm>
            <a:off x="6217920" y="1661922"/>
            <a:ext cx="2926080" cy="45719"/>
          </a:xfrm>
          <a:prstGeom prst="rect">
            <a:avLst/>
          </a:prstGeom>
          <a:solidFill>
            <a:srgbClr val="166534"/>
          </a:solidFill>
          <a:ln w="12700">
            <a:solidFill>
              <a:srgbClr val="166534"/>
            </a:solidFill>
            <a:prstDash val="solid"/>
          </a:ln>
        </p:spPr>
        <p:txBody>
          <a:bodyPr/>
          <a:lstStyle/>
          <a:p>
            <a:endParaRPr lang="en-US"/>
          </a:p>
        </p:txBody>
      </p:sp>
      <p:sp>
        <p:nvSpPr>
          <p:cNvPr id="20" name="Text 12"/>
          <p:cNvSpPr/>
          <p:nvPr/>
        </p:nvSpPr>
        <p:spPr>
          <a:xfrm>
            <a:off x="6355080" y="1347377"/>
            <a:ext cx="2423160" cy="347472"/>
          </a:xfrm>
          <a:prstGeom prst="rect">
            <a:avLst/>
          </a:prstGeom>
          <a:noFill/>
          <a:ln/>
        </p:spPr>
        <p:txBody>
          <a:bodyPr wrap="square" lIns="0" tIns="0" rIns="0" bIns="0" rtlCol="0" anchor="ctr"/>
          <a:lstStyle/>
          <a:p>
            <a:r>
              <a:rPr lang="en-US" b="1" dirty="0">
                <a:solidFill>
                  <a:srgbClr val="166534"/>
                </a:solidFill>
                <a:latin typeface="Calibri" pitchFamily="34" charset="0"/>
                <a:ea typeface="Calibri" pitchFamily="34" charset="-122"/>
                <a:cs typeface="Calibri" pitchFamily="34" charset="-120"/>
              </a:rPr>
              <a:t>💡  QUE SE HIZO</a:t>
            </a:r>
            <a:endParaRPr lang="en-US" dirty="0"/>
          </a:p>
        </p:txBody>
      </p:sp>
      <p:sp>
        <p:nvSpPr>
          <p:cNvPr id="22" name="Text 14"/>
          <p:cNvSpPr/>
          <p:nvPr/>
        </p:nvSpPr>
        <p:spPr>
          <a:xfrm>
            <a:off x="6217920" y="1768921"/>
            <a:ext cx="2521458" cy="777240"/>
          </a:xfrm>
          <a:prstGeom prst="rect">
            <a:avLst/>
          </a:prstGeom>
          <a:noFill/>
          <a:ln/>
        </p:spPr>
        <p:txBody>
          <a:bodyPr wrap="square" lIns="0" tIns="0" rIns="0" bIns="0" rtlCol="0" anchor="t"/>
          <a:lstStyle/>
          <a:p>
            <a:r>
              <a:rPr lang="es-AR" sz="1500" dirty="0">
                <a:latin typeface="+mn-lt"/>
              </a:rPr>
              <a:t>Una encuesta de </a:t>
            </a:r>
            <a:r>
              <a:rPr lang="es-AR" sz="1500" dirty="0" err="1">
                <a:latin typeface="+mn-lt"/>
              </a:rPr>
              <a:t>Narvar</a:t>
            </a:r>
            <a:r>
              <a:rPr lang="es-AR" sz="1500" dirty="0">
                <a:latin typeface="+mn-lt"/>
              </a:rPr>
              <a:t> de 2024 encontró que más de la mitad de los consumidores estadounidenses admitió haber cometido fraude en devoluciones al menos una vez.</a:t>
            </a:r>
            <a:endParaRPr lang="en-US" sz="1500" dirty="0">
              <a:latin typeface="+mn-lt"/>
            </a:endParaRPr>
          </a:p>
          <a:p>
            <a:endParaRPr lang="es-AR" sz="1500" dirty="0">
              <a:latin typeface="+mn-lt"/>
            </a:endParaRPr>
          </a:p>
          <a:p>
            <a:r>
              <a:rPr lang="es-AR" sz="1500" dirty="0">
                <a:latin typeface="+mn-lt"/>
              </a:rPr>
              <a:t>A partir de 2024, Amazon introdujo una tarifa de procesamiento de devoluciones para productos con alta tasa de retorno en todas las categorías (excepto ropa y calzado). </a:t>
            </a:r>
          </a:p>
          <a:p>
            <a:endParaRPr lang="es-AR" sz="1500" dirty="0">
              <a:latin typeface="+mn-lt"/>
            </a:endParaRPr>
          </a:p>
          <a:p>
            <a:r>
              <a:rPr lang="es-AR" sz="1500" dirty="0">
                <a:latin typeface="+mn-lt"/>
              </a:rPr>
              <a:t>En 2025, endureció sus controles sobre devoluciones abusivas.</a:t>
            </a:r>
            <a:endParaRPr lang="en-US" sz="1500" dirty="0">
              <a:latin typeface="+mn-lt"/>
            </a:endParaRPr>
          </a:p>
        </p:txBody>
      </p:sp>
      <p:sp>
        <p:nvSpPr>
          <p:cNvPr id="27" name="Shape 19"/>
          <p:cNvSpPr/>
          <p:nvPr/>
        </p:nvSpPr>
        <p:spPr>
          <a:xfrm>
            <a:off x="228600" y="6075949"/>
            <a:ext cx="8686800" cy="665264"/>
          </a:xfrm>
          <a:prstGeom prst="rect">
            <a:avLst/>
          </a:prstGeom>
          <a:solidFill>
            <a:srgbClr val="E8A020"/>
          </a:solidFill>
          <a:ln w="12700">
            <a:solidFill>
              <a:srgbClr val="E8A020"/>
            </a:solidFill>
            <a:prstDash val="solid"/>
          </a:ln>
        </p:spPr>
        <p:txBody>
          <a:bodyPr/>
          <a:lstStyle/>
          <a:p>
            <a:endParaRPr lang="en-US"/>
          </a:p>
        </p:txBody>
      </p:sp>
      <p:sp>
        <p:nvSpPr>
          <p:cNvPr id="28" name="Text 20"/>
          <p:cNvSpPr/>
          <p:nvPr/>
        </p:nvSpPr>
        <p:spPr>
          <a:xfrm>
            <a:off x="365760" y="6170876"/>
            <a:ext cx="8412480" cy="347472"/>
          </a:xfrm>
          <a:prstGeom prst="rect">
            <a:avLst/>
          </a:prstGeom>
          <a:noFill/>
          <a:ln/>
        </p:spPr>
        <p:txBody>
          <a:bodyPr wrap="square" lIns="0" tIns="0" rIns="0" bIns="0" rtlCol="0" anchor="ctr"/>
          <a:lstStyle/>
          <a:p>
            <a:pPr algn="ctr"/>
            <a:r>
              <a:rPr lang="en-US" sz="2000" b="1" dirty="0">
                <a:solidFill>
                  <a:srgbClr val="1E2761"/>
                </a:solidFill>
                <a:latin typeface="Calibri" pitchFamily="34" charset="0"/>
                <a:ea typeface="Calibri" pitchFamily="34" charset="-122"/>
                <a:cs typeface="Calibri" pitchFamily="34" charset="-120"/>
              </a:rPr>
              <a:t>Las personas responden creativamente a los incentivos. </a:t>
            </a:r>
          </a:p>
          <a:p>
            <a:pPr algn="ctr"/>
            <a:r>
              <a:rPr lang="en-US" sz="2000" b="1" dirty="0">
                <a:solidFill>
                  <a:srgbClr val="1E2761"/>
                </a:solidFill>
                <a:latin typeface="Calibri" pitchFamily="34" charset="0"/>
                <a:ea typeface="Calibri" pitchFamily="34" charset="-122"/>
                <a:cs typeface="Calibri" pitchFamily="34" charset="-120"/>
              </a:rPr>
              <a:t>El diseño debe anticipar el comportamiento oportunista, no solo el deseable.</a:t>
            </a:r>
            <a:endParaRPr lang="en-US" sz="2000" dirty="0"/>
          </a:p>
        </p:txBody>
      </p:sp>
    </p:spTree>
    <p:extLst>
      <p:ext uri="{BB962C8B-B14F-4D97-AF65-F5344CB8AC3E}">
        <p14:creationId xmlns:p14="http://schemas.microsoft.com/office/powerpoint/2010/main" val="13753343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A3050"/>
        </a:solidFill>
        <a:effectLst/>
      </p:bgPr>
    </p:bg>
    <p:spTree>
      <p:nvGrpSpPr>
        <p:cNvPr id="1" name="">
          <a:extLst>
            <a:ext uri="{FF2B5EF4-FFF2-40B4-BE49-F238E27FC236}">
              <a16:creationId xmlns:a16="http://schemas.microsoft.com/office/drawing/2014/main" id="{D81A576F-65E1-4EF8-B780-CD316748DE00}"/>
            </a:ext>
          </a:extLst>
        </p:cNvPr>
        <p:cNvGrpSpPr/>
        <p:nvPr/>
      </p:nvGrpSpPr>
      <p:grpSpPr>
        <a:xfrm>
          <a:off x="0" y="0"/>
          <a:ext cx="0" cy="0"/>
          <a:chOff x="0" y="0"/>
          <a:chExt cx="0" cy="0"/>
        </a:xfrm>
      </p:grpSpPr>
      <p:sp>
        <p:nvSpPr>
          <p:cNvPr id="10" name="TitleBar">
            <a:extLst>
              <a:ext uri="{FF2B5EF4-FFF2-40B4-BE49-F238E27FC236}">
                <a16:creationId xmlns:a16="http://schemas.microsoft.com/office/drawing/2014/main" id="{E3C04132-03C6-2336-AD4A-1AE9D31B09D7}"/>
              </a:ext>
            </a:extLst>
          </p:cNvPr>
          <p:cNvSpPr>
            <a:spLocks noGrp="1"/>
          </p:cNvSpPr>
          <p:nvPr/>
        </p:nvSpPr>
        <p:spPr>
          <a:xfrm>
            <a:off x="0" y="0"/>
            <a:ext cx="9144000" cy="1066800"/>
          </a:xfrm>
          <a:prstGeom prst="rect">
            <a:avLst/>
          </a:prstGeom>
          <a:solidFill>
            <a:srgbClr val="112040"/>
          </a:solidFill>
          <a:ln>
            <a:noFill/>
          </a:ln>
        </p:spPr>
        <p:txBody>
          <a:bodyPr/>
          <a:lstStyle/>
          <a:p>
            <a:endParaRPr/>
          </a:p>
        </p:txBody>
      </p:sp>
      <p:sp>
        <p:nvSpPr>
          <p:cNvPr id="11" name="AccentLine">
            <a:extLst>
              <a:ext uri="{FF2B5EF4-FFF2-40B4-BE49-F238E27FC236}">
                <a16:creationId xmlns:a16="http://schemas.microsoft.com/office/drawing/2014/main" id="{39497AB0-365D-E0B9-CCF8-3D408E01C9B9}"/>
              </a:ext>
            </a:extLst>
          </p:cNvPr>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a:extLst>
              <a:ext uri="{FF2B5EF4-FFF2-40B4-BE49-F238E27FC236}">
                <a16:creationId xmlns:a16="http://schemas.microsoft.com/office/drawing/2014/main" id="{EB297F0B-F894-BA39-8D85-65B9022ADFE2}"/>
              </a:ext>
            </a:extLst>
          </p:cNvPr>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C000"/>
                </a:solidFill>
                <a:latin typeface="Tw Cen MT"/>
              </a:rPr>
              <a:t>Caso: </a:t>
            </a:r>
            <a:r>
              <a:rPr lang="es-AR" sz="3200" b="1" dirty="0">
                <a:solidFill>
                  <a:srgbClr val="FFFFFF"/>
                </a:solidFill>
                <a:latin typeface="Tw Cen MT"/>
              </a:rPr>
              <a:t>Amazon - Conclusiones</a:t>
            </a:r>
          </a:p>
        </p:txBody>
      </p:sp>
      <p:sp>
        <p:nvSpPr>
          <p:cNvPr id="13" name="Content">
            <a:extLst>
              <a:ext uri="{FF2B5EF4-FFF2-40B4-BE49-F238E27FC236}">
                <a16:creationId xmlns:a16="http://schemas.microsoft.com/office/drawing/2014/main" id="{75ED4539-41B0-C7D1-4B7A-7F019C97EEAE}"/>
              </a:ext>
            </a:extLst>
          </p:cNvPr>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pPr>
            <a:r>
              <a:rPr lang="es-AR" sz="2400" dirty="0">
                <a:solidFill>
                  <a:srgbClr val="E8F0FF"/>
                </a:solidFill>
                <a:latin typeface="Tw Cen MT"/>
              </a:rPr>
              <a:t>En términos de Kerr (1975) en su clásico artículo </a:t>
            </a:r>
            <a:r>
              <a:rPr lang="es-AR" sz="2400" b="1" dirty="0">
                <a:solidFill>
                  <a:srgbClr val="E8F0FF"/>
                </a:solidFill>
                <a:latin typeface="Tw Cen MT"/>
              </a:rPr>
              <a:t>"Sobre la insensatez de recompensar a </a:t>
            </a:r>
            <a:r>
              <a:rPr lang="es-AR" sz="2400" b="1" dirty="0" err="1">
                <a:solidFill>
                  <a:srgbClr val="E8F0FF"/>
                </a:solidFill>
                <a:latin typeface="Tw Cen MT"/>
              </a:rPr>
              <a:t>A</a:t>
            </a:r>
            <a:r>
              <a:rPr lang="es-AR" sz="2400" b="1" dirty="0">
                <a:solidFill>
                  <a:srgbClr val="E8F0FF"/>
                </a:solidFill>
                <a:latin typeface="Tw Cen MT"/>
              </a:rPr>
              <a:t> mientras se espera B"</a:t>
            </a:r>
            <a:r>
              <a:rPr lang="es-AR" sz="2400" dirty="0">
                <a:solidFill>
                  <a:srgbClr val="E8F0FF"/>
                </a:solidFill>
                <a:latin typeface="Tw Cen MT"/>
              </a:rPr>
              <a:t>, Amazon esperaba lealtad del cliente (B) pero recompensaba con reembolsos incondicionales independientemente del comportamiento (A).</a:t>
            </a:r>
          </a:p>
          <a:p>
            <a:pPr algn="ctr">
              <a:spcBef>
                <a:spcPts val="500"/>
              </a:spcBef>
            </a:pPr>
            <a:r>
              <a:rPr lang="es-AR" sz="2400" dirty="0">
                <a:solidFill>
                  <a:srgbClr val="E8F0FF"/>
                </a:solidFill>
                <a:latin typeface="Tw Cen MT"/>
              </a:rPr>
              <a:t>Cuando el diseño de incentivos no contempla el comportamiento oportunista, los actores responden maximizando su utilidad individual. </a:t>
            </a:r>
          </a:p>
          <a:p>
            <a:pPr>
              <a:spcBef>
                <a:spcPts val="500"/>
              </a:spcBef>
            </a:pPr>
            <a:endParaRPr lang="es-AR" sz="2400" b="1" dirty="0">
              <a:solidFill>
                <a:srgbClr val="E8F0FF"/>
              </a:solidFill>
              <a:latin typeface="Tw Cen MT"/>
            </a:endParaRPr>
          </a:p>
          <a:p>
            <a:pPr algn="ctr">
              <a:spcBef>
                <a:spcPts val="500"/>
              </a:spcBef>
            </a:pPr>
            <a:r>
              <a:rPr lang="es-AR" sz="2400" b="1" dirty="0">
                <a:solidFill>
                  <a:srgbClr val="E8F0FF"/>
                </a:solidFill>
                <a:latin typeface="Tw Cen MT"/>
              </a:rPr>
              <a:t>- La gente responde a incentivos económicos de formas creativas. - Los gerentes deben pensar los incentivos con cuidado.</a:t>
            </a:r>
          </a:p>
          <a:p>
            <a:pPr algn="ctr">
              <a:spcBef>
                <a:spcPts val="500"/>
              </a:spcBef>
            </a:pPr>
            <a:r>
              <a:rPr lang="es-AR" sz="2400" b="1" dirty="0">
                <a:solidFill>
                  <a:srgbClr val="E8F0FF"/>
                </a:solidFill>
                <a:latin typeface="Tw Cen MT"/>
              </a:rPr>
              <a:t>- Si el gerente se queja de que sus empleados no están motivados o actúan de forma disfuncional, el primer paso es preguntarse qué comportamiento está efectivamente siendo recompensado no cuál se espera.</a:t>
            </a:r>
          </a:p>
        </p:txBody>
      </p:sp>
    </p:spTree>
    <p:extLst>
      <p:ext uri="{BB962C8B-B14F-4D97-AF65-F5344CB8AC3E}">
        <p14:creationId xmlns:p14="http://schemas.microsoft.com/office/powerpoint/2010/main" val="3895193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A3050"/>
        </a:solidFill>
        <a:effectLst/>
      </p:bgPr>
    </p:bg>
    <p:spTree>
      <p:nvGrpSpPr>
        <p:cNvPr id="1" name="">
          <a:extLst>
            <a:ext uri="{FF2B5EF4-FFF2-40B4-BE49-F238E27FC236}">
              <a16:creationId xmlns:a16="http://schemas.microsoft.com/office/drawing/2014/main" id="{517F0D22-3C53-7011-2E3E-7893DC978CFD}"/>
            </a:ext>
          </a:extLst>
        </p:cNvPr>
        <p:cNvGrpSpPr/>
        <p:nvPr/>
      </p:nvGrpSpPr>
      <p:grpSpPr>
        <a:xfrm>
          <a:off x="0" y="0"/>
          <a:ext cx="0" cy="0"/>
          <a:chOff x="0" y="0"/>
          <a:chExt cx="0" cy="0"/>
        </a:xfrm>
      </p:grpSpPr>
      <p:sp>
        <p:nvSpPr>
          <p:cNvPr id="10" name="TitleBar">
            <a:extLst>
              <a:ext uri="{FF2B5EF4-FFF2-40B4-BE49-F238E27FC236}">
                <a16:creationId xmlns:a16="http://schemas.microsoft.com/office/drawing/2014/main" id="{0D8664EC-6AB9-1DDF-B00C-526852170FB3}"/>
              </a:ext>
            </a:extLst>
          </p:cNvPr>
          <p:cNvSpPr>
            <a:spLocks noGrp="1"/>
          </p:cNvSpPr>
          <p:nvPr/>
        </p:nvSpPr>
        <p:spPr>
          <a:xfrm>
            <a:off x="0" y="0"/>
            <a:ext cx="9144000" cy="1066800"/>
          </a:xfrm>
          <a:prstGeom prst="rect">
            <a:avLst/>
          </a:prstGeom>
          <a:solidFill>
            <a:srgbClr val="112040"/>
          </a:solidFill>
          <a:ln>
            <a:noFill/>
          </a:ln>
        </p:spPr>
        <p:txBody>
          <a:bodyPr/>
          <a:lstStyle/>
          <a:p>
            <a:endParaRPr/>
          </a:p>
        </p:txBody>
      </p:sp>
      <p:sp>
        <p:nvSpPr>
          <p:cNvPr id="11" name="AccentLine">
            <a:extLst>
              <a:ext uri="{FF2B5EF4-FFF2-40B4-BE49-F238E27FC236}">
                <a16:creationId xmlns:a16="http://schemas.microsoft.com/office/drawing/2014/main" id="{95C6EDCE-500B-C382-17DF-ECC3D5296C3C}"/>
              </a:ext>
            </a:extLst>
          </p:cNvPr>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a:extLst>
              <a:ext uri="{FF2B5EF4-FFF2-40B4-BE49-F238E27FC236}">
                <a16:creationId xmlns:a16="http://schemas.microsoft.com/office/drawing/2014/main" id="{34615E69-8A1F-5296-7FE7-D56AB1A265CD}"/>
              </a:ext>
            </a:extLst>
          </p:cNvPr>
          <p:cNvSpPr txBox="1"/>
          <p:nvPr/>
        </p:nvSpPr>
        <p:spPr>
          <a:xfrm>
            <a:off x="304800" y="114300"/>
            <a:ext cx="8534400" cy="838200"/>
          </a:xfrm>
          <a:prstGeom prst="rect">
            <a:avLst/>
          </a:prstGeom>
          <a:noFill/>
          <a:ln>
            <a:noFill/>
          </a:ln>
        </p:spPr>
        <p:txBody>
          <a:bodyPr wrap="square" lIns="0" tIns="0" rIns="0" bIns="0" anchor="ctr"/>
          <a:lstStyle/>
          <a:p>
            <a:pPr algn="l">
              <a:buNone/>
            </a:pPr>
            <a:endParaRPr lang="es-AR" sz="3200" b="1" dirty="0">
              <a:solidFill>
                <a:srgbClr val="FFFFFF"/>
              </a:solidFill>
              <a:latin typeface="Tw Cen MT"/>
            </a:endParaRPr>
          </a:p>
        </p:txBody>
      </p:sp>
      <p:sp>
        <p:nvSpPr>
          <p:cNvPr id="3" name="Shape 1"/>
          <p:cNvSpPr/>
          <p:nvPr/>
        </p:nvSpPr>
        <p:spPr>
          <a:xfrm>
            <a:off x="30480" y="-9224"/>
            <a:ext cx="8979408" cy="960120"/>
          </a:xfrm>
          <a:prstGeom prst="rect">
            <a:avLst/>
          </a:prstGeom>
          <a:solidFill>
            <a:srgbClr val="162050"/>
          </a:solidFill>
          <a:ln w="12700">
            <a:solidFill>
              <a:srgbClr val="162050"/>
            </a:solidFill>
            <a:prstDash val="solid"/>
          </a:ln>
        </p:spPr>
        <p:txBody>
          <a:bodyPr/>
          <a:lstStyle/>
          <a:p>
            <a:endParaRPr lang="en-US"/>
          </a:p>
        </p:txBody>
      </p:sp>
      <p:sp>
        <p:nvSpPr>
          <p:cNvPr id="5" name="Text 3"/>
          <p:cNvSpPr/>
          <p:nvPr/>
        </p:nvSpPr>
        <p:spPr>
          <a:xfrm>
            <a:off x="237744" y="358140"/>
            <a:ext cx="2194560" cy="347472"/>
          </a:xfrm>
          <a:prstGeom prst="rect">
            <a:avLst/>
          </a:prstGeom>
          <a:noFill/>
          <a:ln/>
        </p:spPr>
        <p:txBody>
          <a:bodyPr wrap="square" lIns="0" tIns="0" rIns="0" bIns="0" rtlCol="0" anchor="ctr"/>
          <a:lstStyle/>
          <a:p>
            <a:pPr algn="ctr"/>
            <a:r>
              <a:rPr lang="en-US" sz="900" b="1" dirty="0">
                <a:solidFill>
                  <a:srgbClr val="1E2761"/>
                </a:solidFill>
              </a:rPr>
              <a:t>CASO REAL · 2011–2016</a:t>
            </a:r>
            <a:endParaRPr lang="en-US" sz="900" dirty="0"/>
          </a:p>
        </p:txBody>
      </p:sp>
      <p:sp>
        <p:nvSpPr>
          <p:cNvPr id="6" name="Text 4"/>
          <p:cNvSpPr/>
          <p:nvPr/>
        </p:nvSpPr>
        <p:spPr>
          <a:xfrm>
            <a:off x="237744" y="438030"/>
            <a:ext cx="8503920" cy="502920"/>
          </a:xfrm>
          <a:prstGeom prst="rect">
            <a:avLst/>
          </a:prstGeom>
          <a:noFill/>
          <a:ln/>
        </p:spPr>
        <p:txBody>
          <a:bodyPr wrap="square" lIns="0" tIns="0" rIns="0" bIns="0" rtlCol="0" anchor="ctr"/>
          <a:lstStyle/>
          <a:p>
            <a:r>
              <a:rPr lang="en-US" sz="2000" b="1" dirty="0">
                <a:solidFill>
                  <a:srgbClr val="FFC000"/>
                </a:solidFill>
              </a:rPr>
              <a:t>Caso: </a:t>
            </a:r>
            <a:r>
              <a:rPr lang="en-US" sz="2000" b="1" dirty="0">
                <a:solidFill>
                  <a:srgbClr val="FFFFFF"/>
                </a:solidFill>
              </a:rPr>
              <a:t>Wells Fargo — El sistema de incentivos que destruyó la </a:t>
            </a:r>
            <a:r>
              <a:rPr lang="en-US" sz="2000" b="1" dirty="0" err="1">
                <a:solidFill>
                  <a:srgbClr val="FFFFFF"/>
                </a:solidFill>
              </a:rPr>
              <a:t>empresa</a:t>
            </a:r>
            <a:r>
              <a:rPr lang="en-US" sz="2000" b="1" dirty="0">
                <a:solidFill>
                  <a:srgbClr val="FFFFFF"/>
                </a:solidFill>
              </a:rPr>
              <a:t> (2011 / 2016)</a:t>
            </a:r>
          </a:p>
          <a:p>
            <a:endParaRPr lang="en-US" sz="2000" dirty="0"/>
          </a:p>
        </p:txBody>
      </p:sp>
      <p:sp>
        <p:nvSpPr>
          <p:cNvPr id="22" name="Shape 14">
            <a:extLst>
              <a:ext uri="{FF2B5EF4-FFF2-40B4-BE49-F238E27FC236}">
                <a16:creationId xmlns:a16="http://schemas.microsoft.com/office/drawing/2014/main" id="{58451EBC-22DB-8D16-7D04-B047BAA04101}"/>
              </a:ext>
            </a:extLst>
          </p:cNvPr>
          <p:cNvSpPr/>
          <p:nvPr/>
        </p:nvSpPr>
        <p:spPr>
          <a:xfrm>
            <a:off x="218999" y="1390530"/>
            <a:ext cx="2651760" cy="5109330"/>
          </a:xfrm>
          <a:prstGeom prst="rect">
            <a:avLst/>
          </a:prstGeom>
          <a:solidFill>
            <a:srgbClr val="162050"/>
          </a:solidFill>
          <a:ln w="12700">
            <a:solidFill>
              <a:srgbClr val="162050"/>
            </a:solidFill>
            <a:prstDash val="solid"/>
          </a:ln>
          <a:effectLst>
            <a:outerShdw blurRad="101600" dist="38100" dir="8100000" algn="bl" rotWithShape="0">
              <a:srgbClr val="000000">
                <a:alpha val="25000"/>
              </a:srgbClr>
            </a:outerShdw>
          </a:effectLst>
        </p:spPr>
        <p:txBody>
          <a:bodyPr/>
          <a:lstStyle/>
          <a:p>
            <a:endParaRPr lang="en-US">
              <a:latin typeface="+mn-lt"/>
            </a:endParaRPr>
          </a:p>
        </p:txBody>
      </p:sp>
      <p:sp>
        <p:nvSpPr>
          <p:cNvPr id="23" name="Text 9"/>
          <p:cNvSpPr/>
          <p:nvPr/>
        </p:nvSpPr>
        <p:spPr>
          <a:xfrm>
            <a:off x="379476" y="1847469"/>
            <a:ext cx="2432304" cy="2423160"/>
          </a:xfrm>
          <a:prstGeom prst="rect">
            <a:avLst/>
          </a:prstGeom>
          <a:noFill/>
          <a:ln/>
        </p:spPr>
        <p:txBody>
          <a:bodyPr wrap="square" lIns="0" tIns="0" rIns="0" bIns="0" rtlCol="0" anchor="t"/>
          <a:lstStyle/>
          <a:p>
            <a:r>
              <a:rPr lang="en-US" b="1" dirty="0">
                <a:solidFill>
                  <a:srgbClr val="FFFFFF"/>
                </a:solidFill>
                <a:latin typeface="+mn-lt"/>
              </a:rPr>
              <a:t>Wells Fargo</a:t>
            </a:r>
            <a:r>
              <a:rPr lang="en-US" dirty="0">
                <a:solidFill>
                  <a:srgbClr val="CADCFC"/>
                </a:solidFill>
                <a:latin typeface="+mn-lt"/>
              </a:rPr>
              <a:t> era el banco más valioso de EE.UU. Su estrategia central era la </a:t>
            </a:r>
            <a:r>
              <a:rPr lang="en-US" b="1" dirty="0">
                <a:solidFill>
                  <a:srgbClr val="FFFFFF"/>
                </a:solidFill>
                <a:latin typeface="+mn-lt"/>
              </a:rPr>
              <a:t>venta cruzada</a:t>
            </a:r>
            <a:r>
              <a:rPr lang="en-US" dirty="0">
                <a:solidFill>
                  <a:srgbClr val="CADCFC"/>
                </a:solidFill>
                <a:latin typeface="+mn-lt"/>
              </a:rPr>
              <a:t>: lograr que cada cliente tuviera múltiples productos.</a:t>
            </a:r>
            <a:endParaRPr lang="en-US" dirty="0">
              <a:latin typeface="+mn-lt"/>
            </a:endParaRPr>
          </a:p>
          <a:p>
            <a:endParaRPr lang="en-US" dirty="0">
              <a:latin typeface="+mn-lt"/>
            </a:endParaRPr>
          </a:p>
          <a:p>
            <a:r>
              <a:rPr lang="en-US" dirty="0">
                <a:solidFill>
                  <a:srgbClr val="CADCFC"/>
                </a:solidFill>
                <a:latin typeface="+mn-lt"/>
              </a:rPr>
              <a:t>El lema era </a:t>
            </a:r>
            <a:endParaRPr lang="en-US" dirty="0">
              <a:latin typeface="+mn-lt"/>
            </a:endParaRPr>
          </a:p>
          <a:p>
            <a:r>
              <a:rPr lang="en-US" b="1" i="1" dirty="0">
                <a:solidFill>
                  <a:srgbClr val="E8A020"/>
                </a:solidFill>
                <a:latin typeface="+mn-lt"/>
              </a:rPr>
              <a:t>"Eight is Great"</a:t>
            </a:r>
            <a:r>
              <a:rPr lang="en-US" dirty="0">
                <a:solidFill>
                  <a:srgbClr val="CADCFC"/>
                </a:solidFill>
                <a:latin typeface="+mn-lt"/>
              </a:rPr>
              <a:t>: cada empleado debía vender al menos 8 productos por cliente.</a:t>
            </a:r>
            <a:endParaRPr lang="en-US" dirty="0">
              <a:latin typeface="+mn-lt"/>
            </a:endParaRPr>
          </a:p>
          <a:p>
            <a:endParaRPr lang="en-US" dirty="0">
              <a:latin typeface="+mn-lt"/>
            </a:endParaRPr>
          </a:p>
          <a:p>
            <a:r>
              <a:rPr lang="en-US" dirty="0">
                <a:solidFill>
                  <a:srgbClr val="CADCFC"/>
                </a:solidFill>
                <a:latin typeface="+mn-lt"/>
              </a:rPr>
              <a:t>La dirección </a:t>
            </a:r>
            <a:endParaRPr lang="en-US" dirty="0">
              <a:latin typeface="+mn-lt"/>
            </a:endParaRPr>
          </a:p>
          <a:p>
            <a:r>
              <a:rPr lang="en-US" b="1" dirty="0">
                <a:solidFill>
                  <a:srgbClr val="FFFFFF"/>
                </a:solidFill>
                <a:latin typeface="+mn-lt"/>
              </a:rPr>
              <a:t>sabía desde 2004</a:t>
            </a:r>
            <a:r>
              <a:rPr lang="en-US" dirty="0">
                <a:solidFill>
                  <a:srgbClr val="CADCFC"/>
                </a:solidFill>
                <a:latin typeface="+mn-lt"/>
              </a:rPr>
              <a:t> que las metas eran inalcanzables por vías éticas. No actuó</a:t>
            </a:r>
            <a:r>
              <a:rPr lang="en-US" sz="1050" dirty="0">
                <a:solidFill>
                  <a:srgbClr val="CADCFC"/>
                </a:solidFill>
                <a:latin typeface="+mn-lt"/>
              </a:rPr>
              <a:t>.</a:t>
            </a:r>
            <a:endParaRPr lang="en-US" sz="1050" dirty="0">
              <a:latin typeface="+mn-lt"/>
            </a:endParaRPr>
          </a:p>
        </p:txBody>
      </p:sp>
      <p:sp>
        <p:nvSpPr>
          <p:cNvPr id="24" name="Text 8"/>
          <p:cNvSpPr/>
          <p:nvPr/>
        </p:nvSpPr>
        <p:spPr>
          <a:xfrm>
            <a:off x="30480" y="1499997"/>
            <a:ext cx="2651760" cy="347472"/>
          </a:xfrm>
          <a:prstGeom prst="rect">
            <a:avLst/>
          </a:prstGeom>
          <a:noFill/>
          <a:ln/>
        </p:spPr>
        <p:txBody>
          <a:bodyPr wrap="square" lIns="0" tIns="0" rIns="0" bIns="0" rtlCol="0" anchor="ctr"/>
          <a:lstStyle/>
          <a:p>
            <a:pPr algn="ctr"/>
            <a:r>
              <a:rPr lang="en-US" sz="2000" b="1" dirty="0">
                <a:solidFill>
                  <a:srgbClr val="E8A020"/>
                </a:solidFill>
                <a:latin typeface="+mn-lt"/>
              </a:rPr>
              <a:t>EL CONTEXTO</a:t>
            </a:r>
            <a:endParaRPr lang="en-US" sz="2000" dirty="0">
              <a:latin typeface="+mn-lt"/>
            </a:endParaRPr>
          </a:p>
        </p:txBody>
      </p:sp>
      <p:sp>
        <p:nvSpPr>
          <p:cNvPr id="2" name="Shape 10"/>
          <p:cNvSpPr/>
          <p:nvPr/>
        </p:nvSpPr>
        <p:spPr>
          <a:xfrm>
            <a:off x="3127248" y="1274626"/>
            <a:ext cx="2651760" cy="5240474"/>
          </a:xfrm>
          <a:prstGeom prst="rect">
            <a:avLst/>
          </a:prstGeom>
          <a:solidFill>
            <a:srgbClr val="162050"/>
          </a:solidFill>
          <a:ln w="12700">
            <a:solidFill>
              <a:srgbClr val="162050"/>
            </a:solidFill>
            <a:prstDash val="solid"/>
          </a:ln>
          <a:effectLst>
            <a:outerShdw blurRad="101600" dist="38100" dir="8100000" algn="bl" rotWithShape="0">
              <a:srgbClr val="000000">
                <a:alpha val="25000"/>
              </a:srgbClr>
            </a:outerShdw>
          </a:effectLst>
        </p:spPr>
        <p:txBody>
          <a:bodyPr/>
          <a:lstStyle/>
          <a:p>
            <a:endParaRPr lang="en-US">
              <a:latin typeface="+mn-lt"/>
            </a:endParaRPr>
          </a:p>
        </p:txBody>
      </p:sp>
      <p:sp>
        <p:nvSpPr>
          <p:cNvPr id="14" name="Text 12"/>
          <p:cNvSpPr/>
          <p:nvPr/>
        </p:nvSpPr>
        <p:spPr>
          <a:xfrm>
            <a:off x="3022092" y="1499997"/>
            <a:ext cx="2651760" cy="347472"/>
          </a:xfrm>
          <a:prstGeom prst="rect">
            <a:avLst/>
          </a:prstGeom>
          <a:noFill/>
          <a:ln/>
        </p:spPr>
        <p:txBody>
          <a:bodyPr wrap="square" lIns="0" tIns="0" rIns="0" bIns="0" rtlCol="0" anchor="ctr"/>
          <a:lstStyle/>
          <a:p>
            <a:pPr algn="ctr"/>
            <a:r>
              <a:rPr lang="en-US" sz="2000" b="1" dirty="0">
                <a:solidFill>
                  <a:srgbClr val="C0392B"/>
                </a:solidFill>
                <a:latin typeface="+mn-lt"/>
              </a:rPr>
              <a:t>EL PROBLEMA</a:t>
            </a:r>
            <a:endParaRPr lang="en-US" sz="2000" dirty="0">
              <a:latin typeface="+mn-lt"/>
            </a:endParaRPr>
          </a:p>
        </p:txBody>
      </p:sp>
      <p:sp>
        <p:nvSpPr>
          <p:cNvPr id="15" name="Text 13"/>
          <p:cNvSpPr/>
          <p:nvPr/>
        </p:nvSpPr>
        <p:spPr>
          <a:xfrm>
            <a:off x="3236976" y="1872134"/>
            <a:ext cx="2432304" cy="2423160"/>
          </a:xfrm>
          <a:prstGeom prst="rect">
            <a:avLst/>
          </a:prstGeom>
          <a:noFill/>
          <a:ln/>
        </p:spPr>
        <p:txBody>
          <a:bodyPr wrap="square" lIns="0" tIns="0" rIns="0" bIns="0" rtlCol="0" anchor="t"/>
          <a:lstStyle/>
          <a:p>
            <a:r>
              <a:rPr lang="en-US" b="1" dirty="0">
                <a:solidFill>
                  <a:srgbClr val="C0392B"/>
                </a:solidFill>
                <a:latin typeface="+mn-lt"/>
              </a:rPr>
              <a:t>Sistema de </a:t>
            </a:r>
            <a:r>
              <a:rPr lang="en-US" b="1" dirty="0" err="1">
                <a:solidFill>
                  <a:srgbClr val="C0392B"/>
                </a:solidFill>
                <a:latin typeface="+mn-lt"/>
              </a:rPr>
              <a:t>medición</a:t>
            </a:r>
            <a:r>
              <a:rPr lang="en-US" b="1" dirty="0">
                <a:solidFill>
                  <a:srgbClr val="C0392B"/>
                </a:solidFill>
                <a:latin typeface="+mn-lt"/>
              </a:rPr>
              <a:t>:</a:t>
            </a:r>
            <a:endParaRPr lang="en-US" dirty="0">
              <a:latin typeface="+mn-lt"/>
            </a:endParaRPr>
          </a:p>
          <a:p>
            <a:r>
              <a:rPr lang="en-US" dirty="0">
                <a:solidFill>
                  <a:srgbClr val="CADCFC"/>
                </a:solidFill>
                <a:latin typeface="+mn-lt"/>
              </a:rPr>
              <a:t>empleados recibían un </a:t>
            </a:r>
            <a:r>
              <a:rPr lang="en-US" i="1" dirty="0">
                <a:solidFill>
                  <a:srgbClr val="FFFFFF"/>
                </a:solidFill>
                <a:latin typeface="+mn-lt"/>
              </a:rPr>
              <a:t>"motivator report"</a:t>
            </a:r>
            <a:r>
              <a:rPr lang="en-US" dirty="0">
                <a:solidFill>
                  <a:srgbClr val="CADCFC"/>
                </a:solidFill>
                <a:latin typeface="+mn-lt"/>
              </a:rPr>
              <a:t> diario que los rankea y avergüenza públicamente según ventas.</a:t>
            </a:r>
            <a:endParaRPr lang="en-US" dirty="0">
              <a:latin typeface="+mn-lt"/>
            </a:endParaRPr>
          </a:p>
          <a:p>
            <a:endParaRPr lang="en-US" dirty="0">
              <a:latin typeface="+mn-lt"/>
            </a:endParaRPr>
          </a:p>
          <a:p>
            <a:r>
              <a:rPr lang="en-US" b="1" dirty="0">
                <a:solidFill>
                  <a:srgbClr val="C0392B"/>
                </a:solidFill>
                <a:latin typeface="+mn-lt"/>
              </a:rPr>
              <a:t>Incentivos mal diseñados:</a:t>
            </a:r>
            <a:endParaRPr lang="en-US" dirty="0">
              <a:latin typeface="+mn-lt"/>
            </a:endParaRPr>
          </a:p>
          <a:p>
            <a:r>
              <a:rPr lang="en-US" dirty="0">
                <a:solidFill>
                  <a:srgbClr val="CADCFC"/>
                </a:solidFill>
                <a:latin typeface="+mn-lt"/>
              </a:rPr>
              <a:t>bonos, ascensos y permanencia en el empleo dependían exclusivamente de alcanzar cuotas de venta.</a:t>
            </a:r>
            <a:endParaRPr lang="en-US" dirty="0">
              <a:latin typeface="+mn-lt"/>
            </a:endParaRPr>
          </a:p>
          <a:p>
            <a:endParaRPr lang="en-US" dirty="0">
              <a:latin typeface="+mn-lt"/>
            </a:endParaRPr>
          </a:p>
        </p:txBody>
      </p:sp>
      <p:sp>
        <p:nvSpPr>
          <p:cNvPr id="16" name="Shape 14"/>
          <p:cNvSpPr/>
          <p:nvPr/>
        </p:nvSpPr>
        <p:spPr>
          <a:xfrm>
            <a:off x="5989320" y="1274626"/>
            <a:ext cx="3020568" cy="5240474"/>
          </a:xfrm>
          <a:prstGeom prst="rect">
            <a:avLst/>
          </a:prstGeom>
          <a:solidFill>
            <a:srgbClr val="162050"/>
          </a:solidFill>
          <a:ln w="12700">
            <a:solidFill>
              <a:srgbClr val="162050"/>
            </a:solidFill>
            <a:prstDash val="solid"/>
          </a:ln>
          <a:effectLst>
            <a:outerShdw blurRad="101600" dist="38100" dir="8100000" algn="bl" rotWithShape="0">
              <a:srgbClr val="000000">
                <a:alpha val="25000"/>
              </a:srgbClr>
            </a:outerShdw>
          </a:effectLst>
        </p:spPr>
        <p:txBody>
          <a:bodyPr/>
          <a:lstStyle/>
          <a:p>
            <a:endParaRPr lang="en-US">
              <a:latin typeface="+mn-lt"/>
            </a:endParaRPr>
          </a:p>
        </p:txBody>
      </p:sp>
      <p:sp>
        <p:nvSpPr>
          <p:cNvPr id="18" name="Text 16"/>
          <p:cNvSpPr/>
          <p:nvPr/>
        </p:nvSpPr>
        <p:spPr>
          <a:xfrm>
            <a:off x="5989320" y="1323518"/>
            <a:ext cx="2651760" cy="523951"/>
          </a:xfrm>
          <a:prstGeom prst="rect">
            <a:avLst/>
          </a:prstGeom>
          <a:noFill/>
          <a:ln/>
        </p:spPr>
        <p:txBody>
          <a:bodyPr wrap="square" lIns="0" tIns="0" rIns="0" bIns="0" rtlCol="0" anchor="ctr"/>
          <a:lstStyle/>
          <a:p>
            <a:pPr algn="ctr"/>
            <a:r>
              <a:rPr lang="en-US" sz="2000" b="1" dirty="0">
                <a:solidFill>
                  <a:srgbClr val="2ECC71"/>
                </a:solidFill>
                <a:latin typeface="+mn-lt"/>
              </a:rPr>
              <a:t>LA LECCIÓN</a:t>
            </a:r>
            <a:endParaRPr lang="en-US" sz="2000" dirty="0">
              <a:latin typeface="+mn-lt"/>
            </a:endParaRPr>
          </a:p>
        </p:txBody>
      </p:sp>
      <p:sp>
        <p:nvSpPr>
          <p:cNvPr id="19" name="Text 17"/>
          <p:cNvSpPr/>
          <p:nvPr/>
        </p:nvSpPr>
        <p:spPr>
          <a:xfrm>
            <a:off x="6208776" y="1758124"/>
            <a:ext cx="2651760" cy="2423160"/>
          </a:xfrm>
          <a:prstGeom prst="rect">
            <a:avLst/>
          </a:prstGeom>
          <a:noFill/>
          <a:ln/>
        </p:spPr>
        <p:txBody>
          <a:bodyPr wrap="square" lIns="0" tIns="0" rIns="0" bIns="0" rtlCol="0" anchor="t"/>
          <a:lstStyle/>
          <a:p>
            <a:r>
              <a:rPr lang="en-US" sz="1600" dirty="0">
                <a:solidFill>
                  <a:srgbClr val="CADCFC"/>
                </a:solidFill>
                <a:latin typeface="+mn-lt"/>
              </a:rPr>
              <a:t>Los </a:t>
            </a:r>
            <a:r>
              <a:rPr lang="en-US" sz="1600" dirty="0" err="1">
                <a:solidFill>
                  <a:srgbClr val="CADCFC"/>
                </a:solidFill>
                <a:latin typeface="+mn-lt"/>
              </a:rPr>
              <a:t>empleados</a:t>
            </a:r>
            <a:r>
              <a:rPr lang="en-US" sz="1600" dirty="0">
                <a:solidFill>
                  <a:srgbClr val="CADCFC"/>
                </a:solidFill>
                <a:latin typeface="+mn-lt"/>
              </a:rPr>
              <a:t> </a:t>
            </a:r>
            <a:r>
              <a:rPr lang="en-US" sz="1600" dirty="0" err="1">
                <a:solidFill>
                  <a:srgbClr val="CADCFC"/>
                </a:solidFill>
                <a:latin typeface="+mn-lt"/>
              </a:rPr>
              <a:t>hicieron</a:t>
            </a:r>
            <a:r>
              <a:rPr lang="en-US" sz="1600" dirty="0">
                <a:solidFill>
                  <a:srgbClr val="CADCFC"/>
                </a:solidFill>
                <a:latin typeface="+mn-lt"/>
              </a:rPr>
              <a:t> </a:t>
            </a:r>
            <a:r>
              <a:rPr lang="en-US" sz="1600" dirty="0" err="1">
                <a:solidFill>
                  <a:srgbClr val="CADCFC"/>
                </a:solidFill>
                <a:latin typeface="+mn-lt"/>
              </a:rPr>
              <a:t>exactamente</a:t>
            </a:r>
            <a:r>
              <a:rPr lang="en-US" sz="1600" dirty="0">
                <a:solidFill>
                  <a:srgbClr val="CADCFC"/>
                </a:solidFill>
                <a:latin typeface="+mn-lt"/>
              </a:rPr>
              <a:t> </a:t>
            </a:r>
            <a:r>
              <a:rPr lang="en-US" sz="1600" b="1" dirty="0">
                <a:solidFill>
                  <a:srgbClr val="FFFFFF"/>
                </a:solidFill>
                <a:latin typeface="+mn-lt"/>
              </a:rPr>
              <a:t>lo </a:t>
            </a:r>
            <a:r>
              <a:rPr lang="en-US" sz="1600" b="1" dirty="0" err="1">
                <a:solidFill>
                  <a:srgbClr val="FFFFFF"/>
                </a:solidFill>
                <a:latin typeface="+mn-lt"/>
              </a:rPr>
              <a:t>que</a:t>
            </a:r>
            <a:r>
              <a:rPr lang="en-US" sz="1600" b="1" dirty="0">
                <a:solidFill>
                  <a:srgbClr val="FFFFFF"/>
                </a:solidFill>
                <a:latin typeface="+mn-lt"/>
              </a:rPr>
              <a:t> </a:t>
            </a:r>
            <a:r>
              <a:rPr lang="en-US" sz="1600" b="1" dirty="0" err="1">
                <a:solidFill>
                  <a:srgbClr val="FFFFFF"/>
                </a:solidFill>
                <a:latin typeface="+mn-lt"/>
              </a:rPr>
              <a:t>el</a:t>
            </a:r>
            <a:r>
              <a:rPr lang="en-US" sz="1600" b="1" dirty="0">
                <a:solidFill>
                  <a:srgbClr val="FFFFFF"/>
                </a:solidFill>
                <a:latin typeface="+mn-lt"/>
              </a:rPr>
              <a:t> </a:t>
            </a:r>
            <a:r>
              <a:rPr lang="en-US" sz="1600" b="1" dirty="0" err="1">
                <a:solidFill>
                  <a:srgbClr val="FFFFFF"/>
                </a:solidFill>
                <a:latin typeface="+mn-lt"/>
              </a:rPr>
              <a:t>sistema</a:t>
            </a:r>
            <a:r>
              <a:rPr lang="en-US" sz="1600" b="1" dirty="0">
                <a:solidFill>
                  <a:srgbClr val="FFFFFF"/>
                </a:solidFill>
                <a:latin typeface="+mn-lt"/>
              </a:rPr>
              <a:t> </a:t>
            </a:r>
            <a:r>
              <a:rPr lang="en-US" sz="1600" b="1" dirty="0" err="1">
                <a:solidFill>
                  <a:srgbClr val="FFFFFF"/>
                </a:solidFill>
                <a:latin typeface="+mn-lt"/>
              </a:rPr>
              <a:t>premiaba</a:t>
            </a:r>
            <a:r>
              <a:rPr lang="en-US" sz="1600" dirty="0">
                <a:solidFill>
                  <a:srgbClr val="CADCFC"/>
                </a:solidFill>
                <a:latin typeface="+mn-lt"/>
              </a:rPr>
              <a:t>: </a:t>
            </a:r>
            <a:r>
              <a:rPr lang="en-US" sz="1600" dirty="0" err="1">
                <a:solidFill>
                  <a:srgbClr val="CADCFC"/>
                </a:solidFill>
                <a:latin typeface="+mn-lt"/>
              </a:rPr>
              <a:t>abrieron</a:t>
            </a:r>
            <a:r>
              <a:rPr lang="en-US" sz="1600" dirty="0">
                <a:solidFill>
                  <a:srgbClr val="CADCFC"/>
                </a:solidFill>
                <a:latin typeface="+mn-lt"/>
              </a:rPr>
              <a:t> </a:t>
            </a:r>
            <a:r>
              <a:rPr lang="en-US" sz="1600" b="1" dirty="0">
                <a:solidFill>
                  <a:srgbClr val="FFFFFF"/>
                </a:solidFill>
                <a:latin typeface="+mn-lt"/>
              </a:rPr>
              <a:t>3,5 </a:t>
            </a:r>
            <a:r>
              <a:rPr lang="en-US" sz="1600" b="1" dirty="0" err="1">
                <a:solidFill>
                  <a:srgbClr val="FFFFFF"/>
                </a:solidFill>
                <a:latin typeface="+mn-lt"/>
              </a:rPr>
              <a:t>millones</a:t>
            </a:r>
            <a:r>
              <a:rPr lang="en-US" sz="1600" b="1" dirty="0">
                <a:solidFill>
                  <a:srgbClr val="FFFFFF"/>
                </a:solidFill>
                <a:latin typeface="+mn-lt"/>
              </a:rPr>
              <a:t> de </a:t>
            </a:r>
            <a:r>
              <a:rPr lang="en-US" sz="1600" b="1" dirty="0" err="1">
                <a:solidFill>
                  <a:srgbClr val="FFFFFF"/>
                </a:solidFill>
                <a:latin typeface="+mn-lt"/>
              </a:rPr>
              <a:t>cuentas</a:t>
            </a:r>
            <a:r>
              <a:rPr lang="en-US" sz="1600" b="1" dirty="0">
                <a:solidFill>
                  <a:srgbClr val="FFFFFF"/>
                </a:solidFill>
                <a:latin typeface="+mn-lt"/>
              </a:rPr>
              <a:t> falsas</a:t>
            </a:r>
            <a:r>
              <a:rPr lang="en-US" sz="1600" dirty="0">
                <a:solidFill>
                  <a:srgbClr val="CADCFC"/>
                </a:solidFill>
                <a:latin typeface="+mn-lt"/>
              </a:rPr>
              <a:t> sin </a:t>
            </a:r>
            <a:r>
              <a:rPr lang="en-US" sz="1600" dirty="0" err="1">
                <a:solidFill>
                  <a:srgbClr val="CADCFC"/>
                </a:solidFill>
                <a:latin typeface="+mn-lt"/>
              </a:rPr>
              <a:t>autorización</a:t>
            </a:r>
            <a:r>
              <a:rPr lang="en-US" sz="1600" dirty="0">
                <a:solidFill>
                  <a:srgbClr val="CADCFC"/>
                </a:solidFill>
                <a:latin typeface="+mn-lt"/>
              </a:rPr>
              <a:t> del </a:t>
            </a:r>
            <a:r>
              <a:rPr lang="en-US" sz="1600" dirty="0" err="1">
                <a:solidFill>
                  <a:srgbClr val="CADCFC"/>
                </a:solidFill>
                <a:latin typeface="+mn-lt"/>
              </a:rPr>
              <a:t>cliente</a:t>
            </a:r>
            <a:r>
              <a:rPr lang="en-US" sz="1600" dirty="0">
                <a:solidFill>
                  <a:srgbClr val="CADCFC"/>
                </a:solidFill>
                <a:latin typeface="+mn-lt"/>
              </a:rPr>
              <a:t>.</a:t>
            </a:r>
            <a:endParaRPr lang="en-US" sz="1600" dirty="0">
              <a:latin typeface="+mn-lt"/>
            </a:endParaRPr>
          </a:p>
          <a:p>
            <a:r>
              <a:rPr lang="en-US" sz="1600" dirty="0">
                <a:solidFill>
                  <a:srgbClr val="CADCFC"/>
                </a:solidFill>
                <a:latin typeface="+mn-lt"/>
              </a:rPr>
              <a:t>El CEO Stumpf exhortó durante años a la integridad.</a:t>
            </a:r>
            <a:endParaRPr lang="en-US" sz="1600" dirty="0">
              <a:latin typeface="+mn-lt"/>
            </a:endParaRPr>
          </a:p>
          <a:p>
            <a:r>
              <a:rPr lang="en-US" sz="1600" b="1" dirty="0">
                <a:solidFill>
                  <a:srgbClr val="FFFFFF"/>
                </a:solidFill>
                <a:latin typeface="+mn-lt"/>
              </a:rPr>
              <a:t>Nadie lo creyó</a:t>
            </a:r>
            <a:r>
              <a:rPr lang="en-US" sz="1600" dirty="0">
                <a:solidFill>
                  <a:srgbClr val="CADCFC"/>
                </a:solidFill>
                <a:latin typeface="+mn-lt"/>
              </a:rPr>
              <a:t>: el sistema de compensación decía lo contrario.</a:t>
            </a:r>
            <a:endParaRPr lang="en-US" sz="1600" dirty="0">
              <a:latin typeface="+mn-lt"/>
            </a:endParaRPr>
          </a:p>
          <a:p>
            <a:endParaRPr lang="en-US" sz="1600" dirty="0">
              <a:latin typeface="+mn-lt"/>
            </a:endParaRPr>
          </a:p>
          <a:p>
            <a:r>
              <a:rPr lang="en-US" sz="1600" b="1" dirty="0">
                <a:solidFill>
                  <a:srgbClr val="2ECC71"/>
                </a:solidFill>
                <a:latin typeface="+mn-lt"/>
              </a:rPr>
              <a:t>Resolución:</a:t>
            </a:r>
            <a:endParaRPr lang="en-US" sz="1600" dirty="0">
              <a:latin typeface="+mn-lt"/>
            </a:endParaRPr>
          </a:p>
          <a:p>
            <a:r>
              <a:rPr lang="en-US" sz="1600" dirty="0">
                <a:solidFill>
                  <a:srgbClr val="CADCFC"/>
                </a:solidFill>
                <a:latin typeface="+mn-lt"/>
              </a:rPr>
              <a:t>USD 3.000 M en multas, CEO reemplazado, 5.300 empleados despedidos, cuotas de venta eliminadas en 2017.</a:t>
            </a:r>
            <a:endParaRPr lang="en-US" sz="1600" dirty="0">
              <a:latin typeface="+mn-lt"/>
            </a:endParaRPr>
          </a:p>
          <a:p>
            <a:r>
              <a:rPr lang="en-US" sz="1600" b="1" dirty="0">
                <a:solidFill>
                  <a:srgbClr val="FFFFFF"/>
                </a:solidFill>
                <a:latin typeface="+mn-lt"/>
              </a:rPr>
              <a:t>El Fed bloqueó el crecimiento del banco </a:t>
            </a:r>
            <a:r>
              <a:rPr lang="en-US" sz="1600" dirty="0">
                <a:solidFill>
                  <a:srgbClr val="CADCFC"/>
                </a:solidFill>
                <a:latin typeface="+mn-lt"/>
              </a:rPr>
              <a:t> hasta que reformara su gobernanza —una sanción sin </a:t>
            </a:r>
            <a:r>
              <a:rPr lang="en-US" sz="1600" dirty="0" err="1">
                <a:solidFill>
                  <a:srgbClr val="CADCFC"/>
                </a:solidFill>
                <a:latin typeface="+mn-lt"/>
              </a:rPr>
              <a:t>precedentes</a:t>
            </a:r>
            <a:r>
              <a:rPr lang="en-US" sz="1600" dirty="0">
                <a:solidFill>
                  <a:srgbClr val="CADCFC"/>
                </a:solidFill>
                <a:latin typeface="+mn-lt"/>
              </a:rPr>
              <a:t>.</a:t>
            </a:r>
            <a:endParaRPr lang="en-US" sz="1600" dirty="0">
              <a:latin typeface="+mn-lt"/>
            </a:endParaRPr>
          </a:p>
        </p:txBody>
      </p:sp>
    </p:spTree>
    <p:extLst>
      <p:ext uri="{BB962C8B-B14F-4D97-AF65-F5344CB8AC3E}">
        <p14:creationId xmlns:p14="http://schemas.microsoft.com/office/powerpoint/2010/main" val="4031648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El Liderazgo ante los Modelos de Comportamiento</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None/>
            </a:pPr>
            <a:r>
              <a:rPr lang="es-AR" sz="2800" b="1" dirty="0">
                <a:solidFill>
                  <a:srgbClr val="8B0000"/>
                </a:solidFill>
                <a:latin typeface="Tw Cen MT"/>
              </a:rPr>
              <a:t>Entender los modelos permite tres capacidades clave:</a:t>
            </a:r>
          </a:p>
          <a:p>
            <a:pPr>
              <a:spcBef>
                <a:spcPts val="500"/>
              </a:spcBef>
              <a:buNone/>
            </a:pPr>
            <a:endParaRPr lang="es-AR" sz="2800" b="1" dirty="0">
              <a:solidFill>
                <a:srgbClr val="8B0000"/>
              </a:solidFill>
              <a:latin typeface="Tw Cen MT"/>
            </a:endParaRPr>
          </a:p>
          <a:p>
            <a:pPr>
              <a:spcBef>
                <a:spcPts val="500"/>
              </a:spcBef>
              <a:buChar char="■"/>
            </a:pPr>
            <a:r>
              <a:rPr lang="es-AR" sz="2800" dirty="0">
                <a:solidFill>
                  <a:srgbClr val="222222"/>
                </a:solidFill>
                <a:latin typeface="Tw Cen MT"/>
              </a:rPr>
              <a:t>DESCRIBIR sistématicamente cómo se comportan las distintas personas en el ámbito laboral.</a:t>
            </a:r>
          </a:p>
          <a:p>
            <a:pPr>
              <a:spcBef>
                <a:spcPts val="500"/>
              </a:spcBef>
              <a:buChar char="■"/>
            </a:pPr>
            <a:endParaRPr lang="es-AR" sz="2800" dirty="0">
              <a:solidFill>
                <a:srgbClr val="222222"/>
              </a:solidFill>
              <a:latin typeface="Tw Cen MT"/>
            </a:endParaRPr>
          </a:p>
          <a:p>
            <a:pPr>
              <a:spcBef>
                <a:spcPts val="500"/>
              </a:spcBef>
              <a:buChar char="■"/>
            </a:pPr>
            <a:r>
              <a:rPr lang="es-AR" sz="2800" dirty="0">
                <a:solidFill>
                  <a:srgbClr val="222222"/>
                </a:solidFill>
                <a:latin typeface="Tw Cen MT"/>
              </a:rPr>
              <a:t>PREDECIR el comportamiento futuro de los empleados para emprender acciones preventivas.</a:t>
            </a:r>
          </a:p>
          <a:p>
            <a:pPr>
              <a:spcBef>
                <a:spcPts val="500"/>
              </a:spcBef>
              <a:buChar char="■"/>
            </a:pPr>
            <a:endParaRPr lang="es-AR" sz="2800" dirty="0">
              <a:solidFill>
                <a:srgbClr val="222222"/>
              </a:solidFill>
              <a:latin typeface="Tw Cen MT"/>
            </a:endParaRPr>
          </a:p>
          <a:p>
            <a:pPr>
              <a:spcBef>
                <a:spcPts val="500"/>
              </a:spcBef>
              <a:buChar char="■"/>
            </a:pPr>
            <a:r>
              <a:rPr lang="es-AR" sz="2800" dirty="0">
                <a:solidFill>
                  <a:srgbClr val="222222"/>
                </a:solidFill>
                <a:latin typeface="Tw Cen MT"/>
              </a:rPr>
              <a:t>INFLUIR en el comportamiento, el desarrollo de habilidades, el trabajo en equipo y el logro de objetivos.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14523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52B788"/>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TALLER - El Problema de las Propinas</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pPr>
            <a:r>
              <a:rPr lang="es-AR" sz="2800" b="1" dirty="0">
                <a:solidFill>
                  <a:srgbClr val="E8F5E9"/>
                </a:solidFill>
                <a:latin typeface="Tw Cen MT"/>
              </a:rPr>
              <a:t>Si la gente actúa principalmente por interés económico...</a:t>
            </a:r>
          </a:p>
          <a:p>
            <a:pPr>
              <a:spcBef>
                <a:spcPts val="500"/>
              </a:spcBef>
            </a:pPr>
            <a:endParaRPr lang="es-AR" sz="2800" b="1" dirty="0">
              <a:solidFill>
                <a:srgbClr val="E8F5E9"/>
              </a:solidFill>
              <a:latin typeface="Tw Cen MT"/>
            </a:endParaRPr>
          </a:p>
          <a:p>
            <a:pPr>
              <a:spcBef>
                <a:spcPts val="500"/>
              </a:spcBef>
            </a:pPr>
            <a:r>
              <a:rPr lang="es-AR" sz="2800" dirty="0">
                <a:solidFill>
                  <a:srgbClr val="E8F5E9"/>
                </a:solidFill>
                <a:latin typeface="Tw Cen MT"/>
              </a:rPr>
              <a:t>Entonces: ¿por qué se dejan propinas en los restaurantes?</a:t>
            </a:r>
          </a:p>
          <a:p>
            <a:pPr>
              <a:spcBef>
                <a:spcPts val="500"/>
              </a:spcBef>
            </a:pPr>
            <a:endParaRPr lang="es-AR" sz="2800" dirty="0">
              <a:solidFill>
                <a:srgbClr val="E8F5E9"/>
              </a:solidFill>
              <a:latin typeface="Tw Cen MT"/>
            </a:endParaRPr>
          </a:p>
          <a:p>
            <a:pPr>
              <a:spcBef>
                <a:spcPts val="500"/>
              </a:spcBef>
            </a:pPr>
            <a:r>
              <a:rPr lang="es-AR" sz="2800" dirty="0">
                <a:solidFill>
                  <a:srgbClr val="E8F5E9"/>
                </a:solidFill>
                <a:latin typeface="Tw Cen MT"/>
              </a:rPr>
              <a:t>¿Comparen: restaurantes en autopistas vs. Restaurantes cercanos a lugares de trabajo. ¿Dónde esperan propinas más altas? ¿Por qué?</a:t>
            </a:r>
          </a:p>
          <a:p>
            <a:pPr>
              <a:spcBef>
                <a:spcPts val="500"/>
              </a:spcBef>
            </a:pPr>
            <a:r>
              <a:rPr lang="es-AR" sz="2800" dirty="0">
                <a:solidFill>
                  <a:srgbClr val="E8F5E9"/>
                </a:solidFill>
                <a:latin typeface="Tw Cen MT"/>
              </a:rPr>
              <a:t> </a:t>
            </a:r>
          </a:p>
          <a:p>
            <a:pPr>
              <a:spcBef>
                <a:spcPts val="500"/>
              </a:spcBef>
            </a:pPr>
            <a:r>
              <a:rPr lang="es-AR" sz="2800" dirty="0">
                <a:solidFill>
                  <a:srgbClr val="E8F5E9"/>
                </a:solidFill>
                <a:latin typeface="Tw Cen MT"/>
              </a:rPr>
              <a:t>¿Mesa de 4 personas vs. mesa de 20 personas. ¿Cuál dejará mayor propina en proporción? ¿Por qué?</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Objetivos de los Stakeholders</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Char char="■"/>
            </a:pPr>
            <a:r>
              <a:rPr lang="es-AR" sz="2800" b="1" dirty="0">
                <a:solidFill>
                  <a:srgbClr val="222222"/>
                </a:solidFill>
                <a:latin typeface="Tw Cen MT"/>
              </a:rPr>
              <a:t>Los intereses de los distintos stakeholders NO están alineados a priori.</a:t>
            </a:r>
          </a:p>
          <a:p>
            <a:pPr>
              <a:spcBef>
                <a:spcPts val="500"/>
              </a:spcBef>
              <a:buChar char="■"/>
            </a:pPr>
            <a:endParaRPr lang="es-AR" sz="2800" b="1" dirty="0">
              <a:solidFill>
                <a:srgbClr val="222222"/>
              </a:solidFill>
              <a:latin typeface="Tw Cen MT"/>
            </a:endParaRPr>
          </a:p>
          <a:p>
            <a:pPr>
              <a:spcBef>
                <a:spcPts val="500"/>
              </a:spcBef>
              <a:buNone/>
            </a:pPr>
            <a:r>
              <a:rPr lang="es-AR" sz="2800" b="1" dirty="0">
                <a:solidFill>
                  <a:srgbClr val="8B0000"/>
                </a:solidFill>
                <a:latin typeface="Tw Cen MT"/>
              </a:rPr>
              <a:t>Principales stakeholders:</a:t>
            </a:r>
          </a:p>
          <a:p>
            <a:pPr marL="457200" indent="-228600">
              <a:spcBef>
                <a:spcPts val="200"/>
              </a:spcBef>
              <a:buChar char="▸"/>
            </a:pPr>
            <a:r>
              <a:rPr lang="es-AR" sz="2800" dirty="0">
                <a:solidFill>
                  <a:srgbClr val="222222"/>
                </a:solidFill>
                <a:latin typeface="Tw Cen MT"/>
              </a:rPr>
              <a:t>Accionistas: maximizar valor de la empresa.</a:t>
            </a:r>
          </a:p>
          <a:p>
            <a:pPr marL="457200" indent="-228600">
              <a:spcBef>
                <a:spcPts val="200"/>
              </a:spcBef>
              <a:buChar char="▸"/>
            </a:pPr>
            <a:r>
              <a:rPr lang="es-AR" sz="2800" dirty="0">
                <a:solidFill>
                  <a:srgbClr val="222222"/>
                </a:solidFill>
                <a:latin typeface="Tw Cen MT"/>
              </a:rPr>
              <a:t>Clientes: mejor calidad al menor precio.</a:t>
            </a:r>
          </a:p>
          <a:p>
            <a:pPr marL="457200" indent="-228600">
              <a:spcBef>
                <a:spcPts val="200"/>
              </a:spcBef>
              <a:buChar char="▸"/>
            </a:pPr>
            <a:r>
              <a:rPr lang="es-AR" sz="2800" dirty="0">
                <a:solidFill>
                  <a:srgbClr val="222222"/>
                </a:solidFill>
                <a:latin typeface="Tw Cen MT"/>
              </a:rPr>
              <a:t>Empleados: salarios, estabilidad, desarrollo.</a:t>
            </a:r>
          </a:p>
          <a:p>
            <a:pPr marL="457200" indent="-228600">
              <a:spcBef>
                <a:spcPts val="200"/>
              </a:spcBef>
              <a:buChar char="▸"/>
            </a:pPr>
            <a:r>
              <a:rPr lang="es-AR" sz="2800" dirty="0">
                <a:solidFill>
                  <a:srgbClr val="222222"/>
                </a:solidFill>
                <a:latin typeface="Tw Cen MT"/>
              </a:rPr>
              <a:t>Socios y proveedores: relaciones estables y rentables.</a:t>
            </a:r>
          </a:p>
          <a:p>
            <a:pPr marL="457200" indent="-228600">
              <a:spcBef>
                <a:spcPts val="200"/>
              </a:spcBef>
              <a:buChar char="▸"/>
            </a:pPr>
            <a:r>
              <a:rPr lang="es-AR" sz="2800" dirty="0">
                <a:solidFill>
                  <a:srgbClr val="222222"/>
                </a:solidFill>
                <a:latin typeface="Tw Cen MT"/>
              </a:rPr>
              <a:t>Sociedad: empleo, sustentabilidad, impacto positivo.</a:t>
            </a:r>
          </a:p>
          <a:p>
            <a:pPr>
              <a:spcBef>
                <a:spcPts val="500"/>
              </a:spcBef>
              <a:buChar char="■"/>
            </a:pPr>
            <a:r>
              <a:rPr lang="es-AR" sz="2800" dirty="0">
                <a:solidFill>
                  <a:srgbClr val="222222"/>
                </a:solidFill>
                <a:latin typeface="Tw Cen MT"/>
              </a:rPr>
              <a:t>Los gerentes financieros deben hacer trade-offs: ganar en una dimensión implica ceder en otra.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Conflictos de Intereses — El Problema</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Char char="■"/>
            </a:pPr>
            <a:r>
              <a:rPr lang="es-AR" sz="2400" dirty="0">
                <a:solidFill>
                  <a:srgbClr val="222222"/>
                </a:solidFill>
                <a:latin typeface="Tw Cen MT"/>
              </a:rPr>
              <a:t>Contradicción entre los intereses de diversos actores y los recursos para alcanzarlos.</a:t>
            </a:r>
          </a:p>
          <a:p>
            <a:pPr>
              <a:spcBef>
                <a:spcPts val="500"/>
              </a:spcBef>
              <a:buChar char="■"/>
            </a:pPr>
            <a:r>
              <a:rPr lang="es-AR" sz="2400" dirty="0">
                <a:solidFill>
                  <a:srgbClr val="222222"/>
                </a:solidFill>
                <a:latin typeface="Tw Cen MT"/>
              </a:rPr>
              <a:t>Son uno de los temas más polémicos y problemáticos en la práctica comercial.</a:t>
            </a:r>
          </a:p>
          <a:p>
            <a:pPr>
              <a:spcBef>
                <a:spcPts val="500"/>
              </a:spcBef>
              <a:buChar char="■"/>
            </a:pPr>
            <a:r>
              <a:rPr lang="es-AR" sz="2400" dirty="0">
                <a:solidFill>
                  <a:srgbClr val="222222"/>
                </a:solidFill>
                <a:latin typeface="Tw Cen MT"/>
              </a:rPr>
              <a:t>Se presentan en todos los tipos societarios y afectan eficiencia y eficacia organizacional.</a:t>
            </a:r>
          </a:p>
          <a:p>
            <a:pPr>
              <a:spcBef>
                <a:spcPts val="500"/>
              </a:spcBef>
              <a:buChar char="■"/>
            </a:pPr>
            <a:endParaRPr lang="es-AR" sz="2400" dirty="0">
              <a:solidFill>
                <a:srgbClr val="222222"/>
              </a:solidFill>
              <a:latin typeface="Tw Cen MT"/>
            </a:endParaRPr>
          </a:p>
          <a:p>
            <a:pPr>
              <a:spcBef>
                <a:spcPts val="500"/>
              </a:spcBef>
              <a:buNone/>
            </a:pPr>
            <a:r>
              <a:rPr lang="es-AR" sz="2400" b="1" dirty="0">
                <a:solidFill>
                  <a:srgbClr val="8B0000"/>
                </a:solidFill>
                <a:latin typeface="Tw Cen MT"/>
              </a:rPr>
              <a:t>QUÉ ES UN CONFLICTO DE INTERESES</a:t>
            </a:r>
          </a:p>
          <a:p>
            <a:pPr>
              <a:spcBef>
                <a:spcPts val="500"/>
              </a:spcBef>
              <a:buChar char="■"/>
            </a:pPr>
            <a:r>
              <a:rPr lang="es-AR" sz="2400" b="1" dirty="0">
                <a:solidFill>
                  <a:srgbClr val="222222"/>
                </a:solidFill>
                <a:latin typeface="Tw Cen MT"/>
              </a:rPr>
              <a:t>Es lo que se pierde porque las personas no hacen lo que deberían hacer en forma eficiente.</a:t>
            </a:r>
          </a:p>
          <a:p>
            <a:pPr>
              <a:spcBef>
                <a:spcPts val="500"/>
              </a:spcBef>
              <a:buChar char="■"/>
            </a:pPr>
            <a:r>
              <a:rPr lang="es-AR" sz="2400" dirty="0">
                <a:solidFill>
                  <a:srgbClr val="222222"/>
                </a:solidFill>
                <a:latin typeface="Tw Cen MT"/>
              </a:rPr>
              <a:t>Una solución posible: agrandar la torta — crear valor suficiente para satisfacer a todos.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14523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52B788"/>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TALLER — Lincoln Electric</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pPr>
            <a:r>
              <a:rPr lang="es-AR" sz="2800" dirty="0">
                <a:solidFill>
                  <a:srgbClr val="E8F5E9"/>
                </a:solidFill>
                <a:latin typeface="Tw Cen MT"/>
              </a:rPr>
              <a:t>Lincoln Electric, fabricante de soldadoras de arco eléctrico, basa la remuneración de sus empleados en un amplio sistema de trabajo a destajo: se paga por número de unidades producidas.</a:t>
            </a:r>
          </a:p>
          <a:p>
            <a:pPr>
              <a:spcBef>
                <a:spcPts val="500"/>
              </a:spcBef>
            </a:pPr>
            <a:endParaRPr lang="es-AR" sz="2800" dirty="0">
              <a:solidFill>
                <a:srgbClr val="E8F5E9"/>
              </a:solidFill>
              <a:latin typeface="Tw Cen MT"/>
            </a:endParaRPr>
          </a:p>
          <a:p>
            <a:pPr>
              <a:spcBef>
                <a:spcPts val="500"/>
              </a:spcBef>
            </a:pPr>
            <a:r>
              <a:rPr lang="es-AR" sz="2800" b="1" dirty="0">
                <a:solidFill>
                  <a:srgbClr val="E8F5E9"/>
                </a:solidFill>
                <a:latin typeface="Tw Cen MT"/>
              </a:rPr>
              <a:t>¿Será aplicable esta política en TODOS los sectores de la empresa?</a:t>
            </a:r>
          </a:p>
          <a:p>
            <a:pPr marL="457200" indent="-228600">
              <a:spcBef>
                <a:spcPts val="200"/>
              </a:spcBef>
              <a:buChar char="▸"/>
            </a:pPr>
            <a:r>
              <a:rPr lang="es-AR" sz="2800" dirty="0">
                <a:solidFill>
                  <a:srgbClr val="E8F5E9"/>
                </a:solidFill>
                <a:latin typeface="Tw Cen MT"/>
              </a:rPr>
              <a:t>Piensen en: ¿investigación y desarrollo? ¿atención al cliente? ¿administración?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14523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52B788"/>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TALLER — Sus Propios Objetivos</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pPr>
            <a:r>
              <a:rPr lang="es-AR" sz="2800" b="1" dirty="0">
                <a:solidFill>
                  <a:srgbClr val="E8F5E9"/>
                </a:solidFill>
                <a:latin typeface="Tw Cen MT"/>
              </a:rPr>
              <a:t>Reflexionen individualmente:</a:t>
            </a:r>
          </a:p>
          <a:p>
            <a:pPr>
              <a:spcBef>
                <a:spcPts val="500"/>
              </a:spcBef>
              <a:buChar char="■"/>
            </a:pPr>
            <a:r>
              <a:rPr lang="es-AR" sz="2800" dirty="0">
                <a:solidFill>
                  <a:srgbClr val="E8F5E9"/>
                </a:solidFill>
                <a:latin typeface="Tw Cen MT"/>
              </a:rPr>
              <a:t>¿Cuáles son sus objetivos personales en relación con su trabajo?</a:t>
            </a:r>
          </a:p>
          <a:p>
            <a:pPr>
              <a:spcBef>
                <a:spcPts val="500"/>
              </a:spcBef>
              <a:buChar char="■"/>
            </a:pPr>
            <a:endParaRPr lang="es-AR" sz="2800" dirty="0">
              <a:solidFill>
                <a:srgbClr val="E8F5E9"/>
              </a:solidFill>
              <a:latin typeface="Tw Cen MT"/>
            </a:endParaRPr>
          </a:p>
          <a:p>
            <a:pPr>
              <a:spcBef>
                <a:spcPts val="500"/>
              </a:spcBef>
              <a:buChar char="■"/>
            </a:pPr>
            <a:r>
              <a:rPr lang="es-AR" sz="2800" dirty="0">
                <a:solidFill>
                  <a:srgbClr val="E8F5E9"/>
                </a:solidFill>
                <a:latin typeface="Tw Cen MT"/>
              </a:rPr>
              <a:t>¿Y los objetivos personales de sus compañeros?</a:t>
            </a:r>
          </a:p>
          <a:p>
            <a:pPr>
              <a:spcBef>
                <a:spcPts val="500"/>
              </a:spcBef>
              <a:buChar char="■"/>
            </a:pPr>
            <a:r>
              <a:rPr lang="es-AR" sz="2800" dirty="0">
                <a:solidFill>
                  <a:srgbClr val="E8F5E9"/>
                </a:solidFill>
                <a:latin typeface="Tw Cen MT"/>
              </a:rPr>
              <a:t>¿Y los de su jefe?</a:t>
            </a:r>
          </a:p>
          <a:p>
            <a:pPr>
              <a:spcBef>
                <a:spcPts val="500"/>
              </a:spcBef>
              <a:buChar char="■"/>
            </a:pPr>
            <a:endParaRPr lang="es-AR" sz="2800" dirty="0">
              <a:solidFill>
                <a:srgbClr val="E8F5E9"/>
              </a:solidFill>
              <a:latin typeface="Tw Cen MT"/>
            </a:endParaRPr>
          </a:p>
          <a:p>
            <a:pPr algn="ctr">
              <a:spcBef>
                <a:spcPts val="500"/>
              </a:spcBef>
            </a:pPr>
            <a:r>
              <a:rPr lang="es-AR" sz="2800" b="1" dirty="0">
                <a:solidFill>
                  <a:srgbClr val="E8F5E9"/>
                </a:solidFill>
                <a:latin typeface="Tw Cen MT"/>
              </a:rPr>
              <a:t>¿Están alineados? ¿Existen conflictos?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Conflictos de Intereses - Síntesis</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Char char="■"/>
            </a:pPr>
            <a:r>
              <a:rPr lang="es-AR" sz="2800" b="1" dirty="0">
                <a:solidFill>
                  <a:srgbClr val="222222"/>
                </a:solidFill>
                <a:latin typeface="Tw Cen MT"/>
              </a:rPr>
              <a:t>Los intereses de los distintos stakeholders no están alineados entre sí a priori.</a:t>
            </a:r>
          </a:p>
          <a:p>
            <a:pPr>
              <a:spcBef>
                <a:spcPts val="500"/>
              </a:spcBef>
              <a:buChar char="■"/>
            </a:pPr>
            <a:r>
              <a:rPr lang="es-AR" sz="2800" dirty="0">
                <a:solidFill>
                  <a:srgbClr val="222222"/>
                </a:solidFill>
                <a:latin typeface="Tw Cen MT"/>
              </a:rPr>
              <a:t>La generación de valor se reduce debido a los conflictos de intereses.</a:t>
            </a:r>
          </a:p>
          <a:p>
            <a:pPr>
              <a:spcBef>
                <a:spcPts val="500"/>
              </a:spcBef>
              <a:buChar char="■"/>
            </a:pPr>
            <a:r>
              <a:rPr lang="es-AR" sz="2800" dirty="0">
                <a:solidFill>
                  <a:srgbClr val="222222"/>
                </a:solidFill>
                <a:latin typeface="Tw Cen MT"/>
              </a:rPr>
              <a:t>Es en el interés de todos encontrar mecanismos que reduzcan los conflictos.</a:t>
            </a:r>
          </a:p>
          <a:p>
            <a:pPr>
              <a:spcBef>
                <a:spcPts val="500"/>
              </a:spcBef>
              <a:buChar char="■"/>
            </a:pPr>
            <a:endParaRPr lang="es-AR" sz="2800" dirty="0">
              <a:solidFill>
                <a:srgbClr val="222222"/>
              </a:solidFill>
              <a:latin typeface="Tw Cen MT"/>
            </a:endParaRPr>
          </a:p>
          <a:p>
            <a:pPr>
              <a:spcBef>
                <a:spcPts val="500"/>
              </a:spcBef>
              <a:buNone/>
            </a:pPr>
            <a:r>
              <a:rPr lang="es-AR" sz="2800" b="1" dirty="0">
                <a:solidFill>
                  <a:srgbClr val="8B0000"/>
                </a:solidFill>
                <a:latin typeface="Tw Cen MT"/>
              </a:rPr>
              <a:t>LAS REGLAS COMO HERRAMIENTA</a:t>
            </a:r>
          </a:p>
          <a:p>
            <a:pPr>
              <a:spcBef>
                <a:spcPts val="500"/>
              </a:spcBef>
              <a:buChar char="■"/>
            </a:pPr>
            <a:r>
              <a:rPr lang="es-AR" sz="2800" dirty="0">
                <a:solidFill>
                  <a:srgbClr val="222222"/>
                </a:solidFill>
                <a:latin typeface="Tw Cen MT"/>
              </a:rPr>
              <a:t>Las reglas son restricciones al comportamiento, pero también generan señales e incentivos positivos hacia cierto tipo de accionar.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AC85EFE9-7F4A-8927-54C2-7695BC103417}"/>
            </a:ext>
          </a:extLst>
        </p:cNvPr>
        <p:cNvGrpSpPr/>
        <p:nvPr/>
      </p:nvGrpSpPr>
      <p:grpSpPr>
        <a:xfrm>
          <a:off x="0" y="0"/>
          <a:ext cx="0" cy="0"/>
          <a:chOff x="0" y="0"/>
          <a:chExt cx="0" cy="0"/>
        </a:xfrm>
      </p:grpSpPr>
      <p:sp>
        <p:nvSpPr>
          <p:cNvPr id="10" name="TitleBar">
            <a:extLst>
              <a:ext uri="{FF2B5EF4-FFF2-40B4-BE49-F238E27FC236}">
                <a16:creationId xmlns:a16="http://schemas.microsoft.com/office/drawing/2014/main" id="{E6F43E21-BACE-6A29-600D-385B747BE639}"/>
              </a:ext>
            </a:extLst>
          </p:cNvPr>
          <p:cNvSpPr>
            <a:spLocks noGrp="1"/>
          </p:cNvSpPr>
          <p:nvPr/>
        </p:nvSpPr>
        <p:spPr>
          <a:xfrm>
            <a:off x="0" y="0"/>
            <a:ext cx="9144000" cy="1066800"/>
          </a:xfrm>
          <a:prstGeom prst="rect">
            <a:avLst/>
          </a:prstGeom>
          <a:solidFill>
            <a:srgbClr val="145230"/>
          </a:solidFill>
          <a:ln>
            <a:noFill/>
          </a:ln>
        </p:spPr>
        <p:txBody>
          <a:bodyPr/>
          <a:lstStyle/>
          <a:p>
            <a:endParaRPr/>
          </a:p>
        </p:txBody>
      </p:sp>
      <p:sp>
        <p:nvSpPr>
          <p:cNvPr id="11" name="AccentLine">
            <a:extLst>
              <a:ext uri="{FF2B5EF4-FFF2-40B4-BE49-F238E27FC236}">
                <a16:creationId xmlns:a16="http://schemas.microsoft.com/office/drawing/2014/main" id="{CC0451B1-80BA-55EF-63CF-A1290C310D01}"/>
              </a:ext>
            </a:extLst>
          </p:cNvPr>
          <p:cNvSpPr>
            <a:spLocks noGrp="1"/>
          </p:cNvSpPr>
          <p:nvPr/>
        </p:nvSpPr>
        <p:spPr>
          <a:xfrm>
            <a:off x="0" y="1066800"/>
            <a:ext cx="9144000" cy="76200"/>
          </a:xfrm>
          <a:prstGeom prst="rect">
            <a:avLst/>
          </a:prstGeom>
          <a:solidFill>
            <a:srgbClr val="52B788"/>
          </a:solidFill>
          <a:ln>
            <a:noFill/>
          </a:ln>
        </p:spPr>
        <p:txBody>
          <a:bodyPr/>
          <a:lstStyle/>
          <a:p>
            <a:endParaRPr/>
          </a:p>
        </p:txBody>
      </p:sp>
      <p:sp>
        <p:nvSpPr>
          <p:cNvPr id="12" name="TitleText">
            <a:extLst>
              <a:ext uri="{FF2B5EF4-FFF2-40B4-BE49-F238E27FC236}">
                <a16:creationId xmlns:a16="http://schemas.microsoft.com/office/drawing/2014/main" id="{8A54B2F7-CD23-7460-E2F4-0761FAC8228F}"/>
              </a:ext>
            </a:extLst>
          </p:cNvPr>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TALLER — Caso Xerox: El Sistema Experto</a:t>
            </a:r>
          </a:p>
        </p:txBody>
      </p:sp>
      <p:sp>
        <p:nvSpPr>
          <p:cNvPr id="13" name="Content">
            <a:extLst>
              <a:ext uri="{FF2B5EF4-FFF2-40B4-BE49-F238E27FC236}">
                <a16:creationId xmlns:a16="http://schemas.microsoft.com/office/drawing/2014/main" id="{506FC2E3-AB1F-1FBB-410E-702CE966C588}"/>
              </a:ext>
            </a:extLst>
          </p:cNvPr>
          <p:cNvSpPr txBox="1"/>
          <p:nvPr/>
        </p:nvSpPr>
        <p:spPr>
          <a:xfrm>
            <a:off x="228600" y="1120541"/>
            <a:ext cx="8686800" cy="5486400"/>
          </a:xfrm>
          <a:prstGeom prst="rect">
            <a:avLst/>
          </a:prstGeom>
          <a:noFill/>
          <a:ln>
            <a:noFill/>
          </a:ln>
        </p:spPr>
        <p:txBody>
          <a:bodyPr wrap="square" lIns="91440" tIns="91440" rIns="91440" bIns="91440" anchor="t"/>
          <a:lstStyle/>
          <a:p>
            <a:pPr>
              <a:spcBef>
                <a:spcPts val="500"/>
              </a:spcBef>
              <a:buNone/>
            </a:pPr>
            <a:r>
              <a:rPr lang="es-AR" b="1" dirty="0">
                <a:solidFill>
                  <a:srgbClr val="52B788"/>
                </a:solidFill>
                <a:latin typeface="+mn-lt"/>
              </a:rPr>
              <a:t>CONTEXTO</a:t>
            </a:r>
          </a:p>
          <a:p>
            <a:pPr marL="0" indent="0" eaLnBrk="1" hangingPunct="1">
              <a:lnSpc>
                <a:spcPct val="90000"/>
              </a:lnSpc>
              <a:buNone/>
            </a:pPr>
            <a:r>
              <a:rPr lang="es-AR" altLang="es-AR" dirty="0">
                <a:solidFill>
                  <a:schemeClr val="bg1">
                    <a:lumMod val="95000"/>
                  </a:schemeClr>
                </a:solidFill>
                <a:latin typeface="+mn-lt"/>
              </a:rPr>
              <a:t>Xerox desarrolló un sistema para ayudar a los empleados del </a:t>
            </a:r>
            <a:r>
              <a:rPr lang="es-AR" altLang="es-AR" dirty="0" err="1">
                <a:solidFill>
                  <a:schemeClr val="bg1">
                    <a:lumMod val="95000"/>
                  </a:schemeClr>
                </a:solidFill>
                <a:latin typeface="+mn-lt"/>
              </a:rPr>
              <a:t>call</a:t>
            </a:r>
            <a:r>
              <a:rPr lang="es-AR" altLang="es-AR" dirty="0">
                <a:solidFill>
                  <a:schemeClr val="bg1">
                    <a:lumMod val="95000"/>
                  </a:schemeClr>
                </a:solidFill>
                <a:latin typeface="+mn-lt"/>
              </a:rPr>
              <a:t> center del centro de servicios de la compañía que atendían a los clientes que buscaban ayuda para resolver sus problemas con las fotocopiadoras. El sistema fue pensado para que el empleado que atendía el llamado haga una serie de preguntas con el fin de diagnosticar y resolver el problema. Si el problema no se resuelve, se </a:t>
            </a:r>
            <a:r>
              <a:rPr lang="es-AR" altLang="es-AR" dirty="0" err="1">
                <a:solidFill>
                  <a:schemeClr val="bg1">
                    <a:lumMod val="95000"/>
                  </a:schemeClr>
                </a:solidFill>
                <a:latin typeface="+mn-lt"/>
              </a:rPr>
              <a:t>envíaba</a:t>
            </a:r>
            <a:r>
              <a:rPr lang="es-AR" altLang="es-AR" dirty="0">
                <a:solidFill>
                  <a:schemeClr val="bg1">
                    <a:lumMod val="95000"/>
                  </a:schemeClr>
                </a:solidFill>
                <a:latin typeface="+mn-lt"/>
              </a:rPr>
              <a:t> a un representante a ver la fotocopiadora. </a:t>
            </a:r>
          </a:p>
          <a:p>
            <a:pPr marL="0" indent="0" eaLnBrk="1" hangingPunct="1">
              <a:lnSpc>
                <a:spcPct val="90000"/>
              </a:lnSpc>
              <a:buNone/>
            </a:pPr>
            <a:endParaRPr lang="es-AR" b="1" dirty="0">
              <a:solidFill>
                <a:schemeClr val="bg1">
                  <a:lumMod val="95000"/>
                </a:schemeClr>
              </a:solidFill>
              <a:latin typeface="+mn-lt"/>
            </a:endParaRPr>
          </a:p>
          <a:p>
            <a:pPr marL="0" indent="0">
              <a:lnSpc>
                <a:spcPct val="90000"/>
              </a:lnSpc>
              <a:spcBef>
                <a:spcPts val="500"/>
              </a:spcBef>
            </a:pPr>
            <a:r>
              <a:rPr lang="es-AR" b="1" dirty="0">
                <a:solidFill>
                  <a:srgbClr val="52B788"/>
                </a:solidFill>
                <a:latin typeface="+mn-lt"/>
              </a:rPr>
              <a:t>DESARROLLO DEL SISTEMA</a:t>
            </a:r>
          </a:p>
          <a:p>
            <a:pPr eaLnBrk="1" hangingPunct="1">
              <a:lnSpc>
                <a:spcPct val="90000"/>
              </a:lnSpc>
            </a:pPr>
            <a:r>
              <a:rPr lang="es-AR" altLang="es-AR" dirty="0">
                <a:solidFill>
                  <a:schemeClr val="bg1">
                    <a:lumMod val="95000"/>
                  </a:schemeClr>
                </a:solidFill>
                <a:latin typeface="+mn-lt"/>
              </a:rPr>
              <a:t>El sistema experto va acumulando experiencia, lo que se logra cuando el representante llama al centro de servicios después de la visita y reporta la solución. </a:t>
            </a:r>
            <a:endParaRPr lang="es-AR" b="1" dirty="0">
              <a:solidFill>
                <a:schemeClr val="bg1">
                  <a:lumMod val="95000"/>
                </a:schemeClr>
              </a:solidFill>
              <a:latin typeface="+mn-lt"/>
            </a:endParaRPr>
          </a:p>
          <a:p>
            <a:pPr marL="0" indent="0" eaLnBrk="1" hangingPunct="1">
              <a:lnSpc>
                <a:spcPct val="90000"/>
              </a:lnSpc>
              <a:buNone/>
            </a:pPr>
            <a:endParaRPr lang="es-AR" b="1" dirty="0">
              <a:solidFill>
                <a:schemeClr val="bg1">
                  <a:lumMod val="95000"/>
                </a:schemeClr>
              </a:solidFill>
              <a:latin typeface="+mn-lt"/>
            </a:endParaRPr>
          </a:p>
          <a:p>
            <a:pPr marL="0" indent="0" eaLnBrk="1" hangingPunct="1">
              <a:lnSpc>
                <a:spcPct val="90000"/>
              </a:lnSpc>
              <a:buNone/>
            </a:pPr>
            <a:r>
              <a:rPr lang="es-AR" b="1" dirty="0">
                <a:solidFill>
                  <a:srgbClr val="52B788"/>
                </a:solidFill>
                <a:latin typeface="+mn-lt"/>
              </a:rPr>
              <a:t>EL ESQUEMA DE INCENTIVOS</a:t>
            </a:r>
          </a:p>
          <a:p>
            <a:pPr marL="457200" indent="-228600">
              <a:spcBef>
                <a:spcPts val="200"/>
              </a:spcBef>
              <a:buChar char="▸"/>
            </a:pPr>
            <a:r>
              <a:rPr lang="es-AR" dirty="0">
                <a:solidFill>
                  <a:srgbClr val="E8F5E9"/>
                </a:solidFill>
                <a:latin typeface="+mn-lt"/>
              </a:rPr>
              <a:t>Personal telefónico: remuneración basada en número de consultas resueltas.</a:t>
            </a:r>
          </a:p>
          <a:p>
            <a:pPr marL="457200" indent="-228600">
              <a:spcBef>
                <a:spcPts val="200"/>
              </a:spcBef>
              <a:buChar char="▸"/>
            </a:pPr>
            <a:r>
              <a:rPr lang="es-AR" dirty="0">
                <a:solidFill>
                  <a:srgbClr val="E8F5E9"/>
                </a:solidFill>
                <a:latin typeface="+mn-lt"/>
              </a:rPr>
              <a:t>Representantes: remuneración basada en número de visitas realizadas.</a:t>
            </a:r>
          </a:p>
          <a:p>
            <a:pPr marL="457200" indent="-228600">
              <a:spcBef>
                <a:spcPts val="200"/>
              </a:spcBef>
              <a:buChar char="▸"/>
            </a:pPr>
            <a:endParaRPr lang="es-AR" dirty="0">
              <a:solidFill>
                <a:srgbClr val="E8F5E9"/>
              </a:solidFill>
              <a:latin typeface="+mn-lt"/>
            </a:endParaRPr>
          </a:p>
          <a:p>
            <a:pPr>
              <a:spcBef>
                <a:spcPts val="500"/>
              </a:spcBef>
              <a:buNone/>
            </a:pPr>
            <a:r>
              <a:rPr lang="es-AR" b="1" dirty="0">
                <a:solidFill>
                  <a:srgbClr val="52B788"/>
                </a:solidFill>
                <a:latin typeface="+mn-lt"/>
              </a:rPr>
              <a:t>PREGUNTAS</a:t>
            </a:r>
          </a:p>
          <a:p>
            <a:pPr>
              <a:spcBef>
                <a:spcPts val="500"/>
              </a:spcBef>
            </a:pPr>
            <a:r>
              <a:rPr lang="es-AR" b="1" dirty="0">
                <a:solidFill>
                  <a:srgbClr val="E8F5E9"/>
                </a:solidFill>
                <a:latin typeface="+mn-lt"/>
              </a:rPr>
              <a:t>¿Qué creen que sucedió con quienes atendían los llamados, con lo técnicos y con el sistema? </a:t>
            </a:r>
          </a:p>
          <a:p>
            <a:pPr>
              <a:spcBef>
                <a:spcPts val="500"/>
              </a:spcBef>
            </a:pPr>
            <a:r>
              <a:rPr lang="es-AR" b="1" dirty="0">
                <a:solidFill>
                  <a:srgbClr val="E8F5E9"/>
                </a:solidFill>
                <a:latin typeface="+mn-lt"/>
              </a:rPr>
              <a:t>¿Están alineados los incentivos con el objetivo de la empresa?</a:t>
            </a:r>
          </a:p>
        </p:txBody>
      </p:sp>
    </p:spTree>
    <p:extLst>
      <p:ext uri="{BB962C8B-B14F-4D97-AF65-F5344CB8AC3E}">
        <p14:creationId xmlns:p14="http://schemas.microsoft.com/office/powerpoint/2010/main" val="21181681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A3050"/>
        </a:solidFill>
        <a:effectLst/>
      </p:bgPr>
    </p:bg>
    <p:spTree>
      <p:nvGrpSpPr>
        <p:cNvPr id="1" name=""/>
        <p:cNvGrpSpPr/>
        <p:nvPr/>
      </p:nvGrpSpPr>
      <p:grpSpPr>
        <a:xfrm>
          <a:off x="0" y="0"/>
          <a:ext cx="0" cy="0"/>
          <a:chOff x="0" y="0"/>
          <a:chExt cx="0" cy="0"/>
        </a:xfrm>
      </p:grpSpPr>
      <p:sp>
        <p:nvSpPr>
          <p:cNvPr id="10" name="TitleBar"/>
          <p:cNvSpPr>
            <a:spLocks noGrp="1"/>
          </p:cNvSpPr>
          <p:nvPr/>
        </p:nvSpPr>
        <p:spPr>
          <a:xfrm>
            <a:off x="0" y="0"/>
            <a:ext cx="9144000" cy="1752600"/>
          </a:xfrm>
          <a:prstGeom prst="rect">
            <a:avLst/>
          </a:prstGeom>
          <a:solidFill>
            <a:srgbClr val="11204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Caso: La Crisis de las Hipotecas — El Incentivo Perverso</a:t>
            </a:r>
          </a:p>
        </p:txBody>
      </p:sp>
      <p:sp>
        <p:nvSpPr>
          <p:cNvPr id="13" name="Content"/>
          <p:cNvSpPr txBox="1"/>
          <p:nvPr/>
        </p:nvSpPr>
        <p:spPr>
          <a:xfrm>
            <a:off x="228600" y="1524000"/>
            <a:ext cx="8534400" cy="4572000"/>
          </a:xfrm>
          <a:prstGeom prst="rect">
            <a:avLst/>
          </a:prstGeom>
          <a:noFill/>
          <a:ln>
            <a:noFill/>
          </a:ln>
        </p:spPr>
        <p:txBody>
          <a:bodyPr wrap="square" lIns="91440" tIns="91440" rIns="91440" bIns="91440" anchor="t"/>
          <a:lstStyle/>
          <a:p>
            <a:pPr>
              <a:spcBef>
                <a:spcPts val="500"/>
              </a:spcBef>
              <a:buNone/>
            </a:pPr>
            <a:r>
              <a:rPr lang="es-AR" sz="2000" b="1" dirty="0">
                <a:solidFill>
                  <a:srgbClr val="D4A017"/>
                </a:solidFill>
                <a:latin typeface="Tw Cen MT"/>
              </a:rPr>
              <a:t>QUÉ SON LAS HIPOTECAS SUBPRIME</a:t>
            </a:r>
          </a:p>
          <a:p>
            <a:pPr>
              <a:spcBef>
                <a:spcPts val="500"/>
              </a:spcBef>
              <a:buChar char="■"/>
            </a:pPr>
            <a:r>
              <a:rPr lang="es-AR" sz="2000" dirty="0">
                <a:solidFill>
                  <a:srgbClr val="E8F0FF"/>
                </a:solidFill>
                <a:latin typeface="Tw Cen MT"/>
              </a:rPr>
              <a:t>Se otorgan a prestatarios que no califican para tasas estándar por problemas crediticios o falta de ingresos demostrables.</a:t>
            </a:r>
          </a:p>
          <a:p>
            <a:pPr>
              <a:spcBef>
                <a:spcPts val="500"/>
              </a:spcBef>
              <a:buChar char="■"/>
            </a:pPr>
            <a:r>
              <a:rPr lang="es-AR" sz="2000" dirty="0">
                <a:solidFill>
                  <a:srgbClr val="E8F0FF"/>
                </a:solidFill>
                <a:latin typeface="Tw Cen MT"/>
              </a:rPr>
              <a:t>En 2007: más de 7,5 millones de hipotecas subprime pendientes.</a:t>
            </a:r>
          </a:p>
          <a:p>
            <a:pPr>
              <a:spcBef>
                <a:spcPts val="500"/>
              </a:spcBef>
              <a:buNone/>
            </a:pPr>
            <a:endParaRPr lang="es-AR" sz="2000" b="1" dirty="0">
              <a:solidFill>
                <a:srgbClr val="D4A017"/>
              </a:solidFill>
              <a:latin typeface="Tw Cen MT"/>
            </a:endParaRPr>
          </a:p>
          <a:p>
            <a:pPr>
              <a:spcBef>
                <a:spcPts val="500"/>
              </a:spcBef>
              <a:buNone/>
            </a:pPr>
            <a:r>
              <a:rPr lang="es-AR" sz="2000" b="1" dirty="0">
                <a:solidFill>
                  <a:srgbClr val="D4A017"/>
                </a:solidFill>
                <a:latin typeface="Tw Cen MT"/>
              </a:rPr>
              <a:t>EL INCENTIVO CLAVE</a:t>
            </a:r>
          </a:p>
          <a:p>
            <a:pPr>
              <a:spcBef>
                <a:spcPts val="500"/>
              </a:spcBef>
              <a:buChar char="■"/>
            </a:pPr>
            <a:r>
              <a:rPr lang="es-AR" sz="2000" b="1" dirty="0">
                <a:solidFill>
                  <a:srgbClr val="E8F0FF"/>
                </a:solidFill>
                <a:latin typeface="Tw Cen MT"/>
              </a:rPr>
              <a:t>Los brokers hipotecarios NO prestan su propio dinero.</a:t>
            </a:r>
          </a:p>
          <a:p>
            <a:pPr>
              <a:spcBef>
                <a:spcPts val="500"/>
              </a:spcBef>
              <a:buChar char="■"/>
            </a:pPr>
            <a:r>
              <a:rPr lang="es-AR" sz="2000" dirty="0">
                <a:solidFill>
                  <a:srgbClr val="E8F0FF"/>
                </a:solidFill>
                <a:latin typeface="Tw Cen MT"/>
              </a:rPr>
              <a:t>Se les paga por préstamos originados, que luego se venden a otros inversores.</a:t>
            </a:r>
          </a:p>
          <a:p>
            <a:pPr>
              <a:spcBef>
                <a:spcPts val="500"/>
              </a:spcBef>
              <a:buChar char="■"/>
            </a:pPr>
            <a:r>
              <a:rPr lang="es-AR" sz="2000" b="1" dirty="0">
                <a:solidFill>
                  <a:srgbClr val="E8F0FF"/>
                </a:solidFill>
                <a:latin typeface="Tw Cen MT"/>
              </a:rPr>
              <a:t>Cuantos más préstamos originan, mayor es su compensación.</a:t>
            </a:r>
          </a:p>
          <a:p>
            <a:pPr>
              <a:spcBef>
                <a:spcPts val="500"/>
              </a:spcBef>
              <a:buChar char="■"/>
            </a:pPr>
            <a:endParaRPr lang="es-AR" sz="2000" b="1" dirty="0">
              <a:solidFill>
                <a:srgbClr val="E8F0FF"/>
              </a:solidFill>
              <a:latin typeface="Tw Cen MT"/>
            </a:endParaRPr>
          </a:p>
          <a:p>
            <a:pPr>
              <a:spcBef>
                <a:spcPts val="500"/>
              </a:spcBef>
              <a:buNone/>
            </a:pPr>
            <a:r>
              <a:rPr lang="es-AR" sz="2000" b="1" dirty="0">
                <a:solidFill>
                  <a:srgbClr val="D4A017"/>
                </a:solidFill>
                <a:latin typeface="Tw Cen MT"/>
              </a:rPr>
              <a:t>→ ¿A quién le importa la calidad del préstamo si quien asume el riesgo es otro?</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A3050"/>
        </a:solidFill>
        <a:effectLst/>
      </p:bgPr>
    </p:bg>
    <p:spTree>
      <p:nvGrpSpPr>
        <p:cNvPr id="1" name=""/>
        <p:cNvGrpSpPr/>
        <p:nvPr/>
      </p:nvGrpSpPr>
      <p:grpSpPr>
        <a:xfrm>
          <a:off x="0" y="0"/>
          <a:ext cx="0" cy="0"/>
          <a:chOff x="0" y="0"/>
          <a:chExt cx="0" cy="0"/>
        </a:xfrm>
      </p:grpSpPr>
      <p:sp>
        <p:nvSpPr>
          <p:cNvPr id="10" name="TitleBar"/>
          <p:cNvSpPr>
            <a:spLocks noGrp="1"/>
          </p:cNvSpPr>
          <p:nvPr/>
        </p:nvSpPr>
        <p:spPr>
          <a:xfrm>
            <a:off x="0" y="0"/>
            <a:ext cx="9144000" cy="1828800"/>
          </a:xfrm>
          <a:prstGeom prst="rect">
            <a:avLst/>
          </a:prstGeom>
          <a:solidFill>
            <a:srgbClr val="11204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Caso: Crisis Hipotecas — Las Consecuencias</a:t>
            </a:r>
          </a:p>
        </p:txBody>
      </p:sp>
      <p:sp>
        <p:nvSpPr>
          <p:cNvPr id="13" name="Content"/>
          <p:cNvSpPr txBox="1"/>
          <p:nvPr/>
        </p:nvSpPr>
        <p:spPr>
          <a:xfrm>
            <a:off x="381000" y="1406893"/>
            <a:ext cx="8534400" cy="5486400"/>
          </a:xfrm>
          <a:prstGeom prst="rect">
            <a:avLst/>
          </a:prstGeom>
          <a:noFill/>
          <a:ln>
            <a:noFill/>
          </a:ln>
        </p:spPr>
        <p:txBody>
          <a:bodyPr wrap="square" lIns="91440" tIns="91440" rIns="91440" bIns="91440" anchor="t"/>
          <a:lstStyle/>
          <a:p>
            <a:pPr>
              <a:spcBef>
                <a:spcPts val="500"/>
              </a:spcBef>
              <a:buNone/>
            </a:pPr>
            <a:r>
              <a:rPr lang="es-AR" sz="2000" b="1" dirty="0">
                <a:solidFill>
                  <a:srgbClr val="D4A017"/>
                </a:solidFill>
                <a:latin typeface="Tw Cen MT"/>
              </a:rPr>
              <a:t>LO QUE OCURRIÓ</a:t>
            </a:r>
          </a:p>
          <a:p>
            <a:pPr>
              <a:spcBef>
                <a:spcPts val="500"/>
              </a:spcBef>
              <a:buChar char="■"/>
            </a:pPr>
            <a:r>
              <a:rPr lang="es-AR" sz="2000" dirty="0">
                <a:solidFill>
                  <a:srgbClr val="E8F0FF"/>
                </a:solidFill>
                <a:latin typeface="Tw Cen MT"/>
              </a:rPr>
              <a:t>Los incentivos financieros y la falta de controles produjeron miles de millones en fraudes.</a:t>
            </a:r>
          </a:p>
          <a:p>
            <a:pPr>
              <a:spcBef>
                <a:spcPts val="500"/>
              </a:spcBef>
              <a:buChar char="■"/>
            </a:pPr>
            <a:r>
              <a:rPr lang="es-AR" sz="2000" dirty="0">
                <a:solidFill>
                  <a:srgbClr val="E8F0FF"/>
                </a:solidFill>
                <a:latin typeface="Tw Cen MT"/>
              </a:rPr>
              <a:t>Redes de prestatarios fraudulentos: reclutaban personas con buen crédito, inflaban valores de propiedades y se quedaban con la diferencia.</a:t>
            </a:r>
          </a:p>
          <a:p>
            <a:pPr>
              <a:spcBef>
                <a:spcPts val="500"/>
              </a:spcBef>
              <a:buChar char="■"/>
            </a:pPr>
            <a:r>
              <a:rPr lang="es-AR" sz="2000" dirty="0">
                <a:solidFill>
                  <a:srgbClr val="E8F0FF"/>
                </a:solidFill>
                <a:latin typeface="Tw Cen MT"/>
              </a:rPr>
              <a:t>Los ejecutivos bancarios declararon que no previeron el problema.</a:t>
            </a:r>
          </a:p>
          <a:p>
            <a:pPr>
              <a:spcBef>
                <a:spcPts val="500"/>
              </a:spcBef>
              <a:buNone/>
            </a:pPr>
            <a:endParaRPr lang="es-AR" sz="2000" b="1" dirty="0">
              <a:solidFill>
                <a:srgbClr val="D4A017"/>
              </a:solidFill>
              <a:latin typeface="Tw Cen MT"/>
            </a:endParaRPr>
          </a:p>
          <a:p>
            <a:pPr>
              <a:spcBef>
                <a:spcPts val="500"/>
              </a:spcBef>
              <a:buNone/>
            </a:pPr>
            <a:r>
              <a:rPr lang="es-AR" sz="2000" b="1" dirty="0">
                <a:solidFill>
                  <a:srgbClr val="D4A017"/>
                </a:solidFill>
                <a:latin typeface="Tw Cen MT"/>
              </a:rPr>
              <a:t>LA LECCIÓN</a:t>
            </a:r>
          </a:p>
          <a:p>
            <a:pPr>
              <a:spcBef>
                <a:spcPts val="500"/>
              </a:spcBef>
              <a:buChar char="■"/>
            </a:pPr>
            <a:r>
              <a:rPr lang="es-AR" sz="2000" b="1" dirty="0">
                <a:solidFill>
                  <a:srgbClr val="E8F0FF"/>
                </a:solidFill>
                <a:latin typeface="Tw Cen MT"/>
              </a:rPr>
              <a:t>Un análisis cuidadoso de la organización y su arquitectura subyacente (incentivos y asignaciones de decisiones) puede ayudar a anticipar estos problemas y desarrollar mecanismos para reducir su gravedad.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10" name="TitleBar"/>
          <p:cNvSpPr>
            <a:spLocks noGrp="1"/>
          </p:cNvSpPr>
          <p:nvPr/>
        </p:nvSpPr>
        <p:spPr>
          <a:xfrm>
            <a:off x="0" y="0"/>
            <a:ext cx="9144000" cy="1600200"/>
          </a:xfrm>
          <a:prstGeom prst="rect">
            <a:avLst/>
          </a:prstGeom>
          <a:solidFill>
            <a:srgbClr val="14523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52B788"/>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TALLER — Caso Interwest Healthcare</a:t>
            </a:r>
          </a:p>
        </p:txBody>
      </p:sp>
      <p:sp>
        <p:nvSpPr>
          <p:cNvPr id="13" name="Content"/>
          <p:cNvSpPr txBox="1"/>
          <p:nvPr/>
        </p:nvSpPr>
        <p:spPr>
          <a:xfrm>
            <a:off x="328061" y="1447800"/>
            <a:ext cx="8534400" cy="3657600"/>
          </a:xfrm>
          <a:prstGeom prst="rect">
            <a:avLst/>
          </a:prstGeom>
          <a:noFill/>
          <a:ln>
            <a:noFill/>
          </a:ln>
        </p:spPr>
        <p:txBody>
          <a:bodyPr wrap="square" lIns="91440" tIns="91440" rIns="91440" bIns="91440" anchor="t"/>
          <a:lstStyle/>
          <a:p>
            <a:pPr>
              <a:spcBef>
                <a:spcPts val="500"/>
              </a:spcBef>
              <a:buChar char="■"/>
            </a:pPr>
            <a:r>
              <a:rPr lang="es-AR" sz="2000" dirty="0">
                <a:solidFill>
                  <a:srgbClr val="E8F5E9"/>
                </a:solidFill>
                <a:latin typeface="Tw Cen MT"/>
              </a:rPr>
              <a:t>CONTEXTO: ONG dueña de 10 hospitales que se administran con un Gerente médico. CEO: Sara Manzoni. CFO: John Singh. </a:t>
            </a:r>
          </a:p>
          <a:p>
            <a:pPr>
              <a:spcBef>
                <a:spcPts val="500"/>
              </a:spcBef>
              <a:buChar char="■"/>
            </a:pPr>
            <a:endParaRPr lang="es-AR" sz="2000" b="1" dirty="0">
              <a:solidFill>
                <a:srgbClr val="E8F5E9"/>
              </a:solidFill>
              <a:latin typeface="Tw Cen MT"/>
            </a:endParaRPr>
          </a:p>
          <a:p>
            <a:pPr>
              <a:spcBef>
                <a:spcPts val="500"/>
              </a:spcBef>
              <a:buChar char="■"/>
            </a:pPr>
            <a:r>
              <a:rPr lang="es-AR" sz="2000" b="1" dirty="0">
                <a:solidFill>
                  <a:srgbClr val="E8F5E9"/>
                </a:solidFill>
                <a:latin typeface="Tw Cen MT"/>
              </a:rPr>
              <a:t>PROBLEMA: El personal hospitalario no ingresa datos correctamente en el sistema. Riesgo de perder fondos federales.</a:t>
            </a:r>
          </a:p>
          <a:p>
            <a:pPr>
              <a:spcBef>
                <a:spcPts val="500"/>
              </a:spcBef>
              <a:buChar char="■"/>
            </a:pPr>
            <a:endParaRPr lang="es-AR" sz="2000" b="1" dirty="0">
              <a:solidFill>
                <a:srgbClr val="E8F5E9"/>
              </a:solidFill>
              <a:latin typeface="Tw Cen MT"/>
            </a:endParaRPr>
          </a:p>
          <a:p>
            <a:pPr>
              <a:spcBef>
                <a:spcPts val="500"/>
              </a:spcBef>
              <a:buChar char="■"/>
            </a:pPr>
            <a:r>
              <a:rPr lang="es-AR" sz="2000" dirty="0">
                <a:solidFill>
                  <a:srgbClr val="E8F5E9"/>
                </a:solidFill>
                <a:latin typeface="Tw Cen MT"/>
              </a:rPr>
              <a:t>INTENTO: Retiro en resort para comunicar el problema. Los directores acusaron a Singh de burócrata; él los acusó a ellos de irresponsables. Después de 6 meses: el problema persiste.</a:t>
            </a:r>
          </a:p>
          <a:p>
            <a:pPr>
              <a:spcBef>
                <a:spcPts val="500"/>
              </a:spcBef>
              <a:buNone/>
            </a:pPr>
            <a:endParaRPr lang="es-AR" sz="2000" b="1" dirty="0">
              <a:solidFill>
                <a:srgbClr val="52B788"/>
              </a:solidFill>
              <a:latin typeface="Tw Cen MT"/>
            </a:endParaRPr>
          </a:p>
          <a:p>
            <a:pPr>
              <a:spcBef>
                <a:spcPts val="500"/>
              </a:spcBef>
              <a:buNone/>
            </a:pPr>
            <a:r>
              <a:rPr lang="es-AR" sz="2000" b="1" dirty="0">
                <a:solidFill>
                  <a:srgbClr val="52B788"/>
                </a:solidFill>
                <a:latin typeface="Tw Cen MT"/>
              </a:rPr>
              <a:t>CONSIGNAS</a:t>
            </a:r>
          </a:p>
          <a:p>
            <a:pPr>
              <a:spcBef>
                <a:spcPts val="500"/>
              </a:spcBef>
              <a:buChar char="■"/>
            </a:pPr>
            <a:r>
              <a:rPr lang="es-AR" sz="2000" dirty="0">
                <a:solidFill>
                  <a:srgbClr val="E8F5E9"/>
                </a:solidFill>
                <a:latin typeface="Tw Cen MT"/>
              </a:rPr>
              <a:t>¿Cuáles son los intereses de los Directores, del CFO y de la CEO?</a:t>
            </a:r>
          </a:p>
          <a:p>
            <a:pPr>
              <a:spcBef>
                <a:spcPts val="500"/>
              </a:spcBef>
              <a:buChar char="■"/>
            </a:pPr>
            <a:r>
              <a:rPr lang="es-AR" sz="2000" dirty="0">
                <a:solidFill>
                  <a:srgbClr val="E8F5E9"/>
                </a:solidFill>
                <a:latin typeface="Tw Cen MT"/>
              </a:rPr>
              <a:t>¿Los intereses están alineados?</a:t>
            </a:r>
          </a:p>
          <a:p>
            <a:pPr>
              <a:spcBef>
                <a:spcPts val="500"/>
              </a:spcBef>
              <a:buChar char="■"/>
            </a:pPr>
            <a:r>
              <a:rPr lang="es-AR" sz="2000" dirty="0">
                <a:solidFill>
                  <a:srgbClr val="E8F5E9"/>
                </a:solidFill>
                <a:latin typeface="Tw Cen MT"/>
              </a:rPr>
              <a:t>¿La empresa gana o pierde valor con esta dinámica?</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A3050"/>
        </a:solidFill>
        <a:effectLst/>
      </p:bgPr>
    </p:bg>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11204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Caso: Medicare — Incentivos en Medicina</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None/>
            </a:pPr>
            <a:r>
              <a:rPr lang="es-AR" sz="2400" b="1" dirty="0">
                <a:solidFill>
                  <a:srgbClr val="D4A017"/>
                </a:solidFill>
                <a:latin typeface="Tw Cen MT"/>
              </a:rPr>
              <a:t>LA PREMISA CUESTIONADA</a:t>
            </a:r>
          </a:p>
          <a:p>
            <a:pPr>
              <a:spcBef>
                <a:spcPts val="500"/>
              </a:spcBef>
            </a:pPr>
            <a:r>
              <a:rPr lang="es-AR" sz="2400" b="1" dirty="0">
                <a:solidFill>
                  <a:srgbClr val="E8F0FF"/>
                </a:solidFill>
                <a:latin typeface="Tw Cen MT"/>
              </a:rPr>
              <a:t>“Los médicos no se preocupan por el dinero porque están motivados para brindar la mejor atención a los pacientes.”</a:t>
            </a:r>
          </a:p>
          <a:p>
            <a:pPr>
              <a:spcBef>
                <a:spcPts val="500"/>
              </a:spcBef>
            </a:pPr>
            <a:r>
              <a:rPr lang="es-AR" sz="2400" dirty="0">
                <a:solidFill>
                  <a:srgbClr val="E8F0FF"/>
                </a:solidFill>
                <a:latin typeface="Tw Cen MT"/>
              </a:rPr>
              <a:t>¿Es verdad?</a:t>
            </a:r>
          </a:p>
          <a:p>
            <a:pPr>
              <a:spcBef>
                <a:spcPts val="500"/>
              </a:spcBef>
            </a:pPr>
            <a:endParaRPr lang="es-AR" sz="2400" dirty="0">
              <a:solidFill>
                <a:srgbClr val="E8F0FF"/>
              </a:solidFill>
              <a:latin typeface="Tw Cen MT"/>
            </a:endParaRPr>
          </a:p>
          <a:p>
            <a:pPr>
              <a:spcBef>
                <a:spcPts val="500"/>
              </a:spcBef>
              <a:buNone/>
            </a:pPr>
            <a:r>
              <a:rPr lang="es-AR" sz="2400" b="1" dirty="0">
                <a:solidFill>
                  <a:srgbClr val="D4A017"/>
                </a:solidFill>
                <a:latin typeface="Tw Cen MT"/>
              </a:rPr>
              <a:t>EL MECANISMO</a:t>
            </a:r>
          </a:p>
          <a:p>
            <a:pPr>
              <a:spcBef>
                <a:spcPts val="500"/>
              </a:spcBef>
            </a:pPr>
            <a:r>
              <a:rPr lang="es-AR" sz="2400" dirty="0">
                <a:solidFill>
                  <a:srgbClr val="E8F0FF"/>
                </a:solidFill>
                <a:latin typeface="Tw Cen MT"/>
              </a:rPr>
              <a:t>Las políticas de reembolso de Medicare permitían a los médicos ganar cientos de miles de dólares anuales en ganancias adicionales por medicamentos que ellos mismos administraban.</a:t>
            </a:r>
          </a:p>
          <a:p>
            <a:pPr>
              <a:spcBef>
                <a:spcPts val="500"/>
              </a:spcBef>
            </a:pPr>
            <a:r>
              <a:rPr lang="es-AR" sz="2400" dirty="0">
                <a:solidFill>
                  <a:srgbClr val="E8F0FF"/>
                </a:solidFill>
                <a:latin typeface="Tw Cen MT"/>
              </a:rPr>
              <a:t>Los médicos compraban los medicamentos y facturaban a Medicare - en lugar de que el paciente los obtenga en farmacias.</a:t>
            </a:r>
          </a:p>
          <a:p>
            <a:pPr>
              <a:spcBef>
                <a:spcPts val="500"/>
              </a:spcBef>
            </a:pPr>
            <a:r>
              <a:rPr lang="es-AR" sz="2400" b="1" dirty="0">
                <a:solidFill>
                  <a:srgbClr val="E8F0FF"/>
                </a:solidFill>
                <a:latin typeface="Tw Cen MT"/>
              </a:rPr>
              <a:t>Muchos oncolólogos ganaban más de U$1 millón por año sólo en ventas de medicamentos.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A3050"/>
        </a:solidFill>
        <a:effectLst/>
      </p:bgPr>
    </p:bg>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11204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Caso Medicare — La Respuesta del Mercado</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None/>
            </a:pPr>
            <a:r>
              <a:rPr lang="es-AR" sz="2000" b="1" dirty="0">
                <a:solidFill>
                  <a:srgbClr val="D4A017"/>
                </a:solidFill>
                <a:latin typeface="Tw Cen MT"/>
              </a:rPr>
              <a:t>LAS FARMACÉUTICAS ENTENDIERON EL SISTEMA</a:t>
            </a:r>
          </a:p>
          <a:p>
            <a:pPr>
              <a:spcBef>
                <a:spcPts val="500"/>
              </a:spcBef>
            </a:pPr>
            <a:r>
              <a:rPr lang="es-AR" sz="2000" dirty="0">
                <a:solidFill>
                  <a:srgbClr val="E8F0FF"/>
                </a:solidFill>
                <a:latin typeface="Tw Cen MT"/>
              </a:rPr>
              <a:t>Calculaban con precisión la ganancia que los médicos recibían al prescribir medicamentos específicos.</a:t>
            </a:r>
          </a:p>
          <a:p>
            <a:pPr>
              <a:spcBef>
                <a:spcPts val="500"/>
              </a:spcBef>
            </a:pPr>
            <a:r>
              <a:rPr lang="es-AR" sz="2000" dirty="0">
                <a:solidFill>
                  <a:srgbClr val="E8F0FF"/>
                </a:solidFill>
                <a:latin typeface="Tw Cen MT"/>
              </a:rPr>
              <a:t>Los representantes de ventas se aseguraban que los médicos conocieran cuándo sus productos estaban en la categoría de “alto beneficio”.</a:t>
            </a:r>
          </a:p>
          <a:p>
            <a:pPr>
              <a:spcBef>
                <a:spcPts val="500"/>
              </a:spcBef>
            </a:pPr>
            <a:r>
              <a:rPr lang="es-AR" sz="2000" dirty="0">
                <a:solidFill>
                  <a:srgbClr val="E8F0FF"/>
                </a:solidFill>
                <a:latin typeface="Tw Cen MT"/>
              </a:rPr>
              <a:t>Schering-Plough a sus representantes: les indicaban exactamente la ganancia por paciente que generaría cada medicamento.</a:t>
            </a:r>
          </a:p>
          <a:p>
            <a:pPr>
              <a:spcBef>
                <a:spcPts val="500"/>
              </a:spcBef>
            </a:pPr>
            <a:endParaRPr lang="es-AR" sz="2000" dirty="0">
              <a:solidFill>
                <a:srgbClr val="E8F0FF"/>
              </a:solidFill>
              <a:latin typeface="Tw Cen MT"/>
            </a:endParaRPr>
          </a:p>
          <a:p>
            <a:pPr>
              <a:spcBef>
                <a:spcPts val="500"/>
              </a:spcBef>
              <a:buNone/>
            </a:pPr>
            <a:r>
              <a:rPr lang="es-AR" sz="2000" b="1" dirty="0">
                <a:solidFill>
                  <a:srgbClr val="D4A017"/>
                </a:solidFill>
                <a:latin typeface="Tw Cen MT"/>
              </a:rPr>
              <a:t>LA LECCIÓN</a:t>
            </a:r>
          </a:p>
          <a:p>
            <a:pPr algn="ctr">
              <a:spcBef>
                <a:spcPts val="500"/>
              </a:spcBef>
            </a:pPr>
            <a:r>
              <a:rPr lang="es-AR" sz="2400" b="1" dirty="0">
                <a:solidFill>
                  <a:srgbClr val="E8F0FF"/>
                </a:solidFill>
                <a:latin typeface="Tw Cen MT"/>
              </a:rPr>
              <a:t>“La gente va donde está el dinero... le gustaría creer que es diferente en medicina, pero no es diferente.” (médico citado en el caso)</a:t>
            </a:r>
          </a:p>
          <a:p>
            <a:pPr algn="ctr">
              <a:spcBef>
                <a:spcPts val="500"/>
              </a:spcBef>
            </a:pPr>
            <a:r>
              <a:rPr lang="es-AR" sz="2400" b="1" dirty="0">
                <a:solidFill>
                  <a:srgbClr val="E8F0FF"/>
                </a:solidFill>
                <a:latin typeface="Tw Cen MT"/>
              </a:rPr>
              <a:t>El modelo REMM aplica en todos los sectores, incluso en medicina.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Rol del Conocimiento en las Organizaciones</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buNone/>
            </a:pPr>
            <a:r>
              <a:rPr lang="es-AR" sz="2400" b="1" dirty="0">
                <a:solidFill>
                  <a:srgbClr val="8B0000"/>
                </a:solidFill>
                <a:latin typeface="Tw Cen MT"/>
              </a:rPr>
              <a:t>Dos tipos fundamentales de conocimiento:</a:t>
            </a:r>
          </a:p>
          <a:p>
            <a:pPr>
              <a:spcBef>
                <a:spcPts val="500"/>
              </a:spcBef>
              <a:buChar char="■"/>
            </a:pPr>
            <a:r>
              <a:rPr lang="es-AR" sz="2400" b="1" dirty="0">
                <a:solidFill>
                  <a:srgbClr val="222222"/>
                </a:solidFill>
                <a:latin typeface="Tw Cen MT"/>
              </a:rPr>
              <a:t>CONOCIMIENTO GENERAL (científico, técnico, de reglas):</a:t>
            </a:r>
          </a:p>
          <a:p>
            <a:pPr marL="457200" indent="-228600">
              <a:spcBef>
                <a:spcPts val="200"/>
              </a:spcBef>
              <a:buChar char="▸"/>
            </a:pPr>
            <a:r>
              <a:rPr lang="es-AR" sz="2400" dirty="0">
                <a:solidFill>
                  <a:srgbClr val="222222"/>
                </a:solidFill>
                <a:latin typeface="Tw Cen MT"/>
              </a:rPr>
              <a:t>Es transferible. Si es el único relevante, la centralización de decisiones puede ser muy eficiente.</a:t>
            </a:r>
          </a:p>
          <a:p>
            <a:pPr>
              <a:spcBef>
                <a:spcPts val="500"/>
              </a:spcBef>
              <a:buChar char="■"/>
            </a:pPr>
            <a:r>
              <a:rPr lang="es-AR" sz="2400" b="1" dirty="0">
                <a:solidFill>
                  <a:srgbClr val="222222"/>
                </a:solidFill>
                <a:latin typeface="Tw Cen MT"/>
              </a:rPr>
              <a:t>CONOCIMIENTO DE TIEMPO Y LUGAR (específico y local):</a:t>
            </a:r>
          </a:p>
          <a:p>
            <a:pPr marL="457200" indent="-228600">
              <a:spcBef>
                <a:spcPts val="200"/>
              </a:spcBef>
              <a:buChar char="▸"/>
            </a:pPr>
            <a:r>
              <a:rPr lang="es-AR" sz="2400" dirty="0">
                <a:solidFill>
                  <a:srgbClr val="222222"/>
                </a:solidFill>
                <a:latin typeface="Tw Cen MT"/>
              </a:rPr>
              <a:t>No puede transmitirse fácilmente a un decisor central.</a:t>
            </a:r>
          </a:p>
          <a:p>
            <a:pPr marL="457200" indent="-228600">
              <a:spcBef>
                <a:spcPts val="200"/>
              </a:spcBef>
              <a:buChar char="▸"/>
            </a:pPr>
            <a:r>
              <a:rPr lang="es-AR" sz="2400" dirty="0">
                <a:solidFill>
                  <a:srgbClr val="222222"/>
                </a:solidFill>
                <a:latin typeface="Tw Cen MT"/>
              </a:rPr>
              <a:t>Cada individuo está en mejor posición para tomar ciertas decisiones.</a:t>
            </a:r>
          </a:p>
          <a:p>
            <a:pPr marL="457200" indent="-228600">
              <a:spcBef>
                <a:spcPts val="200"/>
              </a:spcBef>
              <a:buChar char="▸"/>
            </a:pPr>
            <a:r>
              <a:rPr lang="es-AR" sz="2400" dirty="0">
                <a:solidFill>
                  <a:srgbClr val="222222"/>
                </a:solidFill>
                <a:latin typeface="Tw Cen MT"/>
              </a:rPr>
              <a:t>Sugiere descentralización.</a:t>
            </a:r>
          </a:p>
          <a:p>
            <a:pPr marL="457200" indent="-228600">
              <a:spcBef>
                <a:spcPts val="200"/>
              </a:spcBef>
              <a:buChar char="▸"/>
            </a:pPr>
            <a:endParaRPr lang="es-AR" sz="2400" dirty="0">
              <a:solidFill>
                <a:srgbClr val="222222"/>
              </a:solidFill>
              <a:latin typeface="Tw Cen MT"/>
            </a:endParaRPr>
          </a:p>
          <a:p>
            <a:pPr>
              <a:spcBef>
                <a:spcPts val="500"/>
              </a:spcBef>
              <a:buNone/>
            </a:pPr>
            <a:r>
              <a:rPr lang="es-AR" sz="2400" b="1" dirty="0">
                <a:solidFill>
                  <a:srgbClr val="8B0000"/>
                </a:solidFill>
                <a:latin typeface="Tw Cen MT"/>
              </a:rPr>
              <a:t>EL DILEMA ORGANIZACIONAL</a:t>
            </a:r>
          </a:p>
          <a:p>
            <a:pPr algn="ctr">
              <a:spcBef>
                <a:spcPts val="500"/>
              </a:spcBef>
            </a:pPr>
            <a:r>
              <a:rPr lang="es-AR" sz="2400" b="1" dirty="0">
                <a:solidFill>
                  <a:srgbClr val="222222"/>
                </a:solidFill>
                <a:latin typeface="Tw Cen MT"/>
              </a:rPr>
              <a:t>¿Cómo lograr que decisiones descentralizadas sean coherentes y eficientes para el conjunto?</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a:spLocks noGrp="1"/>
          </p:cNvSpPr>
          <p:nvPr/>
        </p:nvSpPr>
        <p:spPr>
          <a:xfrm>
            <a:off x="0" y="0"/>
            <a:ext cx="9144000" cy="1066800"/>
          </a:xfrm>
          <a:prstGeom prst="rect">
            <a:avLst/>
          </a:prstGeom>
          <a:solidFill>
            <a:srgbClr val="8B0000"/>
          </a:solidFill>
          <a:ln>
            <a:noFill/>
          </a:ln>
        </p:spPr>
        <p:txBody>
          <a:bodyPr/>
          <a:lstStyle/>
          <a:p>
            <a:endParaRPr/>
          </a:p>
        </p:txBody>
      </p:sp>
      <p:sp>
        <p:nvSpPr>
          <p:cNvPr id="11" name="AccentLine"/>
          <p:cNvSpPr>
            <a:spLocks noGrp="1"/>
          </p:cNvSpPr>
          <p:nvPr/>
        </p:nvSpPr>
        <p:spPr>
          <a:xfrm>
            <a:off x="0" y="1066800"/>
            <a:ext cx="9144000" cy="76200"/>
          </a:xfrm>
          <a:prstGeom prst="rect">
            <a:avLst/>
          </a:prstGeom>
          <a:solidFill>
            <a:srgbClr val="D4A017"/>
          </a:solidFill>
          <a:ln>
            <a:noFill/>
          </a:ln>
        </p:spPr>
        <p:txBody>
          <a:bodyPr/>
          <a:lstStyle/>
          <a:p>
            <a:endParaRPr/>
          </a:p>
        </p:txBody>
      </p:sp>
      <p:sp>
        <p:nvSpPr>
          <p:cNvPr id="12" name="TitleText"/>
          <p:cNvSpPr txBox="1"/>
          <p:nvPr/>
        </p:nvSpPr>
        <p:spPr>
          <a:xfrm>
            <a:off x="304800" y="114300"/>
            <a:ext cx="8534400" cy="838200"/>
          </a:xfrm>
          <a:prstGeom prst="rect">
            <a:avLst/>
          </a:prstGeom>
          <a:noFill/>
          <a:ln>
            <a:noFill/>
          </a:ln>
        </p:spPr>
        <p:txBody>
          <a:bodyPr wrap="square" lIns="0" tIns="0" rIns="0" bIns="0" anchor="ctr"/>
          <a:lstStyle/>
          <a:p>
            <a:pPr algn="l">
              <a:buNone/>
            </a:pPr>
            <a:r>
              <a:rPr lang="es-AR" sz="3200" b="1" dirty="0">
                <a:solidFill>
                  <a:srgbClr val="FFFFFF"/>
                </a:solidFill>
                <a:latin typeface="Tw Cen MT"/>
              </a:rPr>
              <a:t>Toma de Decisiones Descentralizada</a:t>
            </a:r>
          </a:p>
        </p:txBody>
      </p:sp>
      <p:sp>
        <p:nvSpPr>
          <p:cNvPr id="13" name="Content"/>
          <p:cNvSpPr txBox="1"/>
          <p:nvPr/>
        </p:nvSpPr>
        <p:spPr>
          <a:xfrm>
            <a:off x="304800" y="1219200"/>
            <a:ext cx="8534400" cy="5486400"/>
          </a:xfrm>
          <a:prstGeom prst="rect">
            <a:avLst/>
          </a:prstGeom>
          <a:noFill/>
          <a:ln>
            <a:noFill/>
          </a:ln>
        </p:spPr>
        <p:txBody>
          <a:bodyPr wrap="square" lIns="91440" tIns="91440" rIns="91440" bIns="91440" anchor="t"/>
          <a:lstStyle/>
          <a:p>
            <a:pPr>
              <a:spcBef>
                <a:spcPts val="500"/>
              </a:spcBef>
            </a:pPr>
            <a:r>
              <a:rPr lang="es-AR" sz="2400" dirty="0">
                <a:solidFill>
                  <a:srgbClr val="222222"/>
                </a:solidFill>
                <a:latin typeface="Tw Cen MT"/>
              </a:rPr>
              <a:t>Si el conocimiento de tiempo y lugar es crítico, los decisores deben ser los individuos en el campo.</a:t>
            </a:r>
          </a:p>
          <a:p>
            <a:pPr>
              <a:spcBef>
                <a:spcPts val="500"/>
              </a:spcBef>
            </a:pPr>
            <a:endParaRPr lang="es-AR" sz="2400" dirty="0">
              <a:solidFill>
                <a:srgbClr val="222222"/>
              </a:solidFill>
              <a:latin typeface="Tw Cen MT"/>
            </a:endParaRPr>
          </a:p>
          <a:p>
            <a:pPr>
              <a:spcBef>
                <a:spcPts val="500"/>
              </a:spcBef>
              <a:buNone/>
            </a:pPr>
            <a:r>
              <a:rPr lang="es-AR" sz="2400" b="1" dirty="0">
                <a:solidFill>
                  <a:srgbClr val="8B0000"/>
                </a:solidFill>
                <a:latin typeface="Tw Cen MT"/>
              </a:rPr>
              <a:t>El problema:</a:t>
            </a:r>
          </a:p>
          <a:p>
            <a:pPr>
              <a:spcBef>
                <a:spcPts val="500"/>
              </a:spcBef>
              <a:buChar char="■"/>
            </a:pPr>
            <a:r>
              <a:rPr lang="es-AR" sz="2400" b="1" dirty="0">
                <a:solidFill>
                  <a:srgbClr val="222222"/>
                </a:solidFill>
                <a:latin typeface="Tw Cen MT"/>
              </a:rPr>
              <a:t>¿</a:t>
            </a:r>
            <a:r>
              <a:rPr lang="es-AR" sz="2400" dirty="0">
                <a:solidFill>
                  <a:srgbClr val="222222"/>
                </a:solidFill>
                <a:latin typeface="Tw Cen MT"/>
              </a:rPr>
              <a:t>Cómo logran esos individuos que sus decisiones sean eficientes considerando las decisiones y deseos de los demás?</a:t>
            </a:r>
          </a:p>
          <a:p>
            <a:pPr>
              <a:spcBef>
                <a:spcPts val="500"/>
              </a:spcBef>
              <a:buChar char="■"/>
            </a:pPr>
            <a:r>
              <a:rPr lang="es-AR" sz="2400" dirty="0">
                <a:solidFill>
                  <a:srgbClr val="222222"/>
                </a:solidFill>
                <a:latin typeface="Tw Cen MT"/>
              </a:rPr>
              <a:t>Hay que coordinar las decisiones.</a:t>
            </a:r>
          </a:p>
          <a:p>
            <a:pPr>
              <a:spcBef>
                <a:spcPts val="500"/>
              </a:spcBef>
              <a:buChar char="■"/>
            </a:pPr>
            <a:endParaRPr lang="es-AR" sz="2400" dirty="0">
              <a:solidFill>
                <a:srgbClr val="222222"/>
              </a:solidFill>
              <a:latin typeface="Tw Cen MT"/>
            </a:endParaRPr>
          </a:p>
          <a:p>
            <a:pPr>
              <a:spcBef>
                <a:spcPts val="500"/>
              </a:spcBef>
              <a:buNone/>
            </a:pPr>
            <a:r>
              <a:rPr lang="es-AR" sz="2400" b="1" dirty="0">
                <a:solidFill>
                  <a:srgbClr val="8B0000"/>
                </a:solidFill>
                <a:latin typeface="Tw Cen MT"/>
              </a:rPr>
              <a:t>ESTO NOS LLEVA A LA CLASE 2</a:t>
            </a:r>
          </a:p>
          <a:p>
            <a:pPr>
              <a:spcBef>
                <a:spcPts val="500"/>
              </a:spcBef>
            </a:pPr>
            <a:r>
              <a:rPr lang="es-AR" sz="2400" dirty="0">
                <a:solidFill>
                  <a:srgbClr val="222222"/>
                </a:solidFill>
                <a:latin typeface="Tw Cen MT"/>
              </a:rPr>
              <a:t>El diseño de la asignación de derechos de decisión y los sistemas de control e incentivos como respuesta a este problema.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A2744"/>
        </a:solidFill>
        <a:effectLst/>
      </p:bgPr>
    </p:bg>
    <p:spTree>
      <p:nvGrpSpPr>
        <p:cNvPr id="1" name=""/>
        <p:cNvGrpSpPr/>
        <p:nvPr/>
      </p:nvGrpSpPr>
      <p:grpSpPr>
        <a:xfrm>
          <a:off x="0" y="0"/>
          <a:ext cx="0" cy="0"/>
          <a:chOff x="0" y="0"/>
          <a:chExt cx="0" cy="0"/>
        </a:xfrm>
      </p:grpSpPr>
      <p:sp>
        <p:nvSpPr>
          <p:cNvPr id="10" name="Bg"/>
          <p:cNvSpPr>
            <a:spLocks noGrp="1"/>
          </p:cNvSpPr>
          <p:nvPr/>
        </p:nvSpPr>
        <p:spPr>
          <a:xfrm>
            <a:off x="0" y="0"/>
            <a:ext cx="9144000" cy="6858000"/>
          </a:xfrm>
          <a:prstGeom prst="rect">
            <a:avLst/>
          </a:prstGeom>
          <a:solidFill>
            <a:srgbClr val="1A2744"/>
          </a:solidFill>
          <a:ln>
            <a:noFill/>
          </a:ln>
        </p:spPr>
        <p:txBody>
          <a:bodyPr/>
          <a:lstStyle/>
          <a:p>
            <a:endParaRPr/>
          </a:p>
        </p:txBody>
      </p:sp>
      <p:sp>
        <p:nvSpPr>
          <p:cNvPr id="11" name="TopBar"/>
          <p:cNvSpPr>
            <a:spLocks noGrp="1"/>
          </p:cNvSpPr>
          <p:nvPr/>
        </p:nvSpPr>
        <p:spPr>
          <a:xfrm>
            <a:off x="0" y="0"/>
            <a:ext cx="9144000" cy="228600"/>
          </a:xfrm>
          <a:prstGeom prst="rect">
            <a:avLst/>
          </a:prstGeom>
          <a:solidFill>
            <a:srgbClr val="8B0000"/>
          </a:solidFill>
          <a:ln>
            <a:noFill/>
          </a:ln>
        </p:spPr>
        <p:txBody>
          <a:bodyPr/>
          <a:lstStyle/>
          <a:p>
            <a:endParaRPr/>
          </a:p>
        </p:txBody>
      </p:sp>
      <p:sp>
        <p:nvSpPr>
          <p:cNvPr id="12" name="BotBar"/>
          <p:cNvSpPr>
            <a:spLocks noGrp="1"/>
          </p:cNvSpPr>
          <p:nvPr/>
        </p:nvSpPr>
        <p:spPr>
          <a:xfrm>
            <a:off x="0" y="6629400"/>
            <a:ext cx="9144000" cy="228600"/>
          </a:xfrm>
          <a:prstGeom prst="rect">
            <a:avLst/>
          </a:prstGeom>
          <a:solidFill>
            <a:srgbClr val="8B0000"/>
          </a:solidFill>
          <a:ln>
            <a:noFill/>
          </a:ln>
        </p:spPr>
        <p:txBody>
          <a:bodyPr/>
          <a:lstStyle/>
          <a:p>
            <a:endParaRPr/>
          </a:p>
        </p:txBody>
      </p:sp>
      <p:sp>
        <p:nvSpPr>
          <p:cNvPr id="13" name="Label"/>
          <p:cNvSpPr txBox="1"/>
          <p:nvPr/>
        </p:nvSpPr>
        <p:spPr>
          <a:xfrm>
            <a:off x="304800" y="457200"/>
            <a:ext cx="8534400" cy="457200"/>
          </a:xfrm>
          <a:prstGeom prst="rect">
            <a:avLst/>
          </a:prstGeom>
          <a:noFill/>
          <a:ln>
            <a:noFill/>
          </a:ln>
        </p:spPr>
        <p:txBody>
          <a:bodyPr wrap="square" anchor="ctr"/>
          <a:lstStyle/>
          <a:p>
            <a:pPr algn="ctr">
              <a:buNone/>
            </a:pPr>
            <a:r>
              <a:rPr lang="es-AR" sz="2400" b="1" i="1" dirty="0">
                <a:solidFill>
                  <a:srgbClr val="D4A017"/>
                </a:solidFill>
                <a:latin typeface="Tw Cen MT"/>
              </a:rPr>
              <a:t>RESUMEN DE LA CLASE</a:t>
            </a:r>
          </a:p>
        </p:txBody>
      </p:sp>
      <p:sp>
        <p:nvSpPr>
          <p:cNvPr id="14" name="C1"/>
          <p:cNvSpPr txBox="1"/>
          <p:nvPr/>
        </p:nvSpPr>
        <p:spPr>
          <a:xfrm>
            <a:off x="457200" y="1066800"/>
            <a:ext cx="2590800" cy="5334000"/>
          </a:xfrm>
          <a:prstGeom prst="rect">
            <a:avLst/>
          </a:prstGeom>
          <a:solidFill>
            <a:srgbClr val="1E3060"/>
          </a:solidFill>
          <a:ln w="9525">
            <a:solidFill>
              <a:srgbClr val="D4A017"/>
            </a:solidFill>
          </a:ln>
        </p:spPr>
        <p:txBody>
          <a:bodyPr wrap="square" lIns="182880" tIns="182880" rIns="182880" bIns="182880" anchor="t"/>
          <a:lstStyle/>
          <a:p>
            <a:pPr algn="ctr">
              <a:buNone/>
            </a:pPr>
            <a:r>
              <a:rPr lang="es-AR" sz="2000" b="1" dirty="0">
                <a:solidFill>
                  <a:srgbClr val="D4A017"/>
                </a:solidFill>
                <a:latin typeface="Tw Cen MT"/>
              </a:rPr>
              <a:t>MODELOS DE COMPORTAMIENTO</a:t>
            </a:r>
          </a:p>
          <a:p>
            <a:pPr>
              <a:spcBef>
                <a:spcPts val="400"/>
              </a:spcBef>
              <a:buNone/>
            </a:pPr>
            <a:r>
              <a:rPr lang="es-AR" sz="2000" dirty="0">
                <a:solidFill>
                  <a:srgbClr val="C8D8F0"/>
                </a:solidFill>
                <a:latin typeface="Tw Cen MT"/>
              </a:rPr>
              <a:t>Económico • Sociológico • Psicológico • Político • REMM</a:t>
            </a:r>
          </a:p>
          <a:p>
            <a:pPr>
              <a:spcBef>
                <a:spcPts val="400"/>
              </a:spcBef>
              <a:buNone/>
            </a:pPr>
            <a:endParaRPr lang="es-AR" sz="2000" dirty="0">
              <a:solidFill>
                <a:srgbClr val="C8D8F0"/>
              </a:solidFill>
              <a:latin typeface="Tw Cen MT"/>
            </a:endParaRPr>
          </a:p>
          <a:p>
            <a:pPr>
              <a:spcBef>
                <a:spcPts val="400"/>
              </a:spcBef>
              <a:buNone/>
            </a:pPr>
            <a:endParaRPr lang="es-AR" sz="2000" dirty="0">
              <a:solidFill>
                <a:srgbClr val="C8D8F0"/>
              </a:solidFill>
              <a:latin typeface="Tw Cen MT"/>
            </a:endParaRPr>
          </a:p>
          <a:p>
            <a:pPr>
              <a:spcBef>
                <a:spcPts val="800"/>
              </a:spcBef>
              <a:buNone/>
            </a:pPr>
            <a:r>
              <a:rPr lang="es-AR" sz="2000" dirty="0">
                <a:solidFill>
                  <a:srgbClr val="C8D8F0"/>
                </a:solidFill>
                <a:latin typeface="Tw Cen MT"/>
              </a:rPr>
              <a:t>El REMM como modelo más realista y completo.</a:t>
            </a:r>
          </a:p>
        </p:txBody>
      </p:sp>
      <p:sp>
        <p:nvSpPr>
          <p:cNvPr id="15" name="C2"/>
          <p:cNvSpPr txBox="1"/>
          <p:nvPr/>
        </p:nvSpPr>
        <p:spPr>
          <a:xfrm>
            <a:off x="3276600" y="1066800"/>
            <a:ext cx="2590800" cy="5334000"/>
          </a:xfrm>
          <a:prstGeom prst="rect">
            <a:avLst/>
          </a:prstGeom>
          <a:solidFill>
            <a:srgbClr val="1E3060"/>
          </a:solidFill>
          <a:ln w="9525">
            <a:solidFill>
              <a:srgbClr val="D4A017"/>
            </a:solidFill>
          </a:ln>
        </p:spPr>
        <p:txBody>
          <a:bodyPr wrap="square" lIns="182880" tIns="182880" rIns="182880" bIns="182880" anchor="t"/>
          <a:lstStyle/>
          <a:p>
            <a:pPr algn="ctr">
              <a:buNone/>
            </a:pPr>
            <a:r>
              <a:rPr lang="es-AR" sz="2000" b="1" dirty="0">
                <a:solidFill>
                  <a:srgbClr val="D4A017"/>
                </a:solidFill>
                <a:latin typeface="Tw Cen MT"/>
              </a:rPr>
              <a:t>CONFLICTOS DE INTERESES</a:t>
            </a:r>
          </a:p>
          <a:p>
            <a:pPr>
              <a:spcBef>
                <a:spcPts val="400"/>
              </a:spcBef>
              <a:buNone/>
            </a:pPr>
            <a:r>
              <a:rPr lang="es-AR" sz="2000" dirty="0">
                <a:solidFill>
                  <a:srgbClr val="C8D8F0"/>
                </a:solidFill>
                <a:latin typeface="Tw Cen MT"/>
              </a:rPr>
              <a:t>Los intereses de los stakeholders no están alineados a priori.</a:t>
            </a:r>
          </a:p>
          <a:p>
            <a:pPr>
              <a:spcBef>
                <a:spcPts val="400"/>
              </a:spcBef>
              <a:buNone/>
            </a:pPr>
            <a:endParaRPr lang="es-AR" sz="2000" dirty="0">
              <a:solidFill>
                <a:srgbClr val="C8D8F0"/>
              </a:solidFill>
              <a:latin typeface="Tw Cen MT"/>
            </a:endParaRPr>
          </a:p>
          <a:p>
            <a:pPr>
              <a:spcBef>
                <a:spcPts val="400"/>
              </a:spcBef>
              <a:buNone/>
            </a:pPr>
            <a:endParaRPr lang="es-AR" sz="2000" dirty="0">
              <a:solidFill>
                <a:srgbClr val="C8D8F0"/>
              </a:solidFill>
              <a:latin typeface="Tw Cen MT"/>
            </a:endParaRPr>
          </a:p>
          <a:p>
            <a:pPr>
              <a:spcBef>
                <a:spcPts val="800"/>
              </a:spcBef>
              <a:buNone/>
            </a:pPr>
            <a:r>
              <a:rPr lang="es-AR" sz="2000" dirty="0">
                <a:solidFill>
                  <a:srgbClr val="C8D8F0"/>
                </a:solidFill>
                <a:latin typeface="Tw Cen MT"/>
              </a:rPr>
              <a:t>Los incentivos mal diseñados generan comportamientos que destruyen valor.</a:t>
            </a:r>
          </a:p>
        </p:txBody>
      </p:sp>
      <p:sp>
        <p:nvSpPr>
          <p:cNvPr id="16" name="C3"/>
          <p:cNvSpPr txBox="1"/>
          <p:nvPr/>
        </p:nvSpPr>
        <p:spPr>
          <a:xfrm>
            <a:off x="6096000" y="1066800"/>
            <a:ext cx="2590800" cy="5334000"/>
          </a:xfrm>
          <a:prstGeom prst="rect">
            <a:avLst/>
          </a:prstGeom>
          <a:solidFill>
            <a:srgbClr val="1E3060"/>
          </a:solidFill>
          <a:ln w="9525">
            <a:solidFill>
              <a:srgbClr val="D4A017"/>
            </a:solidFill>
          </a:ln>
        </p:spPr>
        <p:txBody>
          <a:bodyPr wrap="square" lIns="182880" tIns="182880" rIns="182880" bIns="182880" anchor="t"/>
          <a:lstStyle/>
          <a:p>
            <a:pPr algn="ctr">
              <a:buNone/>
            </a:pPr>
            <a:r>
              <a:rPr lang="es-AR" sz="2000" b="1" dirty="0">
                <a:solidFill>
                  <a:srgbClr val="D4A017"/>
                </a:solidFill>
                <a:latin typeface="Tw Cen MT"/>
              </a:rPr>
              <a:t>ROL DEL CONOCIMIENTO</a:t>
            </a:r>
          </a:p>
          <a:p>
            <a:pPr>
              <a:spcBef>
                <a:spcPts val="400"/>
              </a:spcBef>
              <a:buNone/>
            </a:pPr>
            <a:r>
              <a:rPr lang="es-AR" dirty="0">
                <a:solidFill>
                  <a:srgbClr val="C8D8F0"/>
                </a:solidFill>
                <a:latin typeface="Tw Cen MT"/>
              </a:rPr>
              <a:t>General vs. específico de tiempo y lugar.</a:t>
            </a:r>
          </a:p>
          <a:p>
            <a:pPr>
              <a:spcBef>
                <a:spcPts val="800"/>
              </a:spcBef>
              <a:buNone/>
            </a:pPr>
            <a:r>
              <a:rPr lang="es-AR" dirty="0">
                <a:solidFill>
                  <a:srgbClr val="C8D8F0"/>
                </a:solidFill>
                <a:latin typeface="Tw Cen MT"/>
              </a:rPr>
              <a:t>Centralizar vs. descentralizar: qué saben los individuos en el campo que el individuo centralizado no puede saber.</a:t>
            </a:r>
          </a:p>
          <a:p>
            <a:endParaRPr lang="es-AR" dirty="0">
              <a:solidFill>
                <a:srgbClr val="C8D8F0"/>
              </a:solidFill>
              <a:latin typeface="Tw Cen MT"/>
            </a:endParaRPr>
          </a:p>
          <a:p>
            <a:endParaRPr lang="es-AR" dirty="0">
              <a:solidFill>
                <a:srgbClr val="C8D8F0"/>
              </a:solidFill>
              <a:latin typeface="Tw Cen MT"/>
            </a:endParaRPr>
          </a:p>
          <a:p>
            <a:r>
              <a:rPr lang="es-AR">
                <a:solidFill>
                  <a:srgbClr val="C8D8F0"/>
                </a:solidFill>
                <a:latin typeface="Tw Cen MT"/>
              </a:rPr>
              <a:t>Próxima clase:</a:t>
            </a:r>
          </a:p>
          <a:p>
            <a:r>
              <a:rPr lang="es-AR" dirty="0">
                <a:solidFill>
                  <a:srgbClr val="C8D8F0"/>
                </a:solidFill>
                <a:latin typeface="Tw Cen MT"/>
              </a:rPr>
              <a:t>Rol de los incentivos - Medio ambiente de negocios </a:t>
            </a:r>
          </a:p>
          <a:p>
            <a:r>
              <a:rPr lang="es-AR" dirty="0">
                <a:solidFill>
                  <a:srgbClr val="C8D8F0"/>
                </a:solidFill>
                <a:latin typeface="Tw Cen MT"/>
              </a:rPr>
              <a:t>AO - Contratos</a:t>
            </a:r>
          </a:p>
          <a:p>
            <a:pPr>
              <a:spcBef>
                <a:spcPts val="800"/>
              </a:spcBef>
              <a:buNone/>
            </a:pPr>
            <a:endParaRPr lang="es-AR" sz="2000" dirty="0">
              <a:solidFill>
                <a:srgbClr val="C8D8F0"/>
              </a:solidFill>
              <a:latin typeface="Tw Cen MT"/>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docProps/app.xml><?xml version="1.0" encoding="utf-8"?>
<Properties xmlns="http://schemas.openxmlformats.org/officeDocument/2006/extended-properties" xmlns:vt="http://schemas.openxmlformats.org/officeDocument/2006/docPropsVTypes">
  <Template>Median</Template>
  <TotalTime>12871</TotalTime>
  <Words>3786</Words>
  <Application>Microsoft Office PowerPoint</Application>
  <PresentationFormat>Presentación en pantalla (4:3)</PresentationFormat>
  <Paragraphs>399</Paragraphs>
  <Slides>42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42</vt:i4>
      </vt:variant>
    </vt:vector>
  </HeadingPairs>
  <TitlesOfParts>
    <vt:vector size="48" baseType="lpstr">
      <vt:lpstr>Arial</vt:lpstr>
      <vt:lpstr>Calibri</vt:lpstr>
      <vt:lpstr>Tw Cen MT</vt:lpstr>
      <vt:lpstr>Wingdings</vt:lpstr>
      <vt:lpstr>Wingdings 2</vt:lpstr>
      <vt:lpstr>Median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 Finanzas</dc:title>
  <dc:creator>SP</dc:creator>
  <cp:lastModifiedBy>adriana delle donne</cp:lastModifiedBy>
  <cp:revision>443</cp:revision>
  <dcterms:created xsi:type="dcterms:W3CDTF">2011-04-04T17:58:40Z</dcterms:created>
  <dcterms:modified xsi:type="dcterms:W3CDTF">2026-08-05T20:22:58Z</dcterms:modified>
</cp:coreProperties>
</file>