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91" r:id="rId2"/>
    <p:sldId id="258" r:id="rId3"/>
    <p:sldId id="259" r:id="rId4"/>
    <p:sldId id="260" r:id="rId5"/>
    <p:sldId id="261" r:id="rId6"/>
    <p:sldId id="262" r:id="rId7"/>
    <p:sldId id="263" r:id="rId8"/>
    <p:sldId id="264" r:id="rId9"/>
    <p:sldId id="265" r:id="rId10"/>
    <p:sldId id="297" r:id="rId11"/>
    <p:sldId id="266" r:id="rId12"/>
    <p:sldId id="267" r:id="rId13"/>
    <p:sldId id="268" r:id="rId14"/>
    <p:sldId id="269" r:id="rId15"/>
    <p:sldId id="270" r:id="rId16"/>
    <p:sldId id="298" r:id="rId17"/>
    <p:sldId id="271" r:id="rId18"/>
    <p:sldId id="292" r:id="rId19"/>
    <p:sldId id="273" r:id="rId20"/>
    <p:sldId id="274" r:id="rId21"/>
    <p:sldId id="275" r:id="rId22"/>
    <p:sldId id="293" r:id="rId23"/>
    <p:sldId id="276" r:id="rId24"/>
    <p:sldId id="277" r:id="rId25"/>
    <p:sldId id="278" r:id="rId26"/>
    <p:sldId id="279" r:id="rId27"/>
    <p:sldId id="294" r:id="rId28"/>
    <p:sldId id="280" r:id="rId29"/>
    <p:sldId id="281" r:id="rId30"/>
    <p:sldId id="295" r:id="rId31"/>
    <p:sldId id="282" r:id="rId32"/>
    <p:sldId id="283" r:id="rId33"/>
    <p:sldId id="284" r:id="rId34"/>
    <p:sldId id="285" r:id="rId35"/>
    <p:sldId id="286"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B02E1B-A8F5-4459-BB04-67296F4A3DF3}" v="22" dt="2026-04-14T13:06:11.5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804" y="2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a delle donne" userId="bccfde87c812eabf" providerId="LiveId" clId="{5446FB72-EC65-40E1-8EA2-6F1413C9410F}"/>
    <pc:docChg chg="undo custSel addSld delSld modSld sldOrd">
      <pc:chgData name="adriana delle donne" userId="bccfde87c812eabf" providerId="LiveId" clId="{5446FB72-EC65-40E1-8EA2-6F1413C9410F}" dt="2026-04-14T13:06:30.345" v="2444" actId="255"/>
      <pc:docMkLst>
        <pc:docMk/>
      </pc:docMkLst>
      <pc:sldChg chg="modSp mod">
        <pc:chgData name="adriana delle donne" userId="bccfde87c812eabf" providerId="LiveId" clId="{5446FB72-EC65-40E1-8EA2-6F1413C9410F}" dt="2026-04-02T16:27:46.798" v="84" actId="20577"/>
        <pc:sldMkLst>
          <pc:docMk/>
          <pc:sldMk cId="0" sldId="266"/>
        </pc:sldMkLst>
        <pc:spChg chg="mod">
          <ac:chgData name="adriana delle donne" userId="bccfde87c812eabf" providerId="LiveId" clId="{5446FB72-EC65-40E1-8EA2-6F1413C9410F}" dt="2026-04-02T16:27:46.798" v="84" actId="20577"/>
          <ac:spMkLst>
            <pc:docMk/>
            <pc:sldMk cId="0" sldId="266"/>
            <ac:spMk id="5" creationId="{00000000-0000-0000-0000-000000000000}"/>
          </ac:spMkLst>
        </pc:spChg>
      </pc:sldChg>
      <pc:sldChg chg="modSp mod">
        <pc:chgData name="adriana delle donne" userId="bccfde87c812eabf" providerId="LiveId" clId="{5446FB72-EC65-40E1-8EA2-6F1413C9410F}" dt="2026-04-02T16:29:28.354" v="101" actId="1076"/>
        <pc:sldMkLst>
          <pc:docMk/>
          <pc:sldMk cId="0" sldId="267"/>
        </pc:sldMkLst>
        <pc:spChg chg="mod">
          <ac:chgData name="adriana delle donne" userId="bccfde87c812eabf" providerId="LiveId" clId="{5446FB72-EC65-40E1-8EA2-6F1413C9410F}" dt="2026-04-02T16:29:28.354" v="101" actId="1076"/>
          <ac:spMkLst>
            <pc:docMk/>
            <pc:sldMk cId="0" sldId="267"/>
            <ac:spMk id="5" creationId="{00000000-0000-0000-0000-000000000000}"/>
          </ac:spMkLst>
        </pc:spChg>
      </pc:sldChg>
      <pc:sldChg chg="modSp mod">
        <pc:chgData name="adriana delle donne" userId="bccfde87c812eabf" providerId="LiveId" clId="{5446FB72-EC65-40E1-8EA2-6F1413C9410F}" dt="2026-04-02T16:37:33.285" v="288" actId="20577"/>
        <pc:sldMkLst>
          <pc:docMk/>
          <pc:sldMk cId="0" sldId="268"/>
        </pc:sldMkLst>
        <pc:spChg chg="mod">
          <ac:chgData name="adriana delle donne" userId="bccfde87c812eabf" providerId="LiveId" clId="{5446FB72-EC65-40E1-8EA2-6F1413C9410F}" dt="2026-04-02T16:37:33.285" v="288" actId="20577"/>
          <ac:spMkLst>
            <pc:docMk/>
            <pc:sldMk cId="0" sldId="268"/>
            <ac:spMk id="5" creationId="{00000000-0000-0000-0000-000000000000}"/>
          </ac:spMkLst>
        </pc:spChg>
      </pc:sldChg>
      <pc:sldChg chg="modSp mod">
        <pc:chgData name="adriana delle donne" userId="bccfde87c812eabf" providerId="LiveId" clId="{5446FB72-EC65-40E1-8EA2-6F1413C9410F}" dt="2026-04-02T16:38:27.144" v="297" actId="255"/>
        <pc:sldMkLst>
          <pc:docMk/>
          <pc:sldMk cId="0" sldId="269"/>
        </pc:sldMkLst>
        <pc:spChg chg="mod">
          <ac:chgData name="adriana delle donne" userId="bccfde87c812eabf" providerId="LiveId" clId="{5446FB72-EC65-40E1-8EA2-6F1413C9410F}" dt="2026-04-02T16:38:27.144" v="297" actId="255"/>
          <ac:spMkLst>
            <pc:docMk/>
            <pc:sldMk cId="0" sldId="269"/>
            <ac:spMk id="5" creationId="{00000000-0000-0000-0000-000000000000}"/>
          </ac:spMkLst>
        </pc:spChg>
      </pc:sldChg>
      <pc:sldChg chg="addSp delSp modSp mod">
        <pc:chgData name="adriana delle donne" userId="bccfde87c812eabf" providerId="LiveId" clId="{5446FB72-EC65-40E1-8EA2-6F1413C9410F}" dt="2026-04-11T10:56:59.096" v="2416" actId="14100"/>
        <pc:sldMkLst>
          <pc:docMk/>
          <pc:sldMk cId="0" sldId="270"/>
        </pc:sldMkLst>
        <pc:spChg chg="mod">
          <ac:chgData name="adriana delle donne" userId="bccfde87c812eabf" providerId="LiveId" clId="{5446FB72-EC65-40E1-8EA2-6F1413C9410F}" dt="2026-04-11T10:52:20.171" v="2348" actId="1076"/>
          <ac:spMkLst>
            <pc:docMk/>
            <pc:sldMk cId="0" sldId="270"/>
            <ac:spMk id="2" creationId="{00000000-0000-0000-0000-000000000000}"/>
          </ac:spMkLst>
        </pc:spChg>
        <pc:spChg chg="mod">
          <ac:chgData name="adriana delle donne" userId="bccfde87c812eabf" providerId="LiveId" clId="{5446FB72-EC65-40E1-8EA2-6F1413C9410F}" dt="2026-04-11T10:56:54.012" v="2415" actId="14100"/>
          <ac:spMkLst>
            <pc:docMk/>
            <pc:sldMk cId="0" sldId="270"/>
            <ac:spMk id="6" creationId="{00000000-0000-0000-0000-000000000000}"/>
          </ac:spMkLst>
        </pc:spChg>
        <pc:spChg chg="add mod">
          <ac:chgData name="adriana delle donne" userId="bccfde87c812eabf" providerId="LiveId" clId="{5446FB72-EC65-40E1-8EA2-6F1413C9410F}" dt="2026-04-11T10:54:02.081" v="2365" actId="2711"/>
          <ac:spMkLst>
            <pc:docMk/>
            <pc:sldMk cId="0" sldId="270"/>
            <ac:spMk id="9" creationId="{897C049C-3527-6A7B-88DF-5DDF5A6EEFA7}"/>
          </ac:spMkLst>
        </pc:spChg>
        <pc:spChg chg="add mod">
          <ac:chgData name="adriana delle donne" userId="bccfde87c812eabf" providerId="LiveId" clId="{5446FB72-EC65-40E1-8EA2-6F1413C9410F}" dt="2026-04-11T10:54:38.381" v="2371" actId="255"/>
          <ac:spMkLst>
            <pc:docMk/>
            <pc:sldMk cId="0" sldId="270"/>
            <ac:spMk id="11" creationId="{916D3657-681A-E4EE-EF80-CAF418DB6A9F}"/>
          </ac:spMkLst>
        </pc:spChg>
        <pc:spChg chg="add mod">
          <ac:chgData name="adriana delle donne" userId="bccfde87c812eabf" providerId="LiveId" clId="{5446FB72-EC65-40E1-8EA2-6F1413C9410F}" dt="2026-04-11T10:55:28.706" v="2379" actId="1076"/>
          <ac:spMkLst>
            <pc:docMk/>
            <pc:sldMk cId="0" sldId="270"/>
            <ac:spMk id="12" creationId="{4B8A305A-AADA-AC40-FAA0-94A79809B7AE}"/>
          </ac:spMkLst>
        </pc:spChg>
        <pc:spChg chg="add mod">
          <ac:chgData name="adriana delle donne" userId="bccfde87c812eabf" providerId="LiveId" clId="{5446FB72-EC65-40E1-8EA2-6F1413C9410F}" dt="2026-04-11T10:54:08.891" v="2366" actId="2711"/>
          <ac:spMkLst>
            <pc:docMk/>
            <pc:sldMk cId="0" sldId="270"/>
            <ac:spMk id="13" creationId="{B625B266-6A95-0932-6BC7-948C1B8216EA}"/>
          </ac:spMkLst>
        </pc:spChg>
        <pc:spChg chg="mod">
          <ac:chgData name="adriana delle donne" userId="bccfde87c812eabf" providerId="LiveId" clId="{5446FB72-EC65-40E1-8EA2-6F1413C9410F}" dt="2026-04-11T10:54:43.920" v="2372" actId="255"/>
          <ac:spMkLst>
            <pc:docMk/>
            <pc:sldMk cId="0" sldId="270"/>
            <ac:spMk id="15" creationId="{CB4F2C07-DFB5-0F11-6135-8A3B4769D5CE}"/>
          </ac:spMkLst>
        </pc:spChg>
        <pc:spChg chg="mod">
          <ac:chgData name="adriana delle donne" userId="bccfde87c812eabf" providerId="LiveId" clId="{5446FB72-EC65-40E1-8EA2-6F1413C9410F}" dt="2026-04-11T10:55:40.437" v="2381" actId="1076"/>
          <ac:spMkLst>
            <pc:docMk/>
            <pc:sldMk cId="0" sldId="270"/>
            <ac:spMk id="16" creationId="{E2EE2AE0-5D6B-1EA1-42BA-4B3FA30C6838}"/>
          </ac:spMkLst>
        </pc:spChg>
        <pc:spChg chg="add mod">
          <ac:chgData name="adriana delle donne" userId="bccfde87c812eabf" providerId="LiveId" clId="{5446FB72-EC65-40E1-8EA2-6F1413C9410F}" dt="2026-04-11T10:56:59.096" v="2416" actId="14100"/>
          <ac:spMkLst>
            <pc:docMk/>
            <pc:sldMk cId="0" sldId="270"/>
            <ac:spMk id="17" creationId="{70D82C87-03AC-98A9-88FE-B34EF3A38DA7}"/>
          </ac:spMkLst>
        </pc:spChg>
        <pc:spChg chg="add mod">
          <ac:chgData name="adriana delle donne" userId="bccfde87c812eabf" providerId="LiveId" clId="{5446FB72-EC65-40E1-8EA2-6F1413C9410F}" dt="2026-04-11T10:54:56.234" v="2374" actId="1076"/>
          <ac:spMkLst>
            <pc:docMk/>
            <pc:sldMk cId="0" sldId="270"/>
            <ac:spMk id="19" creationId="{9C60444A-78B8-0518-489D-DB024E3CE039}"/>
          </ac:spMkLst>
        </pc:spChg>
        <pc:spChg chg="add mod">
          <ac:chgData name="adriana delle donne" userId="bccfde87c812eabf" providerId="LiveId" clId="{5446FB72-EC65-40E1-8EA2-6F1413C9410F}" dt="2026-04-11T10:56:43.402" v="2414" actId="6549"/>
          <ac:spMkLst>
            <pc:docMk/>
            <pc:sldMk cId="0" sldId="270"/>
            <ac:spMk id="20" creationId="{B895FB28-FFF0-9599-DC6A-EBC39EF8E502}"/>
          </ac:spMkLst>
        </pc:spChg>
      </pc:sldChg>
      <pc:sldChg chg="modSp mod">
        <pc:chgData name="adriana delle donne" userId="bccfde87c812eabf" providerId="LiveId" clId="{5446FB72-EC65-40E1-8EA2-6F1413C9410F}" dt="2026-04-02T16:42:28.040" v="425" actId="6549"/>
        <pc:sldMkLst>
          <pc:docMk/>
          <pc:sldMk cId="0" sldId="271"/>
        </pc:sldMkLst>
        <pc:spChg chg="mod">
          <ac:chgData name="adriana delle donne" userId="bccfde87c812eabf" providerId="LiveId" clId="{5446FB72-EC65-40E1-8EA2-6F1413C9410F}" dt="2026-04-02T16:42:28.040" v="425" actId="6549"/>
          <ac:spMkLst>
            <pc:docMk/>
            <pc:sldMk cId="0" sldId="271"/>
            <ac:spMk id="5" creationId="{00000000-0000-0000-0000-000000000000}"/>
          </ac:spMkLst>
        </pc:spChg>
      </pc:sldChg>
      <pc:sldChg chg="modSp mod">
        <pc:chgData name="adriana delle donne" userId="bccfde87c812eabf" providerId="LiveId" clId="{5446FB72-EC65-40E1-8EA2-6F1413C9410F}" dt="2026-04-02T16:47:37.443" v="480" actId="122"/>
        <pc:sldMkLst>
          <pc:docMk/>
          <pc:sldMk cId="0" sldId="273"/>
        </pc:sldMkLst>
        <pc:spChg chg="mod">
          <ac:chgData name="adriana delle donne" userId="bccfde87c812eabf" providerId="LiveId" clId="{5446FB72-EC65-40E1-8EA2-6F1413C9410F}" dt="2026-04-02T16:47:37.443" v="480" actId="122"/>
          <ac:spMkLst>
            <pc:docMk/>
            <pc:sldMk cId="0" sldId="273"/>
            <ac:spMk id="5" creationId="{00000000-0000-0000-0000-000000000000}"/>
          </ac:spMkLst>
        </pc:spChg>
      </pc:sldChg>
      <pc:sldChg chg="modSp mod">
        <pc:chgData name="adriana delle donne" userId="bccfde87c812eabf" providerId="LiveId" clId="{5446FB72-EC65-40E1-8EA2-6F1413C9410F}" dt="2026-04-02T16:49:10.012" v="521" actId="20577"/>
        <pc:sldMkLst>
          <pc:docMk/>
          <pc:sldMk cId="0" sldId="274"/>
        </pc:sldMkLst>
        <pc:spChg chg="mod">
          <ac:chgData name="adriana delle donne" userId="bccfde87c812eabf" providerId="LiveId" clId="{5446FB72-EC65-40E1-8EA2-6F1413C9410F}" dt="2026-04-02T16:49:10.012" v="521" actId="20577"/>
          <ac:spMkLst>
            <pc:docMk/>
            <pc:sldMk cId="0" sldId="274"/>
            <ac:spMk id="4" creationId="{00000000-0000-0000-0000-000000000000}"/>
          </ac:spMkLst>
        </pc:spChg>
        <pc:spChg chg="mod">
          <ac:chgData name="adriana delle donne" userId="bccfde87c812eabf" providerId="LiveId" clId="{5446FB72-EC65-40E1-8EA2-6F1413C9410F}" dt="2026-04-02T16:48:35.492" v="506" actId="20577"/>
          <ac:spMkLst>
            <pc:docMk/>
            <pc:sldMk cId="0" sldId="274"/>
            <ac:spMk id="5" creationId="{00000000-0000-0000-0000-000000000000}"/>
          </ac:spMkLst>
        </pc:spChg>
      </pc:sldChg>
      <pc:sldChg chg="modSp mod">
        <pc:chgData name="adriana delle donne" userId="bccfde87c812eabf" providerId="LiveId" clId="{5446FB72-EC65-40E1-8EA2-6F1413C9410F}" dt="2026-04-02T16:51:20.966" v="577" actId="20577"/>
        <pc:sldMkLst>
          <pc:docMk/>
          <pc:sldMk cId="0" sldId="275"/>
        </pc:sldMkLst>
        <pc:spChg chg="mod">
          <ac:chgData name="adriana delle donne" userId="bccfde87c812eabf" providerId="LiveId" clId="{5446FB72-EC65-40E1-8EA2-6F1413C9410F}" dt="2026-04-02T16:51:20.966" v="577" actId="20577"/>
          <ac:spMkLst>
            <pc:docMk/>
            <pc:sldMk cId="0" sldId="275"/>
            <ac:spMk id="5" creationId="{00000000-0000-0000-0000-000000000000}"/>
          </ac:spMkLst>
        </pc:spChg>
      </pc:sldChg>
      <pc:sldChg chg="modSp mod">
        <pc:chgData name="adriana delle donne" userId="bccfde87c812eabf" providerId="LiveId" clId="{5446FB72-EC65-40E1-8EA2-6F1413C9410F}" dt="2026-04-11T11:02:33.994" v="2441" actId="6549"/>
        <pc:sldMkLst>
          <pc:docMk/>
          <pc:sldMk cId="0" sldId="276"/>
        </pc:sldMkLst>
        <pc:spChg chg="mod">
          <ac:chgData name="adriana delle donne" userId="bccfde87c812eabf" providerId="LiveId" clId="{5446FB72-EC65-40E1-8EA2-6F1413C9410F}" dt="2026-04-11T11:02:33.994" v="2441" actId="6549"/>
          <ac:spMkLst>
            <pc:docMk/>
            <pc:sldMk cId="0" sldId="276"/>
            <ac:spMk id="6" creationId="{00000000-0000-0000-0000-000000000000}"/>
          </ac:spMkLst>
        </pc:spChg>
      </pc:sldChg>
      <pc:sldChg chg="modSp mod">
        <pc:chgData name="adriana delle donne" userId="bccfde87c812eabf" providerId="LiveId" clId="{5446FB72-EC65-40E1-8EA2-6F1413C9410F}" dt="2026-04-02T17:21:18.009" v="738" actId="113"/>
        <pc:sldMkLst>
          <pc:docMk/>
          <pc:sldMk cId="0" sldId="277"/>
        </pc:sldMkLst>
        <pc:spChg chg="mod">
          <ac:chgData name="adriana delle donne" userId="bccfde87c812eabf" providerId="LiveId" clId="{5446FB72-EC65-40E1-8EA2-6F1413C9410F}" dt="2026-04-02T17:21:18.009" v="738" actId="113"/>
          <ac:spMkLst>
            <pc:docMk/>
            <pc:sldMk cId="0" sldId="277"/>
            <ac:spMk id="5" creationId="{00000000-0000-0000-0000-000000000000}"/>
          </ac:spMkLst>
        </pc:spChg>
      </pc:sldChg>
      <pc:sldChg chg="modSp mod">
        <pc:chgData name="adriana delle donne" userId="bccfde87c812eabf" providerId="LiveId" clId="{5446FB72-EC65-40E1-8EA2-6F1413C9410F}" dt="2026-04-02T17:31:06.176" v="1157" actId="20577"/>
        <pc:sldMkLst>
          <pc:docMk/>
          <pc:sldMk cId="0" sldId="278"/>
        </pc:sldMkLst>
        <pc:spChg chg="mod">
          <ac:chgData name="adriana delle donne" userId="bccfde87c812eabf" providerId="LiveId" clId="{5446FB72-EC65-40E1-8EA2-6F1413C9410F}" dt="2026-04-02T17:31:06.176" v="1157" actId="20577"/>
          <ac:spMkLst>
            <pc:docMk/>
            <pc:sldMk cId="0" sldId="278"/>
            <ac:spMk id="5" creationId="{00000000-0000-0000-0000-000000000000}"/>
          </ac:spMkLst>
        </pc:spChg>
      </pc:sldChg>
      <pc:sldChg chg="modSp mod">
        <pc:chgData name="adriana delle donne" userId="bccfde87c812eabf" providerId="LiveId" clId="{5446FB72-EC65-40E1-8EA2-6F1413C9410F}" dt="2026-04-02T17:31:59.027" v="1175" actId="122"/>
        <pc:sldMkLst>
          <pc:docMk/>
          <pc:sldMk cId="0" sldId="279"/>
        </pc:sldMkLst>
        <pc:spChg chg="mod">
          <ac:chgData name="adriana delle donne" userId="bccfde87c812eabf" providerId="LiveId" clId="{5446FB72-EC65-40E1-8EA2-6F1413C9410F}" dt="2026-04-02T17:31:59.027" v="1175" actId="122"/>
          <ac:spMkLst>
            <pc:docMk/>
            <pc:sldMk cId="0" sldId="279"/>
            <ac:spMk id="5" creationId="{00000000-0000-0000-0000-000000000000}"/>
          </ac:spMkLst>
        </pc:spChg>
      </pc:sldChg>
      <pc:sldChg chg="modSp mod">
        <pc:chgData name="adriana delle donne" userId="bccfde87c812eabf" providerId="LiveId" clId="{5446FB72-EC65-40E1-8EA2-6F1413C9410F}" dt="2026-04-03T09:20:28.746" v="1785" actId="6549"/>
        <pc:sldMkLst>
          <pc:docMk/>
          <pc:sldMk cId="0" sldId="280"/>
        </pc:sldMkLst>
        <pc:spChg chg="mod">
          <ac:chgData name="adriana delle donne" userId="bccfde87c812eabf" providerId="LiveId" clId="{5446FB72-EC65-40E1-8EA2-6F1413C9410F}" dt="2026-04-03T09:20:28.746" v="1785" actId="6549"/>
          <ac:spMkLst>
            <pc:docMk/>
            <pc:sldMk cId="0" sldId="280"/>
            <ac:spMk id="5" creationId="{00000000-0000-0000-0000-000000000000}"/>
          </ac:spMkLst>
        </pc:spChg>
      </pc:sldChg>
      <pc:sldChg chg="modSp mod">
        <pc:chgData name="adriana delle donne" userId="bccfde87c812eabf" providerId="LiveId" clId="{5446FB72-EC65-40E1-8EA2-6F1413C9410F}" dt="2026-04-02T17:35:54.628" v="1255" actId="20577"/>
        <pc:sldMkLst>
          <pc:docMk/>
          <pc:sldMk cId="0" sldId="281"/>
        </pc:sldMkLst>
        <pc:spChg chg="mod">
          <ac:chgData name="adriana delle donne" userId="bccfde87c812eabf" providerId="LiveId" clId="{5446FB72-EC65-40E1-8EA2-6F1413C9410F}" dt="2026-04-02T17:35:43.016" v="1253" actId="20577"/>
          <ac:spMkLst>
            <pc:docMk/>
            <pc:sldMk cId="0" sldId="281"/>
            <ac:spMk id="4" creationId="{00000000-0000-0000-0000-000000000000}"/>
          </ac:spMkLst>
        </pc:spChg>
        <pc:spChg chg="mod">
          <ac:chgData name="adriana delle donne" userId="bccfde87c812eabf" providerId="LiveId" clId="{5446FB72-EC65-40E1-8EA2-6F1413C9410F}" dt="2026-04-02T17:35:54.628" v="1255" actId="20577"/>
          <ac:spMkLst>
            <pc:docMk/>
            <pc:sldMk cId="0" sldId="281"/>
            <ac:spMk id="5" creationId="{00000000-0000-0000-0000-000000000000}"/>
          </ac:spMkLst>
        </pc:spChg>
      </pc:sldChg>
      <pc:sldChg chg="addSp delSp modSp mod">
        <pc:chgData name="adriana delle donne" userId="bccfde87c812eabf" providerId="LiveId" clId="{5446FB72-EC65-40E1-8EA2-6F1413C9410F}" dt="2026-04-02T17:46:50.861" v="1506" actId="113"/>
        <pc:sldMkLst>
          <pc:docMk/>
          <pc:sldMk cId="0" sldId="282"/>
        </pc:sldMkLst>
        <pc:spChg chg="mod">
          <ac:chgData name="adriana delle donne" userId="bccfde87c812eabf" providerId="LiveId" clId="{5446FB72-EC65-40E1-8EA2-6F1413C9410F}" dt="2026-04-02T17:46:50.861" v="1506" actId="113"/>
          <ac:spMkLst>
            <pc:docMk/>
            <pc:sldMk cId="0" sldId="282"/>
            <ac:spMk id="5" creationId="{00000000-0000-0000-0000-000000000000}"/>
          </ac:spMkLst>
        </pc:spChg>
      </pc:sldChg>
      <pc:sldChg chg="modSp mod">
        <pc:chgData name="adriana delle donne" userId="bccfde87c812eabf" providerId="LiveId" clId="{5446FB72-EC65-40E1-8EA2-6F1413C9410F}" dt="2026-04-03T09:22:32.980" v="1850" actId="12"/>
        <pc:sldMkLst>
          <pc:docMk/>
          <pc:sldMk cId="0" sldId="283"/>
        </pc:sldMkLst>
        <pc:spChg chg="mod">
          <ac:chgData name="adriana delle donne" userId="bccfde87c812eabf" providerId="LiveId" clId="{5446FB72-EC65-40E1-8EA2-6F1413C9410F}" dt="2026-04-03T09:22:32.980" v="1850" actId="12"/>
          <ac:spMkLst>
            <pc:docMk/>
            <pc:sldMk cId="0" sldId="283"/>
            <ac:spMk id="5" creationId="{00000000-0000-0000-0000-000000000000}"/>
          </ac:spMkLst>
        </pc:spChg>
      </pc:sldChg>
      <pc:sldChg chg="modSp mod">
        <pc:chgData name="adriana delle donne" userId="bccfde87c812eabf" providerId="LiveId" clId="{5446FB72-EC65-40E1-8EA2-6F1413C9410F}" dt="2026-04-03T09:22:57.440" v="1851" actId="255"/>
        <pc:sldMkLst>
          <pc:docMk/>
          <pc:sldMk cId="0" sldId="284"/>
        </pc:sldMkLst>
        <pc:spChg chg="mod">
          <ac:chgData name="adriana delle donne" userId="bccfde87c812eabf" providerId="LiveId" clId="{5446FB72-EC65-40E1-8EA2-6F1413C9410F}" dt="2026-04-03T09:22:57.440" v="1851" actId="255"/>
          <ac:spMkLst>
            <pc:docMk/>
            <pc:sldMk cId="0" sldId="284"/>
            <ac:spMk id="5" creationId="{00000000-0000-0000-0000-000000000000}"/>
          </ac:spMkLst>
        </pc:spChg>
      </pc:sldChg>
      <pc:sldChg chg="modSp mod">
        <pc:chgData name="adriana delle donne" userId="bccfde87c812eabf" providerId="LiveId" clId="{5446FB72-EC65-40E1-8EA2-6F1413C9410F}" dt="2026-04-14T13:06:30.345" v="2444" actId="255"/>
        <pc:sldMkLst>
          <pc:docMk/>
          <pc:sldMk cId="0" sldId="285"/>
        </pc:sldMkLst>
        <pc:spChg chg="mod">
          <ac:chgData name="adriana delle donne" userId="bccfde87c812eabf" providerId="LiveId" clId="{5446FB72-EC65-40E1-8EA2-6F1413C9410F}" dt="2026-04-14T13:06:30.345" v="2444" actId="255"/>
          <ac:spMkLst>
            <pc:docMk/>
            <pc:sldMk cId="0" sldId="285"/>
            <ac:spMk id="6" creationId="{00000000-0000-0000-0000-000000000000}"/>
          </ac:spMkLst>
        </pc:spChg>
      </pc:sldChg>
      <pc:sldChg chg="modSp mod">
        <pc:chgData name="adriana delle donne" userId="bccfde87c812eabf" providerId="LiveId" clId="{5446FB72-EC65-40E1-8EA2-6F1413C9410F}" dt="2026-04-03T09:24:28.201" v="1862" actId="255"/>
        <pc:sldMkLst>
          <pc:docMk/>
          <pc:sldMk cId="0" sldId="286"/>
        </pc:sldMkLst>
        <pc:spChg chg="mod">
          <ac:chgData name="adriana delle donne" userId="bccfde87c812eabf" providerId="LiveId" clId="{5446FB72-EC65-40E1-8EA2-6F1413C9410F}" dt="2026-04-03T09:24:28.201" v="1862" actId="255"/>
          <ac:spMkLst>
            <pc:docMk/>
            <pc:sldMk cId="0" sldId="286"/>
            <ac:spMk id="5" creationId="{00000000-0000-0000-0000-000000000000}"/>
          </ac:spMkLst>
        </pc:spChg>
        <pc:spChg chg="mod">
          <ac:chgData name="adriana delle donne" userId="bccfde87c812eabf" providerId="LiveId" clId="{5446FB72-EC65-40E1-8EA2-6F1413C9410F}" dt="2026-04-03T09:23:25.033" v="1852" actId="255"/>
          <ac:spMkLst>
            <pc:docMk/>
            <pc:sldMk cId="0" sldId="286"/>
            <ac:spMk id="7" creationId="{00000000-0000-0000-0000-000000000000}"/>
          </ac:spMkLst>
        </pc:spChg>
        <pc:spChg chg="mod">
          <ac:chgData name="adriana delle donne" userId="bccfde87c812eabf" providerId="LiveId" clId="{5446FB72-EC65-40E1-8EA2-6F1413C9410F}" dt="2026-04-03T09:23:31.424" v="1853" actId="255"/>
          <ac:spMkLst>
            <pc:docMk/>
            <pc:sldMk cId="0" sldId="286"/>
            <ac:spMk id="8" creationId="{00000000-0000-0000-0000-000000000000}"/>
          </ac:spMkLst>
        </pc:spChg>
        <pc:spChg chg="mod">
          <ac:chgData name="adriana delle donne" userId="bccfde87c812eabf" providerId="LiveId" clId="{5446FB72-EC65-40E1-8EA2-6F1413C9410F}" dt="2026-04-03T09:23:39.581" v="1854" actId="255"/>
          <ac:spMkLst>
            <pc:docMk/>
            <pc:sldMk cId="0" sldId="286"/>
            <ac:spMk id="9" creationId="{00000000-0000-0000-0000-000000000000}"/>
          </ac:spMkLst>
        </pc:spChg>
        <pc:spChg chg="mod">
          <ac:chgData name="adriana delle donne" userId="bccfde87c812eabf" providerId="LiveId" clId="{5446FB72-EC65-40E1-8EA2-6F1413C9410F}" dt="2026-04-03T09:24:13.188" v="1861" actId="20577"/>
          <ac:spMkLst>
            <pc:docMk/>
            <pc:sldMk cId="0" sldId="286"/>
            <ac:spMk id="11" creationId="{00000000-0000-0000-0000-000000000000}"/>
          </ac:spMkLst>
        </pc:spChg>
      </pc:sldChg>
      <pc:sldChg chg="modSp mod">
        <pc:chgData name="adriana delle donne" userId="bccfde87c812eabf" providerId="LiveId" clId="{5446FB72-EC65-40E1-8EA2-6F1413C9410F}" dt="2026-04-03T09:16:00.991" v="1703" actId="2711"/>
        <pc:sldMkLst>
          <pc:docMk/>
          <pc:sldMk cId="3534776962" sldId="291"/>
        </pc:sldMkLst>
        <pc:spChg chg="mod">
          <ac:chgData name="adriana delle donne" userId="bccfde87c812eabf" providerId="LiveId" clId="{5446FB72-EC65-40E1-8EA2-6F1413C9410F}" dt="2026-04-03T09:16:00.991" v="1703" actId="2711"/>
          <ac:spMkLst>
            <pc:docMk/>
            <pc:sldMk cId="3534776962" sldId="291"/>
            <ac:spMk id="7" creationId="{4B6A1A7E-89B0-0F62-1B33-087814E2BE32}"/>
          </ac:spMkLst>
        </pc:spChg>
        <pc:spChg chg="mod">
          <ac:chgData name="adriana delle donne" userId="bccfde87c812eabf" providerId="LiveId" clId="{5446FB72-EC65-40E1-8EA2-6F1413C9410F}" dt="2026-04-03T09:15:49.406" v="1702" actId="2711"/>
          <ac:spMkLst>
            <pc:docMk/>
            <pc:sldMk cId="3534776962" sldId="291"/>
            <ac:spMk id="8" creationId="{FD6DB1E1-0588-74EC-AE0F-2B275872BCC9}"/>
          </ac:spMkLst>
        </pc:spChg>
      </pc:sldChg>
      <pc:sldChg chg="addSp modSp add mod">
        <pc:chgData name="adriana delle donne" userId="bccfde87c812eabf" providerId="LiveId" clId="{5446FB72-EC65-40E1-8EA2-6F1413C9410F}" dt="2026-04-11T11:01:22.185" v="2437" actId="1076"/>
        <pc:sldMkLst>
          <pc:docMk/>
          <pc:sldMk cId="116066722" sldId="292"/>
        </pc:sldMkLst>
        <pc:spChg chg="mod">
          <ac:chgData name="adriana delle donne" userId="bccfde87c812eabf" providerId="LiveId" clId="{5446FB72-EC65-40E1-8EA2-6F1413C9410F}" dt="2026-04-02T16:46:10.432" v="458" actId="20577"/>
          <ac:spMkLst>
            <pc:docMk/>
            <pc:sldMk cId="116066722" sldId="292"/>
            <ac:spMk id="6" creationId="{138E6E85-0258-B167-2748-574CB7918359}"/>
          </ac:spMkLst>
        </pc:spChg>
        <pc:picChg chg="add mod">
          <ac:chgData name="adriana delle donne" userId="bccfde87c812eabf" providerId="LiveId" clId="{5446FB72-EC65-40E1-8EA2-6F1413C9410F}" dt="2026-04-11T11:01:22.185" v="2437" actId="1076"/>
          <ac:picMkLst>
            <pc:docMk/>
            <pc:sldMk cId="116066722" sldId="292"/>
            <ac:picMk id="8" creationId="{125245B1-6742-FD69-BE3B-2B84B408DD3A}"/>
          </ac:picMkLst>
        </pc:picChg>
      </pc:sldChg>
      <pc:sldChg chg="addSp delSp modSp add mod">
        <pc:chgData name="adriana delle donne" userId="bccfde87c812eabf" providerId="LiveId" clId="{5446FB72-EC65-40E1-8EA2-6F1413C9410F}" dt="2026-04-03T09:18:10.379" v="1711" actId="122"/>
        <pc:sldMkLst>
          <pc:docMk/>
          <pc:sldMk cId="3458721241" sldId="293"/>
        </pc:sldMkLst>
        <pc:spChg chg="add mod">
          <ac:chgData name="adriana delle donne" userId="bccfde87c812eabf" providerId="LiveId" clId="{5446FB72-EC65-40E1-8EA2-6F1413C9410F}" dt="2026-04-03T09:18:10.379" v="1711" actId="122"/>
          <ac:spMkLst>
            <pc:docMk/>
            <pc:sldMk cId="3458721241" sldId="293"/>
            <ac:spMk id="14" creationId="{8FCC5FB0-5351-1C45-0B5E-2A7CB06E1BA5}"/>
          </ac:spMkLst>
        </pc:spChg>
        <pc:picChg chg="add mod">
          <ac:chgData name="adriana delle donne" userId="bccfde87c812eabf" providerId="LiveId" clId="{5446FB72-EC65-40E1-8EA2-6F1413C9410F}" dt="2026-04-02T17:29:29.717" v="1142" actId="1035"/>
          <ac:picMkLst>
            <pc:docMk/>
            <pc:sldMk cId="3458721241" sldId="293"/>
            <ac:picMk id="10" creationId="{83A695D0-67E8-44B5-0B47-FD68B8292886}"/>
          </ac:picMkLst>
        </pc:picChg>
        <pc:picChg chg="add mod">
          <ac:chgData name="adriana delle donne" userId="bccfde87c812eabf" providerId="LiveId" clId="{5446FB72-EC65-40E1-8EA2-6F1413C9410F}" dt="2026-04-02T17:29:29.717" v="1142" actId="1035"/>
          <ac:picMkLst>
            <pc:docMk/>
            <pc:sldMk cId="3458721241" sldId="293"/>
            <ac:picMk id="12" creationId="{87C4B1FC-9BF4-C229-05A6-64609A712E65}"/>
          </ac:picMkLst>
        </pc:picChg>
      </pc:sldChg>
      <pc:sldChg chg="addSp delSp modSp add mod ord">
        <pc:chgData name="adriana delle donne" userId="bccfde87c812eabf" providerId="LiveId" clId="{5446FB72-EC65-40E1-8EA2-6F1413C9410F}" dt="2026-04-03T09:21:00.796" v="1787"/>
        <pc:sldMkLst>
          <pc:docMk/>
          <pc:sldMk cId="1134636076" sldId="294"/>
        </pc:sldMkLst>
        <pc:spChg chg="mod">
          <ac:chgData name="adriana delle donne" userId="bccfde87c812eabf" providerId="LiveId" clId="{5446FB72-EC65-40E1-8EA2-6F1413C9410F}" dt="2026-04-02T17:37:44.080" v="1289" actId="20577"/>
          <ac:spMkLst>
            <pc:docMk/>
            <pc:sldMk cId="1134636076" sldId="294"/>
            <ac:spMk id="4" creationId="{AB84C056-CE29-B2C6-8117-47D2CB4E635D}"/>
          </ac:spMkLst>
        </pc:spChg>
        <pc:picChg chg="add mod">
          <ac:chgData name="adriana delle donne" userId="bccfde87c812eabf" providerId="LiveId" clId="{5446FB72-EC65-40E1-8EA2-6F1413C9410F}" dt="2026-04-02T17:37:32.982" v="1263" actId="962"/>
          <ac:picMkLst>
            <pc:docMk/>
            <pc:sldMk cId="1134636076" sldId="294"/>
            <ac:picMk id="7" creationId="{19B0BF20-A40F-64F9-7894-6D53EC0AD125}"/>
          </ac:picMkLst>
        </pc:picChg>
      </pc:sldChg>
      <pc:sldChg chg="addSp delSp modSp add mod">
        <pc:chgData name="adriana delle donne" userId="bccfde87c812eabf" providerId="LiveId" clId="{5446FB72-EC65-40E1-8EA2-6F1413C9410F}" dt="2026-04-02T17:39:47.971" v="1303" actId="27636"/>
        <pc:sldMkLst>
          <pc:docMk/>
          <pc:sldMk cId="1119249543" sldId="295"/>
        </pc:sldMkLst>
        <pc:spChg chg="mod">
          <ac:chgData name="adriana delle donne" userId="bccfde87c812eabf" providerId="LiveId" clId="{5446FB72-EC65-40E1-8EA2-6F1413C9410F}" dt="2026-04-02T17:38:47.378" v="1291"/>
          <ac:spMkLst>
            <pc:docMk/>
            <pc:sldMk cId="1119249543" sldId="295"/>
            <ac:spMk id="4" creationId="{3C7F0B82-CB8B-A62E-F9CD-3059949C57CB}"/>
          </ac:spMkLst>
        </pc:spChg>
        <pc:spChg chg="add mod">
          <ac:chgData name="adriana delle donne" userId="bccfde87c812eabf" providerId="LiveId" clId="{5446FB72-EC65-40E1-8EA2-6F1413C9410F}" dt="2026-04-02T17:39:47.971" v="1303" actId="27636"/>
          <ac:spMkLst>
            <pc:docMk/>
            <pc:sldMk cId="1119249543" sldId="295"/>
            <ac:spMk id="5" creationId="{B7EB3DB8-4FAD-9F12-EE64-2304EDAE5018}"/>
          </ac:spMkLst>
        </pc:spChg>
      </pc:sldChg>
      <pc:sldChg chg="modSp add mod">
        <pc:chgData name="adriana delle donne" userId="bccfde87c812eabf" providerId="LiveId" clId="{5446FB72-EC65-40E1-8EA2-6F1413C9410F}" dt="2026-04-09T11:57:48.903" v="2342" actId="2711"/>
        <pc:sldMkLst>
          <pc:docMk/>
          <pc:sldMk cId="2216235326" sldId="297"/>
        </pc:sldMkLst>
        <pc:spChg chg="mod">
          <ac:chgData name="adriana delle donne" userId="bccfde87c812eabf" providerId="LiveId" clId="{5446FB72-EC65-40E1-8EA2-6F1413C9410F}" dt="2026-04-09T11:57:48.903" v="2342" actId="2711"/>
          <ac:spMkLst>
            <pc:docMk/>
            <pc:sldMk cId="2216235326" sldId="297"/>
            <ac:spMk id="5" creationId="{3AC118DA-33E3-424D-158C-0F1534363EF5}"/>
          </ac:spMkLst>
        </pc:spChg>
      </pc:sldChg>
      <pc:sldChg chg="delSp modSp add mod">
        <pc:chgData name="adriana delle donne" userId="bccfde87c812eabf" providerId="LiveId" clId="{5446FB72-EC65-40E1-8EA2-6F1413C9410F}" dt="2026-04-11T11:00:31.347" v="2435"/>
        <pc:sldMkLst>
          <pc:docMk/>
          <pc:sldMk cId="2125637021" sldId="298"/>
        </pc:sldMkLst>
        <pc:spChg chg="mod">
          <ac:chgData name="adriana delle donne" userId="bccfde87c812eabf" providerId="LiveId" clId="{5446FB72-EC65-40E1-8EA2-6F1413C9410F}" dt="2026-04-11T10:58:11.662" v="2420"/>
          <ac:spMkLst>
            <pc:docMk/>
            <pc:sldMk cId="2125637021" sldId="298"/>
            <ac:spMk id="5" creationId="{FABBB41A-9804-2B3C-5E11-AE4BCCE6D3C0}"/>
          </ac:spMkLst>
        </pc:spChg>
        <pc:spChg chg="mod">
          <ac:chgData name="adriana delle donne" userId="bccfde87c812eabf" providerId="LiveId" clId="{5446FB72-EC65-40E1-8EA2-6F1413C9410F}" dt="2026-04-11T10:59:36.510" v="2429" actId="2711"/>
          <ac:spMkLst>
            <pc:docMk/>
            <pc:sldMk cId="2125637021" sldId="298"/>
            <ac:spMk id="12" creationId="{0B4DD6D0-312E-1F8A-AAEB-4F4F91EEE23D}"/>
          </ac:spMkLst>
        </pc:spChg>
        <pc:spChg chg="mod">
          <ac:chgData name="adriana delle donne" userId="bccfde87c812eabf" providerId="LiveId" clId="{5446FB72-EC65-40E1-8EA2-6F1413C9410F}" dt="2026-04-11T10:59:41.699" v="2430" actId="2711"/>
          <ac:spMkLst>
            <pc:docMk/>
            <pc:sldMk cId="2125637021" sldId="298"/>
            <ac:spMk id="13" creationId="{07A1B2CD-37C6-541B-8425-58C2F169DDD1}"/>
          </ac:spMkLst>
        </pc:spChg>
        <pc:spChg chg="mod">
          <ac:chgData name="adriana delle donne" userId="bccfde87c812eabf" providerId="LiveId" clId="{5446FB72-EC65-40E1-8EA2-6F1413C9410F}" dt="2026-04-11T10:59:50.840" v="2432" actId="20577"/>
          <ac:spMkLst>
            <pc:docMk/>
            <pc:sldMk cId="2125637021" sldId="298"/>
            <ac:spMk id="16" creationId="{540D0032-E398-41ED-5B57-7593E8DFB6EA}"/>
          </ac:spMkLst>
        </pc:spChg>
        <pc:spChg chg="mod">
          <ac:chgData name="adriana delle donne" userId="bccfde87c812eabf" providerId="LiveId" clId="{5446FB72-EC65-40E1-8EA2-6F1413C9410F}" dt="2026-04-11T11:00:31.347" v="2435"/>
          <ac:spMkLst>
            <pc:docMk/>
            <pc:sldMk cId="2125637021" sldId="298"/>
            <ac:spMk id="20" creationId="{F37EA92F-9C0A-E1E5-2ED3-196A8018F513}"/>
          </ac:spMkLst>
        </pc:spChg>
      </pc:sldChg>
      <pc:sldMasterChg chg="delSldLayout">
        <pc:chgData name="adriana delle donne" userId="bccfde87c812eabf" providerId="LiveId" clId="{5446FB72-EC65-40E1-8EA2-6F1413C9410F}" dt="2026-04-11T11:01:10.713" v="2436" actId="2696"/>
        <pc:sldMasterMkLst>
          <pc:docMk/>
          <pc:sldMasterMk cId="2209977519"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2CFE5-2FD3-4F5F-A3C8-EB1CFA4A9604}" type="datetimeFigureOut">
              <a:rPr lang="en-US" smtClean="0"/>
              <a:t>4/14/2026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BA2823-DB84-4682-9B62-77B4415506D8}" type="slidenum">
              <a:rPr lang="en-US" smtClean="0"/>
              <a:t>‹Nº›</a:t>
            </a:fld>
            <a:endParaRPr lang="en-US"/>
          </a:p>
        </p:txBody>
      </p:sp>
    </p:spTree>
    <p:extLst>
      <p:ext uri="{BB962C8B-B14F-4D97-AF65-F5344CB8AC3E}">
        <p14:creationId xmlns:p14="http://schemas.microsoft.com/office/powerpoint/2010/main" val="4244637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E0363238-001F-FEDA-2A84-7AD2040B3C8E}"/>
              </a:ext>
            </a:extLst>
          </p:cNvPr>
          <p:cNvPicPr>
            <a:picLocks noChangeAspect="1"/>
          </p:cNvPicPr>
          <p:nvPr/>
        </p:nvPicPr>
        <p:blipFill>
          <a:blip r:embed="rId2"/>
          <a:stretch>
            <a:fillRect/>
          </a:stretch>
        </p:blipFill>
        <p:spPr>
          <a:xfrm>
            <a:off x="2590800" y="1778275"/>
            <a:ext cx="7267062" cy="1176630"/>
          </a:xfrm>
          <a:prstGeom prst="rect">
            <a:avLst/>
          </a:prstGeom>
        </p:spPr>
      </p:pic>
      <p:sp>
        <p:nvSpPr>
          <p:cNvPr id="7" name="CuadroTexto 6">
            <a:extLst>
              <a:ext uri="{FF2B5EF4-FFF2-40B4-BE49-F238E27FC236}">
                <a16:creationId xmlns:a16="http://schemas.microsoft.com/office/drawing/2014/main" id="{4B6A1A7E-89B0-0F62-1B33-087814E2BE32}"/>
              </a:ext>
            </a:extLst>
          </p:cNvPr>
          <p:cNvSpPr txBox="1"/>
          <p:nvPr/>
        </p:nvSpPr>
        <p:spPr>
          <a:xfrm>
            <a:off x="3962400" y="4876801"/>
            <a:ext cx="4038606" cy="954107"/>
          </a:xfrm>
          <a:prstGeom prst="rect">
            <a:avLst/>
          </a:prstGeom>
          <a:noFill/>
        </p:spPr>
        <p:txBody>
          <a:bodyPr wrap="none" rtlCol="0">
            <a:spAutoFit/>
          </a:bodyPr>
          <a:lstStyle/>
          <a:p>
            <a:r>
              <a:rPr lang="es-AR" sz="2800" b="1" dirty="0">
                <a:latin typeface="Tw Cen MT" panose="020B0602020104020603" pitchFamily="34" charset="0"/>
              </a:rPr>
              <a:t>Profesora</a:t>
            </a:r>
            <a:r>
              <a:rPr lang="es-AR" sz="2800" b="1" dirty="0">
                <a:latin typeface="+mj-lt"/>
              </a:rPr>
              <a:t> </a:t>
            </a:r>
          </a:p>
          <a:p>
            <a:r>
              <a:rPr lang="es-AR" sz="2800" b="1" dirty="0">
                <a:latin typeface="+mj-lt"/>
              </a:rPr>
              <a:t>Dra. Adriana Delle Donne</a:t>
            </a:r>
          </a:p>
        </p:txBody>
      </p:sp>
      <p:sp>
        <p:nvSpPr>
          <p:cNvPr id="8" name="CuadroTexto 7">
            <a:extLst>
              <a:ext uri="{FF2B5EF4-FFF2-40B4-BE49-F238E27FC236}">
                <a16:creationId xmlns:a16="http://schemas.microsoft.com/office/drawing/2014/main" id="{FD6DB1E1-0588-74EC-AE0F-2B275872BCC9}"/>
              </a:ext>
            </a:extLst>
          </p:cNvPr>
          <p:cNvSpPr txBox="1"/>
          <p:nvPr/>
        </p:nvSpPr>
        <p:spPr>
          <a:xfrm>
            <a:off x="2150914" y="3039556"/>
            <a:ext cx="7890173" cy="1384995"/>
          </a:xfrm>
          <a:prstGeom prst="rect">
            <a:avLst/>
          </a:prstGeom>
          <a:noFill/>
        </p:spPr>
        <p:txBody>
          <a:bodyPr wrap="none" rtlCol="0">
            <a:spAutoFit/>
          </a:bodyPr>
          <a:lstStyle/>
          <a:p>
            <a:pPr algn="ctr"/>
            <a:r>
              <a:rPr lang="es-AR" sz="2800" b="1" dirty="0">
                <a:solidFill>
                  <a:srgbClr val="CC0000"/>
                </a:solidFill>
              </a:rPr>
              <a:t>Clase N 2</a:t>
            </a:r>
          </a:p>
          <a:p>
            <a:pPr algn="ctr"/>
            <a:r>
              <a:rPr lang="es-AR" sz="2800" b="1" dirty="0">
                <a:solidFill>
                  <a:srgbClr val="CC0000"/>
                </a:solidFill>
              </a:rPr>
              <a:t>Rol de </a:t>
            </a:r>
            <a:r>
              <a:rPr lang="es-AR" sz="2800" b="1" dirty="0">
                <a:solidFill>
                  <a:srgbClr val="CC0000"/>
                </a:solidFill>
                <a:latin typeface="Tw Cen MT" panose="020B0602020104020603" pitchFamily="34" charset="0"/>
              </a:rPr>
              <a:t>los</a:t>
            </a:r>
            <a:r>
              <a:rPr lang="es-AR" sz="2800" b="1" dirty="0">
                <a:solidFill>
                  <a:srgbClr val="CC0000"/>
                </a:solidFill>
              </a:rPr>
              <a:t> incentivos - Medio ambiente de negocios </a:t>
            </a:r>
          </a:p>
          <a:p>
            <a:pPr algn="ctr"/>
            <a:r>
              <a:rPr lang="es-AR" sz="2800" b="1" dirty="0">
                <a:solidFill>
                  <a:srgbClr val="CC0000"/>
                </a:solidFill>
              </a:rPr>
              <a:t>AO - Contratos</a:t>
            </a:r>
          </a:p>
        </p:txBody>
      </p:sp>
      <p:pic>
        <p:nvPicPr>
          <p:cNvPr id="2" name="Imagen 1">
            <a:extLst>
              <a:ext uri="{FF2B5EF4-FFF2-40B4-BE49-F238E27FC236}">
                <a16:creationId xmlns:a16="http://schemas.microsoft.com/office/drawing/2014/main" id="{980A350D-D079-3C58-C654-891C62E1A56D}"/>
              </a:ext>
            </a:extLst>
          </p:cNvPr>
          <p:cNvPicPr>
            <a:picLocks noChangeAspect="1"/>
          </p:cNvPicPr>
          <p:nvPr/>
        </p:nvPicPr>
        <p:blipFill>
          <a:blip r:embed="rId3"/>
          <a:stretch>
            <a:fillRect/>
          </a:stretch>
        </p:blipFill>
        <p:spPr>
          <a:xfrm>
            <a:off x="5266533" y="325032"/>
            <a:ext cx="1658932" cy="1658932"/>
          </a:xfrm>
          <a:prstGeom prst="rect">
            <a:avLst/>
          </a:prstGeom>
        </p:spPr>
      </p:pic>
    </p:spTree>
    <p:extLst>
      <p:ext uri="{BB962C8B-B14F-4D97-AF65-F5344CB8AC3E}">
        <p14:creationId xmlns:p14="http://schemas.microsoft.com/office/powerpoint/2010/main" val="3534776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2286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29400"/>
            <a:ext cx="12192000" cy="2286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9600" y="457200"/>
            <a:ext cx="10972800" cy="457200"/>
          </a:xfrm>
          <a:prstGeom prst="rect">
            <a:avLst/>
          </a:prstGeom>
          <a:noFill/>
        </p:spPr>
        <p:txBody>
          <a:bodyPr wrap="square" anchor="ctr"/>
          <a:lstStyle/>
          <a:p>
            <a:pPr algn="ctr"/>
            <a:r>
              <a:rPr sz="1800" b="1" i="1">
                <a:solidFill>
                  <a:srgbClr val="D4A017"/>
                </a:solidFill>
                <a:latin typeface="Tw Cen MT"/>
              </a:rPr>
              <a:t>PREGUNTA CENTRAL DE LA CLASE</a:t>
            </a:r>
          </a:p>
        </p:txBody>
      </p:sp>
      <p:sp>
        <p:nvSpPr>
          <p:cNvPr id="6" name="TextBox 5"/>
          <p:cNvSpPr txBox="1"/>
          <p:nvPr/>
        </p:nvSpPr>
        <p:spPr>
          <a:xfrm>
            <a:off x="609600" y="1066800"/>
            <a:ext cx="10972800" cy="2438400"/>
          </a:xfrm>
          <a:prstGeom prst="rect">
            <a:avLst/>
          </a:prstGeom>
          <a:noFill/>
        </p:spPr>
        <p:txBody>
          <a:bodyPr wrap="square" anchor="ctr"/>
          <a:lstStyle/>
          <a:p>
            <a:pPr algn="ctr"/>
            <a:r>
              <a:rPr sz="3400" b="1" i="0" dirty="0">
                <a:solidFill>
                  <a:srgbClr val="FFFFFF"/>
                </a:solidFill>
                <a:latin typeface="Tw Cen MT"/>
              </a:rPr>
              <a:t>¿</a:t>
            </a:r>
            <a:r>
              <a:rPr sz="3400" b="1" i="0" dirty="0" err="1">
                <a:solidFill>
                  <a:srgbClr val="FFFFFF"/>
                </a:solidFill>
                <a:latin typeface="Tw Cen MT"/>
              </a:rPr>
              <a:t>Cómo</a:t>
            </a:r>
            <a:r>
              <a:rPr sz="3400" b="1" i="0" dirty="0">
                <a:solidFill>
                  <a:srgbClr val="FFFFFF"/>
                </a:solidFill>
                <a:latin typeface="Tw Cen MT"/>
              </a:rPr>
              <a:t> </a:t>
            </a:r>
            <a:r>
              <a:rPr sz="3400" b="1" i="0" dirty="0" err="1">
                <a:solidFill>
                  <a:srgbClr val="FFFFFF"/>
                </a:solidFill>
                <a:latin typeface="Tw Cen MT"/>
              </a:rPr>
              <a:t>diseñar</a:t>
            </a:r>
            <a:r>
              <a:rPr sz="3400" b="1" i="0" dirty="0">
                <a:solidFill>
                  <a:srgbClr val="FFFFFF"/>
                </a:solidFill>
                <a:latin typeface="Tw Cen MT"/>
              </a:rPr>
              <a:t> </a:t>
            </a:r>
            <a:r>
              <a:rPr sz="3400" b="1" i="0" dirty="0" err="1">
                <a:solidFill>
                  <a:srgbClr val="FFFFFF"/>
                </a:solidFill>
                <a:latin typeface="Tw Cen MT"/>
              </a:rPr>
              <a:t>contratos</a:t>
            </a:r>
            <a:r>
              <a:rPr sz="3400" b="1" i="0" dirty="0">
                <a:solidFill>
                  <a:srgbClr val="FFFFFF"/>
                </a:solidFill>
                <a:latin typeface="Tw Cen MT"/>
              </a:rPr>
              <a:t> </a:t>
            </a:r>
            <a:r>
              <a:rPr sz="3400" b="1" i="0" dirty="0" err="1">
                <a:solidFill>
                  <a:srgbClr val="FFFFFF"/>
                </a:solidFill>
                <a:latin typeface="Tw Cen MT"/>
              </a:rPr>
              <a:t>que</a:t>
            </a:r>
            <a:r>
              <a:rPr sz="3400" b="1" i="0" dirty="0">
                <a:solidFill>
                  <a:srgbClr val="FFFFFF"/>
                </a:solidFill>
                <a:latin typeface="Tw Cen MT"/>
              </a:rPr>
              <a:t> </a:t>
            </a:r>
            <a:r>
              <a:rPr sz="3400" b="1" i="0" dirty="0" err="1">
                <a:solidFill>
                  <a:srgbClr val="FFFFFF"/>
                </a:solidFill>
                <a:latin typeface="Tw Cen MT"/>
              </a:rPr>
              <a:t>alineen</a:t>
            </a:r>
            <a:r>
              <a:rPr sz="3400" b="1" i="0" dirty="0">
                <a:solidFill>
                  <a:srgbClr val="FFFFFF"/>
                </a:solidFill>
                <a:latin typeface="Tw Cen MT"/>
              </a:rPr>
              <a:t> </a:t>
            </a:r>
            <a:r>
              <a:rPr sz="3400" b="1" i="0" dirty="0" err="1">
                <a:solidFill>
                  <a:srgbClr val="FFFFFF"/>
                </a:solidFill>
                <a:latin typeface="Tw Cen MT"/>
              </a:rPr>
              <a:t>los</a:t>
            </a:r>
            <a:r>
              <a:rPr sz="3400" b="1" i="0" dirty="0">
                <a:solidFill>
                  <a:srgbClr val="FFFFFF"/>
                </a:solidFill>
                <a:latin typeface="Tw Cen MT"/>
              </a:rPr>
              <a:t> </a:t>
            </a:r>
            <a:r>
              <a:rPr sz="3400" b="1" i="0" dirty="0" err="1">
                <a:solidFill>
                  <a:srgbClr val="FFFFFF"/>
                </a:solidFill>
                <a:latin typeface="Tw Cen MT"/>
              </a:rPr>
              <a:t>incentivos</a:t>
            </a:r>
            <a:r>
              <a:rPr sz="3400" b="1" i="0" dirty="0">
                <a:solidFill>
                  <a:srgbClr val="FFFFFF"/>
                </a:solidFill>
                <a:latin typeface="Tw Cen MT"/>
              </a:rPr>
              <a:t> de </a:t>
            </a:r>
            <a:r>
              <a:rPr sz="3400" b="1" i="0" dirty="0" err="1">
                <a:solidFill>
                  <a:srgbClr val="FFFFFF"/>
                </a:solidFill>
                <a:latin typeface="Tw Cen MT"/>
              </a:rPr>
              <a:t>los</a:t>
            </a:r>
            <a:r>
              <a:rPr sz="3400" b="1" i="0" dirty="0">
                <a:solidFill>
                  <a:srgbClr val="FFFFFF"/>
                </a:solidFill>
                <a:latin typeface="Tw Cen MT"/>
              </a:rPr>
              <a:t> </a:t>
            </a:r>
            <a:r>
              <a:rPr sz="3400" b="1" i="0" dirty="0" err="1">
                <a:solidFill>
                  <a:srgbClr val="FFFFFF"/>
                </a:solidFill>
                <a:latin typeface="Tw Cen MT"/>
              </a:rPr>
              <a:t>distintos</a:t>
            </a:r>
            <a:r>
              <a:rPr sz="3400" b="1" i="0" dirty="0">
                <a:solidFill>
                  <a:srgbClr val="FFFFFF"/>
                </a:solidFill>
                <a:latin typeface="Tw Cen MT"/>
              </a:rPr>
              <a:t> </a:t>
            </a:r>
            <a:r>
              <a:rPr sz="3400" b="1" i="0" dirty="0" err="1">
                <a:solidFill>
                  <a:srgbClr val="FFFFFF"/>
                </a:solidFill>
                <a:latin typeface="Tw Cen MT"/>
              </a:rPr>
              <a:t>actores</a:t>
            </a:r>
            <a:r>
              <a:rPr sz="3400" b="1" i="0" dirty="0">
                <a:solidFill>
                  <a:srgbClr val="FFFFFF"/>
                </a:solidFill>
                <a:latin typeface="Tw Cen MT"/>
              </a:rPr>
              <a:t> con </a:t>
            </a:r>
            <a:r>
              <a:rPr sz="3400" b="1" i="0" dirty="0" err="1">
                <a:solidFill>
                  <a:srgbClr val="FFFFFF"/>
                </a:solidFill>
                <a:latin typeface="Tw Cen MT"/>
              </a:rPr>
              <a:t>el</a:t>
            </a:r>
            <a:r>
              <a:rPr sz="3400" b="1" i="0" dirty="0">
                <a:solidFill>
                  <a:srgbClr val="FFFFFF"/>
                </a:solidFill>
                <a:latin typeface="Tw Cen MT"/>
              </a:rPr>
              <a:t> valor de la </a:t>
            </a:r>
            <a:r>
              <a:rPr sz="3400" b="1" i="0" dirty="0" err="1">
                <a:solidFill>
                  <a:srgbClr val="FFFFFF"/>
                </a:solidFill>
                <a:latin typeface="Tw Cen MT"/>
              </a:rPr>
              <a:t>firma</a:t>
            </a:r>
            <a:r>
              <a:rPr sz="3400" b="1" i="0" dirty="0">
                <a:solidFill>
                  <a:srgbClr val="FFFFFF"/>
                </a:solidFill>
                <a:latin typeface="Tw Cen MT"/>
              </a:rPr>
              <a:t>?</a:t>
            </a:r>
          </a:p>
        </p:txBody>
      </p:sp>
      <p:sp>
        <p:nvSpPr>
          <p:cNvPr id="8" name="TextBox 7"/>
          <p:cNvSpPr txBox="1"/>
          <p:nvPr/>
        </p:nvSpPr>
        <p:spPr>
          <a:xfrm>
            <a:off x="527406" y="3516458"/>
            <a:ext cx="10972800" cy="762000"/>
          </a:xfrm>
          <a:prstGeom prst="rect">
            <a:avLst/>
          </a:prstGeom>
          <a:noFill/>
        </p:spPr>
        <p:txBody>
          <a:bodyPr wrap="square" anchor="ctr"/>
          <a:lstStyle/>
          <a:p>
            <a:pPr algn="ctr"/>
            <a:r>
              <a:rPr sz="2400" b="1" i="0" dirty="0" err="1">
                <a:solidFill>
                  <a:srgbClr val="D4A017"/>
                </a:solidFill>
                <a:latin typeface="Tw Cen MT"/>
              </a:rPr>
              <a:t>Asignación</a:t>
            </a:r>
            <a:r>
              <a:rPr sz="2400" b="1" i="0" dirty="0">
                <a:solidFill>
                  <a:srgbClr val="D4A017"/>
                </a:solidFill>
                <a:latin typeface="Tw Cen MT"/>
              </a:rPr>
              <a:t> de </a:t>
            </a:r>
            <a:r>
              <a:rPr sz="2400" b="1" i="0" dirty="0" err="1">
                <a:solidFill>
                  <a:srgbClr val="D4A017"/>
                </a:solidFill>
                <a:latin typeface="Tw Cen MT"/>
              </a:rPr>
              <a:t>autoridad</a:t>
            </a:r>
            <a:r>
              <a:rPr sz="2400" b="1" i="0" dirty="0">
                <a:solidFill>
                  <a:srgbClr val="D4A017"/>
                </a:solidFill>
                <a:latin typeface="Tw Cen MT"/>
              </a:rPr>
              <a:t>  ▸  </a:t>
            </a:r>
            <a:r>
              <a:rPr sz="2400" b="1" i="0" dirty="0" err="1">
                <a:solidFill>
                  <a:srgbClr val="D4A017"/>
                </a:solidFill>
                <a:latin typeface="Tw Cen MT"/>
              </a:rPr>
              <a:t>Medición</a:t>
            </a:r>
            <a:r>
              <a:rPr sz="2400" b="1" i="0" dirty="0">
                <a:solidFill>
                  <a:srgbClr val="D4A017"/>
                </a:solidFill>
                <a:latin typeface="Tw Cen MT"/>
              </a:rPr>
              <a:t> del </a:t>
            </a:r>
            <a:r>
              <a:rPr sz="2400" b="1" i="0" dirty="0" err="1">
                <a:solidFill>
                  <a:srgbClr val="D4A017"/>
                </a:solidFill>
                <a:latin typeface="Tw Cen MT"/>
              </a:rPr>
              <a:t>desempeño</a:t>
            </a:r>
            <a:r>
              <a:rPr sz="2400" b="1" i="0" dirty="0">
                <a:solidFill>
                  <a:srgbClr val="D4A017"/>
                </a:solidFill>
                <a:latin typeface="Tw Cen MT"/>
              </a:rPr>
              <a:t>  ▸  Política </a:t>
            </a:r>
            <a:r>
              <a:rPr sz="2400" b="1" i="0" dirty="0" err="1">
                <a:solidFill>
                  <a:srgbClr val="D4A017"/>
                </a:solidFill>
                <a:latin typeface="Tw Cen MT"/>
              </a:rPr>
              <a:t>compensatoria</a:t>
            </a:r>
            <a:endParaRPr sz="2400" b="1" i="0" dirty="0">
              <a:solidFill>
                <a:srgbClr val="D4A017"/>
              </a:solidFill>
              <a:latin typeface="Tw Cen MT"/>
            </a:endParaRPr>
          </a:p>
        </p:txBody>
      </p:sp>
      <p:sp>
        <p:nvSpPr>
          <p:cNvPr id="9" name="TextBox 8"/>
          <p:cNvSpPr txBox="1"/>
          <p:nvPr/>
        </p:nvSpPr>
        <p:spPr>
          <a:xfrm>
            <a:off x="609600" y="4648200"/>
            <a:ext cx="10972800" cy="914400"/>
          </a:xfrm>
          <a:prstGeom prst="rect">
            <a:avLst/>
          </a:prstGeom>
          <a:noFill/>
        </p:spPr>
        <p:txBody>
          <a:bodyPr wrap="square" anchor="ctr"/>
          <a:lstStyle/>
          <a:p>
            <a:pPr algn="ctr"/>
            <a:r>
              <a:rPr sz="2400" b="0" i="1" dirty="0">
                <a:solidFill>
                  <a:srgbClr val="B0C0E8"/>
                </a:solidFill>
                <a:latin typeface="Tw Cen MT"/>
              </a:rPr>
              <a:t>Los </a:t>
            </a:r>
            <a:r>
              <a:rPr sz="2400" b="0" i="1" dirty="0" err="1">
                <a:solidFill>
                  <a:srgbClr val="B0C0E8"/>
                </a:solidFill>
                <a:latin typeface="Tw Cen MT"/>
              </a:rPr>
              <a:t>tres</a:t>
            </a:r>
            <a:r>
              <a:rPr sz="2400" b="0" i="1" dirty="0">
                <a:solidFill>
                  <a:srgbClr val="B0C0E8"/>
                </a:solidFill>
                <a:latin typeface="Tw Cen MT"/>
              </a:rPr>
              <a:t> </a:t>
            </a:r>
            <a:r>
              <a:rPr sz="2400" b="0" i="1" dirty="0" err="1">
                <a:solidFill>
                  <a:srgbClr val="B0C0E8"/>
                </a:solidFill>
                <a:latin typeface="Tw Cen MT"/>
              </a:rPr>
              <a:t>pilares</a:t>
            </a:r>
            <a:r>
              <a:rPr sz="2400" b="0" i="1" dirty="0">
                <a:solidFill>
                  <a:srgbClr val="B0C0E8"/>
                </a:solidFill>
                <a:latin typeface="Tw Cen MT"/>
              </a:rPr>
              <a:t> de la </a:t>
            </a:r>
            <a:r>
              <a:rPr sz="2400" b="0" i="1" dirty="0" err="1">
                <a:solidFill>
                  <a:srgbClr val="B0C0E8"/>
                </a:solidFill>
                <a:latin typeface="Tw Cen MT"/>
              </a:rPr>
              <a:t>Arquitectura</a:t>
            </a:r>
            <a:r>
              <a:rPr sz="2400" b="0" i="1" dirty="0">
                <a:solidFill>
                  <a:srgbClr val="B0C0E8"/>
                </a:solidFill>
                <a:latin typeface="Tw Cen MT"/>
              </a:rPr>
              <a:t> </a:t>
            </a:r>
            <a:r>
              <a:rPr sz="2400" b="0" i="1" dirty="0" err="1">
                <a:solidFill>
                  <a:srgbClr val="B0C0E8"/>
                </a:solidFill>
                <a:latin typeface="Tw Cen MT"/>
              </a:rPr>
              <a:t>Organizacional</a:t>
            </a:r>
            <a:endParaRPr sz="2400" b="0" i="1" dirty="0">
              <a:solidFill>
                <a:srgbClr val="B0C0E8"/>
              </a:solidFill>
              <a:latin typeface="Tw Cen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66800"/>
            <a:ext cx="12192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06400" y="152400"/>
            <a:ext cx="11379200" cy="762000"/>
          </a:xfrm>
          <a:prstGeom prst="rect">
            <a:avLst/>
          </a:prstGeom>
          <a:noFill/>
        </p:spPr>
        <p:txBody>
          <a:bodyPr wrap="square" anchor="ctr"/>
          <a:lstStyle/>
          <a:p>
            <a:pPr algn="l"/>
            <a:r>
              <a:rPr sz="2800" b="1" i="0" dirty="0">
                <a:solidFill>
                  <a:srgbClr val="FFFFFF"/>
                </a:solidFill>
                <a:latin typeface="Tw Cen MT"/>
              </a:rPr>
              <a:t>TALLER — El </a:t>
            </a:r>
            <a:r>
              <a:rPr sz="2800" b="1" i="0" dirty="0" err="1">
                <a:solidFill>
                  <a:srgbClr val="FFFFFF"/>
                </a:solidFill>
                <a:latin typeface="Tw Cen MT"/>
              </a:rPr>
              <a:t>Agente</a:t>
            </a:r>
            <a:r>
              <a:rPr sz="2800" b="1" i="0" dirty="0">
                <a:solidFill>
                  <a:srgbClr val="FFFFFF"/>
                </a:solidFill>
                <a:latin typeface="Tw Cen MT"/>
              </a:rPr>
              <a:t> </a:t>
            </a:r>
            <a:r>
              <a:rPr sz="2800" b="1" i="0" dirty="0" err="1">
                <a:solidFill>
                  <a:srgbClr val="FFFFFF"/>
                </a:solidFill>
                <a:latin typeface="Tw Cen MT"/>
              </a:rPr>
              <a:t>Inmobiliario</a:t>
            </a:r>
            <a:endParaRPr sz="2800" b="1" i="0" dirty="0">
              <a:solidFill>
                <a:srgbClr val="FFFFFF"/>
              </a:solidFill>
              <a:latin typeface="Tw Cen MT"/>
            </a:endParaRPr>
          </a:p>
        </p:txBody>
      </p:sp>
      <p:sp>
        <p:nvSpPr>
          <p:cNvPr id="6" name="TextBox 5"/>
          <p:cNvSpPr txBox="1"/>
          <p:nvPr/>
        </p:nvSpPr>
        <p:spPr>
          <a:xfrm>
            <a:off x="406400" y="1219200"/>
            <a:ext cx="11379200" cy="5493812"/>
          </a:xfrm>
          <a:prstGeom prst="rect">
            <a:avLst/>
          </a:prstGeom>
          <a:noFill/>
        </p:spPr>
        <p:txBody>
          <a:bodyPr wrap="square">
            <a:spAutoFit/>
          </a:bodyPr>
          <a:lstStyle/>
          <a:p>
            <a:pPr algn="l">
              <a:spcBef>
                <a:spcPts val="500"/>
              </a:spcBef>
            </a:pPr>
            <a:r>
              <a:rPr sz="2400" b="0" i="0" dirty="0">
                <a:solidFill>
                  <a:srgbClr val="E8F5E9"/>
                </a:solidFill>
                <a:latin typeface="Tw Cen MT"/>
              </a:rPr>
              <a:t>■  Un </a:t>
            </a:r>
            <a:r>
              <a:rPr sz="2400" b="0" i="0" dirty="0" err="1">
                <a:solidFill>
                  <a:srgbClr val="E8F5E9"/>
                </a:solidFill>
                <a:latin typeface="Tw Cen MT"/>
              </a:rPr>
              <a:t>agente</a:t>
            </a:r>
            <a:r>
              <a:rPr sz="2400" b="0" i="0" dirty="0">
                <a:solidFill>
                  <a:srgbClr val="E8F5E9"/>
                </a:solidFill>
                <a:latin typeface="Tw Cen MT"/>
              </a:rPr>
              <a:t> </a:t>
            </a:r>
            <a:r>
              <a:rPr sz="2400" b="0" i="0" dirty="0" err="1">
                <a:solidFill>
                  <a:srgbClr val="E8F5E9"/>
                </a:solidFill>
                <a:latin typeface="Tw Cen MT"/>
              </a:rPr>
              <a:t>inmobiliario</a:t>
            </a:r>
            <a:r>
              <a:rPr sz="2400" b="0" i="0" dirty="0">
                <a:solidFill>
                  <a:srgbClr val="E8F5E9"/>
                </a:solidFill>
                <a:latin typeface="Tw Cen MT"/>
              </a:rPr>
              <a:t> </a:t>
            </a:r>
            <a:r>
              <a:rPr sz="2400" b="0" i="0" dirty="0" err="1">
                <a:solidFill>
                  <a:srgbClr val="E8F5E9"/>
                </a:solidFill>
                <a:latin typeface="Tw Cen MT"/>
              </a:rPr>
              <a:t>vende</a:t>
            </a:r>
            <a:r>
              <a:rPr sz="2400" b="0" i="0" dirty="0">
                <a:solidFill>
                  <a:srgbClr val="E8F5E9"/>
                </a:solidFill>
                <a:latin typeface="Tw Cen MT"/>
              </a:rPr>
              <a:t> casas a 3 </a:t>
            </a:r>
            <a:r>
              <a:rPr sz="2400" b="0" i="0" dirty="0" err="1">
                <a:solidFill>
                  <a:srgbClr val="E8F5E9"/>
                </a:solidFill>
                <a:latin typeface="Tw Cen MT"/>
              </a:rPr>
              <a:t>precios</a:t>
            </a:r>
            <a:r>
              <a:rPr sz="2400" b="0" i="0" dirty="0">
                <a:solidFill>
                  <a:srgbClr val="E8F5E9"/>
                </a:solidFill>
                <a:latin typeface="Tw Cen MT"/>
              </a:rPr>
              <a:t>: $200.000 / $300.000 / $350.000. Comisión: 1,5%.</a:t>
            </a:r>
          </a:p>
          <a:p>
            <a:pPr algn="l">
              <a:spcBef>
                <a:spcPts val="500"/>
              </a:spcBef>
            </a:pPr>
            <a:r>
              <a:rPr sz="2400" b="0" i="0" dirty="0">
                <a:solidFill>
                  <a:srgbClr val="E8F5E9"/>
                </a:solidFill>
                <a:latin typeface="Tw Cen MT"/>
              </a:rPr>
              <a:t>■  Vender </a:t>
            </a:r>
            <a:r>
              <a:rPr sz="2400" b="0" i="0" dirty="0" err="1">
                <a:solidFill>
                  <a:srgbClr val="E8F5E9"/>
                </a:solidFill>
                <a:latin typeface="Tw Cen MT"/>
              </a:rPr>
              <a:t>más</a:t>
            </a:r>
            <a:r>
              <a:rPr sz="2400" b="0" i="0" dirty="0">
                <a:solidFill>
                  <a:srgbClr val="E8F5E9"/>
                </a:solidFill>
                <a:latin typeface="Tw Cen MT"/>
              </a:rPr>
              <a:t> </a:t>
            </a:r>
            <a:r>
              <a:rPr sz="2400" b="0" i="0" dirty="0" err="1">
                <a:solidFill>
                  <a:srgbClr val="E8F5E9"/>
                </a:solidFill>
                <a:latin typeface="Tw Cen MT"/>
              </a:rPr>
              <a:t>caro</a:t>
            </a:r>
            <a:r>
              <a:rPr sz="2400" b="0" i="0" dirty="0">
                <a:solidFill>
                  <a:srgbClr val="E8F5E9"/>
                </a:solidFill>
                <a:latin typeface="Tw Cen MT"/>
              </a:rPr>
              <a:t> </a:t>
            </a:r>
            <a:r>
              <a:rPr sz="2400" b="0" i="0" dirty="0" err="1">
                <a:solidFill>
                  <a:srgbClr val="E8F5E9"/>
                </a:solidFill>
                <a:latin typeface="Tw Cen MT"/>
              </a:rPr>
              <a:t>lleva</a:t>
            </a:r>
            <a:r>
              <a:rPr sz="2400" b="0" i="0" dirty="0">
                <a:solidFill>
                  <a:srgbClr val="E8F5E9"/>
                </a:solidFill>
                <a:latin typeface="Tw Cen MT"/>
              </a:rPr>
              <a:t> </a:t>
            </a:r>
            <a:r>
              <a:rPr sz="2400" b="0" i="0" dirty="0" err="1">
                <a:solidFill>
                  <a:srgbClr val="E8F5E9"/>
                </a:solidFill>
                <a:latin typeface="Tw Cen MT"/>
              </a:rPr>
              <a:t>más</a:t>
            </a:r>
            <a:r>
              <a:rPr sz="2400" b="0" i="0" dirty="0">
                <a:solidFill>
                  <a:srgbClr val="E8F5E9"/>
                </a:solidFill>
                <a:latin typeface="Tw Cen MT"/>
              </a:rPr>
              <a:t> </a:t>
            </a:r>
            <a:r>
              <a:rPr sz="2400" b="0" i="0" dirty="0" err="1">
                <a:solidFill>
                  <a:srgbClr val="E8F5E9"/>
                </a:solidFill>
                <a:latin typeface="Tw Cen MT"/>
              </a:rPr>
              <a:t>tiempo</a:t>
            </a:r>
            <a:r>
              <a:rPr sz="2400" b="0" i="0" dirty="0">
                <a:solidFill>
                  <a:srgbClr val="E8F5E9"/>
                </a:solidFill>
                <a:latin typeface="Tw Cen MT"/>
              </a:rPr>
              <a:t>: 4 días ($200K)  ▸  5 días ($300K)  ▸  8 días ($350K).</a:t>
            </a:r>
          </a:p>
          <a:p>
            <a:pPr algn="l">
              <a:spcBef>
                <a:spcPts val="500"/>
              </a:spcBef>
            </a:pPr>
            <a:r>
              <a:rPr sz="2400" b="0" i="0" dirty="0">
                <a:solidFill>
                  <a:srgbClr val="E8F5E9"/>
                </a:solidFill>
                <a:latin typeface="Tw Cen MT"/>
              </a:rPr>
              <a:t>■  </a:t>
            </a:r>
            <a:r>
              <a:rPr sz="2400" b="0" i="0" dirty="0" err="1">
                <a:solidFill>
                  <a:srgbClr val="E8F5E9"/>
                </a:solidFill>
                <a:latin typeface="Tw Cen MT"/>
              </a:rPr>
              <a:t>Trabaja</a:t>
            </a:r>
            <a:r>
              <a:rPr sz="2400" b="0" i="0" dirty="0">
                <a:solidFill>
                  <a:srgbClr val="E8F5E9"/>
                </a:solidFill>
                <a:latin typeface="Tw Cen MT"/>
              </a:rPr>
              <a:t> 20 días al </a:t>
            </a:r>
            <a:r>
              <a:rPr sz="2400" b="0" i="0" dirty="0" err="1">
                <a:solidFill>
                  <a:srgbClr val="E8F5E9"/>
                </a:solidFill>
                <a:latin typeface="Tw Cen MT"/>
              </a:rPr>
              <a:t>mes</a:t>
            </a:r>
            <a:r>
              <a:rPr sz="2400" b="0" i="0" dirty="0">
                <a:solidFill>
                  <a:srgbClr val="E8F5E9"/>
                </a:solidFill>
                <a:latin typeface="Tw Cen MT"/>
              </a:rPr>
              <a:t>, de a </a:t>
            </a:r>
            <a:r>
              <a:rPr sz="2400" b="0" i="0" dirty="0" err="1">
                <a:solidFill>
                  <a:srgbClr val="E8F5E9"/>
                </a:solidFill>
                <a:latin typeface="Tw Cen MT"/>
              </a:rPr>
              <a:t>una</a:t>
            </a:r>
            <a:r>
              <a:rPr sz="2400" b="0" i="0" dirty="0">
                <a:solidFill>
                  <a:srgbClr val="E8F5E9"/>
                </a:solidFill>
                <a:latin typeface="Tw Cen MT"/>
              </a:rPr>
              <a:t> casa </a:t>
            </a:r>
            <a:r>
              <a:rPr sz="2400" b="0" i="0" dirty="0" err="1">
                <a:solidFill>
                  <a:srgbClr val="E8F5E9"/>
                </a:solidFill>
                <a:latin typeface="Tw Cen MT"/>
              </a:rPr>
              <a:t>por</a:t>
            </a:r>
            <a:r>
              <a:rPr sz="2400" b="0" i="0" dirty="0">
                <a:solidFill>
                  <a:srgbClr val="E8F5E9"/>
                </a:solidFill>
                <a:latin typeface="Tw Cen MT"/>
              </a:rPr>
              <a:t> </a:t>
            </a:r>
            <a:r>
              <a:rPr sz="2400" b="0" i="0" dirty="0" err="1">
                <a:solidFill>
                  <a:srgbClr val="E8F5E9"/>
                </a:solidFill>
                <a:latin typeface="Tw Cen MT"/>
              </a:rPr>
              <a:t>vez</a:t>
            </a:r>
            <a:r>
              <a:rPr sz="2400" b="0" i="0" dirty="0">
                <a:solidFill>
                  <a:srgbClr val="E8F5E9"/>
                </a:solidFill>
                <a:latin typeface="Tw Cen MT"/>
              </a:rPr>
              <a:t>.</a:t>
            </a:r>
            <a:endParaRPr lang="es-419" sz="2400" b="0" i="0" dirty="0">
              <a:solidFill>
                <a:srgbClr val="E8F5E9"/>
              </a:solidFill>
              <a:latin typeface="Tw Cen MT"/>
            </a:endParaRPr>
          </a:p>
          <a:p>
            <a:pPr algn="l">
              <a:spcBef>
                <a:spcPts val="500"/>
              </a:spcBef>
            </a:pPr>
            <a:endParaRPr sz="2400" b="0" i="0" dirty="0">
              <a:solidFill>
                <a:srgbClr val="E8F5E9"/>
              </a:solidFill>
              <a:latin typeface="Tw Cen MT"/>
            </a:endParaRPr>
          </a:p>
          <a:p>
            <a:pPr algn="l">
              <a:spcBef>
                <a:spcPts val="500"/>
              </a:spcBef>
            </a:pPr>
            <a:r>
              <a:rPr sz="2400" b="1" i="0" dirty="0">
                <a:solidFill>
                  <a:srgbClr val="52B788"/>
                </a:solidFill>
                <a:latin typeface="Tw Cen MT"/>
              </a:rPr>
              <a:t>PREGUNTAS</a:t>
            </a:r>
          </a:p>
          <a:p>
            <a:pPr marL="342900" indent="-342900" algn="l">
              <a:spcBef>
                <a:spcPts val="500"/>
              </a:spcBef>
              <a:buFont typeface="Wingdings" panose="05000000000000000000" pitchFamily="2" charset="2"/>
              <a:buChar char="ü"/>
            </a:pPr>
            <a:r>
              <a:rPr sz="2400" b="1" i="0" dirty="0">
                <a:solidFill>
                  <a:srgbClr val="E8F5E9"/>
                </a:solidFill>
                <a:latin typeface="Tw Cen MT"/>
              </a:rPr>
              <a:t> ¿A </a:t>
            </a:r>
            <a:r>
              <a:rPr sz="2400" b="1" i="0" dirty="0" err="1">
                <a:solidFill>
                  <a:srgbClr val="E8F5E9"/>
                </a:solidFill>
                <a:latin typeface="Tw Cen MT"/>
              </a:rPr>
              <a:t>qué</a:t>
            </a:r>
            <a:r>
              <a:rPr sz="2400" b="1" i="0" dirty="0">
                <a:solidFill>
                  <a:srgbClr val="E8F5E9"/>
                </a:solidFill>
                <a:latin typeface="Tw Cen MT"/>
              </a:rPr>
              <a:t> </a:t>
            </a:r>
            <a:r>
              <a:rPr sz="2400" b="1" i="0" dirty="0" err="1">
                <a:solidFill>
                  <a:srgbClr val="E8F5E9"/>
                </a:solidFill>
                <a:latin typeface="Tw Cen MT"/>
              </a:rPr>
              <a:t>precio</a:t>
            </a:r>
            <a:r>
              <a:rPr sz="2400" b="1" i="0" dirty="0">
                <a:solidFill>
                  <a:srgbClr val="E8F5E9"/>
                </a:solidFill>
                <a:latin typeface="Tw Cen MT"/>
              </a:rPr>
              <a:t> </a:t>
            </a:r>
            <a:r>
              <a:rPr sz="2400" b="1" i="0" dirty="0" err="1">
                <a:solidFill>
                  <a:srgbClr val="E8F5E9"/>
                </a:solidFill>
                <a:latin typeface="Tw Cen MT"/>
              </a:rPr>
              <a:t>venderá</a:t>
            </a:r>
            <a:r>
              <a:rPr sz="2400" b="1" i="0" dirty="0">
                <a:solidFill>
                  <a:srgbClr val="E8F5E9"/>
                </a:solidFill>
                <a:latin typeface="Tw Cen MT"/>
              </a:rPr>
              <a:t> las casas </a:t>
            </a:r>
            <a:r>
              <a:rPr sz="2400" b="1" i="0" dirty="0" err="1">
                <a:solidFill>
                  <a:srgbClr val="E8F5E9"/>
                </a:solidFill>
                <a:latin typeface="Tw Cen MT"/>
              </a:rPr>
              <a:t>si</a:t>
            </a:r>
            <a:r>
              <a:rPr sz="2400" b="1" i="0" dirty="0">
                <a:solidFill>
                  <a:srgbClr val="E8F5E9"/>
                </a:solidFill>
                <a:latin typeface="Tw Cen MT"/>
              </a:rPr>
              <a:t> </a:t>
            </a:r>
            <a:r>
              <a:rPr sz="2400" b="1" i="0" dirty="0" err="1">
                <a:solidFill>
                  <a:srgbClr val="E8F5E9"/>
                </a:solidFill>
                <a:latin typeface="Tw Cen MT"/>
              </a:rPr>
              <a:t>maximiza</a:t>
            </a:r>
            <a:r>
              <a:rPr sz="2400" b="1" i="0" dirty="0">
                <a:solidFill>
                  <a:srgbClr val="E8F5E9"/>
                </a:solidFill>
                <a:latin typeface="Tw Cen MT"/>
              </a:rPr>
              <a:t> </a:t>
            </a:r>
            <a:r>
              <a:rPr sz="2400" b="1" i="0" dirty="0" err="1">
                <a:solidFill>
                  <a:srgbClr val="E8F5E9"/>
                </a:solidFill>
                <a:latin typeface="Tw Cen MT"/>
              </a:rPr>
              <a:t>su</a:t>
            </a:r>
            <a:r>
              <a:rPr sz="2400" b="1" i="0" dirty="0">
                <a:solidFill>
                  <a:srgbClr val="E8F5E9"/>
                </a:solidFill>
                <a:latin typeface="Tw Cen MT"/>
              </a:rPr>
              <a:t> </a:t>
            </a:r>
            <a:r>
              <a:rPr sz="2400" b="1" i="0" dirty="0" err="1">
                <a:solidFill>
                  <a:srgbClr val="E8F5E9"/>
                </a:solidFill>
                <a:latin typeface="Tw Cen MT"/>
              </a:rPr>
              <a:t>comisión</a:t>
            </a:r>
            <a:r>
              <a:rPr sz="2400" b="1" i="0" dirty="0">
                <a:solidFill>
                  <a:srgbClr val="E8F5E9"/>
                </a:solidFill>
                <a:latin typeface="Tw Cen MT"/>
              </a:rPr>
              <a:t> </a:t>
            </a:r>
            <a:r>
              <a:rPr sz="2400" b="1" i="0" dirty="0" err="1">
                <a:solidFill>
                  <a:srgbClr val="E8F5E9"/>
                </a:solidFill>
                <a:latin typeface="Tw Cen MT"/>
              </a:rPr>
              <a:t>mensual</a:t>
            </a:r>
            <a:r>
              <a:rPr sz="2400" b="1" i="0" dirty="0">
                <a:solidFill>
                  <a:srgbClr val="E8F5E9"/>
                </a:solidFill>
                <a:latin typeface="Tw Cen MT"/>
              </a:rPr>
              <a:t> </a:t>
            </a:r>
            <a:r>
              <a:rPr sz="2400" b="1" i="0" dirty="0" err="1">
                <a:solidFill>
                  <a:srgbClr val="E8F5E9"/>
                </a:solidFill>
                <a:latin typeface="Tw Cen MT"/>
              </a:rPr>
              <a:t>propia</a:t>
            </a:r>
            <a:r>
              <a:rPr sz="2400" b="1" i="0" dirty="0">
                <a:solidFill>
                  <a:srgbClr val="E8F5E9"/>
                </a:solidFill>
                <a:latin typeface="Tw Cen MT"/>
              </a:rPr>
              <a:t>?</a:t>
            </a:r>
          </a:p>
          <a:p>
            <a:pPr marL="342900" indent="-342900" algn="l">
              <a:spcBef>
                <a:spcPts val="500"/>
              </a:spcBef>
              <a:buFont typeface="Wingdings" panose="05000000000000000000" pitchFamily="2" charset="2"/>
              <a:buChar char="ü"/>
            </a:pPr>
            <a:r>
              <a:rPr sz="2400" b="1" i="0" dirty="0">
                <a:solidFill>
                  <a:srgbClr val="E8F5E9"/>
                </a:solidFill>
                <a:latin typeface="Tw Cen MT"/>
              </a:rPr>
              <a:t> ¿</a:t>
            </a:r>
            <a:r>
              <a:rPr sz="2400" b="1" i="0" dirty="0" err="1">
                <a:solidFill>
                  <a:srgbClr val="E8F5E9"/>
                </a:solidFill>
                <a:latin typeface="Tw Cen MT"/>
              </a:rPr>
              <a:t>Estás</a:t>
            </a:r>
            <a:r>
              <a:rPr sz="2400" b="1" i="0" dirty="0">
                <a:solidFill>
                  <a:srgbClr val="E8F5E9"/>
                </a:solidFill>
                <a:latin typeface="Tw Cen MT"/>
              </a:rPr>
              <a:t> </a:t>
            </a:r>
            <a:r>
              <a:rPr sz="2400" b="1" i="0" dirty="0" err="1">
                <a:solidFill>
                  <a:srgbClr val="E8F5E9"/>
                </a:solidFill>
                <a:latin typeface="Tw Cen MT"/>
              </a:rPr>
              <a:t>conforme</a:t>
            </a:r>
            <a:r>
              <a:rPr sz="2400" b="1" i="0" dirty="0">
                <a:solidFill>
                  <a:srgbClr val="E8F5E9"/>
                </a:solidFill>
                <a:latin typeface="Tw Cen MT"/>
              </a:rPr>
              <a:t> con </a:t>
            </a:r>
            <a:r>
              <a:rPr sz="2400" b="1" i="0" dirty="0" err="1">
                <a:solidFill>
                  <a:srgbClr val="E8F5E9"/>
                </a:solidFill>
                <a:latin typeface="Tw Cen MT"/>
              </a:rPr>
              <a:t>esto</a:t>
            </a:r>
            <a:r>
              <a:rPr sz="2400" b="1" i="0" dirty="0">
                <a:solidFill>
                  <a:srgbClr val="E8F5E9"/>
                </a:solidFill>
                <a:latin typeface="Tw Cen MT"/>
              </a:rPr>
              <a:t> </a:t>
            </a:r>
            <a:r>
              <a:rPr sz="2400" b="1" i="0" dirty="0" err="1">
                <a:solidFill>
                  <a:srgbClr val="E8F5E9"/>
                </a:solidFill>
                <a:latin typeface="Tw Cen MT"/>
              </a:rPr>
              <a:t>si</a:t>
            </a:r>
            <a:r>
              <a:rPr sz="2400" b="1" i="0" dirty="0">
                <a:solidFill>
                  <a:srgbClr val="E8F5E9"/>
                </a:solidFill>
                <a:latin typeface="Tw Cen MT"/>
              </a:rPr>
              <a:t> </a:t>
            </a:r>
            <a:r>
              <a:rPr sz="2400" b="1" i="0" dirty="0" err="1">
                <a:solidFill>
                  <a:srgbClr val="E8F5E9"/>
                </a:solidFill>
                <a:latin typeface="Tw Cen MT"/>
              </a:rPr>
              <a:t>sos</a:t>
            </a:r>
            <a:r>
              <a:rPr sz="2400" b="1" i="0" dirty="0">
                <a:solidFill>
                  <a:srgbClr val="E8F5E9"/>
                </a:solidFill>
                <a:latin typeface="Tw Cen MT"/>
              </a:rPr>
              <a:t> </a:t>
            </a:r>
            <a:r>
              <a:rPr sz="2400" b="1" i="0" dirty="0" err="1">
                <a:solidFill>
                  <a:srgbClr val="E8F5E9"/>
                </a:solidFill>
                <a:latin typeface="Tw Cen MT"/>
              </a:rPr>
              <a:t>el</a:t>
            </a:r>
            <a:r>
              <a:rPr sz="2400" b="1" i="0" dirty="0">
                <a:solidFill>
                  <a:srgbClr val="E8F5E9"/>
                </a:solidFill>
                <a:latin typeface="Tw Cen MT"/>
              </a:rPr>
              <a:t> </a:t>
            </a:r>
            <a:r>
              <a:rPr sz="2400" b="1" i="0" dirty="0" err="1">
                <a:solidFill>
                  <a:srgbClr val="E8F5E9"/>
                </a:solidFill>
                <a:latin typeface="Tw Cen MT"/>
              </a:rPr>
              <a:t>dueño</a:t>
            </a:r>
            <a:r>
              <a:rPr sz="2400" b="1" i="0" dirty="0">
                <a:solidFill>
                  <a:srgbClr val="E8F5E9"/>
                </a:solidFill>
                <a:latin typeface="Tw Cen MT"/>
              </a:rPr>
              <a:t> de la casa?</a:t>
            </a:r>
          </a:p>
          <a:p>
            <a:pPr marL="342900" indent="-342900" algn="l">
              <a:spcBef>
                <a:spcPts val="500"/>
              </a:spcBef>
              <a:buFont typeface="Wingdings" panose="05000000000000000000" pitchFamily="2" charset="2"/>
              <a:buChar char="ü"/>
            </a:pPr>
            <a:r>
              <a:rPr sz="2400" b="1" i="0" dirty="0">
                <a:solidFill>
                  <a:srgbClr val="E8F5E9"/>
                </a:solidFill>
                <a:latin typeface="Tw Cen MT"/>
              </a:rPr>
              <a:t> Si </a:t>
            </a:r>
            <a:r>
              <a:rPr sz="2400" b="1" i="0" dirty="0" err="1">
                <a:solidFill>
                  <a:srgbClr val="E8F5E9"/>
                </a:solidFill>
                <a:latin typeface="Tw Cen MT"/>
              </a:rPr>
              <a:t>el</a:t>
            </a:r>
            <a:r>
              <a:rPr sz="2400" b="1" i="0" dirty="0">
                <a:solidFill>
                  <a:srgbClr val="E8F5E9"/>
                </a:solidFill>
                <a:latin typeface="Tw Cen MT"/>
              </a:rPr>
              <a:t> </a:t>
            </a:r>
            <a:r>
              <a:rPr sz="2400" b="1" i="0" dirty="0" err="1">
                <a:solidFill>
                  <a:srgbClr val="E8F5E9"/>
                </a:solidFill>
                <a:latin typeface="Tw Cen MT"/>
              </a:rPr>
              <a:t>agente</a:t>
            </a:r>
            <a:r>
              <a:rPr sz="2400" b="1" i="0" dirty="0">
                <a:solidFill>
                  <a:srgbClr val="E8F5E9"/>
                </a:solidFill>
                <a:latin typeface="Tw Cen MT"/>
              </a:rPr>
              <a:t> </a:t>
            </a:r>
            <a:r>
              <a:rPr sz="2400" b="1" i="0" dirty="0" err="1">
                <a:solidFill>
                  <a:srgbClr val="E8F5E9"/>
                </a:solidFill>
                <a:latin typeface="Tw Cen MT"/>
              </a:rPr>
              <a:t>vende</a:t>
            </a:r>
            <a:r>
              <a:rPr sz="2400" b="1" i="0" dirty="0">
                <a:solidFill>
                  <a:srgbClr val="E8F5E9"/>
                </a:solidFill>
                <a:latin typeface="Tw Cen MT"/>
              </a:rPr>
              <a:t> SU PROPIA casa: ¿a </a:t>
            </a:r>
            <a:r>
              <a:rPr sz="2400" b="1" i="0" dirty="0" err="1">
                <a:solidFill>
                  <a:srgbClr val="E8F5E9"/>
                </a:solidFill>
                <a:latin typeface="Tw Cen MT"/>
              </a:rPr>
              <a:t>qué</a:t>
            </a:r>
            <a:r>
              <a:rPr sz="2400" b="1" i="0" dirty="0">
                <a:solidFill>
                  <a:srgbClr val="E8F5E9"/>
                </a:solidFill>
                <a:latin typeface="Tw Cen MT"/>
              </a:rPr>
              <a:t> </a:t>
            </a:r>
            <a:r>
              <a:rPr sz="2400" b="1" i="0" dirty="0" err="1">
                <a:solidFill>
                  <a:srgbClr val="E8F5E9"/>
                </a:solidFill>
                <a:latin typeface="Tw Cen MT"/>
              </a:rPr>
              <a:t>precio</a:t>
            </a:r>
            <a:r>
              <a:rPr sz="2400" b="1" i="0" dirty="0">
                <a:solidFill>
                  <a:srgbClr val="E8F5E9"/>
                </a:solidFill>
                <a:latin typeface="Tw Cen MT"/>
              </a:rPr>
              <a:t> la </a:t>
            </a:r>
            <a:r>
              <a:rPr sz="2400" b="1" i="0" dirty="0" err="1">
                <a:solidFill>
                  <a:srgbClr val="E8F5E9"/>
                </a:solidFill>
                <a:latin typeface="Tw Cen MT"/>
              </a:rPr>
              <a:t>vende</a:t>
            </a:r>
            <a:r>
              <a:rPr sz="2400" b="1" i="0" dirty="0">
                <a:solidFill>
                  <a:srgbClr val="E8F5E9"/>
                </a:solidFill>
                <a:latin typeface="Tw Cen MT"/>
              </a:rPr>
              <a:t> y </a:t>
            </a:r>
            <a:r>
              <a:rPr sz="2400" b="1" i="0" dirty="0" err="1">
                <a:solidFill>
                  <a:srgbClr val="E8F5E9"/>
                </a:solidFill>
                <a:latin typeface="Tw Cen MT"/>
              </a:rPr>
              <a:t>cuánto</a:t>
            </a:r>
            <a:r>
              <a:rPr sz="2400" b="1" i="0" dirty="0">
                <a:solidFill>
                  <a:srgbClr val="E8F5E9"/>
                </a:solidFill>
                <a:latin typeface="Tw Cen MT"/>
              </a:rPr>
              <a:t> </a:t>
            </a:r>
            <a:r>
              <a:rPr sz="2400" b="1" i="0" dirty="0" err="1">
                <a:solidFill>
                  <a:srgbClr val="E8F5E9"/>
                </a:solidFill>
                <a:latin typeface="Tw Cen MT"/>
              </a:rPr>
              <a:t>tiempo</a:t>
            </a:r>
            <a:r>
              <a:rPr sz="2400" b="1" i="0" dirty="0">
                <a:solidFill>
                  <a:srgbClr val="E8F5E9"/>
                </a:solidFill>
                <a:latin typeface="Tw Cen MT"/>
              </a:rPr>
              <a:t> le </a:t>
            </a:r>
            <a:r>
              <a:rPr sz="2400" b="1" i="0" dirty="0" err="1">
                <a:solidFill>
                  <a:srgbClr val="E8F5E9"/>
                </a:solidFill>
                <a:latin typeface="Tw Cen MT"/>
              </a:rPr>
              <a:t>dedica</a:t>
            </a:r>
            <a:r>
              <a:rPr sz="2400" b="1" i="0" dirty="0">
                <a:solidFill>
                  <a:srgbClr val="E8F5E9"/>
                </a:solidFill>
                <a:latin typeface="Tw Cen MT"/>
              </a:rPr>
              <a:t>? ¿Por </a:t>
            </a:r>
            <a:r>
              <a:rPr sz="2400" b="1" i="0" dirty="0" err="1">
                <a:solidFill>
                  <a:srgbClr val="E8F5E9"/>
                </a:solidFill>
                <a:latin typeface="Tw Cen MT"/>
              </a:rPr>
              <a:t>qué</a:t>
            </a:r>
            <a:r>
              <a:rPr sz="2400" b="1" i="0" dirty="0">
                <a:solidFill>
                  <a:srgbClr val="E8F5E9"/>
                </a:solidFill>
                <a:latin typeface="Tw Cen MT"/>
              </a:rPr>
              <a:t>?</a:t>
            </a:r>
            <a:endParaRPr lang="es-419" sz="2400" b="1" i="0" dirty="0">
              <a:solidFill>
                <a:srgbClr val="E8F5E9"/>
              </a:solidFill>
              <a:latin typeface="Tw Cen MT"/>
            </a:endParaRPr>
          </a:p>
          <a:p>
            <a:pPr marL="342900" indent="-342900" algn="l">
              <a:spcBef>
                <a:spcPts val="500"/>
              </a:spcBef>
              <a:buFont typeface="Wingdings" panose="05000000000000000000" pitchFamily="2" charset="2"/>
              <a:buChar char="ü"/>
            </a:pPr>
            <a:endParaRPr sz="2400" b="1" i="0" dirty="0">
              <a:solidFill>
                <a:srgbClr val="E8F5E9"/>
              </a:solidFill>
              <a:latin typeface="Tw Cen MT"/>
            </a:endParaRPr>
          </a:p>
          <a:p>
            <a:pPr algn="l">
              <a:spcBef>
                <a:spcPts val="200"/>
              </a:spcBef>
            </a:pPr>
            <a:r>
              <a:rPr sz="2400" b="0" i="0" dirty="0">
                <a:solidFill>
                  <a:srgbClr val="E8F5E9"/>
                </a:solidFill>
                <a:latin typeface="Tw Cen MT"/>
              </a:rPr>
              <a:t>    ▸  </a:t>
            </a:r>
            <a:r>
              <a:rPr sz="2800" b="1" i="0" dirty="0">
                <a:solidFill>
                  <a:srgbClr val="E8F5E9"/>
                </a:solidFill>
                <a:latin typeface="Tw Cen MT"/>
              </a:rPr>
              <a:t>Construyan un </a:t>
            </a:r>
            <a:r>
              <a:rPr sz="2800" b="1" i="0" dirty="0" err="1">
                <a:solidFill>
                  <a:srgbClr val="E8F5E9"/>
                </a:solidFill>
                <a:latin typeface="Tw Cen MT"/>
              </a:rPr>
              <a:t>modelo</a:t>
            </a:r>
            <a:r>
              <a:rPr sz="2800" b="1" i="0" dirty="0">
                <a:solidFill>
                  <a:srgbClr val="E8F5E9"/>
                </a:solidFill>
                <a:latin typeface="Tw Cen MT"/>
              </a:rPr>
              <a:t> simple (</a:t>
            </a:r>
            <a:r>
              <a:rPr sz="2800" b="1" i="0" dirty="0" err="1">
                <a:solidFill>
                  <a:srgbClr val="E8F5E9"/>
                </a:solidFill>
                <a:latin typeface="Tw Cen MT"/>
              </a:rPr>
              <a:t>tabla</a:t>
            </a:r>
            <a:r>
              <a:rPr sz="2800" b="1" i="0" dirty="0">
                <a:solidFill>
                  <a:srgbClr val="E8F5E9"/>
                </a:solidFill>
                <a:latin typeface="Tw Cen MT"/>
              </a:rPr>
              <a:t>) para resolver </a:t>
            </a:r>
            <a:r>
              <a:rPr sz="2800" b="1" i="0" dirty="0" err="1">
                <a:solidFill>
                  <a:srgbClr val="E8F5E9"/>
                </a:solidFill>
                <a:latin typeface="Tw Cen MT"/>
              </a:rPr>
              <a:t>el</a:t>
            </a:r>
            <a:r>
              <a:rPr sz="2800" b="1" i="0" dirty="0">
                <a:solidFill>
                  <a:srgbClr val="E8F5E9"/>
                </a:solidFill>
                <a:latin typeface="Tw Cen MT"/>
              </a:rPr>
              <a:t> </a:t>
            </a:r>
            <a:r>
              <a:rPr sz="2800" b="1" i="0" dirty="0" err="1">
                <a:solidFill>
                  <a:srgbClr val="E8F5E9"/>
                </a:solidFill>
                <a:latin typeface="Tw Cen MT"/>
              </a:rPr>
              <a:t>problema</a:t>
            </a:r>
            <a:r>
              <a:rPr sz="2800" b="1" i="0" dirty="0">
                <a:solidFill>
                  <a:srgbClr val="E8F5E9"/>
                </a:solidFill>
                <a:latin typeface="Tw Cen MT"/>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dirty="0" err="1">
                <a:solidFill>
                  <a:srgbClr val="FFFFFF"/>
                </a:solidFill>
                <a:latin typeface="Tw Cen MT"/>
              </a:rPr>
              <a:t>Consideraciones</a:t>
            </a:r>
            <a:r>
              <a:rPr sz="2800" b="1" i="0" dirty="0">
                <a:solidFill>
                  <a:srgbClr val="FFFFFF"/>
                </a:solidFill>
                <a:latin typeface="Tw Cen MT"/>
              </a:rPr>
              <a:t> </a:t>
            </a:r>
            <a:r>
              <a:rPr sz="2800" b="1" i="0" dirty="0" err="1">
                <a:solidFill>
                  <a:srgbClr val="FFFFFF"/>
                </a:solidFill>
                <a:latin typeface="Tw Cen MT"/>
              </a:rPr>
              <a:t>sobre</a:t>
            </a:r>
            <a:r>
              <a:rPr sz="2800" b="1" i="0" dirty="0">
                <a:solidFill>
                  <a:srgbClr val="FFFFFF"/>
                </a:solidFill>
                <a:latin typeface="Tw Cen MT"/>
              </a:rPr>
              <a:t> </a:t>
            </a:r>
            <a:r>
              <a:rPr sz="2800" b="1" i="0" dirty="0" err="1">
                <a:solidFill>
                  <a:srgbClr val="FFFFFF"/>
                </a:solidFill>
                <a:latin typeface="Tw Cen MT"/>
              </a:rPr>
              <a:t>Incentivos</a:t>
            </a:r>
            <a:r>
              <a:rPr lang="es-419" sz="2800" b="1" i="0" dirty="0">
                <a:solidFill>
                  <a:srgbClr val="FFFFFF"/>
                </a:solidFill>
                <a:latin typeface="Tw Cen MT"/>
              </a:rPr>
              <a:t> - </a:t>
            </a:r>
            <a:r>
              <a:rPr lang="es-419" sz="2800" b="1" i="0" dirty="0" err="1">
                <a:solidFill>
                  <a:srgbClr val="FFFFFF"/>
                </a:solidFill>
                <a:latin typeface="Tw Cen MT"/>
              </a:rPr>
              <a:t>Freakonomics</a:t>
            </a:r>
            <a:endParaRPr sz="2800" b="1" i="0" dirty="0">
              <a:solidFill>
                <a:srgbClr val="FFFFFF"/>
              </a:solidFill>
              <a:latin typeface="Tw Cen MT"/>
            </a:endParaRPr>
          </a:p>
        </p:txBody>
      </p:sp>
      <p:sp>
        <p:nvSpPr>
          <p:cNvPr id="5" name="TextBox 4"/>
          <p:cNvSpPr txBox="1"/>
          <p:nvPr/>
        </p:nvSpPr>
        <p:spPr>
          <a:xfrm>
            <a:off x="406400" y="1219200"/>
            <a:ext cx="11379200" cy="5622052"/>
          </a:xfrm>
          <a:prstGeom prst="rect">
            <a:avLst/>
          </a:prstGeom>
          <a:noFill/>
        </p:spPr>
        <p:txBody>
          <a:bodyPr wrap="square">
            <a:spAutoFit/>
          </a:bodyPr>
          <a:lstStyle/>
          <a:p>
            <a:pPr algn="l">
              <a:spcBef>
                <a:spcPts val="500"/>
              </a:spcBef>
            </a:pPr>
            <a:r>
              <a:rPr sz="2800" b="1" i="0" dirty="0">
                <a:solidFill>
                  <a:srgbClr val="222222"/>
                </a:solidFill>
                <a:latin typeface="Tw Cen MT"/>
              </a:rPr>
              <a:t>■  Los </a:t>
            </a:r>
            <a:r>
              <a:rPr sz="2800" b="1" i="0" dirty="0" err="1">
                <a:solidFill>
                  <a:srgbClr val="222222"/>
                </a:solidFill>
                <a:latin typeface="Tw Cen MT"/>
              </a:rPr>
              <a:t>incentivos</a:t>
            </a:r>
            <a:r>
              <a:rPr sz="2800" b="1" i="0" dirty="0">
                <a:solidFill>
                  <a:srgbClr val="222222"/>
                </a:solidFill>
                <a:latin typeface="Tw Cen MT"/>
              </a:rPr>
              <a:t> </a:t>
            </a:r>
            <a:r>
              <a:rPr sz="2800" b="1" i="0" dirty="0" err="1">
                <a:solidFill>
                  <a:srgbClr val="222222"/>
                </a:solidFill>
                <a:latin typeface="Tw Cen MT"/>
              </a:rPr>
              <a:t>importan</a:t>
            </a:r>
            <a:r>
              <a:rPr sz="2800" b="1" i="0" dirty="0">
                <a:solidFill>
                  <a:srgbClr val="222222"/>
                </a:solidFill>
                <a:latin typeface="Tw Cen MT"/>
              </a:rPr>
              <a:t>: </a:t>
            </a:r>
            <a:r>
              <a:rPr lang="es-419" sz="2800" b="1" i="0" dirty="0">
                <a:solidFill>
                  <a:srgbClr val="222222"/>
                </a:solidFill>
                <a:latin typeface="Tw Cen MT"/>
              </a:rPr>
              <a:t>son </a:t>
            </a:r>
            <a:r>
              <a:rPr sz="2800" b="1" i="0" dirty="0" err="1">
                <a:solidFill>
                  <a:srgbClr val="222222"/>
                </a:solidFill>
                <a:latin typeface="Tw Cen MT"/>
              </a:rPr>
              <a:t>medios</a:t>
            </a:r>
            <a:r>
              <a:rPr sz="2800" b="1" i="0" dirty="0">
                <a:solidFill>
                  <a:srgbClr val="222222"/>
                </a:solidFill>
                <a:latin typeface="Tw Cen MT"/>
              </a:rPr>
              <a:t> para </a:t>
            </a:r>
            <a:r>
              <a:rPr sz="2800" b="1" i="0" dirty="0" err="1">
                <a:solidFill>
                  <a:srgbClr val="222222"/>
                </a:solidFill>
                <a:latin typeface="Tw Cen MT"/>
              </a:rPr>
              <a:t>hacer</a:t>
            </a:r>
            <a:r>
              <a:rPr sz="2800" b="1" i="0" dirty="0">
                <a:solidFill>
                  <a:srgbClr val="222222"/>
                </a:solidFill>
                <a:latin typeface="Tw Cen MT"/>
              </a:rPr>
              <a:t> </a:t>
            </a:r>
            <a:r>
              <a:rPr sz="2800" b="1" i="0" dirty="0" err="1">
                <a:solidFill>
                  <a:srgbClr val="222222"/>
                </a:solidFill>
                <a:latin typeface="Tw Cen MT"/>
              </a:rPr>
              <a:t>más</a:t>
            </a:r>
            <a:r>
              <a:rPr sz="2800" b="1" i="0" dirty="0">
                <a:solidFill>
                  <a:srgbClr val="222222"/>
                </a:solidFill>
                <a:latin typeface="Tw Cen MT"/>
              </a:rPr>
              <a:t> </a:t>
            </a:r>
            <a:r>
              <a:rPr sz="2800" b="1" i="0" dirty="0" err="1">
                <a:solidFill>
                  <a:srgbClr val="222222"/>
                </a:solidFill>
                <a:latin typeface="Tw Cen MT"/>
              </a:rPr>
              <a:t>cosas</a:t>
            </a:r>
            <a:r>
              <a:rPr sz="2800" b="1" i="0" dirty="0">
                <a:solidFill>
                  <a:srgbClr val="222222"/>
                </a:solidFill>
                <a:latin typeface="Tw Cen MT"/>
              </a:rPr>
              <a:t> </a:t>
            </a:r>
            <a:r>
              <a:rPr sz="2800" b="1" i="0" dirty="0" err="1">
                <a:solidFill>
                  <a:srgbClr val="222222"/>
                </a:solidFill>
                <a:latin typeface="Tw Cen MT"/>
              </a:rPr>
              <a:t>buenas</a:t>
            </a:r>
            <a:r>
              <a:rPr sz="2800" b="1" i="0" dirty="0">
                <a:solidFill>
                  <a:srgbClr val="222222"/>
                </a:solidFill>
                <a:latin typeface="Tw Cen MT"/>
              </a:rPr>
              <a:t> o </a:t>
            </a:r>
            <a:r>
              <a:rPr sz="2800" b="1" i="0" dirty="0" err="1">
                <a:solidFill>
                  <a:srgbClr val="222222"/>
                </a:solidFill>
                <a:latin typeface="Tw Cen MT"/>
              </a:rPr>
              <a:t>menos</a:t>
            </a:r>
            <a:r>
              <a:rPr sz="2800" b="1" i="0" dirty="0">
                <a:solidFill>
                  <a:srgbClr val="222222"/>
                </a:solidFill>
                <a:latin typeface="Tw Cen MT"/>
              </a:rPr>
              <a:t> malas.</a:t>
            </a:r>
          </a:p>
          <a:p>
            <a:pPr algn="l">
              <a:spcBef>
                <a:spcPts val="500"/>
              </a:spcBef>
            </a:pPr>
            <a:r>
              <a:rPr sz="2800" b="1" i="0" dirty="0">
                <a:solidFill>
                  <a:srgbClr val="8B0000"/>
                </a:solidFill>
                <a:latin typeface="Tw Cen MT"/>
              </a:rPr>
              <a:t>TIPOS DE INCENTIVOS</a:t>
            </a:r>
          </a:p>
          <a:p>
            <a:pPr algn="l">
              <a:spcBef>
                <a:spcPts val="200"/>
              </a:spcBef>
            </a:pPr>
            <a:r>
              <a:rPr sz="2800" b="0" i="0" dirty="0">
                <a:solidFill>
                  <a:srgbClr val="222222"/>
                </a:solidFill>
                <a:latin typeface="Tw Cen MT"/>
              </a:rPr>
              <a:t>    ▸  </a:t>
            </a:r>
            <a:r>
              <a:rPr sz="2800" b="0" i="0" dirty="0" err="1">
                <a:solidFill>
                  <a:srgbClr val="222222"/>
                </a:solidFill>
                <a:latin typeface="Tw Cen MT"/>
              </a:rPr>
              <a:t>Económicos</a:t>
            </a:r>
            <a:r>
              <a:rPr sz="2800" b="0" i="0" dirty="0">
                <a:solidFill>
                  <a:srgbClr val="222222"/>
                </a:solidFill>
                <a:latin typeface="Tw Cen MT"/>
              </a:rPr>
              <a:t>: </a:t>
            </a:r>
            <a:r>
              <a:rPr lang="es-419" sz="2800" b="0" i="0" dirty="0">
                <a:solidFill>
                  <a:srgbClr val="222222"/>
                </a:solidFill>
                <a:latin typeface="Tw Cen MT"/>
              </a:rPr>
              <a:t>busca conseguir mas riqueza</a:t>
            </a:r>
            <a:r>
              <a:rPr sz="2800" b="0" i="0" dirty="0">
                <a:solidFill>
                  <a:srgbClr val="222222"/>
                </a:solidFill>
                <a:latin typeface="Tw Cen MT"/>
              </a:rPr>
              <a:t>.</a:t>
            </a:r>
          </a:p>
          <a:p>
            <a:pPr algn="l">
              <a:spcBef>
                <a:spcPts val="200"/>
              </a:spcBef>
            </a:pPr>
            <a:r>
              <a:rPr sz="2800" b="0" i="0" dirty="0">
                <a:solidFill>
                  <a:srgbClr val="222222"/>
                </a:solidFill>
                <a:latin typeface="Tw Cen MT"/>
              </a:rPr>
              <a:t>    ▸  </a:t>
            </a:r>
            <a:r>
              <a:rPr sz="2800" b="0" i="0" dirty="0" err="1">
                <a:solidFill>
                  <a:srgbClr val="222222"/>
                </a:solidFill>
                <a:latin typeface="Tw Cen MT"/>
              </a:rPr>
              <a:t>Sociales</a:t>
            </a:r>
            <a:r>
              <a:rPr sz="2800" b="0" i="0" dirty="0">
                <a:solidFill>
                  <a:srgbClr val="222222"/>
                </a:solidFill>
                <a:latin typeface="Tw Cen MT"/>
              </a:rPr>
              <a:t>: </a:t>
            </a:r>
            <a:r>
              <a:rPr sz="2800" b="0" i="0" dirty="0" err="1">
                <a:solidFill>
                  <a:srgbClr val="222222"/>
                </a:solidFill>
                <a:latin typeface="Tw Cen MT"/>
              </a:rPr>
              <a:t>importa</a:t>
            </a:r>
            <a:r>
              <a:rPr sz="2800" b="0" i="0" dirty="0">
                <a:solidFill>
                  <a:srgbClr val="222222"/>
                </a:solidFill>
                <a:latin typeface="Tw Cen MT"/>
              </a:rPr>
              <a:t> </a:t>
            </a:r>
            <a:r>
              <a:rPr sz="2800" b="0" i="0" dirty="0" err="1">
                <a:solidFill>
                  <a:srgbClr val="222222"/>
                </a:solidFill>
                <a:latin typeface="Tw Cen MT"/>
              </a:rPr>
              <a:t>cómo</a:t>
            </a:r>
            <a:r>
              <a:rPr sz="2800" b="0" i="0" dirty="0">
                <a:solidFill>
                  <a:srgbClr val="222222"/>
                </a:solidFill>
                <a:latin typeface="Tw Cen MT"/>
              </a:rPr>
              <a:t> lo </a:t>
            </a:r>
            <a:r>
              <a:rPr sz="2800" b="0" i="0" dirty="0" err="1">
                <a:solidFill>
                  <a:srgbClr val="222222"/>
                </a:solidFill>
                <a:latin typeface="Tw Cen MT"/>
              </a:rPr>
              <a:t>verán</a:t>
            </a:r>
            <a:r>
              <a:rPr sz="2800" b="0" i="0" dirty="0">
                <a:solidFill>
                  <a:srgbClr val="222222"/>
                </a:solidFill>
                <a:latin typeface="Tw Cen MT"/>
              </a:rPr>
              <a:t> </a:t>
            </a:r>
            <a:r>
              <a:rPr sz="2800" b="0" i="0" dirty="0" err="1">
                <a:solidFill>
                  <a:srgbClr val="222222"/>
                </a:solidFill>
                <a:latin typeface="Tw Cen MT"/>
              </a:rPr>
              <a:t>los</a:t>
            </a:r>
            <a:r>
              <a:rPr sz="2800" b="0" i="0" dirty="0">
                <a:solidFill>
                  <a:srgbClr val="222222"/>
                </a:solidFill>
                <a:latin typeface="Tw Cen MT"/>
              </a:rPr>
              <a:t> </a:t>
            </a:r>
            <a:r>
              <a:rPr sz="2800" b="0" i="0" dirty="0" err="1">
                <a:solidFill>
                  <a:srgbClr val="222222"/>
                </a:solidFill>
                <a:latin typeface="Tw Cen MT"/>
              </a:rPr>
              <a:t>demás</a:t>
            </a:r>
            <a:r>
              <a:rPr sz="2800" b="0" i="0" dirty="0">
                <a:solidFill>
                  <a:srgbClr val="222222"/>
                </a:solidFill>
                <a:latin typeface="Tw Cen MT"/>
              </a:rPr>
              <a:t>.</a:t>
            </a:r>
          </a:p>
          <a:p>
            <a:pPr algn="l">
              <a:spcBef>
                <a:spcPts val="200"/>
              </a:spcBef>
            </a:pPr>
            <a:r>
              <a:rPr sz="2800" b="0" i="0" dirty="0">
                <a:solidFill>
                  <a:srgbClr val="222222"/>
                </a:solidFill>
                <a:latin typeface="Tw Cen MT"/>
              </a:rPr>
              <a:t>    ▸  Morales: </a:t>
            </a:r>
            <a:r>
              <a:rPr sz="2800" b="0" i="0" dirty="0" err="1">
                <a:solidFill>
                  <a:srgbClr val="222222"/>
                </a:solidFill>
                <a:latin typeface="Tw Cen MT"/>
              </a:rPr>
              <a:t>apelan</a:t>
            </a:r>
            <a:r>
              <a:rPr sz="2800" b="0" i="0" dirty="0">
                <a:solidFill>
                  <a:srgbClr val="222222"/>
                </a:solidFill>
                <a:latin typeface="Tw Cen MT"/>
              </a:rPr>
              <a:t> al </a:t>
            </a:r>
            <a:r>
              <a:rPr sz="2800" b="0" i="0" dirty="0" err="1">
                <a:solidFill>
                  <a:srgbClr val="222222"/>
                </a:solidFill>
                <a:latin typeface="Tw Cen MT"/>
              </a:rPr>
              <a:t>sentido</a:t>
            </a:r>
            <a:r>
              <a:rPr sz="2800" b="0" i="0" dirty="0">
                <a:solidFill>
                  <a:srgbClr val="222222"/>
                </a:solidFill>
                <a:latin typeface="Tw Cen MT"/>
              </a:rPr>
              <a:t> de lo </a:t>
            </a:r>
            <a:r>
              <a:rPr sz="2800" b="0" i="0" dirty="0" err="1">
                <a:solidFill>
                  <a:srgbClr val="222222"/>
                </a:solidFill>
                <a:latin typeface="Tw Cen MT"/>
              </a:rPr>
              <a:t>correcto</a:t>
            </a:r>
            <a:r>
              <a:rPr sz="2800" b="0" i="0" dirty="0">
                <a:solidFill>
                  <a:srgbClr val="222222"/>
                </a:solidFill>
                <a:latin typeface="Tw Cen MT"/>
              </a:rPr>
              <a:t> e </a:t>
            </a:r>
            <a:r>
              <a:rPr sz="2800" b="0" i="0" dirty="0" err="1">
                <a:solidFill>
                  <a:srgbClr val="222222"/>
                </a:solidFill>
                <a:latin typeface="Tw Cen MT"/>
              </a:rPr>
              <a:t>incorrecto</a:t>
            </a:r>
            <a:r>
              <a:rPr lang="es-419" sz="2800" dirty="0">
                <a:solidFill>
                  <a:srgbClr val="222222"/>
                </a:solidFill>
                <a:latin typeface="Tw Cen MT"/>
              </a:rPr>
              <a:t> (ética).</a:t>
            </a:r>
          </a:p>
          <a:p>
            <a:pPr algn="l">
              <a:spcBef>
                <a:spcPts val="200"/>
              </a:spcBef>
            </a:pPr>
            <a:endParaRPr sz="2800" b="0" i="0" dirty="0">
              <a:solidFill>
                <a:srgbClr val="222222"/>
              </a:solidFill>
              <a:latin typeface="Tw Cen MT"/>
            </a:endParaRPr>
          </a:p>
          <a:p>
            <a:pPr algn="l">
              <a:spcBef>
                <a:spcPts val="500"/>
              </a:spcBef>
            </a:pPr>
            <a:r>
              <a:rPr sz="2800" b="1" i="0" dirty="0">
                <a:solidFill>
                  <a:srgbClr val="8B0000"/>
                </a:solidFill>
                <a:latin typeface="Tw Cen MT"/>
              </a:rPr>
              <a:t>¿QUIÉN HACE TRAMPA?</a:t>
            </a:r>
          </a:p>
          <a:p>
            <a:pPr algn="ctr">
              <a:spcBef>
                <a:spcPts val="500"/>
              </a:spcBef>
            </a:pPr>
            <a:r>
              <a:rPr sz="2800" b="0" i="0" dirty="0">
                <a:solidFill>
                  <a:srgbClr val="222222"/>
                </a:solidFill>
                <a:latin typeface="Tw Cen MT"/>
              </a:rPr>
              <a:t>■  </a:t>
            </a:r>
            <a:r>
              <a:rPr sz="2800" b="1" i="0" dirty="0">
                <a:solidFill>
                  <a:srgbClr val="222222"/>
                </a:solidFill>
                <a:latin typeface="Tw Cen MT"/>
              </a:rPr>
              <a:t>Algo </a:t>
            </a:r>
            <a:r>
              <a:rPr sz="2800" b="1" i="0" dirty="0" err="1">
                <a:solidFill>
                  <a:srgbClr val="222222"/>
                </a:solidFill>
                <a:latin typeface="Tw Cen MT"/>
              </a:rPr>
              <a:t>que</a:t>
            </a:r>
            <a:r>
              <a:rPr sz="2800" b="1" i="0" dirty="0">
                <a:solidFill>
                  <a:srgbClr val="222222"/>
                </a:solidFill>
                <a:latin typeface="Tw Cen MT"/>
              </a:rPr>
              <a:t> vale la </a:t>
            </a:r>
            <a:r>
              <a:rPr sz="2800" b="1" i="0" dirty="0" err="1">
                <a:solidFill>
                  <a:srgbClr val="222222"/>
                </a:solidFill>
                <a:latin typeface="Tw Cen MT"/>
              </a:rPr>
              <a:t>pena</a:t>
            </a:r>
            <a:r>
              <a:rPr sz="2800" b="1" i="0" dirty="0">
                <a:solidFill>
                  <a:srgbClr val="222222"/>
                </a:solidFill>
                <a:latin typeface="Tw Cen MT"/>
              </a:rPr>
              <a:t> </a:t>
            </a:r>
            <a:r>
              <a:rPr sz="2800" b="1" i="0" dirty="0" err="1">
                <a:solidFill>
                  <a:srgbClr val="222222"/>
                </a:solidFill>
                <a:latin typeface="Tw Cen MT"/>
              </a:rPr>
              <a:t>tener</a:t>
            </a:r>
            <a:r>
              <a:rPr sz="2800" b="1" i="0" dirty="0">
                <a:solidFill>
                  <a:srgbClr val="222222"/>
                </a:solidFill>
                <a:latin typeface="Tw Cen MT"/>
              </a:rPr>
              <a:t> es algo </a:t>
            </a:r>
            <a:r>
              <a:rPr sz="2800" b="1" i="0" dirty="0" err="1">
                <a:solidFill>
                  <a:srgbClr val="222222"/>
                </a:solidFill>
                <a:latin typeface="Tw Cen MT"/>
              </a:rPr>
              <a:t>por</a:t>
            </a:r>
            <a:r>
              <a:rPr sz="2800" b="1" i="0" dirty="0">
                <a:solidFill>
                  <a:srgbClr val="222222"/>
                </a:solidFill>
                <a:latin typeface="Tw Cen MT"/>
              </a:rPr>
              <a:t> lo </a:t>
            </a:r>
            <a:r>
              <a:rPr sz="2800" b="1" i="0" dirty="0" err="1">
                <a:solidFill>
                  <a:srgbClr val="222222"/>
                </a:solidFill>
                <a:latin typeface="Tw Cen MT"/>
              </a:rPr>
              <a:t>que</a:t>
            </a:r>
            <a:r>
              <a:rPr sz="2800" b="1" i="0" dirty="0">
                <a:solidFill>
                  <a:srgbClr val="222222"/>
                </a:solidFill>
                <a:latin typeface="Tw Cen MT"/>
              </a:rPr>
              <a:t> vale la </a:t>
            </a:r>
            <a:r>
              <a:rPr sz="2800" b="1" i="0" dirty="0" err="1">
                <a:solidFill>
                  <a:srgbClr val="222222"/>
                </a:solidFill>
                <a:latin typeface="Tw Cen MT"/>
              </a:rPr>
              <a:t>pena</a:t>
            </a:r>
            <a:r>
              <a:rPr sz="2800" b="1" i="0" dirty="0">
                <a:solidFill>
                  <a:srgbClr val="222222"/>
                </a:solidFill>
                <a:latin typeface="Tw Cen MT"/>
              </a:rPr>
              <a:t> </a:t>
            </a:r>
            <a:r>
              <a:rPr sz="2800" b="1" i="0" dirty="0" err="1">
                <a:solidFill>
                  <a:srgbClr val="222222"/>
                </a:solidFill>
                <a:latin typeface="Tw Cen MT"/>
              </a:rPr>
              <a:t>hacer</a:t>
            </a:r>
            <a:r>
              <a:rPr sz="2800" b="1" i="0" dirty="0">
                <a:solidFill>
                  <a:srgbClr val="222222"/>
                </a:solidFill>
                <a:latin typeface="Tw Cen MT"/>
              </a:rPr>
              <a:t> </a:t>
            </a:r>
            <a:r>
              <a:rPr sz="2800" b="1" i="0" dirty="0" err="1">
                <a:solidFill>
                  <a:srgbClr val="222222"/>
                </a:solidFill>
                <a:latin typeface="Tw Cen MT"/>
              </a:rPr>
              <a:t>trampa</a:t>
            </a:r>
            <a:r>
              <a:rPr sz="2800" b="1" i="0" dirty="0">
                <a:solidFill>
                  <a:srgbClr val="222222"/>
                </a:solidFill>
                <a:latin typeface="Tw Cen MT"/>
              </a:rPr>
              <a:t>.</a:t>
            </a:r>
          </a:p>
          <a:p>
            <a:pPr algn="ctr">
              <a:spcBef>
                <a:spcPts val="500"/>
              </a:spcBef>
            </a:pPr>
            <a:r>
              <a:rPr sz="2800" b="1" i="0" dirty="0">
                <a:solidFill>
                  <a:srgbClr val="222222"/>
                </a:solidFill>
                <a:latin typeface="Tw Cen MT"/>
              </a:rPr>
              <a:t>■  Las </a:t>
            </a:r>
            <a:r>
              <a:rPr sz="2800" b="1" i="0" dirty="0" err="1">
                <a:solidFill>
                  <a:srgbClr val="222222"/>
                </a:solidFill>
                <a:latin typeface="Tw Cen MT"/>
              </a:rPr>
              <a:t>regulaciones</a:t>
            </a:r>
            <a:r>
              <a:rPr sz="2800" b="1" i="0" dirty="0">
                <a:solidFill>
                  <a:srgbClr val="222222"/>
                </a:solidFill>
                <a:latin typeface="Tw Cen MT"/>
              </a:rPr>
              <a:t> y </a:t>
            </a:r>
            <a:r>
              <a:rPr sz="2800" b="1" i="0" dirty="0" err="1">
                <a:solidFill>
                  <a:srgbClr val="222222"/>
                </a:solidFill>
                <a:latin typeface="Tw Cen MT"/>
              </a:rPr>
              <a:t>restricciones</a:t>
            </a:r>
            <a:r>
              <a:rPr sz="2800" b="1" i="0" dirty="0">
                <a:solidFill>
                  <a:srgbClr val="222222"/>
                </a:solidFill>
                <a:latin typeface="Tw Cen MT"/>
              </a:rPr>
              <a:t> </a:t>
            </a:r>
            <a:r>
              <a:rPr sz="2800" b="1" i="0" dirty="0" err="1">
                <a:solidFill>
                  <a:srgbClr val="222222"/>
                </a:solidFill>
                <a:latin typeface="Tw Cen MT"/>
              </a:rPr>
              <a:t>pueden</a:t>
            </a:r>
            <a:r>
              <a:rPr sz="2800" b="1" i="0" dirty="0">
                <a:solidFill>
                  <a:srgbClr val="222222"/>
                </a:solidFill>
                <a:latin typeface="Tw Cen MT"/>
              </a:rPr>
              <a:t> </a:t>
            </a:r>
            <a:r>
              <a:rPr sz="2800" b="1" i="0" dirty="0" err="1">
                <a:solidFill>
                  <a:srgbClr val="222222"/>
                </a:solidFill>
                <a:latin typeface="Tw Cen MT"/>
              </a:rPr>
              <a:t>tener</a:t>
            </a:r>
            <a:r>
              <a:rPr sz="2800" b="1" i="0" dirty="0">
                <a:solidFill>
                  <a:srgbClr val="222222"/>
                </a:solidFill>
                <a:latin typeface="Tw Cen MT"/>
              </a:rPr>
              <a:t> </a:t>
            </a:r>
            <a:r>
              <a:rPr sz="2800" b="1" i="0" dirty="0" err="1">
                <a:solidFill>
                  <a:srgbClr val="222222"/>
                </a:solidFill>
                <a:latin typeface="Tw Cen MT"/>
              </a:rPr>
              <a:t>el</a:t>
            </a:r>
            <a:r>
              <a:rPr sz="2800" b="1" i="0" dirty="0">
                <a:solidFill>
                  <a:srgbClr val="222222"/>
                </a:solidFill>
                <a:latin typeface="Tw Cen MT"/>
              </a:rPr>
              <a:t> </a:t>
            </a:r>
            <a:r>
              <a:rPr sz="2800" b="1" i="0" dirty="0" err="1">
                <a:solidFill>
                  <a:srgbClr val="222222"/>
                </a:solidFill>
                <a:latin typeface="Tw Cen MT"/>
              </a:rPr>
              <a:t>efecto</a:t>
            </a:r>
            <a:r>
              <a:rPr sz="2800" b="1" i="0" dirty="0">
                <a:solidFill>
                  <a:srgbClr val="222222"/>
                </a:solidFill>
                <a:latin typeface="Tw Cen MT"/>
              </a:rPr>
              <a:t> </a:t>
            </a:r>
            <a:r>
              <a:rPr sz="2800" b="1" i="0" dirty="0" err="1">
                <a:solidFill>
                  <a:srgbClr val="222222"/>
                </a:solidFill>
                <a:latin typeface="Tw Cen MT"/>
              </a:rPr>
              <a:t>contrario</a:t>
            </a:r>
            <a:r>
              <a:rPr sz="2800" b="1" i="0" dirty="0">
                <a:solidFill>
                  <a:srgbClr val="222222"/>
                </a:solidFill>
                <a:latin typeface="Tw Cen MT"/>
              </a:rPr>
              <a:t> al </a:t>
            </a:r>
            <a:r>
              <a:rPr sz="2800" b="1" i="0" dirty="0" err="1">
                <a:solidFill>
                  <a:srgbClr val="222222"/>
                </a:solidFill>
                <a:latin typeface="Tw Cen MT"/>
              </a:rPr>
              <a:t>deseado</a:t>
            </a:r>
            <a:r>
              <a:rPr sz="2800" b="1" i="0" dirty="0">
                <a:solidFill>
                  <a:srgbClr val="222222"/>
                </a:solidFill>
                <a:latin typeface="Tw Cen MT"/>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Caso: Fraude en el Examen de Residencias Médicas (2025)</a:t>
            </a:r>
          </a:p>
        </p:txBody>
      </p:sp>
      <p:sp>
        <p:nvSpPr>
          <p:cNvPr id="6" name="TextBox 5"/>
          <p:cNvSpPr txBox="1"/>
          <p:nvPr/>
        </p:nvSpPr>
        <p:spPr>
          <a:xfrm>
            <a:off x="406400" y="1219200"/>
            <a:ext cx="11379200" cy="5380960"/>
          </a:xfrm>
          <a:prstGeom prst="rect">
            <a:avLst/>
          </a:prstGeom>
          <a:noFill/>
        </p:spPr>
        <p:txBody>
          <a:bodyPr wrap="square">
            <a:spAutoFit/>
          </a:bodyPr>
          <a:lstStyle/>
          <a:p>
            <a:pPr algn="l">
              <a:spcBef>
                <a:spcPts val="500"/>
              </a:spcBef>
            </a:pPr>
            <a:r>
              <a:rPr sz="2400" b="0" i="0" dirty="0">
                <a:solidFill>
                  <a:srgbClr val="E8F0FF"/>
                </a:solidFill>
                <a:latin typeface="Tw Cen MT"/>
              </a:rPr>
              <a:t>■  El </a:t>
            </a:r>
            <a:r>
              <a:rPr sz="2400" b="0" i="0" dirty="0" err="1">
                <a:solidFill>
                  <a:srgbClr val="E8F0FF"/>
                </a:solidFill>
                <a:latin typeface="Tw Cen MT"/>
              </a:rPr>
              <a:t>Ministerio</a:t>
            </a:r>
            <a:r>
              <a:rPr sz="2400" b="0" i="0" dirty="0">
                <a:solidFill>
                  <a:srgbClr val="E8F0FF"/>
                </a:solidFill>
                <a:latin typeface="Tw Cen MT"/>
              </a:rPr>
              <a:t> de Salud </a:t>
            </a:r>
            <a:r>
              <a:rPr sz="2400" b="0" i="0" dirty="0" err="1">
                <a:solidFill>
                  <a:srgbClr val="E8F0FF"/>
                </a:solidFill>
                <a:latin typeface="Tw Cen MT"/>
              </a:rPr>
              <a:t>denunció</a:t>
            </a:r>
            <a:r>
              <a:rPr sz="2400" b="0" i="0" dirty="0">
                <a:solidFill>
                  <a:srgbClr val="E8F0FF"/>
                </a:solidFill>
                <a:latin typeface="Tw Cen MT"/>
              </a:rPr>
              <a:t> </a:t>
            </a:r>
            <a:r>
              <a:rPr sz="2400" b="0" i="0" dirty="0" err="1">
                <a:solidFill>
                  <a:srgbClr val="E8F0FF"/>
                </a:solidFill>
                <a:latin typeface="Tw Cen MT"/>
              </a:rPr>
              <a:t>penalmente</a:t>
            </a:r>
            <a:r>
              <a:rPr sz="2400" b="0" i="0" dirty="0">
                <a:solidFill>
                  <a:srgbClr val="E8F0FF"/>
                </a:solidFill>
                <a:latin typeface="Tw Cen MT"/>
              </a:rPr>
              <a:t> a </a:t>
            </a:r>
            <a:r>
              <a:rPr sz="2400" b="0" i="0" dirty="0" err="1">
                <a:solidFill>
                  <a:srgbClr val="E8F0FF"/>
                </a:solidFill>
                <a:latin typeface="Tw Cen MT"/>
              </a:rPr>
              <a:t>médicos</a:t>
            </a:r>
            <a:r>
              <a:rPr sz="2400" b="0" i="0" dirty="0">
                <a:solidFill>
                  <a:srgbClr val="E8F0FF"/>
                </a:solidFill>
                <a:latin typeface="Tw Cen MT"/>
              </a:rPr>
              <a:t> </a:t>
            </a:r>
            <a:r>
              <a:rPr sz="2400" b="0" i="0" dirty="0" err="1">
                <a:solidFill>
                  <a:srgbClr val="E8F0FF"/>
                </a:solidFill>
                <a:latin typeface="Tw Cen MT"/>
              </a:rPr>
              <a:t>que</a:t>
            </a:r>
            <a:r>
              <a:rPr sz="2400" b="0" i="0" dirty="0">
                <a:solidFill>
                  <a:srgbClr val="E8F0FF"/>
                </a:solidFill>
                <a:latin typeface="Tw Cen MT"/>
              </a:rPr>
              <a:t> se </a:t>
            </a:r>
            <a:r>
              <a:rPr sz="2400" b="0" i="0" dirty="0" err="1">
                <a:solidFill>
                  <a:srgbClr val="E8F0FF"/>
                </a:solidFill>
                <a:latin typeface="Tw Cen MT"/>
              </a:rPr>
              <a:t>copiaron</a:t>
            </a:r>
            <a:r>
              <a:rPr sz="2400" b="0" i="0" dirty="0">
                <a:solidFill>
                  <a:srgbClr val="E8F0FF"/>
                </a:solidFill>
                <a:latin typeface="Tw Cen MT"/>
              </a:rPr>
              <a:t> </a:t>
            </a:r>
            <a:r>
              <a:rPr sz="2400" b="0" i="0" dirty="0" err="1">
                <a:solidFill>
                  <a:srgbClr val="E8F0FF"/>
                </a:solidFill>
                <a:latin typeface="Tw Cen MT"/>
              </a:rPr>
              <a:t>en</a:t>
            </a:r>
            <a:r>
              <a:rPr sz="2400" b="0" i="0" dirty="0">
                <a:solidFill>
                  <a:srgbClr val="E8F0FF"/>
                </a:solidFill>
                <a:latin typeface="Tw Cen MT"/>
              </a:rPr>
              <a:t> </a:t>
            </a:r>
            <a:r>
              <a:rPr sz="2400" b="0" i="0" dirty="0" err="1">
                <a:solidFill>
                  <a:srgbClr val="E8F0FF"/>
                </a:solidFill>
                <a:latin typeface="Tw Cen MT"/>
              </a:rPr>
              <a:t>el</a:t>
            </a:r>
            <a:r>
              <a:rPr sz="2400" b="0" i="0" dirty="0">
                <a:solidFill>
                  <a:srgbClr val="E8F0FF"/>
                </a:solidFill>
                <a:latin typeface="Tw Cen MT"/>
              </a:rPr>
              <a:t> Examen </a:t>
            </a:r>
            <a:r>
              <a:rPr sz="2400" b="0" i="0" dirty="0" err="1">
                <a:solidFill>
                  <a:srgbClr val="E8F0FF"/>
                </a:solidFill>
                <a:latin typeface="Tw Cen MT"/>
              </a:rPr>
              <a:t>Único</a:t>
            </a:r>
            <a:r>
              <a:rPr sz="2400" b="0" i="0" dirty="0">
                <a:solidFill>
                  <a:srgbClr val="E8F0FF"/>
                </a:solidFill>
                <a:latin typeface="Tw Cen MT"/>
              </a:rPr>
              <a:t> de Residencias.</a:t>
            </a:r>
            <a:endParaRPr lang="es-419" sz="2400" b="0" i="0" dirty="0">
              <a:solidFill>
                <a:srgbClr val="E8F0FF"/>
              </a:solidFill>
              <a:latin typeface="Tw Cen MT"/>
            </a:endParaRPr>
          </a:p>
          <a:p>
            <a:pPr algn="l">
              <a:spcBef>
                <a:spcPts val="500"/>
              </a:spcBef>
            </a:pPr>
            <a:endParaRPr sz="2400" b="0" i="0" dirty="0">
              <a:solidFill>
                <a:srgbClr val="E8F0FF"/>
              </a:solidFill>
              <a:latin typeface="Tw Cen MT"/>
            </a:endParaRPr>
          </a:p>
          <a:p>
            <a:pPr algn="l">
              <a:spcBef>
                <a:spcPts val="500"/>
              </a:spcBef>
            </a:pPr>
            <a:r>
              <a:rPr sz="2400" b="1" i="0" dirty="0">
                <a:solidFill>
                  <a:srgbClr val="D4A017"/>
                </a:solidFill>
                <a:latin typeface="Tw Cen MT"/>
              </a:rPr>
              <a:t>EL MECANISMO</a:t>
            </a:r>
          </a:p>
          <a:p>
            <a:pPr algn="l">
              <a:spcBef>
                <a:spcPts val="200"/>
              </a:spcBef>
            </a:pPr>
            <a:r>
              <a:rPr sz="2400" b="0" i="0" dirty="0">
                <a:solidFill>
                  <a:srgbClr val="E8F0FF"/>
                </a:solidFill>
                <a:latin typeface="Tw Cen MT"/>
              </a:rPr>
              <a:t>    ▸  </a:t>
            </a:r>
            <a:r>
              <a:rPr sz="2400" b="0" i="0" dirty="0" err="1">
                <a:solidFill>
                  <a:srgbClr val="E8F0FF"/>
                </a:solidFill>
                <a:latin typeface="Tw Cen MT"/>
              </a:rPr>
              <a:t>Anteojos</a:t>
            </a:r>
            <a:r>
              <a:rPr sz="2400" b="0" i="0" dirty="0">
                <a:solidFill>
                  <a:srgbClr val="E8F0FF"/>
                </a:solidFill>
                <a:latin typeface="Tw Cen MT"/>
              </a:rPr>
              <a:t> con </a:t>
            </a:r>
            <a:r>
              <a:rPr sz="2400" b="0" i="0" dirty="0" err="1">
                <a:solidFill>
                  <a:srgbClr val="E8F0FF"/>
                </a:solidFill>
                <a:latin typeface="Tw Cen MT"/>
              </a:rPr>
              <a:t>cámara</a:t>
            </a:r>
            <a:r>
              <a:rPr sz="2400" b="0" i="0" dirty="0">
                <a:solidFill>
                  <a:srgbClr val="E8F0FF"/>
                </a:solidFill>
                <a:latin typeface="Tw Cen MT"/>
              </a:rPr>
              <a:t> </a:t>
            </a:r>
            <a:r>
              <a:rPr sz="2400" b="0" i="0" dirty="0" err="1">
                <a:solidFill>
                  <a:srgbClr val="E8F0FF"/>
                </a:solidFill>
                <a:latin typeface="Tw Cen MT"/>
              </a:rPr>
              <a:t>oculta</a:t>
            </a:r>
            <a:r>
              <a:rPr sz="2400" b="0" i="0" dirty="0">
                <a:solidFill>
                  <a:srgbClr val="E8F0FF"/>
                </a:solidFill>
                <a:latin typeface="Tw Cen MT"/>
              </a:rPr>
              <a:t> para </a:t>
            </a:r>
            <a:r>
              <a:rPr sz="2400" b="0" i="0" dirty="0" err="1">
                <a:solidFill>
                  <a:srgbClr val="E8F0FF"/>
                </a:solidFill>
                <a:latin typeface="Tw Cen MT"/>
              </a:rPr>
              <a:t>filmar</a:t>
            </a:r>
            <a:r>
              <a:rPr sz="2400" b="0" i="0" dirty="0">
                <a:solidFill>
                  <a:srgbClr val="E8F0FF"/>
                </a:solidFill>
                <a:latin typeface="Tw Cen MT"/>
              </a:rPr>
              <a:t> </a:t>
            </a:r>
            <a:r>
              <a:rPr sz="2400" b="0" i="0" dirty="0" err="1">
                <a:solidFill>
                  <a:srgbClr val="E8F0FF"/>
                </a:solidFill>
                <a:latin typeface="Tw Cen MT"/>
              </a:rPr>
              <a:t>preguntas</a:t>
            </a:r>
            <a:r>
              <a:rPr sz="2400" b="0" i="0" dirty="0">
                <a:solidFill>
                  <a:srgbClr val="E8F0FF"/>
                </a:solidFill>
                <a:latin typeface="Tw Cen MT"/>
              </a:rPr>
              <a:t> y </a:t>
            </a:r>
            <a:r>
              <a:rPr sz="2400" b="0" i="0" dirty="0" err="1">
                <a:solidFill>
                  <a:srgbClr val="E8F0FF"/>
                </a:solidFill>
                <a:latin typeface="Tw Cen MT"/>
              </a:rPr>
              <a:t>enviarlas</a:t>
            </a:r>
            <a:r>
              <a:rPr sz="2400" b="0" i="0" dirty="0">
                <a:solidFill>
                  <a:srgbClr val="E8F0FF"/>
                </a:solidFill>
                <a:latin typeface="Tw Cen MT"/>
              </a:rPr>
              <a:t> a </a:t>
            </a:r>
            <a:r>
              <a:rPr sz="2400" b="0" i="0" dirty="0" err="1">
                <a:solidFill>
                  <a:srgbClr val="E8F0FF"/>
                </a:solidFill>
                <a:latin typeface="Tw Cen MT"/>
              </a:rPr>
              <a:t>agente</a:t>
            </a:r>
            <a:r>
              <a:rPr sz="2400" b="0" i="0" dirty="0">
                <a:solidFill>
                  <a:srgbClr val="E8F0FF"/>
                </a:solidFill>
                <a:latin typeface="Tw Cen MT"/>
              </a:rPr>
              <a:t> </a:t>
            </a:r>
            <a:r>
              <a:rPr sz="2400" b="0" i="0" dirty="0" err="1">
                <a:solidFill>
                  <a:srgbClr val="E8F0FF"/>
                </a:solidFill>
                <a:latin typeface="Tw Cen MT"/>
              </a:rPr>
              <a:t>externo</a:t>
            </a:r>
            <a:r>
              <a:rPr sz="2400" b="0" i="0" dirty="0">
                <a:solidFill>
                  <a:srgbClr val="E8F0FF"/>
                </a:solidFill>
                <a:latin typeface="Tw Cen MT"/>
              </a:rPr>
              <a:t>.</a:t>
            </a:r>
          </a:p>
          <a:p>
            <a:pPr algn="l">
              <a:spcBef>
                <a:spcPts val="200"/>
              </a:spcBef>
            </a:pPr>
            <a:r>
              <a:rPr sz="2400" b="0" i="0" dirty="0">
                <a:solidFill>
                  <a:srgbClr val="E8F0FF"/>
                </a:solidFill>
                <a:latin typeface="Tw Cen MT"/>
              </a:rPr>
              <a:t>    ▸  </a:t>
            </a:r>
            <a:r>
              <a:rPr sz="2400" b="0" i="0" dirty="0" err="1">
                <a:solidFill>
                  <a:srgbClr val="E8F0FF"/>
                </a:solidFill>
                <a:latin typeface="Tw Cen MT"/>
              </a:rPr>
              <a:t>Grupos</a:t>
            </a:r>
            <a:r>
              <a:rPr sz="2400" b="0" i="0" dirty="0">
                <a:solidFill>
                  <a:srgbClr val="E8F0FF"/>
                </a:solidFill>
                <a:latin typeface="Tw Cen MT"/>
              </a:rPr>
              <a:t> de </a:t>
            </a:r>
            <a:r>
              <a:rPr sz="2400" b="0" i="0" dirty="0" err="1">
                <a:solidFill>
                  <a:srgbClr val="E8F0FF"/>
                </a:solidFill>
                <a:latin typeface="Tw Cen MT"/>
              </a:rPr>
              <a:t>mensajería</a:t>
            </a:r>
            <a:r>
              <a:rPr sz="2400" b="0" i="0" dirty="0">
                <a:solidFill>
                  <a:srgbClr val="E8F0FF"/>
                </a:solidFill>
                <a:latin typeface="Tw Cen MT"/>
              </a:rPr>
              <a:t> </a:t>
            </a:r>
            <a:r>
              <a:rPr sz="2400" b="0" i="0" dirty="0" err="1">
                <a:solidFill>
                  <a:srgbClr val="E8F0FF"/>
                </a:solidFill>
                <a:latin typeface="Tw Cen MT"/>
              </a:rPr>
              <a:t>pagos</a:t>
            </a:r>
            <a:r>
              <a:rPr sz="2400" b="0" i="0" dirty="0">
                <a:solidFill>
                  <a:srgbClr val="E8F0FF"/>
                </a:solidFill>
                <a:latin typeface="Tw Cen MT"/>
              </a:rPr>
              <a:t> (Telegram, WhatsApp) para </a:t>
            </a:r>
            <a:r>
              <a:rPr sz="2400" b="0" i="0" dirty="0" err="1">
                <a:solidFill>
                  <a:srgbClr val="E8F0FF"/>
                </a:solidFill>
                <a:latin typeface="Tw Cen MT"/>
              </a:rPr>
              <a:t>distribuir</a:t>
            </a:r>
            <a:r>
              <a:rPr sz="2400" b="0" i="0" dirty="0">
                <a:solidFill>
                  <a:srgbClr val="E8F0FF"/>
                </a:solidFill>
                <a:latin typeface="Tw Cen MT"/>
              </a:rPr>
              <a:t> </a:t>
            </a:r>
            <a:r>
              <a:rPr sz="2400" b="0" i="0" dirty="0" err="1">
                <a:solidFill>
                  <a:srgbClr val="E8F0FF"/>
                </a:solidFill>
                <a:latin typeface="Tw Cen MT"/>
              </a:rPr>
              <a:t>respuestas</a:t>
            </a:r>
            <a:r>
              <a:rPr sz="2400" b="0" i="0" dirty="0">
                <a:solidFill>
                  <a:srgbClr val="E8F0FF"/>
                </a:solidFill>
                <a:latin typeface="Tw Cen MT"/>
              </a:rPr>
              <a:t>.</a:t>
            </a:r>
          </a:p>
          <a:p>
            <a:pPr algn="l">
              <a:spcBef>
                <a:spcPts val="200"/>
              </a:spcBef>
            </a:pPr>
            <a:r>
              <a:rPr sz="2400" b="0" i="0" dirty="0">
                <a:solidFill>
                  <a:srgbClr val="E8F0FF"/>
                </a:solidFill>
                <a:latin typeface="Tw Cen MT"/>
              </a:rPr>
              <a:t>    ▸  </a:t>
            </a:r>
            <a:r>
              <a:rPr sz="2400" b="0" i="0" dirty="0" err="1">
                <a:solidFill>
                  <a:srgbClr val="E8F0FF"/>
                </a:solidFill>
                <a:latin typeface="Tw Cen MT"/>
              </a:rPr>
              <a:t>Detectado</a:t>
            </a:r>
            <a:r>
              <a:rPr sz="2400" b="0" i="0" dirty="0">
                <a:solidFill>
                  <a:srgbClr val="E8F0FF"/>
                </a:solidFill>
                <a:latin typeface="Tw Cen MT"/>
              </a:rPr>
              <a:t> </a:t>
            </a:r>
            <a:r>
              <a:rPr sz="2400" b="0" i="0" dirty="0" err="1">
                <a:solidFill>
                  <a:srgbClr val="E8F0FF"/>
                </a:solidFill>
                <a:latin typeface="Tw Cen MT"/>
              </a:rPr>
              <a:t>por</a:t>
            </a:r>
            <a:r>
              <a:rPr sz="2400" b="0" i="0" dirty="0">
                <a:solidFill>
                  <a:srgbClr val="E8F0FF"/>
                </a:solidFill>
                <a:latin typeface="Tw Cen MT"/>
              </a:rPr>
              <a:t> </a:t>
            </a:r>
            <a:r>
              <a:rPr sz="2400" b="0" i="0" dirty="0" err="1">
                <a:solidFill>
                  <a:srgbClr val="E8F0FF"/>
                </a:solidFill>
                <a:latin typeface="Tw Cen MT"/>
              </a:rPr>
              <a:t>inconsistencias</a:t>
            </a:r>
            <a:r>
              <a:rPr sz="2400" b="0" i="0" dirty="0">
                <a:solidFill>
                  <a:srgbClr val="E8F0FF"/>
                </a:solidFill>
                <a:latin typeface="Tw Cen MT"/>
              </a:rPr>
              <a:t> </a:t>
            </a:r>
            <a:r>
              <a:rPr sz="2400" b="0" i="0" dirty="0" err="1">
                <a:solidFill>
                  <a:srgbClr val="E8F0FF"/>
                </a:solidFill>
                <a:latin typeface="Tw Cen MT"/>
              </a:rPr>
              <a:t>en</a:t>
            </a:r>
            <a:r>
              <a:rPr sz="2400" b="0" i="0" dirty="0">
                <a:solidFill>
                  <a:srgbClr val="E8F0FF"/>
                </a:solidFill>
                <a:latin typeface="Tw Cen MT"/>
              </a:rPr>
              <a:t> </a:t>
            </a:r>
            <a:r>
              <a:rPr sz="2400" b="0" i="0" dirty="0" err="1">
                <a:solidFill>
                  <a:srgbClr val="E8F0FF"/>
                </a:solidFill>
                <a:latin typeface="Tw Cen MT"/>
              </a:rPr>
              <a:t>resultados</a:t>
            </a:r>
            <a:r>
              <a:rPr sz="2400" b="0" i="0" dirty="0">
                <a:solidFill>
                  <a:srgbClr val="E8F0FF"/>
                </a:solidFill>
                <a:latin typeface="Tw Cen MT"/>
              </a:rPr>
              <a:t> y </a:t>
            </a:r>
            <a:r>
              <a:rPr sz="2400" b="0" i="0" dirty="0" err="1">
                <a:solidFill>
                  <a:srgbClr val="E8F0FF"/>
                </a:solidFill>
                <a:latin typeface="Tw Cen MT"/>
              </a:rPr>
              <a:t>circulación</a:t>
            </a:r>
            <a:r>
              <a:rPr sz="2400" b="0" i="0" dirty="0">
                <a:solidFill>
                  <a:srgbClr val="E8F0FF"/>
                </a:solidFill>
                <a:latin typeface="Tw Cen MT"/>
              </a:rPr>
              <a:t> de video </a:t>
            </a:r>
            <a:r>
              <a:rPr sz="2400" b="0" i="0" dirty="0" err="1">
                <a:solidFill>
                  <a:srgbClr val="E8F0FF"/>
                </a:solidFill>
                <a:latin typeface="Tw Cen MT"/>
              </a:rPr>
              <a:t>en</a:t>
            </a:r>
            <a:r>
              <a:rPr sz="2400" b="0" i="0" dirty="0">
                <a:solidFill>
                  <a:srgbClr val="E8F0FF"/>
                </a:solidFill>
                <a:latin typeface="Tw Cen MT"/>
              </a:rPr>
              <a:t> redes.</a:t>
            </a:r>
            <a:endParaRPr lang="es-419" sz="2400" b="0" i="0" dirty="0">
              <a:solidFill>
                <a:srgbClr val="E8F0FF"/>
              </a:solidFill>
              <a:latin typeface="Tw Cen MT"/>
            </a:endParaRPr>
          </a:p>
          <a:p>
            <a:pPr algn="l">
              <a:spcBef>
                <a:spcPts val="200"/>
              </a:spcBef>
            </a:pPr>
            <a:endParaRPr sz="2400" b="0" i="0" dirty="0">
              <a:solidFill>
                <a:srgbClr val="E8F0FF"/>
              </a:solidFill>
              <a:latin typeface="Tw Cen MT"/>
            </a:endParaRPr>
          </a:p>
          <a:p>
            <a:pPr algn="l">
              <a:spcBef>
                <a:spcPts val="500"/>
              </a:spcBef>
            </a:pPr>
            <a:r>
              <a:rPr sz="2400" b="1" i="0" dirty="0">
                <a:solidFill>
                  <a:srgbClr val="D4A017"/>
                </a:solidFill>
                <a:latin typeface="Tw Cen MT"/>
              </a:rPr>
              <a:t>ANÁLISIS</a:t>
            </a:r>
          </a:p>
          <a:p>
            <a:pPr algn="ctr">
              <a:spcBef>
                <a:spcPts val="500"/>
              </a:spcBef>
            </a:pPr>
            <a:r>
              <a:rPr sz="2400" b="1" i="0" dirty="0">
                <a:solidFill>
                  <a:srgbClr val="E8F0FF"/>
                </a:solidFill>
                <a:latin typeface="Tw Cen MT"/>
              </a:rPr>
              <a:t>■  ¿</a:t>
            </a:r>
            <a:r>
              <a:rPr sz="2400" b="1" i="0" dirty="0" err="1">
                <a:solidFill>
                  <a:srgbClr val="E8F0FF"/>
                </a:solidFill>
                <a:latin typeface="Tw Cen MT"/>
              </a:rPr>
              <a:t>Qué</a:t>
            </a:r>
            <a:r>
              <a:rPr sz="2400" b="1" i="0" dirty="0">
                <a:solidFill>
                  <a:srgbClr val="E8F0FF"/>
                </a:solidFill>
                <a:latin typeface="Tw Cen MT"/>
              </a:rPr>
              <a:t> </a:t>
            </a:r>
            <a:r>
              <a:rPr sz="2400" b="1" i="0" dirty="0" err="1">
                <a:solidFill>
                  <a:srgbClr val="E8F0FF"/>
                </a:solidFill>
                <a:latin typeface="Tw Cen MT"/>
              </a:rPr>
              <a:t>incentivos</a:t>
            </a:r>
            <a:r>
              <a:rPr sz="2400" b="1" i="0" dirty="0">
                <a:solidFill>
                  <a:srgbClr val="E8F0FF"/>
                </a:solidFill>
                <a:latin typeface="Tw Cen MT"/>
              </a:rPr>
              <a:t> </a:t>
            </a:r>
            <a:r>
              <a:rPr sz="2400" b="1" i="0" dirty="0" err="1">
                <a:solidFill>
                  <a:srgbClr val="E8F0FF"/>
                </a:solidFill>
                <a:latin typeface="Tw Cen MT"/>
              </a:rPr>
              <a:t>explican</a:t>
            </a:r>
            <a:r>
              <a:rPr sz="2400" b="1" i="0" dirty="0">
                <a:solidFill>
                  <a:srgbClr val="E8F0FF"/>
                </a:solidFill>
                <a:latin typeface="Tw Cen MT"/>
              </a:rPr>
              <a:t> </a:t>
            </a:r>
            <a:r>
              <a:rPr sz="2400" b="1" i="0" dirty="0" err="1">
                <a:solidFill>
                  <a:srgbClr val="E8F0FF"/>
                </a:solidFill>
                <a:latin typeface="Tw Cen MT"/>
              </a:rPr>
              <a:t>este</a:t>
            </a:r>
            <a:r>
              <a:rPr sz="2400" b="1" i="0" dirty="0">
                <a:solidFill>
                  <a:srgbClr val="E8F0FF"/>
                </a:solidFill>
                <a:latin typeface="Tw Cen MT"/>
              </a:rPr>
              <a:t> </a:t>
            </a:r>
            <a:r>
              <a:rPr sz="2400" b="1" i="0" dirty="0" err="1">
                <a:solidFill>
                  <a:srgbClr val="E8F0FF"/>
                </a:solidFill>
                <a:latin typeface="Tw Cen MT"/>
              </a:rPr>
              <a:t>comportamiento</a:t>
            </a:r>
            <a:r>
              <a:rPr sz="2400" b="1" i="0" dirty="0">
                <a:solidFill>
                  <a:srgbClr val="E8F0FF"/>
                </a:solidFill>
                <a:latin typeface="Tw Cen MT"/>
              </a:rPr>
              <a:t>? ¿</a:t>
            </a:r>
            <a:r>
              <a:rPr sz="2400" b="1" i="0" dirty="0" err="1">
                <a:solidFill>
                  <a:srgbClr val="E8F0FF"/>
                </a:solidFill>
                <a:latin typeface="Tw Cen MT"/>
              </a:rPr>
              <a:t>Cómo</a:t>
            </a:r>
            <a:r>
              <a:rPr sz="2400" b="1" i="0" dirty="0">
                <a:solidFill>
                  <a:srgbClr val="E8F0FF"/>
                </a:solidFill>
                <a:latin typeface="Tw Cen MT"/>
              </a:rPr>
              <a:t> </a:t>
            </a:r>
            <a:r>
              <a:rPr sz="2400" b="1" i="0" dirty="0" err="1">
                <a:solidFill>
                  <a:srgbClr val="E8F0FF"/>
                </a:solidFill>
                <a:latin typeface="Tw Cen MT"/>
              </a:rPr>
              <a:t>rediseñar</a:t>
            </a:r>
            <a:r>
              <a:rPr sz="2400" b="1" i="0" dirty="0">
                <a:solidFill>
                  <a:srgbClr val="E8F0FF"/>
                </a:solidFill>
                <a:latin typeface="Tw Cen MT"/>
              </a:rPr>
              <a:t> </a:t>
            </a:r>
            <a:r>
              <a:rPr sz="2400" b="1" i="0" dirty="0" err="1">
                <a:solidFill>
                  <a:srgbClr val="E8F0FF"/>
                </a:solidFill>
                <a:latin typeface="Tw Cen MT"/>
              </a:rPr>
              <a:t>el</a:t>
            </a:r>
            <a:r>
              <a:rPr sz="2400" b="1" i="0" dirty="0">
                <a:solidFill>
                  <a:srgbClr val="E8F0FF"/>
                </a:solidFill>
                <a:latin typeface="Tw Cen MT"/>
              </a:rPr>
              <a:t> </a:t>
            </a:r>
            <a:r>
              <a:rPr sz="2400" b="1" i="0" dirty="0" err="1">
                <a:solidFill>
                  <a:srgbClr val="E8F0FF"/>
                </a:solidFill>
                <a:latin typeface="Tw Cen MT"/>
              </a:rPr>
              <a:t>sistema</a:t>
            </a:r>
            <a:r>
              <a:rPr sz="2400" b="1" i="0" dirty="0">
                <a:solidFill>
                  <a:srgbClr val="E8F0FF"/>
                </a:solidFill>
                <a:latin typeface="Tw Cen MT"/>
              </a:rPr>
              <a:t> para </a:t>
            </a:r>
            <a:r>
              <a:rPr sz="2400" b="1" i="0" dirty="0" err="1">
                <a:solidFill>
                  <a:srgbClr val="E8F0FF"/>
                </a:solidFill>
                <a:latin typeface="Tw Cen MT"/>
              </a:rPr>
              <a:t>reducirlo</a:t>
            </a:r>
            <a:r>
              <a:rPr sz="2400" b="1" i="0" dirty="0">
                <a:solidFill>
                  <a:srgbClr val="E8F0FF"/>
                </a:solidFill>
                <a:latin typeface="Tw Cen MT"/>
              </a:rPr>
              <a:t>?</a:t>
            </a:r>
            <a:endParaRPr lang="es-419" sz="2400" b="1" i="0" dirty="0">
              <a:solidFill>
                <a:srgbClr val="E8F0FF"/>
              </a:solidFill>
              <a:latin typeface="Tw Cen MT"/>
            </a:endParaRPr>
          </a:p>
          <a:p>
            <a:pPr algn="ctr">
              <a:spcBef>
                <a:spcPts val="500"/>
              </a:spcBef>
            </a:pPr>
            <a:endParaRPr sz="2400" b="1" i="0" dirty="0">
              <a:solidFill>
                <a:srgbClr val="E8F0FF"/>
              </a:solidFill>
              <a:latin typeface="Tw Cen MT"/>
            </a:endParaRPr>
          </a:p>
          <a:p>
            <a:pPr algn="r">
              <a:spcBef>
                <a:spcPts val="500"/>
              </a:spcBef>
            </a:pPr>
            <a:r>
              <a:rPr sz="2400" b="0" i="0" dirty="0">
                <a:solidFill>
                  <a:srgbClr val="E8F0FF"/>
                </a:solidFill>
                <a:latin typeface="Tw Cen MT"/>
              </a:rPr>
              <a:t>Fuente: argentina.gob.ar, 5 de </a:t>
            </a:r>
            <a:r>
              <a:rPr sz="2400" b="0" i="0" dirty="0" err="1">
                <a:solidFill>
                  <a:srgbClr val="E8F0FF"/>
                </a:solidFill>
                <a:latin typeface="Tw Cen MT"/>
              </a:rPr>
              <a:t>agosto</a:t>
            </a:r>
            <a:r>
              <a:rPr sz="2400" b="0" i="0" dirty="0">
                <a:solidFill>
                  <a:srgbClr val="E8F0FF"/>
                </a:solidFill>
                <a:latin typeface="Tw Cen MT"/>
              </a:rPr>
              <a:t> de 2025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Caso: Los Peritos Judiciales y los Juicios Truchos</a:t>
            </a:r>
          </a:p>
        </p:txBody>
      </p:sp>
      <p:sp>
        <p:nvSpPr>
          <p:cNvPr id="6" name="TextBox 5"/>
          <p:cNvSpPr txBox="1"/>
          <p:nvPr/>
        </p:nvSpPr>
        <p:spPr>
          <a:xfrm>
            <a:off x="406400" y="1219200"/>
            <a:ext cx="11379200" cy="5101397"/>
          </a:xfrm>
          <a:prstGeom prst="rect">
            <a:avLst/>
          </a:prstGeom>
          <a:noFill/>
        </p:spPr>
        <p:txBody>
          <a:bodyPr wrap="square">
            <a:spAutoFit/>
          </a:bodyPr>
          <a:lstStyle/>
          <a:p>
            <a:pPr algn="l">
              <a:spcBef>
                <a:spcPts val="500"/>
              </a:spcBef>
            </a:pPr>
            <a:r>
              <a:rPr sz="2400" b="1" i="0" dirty="0">
                <a:solidFill>
                  <a:srgbClr val="E8F0FF"/>
                </a:solidFill>
                <a:latin typeface="Tw Cen MT"/>
              </a:rPr>
              <a:t>■  Un </a:t>
            </a:r>
            <a:r>
              <a:rPr sz="2400" b="1" i="0" dirty="0" err="1">
                <a:solidFill>
                  <a:srgbClr val="E8F0FF"/>
                </a:solidFill>
                <a:latin typeface="Tw Cen MT"/>
              </a:rPr>
              <a:t>médico</a:t>
            </a:r>
            <a:r>
              <a:rPr sz="2400" b="1" i="0" dirty="0">
                <a:solidFill>
                  <a:srgbClr val="E8F0FF"/>
                </a:solidFill>
                <a:latin typeface="Tw Cen MT"/>
              </a:rPr>
              <a:t> </a:t>
            </a:r>
            <a:r>
              <a:rPr sz="2400" b="1" i="0" dirty="0" err="1">
                <a:solidFill>
                  <a:srgbClr val="E8F0FF"/>
                </a:solidFill>
                <a:latin typeface="Tw Cen MT"/>
              </a:rPr>
              <a:t>firmó</a:t>
            </a:r>
            <a:r>
              <a:rPr sz="2400" b="1" i="0" dirty="0">
                <a:solidFill>
                  <a:srgbClr val="E8F0FF"/>
                </a:solidFill>
                <a:latin typeface="Tw Cen MT"/>
              </a:rPr>
              <a:t> 34 </a:t>
            </a:r>
            <a:r>
              <a:rPr sz="2400" b="1" i="0" dirty="0" err="1">
                <a:solidFill>
                  <a:srgbClr val="E8F0FF"/>
                </a:solidFill>
                <a:latin typeface="Tw Cen MT"/>
              </a:rPr>
              <a:t>pericias</a:t>
            </a:r>
            <a:r>
              <a:rPr sz="2400" b="1" i="0" dirty="0">
                <a:solidFill>
                  <a:srgbClr val="E8F0FF"/>
                </a:solidFill>
                <a:latin typeface="Tw Cen MT"/>
              </a:rPr>
              <a:t> </a:t>
            </a:r>
            <a:r>
              <a:rPr sz="2400" b="1" i="0" dirty="0" err="1">
                <a:solidFill>
                  <a:srgbClr val="E8F0FF"/>
                </a:solidFill>
                <a:latin typeface="Tw Cen MT"/>
              </a:rPr>
              <a:t>mientras</a:t>
            </a:r>
            <a:r>
              <a:rPr sz="2400" b="1" i="0" dirty="0">
                <a:solidFill>
                  <a:srgbClr val="E8F0FF"/>
                </a:solidFill>
                <a:latin typeface="Tw Cen MT"/>
              </a:rPr>
              <a:t> </a:t>
            </a:r>
            <a:r>
              <a:rPr sz="2400" b="1" i="0" dirty="0" err="1">
                <a:solidFill>
                  <a:srgbClr val="E8F0FF"/>
                </a:solidFill>
                <a:latin typeface="Tw Cen MT"/>
              </a:rPr>
              <a:t>estaba</a:t>
            </a:r>
            <a:r>
              <a:rPr sz="2400" b="1" i="0" dirty="0">
                <a:solidFill>
                  <a:srgbClr val="E8F0FF"/>
                </a:solidFill>
                <a:latin typeface="Tw Cen MT"/>
              </a:rPr>
              <a:t> </a:t>
            </a:r>
            <a:r>
              <a:rPr sz="2400" b="1" i="0" dirty="0" err="1">
                <a:solidFill>
                  <a:srgbClr val="E8F0FF"/>
                </a:solidFill>
                <a:latin typeface="Tw Cen MT"/>
              </a:rPr>
              <a:t>internado</a:t>
            </a:r>
            <a:r>
              <a:rPr sz="2400" b="1" i="0" dirty="0">
                <a:solidFill>
                  <a:srgbClr val="E8F0FF"/>
                </a:solidFill>
                <a:latin typeface="Tw Cen MT"/>
              </a:rPr>
              <a:t> </a:t>
            </a:r>
            <a:r>
              <a:rPr sz="2400" b="1" i="0" dirty="0" err="1">
                <a:solidFill>
                  <a:srgbClr val="E8F0FF"/>
                </a:solidFill>
                <a:latin typeface="Tw Cen MT"/>
              </a:rPr>
              <a:t>en</a:t>
            </a:r>
            <a:r>
              <a:rPr sz="2400" b="1" i="0" dirty="0">
                <a:solidFill>
                  <a:srgbClr val="E8F0FF"/>
                </a:solidFill>
                <a:latin typeface="Tw Cen MT"/>
              </a:rPr>
              <a:t> </a:t>
            </a:r>
            <a:r>
              <a:rPr sz="2400" b="1" i="0" dirty="0" err="1">
                <a:solidFill>
                  <a:srgbClr val="E8F0FF"/>
                </a:solidFill>
                <a:latin typeface="Tw Cen MT"/>
              </a:rPr>
              <a:t>terapia</a:t>
            </a:r>
            <a:r>
              <a:rPr sz="2400" b="1" i="0" dirty="0">
                <a:solidFill>
                  <a:srgbClr val="E8F0FF"/>
                </a:solidFill>
                <a:latin typeface="Tw Cen MT"/>
              </a:rPr>
              <a:t> </a:t>
            </a:r>
            <a:r>
              <a:rPr sz="2400" b="1" i="0" dirty="0" err="1">
                <a:solidFill>
                  <a:srgbClr val="E8F0FF"/>
                </a:solidFill>
                <a:latin typeface="Tw Cen MT"/>
              </a:rPr>
              <a:t>intensiva</a:t>
            </a:r>
            <a:r>
              <a:rPr sz="2400" b="1" i="0" dirty="0">
                <a:solidFill>
                  <a:srgbClr val="E8F0FF"/>
                </a:solidFill>
                <a:latin typeface="Tw Cen MT"/>
              </a:rPr>
              <a:t>.</a:t>
            </a:r>
            <a:endParaRPr lang="es-419" sz="2400" b="1" i="0" dirty="0">
              <a:solidFill>
                <a:srgbClr val="E8F0FF"/>
              </a:solidFill>
              <a:latin typeface="Tw Cen MT"/>
            </a:endParaRPr>
          </a:p>
          <a:p>
            <a:pPr algn="l">
              <a:spcBef>
                <a:spcPts val="500"/>
              </a:spcBef>
            </a:pPr>
            <a:endParaRPr sz="2400" b="1" i="0" dirty="0">
              <a:solidFill>
                <a:srgbClr val="E8F0FF"/>
              </a:solidFill>
              <a:latin typeface="Tw Cen MT"/>
            </a:endParaRPr>
          </a:p>
          <a:p>
            <a:pPr algn="l">
              <a:spcBef>
                <a:spcPts val="500"/>
              </a:spcBef>
            </a:pPr>
            <a:r>
              <a:rPr sz="2400" b="1" i="0" dirty="0">
                <a:solidFill>
                  <a:srgbClr val="D4A017"/>
                </a:solidFill>
                <a:latin typeface="Tw Cen MT"/>
              </a:rPr>
              <a:t>EL PROBLEMA</a:t>
            </a:r>
          </a:p>
          <a:p>
            <a:pPr marL="342900" indent="-342900" algn="l">
              <a:spcBef>
                <a:spcPts val="500"/>
              </a:spcBef>
              <a:buFont typeface="Arial" panose="020B0604020202020204" pitchFamily="34" charset="0"/>
              <a:buChar char="•"/>
            </a:pPr>
            <a:r>
              <a:rPr sz="2400" b="0" i="0" dirty="0">
                <a:solidFill>
                  <a:srgbClr val="E8F0FF"/>
                </a:solidFill>
                <a:latin typeface="Tw Cen MT"/>
              </a:rPr>
              <a:t>Los </a:t>
            </a:r>
            <a:r>
              <a:rPr sz="2400" b="0" i="0" dirty="0" err="1">
                <a:solidFill>
                  <a:srgbClr val="E8F0FF"/>
                </a:solidFill>
                <a:latin typeface="Tw Cen MT"/>
              </a:rPr>
              <a:t>peritos</a:t>
            </a:r>
            <a:r>
              <a:rPr sz="2400" b="0" i="0" dirty="0">
                <a:solidFill>
                  <a:srgbClr val="E8F0FF"/>
                </a:solidFill>
                <a:latin typeface="Tw Cen MT"/>
              </a:rPr>
              <a:t> </a:t>
            </a:r>
            <a:r>
              <a:rPr sz="2400" b="0" i="0" dirty="0" err="1">
                <a:solidFill>
                  <a:srgbClr val="E8F0FF"/>
                </a:solidFill>
                <a:latin typeface="Tw Cen MT"/>
              </a:rPr>
              <a:t>actúan</a:t>
            </a:r>
            <a:r>
              <a:rPr sz="2400" b="0" i="0" dirty="0">
                <a:solidFill>
                  <a:srgbClr val="E8F0FF"/>
                </a:solidFill>
                <a:latin typeface="Tw Cen MT"/>
              </a:rPr>
              <a:t> sin </a:t>
            </a:r>
            <a:r>
              <a:rPr sz="2400" b="0" i="0" dirty="0" err="1">
                <a:solidFill>
                  <a:srgbClr val="E8F0FF"/>
                </a:solidFill>
                <a:latin typeface="Tw Cen MT"/>
              </a:rPr>
              <a:t>mecanismos</a:t>
            </a:r>
            <a:r>
              <a:rPr sz="2400" b="0" i="0" dirty="0">
                <a:solidFill>
                  <a:srgbClr val="E8F0FF"/>
                </a:solidFill>
                <a:latin typeface="Tw Cen MT"/>
              </a:rPr>
              <a:t> de control.</a:t>
            </a:r>
            <a:endParaRPr lang="es-419" sz="2400" b="0" i="0" dirty="0">
              <a:solidFill>
                <a:srgbClr val="E8F0FF"/>
              </a:solidFill>
              <a:latin typeface="Tw Cen MT"/>
            </a:endParaRPr>
          </a:p>
          <a:p>
            <a:pPr marL="342900" indent="-342900" algn="l">
              <a:spcBef>
                <a:spcPts val="500"/>
              </a:spcBef>
              <a:buFont typeface="Arial" panose="020B0604020202020204" pitchFamily="34" charset="0"/>
              <a:buChar char="•"/>
            </a:pPr>
            <a:r>
              <a:rPr sz="2400" b="0" i="0" dirty="0">
                <a:solidFill>
                  <a:srgbClr val="E8F0FF"/>
                </a:solidFill>
                <a:latin typeface="Tw Cen MT"/>
              </a:rPr>
              <a:t>Sus </a:t>
            </a:r>
            <a:r>
              <a:rPr sz="2400" b="0" i="0" dirty="0" err="1">
                <a:solidFill>
                  <a:srgbClr val="E8F0FF"/>
                </a:solidFill>
                <a:latin typeface="Tw Cen MT"/>
              </a:rPr>
              <a:t>honorarios</a:t>
            </a:r>
            <a:r>
              <a:rPr sz="2400" b="0" i="0" dirty="0">
                <a:solidFill>
                  <a:srgbClr val="E8F0FF"/>
                </a:solidFill>
                <a:latin typeface="Tw Cen MT"/>
              </a:rPr>
              <a:t> </a:t>
            </a:r>
            <a:r>
              <a:rPr sz="2400" b="0" i="0" dirty="0" err="1">
                <a:solidFill>
                  <a:srgbClr val="E8F0FF"/>
                </a:solidFill>
                <a:latin typeface="Tw Cen MT"/>
              </a:rPr>
              <a:t>dependen</a:t>
            </a:r>
            <a:r>
              <a:rPr sz="2400" b="0" i="0" dirty="0">
                <a:solidFill>
                  <a:srgbClr val="E8F0FF"/>
                </a:solidFill>
                <a:latin typeface="Tw Cen MT"/>
              </a:rPr>
              <a:t> del </a:t>
            </a:r>
            <a:r>
              <a:rPr sz="2400" b="0" i="0" dirty="0" err="1">
                <a:solidFill>
                  <a:srgbClr val="E8F0FF"/>
                </a:solidFill>
                <a:latin typeface="Tw Cen MT"/>
              </a:rPr>
              <a:t>resultado</a:t>
            </a:r>
            <a:r>
              <a:rPr sz="2400" b="0" i="0" dirty="0">
                <a:solidFill>
                  <a:srgbClr val="E8F0FF"/>
                </a:solidFill>
                <a:latin typeface="Tw Cen MT"/>
              </a:rPr>
              <a:t> del </a:t>
            </a:r>
            <a:r>
              <a:rPr sz="2400" b="0" i="0" dirty="0" err="1">
                <a:solidFill>
                  <a:srgbClr val="E8F0FF"/>
                </a:solidFill>
                <a:latin typeface="Tw Cen MT"/>
              </a:rPr>
              <a:t>juicio</a:t>
            </a:r>
            <a:r>
              <a:rPr sz="2400" b="0" i="0" dirty="0">
                <a:solidFill>
                  <a:srgbClr val="E8F0FF"/>
                </a:solidFill>
                <a:latin typeface="Tw Cen MT"/>
              </a:rPr>
              <a:t>.</a:t>
            </a:r>
            <a:r>
              <a:rPr lang="es-419" sz="2400" b="0" i="0" dirty="0">
                <a:solidFill>
                  <a:srgbClr val="E8F0FF"/>
                </a:solidFill>
                <a:latin typeface="Tw Cen MT"/>
              </a:rPr>
              <a:t> </a:t>
            </a:r>
            <a:r>
              <a:rPr lang="es-AR" sz="2400" b="0" i="0" dirty="0">
                <a:solidFill>
                  <a:srgbClr val="E8F0FF"/>
                </a:solidFill>
                <a:latin typeface="Tw Cen MT"/>
              </a:rPr>
              <a:t>Honorarios como porcentaje de la indemnización.</a:t>
            </a:r>
            <a:endParaRPr sz="2400" b="0" i="0" dirty="0">
              <a:solidFill>
                <a:srgbClr val="E8F0FF"/>
              </a:solidFill>
              <a:latin typeface="Tw Cen MT"/>
            </a:endParaRPr>
          </a:p>
          <a:p>
            <a:pPr marL="342900" indent="-342900" algn="l">
              <a:spcBef>
                <a:spcPts val="500"/>
              </a:spcBef>
              <a:buFont typeface="Arial" panose="020B0604020202020204" pitchFamily="34" charset="0"/>
              <a:buChar char="•"/>
            </a:pPr>
            <a:r>
              <a:rPr sz="2400" b="0" i="0" dirty="0">
                <a:solidFill>
                  <a:srgbClr val="E8F0FF"/>
                </a:solidFill>
                <a:latin typeface="Tw Cen MT"/>
              </a:rPr>
              <a:t>Para ser </a:t>
            </a:r>
            <a:r>
              <a:rPr sz="2400" b="0" i="0" dirty="0" err="1">
                <a:solidFill>
                  <a:srgbClr val="E8F0FF"/>
                </a:solidFill>
                <a:latin typeface="Tw Cen MT"/>
              </a:rPr>
              <a:t>perito</a:t>
            </a:r>
            <a:r>
              <a:rPr sz="2400" b="0" i="0" dirty="0">
                <a:solidFill>
                  <a:srgbClr val="E8F0FF"/>
                </a:solidFill>
                <a:latin typeface="Tw Cen MT"/>
              </a:rPr>
              <a:t> </a:t>
            </a:r>
            <a:r>
              <a:rPr sz="2400" b="0" i="0" dirty="0" err="1">
                <a:solidFill>
                  <a:srgbClr val="E8F0FF"/>
                </a:solidFill>
                <a:latin typeface="Tw Cen MT"/>
              </a:rPr>
              <a:t>oficial</a:t>
            </a:r>
            <a:r>
              <a:rPr sz="2400" b="0" i="0" dirty="0">
                <a:solidFill>
                  <a:srgbClr val="E8F0FF"/>
                </a:solidFill>
                <a:latin typeface="Tw Cen MT"/>
              </a:rPr>
              <a:t> basta con </a:t>
            </a:r>
            <a:r>
              <a:rPr sz="2400" b="0" i="0" dirty="0" err="1">
                <a:solidFill>
                  <a:srgbClr val="E8F0FF"/>
                </a:solidFill>
                <a:latin typeface="Tw Cen MT"/>
              </a:rPr>
              <a:t>integrar</a:t>
            </a:r>
            <a:r>
              <a:rPr sz="2400" b="0" i="0" dirty="0">
                <a:solidFill>
                  <a:srgbClr val="E8F0FF"/>
                </a:solidFill>
                <a:latin typeface="Tw Cen MT"/>
              </a:rPr>
              <a:t> </a:t>
            </a:r>
            <a:r>
              <a:rPr sz="2400" b="0" i="0" dirty="0" err="1">
                <a:solidFill>
                  <a:srgbClr val="E8F0FF"/>
                </a:solidFill>
                <a:latin typeface="Tw Cen MT"/>
              </a:rPr>
              <a:t>una</a:t>
            </a:r>
            <a:r>
              <a:rPr sz="2400" b="0" i="0" dirty="0">
                <a:solidFill>
                  <a:srgbClr val="E8F0FF"/>
                </a:solidFill>
                <a:latin typeface="Tw Cen MT"/>
              </a:rPr>
              <a:t> </a:t>
            </a:r>
            <a:r>
              <a:rPr sz="2400" b="0" i="0" dirty="0" err="1">
                <a:solidFill>
                  <a:srgbClr val="E8F0FF"/>
                </a:solidFill>
                <a:latin typeface="Tw Cen MT"/>
              </a:rPr>
              <a:t>lista</a:t>
            </a:r>
            <a:r>
              <a:rPr sz="2400" b="0" i="0" dirty="0">
                <a:solidFill>
                  <a:srgbClr val="E8F0FF"/>
                </a:solidFill>
                <a:latin typeface="Tw Cen MT"/>
              </a:rPr>
              <a:t> y </a:t>
            </a:r>
            <a:r>
              <a:rPr sz="2400" b="0" i="0" dirty="0" err="1">
                <a:solidFill>
                  <a:srgbClr val="E8F0FF"/>
                </a:solidFill>
                <a:latin typeface="Tw Cen MT"/>
              </a:rPr>
              <a:t>resultar</a:t>
            </a:r>
            <a:r>
              <a:rPr sz="2400" b="0" i="0" dirty="0">
                <a:solidFill>
                  <a:srgbClr val="E8F0FF"/>
                </a:solidFill>
                <a:latin typeface="Tw Cen MT"/>
              </a:rPr>
              <a:t> </a:t>
            </a:r>
            <a:r>
              <a:rPr sz="2400" b="0" i="0" dirty="0" err="1">
                <a:solidFill>
                  <a:srgbClr val="E8F0FF"/>
                </a:solidFill>
                <a:latin typeface="Tw Cen MT"/>
              </a:rPr>
              <a:t>sorteado</a:t>
            </a:r>
            <a:r>
              <a:rPr sz="2400" b="0" i="0" dirty="0">
                <a:solidFill>
                  <a:srgbClr val="E8F0FF"/>
                </a:solidFill>
                <a:latin typeface="Tw Cen MT"/>
              </a:rPr>
              <a:t>.</a:t>
            </a:r>
          </a:p>
          <a:p>
            <a:pPr algn="l">
              <a:spcBef>
                <a:spcPts val="500"/>
              </a:spcBef>
            </a:pPr>
            <a:endParaRPr sz="2400" b="1" i="0" dirty="0">
              <a:solidFill>
                <a:srgbClr val="E8F0FF"/>
              </a:solidFill>
              <a:latin typeface="Tw Cen MT"/>
            </a:endParaRPr>
          </a:p>
          <a:p>
            <a:pPr algn="l">
              <a:spcBef>
                <a:spcPts val="500"/>
              </a:spcBef>
            </a:pPr>
            <a:r>
              <a:rPr sz="2400" b="1" i="0" dirty="0">
                <a:solidFill>
                  <a:srgbClr val="D4A017"/>
                </a:solidFill>
                <a:latin typeface="Tw Cen MT"/>
              </a:rPr>
              <a:t>ANÁLISIS</a:t>
            </a:r>
          </a:p>
          <a:p>
            <a:pPr algn="l">
              <a:spcBef>
                <a:spcPts val="500"/>
              </a:spcBef>
            </a:pPr>
            <a:r>
              <a:rPr sz="2400" b="0" i="0" dirty="0">
                <a:solidFill>
                  <a:srgbClr val="E8F0FF"/>
                </a:solidFill>
                <a:latin typeface="Tw Cen MT"/>
              </a:rPr>
              <a:t>■  </a:t>
            </a:r>
            <a:r>
              <a:rPr sz="2400" b="0" i="0" dirty="0" err="1">
                <a:solidFill>
                  <a:srgbClr val="E8F0FF"/>
                </a:solidFill>
                <a:latin typeface="Tw Cen MT"/>
              </a:rPr>
              <a:t>Incentivo</a:t>
            </a:r>
            <a:r>
              <a:rPr sz="2400" b="0" i="0" dirty="0">
                <a:solidFill>
                  <a:srgbClr val="E8F0FF"/>
                </a:solidFill>
                <a:latin typeface="Tw Cen MT"/>
              </a:rPr>
              <a:t> </a:t>
            </a:r>
            <a:r>
              <a:rPr sz="2400" b="0" i="0" dirty="0" err="1">
                <a:solidFill>
                  <a:srgbClr val="E8F0FF"/>
                </a:solidFill>
                <a:latin typeface="Tw Cen MT"/>
              </a:rPr>
              <a:t>perverso</a:t>
            </a:r>
            <a:r>
              <a:rPr sz="2400" b="0" i="0" dirty="0">
                <a:solidFill>
                  <a:srgbClr val="E8F0FF"/>
                </a:solidFill>
                <a:latin typeface="Tw Cen MT"/>
              </a:rPr>
              <a:t> </a:t>
            </a:r>
            <a:r>
              <a:rPr sz="2400" b="0" i="0" dirty="0" err="1">
                <a:solidFill>
                  <a:srgbClr val="E8F0FF"/>
                </a:solidFill>
                <a:latin typeface="Tw Cen MT"/>
              </a:rPr>
              <a:t>clásico</a:t>
            </a:r>
            <a:r>
              <a:rPr sz="2400" b="0" i="0" dirty="0">
                <a:solidFill>
                  <a:srgbClr val="E8F0FF"/>
                </a:solidFill>
                <a:latin typeface="Tw Cen MT"/>
              </a:rPr>
              <a:t>: </a:t>
            </a:r>
            <a:r>
              <a:rPr sz="2400" b="0" i="0" dirty="0" err="1">
                <a:solidFill>
                  <a:srgbClr val="E8F0FF"/>
                </a:solidFill>
                <a:latin typeface="Tw Cen MT"/>
              </a:rPr>
              <a:t>quien</a:t>
            </a:r>
            <a:r>
              <a:rPr sz="2400" b="0" i="0" dirty="0">
                <a:solidFill>
                  <a:srgbClr val="E8F0FF"/>
                </a:solidFill>
                <a:latin typeface="Tw Cen MT"/>
              </a:rPr>
              <a:t> </a:t>
            </a:r>
            <a:r>
              <a:rPr sz="2400" b="0" i="0" dirty="0" err="1">
                <a:solidFill>
                  <a:srgbClr val="E8F0FF"/>
                </a:solidFill>
                <a:latin typeface="Tw Cen MT"/>
              </a:rPr>
              <a:t>fija</a:t>
            </a:r>
            <a:r>
              <a:rPr sz="2400" b="0" i="0" dirty="0">
                <a:solidFill>
                  <a:srgbClr val="E8F0FF"/>
                </a:solidFill>
                <a:latin typeface="Tw Cen MT"/>
              </a:rPr>
              <a:t> </a:t>
            </a:r>
            <a:r>
              <a:rPr sz="2400" b="0" i="0" dirty="0" err="1">
                <a:solidFill>
                  <a:srgbClr val="E8F0FF"/>
                </a:solidFill>
                <a:latin typeface="Tw Cen MT"/>
              </a:rPr>
              <a:t>el</a:t>
            </a:r>
            <a:r>
              <a:rPr sz="2400" b="0" i="0" dirty="0">
                <a:solidFill>
                  <a:srgbClr val="E8F0FF"/>
                </a:solidFill>
                <a:latin typeface="Tw Cen MT"/>
              </a:rPr>
              <a:t> valor del </a:t>
            </a:r>
            <a:r>
              <a:rPr sz="2400" b="0" i="0" dirty="0" err="1">
                <a:solidFill>
                  <a:srgbClr val="E8F0FF"/>
                </a:solidFill>
                <a:latin typeface="Tw Cen MT"/>
              </a:rPr>
              <a:t>siniestro</a:t>
            </a:r>
            <a:r>
              <a:rPr sz="2400" b="0" i="0" dirty="0">
                <a:solidFill>
                  <a:srgbClr val="E8F0FF"/>
                </a:solidFill>
                <a:latin typeface="Tw Cen MT"/>
              </a:rPr>
              <a:t> cobra </a:t>
            </a:r>
            <a:r>
              <a:rPr sz="2400" b="0" i="0" dirty="0" err="1">
                <a:solidFill>
                  <a:srgbClr val="E8F0FF"/>
                </a:solidFill>
                <a:latin typeface="Tw Cen MT"/>
              </a:rPr>
              <a:t>en</a:t>
            </a:r>
            <a:r>
              <a:rPr sz="2400" b="0" i="0" dirty="0">
                <a:solidFill>
                  <a:srgbClr val="E8F0FF"/>
                </a:solidFill>
                <a:latin typeface="Tw Cen MT"/>
              </a:rPr>
              <a:t> </a:t>
            </a:r>
            <a:r>
              <a:rPr sz="2400" b="0" i="0" dirty="0" err="1">
                <a:solidFill>
                  <a:srgbClr val="E8F0FF"/>
                </a:solidFill>
                <a:latin typeface="Tw Cen MT"/>
              </a:rPr>
              <a:t>proporción</a:t>
            </a:r>
            <a:r>
              <a:rPr sz="2400" b="0" i="0" dirty="0">
                <a:solidFill>
                  <a:srgbClr val="E8F0FF"/>
                </a:solidFill>
                <a:latin typeface="Tw Cen MT"/>
              </a:rPr>
              <a:t> </a:t>
            </a:r>
            <a:r>
              <a:rPr lang="es-419" sz="2400" b="0" i="0" dirty="0">
                <a:solidFill>
                  <a:srgbClr val="E8F0FF"/>
                </a:solidFill>
                <a:latin typeface="Tw Cen MT"/>
              </a:rPr>
              <a:t>a </a:t>
            </a:r>
            <a:r>
              <a:rPr sz="2400" b="0" i="0" dirty="0">
                <a:solidFill>
                  <a:srgbClr val="E8F0FF"/>
                </a:solidFill>
                <a:latin typeface="Tw Cen MT"/>
              </a:rPr>
              <a:t>ese valor.</a:t>
            </a:r>
          </a:p>
          <a:p>
            <a:pPr algn="r">
              <a:spcBef>
                <a:spcPts val="500"/>
              </a:spcBef>
            </a:pPr>
            <a:r>
              <a:rPr sz="2400" b="0" i="0" dirty="0">
                <a:solidFill>
                  <a:srgbClr val="E8F0FF"/>
                </a:solidFill>
                <a:latin typeface="Tw Cen MT"/>
              </a:rPr>
              <a:t>■  </a:t>
            </a:r>
            <a:r>
              <a:rPr sz="2400" i="0" dirty="0">
                <a:solidFill>
                  <a:srgbClr val="E8F0FF"/>
                </a:solidFill>
                <a:latin typeface="Tw Cen MT"/>
              </a:rPr>
              <a:t>Fuente: Infobae, 13 de </a:t>
            </a:r>
            <a:r>
              <a:rPr sz="2400" i="0" dirty="0" err="1">
                <a:solidFill>
                  <a:srgbClr val="E8F0FF"/>
                </a:solidFill>
                <a:latin typeface="Tw Cen MT"/>
              </a:rPr>
              <a:t>noviembre</a:t>
            </a:r>
            <a:r>
              <a:rPr sz="2400" i="0" dirty="0">
                <a:solidFill>
                  <a:srgbClr val="E8F0FF"/>
                </a:solidFill>
                <a:latin typeface="Tw Cen MT"/>
              </a:rPr>
              <a:t> de 2025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Caso: Asesores Financieros — Comisiones vs. Honorarios</a:t>
            </a:r>
          </a:p>
        </p:txBody>
      </p:sp>
      <p:sp>
        <p:nvSpPr>
          <p:cNvPr id="6" name="TextBox 5"/>
          <p:cNvSpPr txBox="1"/>
          <p:nvPr/>
        </p:nvSpPr>
        <p:spPr>
          <a:xfrm>
            <a:off x="406400" y="1219200"/>
            <a:ext cx="11379200" cy="5504071"/>
          </a:xfrm>
          <a:prstGeom prst="rect">
            <a:avLst/>
          </a:prstGeom>
          <a:noFill/>
        </p:spPr>
        <p:txBody>
          <a:bodyPr wrap="square">
            <a:spAutoFit/>
          </a:bodyPr>
          <a:lstStyle/>
          <a:p>
            <a:pPr algn="l">
              <a:spcBef>
                <a:spcPts val="500"/>
              </a:spcBef>
            </a:pPr>
            <a:r>
              <a:rPr sz="2400" b="0" i="0" dirty="0">
                <a:solidFill>
                  <a:srgbClr val="E8F0FF"/>
                </a:solidFill>
                <a:latin typeface="Tw Cen MT"/>
              </a:rPr>
              <a:t>La </a:t>
            </a:r>
            <a:r>
              <a:rPr sz="2400" b="0" i="0" dirty="0" err="1">
                <a:solidFill>
                  <a:srgbClr val="E8F0FF"/>
                </a:solidFill>
                <a:latin typeface="Tw Cen MT"/>
              </a:rPr>
              <a:t>remuneración</a:t>
            </a:r>
            <a:r>
              <a:rPr sz="2400" b="0" i="0" dirty="0">
                <a:solidFill>
                  <a:srgbClr val="E8F0FF"/>
                </a:solidFill>
                <a:latin typeface="Tw Cen MT"/>
              </a:rPr>
              <a:t> </a:t>
            </a:r>
            <a:r>
              <a:rPr sz="2400" b="0" i="0" dirty="0" err="1">
                <a:solidFill>
                  <a:srgbClr val="E8F0FF"/>
                </a:solidFill>
                <a:latin typeface="Tw Cen MT"/>
              </a:rPr>
              <a:t>basada</a:t>
            </a:r>
            <a:r>
              <a:rPr sz="2400" b="0" i="0" dirty="0">
                <a:solidFill>
                  <a:srgbClr val="E8F0FF"/>
                </a:solidFill>
                <a:latin typeface="Tw Cen MT"/>
              </a:rPr>
              <a:t> </a:t>
            </a:r>
            <a:r>
              <a:rPr sz="2400" b="0" i="0" dirty="0" err="1">
                <a:solidFill>
                  <a:srgbClr val="E8F0FF"/>
                </a:solidFill>
                <a:latin typeface="Tw Cen MT"/>
              </a:rPr>
              <a:t>en</a:t>
            </a:r>
            <a:r>
              <a:rPr sz="2400" b="0" i="0" dirty="0">
                <a:solidFill>
                  <a:srgbClr val="E8F0FF"/>
                </a:solidFill>
                <a:latin typeface="Tw Cen MT"/>
              </a:rPr>
              <a:t> </a:t>
            </a:r>
            <a:r>
              <a:rPr sz="2400" b="0" i="0" dirty="0" err="1">
                <a:solidFill>
                  <a:srgbClr val="E8F0FF"/>
                </a:solidFill>
                <a:latin typeface="Tw Cen MT"/>
              </a:rPr>
              <a:t>honorarios</a:t>
            </a:r>
            <a:r>
              <a:rPr sz="2400" b="0" i="0" dirty="0">
                <a:solidFill>
                  <a:srgbClr val="E8F0FF"/>
                </a:solidFill>
                <a:latin typeface="Tw Cen MT"/>
              </a:rPr>
              <a:t> se </a:t>
            </a:r>
            <a:r>
              <a:rPr sz="2400" b="0" i="0" dirty="0" err="1">
                <a:solidFill>
                  <a:srgbClr val="E8F0FF"/>
                </a:solidFill>
                <a:latin typeface="Tw Cen MT"/>
              </a:rPr>
              <a:t>considera</a:t>
            </a:r>
            <a:r>
              <a:rPr sz="2400" b="0" i="0" dirty="0">
                <a:solidFill>
                  <a:srgbClr val="E8F0FF"/>
                </a:solidFill>
                <a:latin typeface="Tw Cen MT"/>
              </a:rPr>
              <a:t> </a:t>
            </a:r>
            <a:r>
              <a:rPr sz="2400" b="0" i="0" dirty="0" err="1">
                <a:solidFill>
                  <a:srgbClr val="E8F0FF"/>
                </a:solidFill>
                <a:latin typeface="Tw Cen MT"/>
              </a:rPr>
              <a:t>menos</a:t>
            </a:r>
            <a:r>
              <a:rPr sz="2400" b="0" i="0" dirty="0">
                <a:solidFill>
                  <a:srgbClr val="E8F0FF"/>
                </a:solidFill>
                <a:latin typeface="Tw Cen MT"/>
              </a:rPr>
              <a:t> </a:t>
            </a:r>
            <a:r>
              <a:rPr sz="2400" b="0" i="0" dirty="0" err="1">
                <a:solidFill>
                  <a:srgbClr val="E8F0FF"/>
                </a:solidFill>
                <a:latin typeface="Tw Cen MT"/>
              </a:rPr>
              <a:t>propensa</a:t>
            </a:r>
            <a:r>
              <a:rPr sz="2400" b="0" i="0" dirty="0">
                <a:solidFill>
                  <a:srgbClr val="E8F0FF"/>
                </a:solidFill>
                <a:latin typeface="Tw Cen MT"/>
              </a:rPr>
              <a:t> al </a:t>
            </a:r>
            <a:r>
              <a:rPr sz="2400" b="0" i="0" dirty="0" err="1">
                <a:solidFill>
                  <a:srgbClr val="E8F0FF"/>
                </a:solidFill>
                <a:latin typeface="Tw Cen MT"/>
              </a:rPr>
              <a:t>abuso</a:t>
            </a:r>
            <a:r>
              <a:rPr sz="2400" b="0" i="0" dirty="0">
                <a:solidFill>
                  <a:srgbClr val="E8F0FF"/>
                </a:solidFill>
                <a:latin typeface="Tw Cen MT"/>
              </a:rPr>
              <a:t> </a:t>
            </a:r>
            <a:r>
              <a:rPr sz="2400" b="0" i="0" dirty="0" err="1">
                <a:solidFill>
                  <a:srgbClr val="E8F0FF"/>
                </a:solidFill>
                <a:latin typeface="Tw Cen MT"/>
              </a:rPr>
              <a:t>que</a:t>
            </a:r>
            <a:r>
              <a:rPr sz="2400" b="0" i="0" dirty="0">
                <a:solidFill>
                  <a:srgbClr val="E8F0FF"/>
                </a:solidFill>
                <a:latin typeface="Tw Cen MT"/>
              </a:rPr>
              <a:t> las </a:t>
            </a:r>
            <a:r>
              <a:rPr sz="2400" b="0" i="0" dirty="0" err="1">
                <a:solidFill>
                  <a:srgbClr val="E8F0FF"/>
                </a:solidFill>
                <a:latin typeface="Tw Cen MT"/>
              </a:rPr>
              <a:t>comisiones</a:t>
            </a:r>
            <a:r>
              <a:rPr sz="2400" b="0" i="0" dirty="0">
                <a:solidFill>
                  <a:srgbClr val="E8F0FF"/>
                </a:solidFill>
                <a:latin typeface="Tw Cen MT"/>
              </a:rPr>
              <a:t>.</a:t>
            </a:r>
            <a:endParaRPr lang="es-419" sz="2400" b="0" i="0" dirty="0">
              <a:solidFill>
                <a:srgbClr val="E8F0FF"/>
              </a:solidFill>
              <a:latin typeface="Tw Cen MT"/>
            </a:endParaRPr>
          </a:p>
          <a:p>
            <a:pPr algn="l">
              <a:spcBef>
                <a:spcPts val="500"/>
              </a:spcBef>
            </a:pPr>
            <a:endParaRPr sz="2400" b="0" i="0" dirty="0">
              <a:solidFill>
                <a:srgbClr val="E8F0FF"/>
              </a:solidFill>
              <a:latin typeface="Tw Cen MT"/>
            </a:endParaRPr>
          </a:p>
          <a:p>
            <a:pPr algn="l">
              <a:spcBef>
                <a:spcPts val="500"/>
              </a:spcBef>
            </a:pPr>
            <a:r>
              <a:rPr sz="2400" b="1" i="0" dirty="0">
                <a:solidFill>
                  <a:srgbClr val="D4A017"/>
                </a:solidFill>
                <a:latin typeface="Tw Cen MT"/>
              </a:rPr>
              <a:t>PERO...</a:t>
            </a:r>
          </a:p>
          <a:p>
            <a:pPr marL="342900" indent="-342900" algn="l">
              <a:spcBef>
                <a:spcPts val="500"/>
              </a:spcBef>
              <a:buFont typeface="Arial" panose="020B0604020202020204" pitchFamily="34" charset="0"/>
              <a:buChar char="•"/>
            </a:pPr>
            <a:r>
              <a:rPr sz="2400" i="0" dirty="0" err="1">
                <a:solidFill>
                  <a:srgbClr val="E8F0FF"/>
                </a:solidFill>
                <a:latin typeface="Tw Cen MT"/>
              </a:rPr>
              <a:t>Asesores</a:t>
            </a:r>
            <a:r>
              <a:rPr sz="2400" i="0" dirty="0">
                <a:solidFill>
                  <a:srgbClr val="E8F0FF"/>
                </a:solidFill>
                <a:latin typeface="Tw Cen MT"/>
              </a:rPr>
              <a:t> </a:t>
            </a:r>
            <a:r>
              <a:rPr sz="2400" i="0" dirty="0" err="1">
                <a:solidFill>
                  <a:srgbClr val="E8F0FF"/>
                </a:solidFill>
                <a:latin typeface="Tw Cen MT"/>
              </a:rPr>
              <a:t>que</a:t>
            </a:r>
            <a:r>
              <a:rPr sz="2400" i="0" dirty="0">
                <a:solidFill>
                  <a:srgbClr val="E8F0FF"/>
                </a:solidFill>
                <a:latin typeface="Tw Cen MT"/>
              </a:rPr>
              <a:t> solo </a:t>
            </a:r>
            <a:r>
              <a:rPr sz="2400" i="0" dirty="0" err="1">
                <a:solidFill>
                  <a:srgbClr val="E8F0FF"/>
                </a:solidFill>
                <a:latin typeface="Tw Cen MT"/>
              </a:rPr>
              <a:t>cobran</a:t>
            </a:r>
            <a:r>
              <a:rPr sz="2400" i="0" dirty="0">
                <a:solidFill>
                  <a:srgbClr val="E8F0FF"/>
                </a:solidFill>
                <a:latin typeface="Tw Cen MT"/>
              </a:rPr>
              <a:t> </a:t>
            </a:r>
            <a:r>
              <a:rPr sz="2400" i="0" dirty="0" err="1">
                <a:solidFill>
                  <a:srgbClr val="E8F0FF"/>
                </a:solidFill>
                <a:latin typeface="Tw Cen MT"/>
              </a:rPr>
              <a:t>honorarios</a:t>
            </a:r>
            <a:r>
              <a:rPr sz="2400" i="0" dirty="0">
                <a:solidFill>
                  <a:srgbClr val="E8F0FF"/>
                </a:solidFill>
                <a:latin typeface="Tw Cen MT"/>
              </a:rPr>
              <a:t> también </a:t>
            </a:r>
            <a:r>
              <a:rPr sz="2400" i="0" dirty="0" err="1">
                <a:solidFill>
                  <a:srgbClr val="E8F0FF"/>
                </a:solidFill>
                <a:latin typeface="Tw Cen MT"/>
              </a:rPr>
              <a:t>tienen</a:t>
            </a:r>
            <a:r>
              <a:rPr sz="2400" i="0" dirty="0">
                <a:solidFill>
                  <a:srgbClr val="E8F0FF"/>
                </a:solidFill>
                <a:latin typeface="Tw Cen MT"/>
              </a:rPr>
              <a:t> </a:t>
            </a:r>
            <a:r>
              <a:rPr sz="2400" i="0" dirty="0" err="1">
                <a:solidFill>
                  <a:srgbClr val="E8F0FF"/>
                </a:solidFill>
                <a:latin typeface="Tw Cen MT"/>
              </a:rPr>
              <a:t>conflictos</a:t>
            </a:r>
            <a:r>
              <a:rPr sz="2400" i="0" dirty="0">
                <a:solidFill>
                  <a:srgbClr val="E8F0FF"/>
                </a:solidFill>
                <a:latin typeface="Tw Cen MT"/>
              </a:rPr>
              <a:t> de </a:t>
            </a:r>
            <a:r>
              <a:rPr sz="2400" i="0" dirty="0" err="1">
                <a:solidFill>
                  <a:srgbClr val="E8F0FF"/>
                </a:solidFill>
                <a:latin typeface="Tw Cen MT"/>
              </a:rPr>
              <a:t>interés</a:t>
            </a:r>
            <a:r>
              <a:rPr sz="2400" i="0" dirty="0">
                <a:solidFill>
                  <a:srgbClr val="E8F0FF"/>
                </a:solidFill>
                <a:latin typeface="Tw Cen MT"/>
              </a:rPr>
              <a:t>.</a:t>
            </a:r>
          </a:p>
          <a:p>
            <a:pPr marL="342900" indent="-342900" algn="l">
              <a:spcBef>
                <a:spcPts val="500"/>
              </a:spcBef>
              <a:buFont typeface="Arial" panose="020B0604020202020204" pitchFamily="34" charset="0"/>
              <a:buChar char="•"/>
            </a:pPr>
            <a:r>
              <a:rPr sz="2400" i="0" dirty="0" err="1">
                <a:solidFill>
                  <a:srgbClr val="E8F0FF"/>
                </a:solidFill>
                <a:latin typeface="Tw Cen MT"/>
              </a:rPr>
              <a:t>Obtienen</a:t>
            </a:r>
            <a:r>
              <a:rPr sz="2400" i="0" dirty="0">
                <a:solidFill>
                  <a:srgbClr val="E8F0FF"/>
                </a:solidFill>
                <a:latin typeface="Tw Cen MT"/>
              </a:rPr>
              <a:t> </a:t>
            </a:r>
            <a:r>
              <a:rPr sz="2400" i="0" dirty="0" err="1">
                <a:solidFill>
                  <a:srgbClr val="E8F0FF"/>
                </a:solidFill>
                <a:latin typeface="Tw Cen MT"/>
              </a:rPr>
              <a:t>mayores</a:t>
            </a:r>
            <a:r>
              <a:rPr sz="2400" i="0" dirty="0">
                <a:solidFill>
                  <a:srgbClr val="E8F0FF"/>
                </a:solidFill>
                <a:latin typeface="Tw Cen MT"/>
              </a:rPr>
              <a:t> </a:t>
            </a:r>
            <a:r>
              <a:rPr sz="2400" i="0" dirty="0" err="1">
                <a:solidFill>
                  <a:srgbClr val="E8F0FF"/>
                </a:solidFill>
                <a:latin typeface="Tw Cen MT"/>
              </a:rPr>
              <a:t>honorarios</a:t>
            </a:r>
            <a:r>
              <a:rPr sz="2400" i="0" dirty="0">
                <a:solidFill>
                  <a:srgbClr val="E8F0FF"/>
                </a:solidFill>
                <a:latin typeface="Tw Cen MT"/>
              </a:rPr>
              <a:t> </a:t>
            </a:r>
            <a:r>
              <a:rPr sz="2400" i="0" dirty="0" err="1">
                <a:solidFill>
                  <a:srgbClr val="E8F0FF"/>
                </a:solidFill>
                <a:latin typeface="Tw Cen MT"/>
              </a:rPr>
              <a:t>cuando</a:t>
            </a:r>
            <a:r>
              <a:rPr sz="2400" i="0" dirty="0">
                <a:solidFill>
                  <a:srgbClr val="E8F0FF"/>
                </a:solidFill>
                <a:latin typeface="Tw Cen MT"/>
              </a:rPr>
              <a:t> </a:t>
            </a:r>
            <a:r>
              <a:rPr sz="2400" i="0" dirty="0" err="1">
                <a:solidFill>
                  <a:srgbClr val="E8F0FF"/>
                </a:solidFill>
                <a:latin typeface="Tw Cen MT"/>
              </a:rPr>
              <a:t>el</a:t>
            </a:r>
            <a:r>
              <a:rPr sz="2400" i="0" dirty="0">
                <a:solidFill>
                  <a:srgbClr val="E8F0FF"/>
                </a:solidFill>
                <a:latin typeface="Tw Cen MT"/>
              </a:rPr>
              <a:t> </a:t>
            </a:r>
            <a:r>
              <a:rPr sz="2400" i="0" dirty="0" err="1">
                <a:solidFill>
                  <a:srgbClr val="E8F0FF"/>
                </a:solidFill>
                <a:latin typeface="Tw Cen MT"/>
              </a:rPr>
              <a:t>cliente</a:t>
            </a:r>
            <a:r>
              <a:rPr sz="2400" i="0" dirty="0">
                <a:solidFill>
                  <a:srgbClr val="E8F0FF"/>
                </a:solidFill>
                <a:latin typeface="Tw Cen MT"/>
              </a:rPr>
              <a:t> </a:t>
            </a:r>
            <a:r>
              <a:rPr sz="2400" i="0" dirty="0" err="1">
                <a:solidFill>
                  <a:srgbClr val="E8F0FF"/>
                </a:solidFill>
                <a:latin typeface="Tw Cen MT"/>
              </a:rPr>
              <a:t>solicita</a:t>
            </a:r>
            <a:r>
              <a:rPr sz="2400" i="0" dirty="0">
                <a:solidFill>
                  <a:srgbClr val="E8F0FF"/>
                </a:solidFill>
                <a:latin typeface="Tw Cen MT"/>
              </a:rPr>
              <a:t> </a:t>
            </a:r>
            <a:r>
              <a:rPr sz="2400" i="0" dirty="0" err="1">
                <a:solidFill>
                  <a:srgbClr val="E8F0FF"/>
                </a:solidFill>
                <a:latin typeface="Tw Cen MT"/>
              </a:rPr>
              <a:t>Seguridad</a:t>
            </a:r>
            <a:r>
              <a:rPr sz="2400" i="0" dirty="0">
                <a:solidFill>
                  <a:srgbClr val="E8F0FF"/>
                </a:solidFill>
                <a:latin typeface="Tw Cen MT"/>
              </a:rPr>
              <a:t> Social </a:t>
            </a:r>
            <a:r>
              <a:rPr sz="2400" i="0" dirty="0" err="1">
                <a:solidFill>
                  <a:srgbClr val="E8F0FF"/>
                </a:solidFill>
                <a:latin typeface="Tw Cen MT"/>
              </a:rPr>
              <a:t>justo</a:t>
            </a:r>
            <a:r>
              <a:rPr sz="2400" i="0" dirty="0">
                <a:solidFill>
                  <a:srgbClr val="E8F0FF"/>
                </a:solidFill>
                <a:latin typeface="Tw Cen MT"/>
              </a:rPr>
              <a:t> </a:t>
            </a:r>
            <a:r>
              <a:rPr sz="2400" i="0" dirty="0" err="1">
                <a:solidFill>
                  <a:srgbClr val="E8F0FF"/>
                </a:solidFill>
                <a:latin typeface="Tw Cen MT"/>
              </a:rPr>
              <a:t>después</a:t>
            </a:r>
            <a:r>
              <a:rPr sz="2400" i="0" dirty="0">
                <a:solidFill>
                  <a:srgbClr val="E8F0FF"/>
                </a:solidFill>
                <a:latin typeface="Tw Cen MT"/>
              </a:rPr>
              <a:t> de </a:t>
            </a:r>
            <a:r>
              <a:rPr sz="2400" i="0" dirty="0" err="1">
                <a:solidFill>
                  <a:srgbClr val="E8F0FF"/>
                </a:solidFill>
                <a:latin typeface="Tw Cen MT"/>
              </a:rPr>
              <a:t>jubilarse</a:t>
            </a:r>
            <a:r>
              <a:rPr sz="2400" i="0" dirty="0">
                <a:solidFill>
                  <a:srgbClr val="E8F0FF"/>
                </a:solidFill>
                <a:latin typeface="Tw Cen MT"/>
              </a:rPr>
              <a:t>.</a:t>
            </a:r>
          </a:p>
          <a:p>
            <a:pPr marL="342900" indent="-342900" algn="l">
              <a:spcBef>
                <a:spcPts val="500"/>
              </a:spcBef>
              <a:buFont typeface="Arial" panose="020B0604020202020204" pitchFamily="34" charset="0"/>
              <a:buChar char="•"/>
            </a:pPr>
            <a:r>
              <a:rPr sz="2400" i="0" dirty="0">
                <a:solidFill>
                  <a:srgbClr val="E8F0FF"/>
                </a:solidFill>
                <a:latin typeface="Tw Cen MT"/>
              </a:rPr>
              <a:t>El mayor </a:t>
            </a:r>
            <a:r>
              <a:rPr sz="2400" i="0" dirty="0" err="1">
                <a:solidFill>
                  <a:srgbClr val="E8F0FF"/>
                </a:solidFill>
                <a:latin typeface="Tw Cen MT"/>
              </a:rPr>
              <a:t>beneficio</a:t>
            </a:r>
            <a:r>
              <a:rPr sz="2400" i="0" dirty="0">
                <a:solidFill>
                  <a:srgbClr val="E8F0FF"/>
                </a:solidFill>
                <a:latin typeface="Tw Cen MT"/>
              </a:rPr>
              <a:t> para </a:t>
            </a:r>
            <a:r>
              <a:rPr sz="2400" i="0" dirty="0" err="1">
                <a:solidFill>
                  <a:srgbClr val="E8F0FF"/>
                </a:solidFill>
                <a:latin typeface="Tw Cen MT"/>
              </a:rPr>
              <a:t>el</a:t>
            </a:r>
            <a:r>
              <a:rPr sz="2400" i="0" dirty="0">
                <a:solidFill>
                  <a:srgbClr val="E8F0FF"/>
                </a:solidFill>
                <a:latin typeface="Tw Cen MT"/>
              </a:rPr>
              <a:t> </a:t>
            </a:r>
            <a:r>
              <a:rPr sz="2400" i="0" dirty="0" err="1">
                <a:solidFill>
                  <a:srgbClr val="E8F0FF"/>
                </a:solidFill>
                <a:latin typeface="Tw Cen MT"/>
              </a:rPr>
              <a:t>cliente</a:t>
            </a:r>
            <a:r>
              <a:rPr sz="2400" i="0" dirty="0">
                <a:solidFill>
                  <a:srgbClr val="E8F0FF"/>
                </a:solidFill>
                <a:latin typeface="Tw Cen MT"/>
              </a:rPr>
              <a:t> es </a:t>
            </a:r>
            <a:r>
              <a:rPr sz="2400" i="0" dirty="0" err="1">
                <a:solidFill>
                  <a:srgbClr val="E8F0FF"/>
                </a:solidFill>
                <a:latin typeface="Tw Cen MT"/>
              </a:rPr>
              <a:t>solicitarla</a:t>
            </a:r>
            <a:r>
              <a:rPr sz="2400" i="0" dirty="0">
                <a:solidFill>
                  <a:srgbClr val="E8F0FF"/>
                </a:solidFill>
                <a:latin typeface="Tw Cen MT"/>
              </a:rPr>
              <a:t> </a:t>
            </a:r>
            <a:r>
              <a:rPr sz="2400" i="0" dirty="0" err="1">
                <a:solidFill>
                  <a:srgbClr val="E8F0FF"/>
                </a:solidFill>
                <a:latin typeface="Tw Cen MT"/>
              </a:rPr>
              <a:t>cerca</a:t>
            </a:r>
            <a:r>
              <a:rPr sz="2400" i="0" dirty="0">
                <a:solidFill>
                  <a:srgbClr val="E8F0FF"/>
                </a:solidFill>
                <a:latin typeface="Tw Cen MT"/>
              </a:rPr>
              <a:t> de </a:t>
            </a:r>
            <a:r>
              <a:rPr sz="2400" i="0" dirty="0" err="1">
                <a:solidFill>
                  <a:srgbClr val="E8F0FF"/>
                </a:solidFill>
                <a:latin typeface="Tw Cen MT"/>
              </a:rPr>
              <a:t>los</a:t>
            </a:r>
            <a:r>
              <a:rPr sz="2400" i="0" dirty="0">
                <a:solidFill>
                  <a:srgbClr val="E8F0FF"/>
                </a:solidFill>
                <a:latin typeface="Tw Cen MT"/>
              </a:rPr>
              <a:t> 70 </a:t>
            </a:r>
            <a:r>
              <a:rPr sz="2400" i="0" dirty="0" err="1">
                <a:solidFill>
                  <a:srgbClr val="E8F0FF"/>
                </a:solidFill>
                <a:latin typeface="Tw Cen MT"/>
              </a:rPr>
              <a:t>años</a:t>
            </a:r>
            <a:r>
              <a:rPr sz="2400" i="0" dirty="0">
                <a:solidFill>
                  <a:srgbClr val="E8F0FF"/>
                </a:solidFill>
                <a:latin typeface="Tw Cen MT"/>
              </a:rPr>
              <a:t> (</a:t>
            </a:r>
            <a:r>
              <a:rPr sz="2400" i="0" dirty="0" err="1">
                <a:solidFill>
                  <a:srgbClr val="E8F0FF"/>
                </a:solidFill>
                <a:latin typeface="Tw Cen MT"/>
              </a:rPr>
              <a:t>promedio</a:t>
            </a:r>
            <a:r>
              <a:rPr sz="2400" i="0" dirty="0">
                <a:solidFill>
                  <a:srgbClr val="E8F0FF"/>
                </a:solidFill>
                <a:latin typeface="Tw Cen MT"/>
              </a:rPr>
              <a:t> real: 64).</a:t>
            </a:r>
            <a:endParaRPr lang="es-419" sz="2400" i="0" dirty="0">
              <a:solidFill>
                <a:srgbClr val="E8F0FF"/>
              </a:solidFill>
              <a:latin typeface="Tw Cen MT"/>
            </a:endParaRPr>
          </a:p>
          <a:p>
            <a:pPr marL="342900" indent="-342900" algn="l">
              <a:spcBef>
                <a:spcPts val="500"/>
              </a:spcBef>
              <a:buFont typeface="Arial" panose="020B0604020202020204" pitchFamily="34" charset="0"/>
              <a:buChar char="•"/>
            </a:pPr>
            <a:endParaRPr sz="2400" i="0" dirty="0">
              <a:solidFill>
                <a:srgbClr val="E8F0FF"/>
              </a:solidFill>
              <a:latin typeface="Tw Cen MT"/>
            </a:endParaRPr>
          </a:p>
          <a:p>
            <a:pPr algn="l">
              <a:spcBef>
                <a:spcPts val="500"/>
              </a:spcBef>
            </a:pPr>
            <a:r>
              <a:rPr sz="2400" i="0" dirty="0">
                <a:solidFill>
                  <a:srgbClr val="D4A017"/>
                </a:solidFill>
                <a:latin typeface="Tw Cen MT"/>
              </a:rPr>
              <a:t>ANÁLISIS</a:t>
            </a:r>
          </a:p>
          <a:p>
            <a:pPr algn="l">
              <a:spcBef>
                <a:spcPts val="500"/>
              </a:spcBef>
            </a:pPr>
            <a:r>
              <a:rPr sz="2400" i="0" dirty="0">
                <a:solidFill>
                  <a:srgbClr val="E8F0FF"/>
                </a:solidFill>
                <a:latin typeface="Tw Cen MT"/>
              </a:rPr>
              <a:t>El </a:t>
            </a:r>
            <a:r>
              <a:rPr sz="2400" i="0" dirty="0" err="1">
                <a:solidFill>
                  <a:srgbClr val="E8F0FF"/>
                </a:solidFill>
                <a:latin typeface="Tw Cen MT"/>
              </a:rPr>
              <a:t>formato</a:t>
            </a:r>
            <a:r>
              <a:rPr sz="2400" i="0" dirty="0">
                <a:solidFill>
                  <a:srgbClr val="E8F0FF"/>
                </a:solidFill>
                <a:latin typeface="Tw Cen MT"/>
              </a:rPr>
              <a:t> de </a:t>
            </a:r>
            <a:r>
              <a:rPr sz="2400" i="0" dirty="0" err="1">
                <a:solidFill>
                  <a:srgbClr val="E8F0FF"/>
                </a:solidFill>
                <a:latin typeface="Tw Cen MT"/>
              </a:rPr>
              <a:t>remuneración</a:t>
            </a:r>
            <a:r>
              <a:rPr sz="2400" i="0" dirty="0">
                <a:solidFill>
                  <a:srgbClr val="E8F0FF"/>
                </a:solidFill>
                <a:latin typeface="Tw Cen MT"/>
              </a:rPr>
              <a:t> no </a:t>
            </a:r>
            <a:r>
              <a:rPr sz="2400" i="0" dirty="0" err="1">
                <a:solidFill>
                  <a:srgbClr val="E8F0FF"/>
                </a:solidFill>
                <a:latin typeface="Tw Cen MT"/>
              </a:rPr>
              <a:t>elimina</a:t>
            </a:r>
            <a:r>
              <a:rPr sz="2400" i="0" dirty="0">
                <a:solidFill>
                  <a:srgbClr val="E8F0FF"/>
                </a:solidFill>
                <a:latin typeface="Tw Cen MT"/>
              </a:rPr>
              <a:t> </a:t>
            </a:r>
            <a:r>
              <a:rPr sz="2400" i="0" dirty="0" err="1">
                <a:solidFill>
                  <a:srgbClr val="E8F0FF"/>
                </a:solidFill>
                <a:latin typeface="Tw Cen MT"/>
              </a:rPr>
              <a:t>el</a:t>
            </a:r>
            <a:r>
              <a:rPr sz="2400" i="0" dirty="0">
                <a:solidFill>
                  <a:srgbClr val="E8F0FF"/>
                </a:solidFill>
                <a:latin typeface="Tw Cen MT"/>
              </a:rPr>
              <a:t> </a:t>
            </a:r>
            <a:r>
              <a:rPr sz="2400" i="0" dirty="0" err="1">
                <a:solidFill>
                  <a:srgbClr val="E8F0FF"/>
                </a:solidFill>
                <a:latin typeface="Tw Cen MT"/>
              </a:rPr>
              <a:t>conflicto</a:t>
            </a:r>
            <a:r>
              <a:rPr sz="2400" i="0" dirty="0">
                <a:solidFill>
                  <a:srgbClr val="E8F0FF"/>
                </a:solidFill>
                <a:latin typeface="Tw Cen MT"/>
              </a:rPr>
              <a:t> de </a:t>
            </a:r>
            <a:r>
              <a:rPr sz="2400" i="0" dirty="0" err="1">
                <a:solidFill>
                  <a:srgbClr val="E8F0FF"/>
                </a:solidFill>
                <a:latin typeface="Tw Cen MT"/>
              </a:rPr>
              <a:t>interés</a:t>
            </a:r>
            <a:r>
              <a:rPr sz="2400" i="0" dirty="0">
                <a:solidFill>
                  <a:srgbClr val="E8F0FF"/>
                </a:solidFill>
                <a:latin typeface="Tw Cen MT"/>
              </a:rPr>
              <a:t>: solo lo </a:t>
            </a:r>
            <a:r>
              <a:rPr sz="2400" i="0" dirty="0" err="1">
                <a:solidFill>
                  <a:srgbClr val="E8F0FF"/>
                </a:solidFill>
                <a:latin typeface="Tw Cen MT"/>
              </a:rPr>
              <a:t>transforma</a:t>
            </a:r>
            <a:r>
              <a:rPr sz="2400" i="0" dirty="0">
                <a:solidFill>
                  <a:srgbClr val="E8F0FF"/>
                </a:solidFill>
                <a:latin typeface="Tw Cen MT"/>
              </a:rPr>
              <a:t>.</a:t>
            </a:r>
            <a:endParaRPr lang="es-419" sz="2400" i="0" dirty="0">
              <a:solidFill>
                <a:srgbClr val="E8F0FF"/>
              </a:solidFill>
              <a:latin typeface="Tw Cen MT"/>
            </a:endParaRPr>
          </a:p>
          <a:p>
            <a:pPr algn="l">
              <a:spcBef>
                <a:spcPts val="500"/>
              </a:spcBef>
            </a:pPr>
            <a:endParaRPr sz="2400" i="0" dirty="0">
              <a:solidFill>
                <a:srgbClr val="E8F0FF"/>
              </a:solidFill>
              <a:latin typeface="Tw Cen MT"/>
            </a:endParaRPr>
          </a:p>
          <a:p>
            <a:pPr algn="r">
              <a:spcBef>
                <a:spcPts val="500"/>
              </a:spcBef>
            </a:pPr>
            <a:r>
              <a:rPr sz="2200" b="0" i="0" dirty="0">
                <a:solidFill>
                  <a:srgbClr val="E8F0FF"/>
                </a:solidFill>
                <a:latin typeface="Tw Cen MT"/>
              </a:rPr>
              <a:t>Fuente: Wall Street Journal, 4 de </a:t>
            </a:r>
            <a:r>
              <a:rPr sz="2200" b="0" i="0" dirty="0" err="1">
                <a:solidFill>
                  <a:srgbClr val="E8F0FF"/>
                </a:solidFill>
                <a:latin typeface="Tw Cen MT"/>
              </a:rPr>
              <a:t>abril</a:t>
            </a:r>
            <a:r>
              <a:rPr sz="2200" b="0" i="0" dirty="0">
                <a:solidFill>
                  <a:srgbClr val="E8F0FF"/>
                </a:solidFill>
                <a:latin typeface="Tw Cen MT"/>
              </a:rPr>
              <a:t> de 2024</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Caso: Trampas en Matemáticas en Escuelas de Élite</a:t>
            </a:r>
          </a:p>
        </p:txBody>
      </p:sp>
      <p:sp>
        <p:nvSpPr>
          <p:cNvPr id="6" name="TextBox 5"/>
          <p:cNvSpPr txBox="1"/>
          <p:nvPr/>
        </p:nvSpPr>
        <p:spPr>
          <a:xfrm>
            <a:off x="406400" y="1219200"/>
            <a:ext cx="11379200" cy="5216813"/>
          </a:xfrm>
          <a:prstGeom prst="rect">
            <a:avLst/>
          </a:prstGeom>
          <a:noFill/>
        </p:spPr>
        <p:txBody>
          <a:bodyPr wrap="square">
            <a:spAutoFit/>
          </a:bodyPr>
          <a:lstStyle/>
          <a:p>
            <a:pPr algn="l">
              <a:spcBef>
                <a:spcPts val="500"/>
              </a:spcBef>
            </a:pPr>
            <a:r>
              <a:rPr sz="2800" b="1" i="0" dirty="0">
                <a:solidFill>
                  <a:srgbClr val="E8F0FF"/>
                </a:solidFill>
                <a:latin typeface="Tw Cen MT"/>
              </a:rPr>
              <a:t>'</a:t>
            </a:r>
            <a:r>
              <a:rPr sz="2800" b="1" i="0" dirty="0" err="1">
                <a:solidFill>
                  <a:srgbClr val="E8F0FF"/>
                </a:solidFill>
                <a:latin typeface="Tw Cen MT"/>
              </a:rPr>
              <a:t>Cuanto</a:t>
            </a:r>
            <a:r>
              <a:rPr sz="2800" b="1" i="0" dirty="0">
                <a:solidFill>
                  <a:srgbClr val="E8F0FF"/>
                </a:solidFill>
                <a:latin typeface="Tw Cen MT"/>
              </a:rPr>
              <a:t> mayor sea la </a:t>
            </a:r>
            <a:r>
              <a:rPr sz="2800" b="1" i="0" dirty="0" err="1">
                <a:solidFill>
                  <a:srgbClr val="E8F0FF"/>
                </a:solidFill>
                <a:latin typeface="Tw Cen MT"/>
              </a:rPr>
              <a:t>percepción</a:t>
            </a:r>
            <a:r>
              <a:rPr sz="2800" b="1" i="0" dirty="0">
                <a:solidFill>
                  <a:srgbClr val="E8F0FF"/>
                </a:solidFill>
                <a:latin typeface="Tw Cen MT"/>
              </a:rPr>
              <a:t> de </a:t>
            </a:r>
            <a:r>
              <a:rPr sz="2800" b="1" i="0" dirty="0" err="1">
                <a:solidFill>
                  <a:srgbClr val="E8F0FF"/>
                </a:solidFill>
                <a:latin typeface="Tw Cen MT"/>
              </a:rPr>
              <a:t>que</a:t>
            </a:r>
            <a:r>
              <a:rPr sz="2800" b="1" i="0" dirty="0">
                <a:solidFill>
                  <a:srgbClr val="E8F0FF"/>
                </a:solidFill>
                <a:latin typeface="Tw Cen MT"/>
              </a:rPr>
              <a:t> </a:t>
            </a:r>
            <a:r>
              <a:rPr sz="2800" b="1" i="0" dirty="0" err="1">
                <a:solidFill>
                  <a:srgbClr val="E8F0FF"/>
                </a:solidFill>
                <a:latin typeface="Tw Cen MT"/>
              </a:rPr>
              <a:t>una</a:t>
            </a:r>
            <a:r>
              <a:rPr sz="2800" b="1" i="0" dirty="0">
                <a:solidFill>
                  <a:srgbClr val="E8F0FF"/>
                </a:solidFill>
                <a:latin typeface="Tw Cen MT"/>
              </a:rPr>
              <a:t> </a:t>
            </a:r>
            <a:r>
              <a:rPr sz="2800" b="1" i="0" dirty="0" err="1">
                <a:solidFill>
                  <a:srgbClr val="E8F0FF"/>
                </a:solidFill>
                <a:latin typeface="Tw Cen MT"/>
              </a:rPr>
              <a:t>prueba</a:t>
            </a:r>
            <a:r>
              <a:rPr sz="2800" b="1" i="0" dirty="0">
                <a:solidFill>
                  <a:srgbClr val="E8F0FF"/>
                </a:solidFill>
                <a:latin typeface="Tw Cen MT"/>
              </a:rPr>
              <a:t> </a:t>
            </a:r>
            <a:r>
              <a:rPr sz="2800" b="1" i="0" dirty="0" err="1">
                <a:solidFill>
                  <a:srgbClr val="E8F0FF"/>
                </a:solidFill>
                <a:latin typeface="Tw Cen MT"/>
              </a:rPr>
              <a:t>dará</a:t>
            </a:r>
            <a:r>
              <a:rPr sz="2800" b="1" i="0" dirty="0">
                <a:solidFill>
                  <a:srgbClr val="E8F0FF"/>
                </a:solidFill>
                <a:latin typeface="Tw Cen MT"/>
              </a:rPr>
              <a:t> </a:t>
            </a:r>
            <a:r>
              <a:rPr sz="2800" b="1" i="0" dirty="0" err="1">
                <a:solidFill>
                  <a:srgbClr val="E8F0FF"/>
                </a:solidFill>
                <a:latin typeface="Tw Cen MT"/>
              </a:rPr>
              <a:t>ventaja</a:t>
            </a:r>
            <a:r>
              <a:rPr sz="2800" b="1" i="0" dirty="0">
                <a:solidFill>
                  <a:srgbClr val="E8F0FF"/>
                </a:solidFill>
                <a:latin typeface="Tw Cen MT"/>
              </a:rPr>
              <a:t> </a:t>
            </a:r>
            <a:r>
              <a:rPr sz="2800" b="1" i="0" dirty="0" err="1">
                <a:solidFill>
                  <a:srgbClr val="E8F0FF"/>
                </a:solidFill>
                <a:latin typeface="Tw Cen MT"/>
              </a:rPr>
              <a:t>en</a:t>
            </a:r>
            <a:r>
              <a:rPr sz="2800" b="1" i="0" dirty="0">
                <a:solidFill>
                  <a:srgbClr val="E8F0FF"/>
                </a:solidFill>
                <a:latin typeface="Tw Cen MT"/>
              </a:rPr>
              <a:t> </a:t>
            </a:r>
            <a:r>
              <a:rPr sz="2800" b="1" i="0" dirty="0" err="1">
                <a:solidFill>
                  <a:srgbClr val="E8F0FF"/>
                </a:solidFill>
                <a:latin typeface="Tw Cen MT"/>
              </a:rPr>
              <a:t>admisiones</a:t>
            </a:r>
            <a:r>
              <a:rPr sz="2800" b="1" i="0" dirty="0">
                <a:solidFill>
                  <a:srgbClr val="E8F0FF"/>
                </a:solidFill>
                <a:latin typeface="Tw Cen MT"/>
              </a:rPr>
              <a:t> </a:t>
            </a:r>
            <a:r>
              <a:rPr sz="2800" b="1" i="0" dirty="0" err="1">
                <a:solidFill>
                  <a:srgbClr val="E8F0FF"/>
                </a:solidFill>
                <a:latin typeface="Tw Cen MT"/>
              </a:rPr>
              <a:t>universitarias</a:t>
            </a:r>
            <a:r>
              <a:rPr sz="2800" b="1" i="0" dirty="0">
                <a:solidFill>
                  <a:srgbClr val="E8F0FF"/>
                </a:solidFill>
                <a:latin typeface="Tw Cen MT"/>
              </a:rPr>
              <a:t>, </a:t>
            </a:r>
            <a:r>
              <a:rPr sz="2800" b="1" i="0" dirty="0" err="1">
                <a:solidFill>
                  <a:srgbClr val="E8F0FF"/>
                </a:solidFill>
                <a:latin typeface="Tw Cen MT"/>
              </a:rPr>
              <a:t>mayores</a:t>
            </a:r>
            <a:r>
              <a:rPr sz="2800" b="1" i="0" dirty="0">
                <a:solidFill>
                  <a:srgbClr val="E8F0FF"/>
                </a:solidFill>
                <a:latin typeface="Tw Cen MT"/>
              </a:rPr>
              <a:t> </a:t>
            </a:r>
            <a:r>
              <a:rPr sz="2800" b="1" i="0" dirty="0" err="1">
                <a:solidFill>
                  <a:srgbClr val="E8F0FF"/>
                </a:solidFill>
                <a:latin typeface="Tw Cen MT"/>
              </a:rPr>
              <a:t>serán</a:t>
            </a:r>
            <a:r>
              <a:rPr sz="2800" b="1" i="0" dirty="0">
                <a:solidFill>
                  <a:srgbClr val="E8F0FF"/>
                </a:solidFill>
                <a:latin typeface="Tw Cen MT"/>
              </a:rPr>
              <a:t> </a:t>
            </a:r>
            <a:r>
              <a:rPr sz="2800" b="1" i="0" dirty="0" err="1">
                <a:solidFill>
                  <a:srgbClr val="E8F0FF"/>
                </a:solidFill>
                <a:latin typeface="Tw Cen MT"/>
              </a:rPr>
              <a:t>los</a:t>
            </a:r>
            <a:r>
              <a:rPr sz="2800" b="1" i="0" dirty="0">
                <a:solidFill>
                  <a:srgbClr val="E8F0FF"/>
                </a:solidFill>
                <a:latin typeface="Tw Cen MT"/>
              </a:rPr>
              <a:t> </a:t>
            </a:r>
            <a:r>
              <a:rPr sz="2800" b="1" i="0" dirty="0" err="1">
                <a:solidFill>
                  <a:srgbClr val="E8F0FF"/>
                </a:solidFill>
                <a:latin typeface="Tw Cen MT"/>
              </a:rPr>
              <a:t>riesgos</a:t>
            </a:r>
            <a:r>
              <a:rPr sz="2800" b="1" i="0" dirty="0">
                <a:solidFill>
                  <a:srgbClr val="E8F0FF"/>
                </a:solidFill>
                <a:latin typeface="Tw Cen MT"/>
              </a:rPr>
              <a:t> y </a:t>
            </a:r>
            <a:r>
              <a:rPr sz="2800" b="1" i="0" dirty="0" err="1">
                <a:solidFill>
                  <a:srgbClr val="E8F0FF"/>
                </a:solidFill>
                <a:latin typeface="Tw Cen MT"/>
              </a:rPr>
              <a:t>mayores</a:t>
            </a:r>
            <a:r>
              <a:rPr sz="2800" b="1" i="0" dirty="0">
                <a:solidFill>
                  <a:srgbClr val="E8F0FF"/>
                </a:solidFill>
                <a:latin typeface="Tw Cen MT"/>
              </a:rPr>
              <a:t> las </a:t>
            </a:r>
            <a:r>
              <a:rPr sz="2800" b="1" i="0" dirty="0" err="1">
                <a:solidFill>
                  <a:srgbClr val="E8F0FF"/>
                </a:solidFill>
                <a:latin typeface="Tw Cen MT"/>
              </a:rPr>
              <a:t>probabilidades</a:t>
            </a:r>
            <a:r>
              <a:rPr sz="2800" b="1" i="0" dirty="0">
                <a:solidFill>
                  <a:srgbClr val="E8F0FF"/>
                </a:solidFill>
                <a:latin typeface="Tw Cen MT"/>
              </a:rPr>
              <a:t> de </a:t>
            </a:r>
            <a:r>
              <a:rPr sz="2800" b="1" i="0" dirty="0" err="1">
                <a:solidFill>
                  <a:srgbClr val="E8F0FF"/>
                </a:solidFill>
                <a:latin typeface="Tw Cen MT"/>
              </a:rPr>
              <a:t>hacer</a:t>
            </a:r>
            <a:r>
              <a:rPr sz="2800" b="1" i="0" dirty="0">
                <a:solidFill>
                  <a:srgbClr val="E8F0FF"/>
                </a:solidFill>
                <a:latin typeface="Tw Cen MT"/>
              </a:rPr>
              <a:t> </a:t>
            </a:r>
            <a:r>
              <a:rPr sz="2800" b="1" i="0" dirty="0" err="1">
                <a:solidFill>
                  <a:srgbClr val="E8F0FF"/>
                </a:solidFill>
                <a:latin typeface="Tw Cen MT"/>
              </a:rPr>
              <a:t>trampa</a:t>
            </a:r>
            <a:r>
              <a:rPr sz="2800" b="1" i="0" dirty="0">
                <a:solidFill>
                  <a:srgbClr val="E8F0FF"/>
                </a:solidFill>
                <a:latin typeface="Tw Cen MT"/>
              </a:rPr>
              <a:t>.’</a:t>
            </a:r>
            <a:r>
              <a:rPr lang="es-419" sz="2800" b="1" i="0" dirty="0">
                <a:solidFill>
                  <a:srgbClr val="E8F0FF"/>
                </a:solidFill>
                <a:latin typeface="Tw Cen MT"/>
              </a:rPr>
              <a:t> - </a:t>
            </a:r>
            <a:r>
              <a:rPr sz="2800" b="0" i="0" dirty="0">
                <a:solidFill>
                  <a:srgbClr val="E8F0FF"/>
                </a:solidFill>
                <a:latin typeface="Tw Cen MT"/>
              </a:rPr>
              <a:t>Radleigh Santos, American Heritage Schools (Florida)</a:t>
            </a:r>
            <a:r>
              <a:rPr lang="es-419" sz="2800" b="0" i="0" dirty="0">
                <a:solidFill>
                  <a:srgbClr val="E8F0FF"/>
                </a:solidFill>
                <a:latin typeface="Tw Cen MT"/>
              </a:rPr>
              <a:t>.</a:t>
            </a:r>
          </a:p>
          <a:p>
            <a:pPr algn="l">
              <a:spcBef>
                <a:spcPts val="500"/>
              </a:spcBef>
            </a:pPr>
            <a:endParaRPr sz="2800" b="0" i="0" dirty="0">
              <a:solidFill>
                <a:srgbClr val="E8F0FF"/>
              </a:solidFill>
              <a:latin typeface="Tw Cen MT"/>
            </a:endParaRPr>
          </a:p>
          <a:p>
            <a:pPr algn="l">
              <a:spcBef>
                <a:spcPts val="500"/>
              </a:spcBef>
            </a:pPr>
            <a:r>
              <a:rPr sz="2800" b="1" i="0" dirty="0">
                <a:solidFill>
                  <a:srgbClr val="D4A017"/>
                </a:solidFill>
                <a:latin typeface="Tw Cen MT"/>
              </a:rPr>
              <a:t>ANÁLISIS</a:t>
            </a:r>
            <a:endParaRPr lang="es-419" sz="2800" b="1" i="0" dirty="0">
              <a:solidFill>
                <a:srgbClr val="D4A017"/>
              </a:solidFill>
              <a:latin typeface="Tw Cen MT"/>
            </a:endParaRPr>
          </a:p>
          <a:p>
            <a:pPr algn="l">
              <a:spcBef>
                <a:spcPts val="500"/>
              </a:spcBef>
            </a:pPr>
            <a:r>
              <a:rPr sz="2800" b="0" i="0" dirty="0">
                <a:solidFill>
                  <a:srgbClr val="E8F0FF"/>
                </a:solidFill>
                <a:latin typeface="Tw Cen MT"/>
              </a:rPr>
              <a:t>El </a:t>
            </a:r>
            <a:r>
              <a:rPr sz="2800" b="0" i="0" dirty="0" err="1">
                <a:solidFill>
                  <a:srgbClr val="E8F0FF"/>
                </a:solidFill>
                <a:latin typeface="Tw Cen MT"/>
              </a:rPr>
              <a:t>mecanismo</a:t>
            </a:r>
            <a:r>
              <a:rPr sz="2800" b="0" i="0" dirty="0">
                <a:solidFill>
                  <a:srgbClr val="E8F0FF"/>
                </a:solidFill>
                <a:latin typeface="Tw Cen MT"/>
              </a:rPr>
              <a:t> de </a:t>
            </a:r>
            <a:r>
              <a:rPr sz="2800" b="0" i="0" dirty="0" err="1">
                <a:solidFill>
                  <a:srgbClr val="E8F0FF"/>
                </a:solidFill>
                <a:latin typeface="Tw Cen MT"/>
              </a:rPr>
              <a:t>incentivos</a:t>
            </a:r>
            <a:r>
              <a:rPr sz="2800" b="0" i="0" dirty="0">
                <a:solidFill>
                  <a:srgbClr val="E8F0FF"/>
                </a:solidFill>
                <a:latin typeface="Tw Cen MT"/>
              </a:rPr>
              <a:t> (</a:t>
            </a:r>
            <a:r>
              <a:rPr sz="2800" b="0" i="0" dirty="0" err="1">
                <a:solidFill>
                  <a:srgbClr val="E8F0FF"/>
                </a:solidFill>
                <a:latin typeface="Tw Cen MT"/>
              </a:rPr>
              <a:t>admisión</a:t>
            </a:r>
            <a:r>
              <a:rPr sz="2800" b="0" i="0" dirty="0">
                <a:solidFill>
                  <a:srgbClr val="E8F0FF"/>
                </a:solidFill>
                <a:latin typeface="Tw Cen MT"/>
              </a:rPr>
              <a:t> </a:t>
            </a:r>
            <a:r>
              <a:rPr sz="2800" b="0" i="0" dirty="0" err="1">
                <a:solidFill>
                  <a:srgbClr val="E8F0FF"/>
                </a:solidFill>
                <a:latin typeface="Tw Cen MT"/>
              </a:rPr>
              <a:t>basada</a:t>
            </a:r>
            <a:r>
              <a:rPr sz="2800" b="0" i="0" dirty="0">
                <a:solidFill>
                  <a:srgbClr val="E8F0FF"/>
                </a:solidFill>
                <a:latin typeface="Tw Cen MT"/>
              </a:rPr>
              <a:t> </a:t>
            </a:r>
            <a:r>
              <a:rPr sz="2800" b="0" i="0" dirty="0" err="1">
                <a:solidFill>
                  <a:srgbClr val="E8F0FF"/>
                </a:solidFill>
                <a:latin typeface="Tw Cen MT"/>
              </a:rPr>
              <a:t>en</a:t>
            </a:r>
            <a:r>
              <a:rPr sz="2800" b="0" i="0" dirty="0">
                <a:solidFill>
                  <a:srgbClr val="E8F0FF"/>
                </a:solidFill>
                <a:latin typeface="Tw Cen MT"/>
              </a:rPr>
              <a:t> </a:t>
            </a:r>
            <a:r>
              <a:rPr sz="2800" b="0" i="0" dirty="0" err="1">
                <a:solidFill>
                  <a:srgbClr val="E8F0FF"/>
                </a:solidFill>
                <a:latin typeface="Tw Cen MT"/>
              </a:rPr>
              <a:t>puntajes</a:t>
            </a:r>
            <a:r>
              <a:rPr sz="2800" b="0" i="0" dirty="0">
                <a:solidFill>
                  <a:srgbClr val="E8F0FF"/>
                </a:solidFill>
                <a:latin typeface="Tw Cen MT"/>
              </a:rPr>
              <a:t>) genera </a:t>
            </a:r>
            <a:r>
              <a:rPr sz="2800" b="0" i="0" dirty="0" err="1">
                <a:solidFill>
                  <a:srgbClr val="E8F0FF"/>
                </a:solidFill>
                <a:latin typeface="Tw Cen MT"/>
              </a:rPr>
              <a:t>el</a:t>
            </a:r>
            <a:r>
              <a:rPr sz="2800" b="0" i="0" dirty="0">
                <a:solidFill>
                  <a:srgbClr val="E8F0FF"/>
                </a:solidFill>
                <a:latin typeface="Tw Cen MT"/>
              </a:rPr>
              <a:t> </a:t>
            </a:r>
            <a:r>
              <a:rPr sz="2800" b="0" i="0" dirty="0" err="1">
                <a:solidFill>
                  <a:srgbClr val="E8F0FF"/>
                </a:solidFill>
                <a:latin typeface="Tw Cen MT"/>
              </a:rPr>
              <a:t>comportamiento</a:t>
            </a:r>
            <a:r>
              <a:rPr sz="2800" b="0" i="0" dirty="0">
                <a:solidFill>
                  <a:srgbClr val="E8F0FF"/>
                </a:solidFill>
                <a:latin typeface="Tw Cen MT"/>
              </a:rPr>
              <a:t> </a:t>
            </a:r>
            <a:r>
              <a:rPr sz="2800" b="0" i="0" dirty="0" err="1">
                <a:solidFill>
                  <a:srgbClr val="E8F0FF"/>
                </a:solidFill>
                <a:latin typeface="Tw Cen MT"/>
              </a:rPr>
              <a:t>que</a:t>
            </a:r>
            <a:r>
              <a:rPr sz="2800" b="0" i="0" dirty="0">
                <a:solidFill>
                  <a:srgbClr val="E8F0FF"/>
                </a:solidFill>
                <a:latin typeface="Tw Cen MT"/>
              </a:rPr>
              <a:t> </a:t>
            </a:r>
            <a:r>
              <a:rPr sz="2800" b="0" i="0" dirty="0" err="1">
                <a:solidFill>
                  <a:srgbClr val="E8F0FF"/>
                </a:solidFill>
                <a:latin typeface="Tw Cen MT"/>
              </a:rPr>
              <a:t>busca</a:t>
            </a:r>
            <a:r>
              <a:rPr sz="2800" b="0" i="0" dirty="0">
                <a:solidFill>
                  <a:srgbClr val="E8F0FF"/>
                </a:solidFill>
                <a:latin typeface="Tw Cen MT"/>
              </a:rPr>
              <a:t> </a:t>
            </a:r>
            <a:r>
              <a:rPr sz="2800" b="0" i="0" dirty="0" err="1">
                <a:solidFill>
                  <a:srgbClr val="E8F0FF"/>
                </a:solidFill>
                <a:latin typeface="Tw Cen MT"/>
              </a:rPr>
              <a:t>evitar</a:t>
            </a:r>
            <a:r>
              <a:rPr sz="2800" b="0" i="0" dirty="0">
                <a:solidFill>
                  <a:srgbClr val="E8F0FF"/>
                </a:solidFill>
                <a:latin typeface="Tw Cen MT"/>
              </a:rPr>
              <a:t>.</a:t>
            </a:r>
          </a:p>
          <a:p>
            <a:pPr algn="l">
              <a:spcBef>
                <a:spcPts val="500"/>
              </a:spcBef>
            </a:pPr>
            <a:r>
              <a:rPr sz="2800" b="0" i="0" dirty="0">
                <a:solidFill>
                  <a:srgbClr val="E8F0FF"/>
                </a:solidFill>
                <a:latin typeface="Tw Cen MT"/>
              </a:rPr>
              <a:t>¿</a:t>
            </a:r>
            <a:r>
              <a:rPr sz="2800" b="0" i="0" dirty="0" err="1">
                <a:solidFill>
                  <a:srgbClr val="E8F0FF"/>
                </a:solidFill>
                <a:latin typeface="Tw Cen MT"/>
              </a:rPr>
              <a:t>Cómo</a:t>
            </a:r>
            <a:r>
              <a:rPr sz="2800" b="0" i="0" dirty="0">
                <a:solidFill>
                  <a:srgbClr val="E8F0FF"/>
                </a:solidFill>
                <a:latin typeface="Tw Cen MT"/>
              </a:rPr>
              <a:t> </a:t>
            </a:r>
            <a:r>
              <a:rPr sz="2800" b="0" i="0" dirty="0" err="1">
                <a:solidFill>
                  <a:srgbClr val="E8F0FF"/>
                </a:solidFill>
                <a:latin typeface="Tw Cen MT"/>
              </a:rPr>
              <a:t>rediseñar</a:t>
            </a:r>
            <a:r>
              <a:rPr sz="2800" b="0" i="0" dirty="0">
                <a:solidFill>
                  <a:srgbClr val="E8F0FF"/>
                </a:solidFill>
                <a:latin typeface="Tw Cen MT"/>
              </a:rPr>
              <a:t> </a:t>
            </a:r>
            <a:r>
              <a:rPr sz="2800" b="0" i="0" dirty="0" err="1">
                <a:solidFill>
                  <a:srgbClr val="E8F0FF"/>
                </a:solidFill>
                <a:latin typeface="Tw Cen MT"/>
              </a:rPr>
              <a:t>el</a:t>
            </a:r>
            <a:r>
              <a:rPr sz="2800" b="0" i="0" dirty="0">
                <a:solidFill>
                  <a:srgbClr val="E8F0FF"/>
                </a:solidFill>
                <a:latin typeface="Tw Cen MT"/>
              </a:rPr>
              <a:t> </a:t>
            </a:r>
            <a:r>
              <a:rPr sz="2800" b="0" i="0" dirty="0" err="1">
                <a:solidFill>
                  <a:srgbClr val="E8F0FF"/>
                </a:solidFill>
                <a:latin typeface="Tw Cen MT"/>
              </a:rPr>
              <a:t>sistema</a:t>
            </a:r>
            <a:r>
              <a:rPr sz="2800" b="0" i="0" dirty="0">
                <a:solidFill>
                  <a:srgbClr val="E8F0FF"/>
                </a:solidFill>
                <a:latin typeface="Tw Cen MT"/>
              </a:rPr>
              <a:t> de </a:t>
            </a:r>
            <a:r>
              <a:rPr sz="2800" b="0" i="0" dirty="0" err="1">
                <a:solidFill>
                  <a:srgbClr val="E8F0FF"/>
                </a:solidFill>
                <a:latin typeface="Tw Cen MT"/>
              </a:rPr>
              <a:t>evaluación</a:t>
            </a:r>
            <a:r>
              <a:rPr sz="2800" b="0" i="0" dirty="0">
                <a:solidFill>
                  <a:srgbClr val="E8F0FF"/>
                </a:solidFill>
                <a:latin typeface="Tw Cen MT"/>
              </a:rPr>
              <a:t> para </a:t>
            </a:r>
            <a:r>
              <a:rPr sz="2800" b="0" i="0" dirty="0" err="1">
                <a:solidFill>
                  <a:srgbClr val="E8F0FF"/>
                </a:solidFill>
                <a:latin typeface="Tw Cen MT"/>
              </a:rPr>
              <a:t>reducir</a:t>
            </a:r>
            <a:r>
              <a:rPr sz="2800" b="0" i="0" dirty="0">
                <a:solidFill>
                  <a:srgbClr val="E8F0FF"/>
                </a:solidFill>
                <a:latin typeface="Tw Cen MT"/>
              </a:rPr>
              <a:t> </a:t>
            </a:r>
            <a:r>
              <a:rPr sz="2800" b="0" i="0" dirty="0" err="1">
                <a:solidFill>
                  <a:srgbClr val="E8F0FF"/>
                </a:solidFill>
                <a:latin typeface="Tw Cen MT"/>
              </a:rPr>
              <a:t>este</a:t>
            </a:r>
            <a:r>
              <a:rPr sz="2800" b="0" i="0" dirty="0">
                <a:solidFill>
                  <a:srgbClr val="E8F0FF"/>
                </a:solidFill>
                <a:latin typeface="Tw Cen MT"/>
              </a:rPr>
              <a:t> </a:t>
            </a:r>
            <a:r>
              <a:rPr sz="2800" b="0" i="0" dirty="0" err="1">
                <a:solidFill>
                  <a:srgbClr val="E8F0FF"/>
                </a:solidFill>
                <a:latin typeface="Tw Cen MT"/>
              </a:rPr>
              <a:t>incentivo</a:t>
            </a:r>
            <a:r>
              <a:rPr sz="2800" b="0" i="0" dirty="0">
                <a:solidFill>
                  <a:srgbClr val="E8F0FF"/>
                </a:solidFill>
                <a:latin typeface="Tw Cen MT"/>
              </a:rPr>
              <a:t>?</a:t>
            </a:r>
            <a:endParaRPr lang="es-419" sz="2800" b="0" i="0" dirty="0">
              <a:solidFill>
                <a:srgbClr val="E8F0FF"/>
              </a:solidFill>
              <a:latin typeface="Tw Cen MT"/>
            </a:endParaRPr>
          </a:p>
          <a:p>
            <a:pPr algn="l">
              <a:spcBef>
                <a:spcPts val="500"/>
              </a:spcBef>
            </a:pPr>
            <a:endParaRPr sz="2800" b="0" i="0" dirty="0">
              <a:solidFill>
                <a:srgbClr val="E8F0FF"/>
              </a:solidFill>
              <a:latin typeface="Tw Cen MT"/>
            </a:endParaRPr>
          </a:p>
          <a:p>
            <a:pPr algn="r">
              <a:spcBef>
                <a:spcPts val="500"/>
              </a:spcBef>
            </a:pPr>
            <a:r>
              <a:rPr sz="2800" b="0" i="0" dirty="0">
                <a:solidFill>
                  <a:srgbClr val="E8F0FF"/>
                </a:solidFill>
                <a:latin typeface="Tw Cen MT"/>
              </a:rPr>
              <a:t>Fuente: Wall Street Journal, 15 de </a:t>
            </a:r>
            <a:r>
              <a:rPr sz="2800" b="0" i="0" dirty="0" err="1">
                <a:solidFill>
                  <a:srgbClr val="E8F0FF"/>
                </a:solidFill>
                <a:latin typeface="Tw Cen MT"/>
              </a:rPr>
              <a:t>agosto</a:t>
            </a:r>
            <a:r>
              <a:rPr sz="2800" b="0" i="0" dirty="0">
                <a:solidFill>
                  <a:srgbClr val="E8F0FF"/>
                </a:solidFill>
                <a:latin typeface="Tw Cen MT"/>
              </a:rPr>
              <a:t> de 2024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Conflicto de Intereses en Compañías — Business Roundtable</a:t>
            </a:r>
          </a:p>
        </p:txBody>
      </p:sp>
      <p:sp>
        <p:nvSpPr>
          <p:cNvPr id="5" name="TextBox 4"/>
          <p:cNvSpPr txBox="1"/>
          <p:nvPr/>
        </p:nvSpPr>
        <p:spPr>
          <a:xfrm>
            <a:off x="406400" y="1219200"/>
            <a:ext cx="11379200" cy="5355312"/>
          </a:xfrm>
          <a:prstGeom prst="rect">
            <a:avLst/>
          </a:prstGeom>
          <a:noFill/>
        </p:spPr>
        <p:txBody>
          <a:bodyPr wrap="square">
            <a:spAutoFit/>
          </a:bodyPr>
          <a:lstStyle/>
          <a:p>
            <a:pPr algn="l">
              <a:spcBef>
                <a:spcPts val="500"/>
              </a:spcBef>
            </a:pPr>
            <a:r>
              <a:rPr sz="2400" b="0" i="0" dirty="0">
                <a:solidFill>
                  <a:srgbClr val="222222"/>
                </a:solidFill>
                <a:latin typeface="Tw Cen MT"/>
              </a:rPr>
              <a:t>Agosto 2019: 181 CEOs de las </a:t>
            </a:r>
            <a:r>
              <a:rPr sz="2400" b="0" i="0" dirty="0" err="1">
                <a:solidFill>
                  <a:srgbClr val="222222"/>
                </a:solidFill>
                <a:latin typeface="Tw Cen MT"/>
              </a:rPr>
              <a:t>mayores</a:t>
            </a:r>
            <a:r>
              <a:rPr sz="2400" b="0" i="0" dirty="0">
                <a:solidFill>
                  <a:srgbClr val="222222"/>
                </a:solidFill>
                <a:latin typeface="Tw Cen MT"/>
              </a:rPr>
              <a:t> </a:t>
            </a:r>
            <a:r>
              <a:rPr sz="2400" b="0" i="0" dirty="0" err="1">
                <a:solidFill>
                  <a:srgbClr val="222222"/>
                </a:solidFill>
                <a:latin typeface="Tw Cen MT"/>
              </a:rPr>
              <a:t>corporaciones</a:t>
            </a:r>
            <a:r>
              <a:rPr sz="2400" b="0" i="0" dirty="0">
                <a:solidFill>
                  <a:srgbClr val="222222"/>
                </a:solidFill>
                <a:latin typeface="Tw Cen MT"/>
              </a:rPr>
              <a:t> de EE.UU. </a:t>
            </a:r>
            <a:r>
              <a:rPr sz="2400" b="0" i="0" dirty="0" err="1">
                <a:solidFill>
                  <a:srgbClr val="222222"/>
                </a:solidFill>
                <a:latin typeface="Tw Cen MT"/>
              </a:rPr>
              <a:t>firmaron</a:t>
            </a:r>
            <a:r>
              <a:rPr sz="2400" b="0" i="0" dirty="0">
                <a:solidFill>
                  <a:srgbClr val="222222"/>
                </a:solidFill>
                <a:latin typeface="Tw Cen MT"/>
              </a:rPr>
              <a:t> </a:t>
            </a:r>
            <a:r>
              <a:rPr sz="2400" b="0" i="0" dirty="0" err="1">
                <a:solidFill>
                  <a:srgbClr val="222222"/>
                </a:solidFill>
                <a:latin typeface="Tw Cen MT"/>
              </a:rPr>
              <a:t>una</a:t>
            </a:r>
            <a:r>
              <a:rPr sz="2400" b="0" i="0" dirty="0">
                <a:solidFill>
                  <a:srgbClr val="222222"/>
                </a:solidFill>
                <a:latin typeface="Tw Cen MT"/>
              </a:rPr>
              <a:t> </a:t>
            </a:r>
            <a:r>
              <a:rPr sz="2400" b="0" i="0" dirty="0" err="1">
                <a:solidFill>
                  <a:srgbClr val="222222"/>
                </a:solidFill>
                <a:latin typeface="Tw Cen MT"/>
              </a:rPr>
              <a:t>nueva</a:t>
            </a:r>
            <a:r>
              <a:rPr sz="2400" b="0" i="0" dirty="0">
                <a:solidFill>
                  <a:srgbClr val="222222"/>
                </a:solidFill>
                <a:latin typeface="Tw Cen MT"/>
              </a:rPr>
              <a:t> </a:t>
            </a:r>
            <a:r>
              <a:rPr sz="2400" b="0" i="0" dirty="0" err="1">
                <a:solidFill>
                  <a:srgbClr val="222222"/>
                </a:solidFill>
                <a:latin typeface="Tw Cen MT"/>
              </a:rPr>
              <a:t>declaración</a:t>
            </a:r>
            <a:r>
              <a:rPr sz="2400" b="0" i="0" dirty="0">
                <a:solidFill>
                  <a:srgbClr val="222222"/>
                </a:solidFill>
                <a:latin typeface="Tw Cen MT"/>
              </a:rPr>
              <a:t>.</a:t>
            </a:r>
          </a:p>
          <a:p>
            <a:pPr algn="l">
              <a:spcBef>
                <a:spcPts val="500"/>
              </a:spcBef>
            </a:pPr>
            <a:r>
              <a:rPr sz="2400" b="0" i="0" dirty="0">
                <a:solidFill>
                  <a:srgbClr val="222222"/>
                </a:solidFill>
                <a:latin typeface="Tw Cen MT"/>
              </a:rPr>
              <a:t>Se </a:t>
            </a:r>
            <a:r>
              <a:rPr sz="2400" b="0" i="0" dirty="0" err="1">
                <a:solidFill>
                  <a:srgbClr val="222222"/>
                </a:solidFill>
                <a:latin typeface="Tw Cen MT"/>
              </a:rPr>
              <a:t>comprometieron</a:t>
            </a:r>
            <a:r>
              <a:rPr sz="2400" b="0" i="0" dirty="0">
                <a:solidFill>
                  <a:srgbClr val="222222"/>
                </a:solidFill>
                <a:latin typeface="Tw Cen MT"/>
              </a:rPr>
              <a:t> a </a:t>
            </a:r>
            <a:r>
              <a:rPr sz="2400" b="0" i="0" dirty="0" err="1">
                <a:solidFill>
                  <a:srgbClr val="222222"/>
                </a:solidFill>
                <a:latin typeface="Tw Cen MT"/>
              </a:rPr>
              <a:t>liderar</a:t>
            </a:r>
            <a:r>
              <a:rPr sz="2400" b="0" i="0" dirty="0">
                <a:solidFill>
                  <a:srgbClr val="222222"/>
                </a:solidFill>
                <a:latin typeface="Tw Cen MT"/>
              </a:rPr>
              <a:t> sus </a:t>
            </a:r>
            <a:r>
              <a:rPr sz="2400" b="0" i="0" dirty="0" err="1">
                <a:solidFill>
                  <a:srgbClr val="222222"/>
                </a:solidFill>
                <a:latin typeface="Tw Cen MT"/>
              </a:rPr>
              <a:t>empresas</a:t>
            </a:r>
            <a:r>
              <a:rPr sz="2400" b="0" i="0" dirty="0">
                <a:solidFill>
                  <a:srgbClr val="222222"/>
                </a:solidFill>
                <a:latin typeface="Tw Cen MT"/>
              </a:rPr>
              <a:t> </a:t>
            </a:r>
            <a:r>
              <a:rPr sz="2400" b="0" i="0" dirty="0" err="1">
                <a:solidFill>
                  <a:srgbClr val="222222"/>
                </a:solidFill>
                <a:latin typeface="Tw Cen MT"/>
              </a:rPr>
              <a:t>en</a:t>
            </a:r>
            <a:r>
              <a:rPr sz="2400" b="0" i="0" dirty="0">
                <a:solidFill>
                  <a:srgbClr val="222222"/>
                </a:solidFill>
                <a:latin typeface="Tw Cen MT"/>
              </a:rPr>
              <a:t> </a:t>
            </a:r>
            <a:r>
              <a:rPr sz="2400" b="0" i="0" dirty="0" err="1">
                <a:solidFill>
                  <a:srgbClr val="222222"/>
                </a:solidFill>
                <a:latin typeface="Tw Cen MT"/>
              </a:rPr>
              <a:t>beneficio</a:t>
            </a:r>
            <a:r>
              <a:rPr sz="2400" b="0" i="0" dirty="0">
                <a:solidFill>
                  <a:srgbClr val="222222"/>
                </a:solidFill>
                <a:latin typeface="Tw Cen MT"/>
              </a:rPr>
              <a:t> de TODAS las partes </a:t>
            </a:r>
            <a:r>
              <a:rPr sz="2400" b="0" i="0" dirty="0" err="1">
                <a:solidFill>
                  <a:srgbClr val="222222"/>
                </a:solidFill>
                <a:latin typeface="Tw Cen MT"/>
              </a:rPr>
              <a:t>interesadas</a:t>
            </a:r>
            <a:r>
              <a:rPr sz="2400" b="0" i="0" dirty="0">
                <a:solidFill>
                  <a:srgbClr val="222222"/>
                </a:solidFill>
                <a:latin typeface="Tw Cen MT"/>
              </a:rPr>
              <a:t>:</a:t>
            </a:r>
          </a:p>
          <a:p>
            <a:pPr algn="l">
              <a:spcBef>
                <a:spcPts val="200"/>
              </a:spcBef>
            </a:pPr>
            <a:r>
              <a:rPr sz="2400" b="0" i="0" dirty="0">
                <a:solidFill>
                  <a:srgbClr val="222222"/>
                </a:solidFill>
                <a:latin typeface="Tw Cen MT"/>
              </a:rPr>
              <a:t>    ▸  </a:t>
            </a:r>
            <a:r>
              <a:rPr sz="2400" b="0" i="0" dirty="0" err="1">
                <a:solidFill>
                  <a:srgbClr val="222222"/>
                </a:solidFill>
                <a:latin typeface="Tw Cen MT"/>
              </a:rPr>
              <a:t>Clientes</a:t>
            </a:r>
            <a:r>
              <a:rPr sz="2400" b="0" i="0" dirty="0">
                <a:solidFill>
                  <a:srgbClr val="222222"/>
                </a:solidFill>
                <a:latin typeface="Tw Cen MT"/>
              </a:rPr>
              <a:t>, </a:t>
            </a:r>
            <a:r>
              <a:rPr sz="2400" b="0" i="0" dirty="0" err="1">
                <a:solidFill>
                  <a:srgbClr val="222222"/>
                </a:solidFill>
                <a:latin typeface="Tw Cen MT"/>
              </a:rPr>
              <a:t>empleados</a:t>
            </a:r>
            <a:r>
              <a:rPr sz="2400" b="0" i="0" dirty="0">
                <a:solidFill>
                  <a:srgbClr val="222222"/>
                </a:solidFill>
                <a:latin typeface="Tw Cen MT"/>
              </a:rPr>
              <a:t>, </a:t>
            </a:r>
            <a:r>
              <a:rPr sz="2400" b="0" i="0" dirty="0" err="1">
                <a:solidFill>
                  <a:srgbClr val="222222"/>
                </a:solidFill>
                <a:latin typeface="Tw Cen MT"/>
              </a:rPr>
              <a:t>proveedores</a:t>
            </a:r>
            <a:r>
              <a:rPr sz="2400" b="0" i="0" dirty="0">
                <a:solidFill>
                  <a:srgbClr val="222222"/>
                </a:solidFill>
                <a:latin typeface="Tw Cen MT"/>
              </a:rPr>
              <a:t>, comunidades y </a:t>
            </a:r>
            <a:r>
              <a:rPr sz="2400" b="0" i="0" dirty="0" err="1">
                <a:solidFill>
                  <a:srgbClr val="222222"/>
                </a:solidFill>
                <a:latin typeface="Tw Cen MT"/>
              </a:rPr>
              <a:t>accionistas</a:t>
            </a:r>
            <a:r>
              <a:rPr sz="2400" b="0" i="0" dirty="0">
                <a:solidFill>
                  <a:srgbClr val="222222"/>
                </a:solidFill>
                <a:latin typeface="Tw Cen MT"/>
              </a:rPr>
              <a:t>.</a:t>
            </a:r>
            <a:endParaRPr lang="es-419" sz="2400" b="0" i="0" dirty="0">
              <a:solidFill>
                <a:srgbClr val="222222"/>
              </a:solidFill>
              <a:latin typeface="Tw Cen MT"/>
            </a:endParaRPr>
          </a:p>
          <a:p>
            <a:pPr algn="l">
              <a:spcBef>
                <a:spcPts val="200"/>
              </a:spcBef>
            </a:pPr>
            <a:endParaRPr lang="es-419" sz="2400" dirty="0">
              <a:solidFill>
                <a:srgbClr val="222222"/>
              </a:solidFill>
              <a:latin typeface="Tw Cen MT"/>
            </a:endParaRPr>
          </a:p>
          <a:p>
            <a:pPr algn="l">
              <a:spcBef>
                <a:spcPts val="200"/>
              </a:spcBef>
            </a:pPr>
            <a:endParaRPr sz="2400" b="0" i="0" dirty="0">
              <a:solidFill>
                <a:srgbClr val="222222"/>
              </a:solidFill>
              <a:latin typeface="Tw Cen MT"/>
            </a:endParaRPr>
          </a:p>
          <a:p>
            <a:pPr algn="l">
              <a:spcBef>
                <a:spcPts val="500"/>
              </a:spcBef>
            </a:pPr>
            <a:r>
              <a:rPr sz="2400" b="1" i="0" dirty="0">
                <a:solidFill>
                  <a:srgbClr val="222222"/>
                </a:solidFill>
                <a:latin typeface="Tw Cen MT"/>
              </a:rPr>
              <a:t>■  Primera </a:t>
            </a:r>
            <a:r>
              <a:rPr sz="2400" b="1" i="0" dirty="0" err="1">
                <a:solidFill>
                  <a:srgbClr val="222222"/>
                </a:solidFill>
                <a:latin typeface="Tw Cen MT"/>
              </a:rPr>
              <a:t>vez</a:t>
            </a:r>
            <a:r>
              <a:rPr sz="2400" b="1" i="0" dirty="0">
                <a:solidFill>
                  <a:srgbClr val="222222"/>
                </a:solidFill>
                <a:latin typeface="Tw Cen MT"/>
              </a:rPr>
              <a:t> </a:t>
            </a:r>
            <a:r>
              <a:rPr sz="2400" b="1" i="0" dirty="0" err="1">
                <a:solidFill>
                  <a:srgbClr val="222222"/>
                </a:solidFill>
                <a:latin typeface="Tw Cen MT"/>
              </a:rPr>
              <a:t>desde</a:t>
            </a:r>
            <a:r>
              <a:rPr sz="2400" b="1" i="0" dirty="0">
                <a:solidFill>
                  <a:srgbClr val="222222"/>
                </a:solidFill>
                <a:latin typeface="Tw Cen MT"/>
              </a:rPr>
              <a:t> 1997 </a:t>
            </a:r>
            <a:r>
              <a:rPr sz="2400" b="1" i="0" dirty="0" err="1">
                <a:solidFill>
                  <a:srgbClr val="222222"/>
                </a:solidFill>
                <a:latin typeface="Tw Cen MT"/>
              </a:rPr>
              <a:t>que</a:t>
            </a:r>
            <a:r>
              <a:rPr sz="2400" b="1" i="0" dirty="0">
                <a:solidFill>
                  <a:srgbClr val="222222"/>
                </a:solidFill>
                <a:latin typeface="Tw Cen MT"/>
              </a:rPr>
              <a:t> no se </a:t>
            </a:r>
            <a:r>
              <a:rPr sz="2400" b="1" i="0" dirty="0" err="1">
                <a:solidFill>
                  <a:srgbClr val="222222"/>
                </a:solidFill>
                <a:latin typeface="Tw Cen MT"/>
              </a:rPr>
              <a:t>declara</a:t>
            </a:r>
            <a:r>
              <a:rPr sz="2400" b="1" i="0" dirty="0">
                <a:solidFill>
                  <a:srgbClr val="222222"/>
                </a:solidFill>
                <a:latin typeface="Tw Cen MT"/>
              </a:rPr>
              <a:t> </a:t>
            </a:r>
            <a:r>
              <a:rPr sz="2400" b="1" i="0" dirty="0" err="1">
                <a:solidFill>
                  <a:srgbClr val="222222"/>
                </a:solidFill>
                <a:latin typeface="Tw Cen MT"/>
              </a:rPr>
              <a:t>que</a:t>
            </a:r>
            <a:r>
              <a:rPr sz="2400" b="1" i="0" dirty="0">
                <a:solidFill>
                  <a:srgbClr val="222222"/>
                </a:solidFill>
                <a:latin typeface="Tw Cen MT"/>
              </a:rPr>
              <a:t> las </a:t>
            </a:r>
            <a:r>
              <a:rPr sz="2400" b="1" i="0" dirty="0" err="1">
                <a:solidFill>
                  <a:srgbClr val="222222"/>
                </a:solidFill>
                <a:latin typeface="Tw Cen MT"/>
              </a:rPr>
              <a:t>corporaciones</a:t>
            </a:r>
            <a:r>
              <a:rPr sz="2400" b="1" i="0" dirty="0">
                <a:solidFill>
                  <a:srgbClr val="222222"/>
                </a:solidFill>
                <a:latin typeface="Tw Cen MT"/>
              </a:rPr>
              <a:t> </a:t>
            </a:r>
            <a:r>
              <a:rPr sz="2400" b="1" i="0" dirty="0" err="1">
                <a:solidFill>
                  <a:srgbClr val="222222"/>
                </a:solidFill>
                <a:latin typeface="Tw Cen MT"/>
              </a:rPr>
              <a:t>existen</a:t>
            </a:r>
            <a:r>
              <a:rPr sz="2400" b="1" i="0" dirty="0">
                <a:solidFill>
                  <a:srgbClr val="222222"/>
                </a:solidFill>
                <a:latin typeface="Tw Cen MT"/>
              </a:rPr>
              <a:t> </a:t>
            </a:r>
            <a:r>
              <a:rPr sz="2400" b="1" i="0" dirty="0" err="1">
                <a:solidFill>
                  <a:srgbClr val="222222"/>
                </a:solidFill>
                <a:latin typeface="Tw Cen MT"/>
              </a:rPr>
              <a:t>principalmente</a:t>
            </a:r>
            <a:r>
              <a:rPr sz="2400" b="1" i="0" dirty="0">
                <a:solidFill>
                  <a:srgbClr val="222222"/>
                </a:solidFill>
                <a:latin typeface="Tw Cen MT"/>
              </a:rPr>
              <a:t> para </a:t>
            </a:r>
            <a:r>
              <a:rPr sz="2400" b="1" i="0" dirty="0" err="1">
                <a:solidFill>
                  <a:srgbClr val="222222"/>
                </a:solidFill>
                <a:latin typeface="Tw Cen MT"/>
              </a:rPr>
              <a:t>servir</a:t>
            </a:r>
            <a:r>
              <a:rPr sz="2400" b="1" i="0" dirty="0">
                <a:solidFill>
                  <a:srgbClr val="222222"/>
                </a:solidFill>
                <a:latin typeface="Tw Cen MT"/>
              </a:rPr>
              <a:t> a </a:t>
            </a:r>
            <a:r>
              <a:rPr sz="2400" b="1" i="0" dirty="0" err="1">
                <a:solidFill>
                  <a:srgbClr val="222222"/>
                </a:solidFill>
                <a:latin typeface="Tw Cen MT"/>
              </a:rPr>
              <a:t>los</a:t>
            </a:r>
            <a:r>
              <a:rPr sz="2400" b="1" i="0" dirty="0">
                <a:solidFill>
                  <a:srgbClr val="222222"/>
                </a:solidFill>
                <a:latin typeface="Tw Cen MT"/>
              </a:rPr>
              <a:t> </a:t>
            </a:r>
            <a:r>
              <a:rPr sz="2400" b="1" i="0" dirty="0" err="1">
                <a:solidFill>
                  <a:srgbClr val="222222"/>
                </a:solidFill>
                <a:latin typeface="Tw Cen MT"/>
              </a:rPr>
              <a:t>accionistas</a:t>
            </a:r>
            <a:r>
              <a:rPr sz="2400" b="1" i="0" dirty="0">
                <a:solidFill>
                  <a:srgbClr val="222222"/>
                </a:solidFill>
                <a:latin typeface="Tw Cen MT"/>
              </a:rPr>
              <a:t>.</a:t>
            </a:r>
            <a:endParaRPr lang="es-419" sz="2400" b="1" i="0" dirty="0">
              <a:solidFill>
                <a:srgbClr val="222222"/>
              </a:solidFill>
              <a:latin typeface="Tw Cen MT"/>
            </a:endParaRPr>
          </a:p>
          <a:p>
            <a:pPr algn="l">
              <a:spcBef>
                <a:spcPts val="500"/>
              </a:spcBef>
            </a:pPr>
            <a:endParaRPr sz="2400" b="1" i="0" dirty="0">
              <a:solidFill>
                <a:srgbClr val="222222"/>
              </a:solidFill>
              <a:latin typeface="Tw Cen MT"/>
            </a:endParaRPr>
          </a:p>
          <a:p>
            <a:pPr algn="l">
              <a:spcBef>
                <a:spcPts val="500"/>
              </a:spcBef>
            </a:pPr>
            <a:r>
              <a:rPr sz="2400" b="1" i="0" dirty="0">
                <a:solidFill>
                  <a:srgbClr val="8B0000"/>
                </a:solidFill>
                <a:latin typeface="Tw Cen MT"/>
              </a:rPr>
              <a:t>LA TENSIÓN</a:t>
            </a:r>
          </a:p>
          <a:p>
            <a:pPr algn="l">
              <a:spcBef>
                <a:spcPts val="500"/>
              </a:spcBef>
            </a:pPr>
            <a:r>
              <a:rPr sz="2400" b="0" i="0" dirty="0">
                <a:solidFill>
                  <a:srgbClr val="222222"/>
                </a:solidFill>
                <a:latin typeface="Tw Cen MT"/>
              </a:rPr>
              <a:t>■  </a:t>
            </a:r>
            <a:r>
              <a:rPr sz="2400" b="0" i="0" dirty="0" err="1">
                <a:solidFill>
                  <a:srgbClr val="222222"/>
                </a:solidFill>
                <a:latin typeface="Tw Cen MT"/>
              </a:rPr>
              <a:t>Reconocer</a:t>
            </a:r>
            <a:r>
              <a:rPr sz="2400" b="0" i="0" dirty="0">
                <a:solidFill>
                  <a:srgbClr val="222222"/>
                </a:solidFill>
                <a:latin typeface="Tw Cen MT"/>
              </a:rPr>
              <a:t> </a:t>
            </a:r>
            <a:r>
              <a:rPr sz="2400" b="0" i="0" dirty="0" err="1">
                <a:solidFill>
                  <a:srgbClr val="222222"/>
                </a:solidFill>
                <a:latin typeface="Tw Cen MT"/>
              </a:rPr>
              <a:t>múltiples</a:t>
            </a:r>
            <a:r>
              <a:rPr sz="2400" b="0" i="0" dirty="0">
                <a:solidFill>
                  <a:srgbClr val="222222"/>
                </a:solidFill>
                <a:latin typeface="Tw Cen MT"/>
              </a:rPr>
              <a:t> stakeholders </a:t>
            </a:r>
            <a:r>
              <a:rPr sz="2400" b="0" i="0" dirty="0" err="1">
                <a:solidFill>
                  <a:srgbClr val="222222"/>
                </a:solidFill>
                <a:latin typeface="Tw Cen MT"/>
              </a:rPr>
              <a:t>exige</a:t>
            </a:r>
            <a:r>
              <a:rPr sz="2400" b="0" i="0" dirty="0">
                <a:solidFill>
                  <a:srgbClr val="222222"/>
                </a:solidFill>
                <a:latin typeface="Tw Cen MT"/>
              </a:rPr>
              <a:t> </a:t>
            </a:r>
            <a:r>
              <a:rPr sz="2400" b="0" i="0" dirty="0" err="1">
                <a:solidFill>
                  <a:srgbClr val="222222"/>
                </a:solidFill>
                <a:latin typeface="Tw Cen MT"/>
              </a:rPr>
              <a:t>diseñar</a:t>
            </a:r>
            <a:r>
              <a:rPr sz="2400" b="0" i="0" dirty="0">
                <a:solidFill>
                  <a:srgbClr val="222222"/>
                </a:solidFill>
                <a:latin typeface="Tw Cen MT"/>
              </a:rPr>
              <a:t> </a:t>
            </a:r>
            <a:r>
              <a:rPr sz="2400" b="0" i="0" dirty="0" err="1">
                <a:solidFill>
                  <a:srgbClr val="222222"/>
                </a:solidFill>
                <a:latin typeface="Tw Cen MT"/>
              </a:rPr>
              <a:t>contratos</a:t>
            </a:r>
            <a:r>
              <a:rPr sz="2400" b="0" i="0" dirty="0">
                <a:solidFill>
                  <a:srgbClr val="222222"/>
                </a:solidFill>
                <a:latin typeface="Tw Cen MT"/>
              </a:rPr>
              <a:t> </a:t>
            </a:r>
            <a:r>
              <a:rPr sz="2400" b="0" i="0" dirty="0" err="1">
                <a:solidFill>
                  <a:srgbClr val="222222"/>
                </a:solidFill>
                <a:latin typeface="Tw Cen MT"/>
              </a:rPr>
              <a:t>que</a:t>
            </a:r>
            <a:r>
              <a:rPr sz="2400" b="0" i="0" dirty="0">
                <a:solidFill>
                  <a:srgbClr val="222222"/>
                </a:solidFill>
                <a:latin typeface="Tw Cen MT"/>
              </a:rPr>
              <a:t> </a:t>
            </a:r>
            <a:r>
              <a:rPr sz="2400" b="0" i="0" dirty="0" err="1">
                <a:solidFill>
                  <a:srgbClr val="222222"/>
                </a:solidFill>
                <a:latin typeface="Tw Cen MT"/>
              </a:rPr>
              <a:t>minimicen</a:t>
            </a:r>
            <a:r>
              <a:rPr sz="2400" b="0" i="0" dirty="0">
                <a:solidFill>
                  <a:srgbClr val="222222"/>
                </a:solidFill>
                <a:latin typeface="Tw Cen MT"/>
              </a:rPr>
              <a:t> </a:t>
            </a:r>
            <a:r>
              <a:rPr sz="2400" b="0" i="0" dirty="0" err="1">
                <a:solidFill>
                  <a:srgbClr val="222222"/>
                </a:solidFill>
                <a:latin typeface="Tw Cen MT"/>
              </a:rPr>
              <a:t>los</a:t>
            </a:r>
            <a:r>
              <a:rPr sz="2400" b="0" i="0" dirty="0">
                <a:solidFill>
                  <a:srgbClr val="222222"/>
                </a:solidFill>
                <a:latin typeface="Tw Cen MT"/>
              </a:rPr>
              <a:t> </a:t>
            </a:r>
            <a:r>
              <a:rPr sz="2400" b="0" i="0" dirty="0" err="1">
                <a:solidFill>
                  <a:srgbClr val="222222"/>
                </a:solidFill>
                <a:latin typeface="Tw Cen MT"/>
              </a:rPr>
              <a:t>conflictos</a:t>
            </a:r>
            <a:r>
              <a:rPr sz="2400" b="0" i="0" dirty="0">
                <a:solidFill>
                  <a:srgbClr val="222222"/>
                </a:solidFill>
                <a:latin typeface="Tw Cen MT"/>
              </a:rPr>
              <a:t> entre sus </a:t>
            </a:r>
            <a:r>
              <a:rPr sz="2400" b="0" i="0" dirty="0" err="1">
                <a:solidFill>
                  <a:srgbClr val="222222"/>
                </a:solidFill>
                <a:latin typeface="Tw Cen MT"/>
              </a:rPr>
              <a:t>intereses</a:t>
            </a:r>
            <a:r>
              <a:rPr sz="2400" b="0" i="0" dirty="0">
                <a:solidFill>
                  <a:srgbClr val="222222"/>
                </a:solidFill>
                <a:latin typeface="Tw Cen MT"/>
              </a:rPr>
              <a:t>.</a:t>
            </a:r>
            <a:endParaRPr lang="es-419" sz="2400" b="0" i="0" dirty="0">
              <a:solidFill>
                <a:srgbClr val="222222"/>
              </a:solidFill>
              <a:latin typeface="Tw Cen MT"/>
            </a:endParaRPr>
          </a:p>
          <a:p>
            <a:pPr algn="r">
              <a:spcBef>
                <a:spcPts val="500"/>
              </a:spcBef>
            </a:pPr>
            <a:r>
              <a:rPr sz="2400" b="0" i="0" dirty="0">
                <a:solidFill>
                  <a:srgbClr val="222222"/>
                </a:solidFill>
                <a:latin typeface="Tw Cen MT"/>
              </a:rPr>
              <a:t> Fuente: The Work of the Future — MIT 2020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B3F83-B3CB-ADEC-5575-F63EA0E6C4E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9AEAE4-6DAF-4BC5-5472-D569C26007B7}"/>
              </a:ext>
            </a:extLst>
          </p:cNvPr>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B84B02D-0C9F-25C8-AA02-267B2AFE2347}"/>
              </a:ext>
            </a:extLst>
          </p:cNvPr>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EA579BB-9C6E-6420-63F8-3D6E61312499}"/>
              </a:ext>
            </a:extLst>
          </p:cNvPr>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Conflicto de Intereses en Compañías — Business Roundtable</a:t>
            </a:r>
          </a:p>
        </p:txBody>
      </p:sp>
      <p:sp>
        <p:nvSpPr>
          <p:cNvPr id="5" name="TextBox 4">
            <a:extLst>
              <a:ext uri="{FF2B5EF4-FFF2-40B4-BE49-F238E27FC236}">
                <a16:creationId xmlns:a16="http://schemas.microsoft.com/office/drawing/2014/main" id="{3AC118DA-33E3-424D-158C-0F1534363EF5}"/>
              </a:ext>
            </a:extLst>
          </p:cNvPr>
          <p:cNvSpPr txBox="1"/>
          <p:nvPr/>
        </p:nvSpPr>
        <p:spPr>
          <a:xfrm>
            <a:off x="406400" y="1815101"/>
            <a:ext cx="11379200" cy="3613810"/>
          </a:xfrm>
          <a:prstGeom prst="rect">
            <a:avLst/>
          </a:prstGeom>
          <a:noFill/>
        </p:spPr>
        <p:txBody>
          <a:bodyPr wrap="square">
            <a:spAutoFit/>
          </a:bodyPr>
          <a:lstStyle/>
          <a:p>
            <a:pPr>
              <a:spcBef>
                <a:spcPts val="500"/>
              </a:spcBef>
            </a:pPr>
            <a:r>
              <a:rPr lang="es-AR" sz="2400" dirty="0">
                <a:solidFill>
                  <a:srgbClr val="222222"/>
                </a:solidFill>
                <a:latin typeface="Tw Cen MT" panose="020B0602020104020603" pitchFamily="34" charset="0"/>
              </a:rPr>
              <a:t>Que pasó en las 181 empresas cuyos directores ejecutivos firmaron la declaración?</a:t>
            </a:r>
          </a:p>
          <a:p>
            <a:pPr marL="342900" indent="-342900">
              <a:spcBef>
                <a:spcPts val="500"/>
              </a:spcBef>
              <a:buFontTx/>
              <a:buChar char="-"/>
            </a:pPr>
            <a:r>
              <a:rPr lang="es-AR" sz="2400" dirty="0">
                <a:solidFill>
                  <a:srgbClr val="222222"/>
                </a:solidFill>
                <a:latin typeface="Tw Cen MT" panose="020B0602020104020603" pitchFamily="34" charset="0"/>
              </a:rPr>
              <a:t>No se les pidió a los Directorios que aprobaran esa firma.</a:t>
            </a:r>
          </a:p>
          <a:p>
            <a:pPr marL="342900" indent="-342900">
              <a:spcBef>
                <a:spcPts val="500"/>
              </a:spcBef>
              <a:buFontTx/>
              <a:buChar char="-"/>
            </a:pPr>
            <a:r>
              <a:rPr lang="es-AR" sz="2400" dirty="0">
                <a:solidFill>
                  <a:srgbClr val="222222"/>
                </a:solidFill>
                <a:latin typeface="Tw Cen MT" panose="020B0602020104020603" pitchFamily="34" charset="0"/>
              </a:rPr>
              <a:t>Los documentos de gobernanza seguían definiendo en gran medida el valor para el accionista como su objetivo principal. (Algunas ya incluían cláusulas que hacían referencia a los intereses de otros grupos de interés). </a:t>
            </a:r>
          </a:p>
          <a:p>
            <a:pPr marL="342900" indent="-342900">
              <a:spcBef>
                <a:spcPts val="500"/>
              </a:spcBef>
              <a:buFontTx/>
              <a:buChar char="-"/>
            </a:pPr>
            <a:r>
              <a:rPr lang="es-AR" sz="2400" dirty="0">
                <a:solidFill>
                  <a:srgbClr val="222222"/>
                </a:solidFill>
                <a:latin typeface="Tw Cen MT" panose="020B0602020104020603" pitchFamily="34" charset="0"/>
              </a:rPr>
              <a:t>La rentabilidad para el accionista seguía siendo el principal criterio para otorgar incentivos a largo plazo a los directores ejecutivos de las empresas.</a:t>
            </a:r>
          </a:p>
          <a:p>
            <a:pPr marL="342900" indent="-342900">
              <a:spcBef>
                <a:spcPts val="500"/>
              </a:spcBef>
              <a:buFontTx/>
              <a:buChar char="-"/>
            </a:pPr>
            <a:endParaRPr lang="es-AR" sz="2400" dirty="0">
              <a:solidFill>
                <a:srgbClr val="222222"/>
              </a:solidFill>
              <a:latin typeface="Tw Cen MT" panose="020B0602020104020603" pitchFamily="34" charset="0"/>
            </a:endParaRPr>
          </a:p>
          <a:p>
            <a:pPr algn="r">
              <a:spcBef>
                <a:spcPts val="500"/>
              </a:spcBef>
            </a:pPr>
            <a:r>
              <a:rPr lang="en-US" sz="1600" dirty="0">
                <a:latin typeface="Tw Cen MT" panose="020B0602020104020603" pitchFamily="34" charset="0"/>
              </a:rPr>
              <a:t>HBR, Corporate Governance The Business Roundtable’s Stakeholder Pledge, Five Years Later by Lynn S. Paine – Agosto 2024</a:t>
            </a:r>
            <a:endParaRPr lang="es-AR" sz="1600" dirty="0">
              <a:solidFill>
                <a:srgbClr val="222222"/>
              </a:solidFill>
              <a:latin typeface="Tw Cen MT" panose="020B0602020104020603" pitchFamily="34" charset="0"/>
            </a:endParaRPr>
          </a:p>
        </p:txBody>
      </p:sp>
    </p:spTree>
    <p:extLst>
      <p:ext uri="{BB962C8B-B14F-4D97-AF65-F5344CB8AC3E}">
        <p14:creationId xmlns:p14="http://schemas.microsoft.com/office/powerpoint/2010/main" val="2216235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Contratos y Conflictos de Intereses</a:t>
            </a:r>
          </a:p>
        </p:txBody>
      </p:sp>
      <p:sp>
        <p:nvSpPr>
          <p:cNvPr id="5" name="TextBox 4"/>
          <p:cNvSpPr txBox="1"/>
          <p:nvPr/>
        </p:nvSpPr>
        <p:spPr>
          <a:xfrm>
            <a:off x="406400" y="1219200"/>
            <a:ext cx="11379200" cy="5050100"/>
          </a:xfrm>
          <a:prstGeom prst="rect">
            <a:avLst/>
          </a:prstGeom>
          <a:noFill/>
        </p:spPr>
        <p:txBody>
          <a:bodyPr wrap="square">
            <a:spAutoFit/>
          </a:bodyPr>
          <a:lstStyle/>
          <a:p>
            <a:pPr algn="l">
              <a:spcBef>
                <a:spcPts val="500"/>
              </a:spcBef>
            </a:pPr>
            <a:r>
              <a:rPr lang="es-419" sz="2400" dirty="0">
                <a:solidFill>
                  <a:srgbClr val="222222"/>
                </a:solidFill>
                <a:latin typeface="Tw Cen MT"/>
              </a:rPr>
              <a:t>Para minimizar los conflictos de interés, existen los </a:t>
            </a:r>
            <a:r>
              <a:rPr lang="es-419" sz="2400" b="1" dirty="0">
                <a:solidFill>
                  <a:srgbClr val="222222"/>
                </a:solidFill>
                <a:latin typeface="Tw Cen MT"/>
              </a:rPr>
              <a:t>contratos.</a:t>
            </a:r>
            <a:endParaRPr lang="es-419" sz="2400" b="1" i="0" dirty="0">
              <a:solidFill>
                <a:srgbClr val="222222"/>
              </a:solidFill>
              <a:latin typeface="Tw Cen MT"/>
            </a:endParaRPr>
          </a:p>
          <a:p>
            <a:pPr algn="l">
              <a:spcBef>
                <a:spcPts val="500"/>
              </a:spcBef>
            </a:pPr>
            <a:r>
              <a:rPr sz="2400" b="0" i="0" dirty="0">
                <a:solidFill>
                  <a:srgbClr val="222222"/>
                </a:solidFill>
                <a:latin typeface="Tw Cen MT"/>
              </a:rPr>
              <a:t> La idea es </a:t>
            </a:r>
            <a:r>
              <a:rPr sz="2400" b="0" i="0" dirty="0" err="1">
                <a:solidFill>
                  <a:srgbClr val="222222"/>
                </a:solidFill>
                <a:latin typeface="Tw Cen MT"/>
              </a:rPr>
              <a:t>que</a:t>
            </a:r>
            <a:r>
              <a:rPr sz="2400" b="0" i="0" dirty="0">
                <a:solidFill>
                  <a:srgbClr val="222222"/>
                </a:solidFill>
                <a:latin typeface="Tw Cen MT"/>
              </a:rPr>
              <a:t> </a:t>
            </a:r>
            <a:r>
              <a:rPr sz="2400" b="0" i="0" dirty="0" err="1">
                <a:solidFill>
                  <a:srgbClr val="222222"/>
                </a:solidFill>
                <a:latin typeface="Tw Cen MT"/>
              </a:rPr>
              <a:t>los</a:t>
            </a:r>
            <a:r>
              <a:rPr sz="2400" b="0" i="0" dirty="0">
                <a:solidFill>
                  <a:srgbClr val="222222"/>
                </a:solidFill>
                <a:latin typeface="Tw Cen MT"/>
              </a:rPr>
              <a:t> </a:t>
            </a:r>
            <a:r>
              <a:rPr sz="2400" b="0" i="0" dirty="0" err="1">
                <a:solidFill>
                  <a:srgbClr val="222222"/>
                </a:solidFill>
                <a:latin typeface="Tw Cen MT"/>
              </a:rPr>
              <a:t>contratos</a:t>
            </a:r>
            <a:r>
              <a:rPr sz="2400" b="0" i="0" dirty="0">
                <a:solidFill>
                  <a:srgbClr val="222222"/>
                </a:solidFill>
                <a:latin typeface="Tw Cen MT"/>
              </a:rPr>
              <a:t> </a:t>
            </a:r>
            <a:r>
              <a:rPr sz="2400" b="0" i="0" dirty="0" err="1">
                <a:solidFill>
                  <a:srgbClr val="222222"/>
                </a:solidFill>
                <a:latin typeface="Tw Cen MT"/>
              </a:rPr>
              <a:t>estén</a:t>
            </a:r>
            <a:r>
              <a:rPr sz="2400" b="0" i="0" dirty="0">
                <a:solidFill>
                  <a:srgbClr val="222222"/>
                </a:solidFill>
                <a:latin typeface="Tw Cen MT"/>
              </a:rPr>
              <a:t> </a:t>
            </a:r>
            <a:r>
              <a:rPr sz="2400" b="0" i="0" dirty="0" err="1">
                <a:solidFill>
                  <a:srgbClr val="222222"/>
                </a:solidFill>
                <a:latin typeface="Tw Cen MT"/>
              </a:rPr>
              <a:t>diseñados</a:t>
            </a:r>
            <a:r>
              <a:rPr sz="2400" b="0" i="0" dirty="0">
                <a:solidFill>
                  <a:srgbClr val="222222"/>
                </a:solidFill>
                <a:latin typeface="Tw Cen MT"/>
              </a:rPr>
              <a:t> de modo </a:t>
            </a:r>
            <a:r>
              <a:rPr sz="2400" b="0" i="0" dirty="0" err="1">
                <a:solidFill>
                  <a:srgbClr val="222222"/>
                </a:solidFill>
                <a:latin typeface="Tw Cen MT"/>
              </a:rPr>
              <a:t>que</a:t>
            </a:r>
            <a:r>
              <a:rPr sz="2400" b="0" i="0" dirty="0">
                <a:solidFill>
                  <a:srgbClr val="222222"/>
                </a:solidFill>
                <a:latin typeface="Tw Cen MT"/>
              </a:rPr>
              <a:t> </a:t>
            </a:r>
            <a:r>
              <a:rPr sz="2400" b="0" i="0" dirty="0" err="1">
                <a:solidFill>
                  <a:srgbClr val="222222"/>
                </a:solidFill>
                <a:latin typeface="Tw Cen MT"/>
              </a:rPr>
              <a:t>minimicen</a:t>
            </a:r>
            <a:r>
              <a:rPr sz="2400" b="0" i="0" dirty="0">
                <a:solidFill>
                  <a:srgbClr val="222222"/>
                </a:solidFill>
                <a:latin typeface="Tw Cen MT"/>
              </a:rPr>
              <a:t> </a:t>
            </a:r>
            <a:r>
              <a:rPr sz="2400" b="0" i="0" dirty="0" err="1">
                <a:solidFill>
                  <a:srgbClr val="222222"/>
                </a:solidFill>
                <a:latin typeface="Tw Cen MT"/>
              </a:rPr>
              <a:t>los</a:t>
            </a:r>
            <a:r>
              <a:rPr sz="2400" b="0" i="0" dirty="0">
                <a:solidFill>
                  <a:srgbClr val="222222"/>
                </a:solidFill>
                <a:latin typeface="Tw Cen MT"/>
              </a:rPr>
              <a:t> </a:t>
            </a:r>
            <a:r>
              <a:rPr sz="2400" b="0" i="0" dirty="0" err="1">
                <a:solidFill>
                  <a:srgbClr val="222222"/>
                </a:solidFill>
                <a:latin typeface="Tw Cen MT"/>
              </a:rPr>
              <a:t>costos</a:t>
            </a:r>
            <a:r>
              <a:rPr sz="2400" b="0" i="0" dirty="0">
                <a:solidFill>
                  <a:srgbClr val="222222"/>
                </a:solidFill>
                <a:latin typeface="Tw Cen MT"/>
              </a:rPr>
              <a:t> </a:t>
            </a:r>
            <a:r>
              <a:rPr sz="2400" b="0" i="0" dirty="0" err="1">
                <a:solidFill>
                  <a:srgbClr val="222222"/>
                </a:solidFill>
                <a:latin typeface="Tw Cen MT"/>
              </a:rPr>
              <a:t>totales</a:t>
            </a:r>
            <a:r>
              <a:rPr sz="2400" b="0" i="0" dirty="0">
                <a:solidFill>
                  <a:srgbClr val="222222"/>
                </a:solidFill>
                <a:latin typeface="Tw Cen MT"/>
              </a:rPr>
              <a:t>:</a:t>
            </a:r>
          </a:p>
          <a:p>
            <a:pPr algn="l">
              <a:spcBef>
                <a:spcPts val="200"/>
              </a:spcBef>
            </a:pPr>
            <a:r>
              <a:rPr sz="2400" b="0" i="0" dirty="0">
                <a:solidFill>
                  <a:srgbClr val="222222"/>
                </a:solidFill>
                <a:latin typeface="Tw Cen MT"/>
              </a:rPr>
              <a:t>    ▸  </a:t>
            </a:r>
            <a:r>
              <a:rPr sz="2400" b="0" i="0" dirty="0" err="1">
                <a:solidFill>
                  <a:srgbClr val="222222"/>
                </a:solidFill>
                <a:latin typeface="Tw Cen MT"/>
              </a:rPr>
              <a:t>Promuevan</a:t>
            </a:r>
            <a:r>
              <a:rPr sz="2400" b="0" i="0" dirty="0">
                <a:solidFill>
                  <a:srgbClr val="222222"/>
                </a:solidFill>
                <a:latin typeface="Tw Cen MT"/>
              </a:rPr>
              <a:t> </a:t>
            </a:r>
            <a:r>
              <a:rPr sz="2400" b="0" i="0" dirty="0" err="1">
                <a:solidFill>
                  <a:srgbClr val="222222"/>
                </a:solidFill>
                <a:latin typeface="Tw Cen MT"/>
              </a:rPr>
              <a:t>el</a:t>
            </a:r>
            <a:r>
              <a:rPr sz="2400" b="0" i="0" dirty="0">
                <a:solidFill>
                  <a:srgbClr val="222222"/>
                </a:solidFill>
                <a:latin typeface="Tw Cen MT"/>
              </a:rPr>
              <a:t> </a:t>
            </a:r>
            <a:r>
              <a:rPr sz="2400" b="0" i="0" dirty="0" err="1">
                <a:solidFill>
                  <a:srgbClr val="222222"/>
                </a:solidFill>
                <a:latin typeface="Tw Cen MT"/>
              </a:rPr>
              <a:t>uso</a:t>
            </a:r>
            <a:r>
              <a:rPr sz="2400" b="0" i="0" dirty="0">
                <a:solidFill>
                  <a:srgbClr val="222222"/>
                </a:solidFill>
                <a:latin typeface="Tw Cen MT"/>
              </a:rPr>
              <a:t> del </a:t>
            </a:r>
            <a:r>
              <a:rPr sz="2400" b="0" i="0" dirty="0" err="1">
                <a:solidFill>
                  <a:srgbClr val="222222"/>
                </a:solidFill>
                <a:latin typeface="Tw Cen MT"/>
              </a:rPr>
              <a:t>conocimiento</a:t>
            </a:r>
            <a:r>
              <a:rPr sz="2400" b="0" i="0" dirty="0">
                <a:solidFill>
                  <a:srgbClr val="222222"/>
                </a:solidFill>
                <a:latin typeface="Tw Cen MT"/>
              </a:rPr>
              <a:t> </a:t>
            </a:r>
            <a:r>
              <a:rPr sz="2400" b="0" i="0" dirty="0" err="1">
                <a:solidFill>
                  <a:srgbClr val="222222"/>
                </a:solidFill>
                <a:latin typeface="Tw Cen MT"/>
              </a:rPr>
              <a:t>específico</a:t>
            </a:r>
            <a:r>
              <a:rPr sz="2400" b="0" i="0" dirty="0">
                <a:solidFill>
                  <a:srgbClr val="222222"/>
                </a:solidFill>
                <a:latin typeface="Tw Cen MT"/>
              </a:rPr>
              <a:t> </a:t>
            </a:r>
            <a:r>
              <a:rPr sz="2400" b="0" i="0" dirty="0" err="1">
                <a:solidFill>
                  <a:srgbClr val="222222"/>
                </a:solidFill>
                <a:latin typeface="Tw Cen MT"/>
              </a:rPr>
              <a:t>relevante</a:t>
            </a:r>
            <a:r>
              <a:rPr sz="2400" b="0" i="0" dirty="0">
                <a:solidFill>
                  <a:srgbClr val="222222"/>
                </a:solidFill>
                <a:latin typeface="Tw Cen MT"/>
              </a:rPr>
              <a:t>.</a:t>
            </a:r>
          </a:p>
          <a:p>
            <a:pPr algn="l">
              <a:spcBef>
                <a:spcPts val="200"/>
              </a:spcBef>
            </a:pPr>
            <a:r>
              <a:rPr sz="2400" b="0" i="0" dirty="0">
                <a:solidFill>
                  <a:srgbClr val="222222"/>
                </a:solidFill>
                <a:latin typeface="Tw Cen MT"/>
              </a:rPr>
              <a:t>    ▸  </a:t>
            </a:r>
            <a:r>
              <a:rPr sz="2400" b="0" i="0" dirty="0" err="1">
                <a:solidFill>
                  <a:srgbClr val="222222"/>
                </a:solidFill>
                <a:latin typeface="Tw Cen MT"/>
              </a:rPr>
              <a:t>Generen</a:t>
            </a:r>
            <a:r>
              <a:rPr sz="2400" b="0" i="0" dirty="0">
                <a:solidFill>
                  <a:srgbClr val="222222"/>
                </a:solidFill>
                <a:latin typeface="Tw Cen MT"/>
              </a:rPr>
              <a:t> </a:t>
            </a:r>
            <a:r>
              <a:rPr sz="2400" b="0" i="0" dirty="0" err="1">
                <a:solidFill>
                  <a:srgbClr val="222222"/>
                </a:solidFill>
                <a:latin typeface="Tw Cen MT"/>
              </a:rPr>
              <a:t>los</a:t>
            </a:r>
            <a:r>
              <a:rPr sz="2400" b="0" i="0" dirty="0">
                <a:solidFill>
                  <a:srgbClr val="222222"/>
                </a:solidFill>
                <a:latin typeface="Tw Cen MT"/>
              </a:rPr>
              <a:t> </a:t>
            </a:r>
            <a:r>
              <a:rPr sz="2400" b="0" i="0" dirty="0" err="1">
                <a:solidFill>
                  <a:srgbClr val="222222"/>
                </a:solidFill>
                <a:latin typeface="Tw Cen MT"/>
              </a:rPr>
              <a:t>incentivos</a:t>
            </a:r>
            <a:r>
              <a:rPr sz="2400" b="0" i="0" dirty="0">
                <a:solidFill>
                  <a:srgbClr val="222222"/>
                </a:solidFill>
                <a:latin typeface="Tw Cen MT"/>
              </a:rPr>
              <a:t> </a:t>
            </a:r>
            <a:r>
              <a:rPr sz="2400" b="0" i="0" dirty="0" err="1">
                <a:solidFill>
                  <a:srgbClr val="222222"/>
                </a:solidFill>
                <a:latin typeface="Tw Cen MT"/>
              </a:rPr>
              <a:t>apropiados</a:t>
            </a:r>
            <a:r>
              <a:rPr sz="2400" b="0" i="0" dirty="0">
                <a:solidFill>
                  <a:srgbClr val="222222"/>
                </a:solidFill>
                <a:latin typeface="Tw Cen MT"/>
              </a:rPr>
              <a:t> para </a:t>
            </a:r>
            <a:r>
              <a:rPr sz="2400" b="0" i="0" dirty="0" err="1">
                <a:solidFill>
                  <a:srgbClr val="222222"/>
                </a:solidFill>
                <a:latin typeface="Tw Cen MT"/>
              </a:rPr>
              <a:t>que</a:t>
            </a:r>
            <a:r>
              <a:rPr sz="2400" b="0" i="0" dirty="0">
                <a:solidFill>
                  <a:srgbClr val="222222"/>
                </a:solidFill>
                <a:latin typeface="Tw Cen MT"/>
              </a:rPr>
              <a:t> sus </a:t>
            </a:r>
            <a:r>
              <a:rPr sz="2400" b="0" i="0" dirty="0" err="1">
                <a:solidFill>
                  <a:srgbClr val="222222"/>
                </a:solidFill>
                <a:latin typeface="Tw Cen MT"/>
              </a:rPr>
              <a:t>miembros</a:t>
            </a:r>
            <a:r>
              <a:rPr sz="2400" b="0" i="0" dirty="0">
                <a:solidFill>
                  <a:srgbClr val="222222"/>
                </a:solidFill>
                <a:latin typeface="Tw Cen MT"/>
              </a:rPr>
              <a:t> </a:t>
            </a:r>
            <a:r>
              <a:rPr sz="2400" b="0" i="0" dirty="0" err="1">
                <a:solidFill>
                  <a:srgbClr val="222222"/>
                </a:solidFill>
                <a:latin typeface="Tw Cen MT"/>
              </a:rPr>
              <a:t>tomen</a:t>
            </a:r>
            <a:r>
              <a:rPr sz="2400" b="0" i="0" dirty="0">
                <a:solidFill>
                  <a:srgbClr val="222222"/>
                </a:solidFill>
                <a:latin typeface="Tw Cen MT"/>
              </a:rPr>
              <a:t> </a:t>
            </a:r>
            <a:r>
              <a:rPr sz="2400" b="0" i="0" dirty="0" err="1">
                <a:solidFill>
                  <a:srgbClr val="222222"/>
                </a:solidFill>
                <a:latin typeface="Tw Cen MT"/>
              </a:rPr>
              <a:t>decisiones</a:t>
            </a:r>
            <a:r>
              <a:rPr sz="2400" b="0" i="0" dirty="0">
                <a:solidFill>
                  <a:srgbClr val="222222"/>
                </a:solidFill>
                <a:latin typeface="Tw Cen MT"/>
              </a:rPr>
              <a:t> </a:t>
            </a:r>
            <a:r>
              <a:rPr sz="2400" b="0" i="0" dirty="0" err="1">
                <a:solidFill>
                  <a:srgbClr val="222222"/>
                </a:solidFill>
                <a:latin typeface="Tw Cen MT"/>
              </a:rPr>
              <a:t>eficientes</a:t>
            </a:r>
            <a:r>
              <a:rPr sz="2400" b="0" i="0" dirty="0">
                <a:solidFill>
                  <a:srgbClr val="222222"/>
                </a:solidFill>
                <a:latin typeface="Tw Cen MT"/>
              </a:rPr>
              <a:t>.</a:t>
            </a:r>
            <a:endParaRPr lang="es-419" sz="2400" b="0" i="0" dirty="0">
              <a:solidFill>
                <a:srgbClr val="222222"/>
              </a:solidFill>
              <a:latin typeface="Tw Cen MT"/>
            </a:endParaRPr>
          </a:p>
          <a:p>
            <a:pPr algn="l">
              <a:spcBef>
                <a:spcPts val="200"/>
              </a:spcBef>
            </a:pPr>
            <a:endParaRPr sz="2400" b="0" i="0" dirty="0">
              <a:solidFill>
                <a:srgbClr val="222222"/>
              </a:solidFill>
              <a:latin typeface="Tw Cen MT"/>
            </a:endParaRPr>
          </a:p>
          <a:p>
            <a:pPr algn="l">
              <a:spcBef>
                <a:spcPts val="500"/>
              </a:spcBef>
            </a:pPr>
            <a:r>
              <a:rPr sz="2400" b="1" i="0" dirty="0">
                <a:solidFill>
                  <a:srgbClr val="8B0000"/>
                </a:solidFill>
                <a:latin typeface="Tw Cen MT"/>
              </a:rPr>
              <a:t>EL PROBLEMA</a:t>
            </a:r>
          </a:p>
          <a:p>
            <a:pPr marL="342900" indent="-342900" algn="l">
              <a:spcBef>
                <a:spcPts val="500"/>
              </a:spcBef>
              <a:buFont typeface="Arial" panose="020B0604020202020204" pitchFamily="34" charset="0"/>
              <a:buChar char="•"/>
            </a:pPr>
            <a:r>
              <a:rPr sz="2400" i="0" dirty="0">
                <a:solidFill>
                  <a:srgbClr val="222222"/>
                </a:solidFill>
                <a:latin typeface="Tw Cen MT"/>
              </a:rPr>
              <a:t>Cada </a:t>
            </a:r>
            <a:r>
              <a:rPr sz="2400" i="0" dirty="0" err="1">
                <a:solidFill>
                  <a:srgbClr val="222222"/>
                </a:solidFill>
                <a:latin typeface="Tw Cen MT"/>
              </a:rPr>
              <a:t>parte</a:t>
            </a:r>
            <a:r>
              <a:rPr sz="2400" i="0" dirty="0">
                <a:solidFill>
                  <a:srgbClr val="222222"/>
                </a:solidFill>
                <a:latin typeface="Tw Cen MT"/>
              </a:rPr>
              <a:t> </a:t>
            </a:r>
            <a:r>
              <a:rPr sz="2400" i="0" dirty="0" err="1">
                <a:solidFill>
                  <a:srgbClr val="222222"/>
                </a:solidFill>
                <a:latin typeface="Tw Cen MT"/>
              </a:rPr>
              <a:t>contratante</a:t>
            </a:r>
            <a:r>
              <a:rPr sz="2400" i="0" dirty="0">
                <a:solidFill>
                  <a:srgbClr val="222222"/>
                </a:solidFill>
                <a:latin typeface="Tw Cen MT"/>
              </a:rPr>
              <a:t> </a:t>
            </a:r>
            <a:r>
              <a:rPr sz="2400" i="0" dirty="0" err="1">
                <a:solidFill>
                  <a:srgbClr val="222222"/>
                </a:solidFill>
                <a:latin typeface="Tw Cen MT"/>
              </a:rPr>
              <a:t>trata</a:t>
            </a:r>
            <a:r>
              <a:rPr sz="2400" i="0" dirty="0">
                <a:solidFill>
                  <a:srgbClr val="222222"/>
                </a:solidFill>
                <a:latin typeface="Tw Cen MT"/>
              </a:rPr>
              <a:t> de </a:t>
            </a:r>
            <a:r>
              <a:rPr sz="2400" i="0" dirty="0" err="1">
                <a:solidFill>
                  <a:srgbClr val="222222"/>
                </a:solidFill>
                <a:latin typeface="Tw Cen MT"/>
              </a:rPr>
              <a:t>maximizar</a:t>
            </a:r>
            <a:r>
              <a:rPr sz="2400" i="0" dirty="0">
                <a:solidFill>
                  <a:srgbClr val="222222"/>
                </a:solidFill>
                <a:latin typeface="Tw Cen MT"/>
              </a:rPr>
              <a:t> </a:t>
            </a:r>
            <a:r>
              <a:rPr sz="2400" i="0" dirty="0" err="1">
                <a:solidFill>
                  <a:srgbClr val="222222"/>
                </a:solidFill>
                <a:latin typeface="Tw Cen MT"/>
              </a:rPr>
              <a:t>creativamente</a:t>
            </a:r>
            <a:r>
              <a:rPr sz="2400" i="0" dirty="0">
                <a:solidFill>
                  <a:srgbClr val="222222"/>
                </a:solidFill>
                <a:latin typeface="Tw Cen MT"/>
              </a:rPr>
              <a:t> </a:t>
            </a:r>
            <a:r>
              <a:rPr sz="2400" i="0" dirty="0" err="1">
                <a:solidFill>
                  <a:srgbClr val="222222"/>
                </a:solidFill>
                <a:latin typeface="Tw Cen MT"/>
              </a:rPr>
              <a:t>su</a:t>
            </a:r>
            <a:r>
              <a:rPr sz="2400" i="0" dirty="0">
                <a:solidFill>
                  <a:srgbClr val="222222"/>
                </a:solidFill>
                <a:latin typeface="Tw Cen MT"/>
              </a:rPr>
              <a:t> </a:t>
            </a:r>
            <a:r>
              <a:rPr sz="2400" i="0" dirty="0" err="1">
                <a:solidFill>
                  <a:srgbClr val="222222"/>
                </a:solidFill>
                <a:latin typeface="Tw Cen MT"/>
              </a:rPr>
              <a:t>propio</a:t>
            </a:r>
            <a:r>
              <a:rPr sz="2400" i="0" dirty="0">
                <a:solidFill>
                  <a:srgbClr val="222222"/>
                </a:solidFill>
                <a:latin typeface="Tw Cen MT"/>
              </a:rPr>
              <a:t> </a:t>
            </a:r>
            <a:r>
              <a:rPr sz="2400" i="0" dirty="0" err="1">
                <a:solidFill>
                  <a:srgbClr val="222222"/>
                </a:solidFill>
                <a:latin typeface="Tw Cen MT"/>
              </a:rPr>
              <a:t>bienestar</a:t>
            </a:r>
            <a:r>
              <a:rPr sz="2400" i="0" dirty="0">
                <a:solidFill>
                  <a:srgbClr val="222222"/>
                </a:solidFill>
                <a:latin typeface="Tw Cen MT"/>
              </a:rPr>
              <a:t>.</a:t>
            </a:r>
            <a:endParaRPr lang="es-419" sz="2400" i="0" dirty="0">
              <a:solidFill>
                <a:srgbClr val="222222"/>
              </a:solidFill>
              <a:latin typeface="Tw Cen MT"/>
            </a:endParaRPr>
          </a:p>
          <a:p>
            <a:pPr marL="342900" indent="-342900" algn="l">
              <a:spcBef>
                <a:spcPts val="500"/>
              </a:spcBef>
              <a:buFont typeface="Arial" panose="020B0604020202020204" pitchFamily="34" charset="0"/>
              <a:buChar char="•"/>
            </a:pPr>
            <a:endParaRPr sz="2400" i="0" dirty="0">
              <a:solidFill>
                <a:srgbClr val="222222"/>
              </a:solidFill>
              <a:latin typeface="Tw Cen MT"/>
            </a:endParaRPr>
          </a:p>
          <a:p>
            <a:pPr marL="342900" indent="-342900" algn="l">
              <a:spcBef>
                <a:spcPts val="500"/>
              </a:spcBef>
              <a:buFont typeface="Arial" panose="020B0604020202020204" pitchFamily="34" charset="0"/>
              <a:buChar char="•"/>
            </a:pPr>
            <a:r>
              <a:rPr sz="2400" i="0" dirty="0">
                <a:solidFill>
                  <a:srgbClr val="222222"/>
                </a:solidFill>
                <a:latin typeface="Tw Cen MT"/>
              </a:rPr>
              <a:t>Los </a:t>
            </a:r>
            <a:r>
              <a:rPr sz="2400" i="0" dirty="0" err="1">
                <a:solidFill>
                  <a:srgbClr val="222222"/>
                </a:solidFill>
                <a:latin typeface="Tw Cen MT"/>
              </a:rPr>
              <a:t>objetivos</a:t>
            </a:r>
            <a:r>
              <a:rPr sz="2400" i="0" dirty="0">
                <a:solidFill>
                  <a:srgbClr val="222222"/>
                </a:solidFill>
                <a:latin typeface="Tw Cen MT"/>
              </a:rPr>
              <a:t> de </a:t>
            </a:r>
            <a:r>
              <a:rPr sz="2400" i="0" dirty="0" err="1">
                <a:solidFill>
                  <a:srgbClr val="222222"/>
                </a:solidFill>
                <a:latin typeface="Tw Cen MT"/>
              </a:rPr>
              <a:t>los</a:t>
            </a:r>
            <a:r>
              <a:rPr sz="2400" i="0" dirty="0">
                <a:solidFill>
                  <a:srgbClr val="222222"/>
                </a:solidFill>
                <a:latin typeface="Tw Cen MT"/>
              </a:rPr>
              <a:t> </a:t>
            </a:r>
            <a:r>
              <a:rPr sz="2400" i="0" dirty="0" err="1">
                <a:solidFill>
                  <a:srgbClr val="222222"/>
                </a:solidFill>
                <a:latin typeface="Tw Cen MT"/>
              </a:rPr>
              <a:t>individuos</a:t>
            </a:r>
            <a:r>
              <a:rPr sz="2400" i="0" dirty="0">
                <a:solidFill>
                  <a:srgbClr val="222222"/>
                </a:solidFill>
                <a:latin typeface="Tw Cen MT"/>
              </a:rPr>
              <a:t> </a:t>
            </a:r>
            <a:r>
              <a:rPr sz="2400" i="0" dirty="0" err="1">
                <a:solidFill>
                  <a:srgbClr val="222222"/>
                </a:solidFill>
                <a:latin typeface="Tw Cen MT"/>
              </a:rPr>
              <a:t>que</a:t>
            </a:r>
            <a:r>
              <a:rPr sz="2400" i="0" dirty="0">
                <a:solidFill>
                  <a:srgbClr val="222222"/>
                </a:solidFill>
                <a:latin typeface="Tw Cen MT"/>
              </a:rPr>
              <a:t> </a:t>
            </a:r>
            <a:r>
              <a:rPr sz="2400" i="0" dirty="0" err="1">
                <a:solidFill>
                  <a:srgbClr val="222222"/>
                </a:solidFill>
                <a:latin typeface="Tw Cen MT"/>
              </a:rPr>
              <a:t>contratan</a:t>
            </a:r>
            <a:r>
              <a:rPr sz="2400" i="0" dirty="0">
                <a:solidFill>
                  <a:srgbClr val="222222"/>
                </a:solidFill>
                <a:latin typeface="Tw Cen MT"/>
              </a:rPr>
              <a:t> con la </a:t>
            </a:r>
            <a:r>
              <a:rPr sz="2400" i="0" dirty="0" err="1">
                <a:solidFill>
                  <a:srgbClr val="222222"/>
                </a:solidFill>
                <a:latin typeface="Tw Cen MT"/>
              </a:rPr>
              <a:t>empresa</a:t>
            </a:r>
            <a:r>
              <a:rPr sz="2400" i="0" dirty="0">
                <a:solidFill>
                  <a:srgbClr val="222222"/>
                </a:solidFill>
                <a:latin typeface="Tw Cen MT"/>
              </a:rPr>
              <a:t> </a:t>
            </a:r>
            <a:r>
              <a:rPr sz="2400" i="0" dirty="0" err="1">
                <a:solidFill>
                  <a:srgbClr val="222222"/>
                </a:solidFill>
                <a:latin typeface="Tw Cen MT"/>
              </a:rPr>
              <a:t>muy</a:t>
            </a:r>
            <a:r>
              <a:rPr sz="2400" i="0" dirty="0">
                <a:solidFill>
                  <a:srgbClr val="222222"/>
                </a:solidFill>
                <a:latin typeface="Tw Cen MT"/>
              </a:rPr>
              <a:t> </a:t>
            </a:r>
            <a:r>
              <a:rPr sz="2400" i="0" dirty="0" err="1">
                <a:solidFill>
                  <a:srgbClr val="222222"/>
                </a:solidFill>
                <a:latin typeface="Tw Cen MT"/>
              </a:rPr>
              <a:t>probablemente</a:t>
            </a:r>
            <a:r>
              <a:rPr sz="2400" i="0" dirty="0">
                <a:solidFill>
                  <a:srgbClr val="222222"/>
                </a:solidFill>
                <a:latin typeface="Tw Cen MT"/>
              </a:rPr>
              <a:t> NO </a:t>
            </a:r>
            <a:r>
              <a:rPr sz="2400" i="0" dirty="0" err="1">
                <a:solidFill>
                  <a:srgbClr val="222222"/>
                </a:solidFill>
                <a:latin typeface="Tw Cen MT"/>
              </a:rPr>
              <a:t>están</a:t>
            </a:r>
            <a:r>
              <a:rPr sz="2400" i="0" dirty="0">
                <a:solidFill>
                  <a:srgbClr val="222222"/>
                </a:solidFill>
                <a:latin typeface="Tw Cen MT"/>
              </a:rPr>
              <a:t> </a:t>
            </a:r>
            <a:r>
              <a:rPr sz="2400" i="0" dirty="0" err="1">
                <a:solidFill>
                  <a:srgbClr val="222222"/>
                </a:solidFill>
                <a:latin typeface="Tw Cen MT"/>
              </a:rPr>
              <a:t>alineados</a:t>
            </a:r>
            <a:r>
              <a:rPr sz="2400" i="0" dirty="0">
                <a:solidFill>
                  <a:srgbClr val="222222"/>
                </a:solidFill>
                <a:latin typeface="Tw Cen MT"/>
              </a:rPr>
              <a:t> con </a:t>
            </a:r>
            <a:r>
              <a:rPr sz="2400" i="0" dirty="0" err="1">
                <a:solidFill>
                  <a:srgbClr val="222222"/>
                </a:solidFill>
                <a:latin typeface="Tw Cen MT"/>
              </a:rPr>
              <a:t>los</a:t>
            </a:r>
            <a:r>
              <a:rPr sz="2400" i="0" dirty="0">
                <a:solidFill>
                  <a:srgbClr val="222222"/>
                </a:solidFill>
                <a:latin typeface="Tw Cen MT"/>
              </a:rPr>
              <a:t> de la </a:t>
            </a:r>
            <a:r>
              <a:rPr sz="2400" i="0" dirty="0" err="1">
                <a:solidFill>
                  <a:srgbClr val="222222"/>
                </a:solidFill>
                <a:latin typeface="Tw Cen MT"/>
              </a:rPr>
              <a:t>empresa</a:t>
            </a:r>
            <a:r>
              <a:rPr sz="2400" i="0" dirty="0">
                <a:solidFill>
                  <a:srgbClr val="222222"/>
                </a:solidFill>
                <a:latin typeface="Tw Cen MT"/>
              </a:rPr>
              <a:t> o sus </a:t>
            </a:r>
            <a:r>
              <a:rPr sz="2400" i="0" dirty="0" err="1">
                <a:solidFill>
                  <a:srgbClr val="222222"/>
                </a:solidFill>
                <a:latin typeface="Tw Cen MT"/>
              </a:rPr>
              <a:t>dueños</a:t>
            </a:r>
            <a:r>
              <a:rPr sz="2400" i="0" dirty="0">
                <a:solidFill>
                  <a:srgbClr val="222222"/>
                </a:solidFill>
                <a:latin typeface="Tw Cen MT"/>
              </a:rPr>
              <a:t>.</a:t>
            </a:r>
            <a:endParaRPr lang="es-419" sz="2400" i="0" dirty="0">
              <a:solidFill>
                <a:srgbClr val="222222"/>
              </a:solidFill>
              <a:latin typeface="Tw Cen MT"/>
            </a:endParaRPr>
          </a:p>
          <a:p>
            <a:pPr marL="342900" indent="-342900" algn="l">
              <a:spcBef>
                <a:spcPts val="500"/>
              </a:spcBef>
              <a:buFont typeface="Arial" panose="020B0604020202020204" pitchFamily="34" charset="0"/>
              <a:buChar char="•"/>
            </a:pPr>
            <a:endParaRPr sz="2400" i="0" dirty="0">
              <a:solidFill>
                <a:srgbClr val="222222"/>
              </a:solidFill>
              <a:latin typeface="Tw Cen MT"/>
            </a:endParaRPr>
          </a:p>
          <a:p>
            <a:pPr marL="342900" indent="-342900" algn="l">
              <a:spcBef>
                <a:spcPts val="500"/>
              </a:spcBef>
              <a:buFont typeface="Arial" panose="020B0604020202020204" pitchFamily="34" charset="0"/>
              <a:buChar char="•"/>
            </a:pPr>
            <a:r>
              <a:rPr sz="2400" i="0" dirty="0">
                <a:solidFill>
                  <a:srgbClr val="222222"/>
                </a:solidFill>
                <a:latin typeface="Tw Cen MT"/>
              </a:rPr>
              <a:t>Por lo tanto: </a:t>
            </a:r>
            <a:r>
              <a:rPr sz="2400" i="0" dirty="0" err="1">
                <a:solidFill>
                  <a:srgbClr val="222222"/>
                </a:solidFill>
                <a:latin typeface="Tw Cen MT"/>
              </a:rPr>
              <a:t>siempre</a:t>
            </a:r>
            <a:r>
              <a:rPr sz="2400" i="0" dirty="0">
                <a:solidFill>
                  <a:srgbClr val="222222"/>
                </a:solidFill>
                <a:latin typeface="Tw Cen MT"/>
              </a:rPr>
              <a:t> hay </a:t>
            </a:r>
            <a:r>
              <a:rPr sz="2400" i="0" dirty="0" err="1">
                <a:solidFill>
                  <a:srgbClr val="222222"/>
                </a:solidFill>
                <a:latin typeface="Tw Cen MT"/>
              </a:rPr>
              <a:t>conflictos</a:t>
            </a:r>
            <a:r>
              <a:rPr sz="2400" i="0" dirty="0">
                <a:solidFill>
                  <a:srgbClr val="222222"/>
                </a:solidFill>
                <a:latin typeface="Tw Cen MT"/>
              </a:rPr>
              <a:t> de </a:t>
            </a:r>
            <a:r>
              <a:rPr sz="2400" i="0" dirty="0" err="1">
                <a:solidFill>
                  <a:srgbClr val="222222"/>
                </a:solidFill>
                <a:latin typeface="Tw Cen MT"/>
              </a:rPr>
              <a:t>interés</a:t>
            </a:r>
            <a:r>
              <a:rPr sz="2400" i="0" dirty="0">
                <a:solidFill>
                  <a:srgbClr val="222222"/>
                </a:solidFill>
                <a:latin typeface="Tw Cen MT"/>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Conflictos Dueños–Gerentes: 5 Fuentes</a:t>
            </a:r>
          </a:p>
        </p:txBody>
      </p:sp>
      <p:sp>
        <p:nvSpPr>
          <p:cNvPr id="5" name="TextBox 4"/>
          <p:cNvSpPr txBox="1"/>
          <p:nvPr/>
        </p:nvSpPr>
        <p:spPr>
          <a:xfrm>
            <a:off x="324207" y="1143000"/>
            <a:ext cx="11379200" cy="5832366"/>
          </a:xfrm>
          <a:prstGeom prst="rect">
            <a:avLst/>
          </a:prstGeom>
          <a:noFill/>
        </p:spPr>
        <p:txBody>
          <a:bodyPr wrap="square">
            <a:spAutoFit/>
          </a:bodyPr>
          <a:lstStyle/>
          <a:p>
            <a:pPr marL="342900" indent="-342900" algn="ctr">
              <a:spcBef>
                <a:spcPts val="500"/>
              </a:spcBef>
              <a:buFont typeface="Arial" panose="020B0604020202020204" pitchFamily="34" charset="0"/>
              <a:buChar char="•"/>
            </a:pPr>
            <a:r>
              <a:rPr sz="2200" b="0" i="0" dirty="0">
                <a:solidFill>
                  <a:srgbClr val="222222"/>
                </a:solidFill>
                <a:latin typeface="Tw Cen MT"/>
              </a:rPr>
              <a:t>Los </a:t>
            </a:r>
            <a:r>
              <a:rPr sz="2200" b="0" i="0" dirty="0" err="1">
                <a:solidFill>
                  <a:srgbClr val="222222"/>
                </a:solidFill>
                <a:latin typeface="Tw Cen MT"/>
              </a:rPr>
              <a:t>dueños</a:t>
            </a:r>
            <a:r>
              <a:rPr sz="2200" b="0" i="0" dirty="0">
                <a:solidFill>
                  <a:srgbClr val="222222"/>
                </a:solidFill>
                <a:latin typeface="Tw Cen MT"/>
              </a:rPr>
              <a:t> </a:t>
            </a:r>
            <a:r>
              <a:rPr sz="2200" b="0" i="0" dirty="0" err="1">
                <a:solidFill>
                  <a:srgbClr val="222222"/>
                </a:solidFill>
                <a:latin typeface="Tw Cen MT"/>
              </a:rPr>
              <a:t>poseen</a:t>
            </a:r>
            <a:r>
              <a:rPr sz="2200" b="0" i="0" dirty="0">
                <a:solidFill>
                  <a:srgbClr val="222222"/>
                </a:solidFill>
                <a:latin typeface="Tw Cen MT"/>
              </a:rPr>
              <a:t> las </a:t>
            </a:r>
            <a:r>
              <a:rPr sz="2200" b="0" i="0" dirty="0" err="1">
                <a:solidFill>
                  <a:srgbClr val="222222"/>
                </a:solidFill>
                <a:latin typeface="Tw Cen MT"/>
              </a:rPr>
              <a:t>ganancias</a:t>
            </a:r>
            <a:r>
              <a:rPr sz="2200" b="0" i="0" dirty="0">
                <a:solidFill>
                  <a:srgbClr val="222222"/>
                </a:solidFill>
                <a:latin typeface="Tw Cen MT"/>
              </a:rPr>
              <a:t> </a:t>
            </a:r>
            <a:r>
              <a:rPr sz="2200" b="0" i="0" dirty="0" err="1">
                <a:solidFill>
                  <a:srgbClr val="222222"/>
                </a:solidFill>
                <a:latin typeface="Tw Cen MT"/>
              </a:rPr>
              <a:t>residuales</a:t>
            </a:r>
            <a:r>
              <a:rPr sz="2200" b="0" i="0" dirty="0">
                <a:solidFill>
                  <a:srgbClr val="222222"/>
                </a:solidFill>
                <a:latin typeface="Tw Cen MT"/>
              </a:rPr>
              <a:t> y </a:t>
            </a:r>
            <a:r>
              <a:rPr sz="2200" b="0" i="0" dirty="0" err="1">
                <a:solidFill>
                  <a:srgbClr val="222222"/>
                </a:solidFill>
                <a:latin typeface="Tw Cen MT"/>
              </a:rPr>
              <a:t>buscan</a:t>
            </a:r>
            <a:r>
              <a:rPr sz="2200" b="0" i="0" dirty="0">
                <a:solidFill>
                  <a:srgbClr val="222222"/>
                </a:solidFill>
                <a:latin typeface="Tw Cen MT"/>
              </a:rPr>
              <a:t> </a:t>
            </a:r>
            <a:r>
              <a:rPr sz="2200" b="0" i="0" dirty="0" err="1">
                <a:solidFill>
                  <a:srgbClr val="222222"/>
                </a:solidFill>
                <a:latin typeface="Tw Cen MT"/>
              </a:rPr>
              <a:t>maximizarlas</a:t>
            </a:r>
            <a:r>
              <a:rPr sz="2200" b="0" i="0" dirty="0">
                <a:solidFill>
                  <a:srgbClr val="222222"/>
                </a:solidFill>
                <a:latin typeface="Tw Cen MT"/>
              </a:rPr>
              <a:t>. </a:t>
            </a:r>
            <a:endParaRPr lang="es-419" sz="2200" b="0" i="0" dirty="0">
              <a:solidFill>
                <a:srgbClr val="222222"/>
              </a:solidFill>
              <a:latin typeface="Tw Cen MT"/>
            </a:endParaRPr>
          </a:p>
          <a:p>
            <a:pPr marL="342900" indent="-342900" algn="ctr">
              <a:spcBef>
                <a:spcPts val="500"/>
              </a:spcBef>
              <a:buFont typeface="Arial" panose="020B0604020202020204" pitchFamily="34" charset="0"/>
              <a:buChar char="•"/>
            </a:pPr>
            <a:r>
              <a:rPr sz="2200" b="0" i="0" dirty="0">
                <a:solidFill>
                  <a:srgbClr val="222222"/>
                </a:solidFill>
                <a:latin typeface="Tw Cen MT"/>
              </a:rPr>
              <a:t>Los </a:t>
            </a:r>
            <a:r>
              <a:rPr sz="2200" b="0" i="0" dirty="0" err="1">
                <a:solidFill>
                  <a:srgbClr val="222222"/>
                </a:solidFill>
                <a:latin typeface="Tw Cen MT"/>
              </a:rPr>
              <a:t>gerentes</a:t>
            </a:r>
            <a:r>
              <a:rPr sz="2200" b="0" i="0" dirty="0">
                <a:solidFill>
                  <a:srgbClr val="222222"/>
                </a:solidFill>
                <a:latin typeface="Tw Cen MT"/>
              </a:rPr>
              <a:t> no </a:t>
            </a:r>
            <a:r>
              <a:rPr sz="2200" b="0" i="0" dirty="0" err="1">
                <a:solidFill>
                  <a:srgbClr val="222222"/>
                </a:solidFill>
                <a:latin typeface="Tw Cen MT"/>
              </a:rPr>
              <a:t>necesariamente</a:t>
            </a:r>
            <a:r>
              <a:rPr sz="2200" b="0" i="0" dirty="0">
                <a:solidFill>
                  <a:srgbClr val="222222"/>
                </a:solidFill>
                <a:latin typeface="Tw Cen MT"/>
              </a:rPr>
              <a:t> </a:t>
            </a:r>
            <a:r>
              <a:rPr sz="2200" b="0" i="0" dirty="0" err="1">
                <a:solidFill>
                  <a:srgbClr val="222222"/>
                </a:solidFill>
                <a:latin typeface="Tw Cen MT"/>
              </a:rPr>
              <a:t>tienen</a:t>
            </a:r>
            <a:r>
              <a:rPr sz="2200" b="0" i="0" dirty="0">
                <a:solidFill>
                  <a:srgbClr val="222222"/>
                </a:solidFill>
                <a:latin typeface="Tw Cen MT"/>
              </a:rPr>
              <a:t> ese </a:t>
            </a:r>
            <a:r>
              <a:rPr sz="2200" b="0" i="0" dirty="0" err="1">
                <a:solidFill>
                  <a:srgbClr val="222222"/>
                </a:solidFill>
                <a:latin typeface="Tw Cen MT"/>
              </a:rPr>
              <a:t>objetivo</a:t>
            </a:r>
            <a:r>
              <a:rPr sz="2200" b="0" i="0" dirty="0">
                <a:solidFill>
                  <a:srgbClr val="222222"/>
                </a:solidFill>
                <a:latin typeface="Tw Cen MT"/>
              </a:rPr>
              <a:t>.</a:t>
            </a:r>
            <a:endParaRPr lang="es-419" sz="2200" b="0" i="0" dirty="0">
              <a:solidFill>
                <a:srgbClr val="222222"/>
              </a:solidFill>
              <a:latin typeface="Tw Cen MT"/>
            </a:endParaRPr>
          </a:p>
          <a:p>
            <a:pPr algn="l">
              <a:spcBef>
                <a:spcPts val="500"/>
              </a:spcBef>
            </a:pPr>
            <a:r>
              <a:rPr sz="2000" b="1" i="0" dirty="0">
                <a:solidFill>
                  <a:srgbClr val="8B0000"/>
                </a:solidFill>
                <a:latin typeface="Tw Cen MT"/>
              </a:rPr>
              <a:t>1. NIVEL DE ESFUERZO</a:t>
            </a:r>
          </a:p>
          <a:p>
            <a:pPr algn="l">
              <a:spcBef>
                <a:spcPts val="200"/>
              </a:spcBef>
            </a:pPr>
            <a:r>
              <a:rPr sz="2000" b="0" i="0" dirty="0">
                <a:solidFill>
                  <a:srgbClr val="222222"/>
                </a:solidFill>
                <a:latin typeface="Tw Cen MT"/>
              </a:rPr>
              <a:t>    ▸  El </a:t>
            </a:r>
            <a:r>
              <a:rPr sz="2000" b="0" i="0" dirty="0" err="1">
                <a:solidFill>
                  <a:srgbClr val="222222"/>
                </a:solidFill>
                <a:latin typeface="Tw Cen MT"/>
              </a:rPr>
              <a:t>esfuerzo</a:t>
            </a:r>
            <a:r>
              <a:rPr sz="2000" b="0" i="0" dirty="0">
                <a:solidFill>
                  <a:srgbClr val="222222"/>
                </a:solidFill>
                <a:latin typeface="Tw Cen MT"/>
              </a:rPr>
              <a:t> </a:t>
            </a:r>
            <a:r>
              <a:rPr sz="2000" b="0" i="0" dirty="0" err="1">
                <a:solidFill>
                  <a:srgbClr val="222222"/>
                </a:solidFill>
                <a:latin typeface="Tw Cen MT"/>
              </a:rPr>
              <a:t>adicional</a:t>
            </a:r>
            <a:r>
              <a:rPr sz="2000" b="0" i="0" dirty="0">
                <a:solidFill>
                  <a:srgbClr val="222222"/>
                </a:solidFill>
                <a:latin typeface="Tw Cen MT"/>
              </a:rPr>
              <a:t> </a:t>
            </a:r>
            <a:r>
              <a:rPr sz="2000" b="0" i="0" dirty="0" err="1">
                <a:solidFill>
                  <a:srgbClr val="222222"/>
                </a:solidFill>
                <a:latin typeface="Tw Cen MT"/>
              </a:rPr>
              <a:t>incrementa</a:t>
            </a:r>
            <a:r>
              <a:rPr sz="2000" b="0" i="0" dirty="0">
                <a:solidFill>
                  <a:srgbClr val="222222"/>
                </a:solidFill>
                <a:latin typeface="Tw Cen MT"/>
              </a:rPr>
              <a:t> </a:t>
            </a:r>
            <a:r>
              <a:rPr sz="2000" b="0" i="0" dirty="0" err="1">
                <a:solidFill>
                  <a:srgbClr val="222222"/>
                </a:solidFill>
                <a:latin typeface="Tw Cen MT"/>
              </a:rPr>
              <a:t>el</a:t>
            </a:r>
            <a:r>
              <a:rPr sz="2000" b="0" i="0" dirty="0">
                <a:solidFill>
                  <a:srgbClr val="222222"/>
                </a:solidFill>
                <a:latin typeface="Tw Cen MT"/>
              </a:rPr>
              <a:t> valor de la </a:t>
            </a:r>
            <a:r>
              <a:rPr sz="2000" b="0" i="0" dirty="0" err="1">
                <a:solidFill>
                  <a:srgbClr val="222222"/>
                </a:solidFill>
                <a:latin typeface="Tw Cen MT"/>
              </a:rPr>
              <a:t>compañía</a:t>
            </a:r>
            <a:r>
              <a:rPr sz="2000" b="0" i="0" dirty="0">
                <a:solidFill>
                  <a:srgbClr val="222222"/>
                </a:solidFill>
                <a:latin typeface="Tw Cen MT"/>
              </a:rPr>
              <a:t> </a:t>
            </a:r>
            <a:r>
              <a:rPr sz="2000" b="0" i="0" dirty="0" err="1">
                <a:solidFill>
                  <a:srgbClr val="222222"/>
                </a:solidFill>
                <a:latin typeface="Tw Cen MT"/>
              </a:rPr>
              <a:t>pero</a:t>
            </a:r>
            <a:r>
              <a:rPr sz="2000" b="0" i="0" dirty="0">
                <a:solidFill>
                  <a:srgbClr val="222222"/>
                </a:solidFill>
                <a:latin typeface="Tw Cen MT"/>
              </a:rPr>
              <a:t> reduce la </a:t>
            </a:r>
            <a:r>
              <a:rPr sz="2000" b="0" i="0" dirty="0" err="1">
                <a:solidFill>
                  <a:srgbClr val="222222"/>
                </a:solidFill>
                <a:latin typeface="Tw Cen MT"/>
              </a:rPr>
              <a:t>utilidad</a:t>
            </a:r>
            <a:r>
              <a:rPr sz="2000" b="0" i="0" dirty="0">
                <a:solidFill>
                  <a:srgbClr val="222222"/>
                </a:solidFill>
                <a:latin typeface="Tw Cen MT"/>
              </a:rPr>
              <a:t> del </a:t>
            </a:r>
            <a:r>
              <a:rPr sz="2000" b="0" i="0" dirty="0" err="1">
                <a:solidFill>
                  <a:srgbClr val="222222"/>
                </a:solidFill>
                <a:latin typeface="Tw Cen MT"/>
              </a:rPr>
              <a:t>directivo</a:t>
            </a:r>
            <a:r>
              <a:rPr sz="2000" b="0" i="0" dirty="0">
                <a:solidFill>
                  <a:srgbClr val="222222"/>
                </a:solidFill>
                <a:latin typeface="Tw Cen MT"/>
              </a:rPr>
              <a:t>.</a:t>
            </a:r>
            <a:endParaRPr lang="es-419" sz="2000" b="0" i="0" dirty="0">
              <a:solidFill>
                <a:srgbClr val="222222"/>
              </a:solidFill>
              <a:latin typeface="Tw Cen MT"/>
            </a:endParaRPr>
          </a:p>
          <a:p>
            <a:pPr algn="l">
              <a:spcBef>
                <a:spcPts val="200"/>
              </a:spcBef>
            </a:pPr>
            <a:endParaRPr sz="2000" b="0" i="0" dirty="0">
              <a:solidFill>
                <a:srgbClr val="222222"/>
              </a:solidFill>
              <a:latin typeface="Tw Cen MT"/>
            </a:endParaRPr>
          </a:p>
          <a:p>
            <a:pPr algn="l">
              <a:spcBef>
                <a:spcPts val="500"/>
              </a:spcBef>
            </a:pPr>
            <a:r>
              <a:rPr sz="2000" b="1" i="0" dirty="0">
                <a:solidFill>
                  <a:srgbClr val="8B0000"/>
                </a:solidFill>
                <a:latin typeface="Tw Cen MT"/>
              </a:rPr>
              <a:t>2. BENEFICIOS COMPLEMENTARIOS</a:t>
            </a:r>
          </a:p>
          <a:p>
            <a:pPr algn="l">
              <a:spcBef>
                <a:spcPts val="200"/>
              </a:spcBef>
            </a:pPr>
            <a:r>
              <a:rPr sz="2000" b="0" i="0" dirty="0">
                <a:solidFill>
                  <a:srgbClr val="222222"/>
                </a:solidFill>
                <a:latin typeface="Tw Cen MT"/>
              </a:rPr>
              <a:t>    ▸  </a:t>
            </a:r>
            <a:r>
              <a:rPr sz="2000" b="0" i="0" dirty="0" err="1">
                <a:solidFill>
                  <a:srgbClr val="222222"/>
                </a:solidFill>
                <a:latin typeface="Tw Cen MT"/>
              </a:rPr>
              <a:t>Directivos</a:t>
            </a:r>
            <a:r>
              <a:rPr sz="2000" b="0" i="0" dirty="0">
                <a:solidFill>
                  <a:srgbClr val="222222"/>
                </a:solidFill>
                <a:latin typeface="Tw Cen MT"/>
              </a:rPr>
              <a:t> </a:t>
            </a:r>
            <a:r>
              <a:rPr sz="2000" b="0" i="0" dirty="0" err="1">
                <a:solidFill>
                  <a:srgbClr val="222222"/>
                </a:solidFill>
                <a:latin typeface="Tw Cen MT"/>
              </a:rPr>
              <a:t>desean</a:t>
            </a:r>
            <a:r>
              <a:rPr sz="2000" b="0" i="0" dirty="0">
                <a:solidFill>
                  <a:srgbClr val="222222"/>
                </a:solidFill>
                <a:latin typeface="Tw Cen MT"/>
              </a:rPr>
              <a:t> autos, </a:t>
            </a:r>
            <a:r>
              <a:rPr sz="2000" b="0" i="0" dirty="0" err="1">
                <a:solidFill>
                  <a:srgbClr val="222222"/>
                </a:solidFill>
                <a:latin typeface="Tw Cen MT"/>
              </a:rPr>
              <a:t>membresías</a:t>
            </a:r>
            <a:r>
              <a:rPr sz="2000" b="0" i="0" dirty="0">
                <a:solidFill>
                  <a:srgbClr val="222222"/>
                </a:solidFill>
                <a:latin typeface="Tw Cen MT"/>
              </a:rPr>
              <a:t>, </a:t>
            </a:r>
            <a:r>
              <a:rPr sz="2000" b="0" i="0" dirty="0" err="1">
                <a:solidFill>
                  <a:srgbClr val="222222"/>
                </a:solidFill>
                <a:latin typeface="Tw Cen MT"/>
              </a:rPr>
              <a:t>oficinas</a:t>
            </a:r>
            <a:r>
              <a:rPr sz="2000" b="0" i="0" dirty="0">
                <a:solidFill>
                  <a:srgbClr val="222222"/>
                </a:solidFill>
                <a:latin typeface="Tw Cen MT"/>
              </a:rPr>
              <a:t>, etc. Los </a:t>
            </a:r>
            <a:r>
              <a:rPr sz="2000" b="0" i="0" dirty="0" err="1">
                <a:solidFill>
                  <a:srgbClr val="222222"/>
                </a:solidFill>
                <a:latin typeface="Tw Cen MT"/>
              </a:rPr>
              <a:t>dueños</a:t>
            </a:r>
            <a:r>
              <a:rPr sz="2000" b="0" i="0" dirty="0">
                <a:solidFill>
                  <a:srgbClr val="222222"/>
                </a:solidFill>
                <a:latin typeface="Tw Cen MT"/>
              </a:rPr>
              <a:t> </a:t>
            </a:r>
            <a:r>
              <a:rPr sz="2000" b="0" i="0" dirty="0" err="1">
                <a:solidFill>
                  <a:srgbClr val="222222"/>
                </a:solidFill>
                <a:latin typeface="Tw Cen MT"/>
              </a:rPr>
              <a:t>quieren</a:t>
            </a:r>
            <a:r>
              <a:rPr sz="2000" b="0" i="0" dirty="0">
                <a:solidFill>
                  <a:srgbClr val="222222"/>
                </a:solidFill>
                <a:latin typeface="Tw Cen MT"/>
              </a:rPr>
              <a:t> </a:t>
            </a:r>
            <a:r>
              <a:rPr sz="2000" b="0" i="0" dirty="0" err="1">
                <a:solidFill>
                  <a:srgbClr val="222222"/>
                </a:solidFill>
                <a:latin typeface="Tw Cen MT"/>
              </a:rPr>
              <a:t>minimizar</a:t>
            </a:r>
            <a:r>
              <a:rPr sz="2000" b="0" i="0" dirty="0">
                <a:solidFill>
                  <a:srgbClr val="222222"/>
                </a:solidFill>
                <a:latin typeface="Tw Cen MT"/>
              </a:rPr>
              <a:t> </a:t>
            </a:r>
            <a:r>
              <a:rPr sz="2000" b="0" i="0" dirty="0" err="1">
                <a:solidFill>
                  <a:srgbClr val="222222"/>
                </a:solidFill>
                <a:latin typeface="Tw Cen MT"/>
              </a:rPr>
              <a:t>esos</a:t>
            </a:r>
            <a:r>
              <a:rPr sz="2000" b="0" i="0" dirty="0">
                <a:solidFill>
                  <a:srgbClr val="222222"/>
                </a:solidFill>
                <a:latin typeface="Tw Cen MT"/>
              </a:rPr>
              <a:t> </a:t>
            </a:r>
            <a:r>
              <a:rPr sz="2000" b="0" i="0" dirty="0" err="1">
                <a:solidFill>
                  <a:srgbClr val="222222"/>
                </a:solidFill>
                <a:latin typeface="Tw Cen MT"/>
              </a:rPr>
              <a:t>costos</a:t>
            </a:r>
            <a:r>
              <a:rPr sz="2000" b="0" i="0" dirty="0">
                <a:solidFill>
                  <a:srgbClr val="222222"/>
                </a:solidFill>
                <a:latin typeface="Tw Cen MT"/>
              </a:rPr>
              <a:t>.</a:t>
            </a:r>
            <a:endParaRPr lang="es-419" sz="2000" b="0" i="0" dirty="0">
              <a:solidFill>
                <a:srgbClr val="222222"/>
              </a:solidFill>
              <a:latin typeface="Tw Cen MT"/>
            </a:endParaRPr>
          </a:p>
          <a:p>
            <a:pPr algn="l">
              <a:spcBef>
                <a:spcPts val="200"/>
              </a:spcBef>
            </a:pPr>
            <a:endParaRPr sz="2000" b="0" i="0" dirty="0">
              <a:solidFill>
                <a:srgbClr val="222222"/>
              </a:solidFill>
              <a:latin typeface="Tw Cen MT"/>
            </a:endParaRPr>
          </a:p>
          <a:p>
            <a:pPr algn="l">
              <a:spcBef>
                <a:spcPts val="500"/>
              </a:spcBef>
            </a:pPr>
            <a:r>
              <a:rPr sz="2000" b="1" i="0" dirty="0">
                <a:solidFill>
                  <a:srgbClr val="8B0000"/>
                </a:solidFill>
                <a:latin typeface="Tw Cen MT"/>
              </a:rPr>
              <a:t>3. DIFERENTE EXPOSICIÓN AL RIESGO</a:t>
            </a:r>
          </a:p>
          <a:p>
            <a:pPr algn="l">
              <a:spcBef>
                <a:spcPts val="200"/>
              </a:spcBef>
            </a:pPr>
            <a:r>
              <a:rPr sz="2000" b="0" i="0" dirty="0">
                <a:solidFill>
                  <a:srgbClr val="222222"/>
                </a:solidFill>
                <a:latin typeface="Tw Cen MT"/>
              </a:rPr>
              <a:t>    ▸  Los </a:t>
            </a:r>
            <a:r>
              <a:rPr sz="2000" b="0" i="0" dirty="0" err="1">
                <a:solidFill>
                  <a:srgbClr val="222222"/>
                </a:solidFill>
                <a:latin typeface="Tw Cen MT"/>
              </a:rPr>
              <a:t>directivos</a:t>
            </a:r>
            <a:r>
              <a:rPr sz="2000" b="0" i="0" dirty="0">
                <a:solidFill>
                  <a:srgbClr val="222222"/>
                </a:solidFill>
                <a:latin typeface="Tw Cen MT"/>
              </a:rPr>
              <a:t> </a:t>
            </a:r>
            <a:r>
              <a:rPr sz="2000" b="0" i="0" dirty="0" err="1">
                <a:solidFill>
                  <a:srgbClr val="222222"/>
                </a:solidFill>
                <a:latin typeface="Tw Cen MT"/>
              </a:rPr>
              <a:t>tienden</a:t>
            </a:r>
            <a:r>
              <a:rPr sz="2000" b="0" i="0" dirty="0">
                <a:solidFill>
                  <a:srgbClr val="222222"/>
                </a:solidFill>
                <a:latin typeface="Tw Cen MT"/>
              </a:rPr>
              <a:t> a </a:t>
            </a:r>
            <a:r>
              <a:rPr sz="2000" b="0" i="0" dirty="0" err="1">
                <a:solidFill>
                  <a:srgbClr val="222222"/>
                </a:solidFill>
                <a:latin typeface="Tw Cen MT"/>
              </a:rPr>
              <a:t>evitar</a:t>
            </a:r>
            <a:r>
              <a:rPr sz="2000" b="0" i="0" dirty="0">
                <a:solidFill>
                  <a:srgbClr val="222222"/>
                </a:solidFill>
                <a:latin typeface="Tw Cen MT"/>
              </a:rPr>
              <a:t> </a:t>
            </a:r>
            <a:r>
              <a:rPr sz="2000" b="0" i="0" dirty="0" err="1">
                <a:solidFill>
                  <a:srgbClr val="222222"/>
                </a:solidFill>
                <a:latin typeface="Tw Cen MT"/>
              </a:rPr>
              <a:t>riesgos</a:t>
            </a:r>
            <a:r>
              <a:rPr sz="2000" b="0" i="0" dirty="0">
                <a:solidFill>
                  <a:srgbClr val="222222"/>
                </a:solidFill>
                <a:latin typeface="Tw Cen MT"/>
              </a:rPr>
              <a:t> </a:t>
            </a:r>
            <a:r>
              <a:rPr sz="2000" b="0" i="0" dirty="0" err="1">
                <a:solidFill>
                  <a:srgbClr val="222222"/>
                </a:solidFill>
                <a:latin typeface="Tw Cen MT"/>
              </a:rPr>
              <a:t>que</a:t>
            </a:r>
            <a:r>
              <a:rPr sz="2000" b="0" i="0" dirty="0">
                <a:solidFill>
                  <a:srgbClr val="222222"/>
                </a:solidFill>
                <a:latin typeface="Tw Cen MT"/>
              </a:rPr>
              <a:t> </a:t>
            </a:r>
            <a:r>
              <a:rPr sz="2000" b="0" i="0" dirty="0" err="1">
                <a:solidFill>
                  <a:srgbClr val="222222"/>
                </a:solidFill>
                <a:latin typeface="Tw Cen MT"/>
              </a:rPr>
              <a:t>los</a:t>
            </a:r>
            <a:r>
              <a:rPr sz="2000" b="0" i="0" dirty="0">
                <a:solidFill>
                  <a:srgbClr val="222222"/>
                </a:solidFill>
                <a:latin typeface="Tw Cen MT"/>
              </a:rPr>
              <a:t> </a:t>
            </a:r>
            <a:r>
              <a:rPr sz="2000" b="0" i="0" dirty="0" err="1">
                <a:solidFill>
                  <a:srgbClr val="222222"/>
                </a:solidFill>
                <a:latin typeface="Tw Cen MT"/>
              </a:rPr>
              <a:t>dueños</a:t>
            </a:r>
            <a:r>
              <a:rPr sz="2000" b="0" i="0" dirty="0">
                <a:solidFill>
                  <a:srgbClr val="222222"/>
                </a:solidFill>
                <a:latin typeface="Tw Cen MT"/>
              </a:rPr>
              <a:t> </a:t>
            </a:r>
            <a:r>
              <a:rPr sz="2000" b="0" i="0" dirty="0" err="1">
                <a:solidFill>
                  <a:srgbClr val="222222"/>
                </a:solidFill>
                <a:latin typeface="Tw Cen MT"/>
              </a:rPr>
              <a:t>diversificados</a:t>
            </a:r>
            <a:r>
              <a:rPr sz="2000" b="0" i="0" dirty="0">
                <a:solidFill>
                  <a:srgbClr val="222222"/>
                </a:solidFill>
                <a:latin typeface="Tw Cen MT"/>
              </a:rPr>
              <a:t> </a:t>
            </a:r>
            <a:r>
              <a:rPr sz="2000" b="0" i="0" dirty="0" err="1">
                <a:solidFill>
                  <a:srgbClr val="222222"/>
                </a:solidFill>
                <a:latin typeface="Tw Cen MT"/>
              </a:rPr>
              <a:t>estarían</a:t>
            </a:r>
            <a:r>
              <a:rPr sz="2000" b="0" i="0" dirty="0">
                <a:solidFill>
                  <a:srgbClr val="222222"/>
                </a:solidFill>
                <a:latin typeface="Tw Cen MT"/>
              </a:rPr>
              <a:t> </a:t>
            </a:r>
            <a:r>
              <a:rPr sz="2000" b="0" i="0" dirty="0" err="1">
                <a:solidFill>
                  <a:srgbClr val="222222"/>
                </a:solidFill>
                <a:latin typeface="Tw Cen MT"/>
              </a:rPr>
              <a:t>dispuestos</a:t>
            </a:r>
            <a:r>
              <a:rPr sz="2000" b="0" i="0" dirty="0">
                <a:solidFill>
                  <a:srgbClr val="222222"/>
                </a:solidFill>
                <a:latin typeface="Tw Cen MT"/>
              </a:rPr>
              <a:t> a </a:t>
            </a:r>
            <a:r>
              <a:rPr sz="2000" b="0" i="0" dirty="0" err="1">
                <a:solidFill>
                  <a:srgbClr val="222222"/>
                </a:solidFill>
                <a:latin typeface="Tw Cen MT"/>
              </a:rPr>
              <a:t>asumir</a:t>
            </a:r>
            <a:r>
              <a:rPr sz="2000" b="0" i="0" dirty="0">
                <a:solidFill>
                  <a:srgbClr val="222222"/>
                </a:solidFill>
                <a:latin typeface="Tw Cen MT"/>
              </a:rPr>
              <a:t>.</a:t>
            </a:r>
          </a:p>
          <a:p>
            <a:pPr algn="l">
              <a:spcBef>
                <a:spcPts val="500"/>
              </a:spcBef>
            </a:pPr>
            <a:endParaRPr lang="es-419" sz="2000" b="1" i="0" dirty="0">
              <a:solidFill>
                <a:srgbClr val="8B0000"/>
              </a:solidFill>
              <a:latin typeface="Tw Cen MT"/>
            </a:endParaRPr>
          </a:p>
          <a:p>
            <a:pPr algn="l">
              <a:spcBef>
                <a:spcPts val="500"/>
              </a:spcBef>
            </a:pPr>
            <a:r>
              <a:rPr sz="2000" b="1" i="0" dirty="0">
                <a:solidFill>
                  <a:srgbClr val="8B0000"/>
                </a:solidFill>
                <a:latin typeface="Tw Cen MT"/>
              </a:rPr>
              <a:t>4. DIFERENTES HORIZONTES TEMPORALES</a:t>
            </a:r>
          </a:p>
          <a:p>
            <a:pPr algn="l">
              <a:spcBef>
                <a:spcPts val="200"/>
              </a:spcBef>
            </a:pPr>
            <a:r>
              <a:rPr sz="2000" b="0" i="0" dirty="0">
                <a:solidFill>
                  <a:srgbClr val="222222"/>
                </a:solidFill>
                <a:latin typeface="Tw Cen MT"/>
              </a:rPr>
              <a:t>    ▸  </a:t>
            </a:r>
            <a:r>
              <a:rPr sz="2000" b="0" i="0" dirty="0" err="1">
                <a:solidFill>
                  <a:srgbClr val="222222"/>
                </a:solidFill>
                <a:latin typeface="Tw Cen MT"/>
              </a:rPr>
              <a:t>Pocos</a:t>
            </a:r>
            <a:r>
              <a:rPr sz="2000" b="0" i="0" dirty="0">
                <a:solidFill>
                  <a:srgbClr val="222222"/>
                </a:solidFill>
                <a:latin typeface="Tw Cen MT"/>
              </a:rPr>
              <a:t> </a:t>
            </a:r>
            <a:r>
              <a:rPr sz="2000" b="0" i="0" dirty="0" err="1">
                <a:solidFill>
                  <a:srgbClr val="222222"/>
                </a:solidFill>
                <a:latin typeface="Tw Cen MT"/>
              </a:rPr>
              <a:t>incentivos</a:t>
            </a:r>
            <a:r>
              <a:rPr sz="2000" b="0" i="0" dirty="0">
                <a:solidFill>
                  <a:srgbClr val="222222"/>
                </a:solidFill>
                <a:latin typeface="Tw Cen MT"/>
              </a:rPr>
              <a:t> para </a:t>
            </a:r>
            <a:r>
              <a:rPr sz="2000" b="0" i="0" dirty="0" err="1">
                <a:solidFill>
                  <a:srgbClr val="222222"/>
                </a:solidFill>
                <a:latin typeface="Tw Cen MT"/>
              </a:rPr>
              <a:t>preocuparse</a:t>
            </a:r>
            <a:r>
              <a:rPr sz="2000" b="0" i="0" dirty="0">
                <a:solidFill>
                  <a:srgbClr val="222222"/>
                </a:solidFill>
                <a:latin typeface="Tw Cen MT"/>
              </a:rPr>
              <a:t> </a:t>
            </a:r>
            <a:r>
              <a:rPr sz="2000" b="0" i="0" dirty="0" err="1">
                <a:solidFill>
                  <a:srgbClr val="222222"/>
                </a:solidFill>
                <a:latin typeface="Tw Cen MT"/>
              </a:rPr>
              <a:t>por</a:t>
            </a:r>
            <a:r>
              <a:rPr sz="2000" b="0" i="0" dirty="0">
                <a:solidFill>
                  <a:srgbClr val="222222"/>
                </a:solidFill>
                <a:latin typeface="Tw Cen MT"/>
              </a:rPr>
              <a:t> </a:t>
            </a:r>
            <a:r>
              <a:rPr sz="2000" b="0" i="0" dirty="0" err="1">
                <a:solidFill>
                  <a:srgbClr val="222222"/>
                </a:solidFill>
                <a:latin typeface="Tw Cen MT"/>
              </a:rPr>
              <a:t>el</a:t>
            </a:r>
            <a:r>
              <a:rPr sz="2000" b="0" i="0" dirty="0">
                <a:solidFill>
                  <a:srgbClr val="222222"/>
                </a:solidFill>
                <a:latin typeface="Tw Cen MT"/>
              </a:rPr>
              <a:t> </a:t>
            </a:r>
            <a:r>
              <a:rPr sz="2000" b="0" i="0" dirty="0" err="1">
                <a:solidFill>
                  <a:srgbClr val="222222"/>
                </a:solidFill>
                <a:latin typeface="Tw Cen MT"/>
              </a:rPr>
              <a:t>flujo</a:t>
            </a:r>
            <a:r>
              <a:rPr sz="2000" b="0" i="0" dirty="0">
                <a:solidFill>
                  <a:srgbClr val="222222"/>
                </a:solidFill>
                <a:latin typeface="Tw Cen MT"/>
              </a:rPr>
              <a:t> de </a:t>
            </a:r>
            <a:r>
              <a:rPr sz="2000" b="0" i="0" dirty="0" err="1">
                <a:solidFill>
                  <a:srgbClr val="222222"/>
                </a:solidFill>
                <a:latin typeface="Tw Cen MT"/>
              </a:rPr>
              <a:t>caja</a:t>
            </a:r>
            <a:r>
              <a:rPr sz="2000" b="0" i="0" dirty="0">
                <a:solidFill>
                  <a:srgbClr val="222222"/>
                </a:solidFill>
                <a:latin typeface="Tw Cen MT"/>
              </a:rPr>
              <a:t> </a:t>
            </a:r>
            <a:r>
              <a:rPr sz="2000" b="0" i="0" dirty="0" err="1">
                <a:solidFill>
                  <a:srgbClr val="222222"/>
                </a:solidFill>
                <a:latin typeface="Tw Cen MT"/>
              </a:rPr>
              <a:t>después</a:t>
            </a:r>
            <a:r>
              <a:rPr sz="2000" b="0" i="0" dirty="0">
                <a:solidFill>
                  <a:srgbClr val="222222"/>
                </a:solidFill>
                <a:latin typeface="Tw Cen MT"/>
              </a:rPr>
              <a:t> de </a:t>
            </a:r>
            <a:r>
              <a:rPr sz="2000" b="0" i="0" dirty="0" err="1">
                <a:solidFill>
                  <a:srgbClr val="222222"/>
                </a:solidFill>
                <a:latin typeface="Tw Cen MT"/>
              </a:rPr>
              <a:t>su</a:t>
            </a:r>
            <a:r>
              <a:rPr sz="2000" b="0" i="0" dirty="0">
                <a:solidFill>
                  <a:srgbClr val="222222"/>
                </a:solidFill>
                <a:latin typeface="Tw Cen MT"/>
              </a:rPr>
              <a:t> paso </a:t>
            </a:r>
            <a:r>
              <a:rPr sz="2000" b="0" i="0" dirty="0" err="1">
                <a:solidFill>
                  <a:srgbClr val="222222"/>
                </a:solidFill>
                <a:latin typeface="Tw Cen MT"/>
              </a:rPr>
              <a:t>por</a:t>
            </a:r>
            <a:r>
              <a:rPr sz="2000" b="0" i="0" dirty="0">
                <a:solidFill>
                  <a:srgbClr val="222222"/>
                </a:solidFill>
                <a:latin typeface="Tw Cen MT"/>
              </a:rPr>
              <a:t> la </a:t>
            </a:r>
            <a:r>
              <a:rPr sz="2000" b="0" i="0" dirty="0" err="1">
                <a:solidFill>
                  <a:srgbClr val="222222"/>
                </a:solidFill>
                <a:latin typeface="Tw Cen MT"/>
              </a:rPr>
              <a:t>empresa</a:t>
            </a:r>
            <a:r>
              <a:rPr sz="2000" b="0" i="0" dirty="0">
                <a:solidFill>
                  <a:srgbClr val="222222"/>
                </a:solidFill>
                <a:latin typeface="Tw Cen MT"/>
              </a:rPr>
              <a:t>.</a:t>
            </a:r>
          </a:p>
          <a:p>
            <a:pPr algn="l">
              <a:spcBef>
                <a:spcPts val="500"/>
              </a:spcBef>
            </a:pPr>
            <a:endParaRPr lang="es-419" sz="2000" b="1" i="0" dirty="0">
              <a:solidFill>
                <a:srgbClr val="8B0000"/>
              </a:solidFill>
              <a:latin typeface="Tw Cen MT"/>
            </a:endParaRPr>
          </a:p>
          <a:p>
            <a:pPr algn="l">
              <a:spcBef>
                <a:spcPts val="500"/>
              </a:spcBef>
            </a:pPr>
            <a:r>
              <a:rPr sz="2000" b="1" i="0" dirty="0">
                <a:solidFill>
                  <a:srgbClr val="8B0000"/>
                </a:solidFill>
                <a:latin typeface="Tw Cen MT"/>
              </a:rPr>
              <a:t>5. PROBLEMA DEL CASH-FLOW LIBRE</a:t>
            </a:r>
          </a:p>
          <a:p>
            <a:pPr algn="l">
              <a:spcBef>
                <a:spcPts val="200"/>
              </a:spcBef>
            </a:pPr>
            <a:r>
              <a:rPr sz="2000" b="0" i="0" dirty="0">
                <a:solidFill>
                  <a:srgbClr val="222222"/>
                </a:solidFill>
                <a:latin typeface="Tw Cen MT"/>
              </a:rPr>
              <a:t>    ▸  </a:t>
            </a:r>
            <a:r>
              <a:rPr sz="2000" b="0" i="0" dirty="0" err="1">
                <a:solidFill>
                  <a:srgbClr val="222222"/>
                </a:solidFill>
                <a:latin typeface="Tw Cen MT"/>
              </a:rPr>
              <a:t>Tendencia</a:t>
            </a:r>
            <a:r>
              <a:rPr sz="2000" b="0" i="0" dirty="0">
                <a:solidFill>
                  <a:srgbClr val="222222"/>
                </a:solidFill>
                <a:latin typeface="Tw Cen MT"/>
              </a:rPr>
              <a:t> a </a:t>
            </a:r>
            <a:r>
              <a:rPr sz="2000" b="0" i="0" dirty="0" err="1">
                <a:solidFill>
                  <a:srgbClr val="222222"/>
                </a:solidFill>
                <a:latin typeface="Tw Cen MT"/>
              </a:rPr>
              <a:t>invertir</a:t>
            </a:r>
            <a:r>
              <a:rPr sz="2000" b="0" i="0" dirty="0">
                <a:solidFill>
                  <a:srgbClr val="222222"/>
                </a:solidFill>
                <a:latin typeface="Tw Cen MT"/>
              </a:rPr>
              <a:t> </a:t>
            </a:r>
            <a:r>
              <a:rPr sz="2000" b="0" i="0" dirty="0" err="1">
                <a:solidFill>
                  <a:srgbClr val="222222"/>
                </a:solidFill>
                <a:latin typeface="Tw Cen MT"/>
              </a:rPr>
              <a:t>excedentes</a:t>
            </a:r>
            <a:r>
              <a:rPr sz="2000" b="0" i="0" dirty="0">
                <a:solidFill>
                  <a:srgbClr val="222222"/>
                </a:solidFill>
                <a:latin typeface="Tw Cen MT"/>
              </a:rPr>
              <a:t> </a:t>
            </a:r>
            <a:r>
              <a:rPr sz="2000" b="0" i="0" dirty="0" err="1">
                <a:solidFill>
                  <a:srgbClr val="222222"/>
                </a:solidFill>
                <a:latin typeface="Tw Cen MT"/>
              </a:rPr>
              <a:t>en</a:t>
            </a:r>
            <a:r>
              <a:rPr sz="2000" b="0" i="0" dirty="0">
                <a:solidFill>
                  <a:srgbClr val="222222"/>
                </a:solidFill>
                <a:latin typeface="Tw Cen MT"/>
              </a:rPr>
              <a:t> </a:t>
            </a:r>
            <a:r>
              <a:rPr sz="2000" b="0" i="0" dirty="0" err="1">
                <a:solidFill>
                  <a:srgbClr val="222222"/>
                </a:solidFill>
                <a:latin typeface="Tw Cen MT"/>
              </a:rPr>
              <a:t>proyectos</a:t>
            </a:r>
            <a:r>
              <a:rPr sz="2000" b="0" i="0" dirty="0">
                <a:solidFill>
                  <a:srgbClr val="222222"/>
                </a:solidFill>
                <a:latin typeface="Tw Cen MT"/>
              </a:rPr>
              <a:t> </a:t>
            </a:r>
            <a:r>
              <a:rPr sz="2000" b="0" i="0" dirty="0" err="1">
                <a:solidFill>
                  <a:srgbClr val="222222"/>
                </a:solidFill>
                <a:latin typeface="Tw Cen MT"/>
              </a:rPr>
              <a:t>que</a:t>
            </a:r>
            <a:r>
              <a:rPr sz="2000" b="0" i="0" dirty="0">
                <a:solidFill>
                  <a:srgbClr val="222222"/>
                </a:solidFill>
                <a:latin typeface="Tw Cen MT"/>
              </a:rPr>
              <a:t> no </a:t>
            </a:r>
            <a:r>
              <a:rPr sz="2000" b="0" i="0" dirty="0" err="1">
                <a:solidFill>
                  <a:srgbClr val="222222"/>
                </a:solidFill>
                <a:latin typeface="Tw Cen MT"/>
              </a:rPr>
              <a:t>crean</a:t>
            </a:r>
            <a:r>
              <a:rPr sz="2000" b="0" i="0" dirty="0">
                <a:solidFill>
                  <a:srgbClr val="222222"/>
                </a:solidFill>
                <a:latin typeface="Tw Cen MT"/>
              </a:rPr>
              <a:t> valor para </a:t>
            </a:r>
            <a:r>
              <a:rPr sz="2000" b="0" i="0" dirty="0" err="1">
                <a:solidFill>
                  <a:srgbClr val="222222"/>
                </a:solidFill>
                <a:latin typeface="Tw Cen MT"/>
              </a:rPr>
              <a:t>los</a:t>
            </a:r>
            <a:r>
              <a:rPr sz="2000" b="0" i="0" dirty="0">
                <a:solidFill>
                  <a:srgbClr val="222222"/>
                </a:solidFill>
                <a:latin typeface="Tw Cen MT"/>
              </a:rPr>
              <a:t> </a:t>
            </a:r>
            <a:r>
              <a:rPr sz="2000" b="0" i="0" dirty="0" err="1">
                <a:solidFill>
                  <a:srgbClr val="222222"/>
                </a:solidFill>
                <a:latin typeface="Tw Cen MT"/>
              </a:rPr>
              <a:t>accionistas</a:t>
            </a:r>
            <a:r>
              <a:rPr sz="2000" b="0" i="0" dirty="0">
                <a:solidFill>
                  <a:srgbClr val="222222"/>
                </a:solidFill>
                <a:latin typeface="Tw Cen MT"/>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Distribución de Beneficios Residuales</a:t>
            </a:r>
          </a:p>
        </p:txBody>
      </p:sp>
      <p:sp>
        <p:nvSpPr>
          <p:cNvPr id="5" name="TextBox 4"/>
          <p:cNvSpPr txBox="1"/>
          <p:nvPr/>
        </p:nvSpPr>
        <p:spPr>
          <a:xfrm>
            <a:off x="406400" y="1219200"/>
            <a:ext cx="11379200" cy="5988819"/>
          </a:xfrm>
          <a:prstGeom prst="rect">
            <a:avLst/>
          </a:prstGeom>
          <a:noFill/>
        </p:spPr>
        <p:txBody>
          <a:bodyPr wrap="square">
            <a:spAutoFit/>
          </a:bodyPr>
          <a:lstStyle/>
          <a:p>
            <a:pPr algn="ctr">
              <a:spcBef>
                <a:spcPts val="500"/>
              </a:spcBef>
            </a:pPr>
            <a:r>
              <a:rPr sz="2400" b="1" i="0" dirty="0">
                <a:solidFill>
                  <a:srgbClr val="222222"/>
                </a:solidFill>
                <a:latin typeface="Tw Cen MT"/>
              </a:rPr>
              <a:t>La </a:t>
            </a:r>
            <a:r>
              <a:rPr sz="2400" b="1" i="0" dirty="0" err="1">
                <a:solidFill>
                  <a:srgbClr val="222222"/>
                </a:solidFill>
                <a:latin typeface="Tw Cen MT"/>
              </a:rPr>
              <a:t>empresa</a:t>
            </a:r>
            <a:r>
              <a:rPr sz="2400" b="1" i="0" dirty="0">
                <a:solidFill>
                  <a:srgbClr val="222222"/>
                </a:solidFill>
                <a:latin typeface="Tw Cen MT"/>
              </a:rPr>
              <a:t> es un punto focal para un conjunto de </a:t>
            </a:r>
            <a:r>
              <a:rPr sz="2400" b="1" i="0" dirty="0" err="1">
                <a:solidFill>
                  <a:srgbClr val="222222"/>
                </a:solidFill>
                <a:latin typeface="Tw Cen MT"/>
              </a:rPr>
              <a:t>contratos</a:t>
            </a:r>
            <a:r>
              <a:rPr sz="2400" b="1" i="0" dirty="0">
                <a:solidFill>
                  <a:srgbClr val="222222"/>
                </a:solidFill>
                <a:latin typeface="Tw Cen MT"/>
              </a:rPr>
              <a:t>. </a:t>
            </a:r>
            <a:endParaRPr lang="es-419" sz="2400" b="1" i="0" dirty="0">
              <a:solidFill>
                <a:srgbClr val="222222"/>
              </a:solidFill>
              <a:latin typeface="Tw Cen MT"/>
            </a:endParaRPr>
          </a:p>
          <a:p>
            <a:pPr algn="ctr">
              <a:spcBef>
                <a:spcPts val="500"/>
              </a:spcBef>
            </a:pPr>
            <a:r>
              <a:rPr sz="2400" b="1" i="0" dirty="0">
                <a:solidFill>
                  <a:srgbClr val="222222"/>
                </a:solidFill>
                <a:latin typeface="Tw Cen MT"/>
              </a:rPr>
              <a:t>¿</a:t>
            </a:r>
            <a:r>
              <a:rPr sz="2400" b="1" i="0" dirty="0" err="1">
                <a:solidFill>
                  <a:srgbClr val="222222"/>
                </a:solidFill>
                <a:latin typeface="Tw Cen MT"/>
              </a:rPr>
              <a:t>Quién</a:t>
            </a:r>
            <a:r>
              <a:rPr sz="2400" b="1" i="0" dirty="0">
                <a:solidFill>
                  <a:srgbClr val="222222"/>
                </a:solidFill>
                <a:latin typeface="Tw Cen MT"/>
              </a:rPr>
              <a:t> se </a:t>
            </a:r>
            <a:r>
              <a:rPr sz="2400" b="1" i="0" dirty="0" err="1">
                <a:solidFill>
                  <a:srgbClr val="222222"/>
                </a:solidFill>
                <a:latin typeface="Tw Cen MT"/>
              </a:rPr>
              <a:t>queda</a:t>
            </a:r>
            <a:r>
              <a:rPr sz="2400" b="1" i="0" dirty="0">
                <a:solidFill>
                  <a:srgbClr val="222222"/>
                </a:solidFill>
                <a:latin typeface="Tw Cen MT"/>
              </a:rPr>
              <a:t> con </a:t>
            </a:r>
            <a:r>
              <a:rPr sz="2400" b="1" i="0" dirty="0" err="1">
                <a:solidFill>
                  <a:srgbClr val="222222"/>
                </a:solidFill>
                <a:latin typeface="Tw Cen MT"/>
              </a:rPr>
              <a:t>los</a:t>
            </a:r>
            <a:r>
              <a:rPr sz="2400" b="1" i="0" dirty="0">
                <a:solidFill>
                  <a:srgbClr val="222222"/>
                </a:solidFill>
                <a:latin typeface="Tw Cen MT"/>
              </a:rPr>
              <a:t> </a:t>
            </a:r>
            <a:r>
              <a:rPr sz="2400" b="1" i="0" dirty="0" err="1">
                <a:solidFill>
                  <a:srgbClr val="222222"/>
                </a:solidFill>
                <a:latin typeface="Tw Cen MT"/>
              </a:rPr>
              <a:t>beneficios</a:t>
            </a:r>
            <a:r>
              <a:rPr sz="2400" b="1" i="0" dirty="0">
                <a:solidFill>
                  <a:srgbClr val="222222"/>
                </a:solidFill>
                <a:latin typeface="Tw Cen MT"/>
              </a:rPr>
              <a:t> </a:t>
            </a:r>
            <a:r>
              <a:rPr sz="2400" b="1" i="0" dirty="0" err="1">
                <a:solidFill>
                  <a:srgbClr val="222222"/>
                </a:solidFill>
                <a:latin typeface="Tw Cen MT"/>
              </a:rPr>
              <a:t>residuales</a:t>
            </a:r>
            <a:r>
              <a:rPr sz="2400" b="1" i="0" dirty="0">
                <a:solidFill>
                  <a:srgbClr val="222222"/>
                </a:solidFill>
                <a:latin typeface="Tw Cen MT"/>
              </a:rPr>
              <a:t>?</a:t>
            </a:r>
          </a:p>
          <a:p>
            <a:pPr algn="l">
              <a:spcBef>
                <a:spcPts val="500"/>
              </a:spcBef>
            </a:pPr>
            <a:endParaRPr lang="es-419" sz="2200" b="1" i="0" dirty="0">
              <a:solidFill>
                <a:srgbClr val="8B0000"/>
              </a:solidFill>
              <a:latin typeface="Tw Cen MT"/>
            </a:endParaRPr>
          </a:p>
          <a:p>
            <a:pPr algn="l">
              <a:spcBef>
                <a:spcPts val="500"/>
              </a:spcBef>
            </a:pPr>
            <a:r>
              <a:rPr sz="2200" b="1" i="0" dirty="0">
                <a:solidFill>
                  <a:srgbClr val="8B0000"/>
                </a:solidFill>
                <a:latin typeface="Tw Cen MT"/>
              </a:rPr>
              <a:t>DIFERENTES FORMAS ORGANIZACIONALES</a:t>
            </a:r>
          </a:p>
          <a:p>
            <a:pPr algn="l">
              <a:spcBef>
                <a:spcPts val="200"/>
              </a:spcBef>
            </a:pPr>
            <a:r>
              <a:rPr sz="2200" b="0" i="0" dirty="0">
                <a:solidFill>
                  <a:srgbClr val="222222"/>
                </a:solidFill>
                <a:latin typeface="Tw Cen MT"/>
              </a:rPr>
              <a:t>    ▸  Empresa unipersonal: </a:t>
            </a:r>
            <a:r>
              <a:rPr sz="2200" b="0" i="0" dirty="0" err="1">
                <a:solidFill>
                  <a:srgbClr val="222222"/>
                </a:solidFill>
                <a:latin typeface="Tw Cen MT"/>
              </a:rPr>
              <a:t>el</a:t>
            </a:r>
            <a:r>
              <a:rPr sz="2200" b="0" i="0" dirty="0">
                <a:solidFill>
                  <a:srgbClr val="222222"/>
                </a:solidFill>
                <a:latin typeface="Tw Cen MT"/>
              </a:rPr>
              <a:t> </a:t>
            </a:r>
            <a:r>
              <a:rPr sz="2200" b="0" i="0" dirty="0" err="1">
                <a:solidFill>
                  <a:srgbClr val="222222"/>
                </a:solidFill>
                <a:latin typeface="Tw Cen MT"/>
              </a:rPr>
              <a:t>propietario-gerente</a:t>
            </a:r>
            <a:r>
              <a:rPr sz="2200" b="0" i="0" dirty="0">
                <a:solidFill>
                  <a:srgbClr val="222222"/>
                </a:solidFill>
                <a:latin typeface="Tw Cen MT"/>
              </a:rPr>
              <a:t> es </a:t>
            </a:r>
            <a:r>
              <a:rPr sz="2200" b="0" i="0" dirty="0" err="1">
                <a:solidFill>
                  <a:srgbClr val="222222"/>
                </a:solidFill>
                <a:latin typeface="Tw Cen MT"/>
              </a:rPr>
              <a:t>el</a:t>
            </a:r>
            <a:r>
              <a:rPr sz="2200" b="0" i="0" dirty="0">
                <a:solidFill>
                  <a:srgbClr val="222222"/>
                </a:solidFill>
                <a:latin typeface="Tw Cen MT"/>
              </a:rPr>
              <a:t> </a:t>
            </a:r>
            <a:r>
              <a:rPr sz="2200" b="0" i="0" dirty="0" err="1">
                <a:solidFill>
                  <a:srgbClr val="222222"/>
                </a:solidFill>
                <a:latin typeface="Tw Cen MT"/>
              </a:rPr>
              <a:t>acreedor</a:t>
            </a:r>
            <a:r>
              <a:rPr sz="2200" b="0" i="0" dirty="0">
                <a:solidFill>
                  <a:srgbClr val="222222"/>
                </a:solidFill>
                <a:latin typeface="Tw Cen MT"/>
              </a:rPr>
              <a:t> residual.</a:t>
            </a:r>
          </a:p>
          <a:p>
            <a:pPr algn="l">
              <a:spcBef>
                <a:spcPts val="200"/>
              </a:spcBef>
            </a:pPr>
            <a:r>
              <a:rPr sz="2200" b="0" i="0" dirty="0">
                <a:solidFill>
                  <a:srgbClr val="222222"/>
                </a:solidFill>
                <a:latin typeface="Tw Cen MT"/>
              </a:rPr>
              <a:t>    ▸  </a:t>
            </a:r>
            <a:r>
              <a:rPr sz="2200" b="0" i="0" dirty="0" err="1">
                <a:solidFill>
                  <a:srgbClr val="222222"/>
                </a:solidFill>
                <a:latin typeface="Tw Cen MT"/>
              </a:rPr>
              <a:t>Estudio</a:t>
            </a:r>
            <a:r>
              <a:rPr sz="2200" b="0" i="0" dirty="0">
                <a:solidFill>
                  <a:srgbClr val="222222"/>
                </a:solidFill>
                <a:latin typeface="Tw Cen MT"/>
              </a:rPr>
              <a:t> de abogados/</a:t>
            </a:r>
            <a:r>
              <a:rPr sz="2200" b="0" i="0" dirty="0" err="1">
                <a:solidFill>
                  <a:srgbClr val="222222"/>
                </a:solidFill>
                <a:latin typeface="Tw Cen MT"/>
              </a:rPr>
              <a:t>contadores</a:t>
            </a:r>
            <a:r>
              <a:rPr sz="2200" b="0" i="0" dirty="0">
                <a:solidFill>
                  <a:srgbClr val="222222"/>
                </a:solidFill>
                <a:latin typeface="Tw Cen MT"/>
              </a:rPr>
              <a:t>: </a:t>
            </a:r>
            <a:r>
              <a:rPr sz="2200" b="0" i="0" dirty="0" err="1">
                <a:solidFill>
                  <a:srgbClr val="222222"/>
                </a:solidFill>
                <a:latin typeface="Tw Cen MT"/>
              </a:rPr>
              <a:t>los</a:t>
            </a:r>
            <a:r>
              <a:rPr sz="2200" b="0" i="0" dirty="0">
                <a:solidFill>
                  <a:srgbClr val="222222"/>
                </a:solidFill>
                <a:latin typeface="Tw Cen MT"/>
              </a:rPr>
              <a:t> </a:t>
            </a:r>
            <a:r>
              <a:rPr sz="2200" b="0" i="0" dirty="0" err="1">
                <a:solidFill>
                  <a:srgbClr val="222222"/>
                </a:solidFill>
                <a:latin typeface="Tw Cen MT"/>
              </a:rPr>
              <a:t>socios</a:t>
            </a:r>
            <a:r>
              <a:rPr sz="2200" b="0" i="0" dirty="0">
                <a:solidFill>
                  <a:srgbClr val="222222"/>
                </a:solidFill>
                <a:latin typeface="Tw Cen MT"/>
              </a:rPr>
              <a:t> </a:t>
            </a:r>
            <a:r>
              <a:rPr sz="2200" b="0" i="0" dirty="0" err="1">
                <a:solidFill>
                  <a:srgbClr val="222222"/>
                </a:solidFill>
                <a:latin typeface="Tw Cen MT"/>
              </a:rPr>
              <a:t>comparten</a:t>
            </a:r>
            <a:r>
              <a:rPr sz="2200" b="0" i="0" dirty="0">
                <a:solidFill>
                  <a:srgbClr val="222222"/>
                </a:solidFill>
                <a:latin typeface="Tw Cen MT"/>
              </a:rPr>
              <a:t> </a:t>
            </a:r>
            <a:r>
              <a:rPr sz="2200" b="0" i="0" dirty="0" err="1">
                <a:solidFill>
                  <a:srgbClr val="222222"/>
                </a:solidFill>
                <a:latin typeface="Tw Cen MT"/>
              </a:rPr>
              <a:t>los</a:t>
            </a:r>
            <a:r>
              <a:rPr sz="2200" b="0" i="0" dirty="0">
                <a:solidFill>
                  <a:srgbClr val="222222"/>
                </a:solidFill>
                <a:latin typeface="Tw Cen MT"/>
              </a:rPr>
              <a:t> derechos.</a:t>
            </a:r>
          </a:p>
          <a:p>
            <a:pPr algn="l">
              <a:spcBef>
                <a:spcPts val="200"/>
              </a:spcBef>
            </a:pPr>
            <a:r>
              <a:rPr sz="2200" b="0" i="0" dirty="0">
                <a:solidFill>
                  <a:srgbClr val="222222"/>
                </a:solidFill>
                <a:latin typeface="Tw Cen MT"/>
              </a:rPr>
              <a:t>    ▸  Sociedad </a:t>
            </a:r>
            <a:r>
              <a:rPr sz="2200" b="0" i="0" dirty="0" err="1">
                <a:solidFill>
                  <a:srgbClr val="222222"/>
                </a:solidFill>
                <a:latin typeface="Tw Cen MT"/>
              </a:rPr>
              <a:t>anónima</a:t>
            </a:r>
            <a:r>
              <a:rPr sz="2200" b="0" i="0" dirty="0">
                <a:solidFill>
                  <a:srgbClr val="222222"/>
                </a:solidFill>
                <a:latin typeface="Tw Cen MT"/>
              </a:rPr>
              <a:t> </a:t>
            </a:r>
            <a:r>
              <a:rPr sz="2200" b="0" i="0" dirty="0" err="1">
                <a:solidFill>
                  <a:srgbClr val="222222"/>
                </a:solidFill>
                <a:latin typeface="Tw Cen MT"/>
              </a:rPr>
              <a:t>cotizante</a:t>
            </a:r>
            <a:r>
              <a:rPr sz="2200" b="0" i="0" dirty="0">
                <a:solidFill>
                  <a:srgbClr val="222222"/>
                </a:solidFill>
                <a:latin typeface="Tw Cen MT"/>
              </a:rPr>
              <a:t>: miles de </a:t>
            </a:r>
            <a:r>
              <a:rPr sz="2200" b="0" i="0" dirty="0" err="1">
                <a:solidFill>
                  <a:srgbClr val="222222"/>
                </a:solidFill>
                <a:latin typeface="Tw Cen MT"/>
              </a:rPr>
              <a:t>accionistas</a:t>
            </a:r>
            <a:r>
              <a:rPr sz="2200" b="0" i="0" dirty="0">
                <a:solidFill>
                  <a:srgbClr val="222222"/>
                </a:solidFill>
                <a:latin typeface="Tw Cen MT"/>
              </a:rPr>
              <a:t> con poco </a:t>
            </a:r>
            <a:r>
              <a:rPr sz="2200" b="0" i="0" dirty="0" err="1">
                <a:solidFill>
                  <a:srgbClr val="222222"/>
                </a:solidFill>
                <a:latin typeface="Tw Cen MT"/>
              </a:rPr>
              <a:t>interés</a:t>
            </a:r>
            <a:r>
              <a:rPr sz="2200" b="0" i="0" dirty="0">
                <a:solidFill>
                  <a:srgbClr val="222222"/>
                </a:solidFill>
                <a:latin typeface="Tw Cen MT"/>
              </a:rPr>
              <a:t> </a:t>
            </a:r>
            <a:r>
              <a:rPr sz="2200" b="0" i="0" dirty="0" err="1">
                <a:solidFill>
                  <a:srgbClr val="222222"/>
                </a:solidFill>
                <a:latin typeface="Tw Cen MT"/>
              </a:rPr>
              <a:t>directo</a:t>
            </a:r>
            <a:r>
              <a:rPr sz="2200" b="0" i="0" dirty="0">
                <a:solidFill>
                  <a:srgbClr val="222222"/>
                </a:solidFill>
                <a:latin typeface="Tw Cen MT"/>
              </a:rPr>
              <a:t> </a:t>
            </a:r>
            <a:r>
              <a:rPr sz="2200" b="0" i="0" dirty="0" err="1">
                <a:solidFill>
                  <a:srgbClr val="222222"/>
                </a:solidFill>
                <a:latin typeface="Tw Cen MT"/>
              </a:rPr>
              <a:t>en</a:t>
            </a:r>
            <a:r>
              <a:rPr sz="2200" b="0" i="0" dirty="0">
                <a:solidFill>
                  <a:srgbClr val="222222"/>
                </a:solidFill>
                <a:latin typeface="Tw Cen MT"/>
              </a:rPr>
              <a:t> </a:t>
            </a:r>
            <a:r>
              <a:rPr sz="2200" b="0" i="0" dirty="0" err="1">
                <a:solidFill>
                  <a:srgbClr val="222222"/>
                </a:solidFill>
                <a:latin typeface="Tw Cen MT"/>
              </a:rPr>
              <a:t>gestionar</a:t>
            </a:r>
            <a:r>
              <a:rPr sz="2200" b="0" i="0" dirty="0">
                <a:solidFill>
                  <a:srgbClr val="222222"/>
                </a:solidFill>
                <a:latin typeface="Tw Cen MT"/>
              </a:rPr>
              <a:t>.</a:t>
            </a:r>
          </a:p>
          <a:p>
            <a:pPr algn="l">
              <a:spcBef>
                <a:spcPts val="200"/>
              </a:spcBef>
            </a:pPr>
            <a:r>
              <a:rPr sz="2200" b="0" i="0" dirty="0">
                <a:solidFill>
                  <a:srgbClr val="222222"/>
                </a:solidFill>
                <a:latin typeface="Tw Cen MT"/>
              </a:rPr>
              <a:t>    ▸  Cooperativa: derechos de </a:t>
            </a:r>
            <a:r>
              <a:rPr sz="2200" b="0" i="0" dirty="0" err="1">
                <a:solidFill>
                  <a:srgbClr val="222222"/>
                </a:solidFill>
                <a:latin typeface="Tw Cen MT"/>
              </a:rPr>
              <a:t>trabajadores</a:t>
            </a:r>
            <a:r>
              <a:rPr sz="2200" b="0" i="0" dirty="0">
                <a:solidFill>
                  <a:srgbClr val="222222"/>
                </a:solidFill>
                <a:latin typeface="Tw Cen MT"/>
              </a:rPr>
              <a:t> y derechos de </a:t>
            </a:r>
            <a:r>
              <a:rPr sz="2200" b="0" i="0" dirty="0" err="1">
                <a:solidFill>
                  <a:srgbClr val="222222"/>
                </a:solidFill>
                <a:latin typeface="Tw Cen MT"/>
              </a:rPr>
              <a:t>propiedad</a:t>
            </a:r>
            <a:r>
              <a:rPr sz="2200" b="0" i="0" dirty="0">
                <a:solidFill>
                  <a:srgbClr val="222222"/>
                </a:solidFill>
                <a:latin typeface="Tw Cen MT"/>
              </a:rPr>
              <a:t> </a:t>
            </a:r>
            <a:r>
              <a:rPr sz="2200" b="0" i="0" dirty="0" err="1">
                <a:solidFill>
                  <a:srgbClr val="222222"/>
                </a:solidFill>
                <a:latin typeface="Tw Cen MT"/>
              </a:rPr>
              <a:t>coinciden</a:t>
            </a:r>
            <a:r>
              <a:rPr sz="2200" b="0" i="0" dirty="0">
                <a:solidFill>
                  <a:srgbClr val="222222"/>
                </a:solidFill>
                <a:latin typeface="Tw Cen MT"/>
              </a:rPr>
              <a:t>.</a:t>
            </a:r>
          </a:p>
          <a:p>
            <a:pPr algn="l">
              <a:spcBef>
                <a:spcPts val="200"/>
              </a:spcBef>
            </a:pPr>
            <a:r>
              <a:rPr sz="2200" b="0" i="0" dirty="0">
                <a:solidFill>
                  <a:srgbClr val="222222"/>
                </a:solidFill>
                <a:latin typeface="Tw Cen MT"/>
              </a:rPr>
              <a:t>    ▸  Organización sin fines de </a:t>
            </a:r>
            <a:r>
              <a:rPr sz="2200" b="0" i="0" dirty="0" err="1">
                <a:solidFill>
                  <a:srgbClr val="222222"/>
                </a:solidFill>
                <a:latin typeface="Tw Cen MT"/>
              </a:rPr>
              <a:t>lucro</a:t>
            </a:r>
            <a:r>
              <a:rPr sz="2200" b="0" i="0" dirty="0">
                <a:solidFill>
                  <a:srgbClr val="222222"/>
                </a:solidFill>
                <a:latin typeface="Tw Cen MT"/>
              </a:rPr>
              <a:t>: no hay </a:t>
            </a:r>
            <a:r>
              <a:rPr sz="2200" b="0" i="0" dirty="0" err="1">
                <a:solidFill>
                  <a:srgbClr val="222222"/>
                </a:solidFill>
                <a:latin typeface="Tw Cen MT"/>
              </a:rPr>
              <a:t>propietarios</a:t>
            </a:r>
            <a:r>
              <a:rPr sz="2200" b="0" i="0" dirty="0">
                <a:solidFill>
                  <a:srgbClr val="222222"/>
                </a:solidFill>
                <a:latin typeface="Tw Cen MT"/>
              </a:rPr>
              <a:t> de </a:t>
            </a:r>
            <a:r>
              <a:rPr sz="2200" b="0" i="0" dirty="0" err="1">
                <a:solidFill>
                  <a:srgbClr val="222222"/>
                </a:solidFill>
                <a:latin typeface="Tw Cen MT"/>
              </a:rPr>
              <a:t>flujos</a:t>
            </a:r>
            <a:r>
              <a:rPr sz="2200" b="0" i="0" dirty="0">
                <a:solidFill>
                  <a:srgbClr val="222222"/>
                </a:solidFill>
                <a:latin typeface="Tw Cen MT"/>
              </a:rPr>
              <a:t> </a:t>
            </a:r>
            <a:r>
              <a:rPr sz="2200" b="0" i="0" dirty="0" err="1">
                <a:solidFill>
                  <a:srgbClr val="222222"/>
                </a:solidFill>
                <a:latin typeface="Tw Cen MT"/>
              </a:rPr>
              <a:t>residuales</a:t>
            </a:r>
            <a:r>
              <a:rPr sz="2200" b="0" i="0" dirty="0">
                <a:solidFill>
                  <a:srgbClr val="222222"/>
                </a:solidFill>
                <a:latin typeface="Tw Cen MT"/>
              </a:rPr>
              <a:t>.</a:t>
            </a:r>
            <a:endParaRPr lang="es-419" sz="2200" b="0" i="0" dirty="0">
              <a:solidFill>
                <a:srgbClr val="222222"/>
              </a:solidFill>
              <a:latin typeface="Tw Cen MT"/>
            </a:endParaRPr>
          </a:p>
          <a:p>
            <a:pPr algn="l">
              <a:spcBef>
                <a:spcPts val="200"/>
              </a:spcBef>
            </a:pPr>
            <a:endParaRPr lang="es-419" sz="2200" dirty="0">
              <a:solidFill>
                <a:srgbClr val="222222"/>
              </a:solidFill>
              <a:latin typeface="Tw Cen MT"/>
            </a:endParaRPr>
          </a:p>
          <a:p>
            <a:pPr algn="ctr">
              <a:spcBef>
                <a:spcPts val="500"/>
              </a:spcBef>
            </a:pPr>
            <a:r>
              <a:rPr sz="2400" b="1" i="0" dirty="0">
                <a:solidFill>
                  <a:srgbClr val="222222"/>
                </a:solidFill>
                <a:latin typeface="Tw Cen MT"/>
              </a:rPr>
              <a:t>En </a:t>
            </a:r>
            <a:r>
              <a:rPr sz="2400" b="1" i="0" dirty="0" err="1">
                <a:solidFill>
                  <a:srgbClr val="222222"/>
                </a:solidFill>
                <a:latin typeface="Tw Cen MT"/>
              </a:rPr>
              <a:t>todas</a:t>
            </a:r>
            <a:r>
              <a:rPr sz="2400" b="1" i="0" dirty="0">
                <a:solidFill>
                  <a:srgbClr val="222222"/>
                </a:solidFill>
                <a:latin typeface="Tw Cen MT"/>
              </a:rPr>
              <a:t>: </a:t>
            </a:r>
            <a:endParaRPr lang="es-419" sz="2400" b="1" i="0" dirty="0">
              <a:solidFill>
                <a:srgbClr val="222222"/>
              </a:solidFill>
              <a:latin typeface="Tw Cen MT"/>
            </a:endParaRPr>
          </a:p>
          <a:p>
            <a:pPr marL="342900" indent="-342900" algn="ctr">
              <a:spcBef>
                <a:spcPts val="500"/>
              </a:spcBef>
              <a:buFont typeface="Arial" panose="020B0604020202020204" pitchFamily="34" charset="0"/>
              <a:buChar char="•"/>
            </a:pPr>
            <a:r>
              <a:rPr sz="2400" b="1" i="0" dirty="0">
                <a:solidFill>
                  <a:srgbClr val="222222"/>
                </a:solidFill>
                <a:latin typeface="Tw Cen MT"/>
              </a:rPr>
              <a:t>la </a:t>
            </a:r>
            <a:r>
              <a:rPr sz="2400" b="1" i="0" dirty="0" err="1">
                <a:solidFill>
                  <a:srgbClr val="222222"/>
                </a:solidFill>
                <a:latin typeface="Tw Cen MT"/>
              </a:rPr>
              <a:t>autoridad</a:t>
            </a:r>
            <a:r>
              <a:rPr sz="2400" b="1" i="0" dirty="0">
                <a:solidFill>
                  <a:srgbClr val="222222"/>
                </a:solidFill>
                <a:latin typeface="Tw Cen MT"/>
              </a:rPr>
              <a:t> de </a:t>
            </a:r>
            <a:r>
              <a:rPr lang="es-419" sz="2400" b="1" i="0" dirty="0">
                <a:solidFill>
                  <a:srgbClr val="222222"/>
                </a:solidFill>
                <a:latin typeface="Tw Cen MT"/>
              </a:rPr>
              <a:t>decisión</a:t>
            </a:r>
            <a:r>
              <a:rPr sz="2400" b="1" i="0" dirty="0">
                <a:solidFill>
                  <a:srgbClr val="222222"/>
                </a:solidFill>
                <a:latin typeface="Tw Cen MT"/>
              </a:rPr>
              <a:t> </a:t>
            </a:r>
            <a:r>
              <a:rPr sz="2400" b="1" i="0" dirty="0" err="1">
                <a:solidFill>
                  <a:srgbClr val="222222"/>
                </a:solidFill>
                <a:latin typeface="Tw Cen MT"/>
              </a:rPr>
              <a:t>está</a:t>
            </a:r>
            <a:r>
              <a:rPr sz="2400" b="1" i="0" dirty="0">
                <a:solidFill>
                  <a:srgbClr val="222222"/>
                </a:solidFill>
                <a:latin typeface="Tw Cen MT"/>
              </a:rPr>
              <a:t> </a:t>
            </a:r>
            <a:r>
              <a:rPr sz="2400" b="1" i="0" dirty="0" err="1">
                <a:solidFill>
                  <a:srgbClr val="222222"/>
                </a:solidFill>
                <a:latin typeface="Tw Cen MT"/>
              </a:rPr>
              <a:t>delegada</a:t>
            </a:r>
            <a:r>
              <a:rPr sz="2400" b="1" i="0" dirty="0">
                <a:solidFill>
                  <a:srgbClr val="222222"/>
                </a:solidFill>
                <a:latin typeface="Tw Cen MT"/>
              </a:rPr>
              <a:t> a </a:t>
            </a:r>
            <a:r>
              <a:rPr sz="2400" b="1" i="0" dirty="0" err="1">
                <a:solidFill>
                  <a:srgbClr val="222222"/>
                </a:solidFill>
                <a:latin typeface="Tw Cen MT"/>
              </a:rPr>
              <a:t>gerentes</a:t>
            </a:r>
            <a:r>
              <a:rPr sz="2400" b="1" i="0" dirty="0">
                <a:solidFill>
                  <a:srgbClr val="222222"/>
                </a:solidFill>
                <a:latin typeface="Tw Cen MT"/>
              </a:rPr>
              <a:t> con </a:t>
            </a:r>
            <a:r>
              <a:rPr sz="2400" b="1" i="0" dirty="0" err="1">
                <a:solidFill>
                  <a:srgbClr val="222222"/>
                </a:solidFill>
                <a:latin typeface="Tw Cen MT"/>
              </a:rPr>
              <a:t>poca</a:t>
            </a:r>
            <a:r>
              <a:rPr sz="2400" b="1" i="0" dirty="0">
                <a:solidFill>
                  <a:srgbClr val="222222"/>
                </a:solidFill>
                <a:latin typeface="Tw Cen MT"/>
              </a:rPr>
              <a:t> o </a:t>
            </a:r>
            <a:r>
              <a:rPr sz="2400" b="1" i="0" dirty="0" err="1">
                <a:solidFill>
                  <a:srgbClr val="222222"/>
                </a:solidFill>
                <a:latin typeface="Tw Cen MT"/>
              </a:rPr>
              <a:t>ninguna</a:t>
            </a:r>
            <a:r>
              <a:rPr sz="2400" b="1" i="0" dirty="0">
                <a:solidFill>
                  <a:srgbClr val="222222"/>
                </a:solidFill>
                <a:latin typeface="Tw Cen MT"/>
              </a:rPr>
              <a:t> </a:t>
            </a:r>
            <a:r>
              <a:rPr sz="2400" b="1" i="0" dirty="0" err="1">
                <a:solidFill>
                  <a:srgbClr val="222222"/>
                </a:solidFill>
                <a:latin typeface="Tw Cen MT"/>
              </a:rPr>
              <a:t>propiedad</a:t>
            </a:r>
            <a:r>
              <a:rPr sz="2400" b="1" i="0" dirty="0">
                <a:solidFill>
                  <a:srgbClr val="222222"/>
                </a:solidFill>
                <a:latin typeface="Tw Cen MT"/>
              </a:rPr>
              <a:t>.</a:t>
            </a:r>
            <a:endParaRPr lang="es-419" sz="2400" b="1" i="0" dirty="0">
              <a:solidFill>
                <a:srgbClr val="222222"/>
              </a:solidFill>
              <a:latin typeface="Tw Cen MT"/>
            </a:endParaRPr>
          </a:p>
          <a:p>
            <a:pPr marL="342900" indent="-342900" algn="ctr">
              <a:spcBef>
                <a:spcPts val="500"/>
              </a:spcBef>
              <a:buFont typeface="Arial" panose="020B0604020202020204" pitchFamily="34" charset="0"/>
              <a:buChar char="•"/>
            </a:pPr>
            <a:r>
              <a:rPr lang="es-419" sz="2400" b="1" dirty="0">
                <a:solidFill>
                  <a:srgbClr val="222222"/>
                </a:solidFill>
                <a:latin typeface="Tw Cen MT"/>
              </a:rPr>
              <a:t>La forma en que se reparten los derechos </a:t>
            </a:r>
            <a:r>
              <a:rPr lang="es-419" sz="2400" b="1" dirty="0" err="1">
                <a:solidFill>
                  <a:srgbClr val="222222"/>
                </a:solidFill>
                <a:latin typeface="Tw Cen MT"/>
              </a:rPr>
              <a:t>reciduales</a:t>
            </a:r>
            <a:r>
              <a:rPr lang="es-419" sz="2400" b="1" dirty="0">
                <a:solidFill>
                  <a:srgbClr val="222222"/>
                </a:solidFill>
                <a:latin typeface="Tw Cen MT"/>
              </a:rPr>
              <a:t>, puede provocar conflictos de </a:t>
            </a:r>
            <a:r>
              <a:rPr lang="es-419" sz="2400" b="1" dirty="0" err="1">
                <a:solidFill>
                  <a:srgbClr val="222222"/>
                </a:solidFill>
                <a:latin typeface="Tw Cen MT"/>
              </a:rPr>
              <a:t>interes</a:t>
            </a:r>
            <a:r>
              <a:rPr lang="es-419" sz="2400" b="1" dirty="0">
                <a:solidFill>
                  <a:srgbClr val="222222"/>
                </a:solidFill>
                <a:latin typeface="Tw Cen MT"/>
              </a:rPr>
              <a:t>,.</a:t>
            </a:r>
            <a:endParaRPr lang="es-419" sz="2400" b="1" i="0" dirty="0">
              <a:solidFill>
                <a:srgbClr val="222222"/>
              </a:solidFill>
              <a:latin typeface="Tw Cen MT"/>
            </a:endParaRPr>
          </a:p>
          <a:p>
            <a:pPr marL="342900" indent="-342900" algn="ctr">
              <a:spcBef>
                <a:spcPts val="500"/>
              </a:spcBef>
              <a:buFont typeface="Arial" panose="020B0604020202020204" pitchFamily="34" charset="0"/>
              <a:buChar char="•"/>
            </a:pPr>
            <a:endParaRPr sz="2400" b="1" i="0" dirty="0">
              <a:solidFill>
                <a:srgbClr val="222222"/>
              </a:solidFill>
              <a:latin typeface="Tw Cen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Otros Conflictos</a:t>
            </a:r>
          </a:p>
        </p:txBody>
      </p:sp>
      <p:sp>
        <p:nvSpPr>
          <p:cNvPr id="5" name="TextBox 4"/>
          <p:cNvSpPr txBox="1"/>
          <p:nvPr/>
        </p:nvSpPr>
        <p:spPr>
          <a:xfrm>
            <a:off x="406400" y="1219200"/>
            <a:ext cx="11379200" cy="5609228"/>
          </a:xfrm>
          <a:prstGeom prst="rect">
            <a:avLst/>
          </a:prstGeom>
          <a:noFill/>
        </p:spPr>
        <p:txBody>
          <a:bodyPr wrap="square">
            <a:spAutoFit/>
          </a:bodyPr>
          <a:lstStyle/>
          <a:p>
            <a:pPr algn="l">
              <a:spcBef>
                <a:spcPts val="500"/>
              </a:spcBef>
            </a:pPr>
            <a:r>
              <a:rPr sz="2800" b="1" i="0" dirty="0">
                <a:solidFill>
                  <a:srgbClr val="8B0000"/>
                </a:solidFill>
                <a:latin typeface="Tw Cen MT"/>
              </a:rPr>
              <a:t>ACREEDORES vs. ACCIONISTAS</a:t>
            </a:r>
          </a:p>
          <a:p>
            <a:pPr algn="l">
              <a:spcBef>
                <a:spcPts val="200"/>
              </a:spcBef>
            </a:pPr>
            <a:r>
              <a:rPr sz="2800" b="0" i="0" dirty="0">
                <a:solidFill>
                  <a:srgbClr val="222222"/>
                </a:solidFill>
                <a:latin typeface="Tw Cen MT"/>
              </a:rPr>
              <a:t>    ▸  </a:t>
            </a:r>
            <a:r>
              <a:rPr sz="2800" b="0" i="0" dirty="0" err="1">
                <a:solidFill>
                  <a:srgbClr val="222222"/>
                </a:solidFill>
                <a:latin typeface="Tw Cen MT"/>
              </a:rPr>
              <a:t>Disputas</a:t>
            </a:r>
            <a:r>
              <a:rPr sz="2800" b="0" i="0" dirty="0">
                <a:solidFill>
                  <a:srgbClr val="222222"/>
                </a:solidFill>
                <a:latin typeface="Tw Cen MT"/>
              </a:rPr>
              <a:t> </a:t>
            </a:r>
            <a:r>
              <a:rPr sz="2800" b="0" i="0" dirty="0" err="1">
                <a:solidFill>
                  <a:srgbClr val="222222"/>
                </a:solidFill>
                <a:latin typeface="Tw Cen MT"/>
              </a:rPr>
              <a:t>sobre</a:t>
            </a:r>
            <a:r>
              <a:rPr sz="2800" b="0" i="0" dirty="0">
                <a:solidFill>
                  <a:srgbClr val="222222"/>
                </a:solidFill>
                <a:latin typeface="Tw Cen MT"/>
              </a:rPr>
              <a:t> </a:t>
            </a:r>
            <a:r>
              <a:rPr sz="2800" b="0" i="0" dirty="0" err="1">
                <a:solidFill>
                  <a:srgbClr val="222222"/>
                </a:solidFill>
                <a:latin typeface="Tw Cen MT"/>
              </a:rPr>
              <a:t>políticas</a:t>
            </a:r>
            <a:r>
              <a:rPr sz="2800" b="0" i="0" dirty="0">
                <a:solidFill>
                  <a:srgbClr val="222222"/>
                </a:solidFill>
                <a:latin typeface="Tw Cen MT"/>
              </a:rPr>
              <a:t> </a:t>
            </a:r>
            <a:r>
              <a:rPr sz="2800" b="0" i="0" dirty="0" err="1">
                <a:solidFill>
                  <a:srgbClr val="222222"/>
                </a:solidFill>
                <a:latin typeface="Tw Cen MT"/>
              </a:rPr>
              <a:t>óptimas</a:t>
            </a:r>
            <a:r>
              <a:rPr sz="2800" b="0" i="0" dirty="0">
                <a:solidFill>
                  <a:srgbClr val="222222"/>
                </a:solidFill>
                <a:latin typeface="Tw Cen MT"/>
              </a:rPr>
              <a:t> de </a:t>
            </a:r>
            <a:r>
              <a:rPr sz="2800" b="0" i="0" dirty="0" err="1">
                <a:solidFill>
                  <a:srgbClr val="222222"/>
                </a:solidFill>
                <a:latin typeface="Tw Cen MT"/>
              </a:rPr>
              <a:t>dividendos</a:t>
            </a:r>
            <a:r>
              <a:rPr sz="2800" b="0" i="0" dirty="0">
                <a:solidFill>
                  <a:srgbClr val="222222"/>
                </a:solidFill>
                <a:latin typeface="Tw Cen MT"/>
              </a:rPr>
              <a:t>, </a:t>
            </a:r>
            <a:r>
              <a:rPr sz="2800" b="0" i="0" dirty="0" err="1">
                <a:solidFill>
                  <a:srgbClr val="222222"/>
                </a:solidFill>
                <a:latin typeface="Tw Cen MT"/>
              </a:rPr>
              <a:t>financiamiento</a:t>
            </a:r>
            <a:r>
              <a:rPr sz="2800" b="0" i="0" dirty="0">
                <a:solidFill>
                  <a:srgbClr val="222222"/>
                </a:solidFill>
                <a:latin typeface="Tw Cen MT"/>
              </a:rPr>
              <a:t> e </a:t>
            </a:r>
            <a:r>
              <a:rPr sz="2800" b="0" i="0" dirty="0" err="1">
                <a:solidFill>
                  <a:srgbClr val="222222"/>
                </a:solidFill>
                <a:latin typeface="Tw Cen MT"/>
              </a:rPr>
              <a:t>inversión</a:t>
            </a:r>
            <a:r>
              <a:rPr sz="2800" b="0" i="0" dirty="0">
                <a:solidFill>
                  <a:srgbClr val="222222"/>
                </a:solidFill>
                <a:latin typeface="Tw Cen MT"/>
              </a:rPr>
              <a:t>.</a:t>
            </a:r>
            <a:endParaRPr lang="es-419" sz="2800" b="0" i="0" dirty="0">
              <a:solidFill>
                <a:srgbClr val="222222"/>
              </a:solidFill>
              <a:latin typeface="Tw Cen MT"/>
            </a:endParaRPr>
          </a:p>
          <a:p>
            <a:pPr algn="l">
              <a:spcBef>
                <a:spcPts val="200"/>
              </a:spcBef>
            </a:pPr>
            <a:endParaRPr sz="2800" b="0" i="0" dirty="0">
              <a:solidFill>
                <a:srgbClr val="222222"/>
              </a:solidFill>
              <a:latin typeface="Tw Cen MT"/>
            </a:endParaRPr>
          </a:p>
          <a:p>
            <a:pPr algn="l">
              <a:spcBef>
                <a:spcPts val="500"/>
              </a:spcBef>
            </a:pPr>
            <a:r>
              <a:rPr sz="2800" b="1" i="0" dirty="0">
                <a:solidFill>
                  <a:srgbClr val="8B0000"/>
                </a:solidFill>
                <a:latin typeface="Tw Cen MT"/>
              </a:rPr>
              <a:t>EMPRESAS vs. CLIENTES</a:t>
            </a:r>
          </a:p>
          <a:p>
            <a:pPr algn="l">
              <a:spcBef>
                <a:spcPts val="200"/>
              </a:spcBef>
            </a:pPr>
            <a:r>
              <a:rPr sz="2800" b="0" i="0" dirty="0">
                <a:solidFill>
                  <a:srgbClr val="222222"/>
                </a:solidFill>
                <a:latin typeface="Tw Cen MT"/>
              </a:rPr>
              <a:t>    ▸  </a:t>
            </a:r>
            <a:r>
              <a:rPr sz="2800" b="0" i="0" dirty="0" err="1">
                <a:solidFill>
                  <a:srgbClr val="222222"/>
                </a:solidFill>
                <a:latin typeface="Tw Cen MT"/>
              </a:rPr>
              <a:t>Incentivos</a:t>
            </a:r>
            <a:r>
              <a:rPr sz="2800" b="0" i="0" dirty="0">
                <a:solidFill>
                  <a:srgbClr val="222222"/>
                </a:solidFill>
                <a:latin typeface="Tw Cen MT"/>
              </a:rPr>
              <a:t> para </a:t>
            </a:r>
            <a:r>
              <a:rPr sz="2800" b="0" i="0" dirty="0" err="1">
                <a:solidFill>
                  <a:srgbClr val="222222"/>
                </a:solidFill>
                <a:latin typeface="Tw Cen MT"/>
              </a:rPr>
              <a:t>incumplir</a:t>
            </a:r>
            <a:r>
              <a:rPr sz="2800" b="0" i="0" dirty="0">
                <a:solidFill>
                  <a:srgbClr val="222222"/>
                </a:solidFill>
                <a:latin typeface="Tw Cen MT"/>
              </a:rPr>
              <a:t> </a:t>
            </a:r>
            <a:r>
              <a:rPr sz="2800" b="0" i="0" dirty="0" err="1">
                <a:solidFill>
                  <a:srgbClr val="222222"/>
                </a:solidFill>
                <a:latin typeface="Tw Cen MT"/>
              </a:rPr>
              <a:t>contratos</a:t>
            </a:r>
            <a:r>
              <a:rPr sz="2800" b="0" i="0" dirty="0">
                <a:solidFill>
                  <a:srgbClr val="222222"/>
                </a:solidFill>
                <a:latin typeface="Tw Cen MT"/>
              </a:rPr>
              <a:t> y/o </a:t>
            </a:r>
            <a:r>
              <a:rPr sz="2800" b="0" i="0" dirty="0" err="1">
                <a:solidFill>
                  <a:srgbClr val="222222"/>
                </a:solidFill>
                <a:latin typeface="Tw Cen MT"/>
              </a:rPr>
              <a:t>garantías</a:t>
            </a:r>
            <a:r>
              <a:rPr sz="2800" b="0" i="0" dirty="0">
                <a:solidFill>
                  <a:srgbClr val="222222"/>
                </a:solidFill>
                <a:latin typeface="Tw Cen MT"/>
              </a:rPr>
              <a:t>.</a:t>
            </a:r>
            <a:endParaRPr lang="es-419" sz="2800" b="0" i="0" dirty="0">
              <a:solidFill>
                <a:srgbClr val="222222"/>
              </a:solidFill>
              <a:latin typeface="Tw Cen MT"/>
            </a:endParaRPr>
          </a:p>
          <a:p>
            <a:pPr algn="l">
              <a:spcBef>
                <a:spcPts val="200"/>
              </a:spcBef>
            </a:pPr>
            <a:endParaRPr sz="2800" b="0" i="0" dirty="0">
              <a:solidFill>
                <a:srgbClr val="222222"/>
              </a:solidFill>
              <a:latin typeface="Tw Cen MT"/>
            </a:endParaRPr>
          </a:p>
          <a:p>
            <a:pPr algn="l">
              <a:spcBef>
                <a:spcPts val="500"/>
              </a:spcBef>
            </a:pPr>
            <a:r>
              <a:rPr sz="2800" b="1" i="0" dirty="0">
                <a:solidFill>
                  <a:srgbClr val="8B0000"/>
                </a:solidFill>
                <a:latin typeface="Tw Cen MT"/>
              </a:rPr>
              <a:t>GERENTES vs. SINDICATOS</a:t>
            </a:r>
          </a:p>
          <a:p>
            <a:pPr algn="l">
              <a:spcBef>
                <a:spcPts val="200"/>
              </a:spcBef>
            </a:pPr>
            <a:r>
              <a:rPr sz="2800" b="0" i="0" dirty="0">
                <a:solidFill>
                  <a:srgbClr val="222222"/>
                </a:solidFill>
                <a:latin typeface="Tw Cen MT"/>
              </a:rPr>
              <a:t>    ▸  </a:t>
            </a:r>
            <a:r>
              <a:rPr sz="2800" b="0" i="0" dirty="0" err="1">
                <a:solidFill>
                  <a:srgbClr val="222222"/>
                </a:solidFill>
                <a:latin typeface="Tw Cen MT"/>
              </a:rPr>
              <a:t>Negociación</a:t>
            </a:r>
            <a:r>
              <a:rPr sz="2800" b="0" i="0" dirty="0">
                <a:solidFill>
                  <a:srgbClr val="222222"/>
                </a:solidFill>
                <a:latin typeface="Tw Cen MT"/>
              </a:rPr>
              <a:t> </a:t>
            </a:r>
            <a:r>
              <a:rPr sz="2800" b="0" i="0" dirty="0" err="1">
                <a:solidFill>
                  <a:srgbClr val="222222"/>
                </a:solidFill>
                <a:latin typeface="Tw Cen MT"/>
              </a:rPr>
              <a:t>permanente</a:t>
            </a:r>
            <a:r>
              <a:rPr sz="2800" b="0" i="0" dirty="0">
                <a:solidFill>
                  <a:srgbClr val="222222"/>
                </a:solidFill>
                <a:latin typeface="Tw Cen MT"/>
              </a:rPr>
              <a:t> </a:t>
            </a:r>
            <a:r>
              <a:rPr sz="2800" b="0" i="0" dirty="0" err="1">
                <a:solidFill>
                  <a:srgbClr val="222222"/>
                </a:solidFill>
                <a:latin typeface="Tw Cen MT"/>
              </a:rPr>
              <a:t>sobre</a:t>
            </a:r>
            <a:r>
              <a:rPr sz="2800" b="0" i="0" dirty="0">
                <a:solidFill>
                  <a:srgbClr val="222222"/>
                </a:solidFill>
                <a:latin typeface="Tw Cen MT"/>
              </a:rPr>
              <a:t> </a:t>
            </a:r>
            <a:r>
              <a:rPr sz="2800" b="0" i="0" dirty="0" err="1">
                <a:solidFill>
                  <a:srgbClr val="222222"/>
                </a:solidFill>
                <a:latin typeface="Tw Cen MT"/>
              </a:rPr>
              <a:t>condiciones</a:t>
            </a:r>
            <a:r>
              <a:rPr sz="2800" b="0" i="0" dirty="0">
                <a:solidFill>
                  <a:srgbClr val="222222"/>
                </a:solidFill>
                <a:latin typeface="Tw Cen MT"/>
              </a:rPr>
              <a:t> </a:t>
            </a:r>
            <a:r>
              <a:rPr sz="2800" b="0" i="0" dirty="0" err="1">
                <a:solidFill>
                  <a:srgbClr val="222222"/>
                </a:solidFill>
                <a:latin typeface="Tw Cen MT"/>
              </a:rPr>
              <a:t>laborales</a:t>
            </a:r>
            <a:r>
              <a:rPr sz="2800" b="0" i="0" dirty="0">
                <a:solidFill>
                  <a:srgbClr val="222222"/>
                </a:solidFill>
                <a:latin typeface="Tw Cen MT"/>
              </a:rPr>
              <a:t>, </a:t>
            </a:r>
            <a:r>
              <a:rPr sz="2800" b="0" i="0" dirty="0" err="1">
                <a:solidFill>
                  <a:srgbClr val="222222"/>
                </a:solidFill>
                <a:latin typeface="Tw Cen MT"/>
              </a:rPr>
              <a:t>salarios</a:t>
            </a:r>
            <a:r>
              <a:rPr sz="2800" b="0" i="0" dirty="0">
                <a:solidFill>
                  <a:srgbClr val="222222"/>
                </a:solidFill>
                <a:latin typeface="Tw Cen MT"/>
              </a:rPr>
              <a:t> y </a:t>
            </a:r>
            <a:r>
              <a:rPr sz="2800" b="0" i="0" dirty="0" err="1">
                <a:solidFill>
                  <a:srgbClr val="222222"/>
                </a:solidFill>
                <a:latin typeface="Tw Cen MT"/>
              </a:rPr>
              <a:t>beneficios</a:t>
            </a:r>
            <a:r>
              <a:rPr sz="2800" b="0" i="0" dirty="0">
                <a:solidFill>
                  <a:srgbClr val="222222"/>
                </a:solidFill>
                <a:latin typeface="Tw Cen MT"/>
              </a:rPr>
              <a:t>.</a:t>
            </a:r>
            <a:endParaRPr lang="es-419" sz="2800" b="0" i="0" dirty="0">
              <a:solidFill>
                <a:srgbClr val="222222"/>
              </a:solidFill>
              <a:latin typeface="Tw Cen MT"/>
            </a:endParaRPr>
          </a:p>
          <a:p>
            <a:pPr algn="l">
              <a:spcBef>
                <a:spcPts val="200"/>
              </a:spcBef>
            </a:pPr>
            <a:endParaRPr sz="2800" b="0" i="0" dirty="0">
              <a:solidFill>
                <a:srgbClr val="222222"/>
              </a:solidFill>
              <a:latin typeface="Tw Cen MT"/>
            </a:endParaRPr>
          </a:p>
          <a:p>
            <a:pPr algn="l">
              <a:spcBef>
                <a:spcPts val="500"/>
              </a:spcBef>
            </a:pPr>
            <a:r>
              <a:rPr sz="2800" b="1" i="0" dirty="0">
                <a:solidFill>
                  <a:srgbClr val="8B0000"/>
                </a:solidFill>
                <a:latin typeface="Tw Cen MT"/>
              </a:rPr>
              <a:t>FREE RIDER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71144"/>
            <a:ext cx="12192000" cy="68580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Caso: Halliburton — El Contrato de Costo Más Beneficio</a:t>
            </a:r>
          </a:p>
        </p:txBody>
      </p:sp>
      <p:sp>
        <p:nvSpPr>
          <p:cNvPr id="6" name="TextBox 5"/>
          <p:cNvSpPr txBox="1"/>
          <p:nvPr/>
        </p:nvSpPr>
        <p:spPr>
          <a:xfrm>
            <a:off x="6801492" y="6647336"/>
            <a:ext cx="4984108" cy="464230"/>
          </a:xfrm>
          <a:prstGeom prst="rect">
            <a:avLst/>
          </a:prstGeom>
          <a:noFill/>
        </p:spPr>
        <p:txBody>
          <a:bodyPr wrap="square">
            <a:spAutoFit/>
          </a:bodyPr>
          <a:lstStyle/>
          <a:p>
            <a:pPr algn="l">
              <a:spcBef>
                <a:spcPts val="500"/>
              </a:spcBef>
            </a:pPr>
            <a:endParaRPr sz="1000" i="0" dirty="0">
              <a:solidFill>
                <a:srgbClr val="E8F0FF"/>
              </a:solidFill>
              <a:latin typeface="Tw Cen MT"/>
            </a:endParaRPr>
          </a:p>
          <a:p>
            <a:pPr algn="r">
              <a:spcBef>
                <a:spcPts val="500"/>
              </a:spcBef>
            </a:pPr>
            <a:r>
              <a:rPr sz="1000" b="0" i="0" dirty="0">
                <a:solidFill>
                  <a:srgbClr val="E8F0FF"/>
                </a:solidFill>
                <a:latin typeface="Tw Cen MT"/>
              </a:rPr>
              <a:t>Fuente: N. King Jr. (2004), Wall Street Journal</a:t>
            </a:r>
          </a:p>
        </p:txBody>
      </p:sp>
      <p:sp>
        <p:nvSpPr>
          <p:cNvPr id="9" name="Shape 6">
            <a:extLst>
              <a:ext uri="{FF2B5EF4-FFF2-40B4-BE49-F238E27FC236}">
                <a16:creationId xmlns:a16="http://schemas.microsoft.com/office/drawing/2014/main" id="{897C049C-3527-6A7B-88DF-5DDF5A6EEFA7}"/>
              </a:ext>
            </a:extLst>
          </p:cNvPr>
          <p:cNvSpPr/>
          <p:nvPr/>
        </p:nvSpPr>
        <p:spPr>
          <a:xfrm>
            <a:off x="341376" y="1414856"/>
            <a:ext cx="3535680" cy="5443144"/>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dirty="0">
              <a:latin typeface="Tw Cen MT" panose="020B0602020104020603" pitchFamily="34" charset="0"/>
            </a:endParaRPr>
          </a:p>
        </p:txBody>
      </p:sp>
      <p:sp>
        <p:nvSpPr>
          <p:cNvPr id="11" name="Text 8">
            <a:extLst>
              <a:ext uri="{FF2B5EF4-FFF2-40B4-BE49-F238E27FC236}">
                <a16:creationId xmlns:a16="http://schemas.microsoft.com/office/drawing/2014/main" id="{916D3657-681A-E4EE-EF80-CAF418DB6A9F}"/>
              </a:ext>
            </a:extLst>
          </p:cNvPr>
          <p:cNvSpPr/>
          <p:nvPr/>
        </p:nvSpPr>
        <p:spPr>
          <a:xfrm>
            <a:off x="195072" y="1457528"/>
            <a:ext cx="3535680" cy="463296"/>
          </a:xfrm>
          <a:prstGeom prst="rect">
            <a:avLst/>
          </a:prstGeom>
          <a:noFill/>
          <a:ln/>
        </p:spPr>
        <p:txBody>
          <a:bodyPr wrap="square" lIns="0" tIns="0" rIns="0" bIns="0" rtlCol="0" anchor="ctr"/>
          <a:lstStyle/>
          <a:p>
            <a:pPr algn="ctr"/>
            <a:r>
              <a:rPr lang="en-US" sz="2000" b="1" dirty="0">
                <a:solidFill>
                  <a:srgbClr val="E8A020"/>
                </a:solidFill>
              </a:rPr>
              <a:t>EL CONTRATO</a:t>
            </a:r>
            <a:endParaRPr lang="en-US" sz="2000" dirty="0"/>
          </a:p>
        </p:txBody>
      </p:sp>
      <p:sp>
        <p:nvSpPr>
          <p:cNvPr id="12" name="Text 9">
            <a:extLst>
              <a:ext uri="{FF2B5EF4-FFF2-40B4-BE49-F238E27FC236}">
                <a16:creationId xmlns:a16="http://schemas.microsoft.com/office/drawing/2014/main" id="{4B8A305A-AADA-AC40-FAA0-94A79809B7AE}"/>
              </a:ext>
            </a:extLst>
          </p:cNvPr>
          <p:cNvSpPr/>
          <p:nvPr/>
        </p:nvSpPr>
        <p:spPr>
          <a:xfrm>
            <a:off x="406400" y="1996148"/>
            <a:ext cx="3243072" cy="3230880"/>
          </a:xfrm>
          <a:prstGeom prst="rect">
            <a:avLst/>
          </a:prstGeom>
          <a:noFill/>
          <a:ln/>
        </p:spPr>
        <p:txBody>
          <a:bodyPr wrap="square" lIns="0" tIns="0" rIns="0" bIns="0" rtlCol="0" anchor="t"/>
          <a:lstStyle/>
          <a:p>
            <a:r>
              <a:rPr lang="en-US" sz="2000" dirty="0">
                <a:solidFill>
                  <a:srgbClr val="CADCFC"/>
                </a:solidFill>
                <a:latin typeface="Tw Cen MT" panose="020B0602020104020603" pitchFamily="34" charset="0"/>
              </a:rPr>
              <a:t>Tras la invasión de Irak (2003), el ejército de EE.UU. contrató a </a:t>
            </a:r>
            <a:r>
              <a:rPr lang="en-US" sz="2000" b="1" dirty="0">
                <a:solidFill>
                  <a:srgbClr val="FFFFFF"/>
                </a:solidFill>
                <a:latin typeface="Tw Cen MT" panose="020B0602020104020603" pitchFamily="34" charset="0"/>
              </a:rPr>
              <a:t>Halliburton</a:t>
            </a:r>
            <a:r>
              <a:rPr lang="en-US" sz="2000" dirty="0">
                <a:solidFill>
                  <a:srgbClr val="CADCFC"/>
                </a:solidFill>
                <a:latin typeface="Tw Cen MT" panose="020B0602020104020603" pitchFamily="34" charset="0"/>
              </a:rPr>
              <a:t> para proveer combustible a las tropas desplegadas en zona de guerra.</a:t>
            </a:r>
            <a:endParaRPr lang="en-US" sz="2000" dirty="0">
              <a:latin typeface="Tw Cen MT" panose="020B0602020104020603" pitchFamily="34" charset="0"/>
            </a:endParaRPr>
          </a:p>
          <a:p>
            <a:endParaRPr lang="en-US" sz="2000" dirty="0">
              <a:latin typeface="Tw Cen MT" panose="020B0602020104020603" pitchFamily="34" charset="0"/>
            </a:endParaRPr>
          </a:p>
          <a:p>
            <a:endParaRPr lang="en-US" sz="2000" dirty="0">
              <a:latin typeface="Tw Cen MT" panose="020B0602020104020603" pitchFamily="34" charset="0"/>
            </a:endParaRPr>
          </a:p>
          <a:p>
            <a:r>
              <a:rPr lang="en-US" sz="2000" b="1" dirty="0">
                <a:solidFill>
                  <a:srgbClr val="E8A020"/>
                </a:solidFill>
                <a:latin typeface="Tw Cen MT" panose="020B0602020104020603" pitchFamily="34" charset="0"/>
              </a:rPr>
              <a:t>Esquema:</a:t>
            </a:r>
            <a:endParaRPr lang="en-US" sz="2000" dirty="0">
              <a:latin typeface="Tw Cen MT" panose="020B0602020104020603" pitchFamily="34" charset="0"/>
            </a:endParaRPr>
          </a:p>
          <a:p>
            <a:endParaRPr lang="en-US" sz="2000" dirty="0">
              <a:latin typeface="Tw Cen MT" panose="020B0602020104020603" pitchFamily="34" charset="0"/>
            </a:endParaRPr>
          </a:p>
          <a:p>
            <a:r>
              <a:rPr lang="en-US" sz="2000" dirty="0">
                <a:solidFill>
                  <a:srgbClr val="CADCFC"/>
                </a:solidFill>
                <a:latin typeface="Tw Cen MT" panose="020B0602020104020603" pitchFamily="34" charset="0"/>
              </a:rPr>
              <a:t>Contrato de tipo </a:t>
            </a:r>
            <a:endParaRPr lang="en-US" sz="2000" dirty="0">
              <a:latin typeface="Tw Cen MT" panose="020B0602020104020603" pitchFamily="34" charset="0"/>
            </a:endParaRPr>
          </a:p>
          <a:p>
            <a:r>
              <a:rPr lang="en-US" sz="2000" b="1" i="1" dirty="0">
                <a:solidFill>
                  <a:srgbClr val="FFFFFF"/>
                </a:solidFill>
                <a:latin typeface="Tw Cen MT" panose="020B0602020104020603" pitchFamily="34" charset="0"/>
              </a:rPr>
              <a:t>cost-plus</a:t>
            </a:r>
            <a:r>
              <a:rPr lang="en-US" sz="2000" dirty="0">
                <a:solidFill>
                  <a:srgbClr val="CADCFC"/>
                </a:solidFill>
                <a:latin typeface="Tw Cen MT" panose="020B0602020104020603" pitchFamily="34" charset="0"/>
              </a:rPr>
              <a:t>: el gobierno pagaba el costo total más un </a:t>
            </a:r>
            <a:r>
              <a:rPr lang="en-US" sz="2000" b="1" dirty="0">
                <a:solidFill>
                  <a:srgbClr val="E8A020"/>
                </a:solidFill>
                <a:latin typeface="Tw Cen MT" panose="020B0602020104020603" pitchFamily="34" charset="0"/>
              </a:rPr>
              <a:t>1% de beneficio</a:t>
            </a:r>
            <a:r>
              <a:rPr lang="en-US" sz="2000" dirty="0">
                <a:solidFill>
                  <a:srgbClr val="CADCFC"/>
                </a:solidFill>
                <a:latin typeface="Tw Cen MT" panose="020B0602020104020603" pitchFamily="34" charset="0"/>
              </a:rPr>
              <a:t> sobre ese valor. Cuanto mayor era el costo declarado, mayor la ganancia.</a:t>
            </a:r>
            <a:endParaRPr lang="en-US" sz="2000" dirty="0">
              <a:latin typeface="Tw Cen MT" panose="020B0602020104020603" pitchFamily="34" charset="0"/>
            </a:endParaRPr>
          </a:p>
        </p:txBody>
      </p:sp>
      <p:sp>
        <p:nvSpPr>
          <p:cNvPr id="13" name="Shape 10">
            <a:extLst>
              <a:ext uri="{FF2B5EF4-FFF2-40B4-BE49-F238E27FC236}">
                <a16:creationId xmlns:a16="http://schemas.microsoft.com/office/drawing/2014/main" id="{B625B266-6A95-0932-6BC7-948C1B8216EA}"/>
              </a:ext>
            </a:extLst>
          </p:cNvPr>
          <p:cNvSpPr/>
          <p:nvPr/>
        </p:nvSpPr>
        <p:spPr>
          <a:xfrm>
            <a:off x="4169664" y="1414856"/>
            <a:ext cx="3535680" cy="5443144"/>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dirty="0">
              <a:latin typeface="Tw Cen MT" panose="020B0602020104020603" pitchFamily="34" charset="0"/>
            </a:endParaRPr>
          </a:p>
        </p:txBody>
      </p:sp>
      <p:sp>
        <p:nvSpPr>
          <p:cNvPr id="15" name="Text 12">
            <a:extLst>
              <a:ext uri="{FF2B5EF4-FFF2-40B4-BE49-F238E27FC236}">
                <a16:creationId xmlns:a16="http://schemas.microsoft.com/office/drawing/2014/main" id="{CB4F2C07-DFB5-0F11-6135-8A3B4769D5CE}"/>
              </a:ext>
            </a:extLst>
          </p:cNvPr>
          <p:cNvSpPr/>
          <p:nvPr/>
        </p:nvSpPr>
        <p:spPr>
          <a:xfrm>
            <a:off x="4072128" y="1493520"/>
            <a:ext cx="3535680" cy="463296"/>
          </a:xfrm>
          <a:prstGeom prst="rect">
            <a:avLst/>
          </a:prstGeom>
          <a:noFill/>
          <a:ln/>
        </p:spPr>
        <p:txBody>
          <a:bodyPr wrap="square" lIns="0" tIns="0" rIns="0" bIns="0" rtlCol="0" anchor="ctr"/>
          <a:lstStyle/>
          <a:p>
            <a:pPr algn="ctr"/>
            <a:r>
              <a:rPr lang="en-US" sz="2000" b="1" dirty="0">
                <a:solidFill>
                  <a:srgbClr val="C0392B"/>
                </a:solidFill>
              </a:rPr>
              <a:t>EL PROBLEMA</a:t>
            </a:r>
            <a:endParaRPr lang="en-US" sz="2000" dirty="0"/>
          </a:p>
        </p:txBody>
      </p:sp>
      <p:sp>
        <p:nvSpPr>
          <p:cNvPr id="16" name="Text 13">
            <a:extLst>
              <a:ext uri="{FF2B5EF4-FFF2-40B4-BE49-F238E27FC236}">
                <a16:creationId xmlns:a16="http://schemas.microsoft.com/office/drawing/2014/main" id="{E2EE2AE0-5D6B-1EA1-42BA-4B3FA30C6838}"/>
              </a:ext>
            </a:extLst>
          </p:cNvPr>
          <p:cNvSpPr/>
          <p:nvPr/>
        </p:nvSpPr>
        <p:spPr>
          <a:xfrm>
            <a:off x="4315968" y="2156203"/>
            <a:ext cx="3243072" cy="3230880"/>
          </a:xfrm>
          <a:prstGeom prst="rect">
            <a:avLst/>
          </a:prstGeom>
          <a:noFill/>
          <a:ln/>
        </p:spPr>
        <p:txBody>
          <a:bodyPr wrap="square" lIns="0" tIns="0" rIns="0" bIns="0" rtlCol="0" anchor="t"/>
          <a:lstStyle/>
          <a:p>
            <a:r>
              <a:rPr lang="en-US" b="1" dirty="0">
                <a:solidFill>
                  <a:srgbClr val="C0392B"/>
                </a:solidFill>
              </a:rPr>
              <a:t>Incentivo perverso:</a:t>
            </a:r>
            <a:endParaRPr lang="en-US" dirty="0"/>
          </a:p>
          <a:p>
            <a:r>
              <a:rPr lang="en-US" dirty="0">
                <a:solidFill>
                  <a:srgbClr val="CADCFC"/>
                </a:solidFill>
              </a:rPr>
              <a:t>los contratos cost-plus brindan pocos incentivos para controlar costos. Cuanto más altos son, mayores las ganancias del proveedor.</a:t>
            </a:r>
            <a:endParaRPr lang="en-US" dirty="0"/>
          </a:p>
          <a:p>
            <a:endParaRPr lang="en-US" dirty="0"/>
          </a:p>
          <a:p>
            <a:r>
              <a:rPr lang="en-US" b="1" dirty="0">
                <a:solidFill>
                  <a:srgbClr val="C0392B"/>
                </a:solidFill>
              </a:rPr>
              <a:t>Sobreprecio documentado:</a:t>
            </a:r>
            <a:endParaRPr lang="en-US" dirty="0"/>
          </a:p>
          <a:p>
            <a:r>
              <a:rPr lang="en-US" dirty="0">
                <a:solidFill>
                  <a:srgbClr val="CADCFC"/>
                </a:solidFill>
              </a:rPr>
              <a:t>los investigadores del Pentágono acusaron a Halliburton de comprar gasolina a </a:t>
            </a:r>
            <a:r>
              <a:rPr lang="en-US" b="1" dirty="0">
                <a:solidFill>
                  <a:srgbClr val="FFFFFF"/>
                </a:solidFill>
              </a:rPr>
              <a:t>casi el doble del valor de mercado</a:t>
            </a:r>
            <a:r>
              <a:rPr lang="en-US" dirty="0">
                <a:solidFill>
                  <a:srgbClr val="CADCFC"/>
                </a:solidFill>
              </a:rPr>
              <a:t>.</a:t>
            </a:r>
            <a:endParaRPr lang="en-US" dirty="0"/>
          </a:p>
          <a:p>
            <a:endParaRPr lang="en-US" dirty="0"/>
          </a:p>
          <a:p>
            <a:r>
              <a:rPr lang="en-US" b="1" dirty="0">
                <a:solidFill>
                  <a:srgbClr val="C0392B"/>
                </a:solidFill>
              </a:rPr>
              <a:t>Conflicto de interés:</a:t>
            </a:r>
            <a:endParaRPr lang="en-US" dirty="0"/>
          </a:p>
          <a:p>
            <a:r>
              <a:rPr lang="en-US" dirty="0">
                <a:solidFill>
                  <a:srgbClr val="CADCFC"/>
                </a:solidFill>
              </a:rPr>
              <a:t>el Vicepresidente Dick Cheney había sido CEO de Halliburton hasta el año 2000.</a:t>
            </a:r>
            <a:endParaRPr lang="en-US" dirty="0"/>
          </a:p>
        </p:txBody>
      </p:sp>
      <p:sp>
        <p:nvSpPr>
          <p:cNvPr id="17" name="Shape 14">
            <a:extLst>
              <a:ext uri="{FF2B5EF4-FFF2-40B4-BE49-F238E27FC236}">
                <a16:creationId xmlns:a16="http://schemas.microsoft.com/office/drawing/2014/main" id="{70D82C87-03AC-98A9-88FE-B34EF3A38DA7}"/>
              </a:ext>
            </a:extLst>
          </p:cNvPr>
          <p:cNvSpPr/>
          <p:nvPr/>
        </p:nvSpPr>
        <p:spPr>
          <a:xfrm>
            <a:off x="7985760" y="1257618"/>
            <a:ext cx="3535680" cy="5443144"/>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dirty="0">
              <a:latin typeface="Tw Cen MT" panose="020B0602020104020603" pitchFamily="34" charset="0"/>
            </a:endParaRPr>
          </a:p>
        </p:txBody>
      </p:sp>
      <p:sp>
        <p:nvSpPr>
          <p:cNvPr id="19" name="Text 16">
            <a:extLst>
              <a:ext uri="{FF2B5EF4-FFF2-40B4-BE49-F238E27FC236}">
                <a16:creationId xmlns:a16="http://schemas.microsoft.com/office/drawing/2014/main" id="{9C60444A-78B8-0518-489D-DB024E3CE039}"/>
              </a:ext>
            </a:extLst>
          </p:cNvPr>
          <p:cNvSpPr/>
          <p:nvPr/>
        </p:nvSpPr>
        <p:spPr>
          <a:xfrm>
            <a:off x="7985760" y="1462339"/>
            <a:ext cx="3535680" cy="463296"/>
          </a:xfrm>
          <a:prstGeom prst="rect">
            <a:avLst/>
          </a:prstGeom>
          <a:noFill/>
          <a:ln/>
        </p:spPr>
        <p:txBody>
          <a:bodyPr wrap="square" lIns="0" tIns="0" rIns="0" bIns="0" rtlCol="0" anchor="ctr"/>
          <a:lstStyle/>
          <a:p>
            <a:pPr algn="ctr"/>
            <a:r>
              <a:rPr lang="en-US" sz="2000" b="1" dirty="0">
                <a:solidFill>
                  <a:srgbClr val="2ECC71"/>
                </a:solidFill>
              </a:rPr>
              <a:t>RESOLUCIÓN</a:t>
            </a:r>
            <a:endParaRPr lang="en-US" sz="2000" dirty="0"/>
          </a:p>
        </p:txBody>
      </p:sp>
      <p:sp>
        <p:nvSpPr>
          <p:cNvPr id="20" name="Text 17">
            <a:extLst>
              <a:ext uri="{FF2B5EF4-FFF2-40B4-BE49-F238E27FC236}">
                <a16:creationId xmlns:a16="http://schemas.microsoft.com/office/drawing/2014/main" id="{B895FB28-FFF0-9599-DC6A-EBC39EF8E502}"/>
              </a:ext>
            </a:extLst>
          </p:cNvPr>
          <p:cNvSpPr/>
          <p:nvPr/>
        </p:nvSpPr>
        <p:spPr>
          <a:xfrm>
            <a:off x="8159736" y="2086287"/>
            <a:ext cx="3243072" cy="3230880"/>
          </a:xfrm>
          <a:prstGeom prst="rect">
            <a:avLst/>
          </a:prstGeom>
          <a:noFill/>
          <a:ln/>
        </p:spPr>
        <p:txBody>
          <a:bodyPr wrap="square" lIns="0" tIns="0" rIns="0" bIns="0" rtlCol="0" anchor="t"/>
          <a:lstStyle/>
          <a:p>
            <a:r>
              <a:rPr lang="en-US" b="1" dirty="0">
                <a:solidFill>
                  <a:srgbClr val="2ECC71"/>
                </a:solidFill>
              </a:rPr>
              <a:t>Investigación:</a:t>
            </a:r>
            <a:endParaRPr lang="en-US" dirty="0"/>
          </a:p>
          <a:p>
            <a:r>
              <a:rPr lang="en-US" dirty="0">
                <a:solidFill>
                  <a:srgbClr val="CADCFC"/>
                </a:solidFill>
              </a:rPr>
              <a:t>Los auditores del Pentágono identificaron los sobrecostos y presentaron sus hallazgos formalmente.</a:t>
            </a:r>
            <a:endParaRPr lang="en-US" dirty="0"/>
          </a:p>
          <a:p>
            <a:endParaRPr lang="en-US" dirty="0"/>
          </a:p>
          <a:p>
            <a:r>
              <a:rPr lang="en-US" b="1" dirty="0">
                <a:solidFill>
                  <a:srgbClr val="2ECC71"/>
                </a:solidFill>
              </a:rPr>
              <a:t>Resultado:</a:t>
            </a:r>
            <a:endParaRPr lang="en-US" dirty="0"/>
          </a:p>
          <a:p>
            <a:r>
              <a:rPr lang="en-US" dirty="0">
                <a:solidFill>
                  <a:srgbClr val="CADCFC"/>
                </a:solidFill>
              </a:rPr>
              <a:t>Halliburton fue objeto de </a:t>
            </a:r>
            <a:r>
              <a:rPr lang="en-US" dirty="0" err="1">
                <a:solidFill>
                  <a:srgbClr val="CADCFC"/>
                </a:solidFill>
              </a:rPr>
              <a:t>una</a:t>
            </a:r>
            <a:r>
              <a:rPr lang="en-US" dirty="0">
                <a:solidFill>
                  <a:srgbClr val="CADCFC"/>
                </a:solidFill>
              </a:rPr>
              <a:t> </a:t>
            </a:r>
            <a:r>
              <a:rPr lang="en-US" dirty="0" err="1">
                <a:solidFill>
                  <a:srgbClr val="CADCFC"/>
                </a:solidFill>
              </a:rPr>
              <a:t>interpelación</a:t>
            </a:r>
            <a:r>
              <a:rPr lang="en-US" dirty="0">
                <a:solidFill>
                  <a:srgbClr val="CADCFC"/>
                </a:solidFill>
              </a:rPr>
              <a:t> </a:t>
            </a:r>
            <a:r>
              <a:rPr lang="en-US" dirty="0" err="1">
                <a:solidFill>
                  <a:srgbClr val="CADCFC"/>
                </a:solidFill>
              </a:rPr>
              <a:t>parlamentaria</a:t>
            </a:r>
            <a:r>
              <a:rPr lang="en-US" dirty="0">
                <a:solidFill>
                  <a:srgbClr val="CADCFC"/>
                </a:solidFill>
              </a:rPr>
              <a:t> y </a:t>
            </a:r>
            <a:r>
              <a:rPr lang="en-US" dirty="0" err="1">
                <a:solidFill>
                  <a:srgbClr val="CADCFC"/>
                </a:solidFill>
              </a:rPr>
              <a:t>mediática</a:t>
            </a:r>
            <a:r>
              <a:rPr lang="en-US" dirty="0">
                <a:solidFill>
                  <a:srgbClr val="CADCFC"/>
                </a:solidFill>
              </a:rPr>
              <a:t>, pero </a:t>
            </a:r>
            <a:r>
              <a:rPr lang="en-US" b="1" dirty="0">
                <a:solidFill>
                  <a:srgbClr val="FFFFFF"/>
                </a:solidFill>
              </a:rPr>
              <a:t>no enfrentó sanciones penales</a:t>
            </a:r>
            <a:r>
              <a:rPr lang="en-US" dirty="0">
                <a:solidFill>
                  <a:srgbClr val="CADCFC"/>
                </a:solidFill>
              </a:rPr>
              <a:t> formales.</a:t>
            </a:r>
            <a:endParaRPr lang="en-US" dirty="0"/>
          </a:p>
          <a:p>
            <a:endParaRPr lang="en-US" dirty="0"/>
          </a:p>
          <a:p>
            <a:r>
              <a:rPr lang="en-US" b="1" dirty="0">
                <a:solidFill>
                  <a:srgbClr val="2ECC71"/>
                </a:solidFill>
              </a:rPr>
              <a:t>Legado:</a:t>
            </a:r>
            <a:endParaRPr lang="en-US" dirty="0"/>
          </a:p>
          <a:p>
            <a:r>
              <a:rPr lang="en-US" dirty="0">
                <a:solidFill>
                  <a:srgbClr val="CADCFC"/>
                </a:solidFill>
              </a:rPr>
              <a:t>El caso se convirtió en referencia clásica del problema de agencia en contratos gubernamentales.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BDCB7-4393-8CB6-8734-9687E0B1F3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9BDE5AD-A4B0-4FE2-6D66-09D1FF392A84}"/>
              </a:ext>
            </a:extLst>
          </p:cNvPr>
          <p:cNvSpPr/>
          <p:nvPr/>
        </p:nvSpPr>
        <p:spPr>
          <a:xfrm>
            <a:off x="0" y="871144"/>
            <a:ext cx="12192000" cy="68580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E8035196-58CC-00AC-EA42-350FC9E6B505}"/>
              </a:ext>
            </a:extLst>
          </p:cNvPr>
          <p:cNvSpPr/>
          <p:nvPr/>
        </p:nvSpPr>
        <p:spPr>
          <a:xfrm>
            <a:off x="0" y="0"/>
            <a:ext cx="12192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80680011-791C-6111-9194-F2B38E782750}"/>
              </a:ext>
            </a:extLst>
          </p:cNvPr>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ABBB41A-9804-2B3C-5E11-AE4BCCE6D3C0}"/>
              </a:ext>
            </a:extLst>
          </p:cNvPr>
          <p:cNvSpPr txBox="1"/>
          <p:nvPr/>
        </p:nvSpPr>
        <p:spPr>
          <a:xfrm>
            <a:off x="406400" y="152400"/>
            <a:ext cx="11379200" cy="762000"/>
          </a:xfrm>
          <a:prstGeom prst="rect">
            <a:avLst/>
          </a:prstGeom>
          <a:noFill/>
        </p:spPr>
        <p:txBody>
          <a:bodyPr wrap="square" anchor="ctr"/>
          <a:lstStyle/>
          <a:p>
            <a:r>
              <a:rPr lang="en-US" sz="2800" b="1" dirty="0">
                <a:solidFill>
                  <a:srgbClr val="FFFFFF"/>
                </a:solidFill>
              </a:rPr>
              <a:t>Lockheed Martin / U.S. Navy</a:t>
            </a:r>
            <a:endParaRPr lang="en-US" sz="2800" dirty="0"/>
          </a:p>
        </p:txBody>
      </p:sp>
      <p:sp>
        <p:nvSpPr>
          <p:cNvPr id="9" name="Shape 6">
            <a:extLst>
              <a:ext uri="{FF2B5EF4-FFF2-40B4-BE49-F238E27FC236}">
                <a16:creationId xmlns:a16="http://schemas.microsoft.com/office/drawing/2014/main" id="{8C5C3491-F8E2-2F94-301C-3C5B6C598091}"/>
              </a:ext>
            </a:extLst>
          </p:cNvPr>
          <p:cNvSpPr/>
          <p:nvPr/>
        </p:nvSpPr>
        <p:spPr>
          <a:xfrm>
            <a:off x="341376" y="1414856"/>
            <a:ext cx="3535680" cy="5443144"/>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dirty="0">
              <a:latin typeface="Tw Cen MT" panose="020B0602020104020603" pitchFamily="34" charset="0"/>
            </a:endParaRPr>
          </a:p>
        </p:txBody>
      </p:sp>
      <p:sp>
        <p:nvSpPr>
          <p:cNvPr id="11" name="Text 8">
            <a:extLst>
              <a:ext uri="{FF2B5EF4-FFF2-40B4-BE49-F238E27FC236}">
                <a16:creationId xmlns:a16="http://schemas.microsoft.com/office/drawing/2014/main" id="{AF1BB3ED-C154-6E53-C830-0DD2AB0719EB}"/>
              </a:ext>
            </a:extLst>
          </p:cNvPr>
          <p:cNvSpPr/>
          <p:nvPr/>
        </p:nvSpPr>
        <p:spPr>
          <a:xfrm>
            <a:off x="195072" y="1457528"/>
            <a:ext cx="3535680" cy="463296"/>
          </a:xfrm>
          <a:prstGeom prst="rect">
            <a:avLst/>
          </a:prstGeom>
          <a:noFill/>
          <a:ln/>
        </p:spPr>
        <p:txBody>
          <a:bodyPr wrap="square" lIns="0" tIns="0" rIns="0" bIns="0" rtlCol="0" anchor="ctr"/>
          <a:lstStyle/>
          <a:p>
            <a:pPr algn="ctr"/>
            <a:r>
              <a:rPr lang="en-US" sz="2000" b="1" dirty="0">
                <a:solidFill>
                  <a:srgbClr val="E8A020"/>
                </a:solidFill>
              </a:rPr>
              <a:t>EL CONTRATO</a:t>
            </a:r>
            <a:endParaRPr lang="en-US" sz="2000" dirty="0"/>
          </a:p>
        </p:txBody>
      </p:sp>
      <p:sp>
        <p:nvSpPr>
          <p:cNvPr id="12" name="Text 9">
            <a:extLst>
              <a:ext uri="{FF2B5EF4-FFF2-40B4-BE49-F238E27FC236}">
                <a16:creationId xmlns:a16="http://schemas.microsoft.com/office/drawing/2014/main" id="{0B4DD6D0-312E-1F8A-AAEB-4F4F91EEE23D}"/>
              </a:ext>
            </a:extLst>
          </p:cNvPr>
          <p:cNvSpPr/>
          <p:nvPr/>
        </p:nvSpPr>
        <p:spPr>
          <a:xfrm>
            <a:off x="373888" y="2035306"/>
            <a:ext cx="3503168" cy="3230880"/>
          </a:xfrm>
          <a:prstGeom prst="rect">
            <a:avLst/>
          </a:prstGeom>
          <a:noFill/>
          <a:ln/>
        </p:spPr>
        <p:txBody>
          <a:bodyPr wrap="square" lIns="0" tIns="0" rIns="0" bIns="0" rtlCol="0" anchor="t"/>
          <a:lstStyle/>
          <a:p>
            <a:r>
              <a:rPr lang="en-US" sz="2000" dirty="0">
                <a:solidFill>
                  <a:srgbClr val="CADCFC"/>
                </a:solidFill>
                <a:latin typeface="Tw Cen MT" panose="020B0602020104020603" pitchFamily="34" charset="0"/>
              </a:rPr>
              <a:t>La U.S. Navy </a:t>
            </a:r>
            <a:r>
              <a:rPr lang="en-US" sz="2000" dirty="0" err="1">
                <a:solidFill>
                  <a:srgbClr val="CADCFC"/>
                </a:solidFill>
                <a:latin typeface="Tw Cen MT" panose="020B0602020104020603" pitchFamily="34" charset="0"/>
              </a:rPr>
              <a:t>contrató</a:t>
            </a:r>
            <a:r>
              <a:rPr lang="en-US" sz="2000" dirty="0">
                <a:solidFill>
                  <a:srgbClr val="CADCFC"/>
                </a:solidFill>
                <a:latin typeface="Tw Cen MT" panose="020B0602020104020603" pitchFamily="34" charset="0"/>
              </a:rPr>
              <a:t> a </a:t>
            </a:r>
            <a:r>
              <a:rPr lang="en-US" sz="2000" b="1" dirty="0">
                <a:solidFill>
                  <a:srgbClr val="FFFFFF"/>
                </a:solidFill>
                <a:latin typeface="Tw Cen MT" panose="020B0602020104020603" pitchFamily="34" charset="0"/>
              </a:rPr>
              <a:t>Sikorsky Support Services </a:t>
            </a:r>
            <a:r>
              <a:rPr lang="en-US" sz="2000" dirty="0">
                <a:solidFill>
                  <a:srgbClr val="CADCFC"/>
                </a:solidFill>
                <a:latin typeface="Tw Cen MT" panose="020B0602020104020603" pitchFamily="34" charset="0"/>
              </a:rPr>
              <a:t>(</a:t>
            </a:r>
            <a:r>
              <a:rPr lang="en-US" sz="2000" dirty="0" err="1">
                <a:solidFill>
                  <a:srgbClr val="CADCFC"/>
                </a:solidFill>
                <a:latin typeface="Tw Cen MT" panose="020B0602020104020603" pitchFamily="34" charset="0"/>
              </a:rPr>
              <a:t>subsidiaria</a:t>
            </a:r>
            <a:r>
              <a:rPr lang="en-US" sz="2000" dirty="0">
                <a:solidFill>
                  <a:srgbClr val="CADCFC"/>
                </a:solidFill>
                <a:latin typeface="Tw Cen MT" panose="020B0602020104020603" pitchFamily="34" charset="0"/>
              </a:rPr>
              <a:t> de Lockheed Martin) para </a:t>
            </a:r>
            <a:r>
              <a:rPr lang="en-US" sz="2000" dirty="0" err="1">
                <a:solidFill>
                  <a:srgbClr val="CADCFC"/>
                </a:solidFill>
                <a:latin typeface="Tw Cen MT" panose="020B0602020104020603" pitchFamily="34" charset="0"/>
              </a:rPr>
              <a:t>proveer</a:t>
            </a:r>
            <a:r>
              <a:rPr lang="en-US" sz="2000" dirty="0">
                <a:solidFill>
                  <a:srgbClr val="CADCFC"/>
                </a:solidFill>
                <a:latin typeface="Tw Cen MT" panose="020B0602020104020603" pitchFamily="34" charset="0"/>
              </a:rPr>
              <a:t> </a:t>
            </a:r>
            <a:r>
              <a:rPr lang="en-US" sz="2000" dirty="0" err="1">
                <a:solidFill>
                  <a:srgbClr val="CADCFC"/>
                </a:solidFill>
                <a:latin typeface="Tw Cen MT" panose="020B0602020104020603" pitchFamily="34" charset="0"/>
              </a:rPr>
              <a:t>repuestos</a:t>
            </a:r>
            <a:r>
              <a:rPr lang="en-US" sz="2000" dirty="0">
                <a:solidFill>
                  <a:srgbClr val="CADCFC"/>
                </a:solidFill>
                <a:latin typeface="Tw Cen MT" panose="020B0602020104020603" pitchFamily="34" charset="0"/>
              </a:rPr>
              <a:t> y </a:t>
            </a:r>
            <a:r>
              <a:rPr lang="en-US" sz="2000" dirty="0" err="1">
                <a:solidFill>
                  <a:srgbClr val="CADCFC"/>
                </a:solidFill>
                <a:latin typeface="Tw Cen MT" panose="020B0602020104020603" pitchFamily="34" charset="0"/>
              </a:rPr>
              <a:t>mantenimiento</a:t>
            </a:r>
            <a:r>
              <a:rPr lang="en-US" sz="2000" dirty="0">
                <a:solidFill>
                  <a:srgbClr val="CADCFC"/>
                </a:solidFill>
                <a:latin typeface="Tw Cen MT" panose="020B0602020104020603" pitchFamily="34" charset="0"/>
              </a:rPr>
              <a:t> de </a:t>
            </a:r>
            <a:r>
              <a:rPr lang="en-US" sz="2000" dirty="0" err="1">
                <a:solidFill>
                  <a:srgbClr val="CADCFC"/>
                </a:solidFill>
                <a:latin typeface="Tw Cen MT" panose="020B0602020104020603" pitchFamily="34" charset="0"/>
              </a:rPr>
              <a:t>aeronaves</a:t>
            </a:r>
            <a:r>
              <a:rPr lang="en-US" sz="2000" dirty="0">
                <a:solidFill>
                  <a:srgbClr val="CADCFC"/>
                </a:solidFill>
                <a:latin typeface="Tw Cen MT" panose="020B0602020104020603" pitchFamily="34" charset="0"/>
              </a:rPr>
              <a:t> de </a:t>
            </a:r>
            <a:r>
              <a:rPr lang="en-US" sz="2000" dirty="0" err="1">
                <a:solidFill>
                  <a:srgbClr val="CADCFC"/>
                </a:solidFill>
                <a:latin typeface="Tw Cen MT" panose="020B0602020104020603" pitchFamily="34" charset="0"/>
              </a:rPr>
              <a:t>entrenamiento</a:t>
            </a:r>
            <a:r>
              <a:rPr lang="en-US" sz="2000" dirty="0">
                <a:solidFill>
                  <a:srgbClr val="CADCFC"/>
                </a:solidFill>
                <a:latin typeface="Tw Cen MT" panose="020B0602020104020603" pitchFamily="34" charset="0"/>
              </a:rPr>
              <a:t> naval.</a:t>
            </a:r>
            <a:endParaRPr lang="en-US" sz="2000" dirty="0">
              <a:latin typeface="Tw Cen MT" panose="020B0602020104020603" pitchFamily="34" charset="0"/>
            </a:endParaRPr>
          </a:p>
          <a:p>
            <a:endParaRPr lang="en-US" sz="2000" dirty="0">
              <a:latin typeface="Tw Cen MT" panose="020B0602020104020603" pitchFamily="34" charset="0"/>
            </a:endParaRPr>
          </a:p>
          <a:p>
            <a:r>
              <a:rPr lang="en-US" sz="2000" b="1" dirty="0" err="1">
                <a:solidFill>
                  <a:srgbClr val="E8A020"/>
                </a:solidFill>
                <a:latin typeface="Tw Cen MT" panose="020B0602020104020603" pitchFamily="34" charset="0"/>
              </a:rPr>
              <a:t>Esquema</a:t>
            </a:r>
            <a:r>
              <a:rPr lang="en-US" sz="2000" b="1" dirty="0">
                <a:solidFill>
                  <a:srgbClr val="E8A020"/>
                </a:solidFill>
                <a:latin typeface="Tw Cen MT" panose="020B0602020104020603" pitchFamily="34" charset="0"/>
              </a:rPr>
              <a:t>:</a:t>
            </a:r>
            <a:endParaRPr lang="en-US" sz="2000" dirty="0">
              <a:latin typeface="Tw Cen MT" panose="020B0602020104020603" pitchFamily="34" charset="0"/>
            </a:endParaRPr>
          </a:p>
          <a:p>
            <a:endParaRPr lang="en-US" sz="2000" dirty="0">
              <a:latin typeface="Tw Cen MT" panose="020B0602020104020603" pitchFamily="34" charset="0"/>
            </a:endParaRPr>
          </a:p>
          <a:p>
            <a:r>
              <a:rPr lang="en-US" sz="2000" dirty="0">
                <a:solidFill>
                  <a:srgbClr val="CADCFC"/>
                </a:solidFill>
                <a:latin typeface="Tw Cen MT" panose="020B0602020104020603" pitchFamily="34" charset="0"/>
              </a:rPr>
              <a:t>Sikorsky </a:t>
            </a:r>
            <a:r>
              <a:rPr lang="en-US" sz="2000" dirty="0" err="1">
                <a:solidFill>
                  <a:srgbClr val="CADCFC"/>
                </a:solidFill>
                <a:latin typeface="Tw Cen MT" panose="020B0602020104020603" pitchFamily="34" charset="0"/>
              </a:rPr>
              <a:t>compraba</a:t>
            </a:r>
            <a:r>
              <a:rPr lang="en-US" sz="2000" dirty="0">
                <a:solidFill>
                  <a:srgbClr val="CADCFC"/>
                </a:solidFill>
                <a:latin typeface="Tw Cen MT" panose="020B0602020104020603" pitchFamily="34" charset="0"/>
              </a:rPr>
              <a:t> </a:t>
            </a:r>
            <a:r>
              <a:rPr lang="en-US" sz="2000" dirty="0" err="1">
                <a:solidFill>
                  <a:srgbClr val="CADCFC"/>
                </a:solidFill>
                <a:latin typeface="Tw Cen MT" panose="020B0602020104020603" pitchFamily="34" charset="0"/>
              </a:rPr>
              <a:t>piezas</a:t>
            </a:r>
            <a:r>
              <a:rPr lang="en-US" sz="2000" dirty="0">
                <a:solidFill>
                  <a:srgbClr val="CADCFC"/>
                </a:solidFill>
                <a:latin typeface="Tw Cen MT" panose="020B0602020104020603" pitchFamily="34" charset="0"/>
              </a:rPr>
              <a:t> a </a:t>
            </a:r>
            <a:endParaRPr lang="en-US" sz="2000" dirty="0">
              <a:latin typeface="Tw Cen MT" panose="020B0602020104020603" pitchFamily="34" charset="0"/>
            </a:endParaRPr>
          </a:p>
          <a:p>
            <a:r>
              <a:rPr lang="en-US" sz="2000" b="1" dirty="0" err="1">
                <a:solidFill>
                  <a:srgbClr val="FFFFFF"/>
                </a:solidFill>
                <a:latin typeface="Tw Cen MT" panose="020B0602020104020603" pitchFamily="34" charset="0"/>
              </a:rPr>
              <a:t>Derco</a:t>
            </a:r>
            <a:r>
              <a:rPr lang="en-US" sz="2000" b="1" dirty="0">
                <a:solidFill>
                  <a:srgbClr val="FFFFFF"/>
                </a:solidFill>
                <a:latin typeface="Tw Cen MT" panose="020B0602020104020603" pitchFamily="34" charset="0"/>
              </a:rPr>
              <a:t> Aerospace</a:t>
            </a:r>
            <a:r>
              <a:rPr lang="en-US" sz="2000" dirty="0">
                <a:solidFill>
                  <a:srgbClr val="CADCFC"/>
                </a:solidFill>
                <a:latin typeface="Tw Cen MT" panose="020B0602020104020603" pitchFamily="34" charset="0"/>
              </a:rPr>
              <a:t> (</a:t>
            </a:r>
            <a:r>
              <a:rPr lang="en-US" sz="2000" dirty="0" err="1">
                <a:solidFill>
                  <a:srgbClr val="CADCFC"/>
                </a:solidFill>
                <a:latin typeface="Tw Cen MT" panose="020B0602020104020603" pitchFamily="34" charset="0"/>
              </a:rPr>
              <a:t>otra</a:t>
            </a:r>
            <a:r>
              <a:rPr lang="en-US" sz="2000" dirty="0">
                <a:solidFill>
                  <a:srgbClr val="CADCFC"/>
                </a:solidFill>
                <a:latin typeface="Tw Cen MT" panose="020B0602020104020603" pitchFamily="34" charset="0"/>
              </a:rPr>
              <a:t> </a:t>
            </a:r>
            <a:r>
              <a:rPr lang="en-US" sz="2000" dirty="0" err="1">
                <a:solidFill>
                  <a:srgbClr val="CADCFC"/>
                </a:solidFill>
                <a:latin typeface="Tw Cen MT" panose="020B0602020104020603" pitchFamily="34" charset="0"/>
              </a:rPr>
              <a:t>subsidiaria</a:t>
            </a:r>
            <a:r>
              <a:rPr lang="en-US" sz="2000" dirty="0">
                <a:solidFill>
                  <a:srgbClr val="CADCFC"/>
                </a:solidFill>
                <a:latin typeface="Tw Cen MT" panose="020B0602020104020603" pitchFamily="34" charset="0"/>
              </a:rPr>
              <a:t> del </a:t>
            </a:r>
            <a:r>
              <a:rPr lang="en-US" sz="2000" dirty="0" err="1">
                <a:solidFill>
                  <a:srgbClr val="CADCFC"/>
                </a:solidFill>
                <a:latin typeface="Tw Cen MT" panose="020B0602020104020603" pitchFamily="34" charset="0"/>
              </a:rPr>
              <a:t>mismo</a:t>
            </a:r>
            <a:r>
              <a:rPr lang="en-US" sz="2000" dirty="0">
                <a:solidFill>
                  <a:srgbClr val="CADCFC"/>
                </a:solidFill>
                <a:latin typeface="Tw Cen MT" panose="020B0602020104020603" pitchFamily="34" charset="0"/>
              </a:rPr>
              <a:t> </a:t>
            </a:r>
            <a:r>
              <a:rPr lang="en-US" sz="2000" dirty="0" err="1">
                <a:solidFill>
                  <a:srgbClr val="CADCFC"/>
                </a:solidFill>
                <a:latin typeface="Tw Cen MT" panose="020B0602020104020603" pitchFamily="34" charset="0"/>
              </a:rPr>
              <a:t>grupo</a:t>
            </a:r>
            <a:r>
              <a:rPr lang="en-US" sz="2000" dirty="0">
                <a:solidFill>
                  <a:srgbClr val="CADCFC"/>
                </a:solidFill>
                <a:latin typeface="Tw Cen MT" panose="020B0602020104020603" pitchFamily="34" charset="0"/>
              </a:rPr>
              <a:t>) al </a:t>
            </a:r>
            <a:r>
              <a:rPr lang="en-US" sz="2000" dirty="0" err="1">
                <a:solidFill>
                  <a:srgbClr val="CADCFC"/>
                </a:solidFill>
                <a:latin typeface="Tw Cen MT" panose="020B0602020104020603" pitchFamily="34" charset="0"/>
              </a:rPr>
              <a:t>costo</a:t>
            </a:r>
            <a:r>
              <a:rPr lang="en-US" sz="2000" dirty="0">
                <a:solidFill>
                  <a:srgbClr val="CADCFC"/>
                </a:solidFill>
                <a:latin typeface="Tw Cen MT" panose="020B0602020104020603" pitchFamily="34" charset="0"/>
              </a:rPr>
              <a:t> </a:t>
            </a:r>
            <a:r>
              <a:rPr lang="en-US" sz="2000" dirty="0" err="1">
                <a:solidFill>
                  <a:srgbClr val="CADCFC"/>
                </a:solidFill>
                <a:latin typeface="Tw Cen MT" panose="020B0602020104020603" pitchFamily="34" charset="0"/>
              </a:rPr>
              <a:t>más</a:t>
            </a:r>
            <a:r>
              <a:rPr lang="en-US" sz="2000" dirty="0">
                <a:solidFill>
                  <a:srgbClr val="CADCFC"/>
                </a:solidFill>
                <a:latin typeface="Tw Cen MT" panose="020B0602020104020603" pitchFamily="34" charset="0"/>
              </a:rPr>
              <a:t> un </a:t>
            </a:r>
            <a:r>
              <a:rPr lang="en-US" sz="2000" b="1" dirty="0">
                <a:solidFill>
                  <a:srgbClr val="E8A020"/>
                </a:solidFill>
                <a:latin typeface="Tw Cen MT" panose="020B0602020104020603" pitchFamily="34" charset="0"/>
              </a:rPr>
              <a:t>32% de markup</a:t>
            </a:r>
            <a:r>
              <a:rPr lang="en-US" sz="2000" dirty="0">
                <a:solidFill>
                  <a:srgbClr val="CADCFC"/>
                </a:solidFill>
                <a:latin typeface="Tw Cen MT" panose="020B0602020104020603" pitchFamily="34" charset="0"/>
              </a:rPr>
              <a:t>, y luego </a:t>
            </a:r>
            <a:r>
              <a:rPr lang="en-US" sz="2000" dirty="0" err="1">
                <a:solidFill>
                  <a:srgbClr val="CADCFC"/>
                </a:solidFill>
                <a:latin typeface="Tw Cen MT" panose="020B0602020104020603" pitchFamily="34" charset="0"/>
              </a:rPr>
              <a:t>facturaba</a:t>
            </a:r>
            <a:r>
              <a:rPr lang="en-US" sz="2000" dirty="0">
                <a:solidFill>
                  <a:srgbClr val="CADCFC"/>
                </a:solidFill>
                <a:latin typeface="Tw Cen MT" panose="020B0602020104020603" pitchFamily="34" charset="0"/>
              </a:rPr>
              <a:t> ese </a:t>
            </a:r>
            <a:r>
              <a:rPr lang="en-US" sz="2000" dirty="0" err="1">
                <a:solidFill>
                  <a:srgbClr val="CADCFC"/>
                </a:solidFill>
                <a:latin typeface="Tw Cen MT" panose="020B0602020104020603" pitchFamily="34" charset="0"/>
              </a:rPr>
              <a:t>precio</a:t>
            </a:r>
            <a:r>
              <a:rPr lang="en-US" sz="2000" dirty="0">
                <a:solidFill>
                  <a:srgbClr val="CADCFC"/>
                </a:solidFill>
                <a:latin typeface="Tw Cen MT" panose="020B0602020104020603" pitchFamily="34" charset="0"/>
              </a:rPr>
              <a:t> </a:t>
            </a:r>
            <a:r>
              <a:rPr lang="en-US" sz="2000" dirty="0" err="1">
                <a:solidFill>
                  <a:srgbClr val="CADCFC"/>
                </a:solidFill>
                <a:latin typeface="Tw Cen MT" panose="020B0602020104020603" pitchFamily="34" charset="0"/>
              </a:rPr>
              <a:t>íntegro</a:t>
            </a:r>
            <a:r>
              <a:rPr lang="en-US" sz="2000" dirty="0">
                <a:solidFill>
                  <a:srgbClr val="CADCFC"/>
                </a:solidFill>
                <a:latin typeface="Tw Cen MT" panose="020B0602020104020603" pitchFamily="34" charset="0"/>
              </a:rPr>
              <a:t> a la Marina.</a:t>
            </a:r>
            <a:endParaRPr lang="en-US" sz="2000" dirty="0">
              <a:latin typeface="Tw Cen MT" panose="020B0602020104020603" pitchFamily="34" charset="0"/>
            </a:endParaRPr>
          </a:p>
        </p:txBody>
      </p:sp>
      <p:sp>
        <p:nvSpPr>
          <p:cNvPr id="13" name="Shape 10">
            <a:extLst>
              <a:ext uri="{FF2B5EF4-FFF2-40B4-BE49-F238E27FC236}">
                <a16:creationId xmlns:a16="http://schemas.microsoft.com/office/drawing/2014/main" id="{07A1B2CD-37C6-541B-8425-58C2F169DDD1}"/>
              </a:ext>
            </a:extLst>
          </p:cNvPr>
          <p:cNvSpPr/>
          <p:nvPr/>
        </p:nvSpPr>
        <p:spPr>
          <a:xfrm>
            <a:off x="4169664" y="1414856"/>
            <a:ext cx="3535680" cy="5443144"/>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dirty="0">
              <a:latin typeface="Tw Cen MT" panose="020B0602020104020603" pitchFamily="34" charset="0"/>
            </a:endParaRPr>
          </a:p>
        </p:txBody>
      </p:sp>
      <p:sp>
        <p:nvSpPr>
          <p:cNvPr id="15" name="Text 12">
            <a:extLst>
              <a:ext uri="{FF2B5EF4-FFF2-40B4-BE49-F238E27FC236}">
                <a16:creationId xmlns:a16="http://schemas.microsoft.com/office/drawing/2014/main" id="{01834774-14A0-6BCE-98FD-A71F0A83B13D}"/>
              </a:ext>
            </a:extLst>
          </p:cNvPr>
          <p:cNvSpPr/>
          <p:nvPr/>
        </p:nvSpPr>
        <p:spPr>
          <a:xfrm>
            <a:off x="4072128" y="1493520"/>
            <a:ext cx="3535680" cy="463296"/>
          </a:xfrm>
          <a:prstGeom prst="rect">
            <a:avLst/>
          </a:prstGeom>
          <a:noFill/>
          <a:ln/>
        </p:spPr>
        <p:txBody>
          <a:bodyPr wrap="square" lIns="0" tIns="0" rIns="0" bIns="0" rtlCol="0" anchor="ctr"/>
          <a:lstStyle/>
          <a:p>
            <a:pPr algn="ctr"/>
            <a:r>
              <a:rPr lang="en-US" sz="2000" b="1" dirty="0">
                <a:solidFill>
                  <a:srgbClr val="C0392B"/>
                </a:solidFill>
              </a:rPr>
              <a:t>EL PROBLEMA</a:t>
            </a:r>
            <a:endParaRPr lang="en-US" sz="2000" dirty="0"/>
          </a:p>
        </p:txBody>
      </p:sp>
      <p:sp>
        <p:nvSpPr>
          <p:cNvPr id="16" name="Text 13">
            <a:extLst>
              <a:ext uri="{FF2B5EF4-FFF2-40B4-BE49-F238E27FC236}">
                <a16:creationId xmlns:a16="http://schemas.microsoft.com/office/drawing/2014/main" id="{540D0032-E398-41ED-5B57-7593E8DFB6EA}"/>
              </a:ext>
            </a:extLst>
          </p:cNvPr>
          <p:cNvSpPr/>
          <p:nvPr/>
        </p:nvSpPr>
        <p:spPr>
          <a:xfrm>
            <a:off x="4315968" y="2156203"/>
            <a:ext cx="3243072" cy="3230880"/>
          </a:xfrm>
          <a:prstGeom prst="rect">
            <a:avLst/>
          </a:prstGeom>
          <a:noFill/>
          <a:ln/>
        </p:spPr>
        <p:txBody>
          <a:bodyPr wrap="square" lIns="0" tIns="0" rIns="0" bIns="0" rtlCol="0" anchor="t"/>
          <a:lstStyle/>
          <a:p>
            <a:r>
              <a:rPr lang="en-US" b="1" dirty="0" err="1">
                <a:solidFill>
                  <a:srgbClr val="C0392B"/>
                </a:solidFill>
              </a:rPr>
              <a:t>Incentivo</a:t>
            </a:r>
            <a:r>
              <a:rPr lang="en-US" b="1" dirty="0">
                <a:solidFill>
                  <a:srgbClr val="C0392B"/>
                </a:solidFill>
              </a:rPr>
              <a:t> </a:t>
            </a:r>
            <a:r>
              <a:rPr lang="en-US" b="1" dirty="0" err="1">
                <a:solidFill>
                  <a:srgbClr val="C0392B"/>
                </a:solidFill>
              </a:rPr>
              <a:t>perverso</a:t>
            </a:r>
            <a:r>
              <a:rPr lang="en-US" b="1" dirty="0">
                <a:solidFill>
                  <a:srgbClr val="C0392B"/>
                </a:solidFill>
              </a:rPr>
              <a:t>:</a:t>
            </a:r>
            <a:endParaRPr lang="en-US" dirty="0"/>
          </a:p>
          <a:p>
            <a:r>
              <a:rPr lang="en-US" dirty="0" err="1">
                <a:solidFill>
                  <a:srgbClr val="CADCFC"/>
                </a:solidFill>
              </a:rPr>
              <a:t>Cuanto</a:t>
            </a:r>
            <a:r>
              <a:rPr lang="en-US" dirty="0">
                <a:solidFill>
                  <a:srgbClr val="CADCFC"/>
                </a:solidFill>
              </a:rPr>
              <a:t> </a:t>
            </a:r>
            <a:r>
              <a:rPr lang="en-US" dirty="0" err="1">
                <a:solidFill>
                  <a:srgbClr val="CADCFC"/>
                </a:solidFill>
              </a:rPr>
              <a:t>más</a:t>
            </a:r>
            <a:r>
              <a:rPr lang="en-US" dirty="0">
                <a:solidFill>
                  <a:srgbClr val="CADCFC"/>
                </a:solidFill>
              </a:rPr>
              <a:t> </a:t>
            </a:r>
            <a:r>
              <a:rPr lang="en-US" dirty="0" err="1">
                <a:solidFill>
                  <a:srgbClr val="CADCFC"/>
                </a:solidFill>
              </a:rPr>
              <a:t>caro</a:t>
            </a:r>
            <a:r>
              <a:rPr lang="en-US" dirty="0">
                <a:solidFill>
                  <a:srgbClr val="CADCFC"/>
                </a:solidFill>
              </a:rPr>
              <a:t> </a:t>
            </a:r>
            <a:r>
              <a:rPr lang="en-US" dirty="0" err="1">
                <a:solidFill>
                  <a:srgbClr val="CADCFC"/>
                </a:solidFill>
              </a:rPr>
              <a:t>compraba</a:t>
            </a:r>
            <a:r>
              <a:rPr lang="en-US" dirty="0">
                <a:solidFill>
                  <a:srgbClr val="CADCFC"/>
                </a:solidFill>
              </a:rPr>
              <a:t> </a:t>
            </a:r>
            <a:r>
              <a:rPr lang="en-US" dirty="0" err="1">
                <a:solidFill>
                  <a:srgbClr val="CADCFC"/>
                </a:solidFill>
              </a:rPr>
              <a:t>Derco</a:t>
            </a:r>
            <a:r>
              <a:rPr lang="en-US" dirty="0">
                <a:solidFill>
                  <a:srgbClr val="CADCFC"/>
                </a:solidFill>
              </a:rPr>
              <a:t>, mayor era la </a:t>
            </a:r>
            <a:r>
              <a:rPr lang="en-US" dirty="0" err="1">
                <a:solidFill>
                  <a:srgbClr val="CADCFC"/>
                </a:solidFill>
              </a:rPr>
              <a:t>ganancia</a:t>
            </a:r>
            <a:r>
              <a:rPr lang="en-US" dirty="0">
                <a:solidFill>
                  <a:srgbClr val="CADCFC"/>
                </a:solidFill>
              </a:rPr>
              <a:t> del </a:t>
            </a:r>
            <a:r>
              <a:rPr lang="en-US" dirty="0" err="1">
                <a:solidFill>
                  <a:srgbClr val="CADCFC"/>
                </a:solidFill>
              </a:rPr>
              <a:t>grupo</a:t>
            </a:r>
            <a:r>
              <a:rPr lang="en-US" dirty="0">
                <a:solidFill>
                  <a:srgbClr val="CADCFC"/>
                </a:solidFill>
              </a:rPr>
              <a:t>. Sikorsky no </a:t>
            </a:r>
            <a:r>
              <a:rPr lang="en-US" dirty="0" err="1">
                <a:solidFill>
                  <a:srgbClr val="CADCFC"/>
                </a:solidFill>
              </a:rPr>
              <a:t>tenía</a:t>
            </a:r>
            <a:r>
              <a:rPr lang="en-US" dirty="0">
                <a:solidFill>
                  <a:srgbClr val="CADCFC"/>
                </a:solidFill>
              </a:rPr>
              <a:t> </a:t>
            </a:r>
            <a:r>
              <a:rPr lang="en-US" dirty="0" err="1">
                <a:solidFill>
                  <a:srgbClr val="CADCFC"/>
                </a:solidFill>
              </a:rPr>
              <a:t>razón</a:t>
            </a:r>
            <a:r>
              <a:rPr lang="en-US" dirty="0">
                <a:solidFill>
                  <a:srgbClr val="CADCFC"/>
                </a:solidFill>
              </a:rPr>
              <a:t> para </a:t>
            </a:r>
            <a:r>
              <a:rPr lang="en-US" dirty="0" err="1">
                <a:solidFill>
                  <a:srgbClr val="CADCFC"/>
                </a:solidFill>
              </a:rPr>
              <a:t>negociar</a:t>
            </a:r>
            <a:r>
              <a:rPr lang="en-US" dirty="0">
                <a:solidFill>
                  <a:srgbClr val="CADCFC"/>
                </a:solidFill>
              </a:rPr>
              <a:t> </a:t>
            </a:r>
            <a:r>
              <a:rPr lang="en-US" dirty="0" err="1">
                <a:solidFill>
                  <a:srgbClr val="CADCFC"/>
                </a:solidFill>
              </a:rPr>
              <a:t>precios</a:t>
            </a:r>
            <a:r>
              <a:rPr lang="en-US" dirty="0">
                <a:solidFill>
                  <a:srgbClr val="CADCFC"/>
                </a:solidFill>
              </a:rPr>
              <a:t> </a:t>
            </a:r>
            <a:r>
              <a:rPr lang="en-US" dirty="0" err="1">
                <a:solidFill>
                  <a:srgbClr val="CADCFC"/>
                </a:solidFill>
              </a:rPr>
              <a:t>bajos</a:t>
            </a:r>
            <a:r>
              <a:rPr lang="en-US" dirty="0">
                <a:solidFill>
                  <a:srgbClr val="CADCFC"/>
                </a:solidFill>
              </a:rPr>
              <a:t>.</a:t>
            </a:r>
            <a:endParaRPr lang="en-US" dirty="0"/>
          </a:p>
          <a:p>
            <a:endParaRPr lang="en-US" dirty="0"/>
          </a:p>
          <a:p>
            <a:r>
              <a:rPr lang="en-US" b="1" dirty="0" err="1">
                <a:solidFill>
                  <a:srgbClr val="C0392B"/>
                </a:solidFill>
              </a:rPr>
              <a:t>Autocontrato</a:t>
            </a:r>
            <a:r>
              <a:rPr lang="en-US" b="1" dirty="0">
                <a:solidFill>
                  <a:srgbClr val="C0392B"/>
                </a:solidFill>
              </a:rPr>
              <a:t> (self-dealing):</a:t>
            </a:r>
            <a:endParaRPr lang="en-US" dirty="0"/>
          </a:p>
          <a:p>
            <a:r>
              <a:rPr lang="en-US" dirty="0">
                <a:solidFill>
                  <a:srgbClr val="CADCFC"/>
                </a:solidFill>
              </a:rPr>
              <a:t>ambas </a:t>
            </a:r>
            <a:r>
              <a:rPr lang="en-US" dirty="0" err="1">
                <a:solidFill>
                  <a:srgbClr val="CADCFC"/>
                </a:solidFill>
              </a:rPr>
              <a:t>empresas</a:t>
            </a:r>
            <a:r>
              <a:rPr lang="en-US" dirty="0">
                <a:solidFill>
                  <a:srgbClr val="CADCFC"/>
                </a:solidFill>
              </a:rPr>
              <a:t> </a:t>
            </a:r>
            <a:r>
              <a:rPr lang="en-US" dirty="0" err="1">
                <a:solidFill>
                  <a:srgbClr val="CADCFC"/>
                </a:solidFill>
              </a:rPr>
              <a:t>pertenecían</a:t>
            </a:r>
            <a:r>
              <a:rPr lang="en-US" dirty="0">
                <a:solidFill>
                  <a:srgbClr val="CADCFC"/>
                </a:solidFill>
              </a:rPr>
              <a:t> al </a:t>
            </a:r>
            <a:r>
              <a:rPr lang="en-US" dirty="0" err="1">
                <a:solidFill>
                  <a:srgbClr val="CADCFC"/>
                </a:solidFill>
              </a:rPr>
              <a:t>mismo</a:t>
            </a:r>
            <a:r>
              <a:rPr lang="en-US" dirty="0">
                <a:solidFill>
                  <a:srgbClr val="CADCFC"/>
                </a:solidFill>
              </a:rPr>
              <a:t> </a:t>
            </a:r>
            <a:r>
              <a:rPr lang="en-US" dirty="0" err="1">
                <a:solidFill>
                  <a:srgbClr val="CADCFC"/>
                </a:solidFill>
              </a:rPr>
              <a:t>conglomerado</a:t>
            </a:r>
            <a:r>
              <a:rPr lang="en-US" dirty="0">
                <a:solidFill>
                  <a:srgbClr val="CADCFC"/>
                </a:solidFill>
              </a:rPr>
              <a:t>, </a:t>
            </a:r>
            <a:r>
              <a:rPr lang="en-US" dirty="0" err="1">
                <a:solidFill>
                  <a:srgbClr val="CADCFC"/>
                </a:solidFill>
              </a:rPr>
              <a:t>eliminando</a:t>
            </a:r>
            <a:r>
              <a:rPr lang="en-US" dirty="0">
                <a:solidFill>
                  <a:srgbClr val="CADCFC"/>
                </a:solidFill>
              </a:rPr>
              <a:t> </a:t>
            </a:r>
            <a:r>
              <a:rPr lang="en-US" dirty="0" err="1">
                <a:solidFill>
                  <a:srgbClr val="CADCFC"/>
                </a:solidFill>
              </a:rPr>
              <a:t>toda</a:t>
            </a:r>
            <a:r>
              <a:rPr lang="en-US" dirty="0">
                <a:solidFill>
                  <a:srgbClr val="CADCFC"/>
                </a:solidFill>
              </a:rPr>
              <a:t> </a:t>
            </a:r>
            <a:r>
              <a:rPr lang="en-US" dirty="0" err="1">
                <a:solidFill>
                  <a:srgbClr val="CADCFC"/>
                </a:solidFill>
              </a:rPr>
              <a:t>tensión</a:t>
            </a:r>
            <a:r>
              <a:rPr lang="en-US" dirty="0">
                <a:solidFill>
                  <a:srgbClr val="CADCFC"/>
                </a:solidFill>
              </a:rPr>
              <a:t> </a:t>
            </a:r>
            <a:r>
              <a:rPr lang="en-US" dirty="0" err="1">
                <a:solidFill>
                  <a:srgbClr val="CADCFC"/>
                </a:solidFill>
              </a:rPr>
              <a:t>comercial</a:t>
            </a:r>
            <a:r>
              <a:rPr lang="en-US" dirty="0">
                <a:solidFill>
                  <a:srgbClr val="CADCFC"/>
                </a:solidFill>
              </a:rPr>
              <a:t> real.</a:t>
            </a:r>
            <a:endParaRPr lang="en-US" dirty="0"/>
          </a:p>
          <a:p>
            <a:endParaRPr lang="en-US" dirty="0"/>
          </a:p>
          <a:p>
            <a:r>
              <a:rPr lang="en-US" b="1" dirty="0" err="1">
                <a:solidFill>
                  <a:srgbClr val="C0392B"/>
                </a:solidFill>
              </a:rPr>
              <a:t>Violación</a:t>
            </a:r>
            <a:r>
              <a:rPr lang="en-US" b="1" dirty="0">
                <a:solidFill>
                  <a:srgbClr val="C0392B"/>
                </a:solidFill>
              </a:rPr>
              <a:t> </a:t>
            </a:r>
            <a:r>
              <a:rPr lang="en-US" b="1" dirty="0" err="1">
                <a:solidFill>
                  <a:srgbClr val="C0392B"/>
                </a:solidFill>
              </a:rPr>
              <a:t>normativa</a:t>
            </a:r>
            <a:r>
              <a:rPr lang="en-US" b="1" dirty="0">
                <a:solidFill>
                  <a:srgbClr val="C0392B"/>
                </a:solidFill>
              </a:rPr>
              <a:t>:</a:t>
            </a:r>
            <a:endParaRPr lang="en-US" dirty="0"/>
          </a:p>
          <a:p>
            <a:r>
              <a:rPr lang="en-US" dirty="0">
                <a:solidFill>
                  <a:srgbClr val="CADCFC"/>
                </a:solidFill>
              </a:rPr>
              <a:t>El FAR 16.102(c) </a:t>
            </a:r>
            <a:r>
              <a:rPr lang="en-US" dirty="0" err="1">
                <a:solidFill>
                  <a:srgbClr val="CADCFC"/>
                </a:solidFill>
              </a:rPr>
              <a:t>prohíbe</a:t>
            </a:r>
            <a:r>
              <a:rPr lang="en-US" dirty="0">
                <a:solidFill>
                  <a:srgbClr val="CADCFC"/>
                </a:solidFill>
              </a:rPr>
              <a:t> </a:t>
            </a:r>
            <a:r>
              <a:rPr lang="en-US" dirty="0" err="1">
                <a:solidFill>
                  <a:srgbClr val="CADCFC"/>
                </a:solidFill>
              </a:rPr>
              <a:t>expresamente</a:t>
            </a:r>
            <a:r>
              <a:rPr lang="en-US" dirty="0">
                <a:solidFill>
                  <a:srgbClr val="CADCFC"/>
                </a:solidFill>
              </a:rPr>
              <a:t> </a:t>
            </a:r>
            <a:r>
              <a:rPr lang="en-US" dirty="0" err="1">
                <a:solidFill>
                  <a:srgbClr val="CADCFC"/>
                </a:solidFill>
              </a:rPr>
              <a:t>los</a:t>
            </a:r>
            <a:r>
              <a:rPr lang="en-US" dirty="0">
                <a:solidFill>
                  <a:srgbClr val="CADCFC"/>
                </a:solidFill>
              </a:rPr>
              <a:t> </a:t>
            </a:r>
            <a:r>
              <a:rPr lang="en-US" dirty="0" err="1">
                <a:solidFill>
                  <a:srgbClr val="CADCFC"/>
                </a:solidFill>
              </a:rPr>
              <a:t>subcontratos</a:t>
            </a:r>
            <a:r>
              <a:rPr lang="en-US" dirty="0">
                <a:solidFill>
                  <a:srgbClr val="CADCFC"/>
                </a:solidFill>
              </a:rPr>
              <a:t> cost-plus-percentage-of-cost</a:t>
            </a:r>
            <a:endParaRPr lang="en-US" dirty="0"/>
          </a:p>
        </p:txBody>
      </p:sp>
      <p:sp>
        <p:nvSpPr>
          <p:cNvPr id="17" name="Shape 14">
            <a:extLst>
              <a:ext uri="{FF2B5EF4-FFF2-40B4-BE49-F238E27FC236}">
                <a16:creationId xmlns:a16="http://schemas.microsoft.com/office/drawing/2014/main" id="{E4CEF4CD-310E-2037-AC8B-DDD03BACDA00}"/>
              </a:ext>
            </a:extLst>
          </p:cNvPr>
          <p:cNvSpPr/>
          <p:nvPr/>
        </p:nvSpPr>
        <p:spPr>
          <a:xfrm>
            <a:off x="7985760" y="1257618"/>
            <a:ext cx="3535680" cy="5443144"/>
          </a:xfrm>
          <a:prstGeom prst="rect">
            <a:avLst/>
          </a:prstGeom>
          <a:solidFill>
            <a:srgbClr val="162050"/>
          </a:solidFill>
          <a:ln w="12700">
            <a:solidFill>
              <a:srgbClr val="162050"/>
            </a:solidFill>
            <a:prstDash val="solid"/>
          </a:ln>
          <a:effectLst>
            <a:outerShdw blurRad="101600" dist="38100" dir="8100000" algn="bl" rotWithShape="0">
              <a:srgbClr val="000000">
                <a:alpha val="25000"/>
              </a:srgbClr>
            </a:outerShdw>
          </a:effectLst>
        </p:spPr>
        <p:txBody>
          <a:bodyPr/>
          <a:lstStyle/>
          <a:p>
            <a:endParaRPr lang="en-US" dirty="0">
              <a:latin typeface="Tw Cen MT" panose="020B0602020104020603" pitchFamily="34" charset="0"/>
            </a:endParaRPr>
          </a:p>
        </p:txBody>
      </p:sp>
      <p:sp>
        <p:nvSpPr>
          <p:cNvPr id="19" name="Text 16">
            <a:extLst>
              <a:ext uri="{FF2B5EF4-FFF2-40B4-BE49-F238E27FC236}">
                <a16:creationId xmlns:a16="http://schemas.microsoft.com/office/drawing/2014/main" id="{E29752A7-1033-895B-1990-DAAF609E4A82}"/>
              </a:ext>
            </a:extLst>
          </p:cNvPr>
          <p:cNvSpPr/>
          <p:nvPr/>
        </p:nvSpPr>
        <p:spPr>
          <a:xfrm>
            <a:off x="7985760" y="1462339"/>
            <a:ext cx="3535680" cy="463296"/>
          </a:xfrm>
          <a:prstGeom prst="rect">
            <a:avLst/>
          </a:prstGeom>
          <a:noFill/>
          <a:ln/>
        </p:spPr>
        <p:txBody>
          <a:bodyPr wrap="square" lIns="0" tIns="0" rIns="0" bIns="0" rtlCol="0" anchor="ctr"/>
          <a:lstStyle/>
          <a:p>
            <a:pPr algn="ctr"/>
            <a:r>
              <a:rPr lang="en-US" sz="2000" b="1" dirty="0">
                <a:solidFill>
                  <a:srgbClr val="2ECC71"/>
                </a:solidFill>
              </a:rPr>
              <a:t>RESOLUCIÓN</a:t>
            </a:r>
            <a:endParaRPr lang="en-US" sz="2000" dirty="0"/>
          </a:p>
        </p:txBody>
      </p:sp>
      <p:sp>
        <p:nvSpPr>
          <p:cNvPr id="20" name="Text 17">
            <a:extLst>
              <a:ext uri="{FF2B5EF4-FFF2-40B4-BE49-F238E27FC236}">
                <a16:creationId xmlns:a16="http://schemas.microsoft.com/office/drawing/2014/main" id="{F37EA92F-9C0A-E1E5-2ED3-196A8018F513}"/>
              </a:ext>
            </a:extLst>
          </p:cNvPr>
          <p:cNvSpPr/>
          <p:nvPr/>
        </p:nvSpPr>
        <p:spPr>
          <a:xfrm>
            <a:off x="8159736" y="2086287"/>
            <a:ext cx="3243072" cy="3230880"/>
          </a:xfrm>
          <a:prstGeom prst="rect">
            <a:avLst/>
          </a:prstGeom>
          <a:noFill/>
          <a:ln/>
        </p:spPr>
        <p:txBody>
          <a:bodyPr wrap="square" lIns="0" tIns="0" rIns="0" bIns="0" rtlCol="0" anchor="t"/>
          <a:lstStyle/>
          <a:p>
            <a:r>
              <a:rPr lang="en-US" b="1" dirty="0">
                <a:solidFill>
                  <a:srgbClr val="2ECC71"/>
                </a:solidFill>
              </a:rPr>
              <a:t>Whistleblower:</a:t>
            </a:r>
            <a:endParaRPr lang="en-US" dirty="0"/>
          </a:p>
          <a:p>
            <a:r>
              <a:rPr lang="en-US" dirty="0">
                <a:solidFill>
                  <a:srgbClr val="CADCFC"/>
                </a:solidFill>
              </a:rPr>
              <a:t>Un ex </a:t>
            </a:r>
            <a:r>
              <a:rPr lang="en-US" dirty="0" err="1">
                <a:solidFill>
                  <a:srgbClr val="CADCFC"/>
                </a:solidFill>
              </a:rPr>
              <a:t>empleado</a:t>
            </a:r>
            <a:r>
              <a:rPr lang="en-US" dirty="0">
                <a:solidFill>
                  <a:srgbClr val="CADCFC"/>
                </a:solidFill>
              </a:rPr>
              <a:t> de </a:t>
            </a:r>
            <a:r>
              <a:rPr lang="en-US" dirty="0" err="1">
                <a:solidFill>
                  <a:srgbClr val="CADCFC"/>
                </a:solidFill>
              </a:rPr>
              <a:t>Derco</a:t>
            </a:r>
            <a:r>
              <a:rPr lang="en-US" dirty="0">
                <a:solidFill>
                  <a:srgbClr val="CADCFC"/>
                </a:solidFill>
              </a:rPr>
              <a:t> </a:t>
            </a:r>
            <a:r>
              <a:rPr lang="en-US" dirty="0" err="1">
                <a:solidFill>
                  <a:srgbClr val="CADCFC"/>
                </a:solidFill>
              </a:rPr>
              <a:t>inició</a:t>
            </a:r>
            <a:r>
              <a:rPr lang="en-US" dirty="0">
                <a:solidFill>
                  <a:srgbClr val="CADCFC"/>
                </a:solidFill>
              </a:rPr>
              <a:t> </a:t>
            </a:r>
            <a:r>
              <a:rPr lang="en-US" dirty="0" err="1">
                <a:solidFill>
                  <a:srgbClr val="CADCFC"/>
                </a:solidFill>
              </a:rPr>
              <a:t>el</a:t>
            </a:r>
            <a:r>
              <a:rPr lang="en-US" dirty="0">
                <a:solidFill>
                  <a:srgbClr val="CADCFC"/>
                </a:solidFill>
              </a:rPr>
              <a:t> </a:t>
            </a:r>
            <a:r>
              <a:rPr lang="en-US" dirty="0" err="1">
                <a:solidFill>
                  <a:srgbClr val="CADCFC"/>
                </a:solidFill>
              </a:rPr>
              <a:t>proceso</a:t>
            </a:r>
            <a:r>
              <a:rPr lang="en-US" dirty="0">
                <a:solidFill>
                  <a:srgbClr val="CADCFC"/>
                </a:solidFill>
              </a:rPr>
              <a:t> </a:t>
            </a:r>
            <a:r>
              <a:rPr lang="en-US" dirty="0" err="1">
                <a:solidFill>
                  <a:srgbClr val="CADCFC"/>
                </a:solidFill>
              </a:rPr>
              <a:t>en</a:t>
            </a:r>
            <a:r>
              <a:rPr lang="en-US" dirty="0">
                <a:solidFill>
                  <a:srgbClr val="CADCFC"/>
                </a:solidFill>
              </a:rPr>
              <a:t> 2011 bajo la </a:t>
            </a:r>
            <a:r>
              <a:rPr lang="en-US" i="1" dirty="0">
                <a:solidFill>
                  <a:srgbClr val="FFFFFF"/>
                </a:solidFill>
              </a:rPr>
              <a:t>False Claims Act</a:t>
            </a:r>
            <a:r>
              <a:rPr lang="en-US" dirty="0">
                <a:solidFill>
                  <a:srgbClr val="CADCFC"/>
                </a:solidFill>
              </a:rPr>
              <a:t>.</a:t>
            </a:r>
            <a:endParaRPr lang="en-US" dirty="0"/>
          </a:p>
          <a:p>
            <a:endParaRPr lang="en-US" dirty="0"/>
          </a:p>
          <a:p>
            <a:r>
              <a:rPr lang="en-US" b="1" dirty="0" err="1">
                <a:solidFill>
                  <a:srgbClr val="2ECC71"/>
                </a:solidFill>
              </a:rPr>
              <a:t>Acción</a:t>
            </a:r>
            <a:r>
              <a:rPr lang="en-US" b="1" dirty="0">
                <a:solidFill>
                  <a:srgbClr val="2ECC71"/>
                </a:solidFill>
              </a:rPr>
              <a:t> del DOJ:</a:t>
            </a:r>
            <a:endParaRPr lang="en-US" dirty="0"/>
          </a:p>
          <a:p>
            <a:r>
              <a:rPr lang="en-US" dirty="0">
                <a:solidFill>
                  <a:srgbClr val="CADCFC"/>
                </a:solidFill>
              </a:rPr>
              <a:t>El Departamento de Justicia </a:t>
            </a:r>
            <a:r>
              <a:rPr lang="en-US" dirty="0" err="1">
                <a:solidFill>
                  <a:srgbClr val="CADCFC"/>
                </a:solidFill>
              </a:rPr>
              <a:t>intervino</a:t>
            </a:r>
            <a:r>
              <a:rPr lang="en-US" dirty="0">
                <a:solidFill>
                  <a:srgbClr val="CADCFC"/>
                </a:solidFill>
              </a:rPr>
              <a:t> y </a:t>
            </a:r>
            <a:r>
              <a:rPr lang="en-US" dirty="0" err="1">
                <a:solidFill>
                  <a:srgbClr val="CADCFC"/>
                </a:solidFill>
              </a:rPr>
              <a:t>en</a:t>
            </a:r>
            <a:r>
              <a:rPr lang="en-US" dirty="0">
                <a:solidFill>
                  <a:srgbClr val="CADCFC"/>
                </a:solidFill>
              </a:rPr>
              <a:t> </a:t>
            </a:r>
            <a:r>
              <a:rPr lang="en-US" dirty="0" err="1">
                <a:solidFill>
                  <a:srgbClr val="CADCFC"/>
                </a:solidFill>
              </a:rPr>
              <a:t>junio</a:t>
            </a:r>
            <a:r>
              <a:rPr lang="en-US" dirty="0">
                <a:solidFill>
                  <a:srgbClr val="CADCFC"/>
                </a:solidFill>
              </a:rPr>
              <a:t> de 2024 </a:t>
            </a:r>
            <a:r>
              <a:rPr lang="en-US" dirty="0" err="1">
                <a:solidFill>
                  <a:srgbClr val="CADCFC"/>
                </a:solidFill>
              </a:rPr>
              <a:t>alcanzó</a:t>
            </a:r>
            <a:r>
              <a:rPr lang="en-US" dirty="0">
                <a:solidFill>
                  <a:srgbClr val="CADCFC"/>
                </a:solidFill>
              </a:rPr>
              <a:t> un </a:t>
            </a:r>
            <a:r>
              <a:rPr lang="en-US" dirty="0" err="1">
                <a:solidFill>
                  <a:srgbClr val="CADCFC"/>
                </a:solidFill>
              </a:rPr>
              <a:t>acuerdo</a:t>
            </a:r>
            <a:r>
              <a:rPr lang="en-US" dirty="0">
                <a:solidFill>
                  <a:srgbClr val="CADCFC"/>
                </a:solidFill>
              </a:rPr>
              <a:t>.</a:t>
            </a:r>
            <a:endParaRPr lang="en-US" dirty="0"/>
          </a:p>
          <a:p>
            <a:endParaRPr lang="en-US" dirty="0"/>
          </a:p>
          <a:p>
            <a:r>
              <a:rPr lang="en-US" b="1" dirty="0" err="1">
                <a:solidFill>
                  <a:srgbClr val="2ECC71"/>
                </a:solidFill>
              </a:rPr>
              <a:t>Sanción</a:t>
            </a:r>
            <a:r>
              <a:rPr lang="en-US" b="1" dirty="0">
                <a:solidFill>
                  <a:srgbClr val="2ECC71"/>
                </a:solidFill>
              </a:rPr>
              <a:t>:</a:t>
            </a:r>
            <a:endParaRPr lang="en-US" dirty="0"/>
          </a:p>
          <a:p>
            <a:r>
              <a:rPr lang="en-US" dirty="0">
                <a:solidFill>
                  <a:srgbClr val="CADCFC"/>
                </a:solidFill>
              </a:rPr>
              <a:t>Lockheed Martin </a:t>
            </a:r>
            <a:r>
              <a:rPr lang="en-US" dirty="0" err="1">
                <a:solidFill>
                  <a:srgbClr val="CADCFC"/>
                </a:solidFill>
              </a:rPr>
              <a:t>pagó</a:t>
            </a:r>
            <a:r>
              <a:rPr lang="en-US" dirty="0">
                <a:solidFill>
                  <a:srgbClr val="CADCFC"/>
                </a:solidFill>
              </a:rPr>
              <a:t> </a:t>
            </a:r>
            <a:r>
              <a:rPr lang="en-US" b="1" dirty="0">
                <a:solidFill>
                  <a:srgbClr val="FFFFFF"/>
                </a:solidFill>
              </a:rPr>
              <a:t>USD 70 </a:t>
            </a:r>
            <a:r>
              <a:rPr lang="en-US" b="1" dirty="0" err="1">
                <a:solidFill>
                  <a:srgbClr val="FFFFFF"/>
                </a:solidFill>
              </a:rPr>
              <a:t>millones</a:t>
            </a:r>
            <a:r>
              <a:rPr lang="en-US" dirty="0">
                <a:solidFill>
                  <a:srgbClr val="CADCFC"/>
                </a:solidFill>
              </a:rPr>
              <a:t> sin </a:t>
            </a:r>
            <a:r>
              <a:rPr lang="en-US" dirty="0" err="1">
                <a:solidFill>
                  <a:srgbClr val="CADCFC"/>
                </a:solidFill>
              </a:rPr>
              <a:t>reconocimiento</a:t>
            </a:r>
            <a:r>
              <a:rPr lang="en-US" dirty="0">
                <a:solidFill>
                  <a:srgbClr val="CADCFC"/>
                </a:solidFill>
              </a:rPr>
              <a:t> formal de culpa.</a:t>
            </a:r>
            <a:endParaRPr lang="en-US" dirty="0"/>
          </a:p>
        </p:txBody>
      </p:sp>
    </p:spTree>
    <p:extLst>
      <p:ext uri="{BB962C8B-B14F-4D97-AF65-F5344CB8AC3E}">
        <p14:creationId xmlns:p14="http://schemas.microsoft.com/office/powerpoint/2010/main" val="2125637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Free Rider — El Efecto Ringelmann</a:t>
            </a:r>
          </a:p>
        </p:txBody>
      </p:sp>
      <p:sp>
        <p:nvSpPr>
          <p:cNvPr id="5" name="TextBox 4"/>
          <p:cNvSpPr txBox="1"/>
          <p:nvPr/>
        </p:nvSpPr>
        <p:spPr>
          <a:xfrm>
            <a:off x="406400" y="1219200"/>
            <a:ext cx="11379200" cy="4909036"/>
          </a:xfrm>
          <a:prstGeom prst="rect">
            <a:avLst/>
          </a:prstGeom>
          <a:noFill/>
        </p:spPr>
        <p:txBody>
          <a:bodyPr wrap="square">
            <a:spAutoFit/>
          </a:bodyPr>
          <a:lstStyle/>
          <a:p>
            <a:pPr algn="l">
              <a:spcBef>
                <a:spcPts val="500"/>
              </a:spcBef>
            </a:pPr>
            <a:r>
              <a:rPr sz="2400" b="0" i="0" dirty="0">
                <a:solidFill>
                  <a:srgbClr val="222222"/>
                </a:solidFill>
                <a:latin typeface="Tw Cen MT"/>
              </a:rPr>
              <a:t>■  Ringelmann (1913): </a:t>
            </a:r>
            <a:r>
              <a:rPr sz="2400" b="0" i="0" dirty="0" err="1">
                <a:solidFill>
                  <a:srgbClr val="222222"/>
                </a:solidFill>
                <a:latin typeface="Tw Cen MT"/>
              </a:rPr>
              <a:t>experimento</a:t>
            </a:r>
            <a:r>
              <a:rPr sz="2400" b="0" i="0" dirty="0">
                <a:solidFill>
                  <a:srgbClr val="222222"/>
                </a:solidFill>
                <a:latin typeface="Tw Cen MT"/>
              </a:rPr>
              <a:t> de </a:t>
            </a:r>
            <a:r>
              <a:rPr sz="2400" b="0" i="0" dirty="0" err="1">
                <a:solidFill>
                  <a:srgbClr val="222222"/>
                </a:solidFill>
                <a:latin typeface="Tw Cen MT"/>
              </a:rPr>
              <a:t>tracción</a:t>
            </a:r>
            <a:r>
              <a:rPr sz="2400" b="0" i="0" dirty="0">
                <a:solidFill>
                  <a:srgbClr val="222222"/>
                </a:solidFill>
                <a:latin typeface="Tw Cen MT"/>
              </a:rPr>
              <a:t> de </a:t>
            </a:r>
            <a:r>
              <a:rPr sz="2400" b="0" i="0" dirty="0" err="1">
                <a:solidFill>
                  <a:srgbClr val="222222"/>
                </a:solidFill>
                <a:latin typeface="Tw Cen MT"/>
              </a:rPr>
              <a:t>una</a:t>
            </a:r>
            <a:r>
              <a:rPr sz="2400" b="0" i="0" dirty="0">
                <a:solidFill>
                  <a:srgbClr val="222222"/>
                </a:solidFill>
                <a:latin typeface="Tw Cen MT"/>
              </a:rPr>
              <a:t> </a:t>
            </a:r>
            <a:r>
              <a:rPr sz="2400" b="0" i="0" dirty="0" err="1">
                <a:solidFill>
                  <a:srgbClr val="222222"/>
                </a:solidFill>
                <a:latin typeface="Tw Cen MT"/>
              </a:rPr>
              <a:t>cuerda</a:t>
            </a:r>
            <a:r>
              <a:rPr sz="2400" b="0" i="0" dirty="0">
                <a:solidFill>
                  <a:srgbClr val="222222"/>
                </a:solidFill>
                <a:latin typeface="Tw Cen MT"/>
              </a:rPr>
              <a:t> con </a:t>
            </a:r>
            <a:r>
              <a:rPr sz="2400" b="0" i="0" dirty="0" err="1">
                <a:solidFill>
                  <a:srgbClr val="222222"/>
                </a:solidFill>
                <a:latin typeface="Tw Cen MT"/>
              </a:rPr>
              <a:t>distinto</a:t>
            </a:r>
            <a:r>
              <a:rPr sz="2400" b="0" i="0" dirty="0">
                <a:solidFill>
                  <a:srgbClr val="222222"/>
                </a:solidFill>
                <a:latin typeface="Tw Cen MT"/>
              </a:rPr>
              <a:t> </a:t>
            </a:r>
            <a:r>
              <a:rPr sz="2400" b="0" i="0" dirty="0" err="1">
                <a:solidFill>
                  <a:srgbClr val="222222"/>
                </a:solidFill>
                <a:latin typeface="Tw Cen MT"/>
              </a:rPr>
              <a:t>número</a:t>
            </a:r>
            <a:r>
              <a:rPr sz="2400" b="0" i="0" dirty="0">
                <a:solidFill>
                  <a:srgbClr val="222222"/>
                </a:solidFill>
                <a:latin typeface="Tw Cen MT"/>
              </a:rPr>
              <a:t> de personas.</a:t>
            </a:r>
          </a:p>
          <a:p>
            <a:pPr algn="l">
              <a:spcBef>
                <a:spcPts val="500"/>
              </a:spcBef>
            </a:pPr>
            <a:r>
              <a:rPr sz="2400" b="1" i="0" dirty="0">
                <a:solidFill>
                  <a:srgbClr val="8B0000"/>
                </a:solidFill>
                <a:latin typeface="Tw Cen MT"/>
              </a:rPr>
              <a:t>RESULTADOS</a:t>
            </a:r>
          </a:p>
          <a:p>
            <a:pPr algn="l">
              <a:spcBef>
                <a:spcPts val="200"/>
              </a:spcBef>
            </a:pPr>
            <a:r>
              <a:rPr sz="2400" b="0" i="0" dirty="0">
                <a:solidFill>
                  <a:srgbClr val="222222"/>
                </a:solidFill>
                <a:latin typeface="Tw Cen MT"/>
              </a:rPr>
              <a:t>    ▸  </a:t>
            </a:r>
            <a:r>
              <a:rPr sz="2400" i="0" dirty="0">
                <a:solidFill>
                  <a:srgbClr val="222222"/>
                </a:solidFill>
                <a:latin typeface="Tw Cen MT"/>
              </a:rPr>
              <a:t>1 persona: 63 kg de </a:t>
            </a:r>
            <a:r>
              <a:rPr sz="2400" i="0" dirty="0" err="1">
                <a:solidFill>
                  <a:srgbClr val="222222"/>
                </a:solidFill>
                <a:latin typeface="Tw Cen MT"/>
              </a:rPr>
              <a:t>fuerza</a:t>
            </a:r>
            <a:r>
              <a:rPr sz="2400" i="0" dirty="0">
                <a:solidFill>
                  <a:srgbClr val="222222"/>
                </a:solidFill>
                <a:latin typeface="Tw Cen MT"/>
              </a:rPr>
              <a:t> </a:t>
            </a:r>
            <a:r>
              <a:rPr sz="2400" i="0" dirty="0" err="1">
                <a:solidFill>
                  <a:srgbClr val="222222"/>
                </a:solidFill>
                <a:latin typeface="Tw Cen MT"/>
              </a:rPr>
              <a:t>promedio</a:t>
            </a:r>
            <a:r>
              <a:rPr sz="2400" i="0" dirty="0">
                <a:solidFill>
                  <a:srgbClr val="222222"/>
                </a:solidFill>
                <a:latin typeface="Tw Cen MT"/>
              </a:rPr>
              <a:t>.</a:t>
            </a:r>
          </a:p>
          <a:p>
            <a:pPr algn="l">
              <a:spcBef>
                <a:spcPts val="200"/>
              </a:spcBef>
            </a:pPr>
            <a:r>
              <a:rPr sz="2400" i="0" dirty="0">
                <a:solidFill>
                  <a:srgbClr val="222222"/>
                </a:solidFill>
                <a:latin typeface="Tw Cen MT"/>
              </a:rPr>
              <a:t>    ▸  3 personas: 53 kg </a:t>
            </a:r>
            <a:r>
              <a:rPr sz="2400" i="0" dirty="0" err="1">
                <a:solidFill>
                  <a:srgbClr val="222222"/>
                </a:solidFill>
                <a:latin typeface="Tw Cen MT"/>
              </a:rPr>
              <a:t>por</a:t>
            </a:r>
            <a:r>
              <a:rPr sz="2400" i="0" dirty="0">
                <a:solidFill>
                  <a:srgbClr val="222222"/>
                </a:solidFill>
                <a:latin typeface="Tw Cen MT"/>
              </a:rPr>
              <a:t> persona.</a:t>
            </a:r>
          </a:p>
          <a:p>
            <a:pPr algn="l">
              <a:spcBef>
                <a:spcPts val="200"/>
              </a:spcBef>
            </a:pPr>
            <a:r>
              <a:rPr sz="2400" i="0" dirty="0">
                <a:solidFill>
                  <a:srgbClr val="222222"/>
                </a:solidFill>
                <a:latin typeface="Tw Cen MT"/>
              </a:rPr>
              <a:t>    ▸  8 personas: 31 kg </a:t>
            </a:r>
            <a:r>
              <a:rPr sz="2400" i="0" dirty="0" err="1">
                <a:solidFill>
                  <a:srgbClr val="222222"/>
                </a:solidFill>
                <a:latin typeface="Tw Cen MT"/>
              </a:rPr>
              <a:t>por</a:t>
            </a:r>
            <a:r>
              <a:rPr sz="2400" i="0" dirty="0">
                <a:solidFill>
                  <a:srgbClr val="222222"/>
                </a:solidFill>
                <a:latin typeface="Tw Cen MT"/>
              </a:rPr>
              <a:t> persona.</a:t>
            </a:r>
            <a:endParaRPr lang="es-419" sz="2400" i="0" dirty="0">
              <a:solidFill>
                <a:srgbClr val="222222"/>
              </a:solidFill>
              <a:latin typeface="Tw Cen MT"/>
            </a:endParaRPr>
          </a:p>
          <a:p>
            <a:pPr algn="l">
              <a:spcBef>
                <a:spcPts val="500"/>
              </a:spcBef>
            </a:pPr>
            <a:r>
              <a:rPr sz="2400" b="1" i="0" dirty="0">
                <a:solidFill>
                  <a:srgbClr val="222222"/>
                </a:solidFill>
                <a:latin typeface="Tw Cen MT"/>
              </a:rPr>
              <a:t>A mayor </a:t>
            </a:r>
            <a:r>
              <a:rPr sz="2400" b="1" i="0" dirty="0" err="1">
                <a:solidFill>
                  <a:srgbClr val="222222"/>
                </a:solidFill>
                <a:latin typeface="Tw Cen MT"/>
              </a:rPr>
              <a:t>número</a:t>
            </a:r>
            <a:r>
              <a:rPr sz="2400" b="1" i="0" dirty="0">
                <a:solidFill>
                  <a:srgbClr val="222222"/>
                </a:solidFill>
                <a:latin typeface="Tw Cen MT"/>
              </a:rPr>
              <a:t> de personas, </a:t>
            </a:r>
            <a:r>
              <a:rPr sz="2400" b="1" i="0" dirty="0" err="1">
                <a:solidFill>
                  <a:srgbClr val="222222"/>
                </a:solidFill>
                <a:latin typeface="Tw Cen MT"/>
              </a:rPr>
              <a:t>menor</a:t>
            </a:r>
            <a:r>
              <a:rPr sz="2400" b="1" i="0" dirty="0">
                <a:solidFill>
                  <a:srgbClr val="222222"/>
                </a:solidFill>
                <a:latin typeface="Tw Cen MT"/>
              </a:rPr>
              <a:t> </a:t>
            </a:r>
            <a:r>
              <a:rPr sz="2400" b="1" i="0" dirty="0" err="1">
                <a:solidFill>
                  <a:srgbClr val="222222"/>
                </a:solidFill>
                <a:latin typeface="Tw Cen MT"/>
              </a:rPr>
              <a:t>esfuerzo</a:t>
            </a:r>
            <a:r>
              <a:rPr sz="2400" b="1" i="0" dirty="0">
                <a:solidFill>
                  <a:srgbClr val="222222"/>
                </a:solidFill>
                <a:latin typeface="Tw Cen MT"/>
              </a:rPr>
              <a:t> individual.</a:t>
            </a:r>
            <a:endParaRPr lang="es-419" sz="2400" b="1" i="0" dirty="0">
              <a:solidFill>
                <a:srgbClr val="222222"/>
              </a:solidFill>
              <a:latin typeface="Tw Cen MT"/>
            </a:endParaRPr>
          </a:p>
          <a:p>
            <a:pPr algn="l">
              <a:spcBef>
                <a:spcPts val="500"/>
              </a:spcBef>
            </a:pPr>
            <a:endParaRPr lang="es-419" sz="2400" b="1" dirty="0">
              <a:solidFill>
                <a:srgbClr val="222222"/>
              </a:solidFill>
              <a:latin typeface="Tw Cen MT"/>
            </a:endParaRPr>
          </a:p>
          <a:p>
            <a:pPr algn="l">
              <a:spcBef>
                <a:spcPts val="500"/>
              </a:spcBef>
            </a:pPr>
            <a:r>
              <a:rPr sz="2400" b="1" i="0" dirty="0">
                <a:solidFill>
                  <a:srgbClr val="8B0000"/>
                </a:solidFill>
                <a:latin typeface="Tw Cen MT"/>
              </a:rPr>
              <a:t>CAUSAS</a:t>
            </a:r>
          </a:p>
          <a:p>
            <a:pPr algn="l">
              <a:spcBef>
                <a:spcPts val="200"/>
              </a:spcBef>
            </a:pPr>
            <a:r>
              <a:rPr sz="2400" b="0" i="0" dirty="0">
                <a:solidFill>
                  <a:srgbClr val="222222"/>
                </a:solidFill>
                <a:latin typeface="Tw Cen MT"/>
              </a:rPr>
              <a:t>    ▸  </a:t>
            </a:r>
            <a:r>
              <a:rPr sz="2400" b="0" i="0" dirty="0" err="1">
                <a:solidFill>
                  <a:srgbClr val="222222"/>
                </a:solidFill>
                <a:latin typeface="Tw Cen MT"/>
              </a:rPr>
              <a:t>Pérdidas</a:t>
            </a:r>
            <a:r>
              <a:rPr sz="2400" b="0" i="0" dirty="0">
                <a:solidFill>
                  <a:srgbClr val="222222"/>
                </a:solidFill>
                <a:latin typeface="Tw Cen MT"/>
              </a:rPr>
              <a:t> de </a:t>
            </a:r>
            <a:r>
              <a:rPr sz="2400" b="0" i="0" dirty="0" err="1">
                <a:solidFill>
                  <a:srgbClr val="222222"/>
                </a:solidFill>
                <a:latin typeface="Tw Cen MT"/>
              </a:rPr>
              <a:t>coordinación</a:t>
            </a:r>
            <a:r>
              <a:rPr sz="2400" b="0" i="0" dirty="0">
                <a:solidFill>
                  <a:srgbClr val="222222"/>
                </a:solidFill>
                <a:latin typeface="Tw Cen MT"/>
              </a:rPr>
              <a:t>.</a:t>
            </a:r>
          </a:p>
          <a:p>
            <a:pPr algn="l">
              <a:spcBef>
                <a:spcPts val="200"/>
              </a:spcBef>
            </a:pPr>
            <a:r>
              <a:rPr sz="2400" b="0" i="0" dirty="0">
                <a:solidFill>
                  <a:srgbClr val="222222"/>
                </a:solidFill>
                <a:latin typeface="Tw Cen MT"/>
              </a:rPr>
              <a:t>    ▸  </a:t>
            </a:r>
            <a:r>
              <a:rPr sz="2400" b="0" i="0" dirty="0" err="1">
                <a:solidFill>
                  <a:srgbClr val="222222"/>
                </a:solidFill>
                <a:latin typeface="Tw Cen MT"/>
              </a:rPr>
              <a:t>Pérdidas</a:t>
            </a:r>
            <a:r>
              <a:rPr sz="2400" b="0" i="0" dirty="0">
                <a:solidFill>
                  <a:srgbClr val="222222"/>
                </a:solidFill>
                <a:latin typeface="Tw Cen MT"/>
              </a:rPr>
              <a:t> de </a:t>
            </a:r>
            <a:r>
              <a:rPr sz="2400" b="0" i="0" dirty="0" err="1">
                <a:solidFill>
                  <a:srgbClr val="222222"/>
                </a:solidFill>
                <a:latin typeface="Tw Cen MT"/>
              </a:rPr>
              <a:t>motivación</a:t>
            </a:r>
            <a:r>
              <a:rPr sz="2400" b="0" i="0" dirty="0">
                <a:solidFill>
                  <a:srgbClr val="222222"/>
                </a:solidFill>
                <a:latin typeface="Tw Cen MT"/>
              </a:rPr>
              <a:t> (free riding): </a:t>
            </a:r>
            <a:r>
              <a:rPr sz="2400" b="0" i="0" dirty="0" err="1">
                <a:solidFill>
                  <a:srgbClr val="222222"/>
                </a:solidFill>
                <a:latin typeface="Tw Cen MT"/>
              </a:rPr>
              <a:t>cuando</a:t>
            </a:r>
            <a:r>
              <a:rPr sz="2400" b="0" i="0" dirty="0">
                <a:solidFill>
                  <a:srgbClr val="222222"/>
                </a:solidFill>
                <a:latin typeface="Tw Cen MT"/>
              </a:rPr>
              <a:t> mi </a:t>
            </a:r>
            <a:r>
              <a:rPr sz="2400" b="0" i="0" dirty="0" err="1">
                <a:solidFill>
                  <a:srgbClr val="222222"/>
                </a:solidFill>
                <a:latin typeface="Tw Cen MT"/>
              </a:rPr>
              <a:t>contribución</a:t>
            </a:r>
            <a:r>
              <a:rPr sz="2400" b="0" i="0" dirty="0">
                <a:solidFill>
                  <a:srgbClr val="222222"/>
                </a:solidFill>
                <a:latin typeface="Tw Cen MT"/>
              </a:rPr>
              <a:t> individual no es </a:t>
            </a:r>
            <a:r>
              <a:rPr sz="2400" b="0" i="0" dirty="0" err="1">
                <a:solidFill>
                  <a:srgbClr val="222222"/>
                </a:solidFill>
                <a:latin typeface="Tw Cen MT"/>
              </a:rPr>
              <a:t>medible</a:t>
            </a:r>
            <a:r>
              <a:rPr sz="2400" b="0" i="0" dirty="0">
                <a:solidFill>
                  <a:srgbClr val="222222"/>
                </a:solidFill>
                <a:latin typeface="Tw Cen MT"/>
              </a:rPr>
              <a:t>, </a:t>
            </a:r>
            <a:r>
              <a:rPr sz="2400" b="0" i="0" dirty="0" err="1">
                <a:solidFill>
                  <a:srgbClr val="222222"/>
                </a:solidFill>
                <a:latin typeface="Tw Cen MT"/>
              </a:rPr>
              <a:t>el</a:t>
            </a:r>
            <a:r>
              <a:rPr sz="2400" b="0" i="0" dirty="0">
                <a:solidFill>
                  <a:srgbClr val="222222"/>
                </a:solidFill>
                <a:latin typeface="Tw Cen MT"/>
              </a:rPr>
              <a:t> </a:t>
            </a:r>
            <a:r>
              <a:rPr sz="2400" b="0" i="0" dirty="0" err="1">
                <a:solidFill>
                  <a:srgbClr val="222222"/>
                </a:solidFill>
                <a:latin typeface="Tw Cen MT"/>
              </a:rPr>
              <a:t>incentivo</a:t>
            </a:r>
            <a:r>
              <a:rPr sz="2400" b="0" i="0" dirty="0">
                <a:solidFill>
                  <a:srgbClr val="222222"/>
                </a:solidFill>
                <a:latin typeface="Tw Cen MT"/>
              </a:rPr>
              <a:t> a </a:t>
            </a:r>
            <a:r>
              <a:rPr sz="2400" b="0" i="0" dirty="0" err="1">
                <a:solidFill>
                  <a:srgbClr val="222222"/>
                </a:solidFill>
                <a:latin typeface="Tw Cen MT"/>
              </a:rPr>
              <a:t>esforzarse</a:t>
            </a:r>
            <a:r>
              <a:rPr sz="2400" b="0" i="0" dirty="0">
                <a:solidFill>
                  <a:srgbClr val="222222"/>
                </a:solidFill>
                <a:latin typeface="Tw Cen MT"/>
              </a:rPr>
              <a:t> </a:t>
            </a:r>
            <a:r>
              <a:rPr sz="2400" b="0" i="0" dirty="0" err="1">
                <a:solidFill>
                  <a:srgbClr val="222222"/>
                </a:solidFill>
                <a:latin typeface="Tw Cen MT"/>
              </a:rPr>
              <a:t>disminuye</a:t>
            </a:r>
            <a:r>
              <a:rPr sz="2400" b="0" i="0" dirty="0">
                <a:solidFill>
                  <a:srgbClr val="222222"/>
                </a:solidFill>
                <a:latin typeface="Tw Cen MT"/>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152F2-CA10-1CEB-4E1E-198FB7591E9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8BF5207-2844-DE89-8D28-9F098A7E8B94}"/>
              </a:ext>
            </a:extLst>
          </p:cNvPr>
          <p:cNvSpPr/>
          <p:nvPr/>
        </p:nvSpPr>
        <p:spPr>
          <a:xfrm>
            <a:off x="0" y="0"/>
            <a:ext cx="12192000" cy="6858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36664F5-0974-C9FC-F6CC-B2BFF7B8BF55}"/>
              </a:ext>
            </a:extLst>
          </p:cNvPr>
          <p:cNvSpPr/>
          <p:nvPr/>
        </p:nvSpPr>
        <p:spPr>
          <a:xfrm>
            <a:off x="0" y="0"/>
            <a:ext cx="12192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562AD142-BDF3-4F7E-D3E5-DB9911C38509}"/>
              </a:ext>
            </a:extLst>
          </p:cNvPr>
          <p:cNvSpPr/>
          <p:nvPr/>
        </p:nvSpPr>
        <p:spPr>
          <a:xfrm>
            <a:off x="0" y="1066800"/>
            <a:ext cx="12192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139E895-CF6B-3CA4-C8C9-01F2C9C48501}"/>
              </a:ext>
            </a:extLst>
          </p:cNvPr>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TALLER — Juan y María: El Dilema del Free Rider</a:t>
            </a:r>
          </a:p>
        </p:txBody>
      </p:sp>
      <p:sp>
        <p:nvSpPr>
          <p:cNvPr id="6" name="TextBox 5">
            <a:extLst>
              <a:ext uri="{FF2B5EF4-FFF2-40B4-BE49-F238E27FC236}">
                <a16:creationId xmlns:a16="http://schemas.microsoft.com/office/drawing/2014/main" id="{138E6E85-0258-B167-2748-574CB7918359}"/>
              </a:ext>
            </a:extLst>
          </p:cNvPr>
          <p:cNvSpPr txBox="1"/>
          <p:nvPr/>
        </p:nvSpPr>
        <p:spPr>
          <a:xfrm>
            <a:off x="406400" y="1219200"/>
            <a:ext cx="11379200" cy="5288627"/>
          </a:xfrm>
          <a:prstGeom prst="rect">
            <a:avLst/>
          </a:prstGeom>
          <a:noFill/>
        </p:spPr>
        <p:txBody>
          <a:bodyPr wrap="square">
            <a:spAutoFit/>
          </a:bodyPr>
          <a:lstStyle/>
          <a:p>
            <a:pPr algn="l">
              <a:spcBef>
                <a:spcPts val="500"/>
              </a:spcBef>
            </a:pPr>
            <a:r>
              <a:rPr sz="2400" b="0" i="0" dirty="0">
                <a:solidFill>
                  <a:srgbClr val="E8F5E9"/>
                </a:solidFill>
                <a:latin typeface="Tw Cen MT"/>
              </a:rPr>
              <a:t>Juan y María </a:t>
            </a:r>
            <a:r>
              <a:rPr sz="2400" b="0" i="0" dirty="0" err="1">
                <a:solidFill>
                  <a:srgbClr val="E8F5E9"/>
                </a:solidFill>
                <a:latin typeface="Tw Cen MT"/>
              </a:rPr>
              <a:t>producen</a:t>
            </a:r>
            <a:r>
              <a:rPr sz="2400" b="0" i="0" dirty="0">
                <a:solidFill>
                  <a:srgbClr val="E8F5E9"/>
                </a:solidFill>
                <a:latin typeface="Tw Cen MT"/>
              </a:rPr>
              <a:t> </a:t>
            </a:r>
            <a:r>
              <a:rPr sz="2400" b="0" i="0" dirty="0" err="1">
                <a:solidFill>
                  <a:srgbClr val="E8F5E9"/>
                </a:solidFill>
                <a:latin typeface="Tw Cen MT"/>
              </a:rPr>
              <a:t>juntos</a:t>
            </a:r>
            <a:r>
              <a:rPr sz="2400" b="0" i="0" dirty="0">
                <a:solidFill>
                  <a:srgbClr val="E8F5E9"/>
                </a:solidFill>
                <a:latin typeface="Tw Cen MT"/>
              </a:rPr>
              <a:t> </a:t>
            </a:r>
            <a:r>
              <a:rPr sz="2400" b="0" i="0" dirty="0" err="1">
                <a:solidFill>
                  <a:srgbClr val="E8F5E9"/>
                </a:solidFill>
                <a:latin typeface="Tw Cen MT"/>
              </a:rPr>
              <a:t>el</a:t>
            </a:r>
            <a:r>
              <a:rPr sz="2400" b="0" i="0" dirty="0">
                <a:solidFill>
                  <a:srgbClr val="E8F5E9"/>
                </a:solidFill>
                <a:latin typeface="Tw Cen MT"/>
              </a:rPr>
              <a:t> </a:t>
            </a:r>
            <a:r>
              <a:rPr sz="2400" b="0" i="0" dirty="0" err="1">
                <a:solidFill>
                  <a:srgbClr val="E8F5E9"/>
                </a:solidFill>
                <a:latin typeface="Tw Cen MT"/>
              </a:rPr>
              <a:t>mismo</a:t>
            </a:r>
            <a:r>
              <a:rPr sz="2400" b="0" i="0" dirty="0">
                <a:solidFill>
                  <a:srgbClr val="E8F5E9"/>
                </a:solidFill>
                <a:latin typeface="Tw Cen MT"/>
              </a:rPr>
              <a:t> bien y </a:t>
            </a:r>
            <a:r>
              <a:rPr sz="2400" b="0" i="0" dirty="0" err="1">
                <a:solidFill>
                  <a:srgbClr val="E8F5E9"/>
                </a:solidFill>
                <a:latin typeface="Tw Cen MT"/>
              </a:rPr>
              <a:t>comparten</a:t>
            </a:r>
            <a:r>
              <a:rPr sz="2400" b="0" i="0" dirty="0">
                <a:solidFill>
                  <a:srgbClr val="E8F5E9"/>
                </a:solidFill>
                <a:latin typeface="Tw Cen MT"/>
              </a:rPr>
              <a:t> las </a:t>
            </a:r>
            <a:r>
              <a:rPr sz="2400" b="0" i="0" dirty="0" err="1">
                <a:solidFill>
                  <a:srgbClr val="E8F5E9"/>
                </a:solidFill>
                <a:latin typeface="Tw Cen MT"/>
              </a:rPr>
              <a:t>ganancias</a:t>
            </a:r>
            <a:r>
              <a:rPr sz="2400" b="0" i="0" dirty="0">
                <a:solidFill>
                  <a:srgbClr val="E8F5E9"/>
                </a:solidFill>
                <a:latin typeface="Tw Cen MT"/>
              </a:rPr>
              <a:t> </a:t>
            </a:r>
            <a:r>
              <a:rPr sz="2400" b="0" i="0" dirty="0" err="1">
                <a:solidFill>
                  <a:srgbClr val="E8F5E9"/>
                </a:solidFill>
                <a:latin typeface="Tw Cen MT"/>
              </a:rPr>
              <a:t>por</a:t>
            </a:r>
            <a:r>
              <a:rPr sz="2400" b="0" i="0" dirty="0">
                <a:solidFill>
                  <a:srgbClr val="E8F5E9"/>
                </a:solidFill>
                <a:latin typeface="Tw Cen MT"/>
              </a:rPr>
              <a:t> </a:t>
            </a:r>
            <a:r>
              <a:rPr sz="2400" b="0" i="0" dirty="0" err="1">
                <a:solidFill>
                  <a:srgbClr val="E8F5E9"/>
                </a:solidFill>
                <a:latin typeface="Tw Cen MT"/>
              </a:rPr>
              <a:t>igual</a:t>
            </a:r>
            <a:r>
              <a:rPr sz="2400" b="0" i="0" dirty="0">
                <a:solidFill>
                  <a:srgbClr val="E8F5E9"/>
                </a:solidFill>
                <a:latin typeface="Tw Cen MT"/>
              </a:rPr>
              <a:t>.</a:t>
            </a:r>
          </a:p>
          <a:p>
            <a:pPr algn="l">
              <a:spcBef>
                <a:spcPts val="500"/>
              </a:spcBef>
            </a:pPr>
            <a:r>
              <a:rPr sz="2400" b="0" i="0" dirty="0">
                <a:solidFill>
                  <a:srgbClr val="E8F5E9"/>
                </a:solidFill>
                <a:latin typeface="Tw Cen MT"/>
              </a:rPr>
              <a:t>Cada uno </a:t>
            </a:r>
            <a:r>
              <a:rPr sz="2400" b="0" i="0" dirty="0" err="1">
                <a:solidFill>
                  <a:srgbClr val="E8F5E9"/>
                </a:solidFill>
                <a:latin typeface="Tw Cen MT"/>
              </a:rPr>
              <a:t>invierte</a:t>
            </a:r>
            <a:r>
              <a:rPr sz="2400" b="0" i="0" dirty="0">
                <a:solidFill>
                  <a:srgbClr val="E8F5E9"/>
                </a:solidFill>
                <a:latin typeface="Tw Cen MT"/>
              </a:rPr>
              <a:t> 150 </a:t>
            </a:r>
            <a:r>
              <a:rPr sz="2400" b="0" i="0" dirty="0" err="1">
                <a:solidFill>
                  <a:srgbClr val="E8F5E9"/>
                </a:solidFill>
                <a:latin typeface="Tw Cen MT"/>
              </a:rPr>
              <a:t>unidades</a:t>
            </a:r>
            <a:r>
              <a:rPr sz="2400" b="0" i="0" dirty="0">
                <a:solidFill>
                  <a:srgbClr val="E8F5E9"/>
                </a:solidFill>
                <a:latin typeface="Tw Cen MT"/>
              </a:rPr>
              <a:t> de </a:t>
            </a:r>
            <a:r>
              <a:rPr sz="2400" b="0" i="0" dirty="0" err="1">
                <a:solidFill>
                  <a:srgbClr val="E8F5E9"/>
                </a:solidFill>
                <a:latin typeface="Tw Cen MT"/>
              </a:rPr>
              <a:t>esfuerzo</a:t>
            </a:r>
            <a:r>
              <a:rPr sz="2400" b="0" i="0" dirty="0">
                <a:solidFill>
                  <a:srgbClr val="E8F5E9"/>
                </a:solidFill>
                <a:latin typeface="Tw Cen MT"/>
              </a:rPr>
              <a:t> y </a:t>
            </a:r>
            <a:r>
              <a:rPr sz="2400" b="0" i="0" dirty="0" err="1">
                <a:solidFill>
                  <a:srgbClr val="E8F5E9"/>
                </a:solidFill>
                <a:latin typeface="Tw Cen MT"/>
              </a:rPr>
              <a:t>esperan</a:t>
            </a:r>
            <a:r>
              <a:rPr sz="2400" b="0" i="0" dirty="0">
                <a:solidFill>
                  <a:srgbClr val="E8F5E9"/>
                </a:solidFill>
                <a:latin typeface="Tw Cen MT"/>
              </a:rPr>
              <a:t> </a:t>
            </a:r>
            <a:r>
              <a:rPr sz="2400" b="0" i="0" dirty="0" err="1">
                <a:solidFill>
                  <a:srgbClr val="E8F5E9"/>
                </a:solidFill>
                <a:latin typeface="Tw Cen MT"/>
              </a:rPr>
              <a:t>una</a:t>
            </a:r>
            <a:r>
              <a:rPr sz="2400" b="0" i="0" dirty="0">
                <a:solidFill>
                  <a:srgbClr val="E8F5E9"/>
                </a:solidFill>
                <a:latin typeface="Tw Cen MT"/>
              </a:rPr>
              <a:t> </a:t>
            </a:r>
            <a:r>
              <a:rPr sz="2400" b="0" i="0" dirty="0" err="1">
                <a:solidFill>
                  <a:srgbClr val="E8F5E9"/>
                </a:solidFill>
                <a:latin typeface="Tw Cen MT"/>
              </a:rPr>
              <a:t>utilidad</a:t>
            </a:r>
            <a:r>
              <a:rPr sz="2400" b="0" i="0" dirty="0">
                <a:solidFill>
                  <a:srgbClr val="E8F5E9"/>
                </a:solidFill>
                <a:latin typeface="Tw Cen MT"/>
              </a:rPr>
              <a:t> de 200 </a:t>
            </a:r>
            <a:r>
              <a:rPr sz="2400" b="0" i="0" dirty="0" err="1">
                <a:solidFill>
                  <a:srgbClr val="E8F5E9"/>
                </a:solidFill>
                <a:latin typeface="Tw Cen MT"/>
              </a:rPr>
              <a:t>unidades</a:t>
            </a:r>
            <a:r>
              <a:rPr sz="2400" b="0" i="0" dirty="0">
                <a:solidFill>
                  <a:srgbClr val="E8F5E9"/>
                </a:solidFill>
                <a:latin typeface="Tw Cen MT"/>
              </a:rPr>
              <a:t>.</a:t>
            </a:r>
            <a:endParaRPr lang="es-419" sz="2400" b="0" i="0" dirty="0">
              <a:solidFill>
                <a:srgbClr val="E8F5E9"/>
              </a:solidFill>
              <a:latin typeface="Tw Cen MT"/>
            </a:endParaRPr>
          </a:p>
          <a:p>
            <a:pPr algn="l">
              <a:spcBef>
                <a:spcPts val="500"/>
              </a:spcBef>
            </a:pPr>
            <a:r>
              <a:rPr sz="2400" b="1" i="0" dirty="0">
                <a:solidFill>
                  <a:srgbClr val="52B788"/>
                </a:solidFill>
                <a:latin typeface="Tw Cen MT"/>
              </a:rPr>
              <a:t>LA MATRIZ DE PAGOS (UTILIDAD – COSTOS)</a:t>
            </a:r>
          </a:p>
          <a:p>
            <a:pPr algn="l">
              <a:spcBef>
                <a:spcPts val="500"/>
              </a:spcBef>
            </a:pPr>
            <a:endParaRPr lang="es-419" sz="2400" b="1" i="0" dirty="0">
              <a:solidFill>
                <a:srgbClr val="52B788"/>
              </a:solidFill>
              <a:latin typeface="Tw Cen MT"/>
            </a:endParaRPr>
          </a:p>
          <a:p>
            <a:pPr algn="l">
              <a:spcBef>
                <a:spcPts val="500"/>
              </a:spcBef>
            </a:pPr>
            <a:endParaRPr lang="es-419" sz="2400" b="1" dirty="0">
              <a:solidFill>
                <a:srgbClr val="52B788"/>
              </a:solidFill>
              <a:latin typeface="Tw Cen MT"/>
            </a:endParaRPr>
          </a:p>
          <a:p>
            <a:pPr algn="l">
              <a:spcBef>
                <a:spcPts val="500"/>
              </a:spcBef>
            </a:pPr>
            <a:endParaRPr lang="es-419" sz="2400" b="1" i="0" dirty="0">
              <a:solidFill>
                <a:srgbClr val="52B788"/>
              </a:solidFill>
              <a:latin typeface="Tw Cen MT"/>
            </a:endParaRPr>
          </a:p>
          <a:p>
            <a:pPr algn="l">
              <a:spcBef>
                <a:spcPts val="500"/>
              </a:spcBef>
            </a:pPr>
            <a:endParaRPr lang="es-419" sz="2400" b="1" dirty="0">
              <a:solidFill>
                <a:srgbClr val="52B788"/>
              </a:solidFill>
              <a:latin typeface="Tw Cen MT"/>
            </a:endParaRPr>
          </a:p>
          <a:p>
            <a:pPr algn="l">
              <a:spcBef>
                <a:spcPts val="500"/>
              </a:spcBef>
            </a:pPr>
            <a:endParaRPr lang="es-419" sz="2400" b="1" dirty="0">
              <a:solidFill>
                <a:srgbClr val="52B788"/>
              </a:solidFill>
              <a:latin typeface="Tw Cen MT"/>
            </a:endParaRPr>
          </a:p>
          <a:p>
            <a:pPr algn="l">
              <a:spcBef>
                <a:spcPts val="500"/>
              </a:spcBef>
            </a:pPr>
            <a:endParaRPr lang="es-419" sz="2400" b="1" dirty="0">
              <a:solidFill>
                <a:srgbClr val="52B788"/>
              </a:solidFill>
              <a:latin typeface="Tw Cen MT"/>
            </a:endParaRPr>
          </a:p>
          <a:p>
            <a:pPr algn="l">
              <a:spcBef>
                <a:spcPts val="500"/>
              </a:spcBef>
            </a:pPr>
            <a:endParaRPr lang="es-419" sz="2400" b="1" dirty="0">
              <a:solidFill>
                <a:srgbClr val="52B788"/>
              </a:solidFill>
              <a:latin typeface="Tw Cen MT"/>
            </a:endParaRPr>
          </a:p>
          <a:p>
            <a:pPr algn="l">
              <a:spcBef>
                <a:spcPts val="500"/>
              </a:spcBef>
            </a:pPr>
            <a:r>
              <a:rPr sz="2800" b="1" i="0" dirty="0">
                <a:solidFill>
                  <a:srgbClr val="E8F5E9"/>
                </a:solidFill>
                <a:latin typeface="Tw Cen MT"/>
              </a:rPr>
              <a:t> Cuando la </a:t>
            </a:r>
            <a:r>
              <a:rPr sz="2800" b="1" i="0" dirty="0" err="1">
                <a:solidFill>
                  <a:srgbClr val="E8F5E9"/>
                </a:solidFill>
                <a:latin typeface="Tw Cen MT"/>
              </a:rPr>
              <a:t>contribución</a:t>
            </a:r>
            <a:r>
              <a:rPr sz="2800" b="1" i="0" dirty="0">
                <a:solidFill>
                  <a:srgbClr val="E8F5E9"/>
                </a:solidFill>
                <a:latin typeface="Tw Cen MT"/>
              </a:rPr>
              <a:t> individual no </a:t>
            </a:r>
            <a:r>
              <a:rPr sz="2800" b="1" i="0" dirty="0" err="1">
                <a:solidFill>
                  <a:srgbClr val="E8F5E9"/>
                </a:solidFill>
                <a:latin typeface="Tw Cen MT"/>
              </a:rPr>
              <a:t>puede</a:t>
            </a:r>
            <a:r>
              <a:rPr sz="2800" b="1" i="0" dirty="0">
                <a:solidFill>
                  <a:srgbClr val="E8F5E9"/>
                </a:solidFill>
                <a:latin typeface="Tw Cen MT"/>
              </a:rPr>
              <a:t> ser </a:t>
            </a:r>
            <a:r>
              <a:rPr sz="2800" b="1" i="0" dirty="0" err="1">
                <a:solidFill>
                  <a:srgbClr val="E8F5E9"/>
                </a:solidFill>
                <a:latin typeface="Tw Cen MT"/>
              </a:rPr>
              <a:t>medida</a:t>
            </a:r>
            <a:r>
              <a:rPr sz="2800" b="1" i="0" dirty="0">
                <a:solidFill>
                  <a:srgbClr val="E8F5E9"/>
                </a:solidFill>
                <a:latin typeface="Tw Cen MT"/>
              </a:rPr>
              <a:t>, </a:t>
            </a:r>
            <a:r>
              <a:rPr sz="2800" b="1" i="0" dirty="0" err="1">
                <a:solidFill>
                  <a:srgbClr val="E8F5E9"/>
                </a:solidFill>
                <a:latin typeface="Tw Cen MT"/>
              </a:rPr>
              <a:t>el</a:t>
            </a:r>
            <a:r>
              <a:rPr sz="2800" b="1" i="0" dirty="0">
                <a:solidFill>
                  <a:srgbClr val="E8F5E9"/>
                </a:solidFill>
                <a:latin typeface="Tw Cen MT"/>
              </a:rPr>
              <a:t> </a:t>
            </a:r>
            <a:r>
              <a:rPr sz="2800" b="1" i="0" dirty="0" err="1">
                <a:solidFill>
                  <a:srgbClr val="E8F5E9"/>
                </a:solidFill>
                <a:latin typeface="Tw Cen MT"/>
              </a:rPr>
              <a:t>incentivo</a:t>
            </a:r>
            <a:r>
              <a:rPr sz="2800" b="1" i="0" dirty="0">
                <a:solidFill>
                  <a:srgbClr val="E8F5E9"/>
                </a:solidFill>
                <a:latin typeface="Tw Cen MT"/>
              </a:rPr>
              <a:t> a no </a:t>
            </a:r>
            <a:r>
              <a:rPr sz="2800" b="1" i="0" dirty="0" err="1">
                <a:solidFill>
                  <a:srgbClr val="E8F5E9"/>
                </a:solidFill>
                <a:latin typeface="Tw Cen MT"/>
              </a:rPr>
              <a:t>esforzarse</a:t>
            </a:r>
            <a:r>
              <a:rPr sz="2800" b="1" i="0" dirty="0">
                <a:solidFill>
                  <a:srgbClr val="E8F5E9"/>
                </a:solidFill>
                <a:latin typeface="Tw Cen MT"/>
              </a:rPr>
              <a:t> es </a:t>
            </a:r>
            <a:r>
              <a:rPr sz="2800" b="1" i="0" dirty="0" err="1">
                <a:solidFill>
                  <a:srgbClr val="E8F5E9"/>
                </a:solidFill>
                <a:latin typeface="Tw Cen MT"/>
              </a:rPr>
              <a:t>dominante</a:t>
            </a:r>
            <a:r>
              <a:rPr sz="2800" b="1" i="0" dirty="0">
                <a:solidFill>
                  <a:srgbClr val="E8F5E9"/>
                </a:solidFill>
                <a:latin typeface="Tw Cen MT"/>
              </a:rPr>
              <a:t>. ¿</a:t>
            </a:r>
            <a:r>
              <a:rPr sz="2800" b="1" i="0" dirty="0" err="1">
                <a:solidFill>
                  <a:srgbClr val="E8F5E9"/>
                </a:solidFill>
                <a:latin typeface="Tw Cen MT"/>
              </a:rPr>
              <a:t>Cómo</a:t>
            </a:r>
            <a:r>
              <a:rPr sz="2800" b="1" i="0" dirty="0">
                <a:solidFill>
                  <a:srgbClr val="E8F5E9"/>
                </a:solidFill>
                <a:latin typeface="Tw Cen MT"/>
              </a:rPr>
              <a:t> se </a:t>
            </a:r>
            <a:r>
              <a:rPr sz="2800" b="1" i="0" dirty="0" err="1">
                <a:solidFill>
                  <a:srgbClr val="E8F5E9"/>
                </a:solidFill>
                <a:latin typeface="Tw Cen MT"/>
              </a:rPr>
              <a:t>resuelve</a:t>
            </a:r>
            <a:r>
              <a:rPr sz="2800" b="1" i="0" dirty="0">
                <a:solidFill>
                  <a:srgbClr val="E8F5E9"/>
                </a:solidFill>
                <a:latin typeface="Tw Cen MT"/>
              </a:rPr>
              <a:t>?</a:t>
            </a:r>
          </a:p>
        </p:txBody>
      </p:sp>
      <p:pic>
        <p:nvPicPr>
          <p:cNvPr id="8" name="Imagen 7" descr="The image illustrates a comparison table showing the effort exerted by Juan and Maria, with Juan having less effort (50, 0, -100, -100) and Maria having more effort (50, 200, 0, 200) in different scenarios.&#10;&#10;El contenido generado por IA puede ser incorrecto.">
            <a:extLst>
              <a:ext uri="{FF2B5EF4-FFF2-40B4-BE49-F238E27FC236}">
                <a16:creationId xmlns:a16="http://schemas.microsoft.com/office/drawing/2014/main" id="{125245B1-6742-FD69-BE3B-2B84B408DD3A}"/>
              </a:ext>
            </a:extLst>
          </p:cNvPr>
          <p:cNvPicPr>
            <a:picLocks noChangeAspect="1"/>
          </p:cNvPicPr>
          <p:nvPr/>
        </p:nvPicPr>
        <p:blipFill>
          <a:blip r:embed="rId2"/>
          <a:stretch>
            <a:fillRect/>
          </a:stretch>
        </p:blipFill>
        <p:spPr>
          <a:xfrm>
            <a:off x="2445250" y="2966151"/>
            <a:ext cx="6531716" cy="2253121"/>
          </a:xfrm>
          <a:prstGeom prst="rect">
            <a:avLst/>
          </a:prstGeom>
        </p:spPr>
      </p:pic>
    </p:spTree>
    <p:extLst>
      <p:ext uri="{BB962C8B-B14F-4D97-AF65-F5344CB8AC3E}">
        <p14:creationId xmlns:p14="http://schemas.microsoft.com/office/powerpoint/2010/main" val="116066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Free Rider — El Efecto Escala</a:t>
            </a:r>
          </a:p>
        </p:txBody>
      </p:sp>
      <p:sp>
        <p:nvSpPr>
          <p:cNvPr id="5" name="TextBox 4"/>
          <p:cNvSpPr txBox="1"/>
          <p:nvPr/>
        </p:nvSpPr>
        <p:spPr>
          <a:xfrm>
            <a:off x="406400" y="1219200"/>
            <a:ext cx="11379200" cy="5711820"/>
          </a:xfrm>
          <a:prstGeom prst="rect">
            <a:avLst/>
          </a:prstGeom>
          <a:noFill/>
        </p:spPr>
        <p:txBody>
          <a:bodyPr wrap="square">
            <a:spAutoFit/>
          </a:bodyPr>
          <a:lstStyle/>
          <a:p>
            <a:pPr algn="l">
              <a:spcBef>
                <a:spcPts val="500"/>
              </a:spcBef>
            </a:pPr>
            <a:r>
              <a:rPr sz="2400" b="0" i="0" dirty="0" err="1">
                <a:solidFill>
                  <a:srgbClr val="222222"/>
                </a:solidFill>
                <a:latin typeface="Tw Cen MT"/>
              </a:rPr>
              <a:t>Supongamos</a:t>
            </a:r>
            <a:r>
              <a:rPr sz="2400" b="0" i="0" dirty="0">
                <a:solidFill>
                  <a:srgbClr val="222222"/>
                </a:solidFill>
                <a:latin typeface="Tw Cen MT"/>
              </a:rPr>
              <a:t> </a:t>
            </a:r>
            <a:r>
              <a:rPr sz="2400" b="0" i="0" dirty="0" err="1">
                <a:solidFill>
                  <a:srgbClr val="222222"/>
                </a:solidFill>
                <a:latin typeface="Tw Cen MT"/>
              </a:rPr>
              <a:t>que</a:t>
            </a:r>
            <a:r>
              <a:rPr sz="2400" b="0" i="0" dirty="0">
                <a:solidFill>
                  <a:srgbClr val="222222"/>
                </a:solidFill>
                <a:latin typeface="Tw Cen MT"/>
              </a:rPr>
              <a:t> </a:t>
            </a:r>
            <a:r>
              <a:rPr sz="2400" b="0" i="0" dirty="0" err="1">
                <a:solidFill>
                  <a:srgbClr val="222222"/>
                </a:solidFill>
                <a:latin typeface="Tw Cen MT"/>
              </a:rPr>
              <a:t>el</a:t>
            </a:r>
            <a:r>
              <a:rPr sz="2400" b="0" i="0" dirty="0">
                <a:solidFill>
                  <a:srgbClr val="222222"/>
                </a:solidFill>
                <a:latin typeface="Tw Cen MT"/>
              </a:rPr>
              <a:t> 10% de </a:t>
            </a:r>
            <a:r>
              <a:rPr sz="2400" b="0" i="0" dirty="0" err="1">
                <a:solidFill>
                  <a:srgbClr val="222222"/>
                </a:solidFill>
                <a:latin typeface="Tw Cen MT"/>
              </a:rPr>
              <a:t>los</a:t>
            </a:r>
            <a:r>
              <a:rPr sz="2400" b="0" i="0" dirty="0">
                <a:solidFill>
                  <a:srgbClr val="222222"/>
                </a:solidFill>
                <a:latin typeface="Tw Cen MT"/>
              </a:rPr>
              <a:t> </a:t>
            </a:r>
            <a:r>
              <a:rPr sz="2400" b="0" i="0" dirty="0" err="1">
                <a:solidFill>
                  <a:srgbClr val="222222"/>
                </a:solidFill>
                <a:latin typeface="Tw Cen MT"/>
              </a:rPr>
              <a:t>trabajadores</a:t>
            </a:r>
            <a:r>
              <a:rPr sz="2400" b="0" i="0" dirty="0">
                <a:solidFill>
                  <a:srgbClr val="222222"/>
                </a:solidFill>
                <a:latin typeface="Tw Cen MT"/>
              </a:rPr>
              <a:t> son </a:t>
            </a:r>
            <a:r>
              <a:rPr sz="2400" b="0" i="0" dirty="0" err="1">
                <a:solidFill>
                  <a:srgbClr val="222222"/>
                </a:solidFill>
                <a:latin typeface="Tw Cen MT"/>
              </a:rPr>
              <a:t>deshonestos</a:t>
            </a:r>
            <a:r>
              <a:rPr sz="2400" b="0" i="0" dirty="0">
                <a:solidFill>
                  <a:srgbClr val="222222"/>
                </a:solidFill>
                <a:latin typeface="Tw Cen MT"/>
              </a:rPr>
              <a:t>, </a:t>
            </a:r>
            <a:r>
              <a:rPr sz="2400" b="0" i="0" dirty="0" err="1">
                <a:solidFill>
                  <a:srgbClr val="222222"/>
                </a:solidFill>
                <a:latin typeface="Tw Cen MT"/>
              </a:rPr>
              <a:t>pero</a:t>
            </a:r>
            <a:r>
              <a:rPr sz="2400" b="0" i="0" dirty="0">
                <a:solidFill>
                  <a:srgbClr val="222222"/>
                </a:solidFill>
                <a:latin typeface="Tw Cen MT"/>
              </a:rPr>
              <a:t> no </a:t>
            </a:r>
            <a:r>
              <a:rPr sz="2400" b="0" i="0" dirty="0" err="1">
                <a:solidFill>
                  <a:srgbClr val="222222"/>
                </a:solidFill>
                <a:latin typeface="Tw Cen MT"/>
              </a:rPr>
              <a:t>harán</a:t>
            </a:r>
            <a:r>
              <a:rPr sz="2400" b="0" i="0" dirty="0">
                <a:solidFill>
                  <a:srgbClr val="222222"/>
                </a:solidFill>
                <a:latin typeface="Tw Cen MT"/>
              </a:rPr>
              <a:t> </a:t>
            </a:r>
            <a:r>
              <a:rPr sz="2400" b="0" i="0" dirty="0" err="1">
                <a:solidFill>
                  <a:srgbClr val="222222"/>
                </a:solidFill>
                <a:latin typeface="Tw Cen MT"/>
              </a:rPr>
              <a:t>trampa</a:t>
            </a:r>
            <a:r>
              <a:rPr sz="2400" b="0" i="0" dirty="0">
                <a:solidFill>
                  <a:srgbClr val="222222"/>
                </a:solidFill>
                <a:latin typeface="Tw Cen MT"/>
              </a:rPr>
              <a:t> </a:t>
            </a:r>
            <a:r>
              <a:rPr sz="2400" b="0" i="0" dirty="0" err="1">
                <a:solidFill>
                  <a:srgbClr val="222222"/>
                </a:solidFill>
                <a:latin typeface="Tw Cen MT"/>
              </a:rPr>
              <a:t>si</a:t>
            </a:r>
            <a:r>
              <a:rPr sz="2400" b="0" i="0" dirty="0">
                <a:solidFill>
                  <a:srgbClr val="222222"/>
                </a:solidFill>
                <a:latin typeface="Tw Cen MT"/>
              </a:rPr>
              <a:t> </a:t>
            </a:r>
            <a:r>
              <a:rPr sz="2400" b="0" i="0" dirty="0" err="1">
                <a:solidFill>
                  <a:srgbClr val="222222"/>
                </a:solidFill>
                <a:latin typeface="Tw Cen MT"/>
              </a:rPr>
              <a:t>el</a:t>
            </a:r>
            <a:r>
              <a:rPr sz="2400" b="0" i="0" dirty="0">
                <a:solidFill>
                  <a:srgbClr val="222222"/>
                </a:solidFill>
                <a:latin typeface="Tw Cen MT"/>
              </a:rPr>
              <a:t> </a:t>
            </a:r>
            <a:r>
              <a:rPr sz="2400" b="0" i="0" dirty="0" err="1">
                <a:solidFill>
                  <a:srgbClr val="222222"/>
                </a:solidFill>
                <a:latin typeface="Tw Cen MT"/>
              </a:rPr>
              <a:t>precio</a:t>
            </a:r>
            <a:r>
              <a:rPr sz="2400" b="0" i="0" dirty="0">
                <a:solidFill>
                  <a:srgbClr val="222222"/>
                </a:solidFill>
                <a:latin typeface="Tw Cen MT"/>
              </a:rPr>
              <a:t> de ser </a:t>
            </a:r>
            <a:r>
              <a:rPr sz="2400" b="0" i="0" dirty="0" err="1">
                <a:solidFill>
                  <a:srgbClr val="222222"/>
                </a:solidFill>
                <a:latin typeface="Tw Cen MT"/>
              </a:rPr>
              <a:t>detectados</a:t>
            </a:r>
            <a:r>
              <a:rPr sz="2400" b="0" i="0" dirty="0">
                <a:solidFill>
                  <a:srgbClr val="222222"/>
                </a:solidFill>
                <a:latin typeface="Tw Cen MT"/>
              </a:rPr>
              <a:t> es alto.</a:t>
            </a:r>
            <a:endParaRPr lang="es-419" sz="2400" b="0" i="0" dirty="0">
              <a:solidFill>
                <a:srgbClr val="222222"/>
              </a:solidFill>
              <a:latin typeface="Tw Cen MT"/>
            </a:endParaRPr>
          </a:p>
          <a:p>
            <a:pPr algn="l">
              <a:spcBef>
                <a:spcPts val="500"/>
              </a:spcBef>
            </a:pPr>
            <a:endParaRPr sz="2400" b="0" i="0" dirty="0">
              <a:solidFill>
                <a:srgbClr val="222222"/>
              </a:solidFill>
              <a:latin typeface="Tw Cen MT"/>
            </a:endParaRPr>
          </a:p>
          <a:p>
            <a:pPr algn="l">
              <a:spcBef>
                <a:spcPts val="500"/>
              </a:spcBef>
            </a:pPr>
            <a:r>
              <a:rPr sz="2400" b="1" i="0" dirty="0">
                <a:solidFill>
                  <a:srgbClr val="8B0000"/>
                </a:solidFill>
                <a:latin typeface="Tw Cen MT"/>
              </a:rPr>
              <a:t>OFICINA DE 10 PERSONAS</a:t>
            </a:r>
          </a:p>
          <a:p>
            <a:pPr algn="l">
              <a:spcBef>
                <a:spcPts val="200"/>
              </a:spcBef>
            </a:pPr>
            <a:r>
              <a:rPr sz="2400" b="0" i="0" dirty="0">
                <a:solidFill>
                  <a:srgbClr val="222222"/>
                </a:solidFill>
                <a:latin typeface="Tw Cen MT"/>
              </a:rPr>
              <a:t>    ▸  </a:t>
            </a:r>
            <a:r>
              <a:rPr sz="2400" b="0" i="0" dirty="0" err="1">
                <a:solidFill>
                  <a:srgbClr val="222222"/>
                </a:solidFill>
                <a:latin typeface="Tw Cen MT"/>
              </a:rPr>
              <a:t>Probablemente</a:t>
            </a:r>
            <a:r>
              <a:rPr sz="2400" b="0" i="0" dirty="0">
                <a:solidFill>
                  <a:srgbClr val="222222"/>
                </a:solidFill>
                <a:latin typeface="Tw Cen MT"/>
              </a:rPr>
              <a:t> 1 </a:t>
            </a:r>
            <a:r>
              <a:rPr sz="2400" b="0" i="0" dirty="0" err="1">
                <a:solidFill>
                  <a:srgbClr val="222222"/>
                </a:solidFill>
                <a:latin typeface="Tw Cen MT"/>
              </a:rPr>
              <a:t>tramposo</a:t>
            </a:r>
            <a:r>
              <a:rPr sz="2400" b="0" i="0" dirty="0">
                <a:solidFill>
                  <a:srgbClr val="222222"/>
                </a:solidFill>
                <a:latin typeface="Tw Cen MT"/>
              </a:rPr>
              <a:t>. Si es </a:t>
            </a:r>
            <a:r>
              <a:rPr sz="2400" b="0" i="0" dirty="0" err="1">
                <a:solidFill>
                  <a:srgbClr val="222222"/>
                </a:solidFill>
                <a:latin typeface="Tw Cen MT"/>
              </a:rPr>
              <a:t>detectado</a:t>
            </a:r>
            <a:r>
              <a:rPr sz="2400" b="0" i="0" dirty="0">
                <a:solidFill>
                  <a:srgbClr val="222222"/>
                </a:solidFill>
                <a:latin typeface="Tw Cen MT"/>
              </a:rPr>
              <a:t>, </a:t>
            </a:r>
            <a:r>
              <a:rPr sz="2400" b="0" i="0" dirty="0" err="1">
                <a:solidFill>
                  <a:srgbClr val="222222"/>
                </a:solidFill>
                <a:latin typeface="Tw Cen MT"/>
              </a:rPr>
              <a:t>pagará</a:t>
            </a:r>
            <a:r>
              <a:rPr sz="2400" b="0" i="0" dirty="0">
                <a:solidFill>
                  <a:srgbClr val="222222"/>
                </a:solidFill>
                <a:latin typeface="Tw Cen MT"/>
              </a:rPr>
              <a:t> </a:t>
            </a:r>
            <a:r>
              <a:rPr sz="2400" b="0" i="0" dirty="0" err="1">
                <a:solidFill>
                  <a:srgbClr val="222222"/>
                </a:solidFill>
                <a:latin typeface="Tw Cen MT"/>
              </a:rPr>
              <a:t>por</a:t>
            </a:r>
            <a:r>
              <a:rPr sz="2400" b="0" i="0" dirty="0">
                <a:solidFill>
                  <a:srgbClr val="222222"/>
                </a:solidFill>
                <a:latin typeface="Tw Cen MT"/>
              </a:rPr>
              <a:t> </a:t>
            </a:r>
            <a:r>
              <a:rPr sz="2400" b="0" i="0" dirty="0" err="1">
                <a:solidFill>
                  <a:srgbClr val="222222"/>
                </a:solidFill>
                <a:latin typeface="Tw Cen MT"/>
              </a:rPr>
              <a:t>ello</a:t>
            </a:r>
            <a:r>
              <a:rPr sz="2400" b="0" i="0" dirty="0">
                <a:solidFill>
                  <a:srgbClr val="222222"/>
                </a:solidFill>
                <a:latin typeface="Tw Cen MT"/>
              </a:rPr>
              <a:t>.</a:t>
            </a:r>
            <a:endParaRPr lang="es-419" sz="2400" b="0" i="0" dirty="0">
              <a:solidFill>
                <a:srgbClr val="222222"/>
              </a:solidFill>
              <a:latin typeface="Tw Cen MT"/>
            </a:endParaRPr>
          </a:p>
          <a:p>
            <a:pPr algn="l">
              <a:spcBef>
                <a:spcPts val="200"/>
              </a:spcBef>
            </a:pPr>
            <a:endParaRPr sz="2400" b="0" i="0" dirty="0">
              <a:solidFill>
                <a:srgbClr val="222222"/>
              </a:solidFill>
              <a:latin typeface="Tw Cen MT"/>
            </a:endParaRPr>
          </a:p>
          <a:p>
            <a:pPr algn="l">
              <a:spcBef>
                <a:spcPts val="500"/>
              </a:spcBef>
            </a:pPr>
            <a:r>
              <a:rPr sz="2400" b="1" i="0" dirty="0">
                <a:solidFill>
                  <a:srgbClr val="8B0000"/>
                </a:solidFill>
                <a:latin typeface="Tw Cen MT"/>
              </a:rPr>
              <a:t>OFICINA DE 200 PERSONAS</a:t>
            </a:r>
          </a:p>
          <a:p>
            <a:pPr algn="l">
              <a:spcBef>
                <a:spcPts val="200"/>
              </a:spcBef>
            </a:pPr>
            <a:r>
              <a:rPr sz="2400" b="0" i="0" dirty="0">
                <a:solidFill>
                  <a:srgbClr val="222222"/>
                </a:solidFill>
                <a:latin typeface="Tw Cen MT"/>
              </a:rPr>
              <a:t>    ▸  </a:t>
            </a:r>
            <a:r>
              <a:rPr sz="2400" b="0" i="0" dirty="0" err="1">
                <a:solidFill>
                  <a:srgbClr val="222222"/>
                </a:solidFill>
                <a:latin typeface="Tw Cen MT"/>
              </a:rPr>
              <a:t>Habrá</a:t>
            </a:r>
            <a:r>
              <a:rPr sz="2400" b="0" i="0" dirty="0">
                <a:solidFill>
                  <a:srgbClr val="222222"/>
                </a:solidFill>
                <a:latin typeface="Tw Cen MT"/>
              </a:rPr>
              <a:t> 20 </a:t>
            </a:r>
            <a:r>
              <a:rPr sz="2400" b="0" i="0" dirty="0" err="1">
                <a:solidFill>
                  <a:srgbClr val="222222"/>
                </a:solidFill>
                <a:latin typeface="Tw Cen MT"/>
              </a:rPr>
              <a:t>tramposos</a:t>
            </a:r>
            <a:r>
              <a:rPr sz="2400" b="0" i="0" dirty="0">
                <a:solidFill>
                  <a:srgbClr val="222222"/>
                </a:solidFill>
                <a:latin typeface="Tw Cen MT"/>
              </a:rPr>
              <a:t>.</a:t>
            </a:r>
          </a:p>
          <a:p>
            <a:pPr algn="l">
              <a:spcBef>
                <a:spcPts val="200"/>
              </a:spcBef>
            </a:pPr>
            <a:r>
              <a:rPr sz="2400" b="1" i="0" dirty="0">
                <a:solidFill>
                  <a:srgbClr val="222222"/>
                </a:solidFill>
                <a:latin typeface="Tw Cen MT"/>
              </a:rPr>
              <a:t>    </a:t>
            </a:r>
            <a:r>
              <a:rPr sz="2400" i="0" dirty="0">
                <a:solidFill>
                  <a:srgbClr val="222222"/>
                </a:solidFill>
                <a:latin typeface="Tw Cen MT"/>
              </a:rPr>
              <a:t>▸  ¿</a:t>
            </a:r>
            <a:r>
              <a:rPr sz="2400" i="0" dirty="0" err="1">
                <a:solidFill>
                  <a:srgbClr val="222222"/>
                </a:solidFill>
                <a:latin typeface="Tw Cen MT"/>
              </a:rPr>
              <a:t>Cuál</a:t>
            </a:r>
            <a:r>
              <a:rPr sz="2400" i="0" dirty="0">
                <a:solidFill>
                  <a:srgbClr val="222222"/>
                </a:solidFill>
                <a:latin typeface="Tw Cen MT"/>
              </a:rPr>
              <a:t> es </a:t>
            </a:r>
            <a:r>
              <a:rPr sz="2400" i="0" dirty="0" err="1">
                <a:solidFill>
                  <a:srgbClr val="222222"/>
                </a:solidFill>
                <a:latin typeface="Tw Cen MT"/>
              </a:rPr>
              <a:t>el</a:t>
            </a:r>
            <a:r>
              <a:rPr sz="2400" i="0" dirty="0">
                <a:solidFill>
                  <a:srgbClr val="222222"/>
                </a:solidFill>
                <a:latin typeface="Tw Cen MT"/>
              </a:rPr>
              <a:t> </a:t>
            </a:r>
            <a:r>
              <a:rPr sz="2400" i="0" dirty="0" err="1">
                <a:solidFill>
                  <a:srgbClr val="222222"/>
                </a:solidFill>
                <a:latin typeface="Tw Cen MT"/>
              </a:rPr>
              <a:t>impacto</a:t>
            </a:r>
            <a:r>
              <a:rPr sz="2400" i="0" dirty="0">
                <a:solidFill>
                  <a:srgbClr val="222222"/>
                </a:solidFill>
                <a:latin typeface="Tw Cen MT"/>
              </a:rPr>
              <a:t> marginal de la </a:t>
            </a:r>
            <a:r>
              <a:rPr sz="2400" i="0" dirty="0" err="1">
                <a:solidFill>
                  <a:srgbClr val="222222"/>
                </a:solidFill>
                <a:latin typeface="Tw Cen MT"/>
              </a:rPr>
              <a:t>vigésima</a:t>
            </a:r>
            <a:r>
              <a:rPr sz="2400" i="0" dirty="0">
                <a:solidFill>
                  <a:srgbClr val="222222"/>
                </a:solidFill>
                <a:latin typeface="Tw Cen MT"/>
              </a:rPr>
              <a:t> </a:t>
            </a:r>
            <a:r>
              <a:rPr sz="2400" i="0" dirty="0" err="1">
                <a:solidFill>
                  <a:srgbClr val="222222"/>
                </a:solidFill>
                <a:latin typeface="Tw Cen MT"/>
              </a:rPr>
              <a:t>trampa</a:t>
            </a:r>
            <a:r>
              <a:rPr sz="2400" i="0" dirty="0">
                <a:solidFill>
                  <a:srgbClr val="222222"/>
                </a:solidFill>
                <a:latin typeface="Tw Cen MT"/>
              </a:rPr>
              <a:t>? ¿</a:t>
            </a:r>
            <a:r>
              <a:rPr sz="2400" i="0" dirty="0" err="1">
                <a:solidFill>
                  <a:srgbClr val="222222"/>
                </a:solidFill>
                <a:latin typeface="Tw Cen MT"/>
              </a:rPr>
              <a:t>Cuál</a:t>
            </a:r>
            <a:r>
              <a:rPr sz="2400" i="0" dirty="0">
                <a:solidFill>
                  <a:srgbClr val="222222"/>
                </a:solidFill>
                <a:latin typeface="Tw Cen MT"/>
              </a:rPr>
              <a:t> es la </a:t>
            </a:r>
            <a:r>
              <a:rPr sz="2400" i="0" dirty="0" err="1">
                <a:solidFill>
                  <a:srgbClr val="222222"/>
                </a:solidFill>
                <a:latin typeface="Tw Cen MT"/>
              </a:rPr>
              <a:t>diferencia</a:t>
            </a:r>
            <a:r>
              <a:rPr sz="2400" i="0" dirty="0">
                <a:solidFill>
                  <a:srgbClr val="222222"/>
                </a:solidFill>
                <a:latin typeface="Tw Cen MT"/>
              </a:rPr>
              <a:t> entre 19 y 20 </a:t>
            </a:r>
            <a:r>
              <a:rPr sz="2400" i="0" dirty="0" err="1">
                <a:solidFill>
                  <a:srgbClr val="222222"/>
                </a:solidFill>
                <a:latin typeface="Tw Cen MT"/>
              </a:rPr>
              <a:t>trampas</a:t>
            </a:r>
            <a:r>
              <a:rPr sz="2400" i="0" dirty="0">
                <a:solidFill>
                  <a:srgbClr val="222222"/>
                </a:solidFill>
                <a:latin typeface="Tw Cen MT"/>
              </a:rPr>
              <a:t>? Nadie se da </a:t>
            </a:r>
            <a:r>
              <a:rPr sz="2400" i="0" dirty="0" err="1">
                <a:solidFill>
                  <a:srgbClr val="222222"/>
                </a:solidFill>
                <a:latin typeface="Tw Cen MT"/>
              </a:rPr>
              <a:t>cuenta</a:t>
            </a:r>
            <a:r>
              <a:rPr sz="2400" i="0" dirty="0">
                <a:solidFill>
                  <a:srgbClr val="222222"/>
                </a:solidFill>
                <a:latin typeface="Tw Cen MT"/>
              </a:rPr>
              <a:t>.</a:t>
            </a:r>
            <a:endParaRPr lang="es-419" sz="2400" i="0" dirty="0">
              <a:solidFill>
                <a:srgbClr val="222222"/>
              </a:solidFill>
              <a:latin typeface="Tw Cen MT"/>
            </a:endParaRPr>
          </a:p>
          <a:p>
            <a:pPr algn="l">
              <a:spcBef>
                <a:spcPts val="200"/>
              </a:spcBef>
            </a:pPr>
            <a:endParaRPr sz="2400" i="0" dirty="0">
              <a:solidFill>
                <a:srgbClr val="222222"/>
              </a:solidFill>
              <a:latin typeface="Tw Cen MT"/>
            </a:endParaRPr>
          </a:p>
          <a:p>
            <a:pPr algn="l">
              <a:spcBef>
                <a:spcPts val="500"/>
              </a:spcBef>
            </a:pPr>
            <a:r>
              <a:rPr sz="2400" b="1" i="0" dirty="0">
                <a:solidFill>
                  <a:srgbClr val="8B0000"/>
                </a:solidFill>
                <a:latin typeface="Tw Cen MT"/>
              </a:rPr>
              <a:t>IMPLICANCIA</a:t>
            </a:r>
          </a:p>
          <a:p>
            <a:pPr algn="ctr">
              <a:spcBef>
                <a:spcPts val="500"/>
              </a:spcBef>
            </a:pPr>
            <a:r>
              <a:rPr sz="2400" b="1" i="0" dirty="0">
                <a:solidFill>
                  <a:srgbClr val="222222"/>
                </a:solidFill>
                <a:latin typeface="Tw Cen MT"/>
              </a:rPr>
              <a:t>Los </a:t>
            </a:r>
            <a:r>
              <a:rPr sz="2400" b="1" i="0" dirty="0" err="1">
                <a:solidFill>
                  <a:srgbClr val="222222"/>
                </a:solidFill>
                <a:latin typeface="Tw Cen MT"/>
              </a:rPr>
              <a:t>sistemas</a:t>
            </a:r>
            <a:r>
              <a:rPr sz="2400" b="1" i="0" dirty="0">
                <a:solidFill>
                  <a:srgbClr val="222222"/>
                </a:solidFill>
                <a:latin typeface="Tw Cen MT"/>
              </a:rPr>
              <a:t> de control </a:t>
            </a:r>
            <a:r>
              <a:rPr sz="2400" b="1" i="0" dirty="0" err="1">
                <a:solidFill>
                  <a:srgbClr val="222222"/>
                </a:solidFill>
                <a:latin typeface="Tw Cen MT"/>
              </a:rPr>
              <a:t>deben</a:t>
            </a:r>
            <a:r>
              <a:rPr sz="2400" b="1" i="0" dirty="0">
                <a:solidFill>
                  <a:srgbClr val="222222"/>
                </a:solidFill>
                <a:latin typeface="Tw Cen MT"/>
              </a:rPr>
              <a:t> </a:t>
            </a:r>
            <a:r>
              <a:rPr sz="2400" b="1" i="0" dirty="0" err="1">
                <a:solidFill>
                  <a:srgbClr val="222222"/>
                </a:solidFill>
                <a:latin typeface="Tw Cen MT"/>
              </a:rPr>
              <a:t>escalar</a:t>
            </a:r>
            <a:r>
              <a:rPr sz="2400" b="1" i="0" dirty="0">
                <a:solidFill>
                  <a:srgbClr val="222222"/>
                </a:solidFill>
                <a:latin typeface="Tw Cen MT"/>
              </a:rPr>
              <a:t> con </a:t>
            </a:r>
            <a:r>
              <a:rPr sz="2400" b="1" i="0" dirty="0" err="1">
                <a:solidFill>
                  <a:srgbClr val="222222"/>
                </a:solidFill>
                <a:latin typeface="Tw Cen MT"/>
              </a:rPr>
              <a:t>el</a:t>
            </a:r>
            <a:r>
              <a:rPr sz="2400" b="1" i="0" dirty="0">
                <a:solidFill>
                  <a:srgbClr val="222222"/>
                </a:solidFill>
                <a:latin typeface="Tw Cen MT"/>
              </a:rPr>
              <a:t> </a:t>
            </a:r>
            <a:r>
              <a:rPr sz="2400" b="1" i="0" dirty="0" err="1">
                <a:solidFill>
                  <a:srgbClr val="222222"/>
                </a:solidFill>
                <a:latin typeface="Tw Cen MT"/>
              </a:rPr>
              <a:t>tamaño</a:t>
            </a:r>
            <a:r>
              <a:rPr sz="2400" b="1" i="0" dirty="0">
                <a:solidFill>
                  <a:srgbClr val="222222"/>
                </a:solidFill>
                <a:latin typeface="Tw Cen MT"/>
              </a:rPr>
              <a:t> </a:t>
            </a:r>
            <a:r>
              <a:rPr sz="2400" b="1" i="0" dirty="0" err="1">
                <a:solidFill>
                  <a:srgbClr val="222222"/>
                </a:solidFill>
                <a:latin typeface="Tw Cen MT"/>
              </a:rPr>
              <a:t>organizacional</a:t>
            </a:r>
            <a:r>
              <a:rPr sz="2400" b="1" i="0" dirty="0">
                <a:solidFill>
                  <a:srgbClr val="222222"/>
                </a:solidFill>
                <a:latin typeface="Tw Cen MT"/>
              </a:rPr>
              <a:t>. Lo </a:t>
            </a:r>
            <a:r>
              <a:rPr sz="2400" b="1" i="0" dirty="0" err="1">
                <a:solidFill>
                  <a:srgbClr val="222222"/>
                </a:solidFill>
                <a:latin typeface="Tw Cen MT"/>
              </a:rPr>
              <a:t>que</a:t>
            </a:r>
            <a:r>
              <a:rPr sz="2400" b="1" i="0" dirty="0">
                <a:solidFill>
                  <a:srgbClr val="222222"/>
                </a:solidFill>
                <a:latin typeface="Tw Cen MT"/>
              </a:rPr>
              <a:t> </a:t>
            </a:r>
            <a:r>
              <a:rPr sz="2400" b="1" i="0" dirty="0" err="1">
                <a:solidFill>
                  <a:srgbClr val="222222"/>
                </a:solidFill>
                <a:latin typeface="Tw Cen MT"/>
              </a:rPr>
              <a:t>funciona</a:t>
            </a:r>
            <a:r>
              <a:rPr sz="2400" b="1" i="0" dirty="0">
                <a:solidFill>
                  <a:srgbClr val="222222"/>
                </a:solidFill>
                <a:latin typeface="Tw Cen MT"/>
              </a:rPr>
              <a:t> </a:t>
            </a:r>
            <a:r>
              <a:rPr sz="2400" b="1" i="0" dirty="0" err="1">
                <a:solidFill>
                  <a:srgbClr val="222222"/>
                </a:solidFill>
                <a:latin typeface="Tw Cen MT"/>
              </a:rPr>
              <a:t>en</a:t>
            </a:r>
            <a:r>
              <a:rPr sz="2400" b="1" i="0" dirty="0">
                <a:solidFill>
                  <a:srgbClr val="222222"/>
                </a:solidFill>
                <a:latin typeface="Tw Cen MT"/>
              </a:rPr>
              <a:t> un </a:t>
            </a:r>
            <a:r>
              <a:rPr sz="2400" b="1" i="0" dirty="0" err="1">
                <a:solidFill>
                  <a:srgbClr val="222222"/>
                </a:solidFill>
                <a:latin typeface="Tw Cen MT"/>
              </a:rPr>
              <a:t>equipo</a:t>
            </a:r>
            <a:r>
              <a:rPr sz="2400" b="1" i="0" dirty="0">
                <a:solidFill>
                  <a:srgbClr val="222222"/>
                </a:solidFill>
                <a:latin typeface="Tw Cen MT"/>
              </a:rPr>
              <a:t> </a:t>
            </a:r>
            <a:r>
              <a:rPr sz="2400" b="1" i="0" dirty="0" err="1">
                <a:solidFill>
                  <a:srgbClr val="222222"/>
                </a:solidFill>
                <a:latin typeface="Tw Cen MT"/>
              </a:rPr>
              <a:t>pequeño</a:t>
            </a:r>
            <a:r>
              <a:rPr sz="2400" b="1" i="0" dirty="0">
                <a:solidFill>
                  <a:srgbClr val="222222"/>
                </a:solidFill>
                <a:latin typeface="Tw Cen MT"/>
              </a:rPr>
              <a:t> </a:t>
            </a:r>
            <a:r>
              <a:rPr sz="2400" b="1" i="0" dirty="0" err="1">
                <a:solidFill>
                  <a:srgbClr val="222222"/>
                </a:solidFill>
                <a:latin typeface="Tw Cen MT"/>
              </a:rPr>
              <a:t>puede</a:t>
            </a:r>
            <a:r>
              <a:rPr sz="2400" b="1" i="0" dirty="0">
                <a:solidFill>
                  <a:srgbClr val="222222"/>
                </a:solidFill>
                <a:latin typeface="Tw Cen MT"/>
              </a:rPr>
              <a:t> </a:t>
            </a:r>
            <a:r>
              <a:rPr sz="2400" b="1" i="0" dirty="0" err="1">
                <a:solidFill>
                  <a:srgbClr val="222222"/>
                </a:solidFill>
                <a:latin typeface="Tw Cen MT"/>
              </a:rPr>
              <a:t>fallar</a:t>
            </a:r>
            <a:r>
              <a:rPr sz="2400" b="1" i="0" dirty="0">
                <a:solidFill>
                  <a:srgbClr val="222222"/>
                </a:solidFill>
                <a:latin typeface="Tw Cen MT"/>
              </a:rPr>
              <a:t> </a:t>
            </a:r>
            <a:r>
              <a:rPr sz="2400" b="1" i="0" dirty="0" err="1">
                <a:solidFill>
                  <a:srgbClr val="222222"/>
                </a:solidFill>
                <a:latin typeface="Tw Cen MT"/>
              </a:rPr>
              <a:t>en</a:t>
            </a:r>
            <a:r>
              <a:rPr sz="2400" b="1" i="0" dirty="0">
                <a:solidFill>
                  <a:srgbClr val="222222"/>
                </a:solidFill>
                <a:latin typeface="Tw Cen MT"/>
              </a:rPr>
              <a:t> </a:t>
            </a:r>
            <a:r>
              <a:rPr sz="2400" b="1" i="0" dirty="0" err="1">
                <a:solidFill>
                  <a:srgbClr val="222222"/>
                </a:solidFill>
                <a:latin typeface="Tw Cen MT"/>
              </a:rPr>
              <a:t>organizaciones</a:t>
            </a:r>
            <a:r>
              <a:rPr sz="2400" b="1" i="0" dirty="0">
                <a:solidFill>
                  <a:srgbClr val="222222"/>
                </a:solidFill>
                <a:latin typeface="Tw Cen MT"/>
              </a:rPr>
              <a:t> </a:t>
            </a:r>
            <a:r>
              <a:rPr sz="2400" b="1" i="0" dirty="0" err="1">
                <a:solidFill>
                  <a:srgbClr val="222222"/>
                </a:solidFill>
                <a:latin typeface="Tw Cen MT"/>
              </a:rPr>
              <a:t>grandes</a:t>
            </a:r>
            <a:r>
              <a:rPr sz="2400" b="1" i="0" dirty="0">
                <a:solidFill>
                  <a:srgbClr val="222222"/>
                </a:solidFill>
                <a:latin typeface="Tw Cen MT"/>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lang="es-419" sz="2800" b="1" i="0" dirty="0">
                <a:solidFill>
                  <a:srgbClr val="FFFFFF"/>
                </a:solidFill>
                <a:latin typeface="Tw Cen MT"/>
              </a:rPr>
              <a:t>Síntesis - </a:t>
            </a:r>
            <a:r>
              <a:rPr sz="2800" b="1" i="0" dirty="0" err="1">
                <a:solidFill>
                  <a:srgbClr val="FFFFFF"/>
                </a:solidFill>
                <a:latin typeface="Tw Cen MT"/>
              </a:rPr>
              <a:t>Conflictos</a:t>
            </a:r>
            <a:r>
              <a:rPr sz="2800" b="1" i="0" dirty="0">
                <a:solidFill>
                  <a:srgbClr val="FFFFFF"/>
                </a:solidFill>
                <a:latin typeface="Tw Cen MT"/>
              </a:rPr>
              <a:t> de </a:t>
            </a:r>
            <a:r>
              <a:rPr sz="2800" b="1" i="0" dirty="0" err="1">
                <a:solidFill>
                  <a:srgbClr val="FFFFFF"/>
                </a:solidFill>
                <a:latin typeface="Tw Cen MT"/>
              </a:rPr>
              <a:t>Interés</a:t>
            </a:r>
            <a:r>
              <a:rPr sz="2800" b="1" i="0" dirty="0">
                <a:solidFill>
                  <a:srgbClr val="FFFFFF"/>
                </a:solidFill>
                <a:latin typeface="Tw Cen MT"/>
              </a:rPr>
              <a:t> y </a:t>
            </a:r>
            <a:r>
              <a:rPr sz="2800" b="1" i="0" dirty="0" err="1">
                <a:solidFill>
                  <a:srgbClr val="FFFFFF"/>
                </a:solidFill>
                <a:latin typeface="Tw Cen MT"/>
              </a:rPr>
              <a:t>Contratos</a:t>
            </a:r>
            <a:endParaRPr sz="2800" b="1" i="0" dirty="0">
              <a:solidFill>
                <a:srgbClr val="FFFFFF"/>
              </a:solidFill>
              <a:latin typeface="Tw Cen MT"/>
            </a:endParaRPr>
          </a:p>
        </p:txBody>
      </p:sp>
      <p:sp>
        <p:nvSpPr>
          <p:cNvPr id="5" name="TextBox 4"/>
          <p:cNvSpPr txBox="1"/>
          <p:nvPr/>
        </p:nvSpPr>
        <p:spPr>
          <a:xfrm>
            <a:off x="406400" y="1219200"/>
            <a:ext cx="11379200" cy="5609228"/>
          </a:xfrm>
          <a:prstGeom prst="rect">
            <a:avLst/>
          </a:prstGeom>
          <a:noFill/>
        </p:spPr>
        <p:txBody>
          <a:bodyPr wrap="square">
            <a:spAutoFit/>
          </a:bodyPr>
          <a:lstStyle/>
          <a:p>
            <a:pPr algn="l">
              <a:spcBef>
                <a:spcPts val="500"/>
              </a:spcBef>
            </a:pPr>
            <a:r>
              <a:rPr sz="2800" b="0" i="0" dirty="0">
                <a:solidFill>
                  <a:srgbClr val="222222"/>
                </a:solidFill>
                <a:latin typeface="Tw Cen MT"/>
              </a:rPr>
              <a:t>Si </a:t>
            </a:r>
            <a:r>
              <a:rPr sz="2800" b="0" i="0" dirty="0" err="1">
                <a:solidFill>
                  <a:srgbClr val="222222"/>
                </a:solidFill>
                <a:latin typeface="Tw Cen MT"/>
              </a:rPr>
              <a:t>una</a:t>
            </a:r>
            <a:r>
              <a:rPr sz="2800" b="0" i="0" dirty="0">
                <a:solidFill>
                  <a:srgbClr val="222222"/>
                </a:solidFill>
                <a:latin typeface="Tw Cen MT"/>
              </a:rPr>
              <a:t> </a:t>
            </a:r>
            <a:r>
              <a:rPr sz="2800" b="0" i="0" dirty="0" err="1">
                <a:solidFill>
                  <a:srgbClr val="222222"/>
                </a:solidFill>
                <a:latin typeface="Tw Cen MT"/>
              </a:rPr>
              <a:t>compañía</a:t>
            </a:r>
            <a:r>
              <a:rPr sz="2800" b="0" i="0" dirty="0">
                <a:solidFill>
                  <a:srgbClr val="222222"/>
                </a:solidFill>
                <a:latin typeface="Tw Cen MT"/>
              </a:rPr>
              <a:t> </a:t>
            </a:r>
            <a:r>
              <a:rPr sz="2800" b="0" i="0" dirty="0" err="1">
                <a:solidFill>
                  <a:srgbClr val="222222"/>
                </a:solidFill>
                <a:latin typeface="Tw Cen MT"/>
              </a:rPr>
              <a:t>existe</a:t>
            </a:r>
            <a:r>
              <a:rPr sz="2800" b="0" i="0" dirty="0">
                <a:solidFill>
                  <a:srgbClr val="222222"/>
                </a:solidFill>
                <a:latin typeface="Tw Cen MT"/>
              </a:rPr>
              <a:t>, es </a:t>
            </a:r>
            <a:r>
              <a:rPr sz="2800" b="0" i="0" dirty="0" err="1">
                <a:solidFill>
                  <a:srgbClr val="222222"/>
                </a:solidFill>
                <a:latin typeface="Tw Cen MT"/>
              </a:rPr>
              <a:t>porque</a:t>
            </a:r>
            <a:r>
              <a:rPr sz="2800" b="0" i="0" dirty="0">
                <a:solidFill>
                  <a:srgbClr val="222222"/>
                </a:solidFill>
                <a:latin typeface="Tw Cen MT"/>
              </a:rPr>
              <a:t> es </a:t>
            </a:r>
            <a:r>
              <a:rPr sz="2800" b="0" i="0" dirty="0" err="1">
                <a:solidFill>
                  <a:srgbClr val="222222"/>
                </a:solidFill>
                <a:latin typeface="Tw Cen MT"/>
              </a:rPr>
              <a:t>una</a:t>
            </a:r>
            <a:r>
              <a:rPr sz="2800" b="0" i="0" dirty="0">
                <a:solidFill>
                  <a:srgbClr val="222222"/>
                </a:solidFill>
                <a:latin typeface="Tw Cen MT"/>
              </a:rPr>
              <a:t> </a:t>
            </a:r>
            <a:r>
              <a:rPr sz="2800" b="0" i="0" dirty="0" err="1">
                <a:solidFill>
                  <a:srgbClr val="222222"/>
                </a:solidFill>
                <a:latin typeface="Tw Cen MT"/>
              </a:rPr>
              <a:t>estructura</a:t>
            </a:r>
            <a:r>
              <a:rPr sz="2800" b="0" i="0" dirty="0">
                <a:solidFill>
                  <a:srgbClr val="222222"/>
                </a:solidFill>
                <a:latin typeface="Tw Cen MT"/>
              </a:rPr>
              <a:t> </a:t>
            </a:r>
            <a:r>
              <a:rPr sz="2800" b="0" i="0" dirty="0" err="1">
                <a:solidFill>
                  <a:srgbClr val="222222"/>
                </a:solidFill>
                <a:latin typeface="Tw Cen MT"/>
              </a:rPr>
              <a:t>más</a:t>
            </a:r>
            <a:r>
              <a:rPr sz="2800" b="0" i="0" dirty="0">
                <a:solidFill>
                  <a:srgbClr val="222222"/>
                </a:solidFill>
                <a:latin typeface="Tw Cen MT"/>
              </a:rPr>
              <a:t> </a:t>
            </a:r>
            <a:r>
              <a:rPr sz="2800" b="0" i="0" dirty="0" err="1">
                <a:solidFill>
                  <a:srgbClr val="222222"/>
                </a:solidFill>
                <a:latin typeface="Tw Cen MT"/>
              </a:rPr>
              <a:t>eficiente</a:t>
            </a:r>
            <a:r>
              <a:rPr sz="2800" b="0" i="0" dirty="0">
                <a:solidFill>
                  <a:srgbClr val="222222"/>
                </a:solidFill>
                <a:latin typeface="Tw Cen MT"/>
              </a:rPr>
              <a:t> </a:t>
            </a:r>
            <a:r>
              <a:rPr sz="2800" b="0" i="0" dirty="0" err="1">
                <a:solidFill>
                  <a:srgbClr val="222222"/>
                </a:solidFill>
                <a:latin typeface="Tw Cen MT"/>
              </a:rPr>
              <a:t>que</a:t>
            </a:r>
            <a:r>
              <a:rPr sz="2800" b="0" i="0" dirty="0">
                <a:solidFill>
                  <a:srgbClr val="222222"/>
                </a:solidFill>
                <a:latin typeface="Tw Cen MT"/>
              </a:rPr>
              <a:t> las </a:t>
            </a:r>
            <a:r>
              <a:rPr sz="2800" b="0" i="0" dirty="0" err="1">
                <a:solidFill>
                  <a:srgbClr val="222222"/>
                </a:solidFill>
                <a:latin typeface="Tw Cen MT"/>
              </a:rPr>
              <a:t>alternativas</a:t>
            </a:r>
            <a:r>
              <a:rPr sz="2800" b="0" i="0" dirty="0">
                <a:solidFill>
                  <a:srgbClr val="222222"/>
                </a:solidFill>
                <a:latin typeface="Tw Cen MT"/>
              </a:rPr>
              <a:t> para </a:t>
            </a:r>
            <a:r>
              <a:rPr sz="2800" b="0" i="0" dirty="0" err="1">
                <a:solidFill>
                  <a:srgbClr val="222222"/>
                </a:solidFill>
                <a:latin typeface="Tw Cen MT"/>
              </a:rPr>
              <a:t>producir</a:t>
            </a:r>
            <a:r>
              <a:rPr sz="2800" b="0" i="0" dirty="0">
                <a:solidFill>
                  <a:srgbClr val="222222"/>
                </a:solidFill>
                <a:latin typeface="Tw Cen MT"/>
              </a:rPr>
              <a:t>.</a:t>
            </a:r>
          </a:p>
          <a:p>
            <a:pPr algn="l">
              <a:spcBef>
                <a:spcPts val="500"/>
              </a:spcBef>
            </a:pPr>
            <a:r>
              <a:rPr sz="2800" b="1" i="0" dirty="0">
                <a:solidFill>
                  <a:srgbClr val="222222"/>
                </a:solidFill>
                <a:latin typeface="Tw Cen MT"/>
              </a:rPr>
              <a:t>■  Los </a:t>
            </a:r>
            <a:r>
              <a:rPr sz="2800" b="1" i="0" dirty="0" err="1">
                <a:solidFill>
                  <a:srgbClr val="222222"/>
                </a:solidFill>
                <a:latin typeface="Tw Cen MT"/>
              </a:rPr>
              <a:t>gerentes</a:t>
            </a:r>
            <a:r>
              <a:rPr sz="2800" b="1" i="0" dirty="0">
                <a:solidFill>
                  <a:srgbClr val="222222"/>
                </a:solidFill>
                <a:latin typeface="Tw Cen MT"/>
              </a:rPr>
              <a:t> y </a:t>
            </a:r>
            <a:r>
              <a:rPr sz="2800" b="1" i="0" dirty="0" err="1">
                <a:solidFill>
                  <a:srgbClr val="222222"/>
                </a:solidFill>
                <a:latin typeface="Tw Cen MT"/>
              </a:rPr>
              <a:t>empleados</a:t>
            </a:r>
            <a:r>
              <a:rPr lang="es-419" sz="2800" b="1" dirty="0">
                <a:solidFill>
                  <a:srgbClr val="222222"/>
                </a:solidFill>
                <a:latin typeface="Tw Cen MT"/>
              </a:rPr>
              <a:t>, en principio, </a:t>
            </a:r>
            <a:r>
              <a:rPr sz="2800" b="1" i="0" dirty="0">
                <a:solidFill>
                  <a:srgbClr val="222222"/>
                </a:solidFill>
                <a:latin typeface="Tw Cen MT"/>
              </a:rPr>
              <a:t>no </a:t>
            </a:r>
            <a:r>
              <a:rPr sz="2800" b="1" i="0" dirty="0" err="1">
                <a:solidFill>
                  <a:srgbClr val="222222"/>
                </a:solidFill>
                <a:latin typeface="Tw Cen MT"/>
              </a:rPr>
              <a:t>tienen</a:t>
            </a:r>
            <a:r>
              <a:rPr sz="2800" b="1" i="0" dirty="0">
                <a:solidFill>
                  <a:srgbClr val="222222"/>
                </a:solidFill>
                <a:latin typeface="Tw Cen MT"/>
              </a:rPr>
              <a:t> </a:t>
            </a:r>
            <a:r>
              <a:rPr sz="2800" b="1" i="0" dirty="0" err="1">
                <a:solidFill>
                  <a:srgbClr val="222222"/>
                </a:solidFill>
                <a:latin typeface="Tw Cen MT"/>
              </a:rPr>
              <a:t>como</a:t>
            </a:r>
            <a:r>
              <a:rPr sz="2800" b="1" i="0" dirty="0">
                <a:solidFill>
                  <a:srgbClr val="222222"/>
                </a:solidFill>
                <a:latin typeface="Tw Cen MT"/>
              </a:rPr>
              <a:t> </a:t>
            </a:r>
            <a:r>
              <a:rPr sz="2800" b="1" i="0" dirty="0" err="1">
                <a:solidFill>
                  <a:srgbClr val="222222"/>
                </a:solidFill>
                <a:latin typeface="Tw Cen MT"/>
              </a:rPr>
              <a:t>objetivo</a:t>
            </a:r>
            <a:r>
              <a:rPr sz="2800" b="1" i="0" dirty="0">
                <a:solidFill>
                  <a:srgbClr val="222222"/>
                </a:solidFill>
                <a:latin typeface="Tw Cen MT"/>
              </a:rPr>
              <a:t> principal </a:t>
            </a:r>
            <a:r>
              <a:rPr sz="2800" b="1" i="0" dirty="0" err="1">
                <a:solidFill>
                  <a:srgbClr val="222222"/>
                </a:solidFill>
                <a:latin typeface="Tw Cen MT"/>
              </a:rPr>
              <a:t>maximizar</a:t>
            </a:r>
            <a:r>
              <a:rPr sz="2800" b="1" i="0" dirty="0">
                <a:solidFill>
                  <a:srgbClr val="222222"/>
                </a:solidFill>
                <a:latin typeface="Tw Cen MT"/>
              </a:rPr>
              <a:t> </a:t>
            </a:r>
            <a:r>
              <a:rPr sz="2800" b="1" i="0" dirty="0" err="1">
                <a:solidFill>
                  <a:srgbClr val="222222"/>
                </a:solidFill>
                <a:latin typeface="Tw Cen MT"/>
              </a:rPr>
              <a:t>el</a:t>
            </a:r>
            <a:r>
              <a:rPr sz="2800" b="1" i="0" dirty="0">
                <a:solidFill>
                  <a:srgbClr val="222222"/>
                </a:solidFill>
                <a:latin typeface="Tw Cen MT"/>
              </a:rPr>
              <a:t> valor de la </a:t>
            </a:r>
            <a:r>
              <a:rPr sz="2800" b="1" i="0" dirty="0" err="1">
                <a:solidFill>
                  <a:srgbClr val="222222"/>
                </a:solidFill>
                <a:latin typeface="Tw Cen MT"/>
              </a:rPr>
              <a:t>compañía</a:t>
            </a:r>
            <a:r>
              <a:rPr sz="2800" b="1" i="0" dirty="0">
                <a:solidFill>
                  <a:srgbClr val="222222"/>
                </a:solidFill>
                <a:latin typeface="Tw Cen MT"/>
              </a:rPr>
              <a:t>.</a:t>
            </a:r>
            <a:endParaRPr lang="es-419" sz="2800" b="1" i="0" dirty="0">
              <a:solidFill>
                <a:srgbClr val="222222"/>
              </a:solidFill>
              <a:latin typeface="Tw Cen MT"/>
            </a:endParaRPr>
          </a:p>
          <a:p>
            <a:pPr algn="l">
              <a:spcBef>
                <a:spcPts val="500"/>
              </a:spcBef>
            </a:pPr>
            <a:endParaRPr sz="2800" b="1" i="0" dirty="0">
              <a:solidFill>
                <a:srgbClr val="222222"/>
              </a:solidFill>
              <a:latin typeface="Tw Cen MT"/>
            </a:endParaRPr>
          </a:p>
          <a:p>
            <a:pPr algn="l">
              <a:spcBef>
                <a:spcPts val="500"/>
              </a:spcBef>
            </a:pPr>
            <a:r>
              <a:rPr sz="2800" b="1" i="0" dirty="0">
                <a:solidFill>
                  <a:srgbClr val="8B0000"/>
                </a:solidFill>
                <a:latin typeface="Tw Cen MT"/>
              </a:rPr>
              <a:t>LA SOLUCIÓN PARCIAL</a:t>
            </a:r>
          </a:p>
          <a:p>
            <a:pPr algn="l">
              <a:spcBef>
                <a:spcPts val="500"/>
              </a:spcBef>
            </a:pPr>
            <a:r>
              <a:rPr sz="2800" b="0" i="0" dirty="0">
                <a:solidFill>
                  <a:srgbClr val="222222"/>
                </a:solidFill>
                <a:latin typeface="Tw Cen MT"/>
              </a:rPr>
              <a:t>■  </a:t>
            </a:r>
            <a:r>
              <a:rPr sz="2800" b="0" i="0" dirty="0" err="1">
                <a:solidFill>
                  <a:srgbClr val="222222"/>
                </a:solidFill>
                <a:latin typeface="Tw Cen MT"/>
              </a:rPr>
              <a:t>Caracterizar</a:t>
            </a:r>
            <a:r>
              <a:rPr sz="2800" b="0" i="0" dirty="0">
                <a:solidFill>
                  <a:srgbClr val="222222"/>
                </a:solidFill>
                <a:latin typeface="Tw Cen MT"/>
              </a:rPr>
              <a:t> a las </a:t>
            </a:r>
            <a:r>
              <a:rPr sz="2800" b="0" i="0" dirty="0" err="1">
                <a:solidFill>
                  <a:srgbClr val="222222"/>
                </a:solidFill>
                <a:latin typeface="Tw Cen MT"/>
              </a:rPr>
              <a:t>compañías</a:t>
            </a:r>
            <a:r>
              <a:rPr sz="2800" b="0" i="0" dirty="0">
                <a:solidFill>
                  <a:srgbClr val="222222"/>
                </a:solidFill>
                <a:latin typeface="Tw Cen MT"/>
              </a:rPr>
              <a:t> </a:t>
            </a:r>
            <a:r>
              <a:rPr sz="2800" b="0" i="0" dirty="0" err="1">
                <a:solidFill>
                  <a:srgbClr val="222222"/>
                </a:solidFill>
                <a:latin typeface="Tw Cen MT"/>
              </a:rPr>
              <a:t>como</a:t>
            </a:r>
            <a:r>
              <a:rPr sz="2800" b="0" i="0" dirty="0">
                <a:solidFill>
                  <a:srgbClr val="222222"/>
                </a:solidFill>
                <a:latin typeface="Tw Cen MT"/>
              </a:rPr>
              <a:t> </a:t>
            </a:r>
            <a:r>
              <a:rPr sz="2800" b="0" i="0" dirty="0" err="1">
                <a:solidFill>
                  <a:srgbClr val="222222"/>
                </a:solidFill>
                <a:latin typeface="Tw Cen MT"/>
              </a:rPr>
              <a:t>el</a:t>
            </a:r>
            <a:r>
              <a:rPr sz="2800" b="0" i="0" dirty="0">
                <a:solidFill>
                  <a:srgbClr val="222222"/>
                </a:solidFill>
                <a:latin typeface="Tw Cen MT"/>
              </a:rPr>
              <a:t> 'Centro Focal' de </a:t>
            </a:r>
            <a:r>
              <a:rPr sz="2800" b="0" i="0" dirty="0" err="1">
                <a:solidFill>
                  <a:srgbClr val="222222"/>
                </a:solidFill>
                <a:latin typeface="Tw Cen MT"/>
              </a:rPr>
              <a:t>una</a:t>
            </a:r>
            <a:r>
              <a:rPr sz="2800" b="0" i="0" dirty="0">
                <a:solidFill>
                  <a:srgbClr val="222222"/>
                </a:solidFill>
                <a:latin typeface="Tw Cen MT"/>
              </a:rPr>
              <a:t> </a:t>
            </a:r>
            <a:r>
              <a:rPr sz="2800" b="0" i="0" dirty="0" err="1">
                <a:solidFill>
                  <a:srgbClr val="222222"/>
                </a:solidFill>
                <a:latin typeface="Tw Cen MT"/>
              </a:rPr>
              <a:t>serie</a:t>
            </a:r>
            <a:r>
              <a:rPr sz="2800" b="0" i="0" dirty="0">
                <a:solidFill>
                  <a:srgbClr val="222222"/>
                </a:solidFill>
                <a:latin typeface="Tw Cen MT"/>
              </a:rPr>
              <a:t> de </a:t>
            </a:r>
            <a:r>
              <a:rPr sz="2800" b="0" i="0" dirty="0" err="1">
                <a:solidFill>
                  <a:srgbClr val="222222"/>
                </a:solidFill>
                <a:latin typeface="Tw Cen MT"/>
              </a:rPr>
              <a:t>contratos</a:t>
            </a:r>
            <a:r>
              <a:rPr sz="2800" b="0" i="0" dirty="0">
                <a:solidFill>
                  <a:srgbClr val="222222"/>
                </a:solidFill>
                <a:latin typeface="Tw Cen MT"/>
              </a:rPr>
              <a:t>.</a:t>
            </a:r>
          </a:p>
          <a:p>
            <a:pPr algn="l">
              <a:spcBef>
                <a:spcPts val="200"/>
              </a:spcBef>
            </a:pPr>
            <a:r>
              <a:rPr sz="2800" b="0" i="0" dirty="0">
                <a:solidFill>
                  <a:srgbClr val="222222"/>
                </a:solidFill>
                <a:latin typeface="Tw Cen MT"/>
              </a:rPr>
              <a:t>    ▸  </a:t>
            </a:r>
            <a:r>
              <a:rPr sz="2800" b="0" i="0" dirty="0" err="1">
                <a:solidFill>
                  <a:srgbClr val="222222"/>
                </a:solidFill>
                <a:latin typeface="Tw Cen MT"/>
              </a:rPr>
              <a:t>Contratos</a:t>
            </a:r>
            <a:r>
              <a:rPr sz="2800" b="0" i="0" dirty="0">
                <a:solidFill>
                  <a:srgbClr val="222222"/>
                </a:solidFill>
                <a:latin typeface="Tw Cen MT"/>
              </a:rPr>
              <a:t> con </a:t>
            </a:r>
            <a:r>
              <a:rPr sz="2800" b="0" i="0" dirty="0" err="1">
                <a:solidFill>
                  <a:srgbClr val="222222"/>
                </a:solidFill>
                <a:latin typeface="Tw Cen MT"/>
              </a:rPr>
              <a:t>empleados</a:t>
            </a:r>
            <a:r>
              <a:rPr sz="2800" b="0" i="0" dirty="0">
                <a:solidFill>
                  <a:srgbClr val="222222"/>
                </a:solidFill>
                <a:latin typeface="Tw Cen MT"/>
              </a:rPr>
              <a:t>, </a:t>
            </a:r>
            <a:r>
              <a:rPr sz="2800" b="0" i="0" dirty="0" err="1">
                <a:solidFill>
                  <a:srgbClr val="222222"/>
                </a:solidFill>
                <a:latin typeface="Tw Cen MT"/>
              </a:rPr>
              <a:t>proveedores</a:t>
            </a:r>
            <a:r>
              <a:rPr sz="2800" b="0" i="0" dirty="0">
                <a:solidFill>
                  <a:srgbClr val="222222"/>
                </a:solidFill>
                <a:latin typeface="Tw Cen MT"/>
              </a:rPr>
              <a:t>, </a:t>
            </a:r>
            <a:r>
              <a:rPr sz="2800" b="0" i="0" dirty="0" err="1">
                <a:solidFill>
                  <a:srgbClr val="222222"/>
                </a:solidFill>
                <a:latin typeface="Tw Cen MT"/>
              </a:rPr>
              <a:t>bancos</a:t>
            </a:r>
            <a:r>
              <a:rPr sz="2800" b="0" i="0" dirty="0">
                <a:solidFill>
                  <a:srgbClr val="222222"/>
                </a:solidFill>
                <a:latin typeface="Tw Cen MT"/>
              </a:rPr>
              <a:t>, </a:t>
            </a:r>
            <a:r>
              <a:rPr sz="2800" b="0" i="0" dirty="0" err="1">
                <a:solidFill>
                  <a:srgbClr val="222222"/>
                </a:solidFill>
                <a:latin typeface="Tw Cen MT"/>
              </a:rPr>
              <a:t>compañías</a:t>
            </a:r>
            <a:r>
              <a:rPr sz="2800" b="0" i="0" dirty="0">
                <a:solidFill>
                  <a:srgbClr val="222222"/>
                </a:solidFill>
                <a:latin typeface="Tw Cen MT"/>
              </a:rPr>
              <a:t> de </a:t>
            </a:r>
            <a:r>
              <a:rPr sz="2800" b="0" i="0" dirty="0" err="1">
                <a:solidFill>
                  <a:srgbClr val="222222"/>
                </a:solidFill>
                <a:latin typeface="Tw Cen MT"/>
              </a:rPr>
              <a:t>seguro</a:t>
            </a:r>
            <a:r>
              <a:rPr sz="2800" b="0" i="0" dirty="0">
                <a:solidFill>
                  <a:srgbClr val="222222"/>
                </a:solidFill>
                <a:latin typeface="Tw Cen MT"/>
              </a:rPr>
              <a:t>, etc.</a:t>
            </a:r>
          </a:p>
          <a:p>
            <a:pPr algn="ctr">
              <a:spcBef>
                <a:spcPts val="500"/>
              </a:spcBef>
            </a:pPr>
            <a:r>
              <a:rPr sz="2800" b="1" i="0" dirty="0" err="1">
                <a:solidFill>
                  <a:srgbClr val="222222"/>
                </a:solidFill>
                <a:latin typeface="Tw Cen MT"/>
              </a:rPr>
              <a:t>Estos</a:t>
            </a:r>
            <a:r>
              <a:rPr sz="2800" b="1" i="0" dirty="0">
                <a:solidFill>
                  <a:srgbClr val="222222"/>
                </a:solidFill>
                <a:latin typeface="Tw Cen MT"/>
              </a:rPr>
              <a:t> </a:t>
            </a:r>
            <a:r>
              <a:rPr sz="2800" b="1" i="0" dirty="0" err="1">
                <a:solidFill>
                  <a:srgbClr val="222222"/>
                </a:solidFill>
                <a:latin typeface="Tw Cen MT"/>
              </a:rPr>
              <a:t>contratos</a:t>
            </a:r>
            <a:r>
              <a:rPr sz="2800" b="1" i="0" dirty="0">
                <a:solidFill>
                  <a:srgbClr val="222222"/>
                </a:solidFill>
                <a:latin typeface="Tw Cen MT"/>
              </a:rPr>
              <a:t>, bien </a:t>
            </a:r>
            <a:r>
              <a:rPr sz="2800" b="1" i="0" dirty="0" err="1">
                <a:solidFill>
                  <a:srgbClr val="222222"/>
                </a:solidFill>
                <a:latin typeface="Tw Cen MT"/>
              </a:rPr>
              <a:t>diseñados</a:t>
            </a:r>
            <a:r>
              <a:rPr sz="2800" b="1" i="0" dirty="0">
                <a:solidFill>
                  <a:srgbClr val="222222"/>
                </a:solidFill>
                <a:latin typeface="Tw Cen MT"/>
              </a:rPr>
              <a:t>, </a:t>
            </a:r>
            <a:r>
              <a:rPr sz="2800" b="1" i="0" dirty="0" err="1">
                <a:solidFill>
                  <a:srgbClr val="222222"/>
                </a:solidFill>
                <a:latin typeface="Tw Cen MT"/>
              </a:rPr>
              <a:t>pueden</a:t>
            </a:r>
            <a:r>
              <a:rPr sz="2800" b="1" i="0" dirty="0">
                <a:solidFill>
                  <a:srgbClr val="222222"/>
                </a:solidFill>
                <a:latin typeface="Tw Cen MT"/>
              </a:rPr>
              <a:t> </a:t>
            </a:r>
            <a:r>
              <a:rPr sz="2800" b="1" i="0" dirty="0" err="1">
                <a:solidFill>
                  <a:srgbClr val="222222"/>
                </a:solidFill>
                <a:latin typeface="Tw Cen MT"/>
              </a:rPr>
              <a:t>alinear</a:t>
            </a:r>
            <a:r>
              <a:rPr sz="2800" b="1" i="0" dirty="0">
                <a:solidFill>
                  <a:srgbClr val="222222"/>
                </a:solidFill>
                <a:latin typeface="Tw Cen MT"/>
              </a:rPr>
              <a:t> </a:t>
            </a:r>
            <a:r>
              <a:rPr sz="2800" b="1" i="0" dirty="0" err="1">
                <a:solidFill>
                  <a:srgbClr val="222222"/>
                </a:solidFill>
                <a:latin typeface="Tw Cen MT"/>
              </a:rPr>
              <a:t>los</a:t>
            </a:r>
            <a:r>
              <a:rPr sz="2800" b="1" i="0" dirty="0">
                <a:solidFill>
                  <a:srgbClr val="222222"/>
                </a:solidFill>
                <a:latin typeface="Tw Cen MT"/>
              </a:rPr>
              <a:t> </a:t>
            </a:r>
            <a:r>
              <a:rPr sz="2800" b="1" i="0" dirty="0" err="1">
                <a:solidFill>
                  <a:srgbClr val="222222"/>
                </a:solidFill>
                <a:latin typeface="Tw Cen MT"/>
              </a:rPr>
              <a:t>incentivos</a:t>
            </a:r>
            <a:r>
              <a:rPr sz="2800" b="1" i="0" dirty="0">
                <a:solidFill>
                  <a:srgbClr val="222222"/>
                </a:solidFill>
                <a:latin typeface="Tw Cen MT"/>
              </a:rPr>
              <a:t> </a:t>
            </a:r>
            <a:r>
              <a:rPr sz="2800" b="1" i="0" dirty="0" err="1">
                <a:solidFill>
                  <a:srgbClr val="222222"/>
                </a:solidFill>
                <a:latin typeface="Tw Cen MT"/>
              </a:rPr>
              <a:t>individuales</a:t>
            </a:r>
            <a:r>
              <a:rPr sz="2800" b="1" i="0" dirty="0">
                <a:solidFill>
                  <a:srgbClr val="222222"/>
                </a:solidFill>
                <a:latin typeface="Tw Cen MT"/>
              </a:rPr>
              <a:t> con </a:t>
            </a:r>
            <a:r>
              <a:rPr sz="2800" b="1" i="0" dirty="0" err="1">
                <a:solidFill>
                  <a:srgbClr val="222222"/>
                </a:solidFill>
                <a:latin typeface="Tw Cen MT"/>
              </a:rPr>
              <a:t>los</a:t>
            </a:r>
            <a:r>
              <a:rPr sz="2800" b="1" i="0" dirty="0">
                <a:solidFill>
                  <a:srgbClr val="222222"/>
                </a:solidFill>
                <a:latin typeface="Tw Cen MT"/>
              </a:rPr>
              <a:t> </a:t>
            </a:r>
            <a:r>
              <a:rPr sz="2800" b="1" i="0" dirty="0" err="1">
                <a:solidFill>
                  <a:srgbClr val="222222"/>
                </a:solidFill>
                <a:latin typeface="Tw Cen MT"/>
              </a:rPr>
              <a:t>objetivos</a:t>
            </a:r>
            <a:r>
              <a:rPr sz="2800" b="1" i="0" dirty="0">
                <a:solidFill>
                  <a:srgbClr val="222222"/>
                </a:solidFill>
                <a:latin typeface="Tw Cen MT"/>
              </a:rPr>
              <a:t> de la </a:t>
            </a:r>
            <a:r>
              <a:rPr sz="2800" b="1" i="0" dirty="0" err="1">
                <a:solidFill>
                  <a:srgbClr val="222222"/>
                </a:solidFill>
                <a:latin typeface="Tw Cen MT"/>
              </a:rPr>
              <a:t>firma</a:t>
            </a:r>
            <a:r>
              <a:rPr sz="2800" b="1" i="0" dirty="0">
                <a:solidFill>
                  <a:srgbClr val="222222"/>
                </a:solidFill>
                <a:latin typeface="Tw Cen MT"/>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Los Tres Pilares de la Arquitectura Organizacional</a:t>
            </a:r>
          </a:p>
        </p:txBody>
      </p:sp>
      <p:sp>
        <p:nvSpPr>
          <p:cNvPr id="5" name="TextBox 4"/>
          <p:cNvSpPr txBox="1"/>
          <p:nvPr/>
        </p:nvSpPr>
        <p:spPr>
          <a:xfrm>
            <a:off x="406400" y="1219200"/>
            <a:ext cx="11379200" cy="5555367"/>
          </a:xfrm>
          <a:prstGeom prst="rect">
            <a:avLst/>
          </a:prstGeom>
          <a:noFill/>
        </p:spPr>
        <p:txBody>
          <a:bodyPr wrap="square">
            <a:spAutoFit/>
          </a:bodyPr>
          <a:lstStyle/>
          <a:p>
            <a:pPr algn="l">
              <a:spcBef>
                <a:spcPts val="500"/>
              </a:spcBef>
            </a:pPr>
            <a:r>
              <a:rPr sz="2400" b="0" i="0" dirty="0">
                <a:solidFill>
                  <a:srgbClr val="222222"/>
                </a:solidFill>
                <a:latin typeface="Tw Cen MT"/>
              </a:rPr>
              <a:t>Todo </a:t>
            </a:r>
            <a:r>
              <a:rPr sz="2400" b="0" i="0" dirty="0" err="1">
                <a:solidFill>
                  <a:srgbClr val="222222"/>
                </a:solidFill>
                <a:latin typeface="Tw Cen MT"/>
              </a:rPr>
              <a:t>contrato</a:t>
            </a:r>
            <a:r>
              <a:rPr sz="2400" b="0" i="0" dirty="0">
                <a:solidFill>
                  <a:srgbClr val="222222"/>
                </a:solidFill>
                <a:latin typeface="Tw Cen MT"/>
              </a:rPr>
              <a:t> </a:t>
            </a:r>
            <a:r>
              <a:rPr sz="2400" b="0" i="0" dirty="0" err="1">
                <a:solidFill>
                  <a:srgbClr val="222222"/>
                </a:solidFill>
                <a:latin typeface="Tw Cen MT"/>
              </a:rPr>
              <a:t>tiene</a:t>
            </a:r>
            <a:r>
              <a:rPr sz="2400" b="0" i="0" dirty="0">
                <a:solidFill>
                  <a:srgbClr val="222222"/>
                </a:solidFill>
                <a:latin typeface="Tw Cen MT"/>
              </a:rPr>
              <a:t>, </a:t>
            </a:r>
            <a:r>
              <a:rPr sz="2400" b="0" i="0" dirty="0" err="1">
                <a:solidFill>
                  <a:srgbClr val="222222"/>
                </a:solidFill>
                <a:latin typeface="Tw Cen MT"/>
              </a:rPr>
              <a:t>implícita</a:t>
            </a:r>
            <a:r>
              <a:rPr sz="2400" b="0" i="0" dirty="0">
                <a:solidFill>
                  <a:srgbClr val="222222"/>
                </a:solidFill>
                <a:latin typeface="Tw Cen MT"/>
              </a:rPr>
              <a:t> o </a:t>
            </a:r>
            <a:r>
              <a:rPr sz="2400" b="0" i="0" dirty="0" err="1">
                <a:solidFill>
                  <a:srgbClr val="222222"/>
                </a:solidFill>
                <a:latin typeface="Tw Cen MT"/>
              </a:rPr>
              <a:t>explícitamente</a:t>
            </a:r>
            <a:r>
              <a:rPr sz="2400" b="0" i="0" dirty="0">
                <a:solidFill>
                  <a:srgbClr val="222222"/>
                </a:solidFill>
                <a:latin typeface="Tw Cen MT"/>
              </a:rPr>
              <a:t>, </a:t>
            </a:r>
            <a:r>
              <a:rPr sz="2400" b="0" i="0" dirty="0" err="1">
                <a:solidFill>
                  <a:srgbClr val="222222"/>
                </a:solidFill>
                <a:latin typeface="Tw Cen MT"/>
              </a:rPr>
              <a:t>tres</a:t>
            </a:r>
            <a:r>
              <a:rPr sz="2400" b="0" i="0" dirty="0">
                <a:solidFill>
                  <a:srgbClr val="222222"/>
                </a:solidFill>
                <a:latin typeface="Tw Cen MT"/>
              </a:rPr>
              <a:t> </a:t>
            </a:r>
            <a:r>
              <a:rPr sz="2400" b="0" i="0" dirty="0" err="1">
                <a:solidFill>
                  <a:srgbClr val="222222"/>
                </a:solidFill>
                <a:latin typeface="Tw Cen MT"/>
              </a:rPr>
              <a:t>elementos</a:t>
            </a:r>
            <a:r>
              <a:rPr sz="2400" b="0" i="0" dirty="0">
                <a:solidFill>
                  <a:srgbClr val="222222"/>
                </a:solidFill>
                <a:latin typeface="Tw Cen MT"/>
              </a:rPr>
              <a:t>:</a:t>
            </a:r>
          </a:p>
          <a:p>
            <a:pPr algn="l">
              <a:spcBef>
                <a:spcPts val="500"/>
              </a:spcBef>
            </a:pPr>
            <a:r>
              <a:rPr sz="2400" b="1" i="0" dirty="0">
                <a:solidFill>
                  <a:srgbClr val="8B0000"/>
                </a:solidFill>
                <a:latin typeface="Tw Cen MT"/>
              </a:rPr>
              <a:t>1. ASIGNACIÓN DE AUTORIDAD</a:t>
            </a:r>
          </a:p>
          <a:p>
            <a:pPr algn="l">
              <a:spcBef>
                <a:spcPts val="200"/>
              </a:spcBef>
            </a:pPr>
            <a:r>
              <a:rPr sz="2400" b="0" i="0" dirty="0">
                <a:solidFill>
                  <a:srgbClr val="222222"/>
                </a:solidFill>
                <a:latin typeface="Tw Cen MT"/>
              </a:rPr>
              <a:t>    ▸  ¿</a:t>
            </a:r>
            <a:r>
              <a:rPr sz="2400" b="0" i="0" dirty="0" err="1">
                <a:solidFill>
                  <a:srgbClr val="222222"/>
                </a:solidFill>
                <a:latin typeface="Tw Cen MT"/>
              </a:rPr>
              <a:t>Qué</a:t>
            </a:r>
            <a:r>
              <a:rPr sz="2400" b="0" i="0" dirty="0">
                <a:solidFill>
                  <a:srgbClr val="222222"/>
                </a:solidFill>
                <a:latin typeface="Tw Cen MT"/>
              </a:rPr>
              <a:t> se </a:t>
            </a:r>
            <a:r>
              <a:rPr sz="2400" b="0" i="0" dirty="0" err="1">
                <a:solidFill>
                  <a:srgbClr val="222222"/>
                </a:solidFill>
                <a:latin typeface="Tw Cen MT"/>
              </a:rPr>
              <a:t>va</a:t>
            </a:r>
            <a:r>
              <a:rPr sz="2400" b="0" i="0" dirty="0">
                <a:solidFill>
                  <a:srgbClr val="222222"/>
                </a:solidFill>
                <a:latin typeface="Tw Cen MT"/>
              </a:rPr>
              <a:t> a </a:t>
            </a:r>
            <a:r>
              <a:rPr sz="2400" b="0" i="0" dirty="0" err="1">
                <a:solidFill>
                  <a:srgbClr val="222222"/>
                </a:solidFill>
                <a:latin typeface="Tw Cen MT"/>
              </a:rPr>
              <a:t>hacer</a:t>
            </a:r>
            <a:r>
              <a:rPr sz="2400" b="0" i="0" dirty="0">
                <a:solidFill>
                  <a:srgbClr val="222222"/>
                </a:solidFill>
                <a:latin typeface="Tw Cen MT"/>
              </a:rPr>
              <a:t>? </a:t>
            </a:r>
            <a:endParaRPr lang="es-419" sz="2400" b="0" i="0" dirty="0">
              <a:solidFill>
                <a:srgbClr val="222222"/>
              </a:solidFill>
              <a:latin typeface="Tw Cen MT"/>
            </a:endParaRPr>
          </a:p>
          <a:p>
            <a:pPr algn="l">
              <a:spcBef>
                <a:spcPts val="200"/>
              </a:spcBef>
            </a:pPr>
            <a:endParaRPr sz="2400" b="0" i="0" dirty="0">
              <a:solidFill>
                <a:srgbClr val="222222"/>
              </a:solidFill>
              <a:latin typeface="Tw Cen MT"/>
            </a:endParaRPr>
          </a:p>
          <a:p>
            <a:pPr algn="l">
              <a:spcBef>
                <a:spcPts val="500"/>
              </a:spcBef>
            </a:pPr>
            <a:r>
              <a:rPr sz="2400" b="1" i="0" dirty="0">
                <a:solidFill>
                  <a:srgbClr val="8B0000"/>
                </a:solidFill>
                <a:latin typeface="Tw Cen MT"/>
              </a:rPr>
              <a:t>2. MEDICIÓN DEL DESEMPEÑO</a:t>
            </a:r>
          </a:p>
          <a:p>
            <a:pPr algn="l">
              <a:spcBef>
                <a:spcPts val="200"/>
              </a:spcBef>
            </a:pPr>
            <a:r>
              <a:rPr sz="2400" b="0" i="0" dirty="0">
                <a:solidFill>
                  <a:srgbClr val="222222"/>
                </a:solidFill>
                <a:latin typeface="Tw Cen MT"/>
              </a:rPr>
              <a:t>    ▸  ¿</a:t>
            </a:r>
            <a:r>
              <a:rPr sz="2400" b="0" i="0" dirty="0" err="1">
                <a:solidFill>
                  <a:srgbClr val="222222"/>
                </a:solidFill>
                <a:latin typeface="Tw Cen MT"/>
              </a:rPr>
              <a:t>Cómo</a:t>
            </a:r>
            <a:r>
              <a:rPr sz="2400" b="0" i="0" dirty="0">
                <a:solidFill>
                  <a:srgbClr val="222222"/>
                </a:solidFill>
                <a:latin typeface="Tw Cen MT"/>
              </a:rPr>
              <a:t> </a:t>
            </a:r>
            <a:r>
              <a:rPr sz="2400" b="0" i="0" dirty="0" err="1">
                <a:solidFill>
                  <a:srgbClr val="222222"/>
                </a:solidFill>
                <a:latin typeface="Tw Cen MT"/>
              </a:rPr>
              <a:t>vamos</a:t>
            </a:r>
            <a:r>
              <a:rPr sz="2400" b="0" i="0" dirty="0">
                <a:solidFill>
                  <a:srgbClr val="222222"/>
                </a:solidFill>
                <a:latin typeface="Tw Cen MT"/>
              </a:rPr>
              <a:t> a </a:t>
            </a:r>
            <a:r>
              <a:rPr sz="2400" b="0" i="0" dirty="0" err="1">
                <a:solidFill>
                  <a:srgbClr val="222222"/>
                </a:solidFill>
                <a:latin typeface="Tw Cen MT"/>
              </a:rPr>
              <a:t>confirmar</a:t>
            </a:r>
            <a:r>
              <a:rPr sz="2400" b="0" i="0" dirty="0">
                <a:solidFill>
                  <a:srgbClr val="222222"/>
                </a:solidFill>
                <a:latin typeface="Tw Cen MT"/>
              </a:rPr>
              <a:t> </a:t>
            </a:r>
            <a:r>
              <a:rPr sz="2400" b="0" i="0" dirty="0" err="1">
                <a:solidFill>
                  <a:srgbClr val="222222"/>
                </a:solidFill>
                <a:latin typeface="Tw Cen MT"/>
              </a:rPr>
              <a:t>que</a:t>
            </a:r>
            <a:r>
              <a:rPr sz="2400" b="0" i="0" dirty="0">
                <a:solidFill>
                  <a:srgbClr val="222222"/>
                </a:solidFill>
                <a:latin typeface="Tw Cen MT"/>
              </a:rPr>
              <a:t> se </a:t>
            </a:r>
            <a:r>
              <a:rPr sz="2400" b="0" i="0" dirty="0" err="1">
                <a:solidFill>
                  <a:srgbClr val="222222"/>
                </a:solidFill>
                <a:latin typeface="Tw Cen MT"/>
              </a:rPr>
              <a:t>hizo</a:t>
            </a:r>
            <a:r>
              <a:rPr sz="2400" b="0" i="0" dirty="0">
                <a:solidFill>
                  <a:srgbClr val="222222"/>
                </a:solidFill>
                <a:latin typeface="Tw Cen MT"/>
              </a:rPr>
              <a:t> lo </a:t>
            </a:r>
            <a:r>
              <a:rPr sz="2400" b="0" i="0" dirty="0" err="1">
                <a:solidFill>
                  <a:srgbClr val="222222"/>
                </a:solidFill>
                <a:latin typeface="Tw Cen MT"/>
              </a:rPr>
              <a:t>pactado</a:t>
            </a:r>
            <a:r>
              <a:rPr sz="2400" b="0" i="0" dirty="0">
                <a:solidFill>
                  <a:srgbClr val="222222"/>
                </a:solidFill>
                <a:latin typeface="Tw Cen MT"/>
              </a:rPr>
              <a:t>?</a:t>
            </a:r>
            <a:endParaRPr lang="es-419" sz="2400" b="0" i="0" dirty="0">
              <a:solidFill>
                <a:srgbClr val="222222"/>
              </a:solidFill>
              <a:latin typeface="Tw Cen MT"/>
            </a:endParaRPr>
          </a:p>
          <a:p>
            <a:pPr algn="l">
              <a:spcBef>
                <a:spcPts val="200"/>
              </a:spcBef>
            </a:pPr>
            <a:endParaRPr sz="2400" b="0" i="0" dirty="0">
              <a:solidFill>
                <a:srgbClr val="222222"/>
              </a:solidFill>
              <a:latin typeface="Tw Cen MT"/>
            </a:endParaRPr>
          </a:p>
          <a:p>
            <a:pPr algn="l">
              <a:spcBef>
                <a:spcPts val="500"/>
              </a:spcBef>
            </a:pPr>
            <a:r>
              <a:rPr sz="2400" b="1" i="0" dirty="0">
                <a:solidFill>
                  <a:srgbClr val="8B0000"/>
                </a:solidFill>
                <a:latin typeface="Tw Cen MT"/>
              </a:rPr>
              <a:t>3. POLÍTICA COMPENSATORIA</a:t>
            </a:r>
          </a:p>
          <a:p>
            <a:pPr algn="l">
              <a:spcBef>
                <a:spcPts val="200"/>
              </a:spcBef>
            </a:pPr>
            <a:r>
              <a:rPr sz="2400" b="0" i="0" dirty="0">
                <a:solidFill>
                  <a:srgbClr val="222222"/>
                </a:solidFill>
                <a:latin typeface="Tw Cen MT"/>
              </a:rPr>
              <a:t>    ▸  ¿</a:t>
            </a:r>
            <a:r>
              <a:rPr sz="2400" b="0" i="0" dirty="0" err="1">
                <a:solidFill>
                  <a:srgbClr val="222222"/>
                </a:solidFill>
                <a:latin typeface="Tw Cen MT"/>
              </a:rPr>
              <a:t>Qué</a:t>
            </a:r>
            <a:r>
              <a:rPr sz="2400" b="0" i="0" dirty="0">
                <a:solidFill>
                  <a:srgbClr val="222222"/>
                </a:solidFill>
                <a:latin typeface="Tw Cen MT"/>
              </a:rPr>
              <a:t> </a:t>
            </a:r>
            <a:r>
              <a:rPr lang="es-419" sz="2400" b="0" i="0" dirty="0">
                <a:solidFill>
                  <a:srgbClr val="222222"/>
                </a:solidFill>
                <a:latin typeface="Tw Cen MT"/>
              </a:rPr>
              <a:t>se </a:t>
            </a:r>
            <a:r>
              <a:rPr sz="2400" b="0" i="0" dirty="0" err="1">
                <a:solidFill>
                  <a:srgbClr val="222222"/>
                </a:solidFill>
                <a:latin typeface="Tw Cen MT"/>
              </a:rPr>
              <a:t>recibe</a:t>
            </a:r>
            <a:r>
              <a:rPr sz="2400" b="0" i="0" dirty="0">
                <a:solidFill>
                  <a:srgbClr val="222222"/>
                </a:solidFill>
                <a:latin typeface="Tw Cen MT"/>
              </a:rPr>
              <a:t> </a:t>
            </a:r>
            <a:r>
              <a:rPr sz="2400" b="0" i="0" dirty="0" err="1">
                <a:solidFill>
                  <a:srgbClr val="222222"/>
                </a:solidFill>
                <a:latin typeface="Tw Cen MT"/>
              </a:rPr>
              <a:t>por</a:t>
            </a:r>
            <a:r>
              <a:rPr sz="2400" b="0" i="0" dirty="0">
                <a:solidFill>
                  <a:srgbClr val="222222"/>
                </a:solidFill>
                <a:latin typeface="Tw Cen MT"/>
              </a:rPr>
              <a:t> </a:t>
            </a:r>
            <a:r>
              <a:rPr sz="2400" b="0" i="0" dirty="0" err="1">
                <a:solidFill>
                  <a:srgbClr val="222222"/>
                </a:solidFill>
                <a:latin typeface="Tw Cen MT"/>
              </a:rPr>
              <a:t>hacer</a:t>
            </a:r>
            <a:r>
              <a:rPr sz="2400" b="0" i="0" dirty="0">
                <a:solidFill>
                  <a:srgbClr val="222222"/>
                </a:solidFill>
                <a:latin typeface="Tw Cen MT"/>
              </a:rPr>
              <a:t> lo </a:t>
            </a:r>
            <a:r>
              <a:rPr sz="2400" b="0" i="0" dirty="0" err="1">
                <a:solidFill>
                  <a:srgbClr val="222222"/>
                </a:solidFill>
                <a:latin typeface="Tw Cen MT"/>
              </a:rPr>
              <a:t>pactado</a:t>
            </a:r>
            <a:r>
              <a:rPr sz="2400" b="0" i="0" dirty="0">
                <a:solidFill>
                  <a:srgbClr val="222222"/>
                </a:solidFill>
                <a:latin typeface="Tw Cen MT"/>
              </a:rPr>
              <a:t>?</a:t>
            </a:r>
            <a:endParaRPr lang="es-419" sz="2400" b="0" i="0" dirty="0">
              <a:solidFill>
                <a:srgbClr val="222222"/>
              </a:solidFill>
              <a:latin typeface="Tw Cen MT"/>
            </a:endParaRPr>
          </a:p>
          <a:p>
            <a:pPr algn="l">
              <a:spcBef>
                <a:spcPts val="200"/>
              </a:spcBef>
            </a:pPr>
            <a:endParaRPr sz="2400" b="0" i="0" dirty="0">
              <a:solidFill>
                <a:srgbClr val="222222"/>
              </a:solidFill>
              <a:latin typeface="Tw Cen MT"/>
            </a:endParaRPr>
          </a:p>
          <a:p>
            <a:pPr algn="l">
              <a:spcBef>
                <a:spcPts val="500"/>
              </a:spcBef>
            </a:pPr>
            <a:r>
              <a:rPr sz="2400" b="1" i="0" dirty="0">
                <a:solidFill>
                  <a:srgbClr val="8B0000"/>
                </a:solidFill>
                <a:latin typeface="Tw Cen MT"/>
              </a:rPr>
              <a:t>PRINCIPIO BÁSICO</a:t>
            </a:r>
          </a:p>
          <a:p>
            <a:pPr algn="ctr">
              <a:spcBef>
                <a:spcPts val="500"/>
              </a:spcBef>
            </a:pPr>
            <a:r>
              <a:rPr sz="2800" b="1" i="0" dirty="0">
                <a:solidFill>
                  <a:srgbClr val="222222"/>
                </a:solidFill>
                <a:latin typeface="Tw Cen MT"/>
              </a:rPr>
              <a:t>Un </a:t>
            </a:r>
            <a:r>
              <a:rPr sz="2800" b="1" i="0" dirty="0" err="1">
                <a:solidFill>
                  <a:srgbClr val="222222"/>
                </a:solidFill>
                <a:latin typeface="Tw Cen MT"/>
              </a:rPr>
              <a:t>buen</a:t>
            </a:r>
            <a:r>
              <a:rPr sz="2800" b="1" i="0" dirty="0">
                <a:solidFill>
                  <a:srgbClr val="222222"/>
                </a:solidFill>
                <a:latin typeface="Tw Cen MT"/>
              </a:rPr>
              <a:t> </a:t>
            </a:r>
            <a:r>
              <a:rPr sz="2800" b="1" i="0" dirty="0" err="1">
                <a:solidFill>
                  <a:srgbClr val="222222"/>
                </a:solidFill>
                <a:latin typeface="Tw Cen MT"/>
              </a:rPr>
              <a:t>contrato</a:t>
            </a:r>
            <a:r>
              <a:rPr sz="2800" b="1" i="0" dirty="0">
                <a:solidFill>
                  <a:srgbClr val="222222"/>
                </a:solidFill>
                <a:latin typeface="Tw Cen MT"/>
              </a:rPr>
              <a:t> </a:t>
            </a:r>
            <a:r>
              <a:rPr sz="2800" b="1" i="0" dirty="0" err="1">
                <a:solidFill>
                  <a:srgbClr val="222222"/>
                </a:solidFill>
                <a:latin typeface="Tw Cen MT"/>
              </a:rPr>
              <a:t>maximiza</a:t>
            </a:r>
            <a:r>
              <a:rPr sz="2800" b="1" i="0" dirty="0">
                <a:solidFill>
                  <a:srgbClr val="222222"/>
                </a:solidFill>
                <a:latin typeface="Tw Cen MT"/>
              </a:rPr>
              <a:t> </a:t>
            </a:r>
            <a:r>
              <a:rPr sz="2800" b="1" i="0" dirty="0" err="1">
                <a:solidFill>
                  <a:srgbClr val="222222"/>
                </a:solidFill>
                <a:latin typeface="Tw Cen MT"/>
              </a:rPr>
              <a:t>el</a:t>
            </a:r>
            <a:r>
              <a:rPr sz="2800" b="1" i="0" dirty="0">
                <a:solidFill>
                  <a:srgbClr val="222222"/>
                </a:solidFill>
                <a:latin typeface="Tw Cen MT"/>
              </a:rPr>
              <a:t> valor </a:t>
            </a:r>
            <a:r>
              <a:rPr sz="2800" b="1" i="0" dirty="0" err="1">
                <a:solidFill>
                  <a:srgbClr val="222222"/>
                </a:solidFill>
                <a:latin typeface="Tw Cen MT"/>
              </a:rPr>
              <a:t>económico</a:t>
            </a:r>
            <a:r>
              <a:rPr sz="2800" b="1" i="0" dirty="0">
                <a:solidFill>
                  <a:srgbClr val="222222"/>
                </a:solidFill>
                <a:latin typeface="Tw Cen MT"/>
              </a:rPr>
              <a:t>. </a:t>
            </a:r>
            <a:endParaRPr lang="es-419" sz="2800" b="1" i="0" dirty="0">
              <a:solidFill>
                <a:srgbClr val="222222"/>
              </a:solidFill>
              <a:latin typeface="Tw Cen MT"/>
            </a:endParaRPr>
          </a:p>
          <a:p>
            <a:pPr algn="ctr">
              <a:spcBef>
                <a:spcPts val="500"/>
              </a:spcBef>
            </a:pPr>
            <a:r>
              <a:rPr sz="2800" b="1" i="0" dirty="0">
                <a:solidFill>
                  <a:srgbClr val="222222"/>
                </a:solidFill>
                <a:latin typeface="Tw Cen MT"/>
              </a:rPr>
              <a:t>Los </a:t>
            </a:r>
            <a:r>
              <a:rPr sz="2800" b="1" i="0" dirty="0" err="1">
                <a:solidFill>
                  <a:srgbClr val="222222"/>
                </a:solidFill>
                <a:latin typeface="Tw Cen MT"/>
              </a:rPr>
              <a:t>tres</a:t>
            </a:r>
            <a:r>
              <a:rPr sz="2800" b="1" i="0" dirty="0">
                <a:solidFill>
                  <a:srgbClr val="222222"/>
                </a:solidFill>
                <a:latin typeface="Tw Cen MT"/>
              </a:rPr>
              <a:t> </a:t>
            </a:r>
            <a:r>
              <a:rPr sz="2800" b="1" i="0" dirty="0" err="1">
                <a:solidFill>
                  <a:srgbClr val="222222"/>
                </a:solidFill>
                <a:latin typeface="Tw Cen MT"/>
              </a:rPr>
              <a:t>pilares</a:t>
            </a:r>
            <a:r>
              <a:rPr sz="2800" b="1" i="0" dirty="0">
                <a:solidFill>
                  <a:srgbClr val="222222"/>
                </a:solidFill>
                <a:latin typeface="Tw Cen MT"/>
              </a:rPr>
              <a:t> </a:t>
            </a:r>
            <a:r>
              <a:rPr sz="2800" b="1" i="0" dirty="0" err="1">
                <a:solidFill>
                  <a:srgbClr val="222222"/>
                </a:solidFill>
                <a:latin typeface="Tw Cen MT"/>
              </a:rPr>
              <a:t>deben</a:t>
            </a:r>
            <a:r>
              <a:rPr sz="2800" b="1" i="0" dirty="0">
                <a:solidFill>
                  <a:srgbClr val="222222"/>
                </a:solidFill>
                <a:latin typeface="Tw Cen MT"/>
              </a:rPr>
              <a:t> </a:t>
            </a:r>
            <a:r>
              <a:rPr sz="2800" b="1" i="0" dirty="0" err="1">
                <a:solidFill>
                  <a:srgbClr val="222222"/>
                </a:solidFill>
                <a:latin typeface="Tw Cen MT"/>
              </a:rPr>
              <a:t>estar</a:t>
            </a:r>
            <a:r>
              <a:rPr sz="2800" b="1" i="0" dirty="0">
                <a:solidFill>
                  <a:srgbClr val="222222"/>
                </a:solidFill>
                <a:latin typeface="Tw Cen MT"/>
              </a:rPr>
              <a:t> </a:t>
            </a:r>
            <a:r>
              <a:rPr sz="2800" b="1" i="0" dirty="0" err="1">
                <a:solidFill>
                  <a:srgbClr val="222222"/>
                </a:solidFill>
                <a:latin typeface="Tw Cen MT"/>
              </a:rPr>
              <a:t>internamente</a:t>
            </a:r>
            <a:r>
              <a:rPr sz="2800" b="1" i="0" dirty="0">
                <a:solidFill>
                  <a:srgbClr val="222222"/>
                </a:solidFill>
                <a:latin typeface="Tw Cen MT"/>
              </a:rPr>
              <a:t> </a:t>
            </a:r>
            <a:r>
              <a:rPr sz="2800" b="1" i="0" dirty="0" err="1">
                <a:solidFill>
                  <a:srgbClr val="222222"/>
                </a:solidFill>
                <a:latin typeface="Tw Cen MT"/>
              </a:rPr>
              <a:t>consistentes</a:t>
            </a:r>
            <a:r>
              <a:rPr lang="es-419" sz="2800" b="1" i="0" dirty="0">
                <a:solidFill>
                  <a:srgbClr val="222222"/>
                </a:solidFill>
                <a:latin typeface="Tw Cen MT"/>
              </a:rPr>
              <a:t> (alineación)</a:t>
            </a:r>
            <a:r>
              <a:rPr sz="2400" b="1" i="0" dirty="0">
                <a:solidFill>
                  <a:srgbClr val="222222"/>
                </a:solidFill>
                <a:latin typeface="Tw Cen MT"/>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7F989-8161-C138-8161-6A2D12B337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B8C394B-A15E-44A9-9090-A775A83A3B6E}"/>
              </a:ext>
            </a:extLst>
          </p:cNvPr>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4C68707-3C40-F5D4-B99C-5D7956D64F95}"/>
              </a:ext>
            </a:extLst>
          </p:cNvPr>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4B61CAD-4100-0B7E-D2E5-1B7EDFCF6788}"/>
              </a:ext>
            </a:extLst>
          </p:cNvPr>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Los Tres Pilares de la Arquitectura Organizacional</a:t>
            </a:r>
          </a:p>
        </p:txBody>
      </p:sp>
      <p:pic>
        <p:nvPicPr>
          <p:cNvPr id="10" name="Imagen 9" descr="The image shows a person holding a phone.&#10;&#10;El contenido generado por IA puede ser incorrecto.">
            <a:extLst>
              <a:ext uri="{FF2B5EF4-FFF2-40B4-BE49-F238E27FC236}">
                <a16:creationId xmlns:a16="http://schemas.microsoft.com/office/drawing/2014/main" id="{83A695D0-67E8-44B5-0B47-FD68B8292886}"/>
              </a:ext>
            </a:extLst>
          </p:cNvPr>
          <p:cNvPicPr>
            <a:picLocks noChangeAspect="1"/>
          </p:cNvPicPr>
          <p:nvPr/>
        </p:nvPicPr>
        <p:blipFill>
          <a:blip r:embed="rId2"/>
          <a:stretch>
            <a:fillRect/>
          </a:stretch>
        </p:blipFill>
        <p:spPr>
          <a:xfrm>
            <a:off x="4035373" y="1989874"/>
            <a:ext cx="4121253" cy="2261812"/>
          </a:xfrm>
          <a:prstGeom prst="rect">
            <a:avLst/>
          </a:prstGeom>
        </p:spPr>
      </p:pic>
      <p:pic>
        <p:nvPicPr>
          <p:cNvPr id="12" name="Imagen 11" descr="The image shows a person holding a phone.&#10;&#10;El contenido generado por IA puede ser incorrecto.">
            <a:extLst>
              <a:ext uri="{FF2B5EF4-FFF2-40B4-BE49-F238E27FC236}">
                <a16:creationId xmlns:a16="http://schemas.microsoft.com/office/drawing/2014/main" id="{87C4B1FC-9BF4-C229-05A6-64609A712E65}"/>
              </a:ext>
            </a:extLst>
          </p:cNvPr>
          <p:cNvPicPr>
            <a:picLocks noChangeAspect="1"/>
          </p:cNvPicPr>
          <p:nvPr/>
        </p:nvPicPr>
        <p:blipFill>
          <a:blip r:embed="rId3"/>
          <a:stretch>
            <a:fillRect/>
          </a:stretch>
        </p:blipFill>
        <p:spPr>
          <a:xfrm>
            <a:off x="1692947" y="1209314"/>
            <a:ext cx="8559526" cy="4273666"/>
          </a:xfrm>
          <a:prstGeom prst="rect">
            <a:avLst/>
          </a:prstGeom>
        </p:spPr>
      </p:pic>
      <p:sp>
        <p:nvSpPr>
          <p:cNvPr id="14" name="CuadroTexto 13">
            <a:extLst>
              <a:ext uri="{FF2B5EF4-FFF2-40B4-BE49-F238E27FC236}">
                <a16:creationId xmlns:a16="http://schemas.microsoft.com/office/drawing/2014/main" id="{8FCC5FB0-5351-1C45-0B5E-2A7CB06E1BA5}"/>
              </a:ext>
            </a:extLst>
          </p:cNvPr>
          <p:cNvSpPr txBox="1"/>
          <p:nvPr/>
        </p:nvSpPr>
        <p:spPr>
          <a:xfrm>
            <a:off x="683802" y="5288340"/>
            <a:ext cx="11624638" cy="1569660"/>
          </a:xfrm>
          <a:prstGeom prst="rect">
            <a:avLst/>
          </a:prstGeom>
          <a:noFill/>
        </p:spPr>
        <p:txBody>
          <a:bodyPr wrap="square">
            <a:spAutoFit/>
          </a:bodyPr>
          <a:lstStyle/>
          <a:p>
            <a:r>
              <a:rPr lang="es-AR" sz="2400" dirty="0">
                <a:solidFill>
                  <a:srgbClr val="C00000"/>
                </a:solidFill>
                <a:latin typeface="Tw Cen MT" panose="020B0602020104020603" pitchFamily="34" charset="0"/>
              </a:rPr>
              <a:t>El diseño de una empresa (o un sistema económico) debe maximizar la probabilidad de que los tomadores de decisión tengan la información necesaria y los incentivos para utilizarla productivamente.</a:t>
            </a:r>
          </a:p>
          <a:p>
            <a:pPr algn="ctr"/>
            <a:r>
              <a:rPr lang="es-AR" sz="2400" b="1" dirty="0">
                <a:solidFill>
                  <a:srgbClr val="C00000"/>
                </a:solidFill>
                <a:latin typeface="Tw Cen MT" panose="020B0602020104020603" pitchFamily="34" charset="0"/>
              </a:rPr>
              <a:t>Contratos, explícitos e implícitos, definen la arquitectura organizacional de la compañía</a:t>
            </a:r>
            <a:endParaRPr lang="en-US" sz="2400" b="1" dirty="0">
              <a:solidFill>
                <a:srgbClr val="C00000"/>
              </a:solidFill>
              <a:latin typeface="Tw Cen MT" panose="020B0602020104020603" pitchFamily="34" charset="0"/>
            </a:endParaRPr>
          </a:p>
        </p:txBody>
      </p:sp>
    </p:spTree>
    <p:extLst>
      <p:ext uri="{BB962C8B-B14F-4D97-AF65-F5344CB8AC3E}">
        <p14:creationId xmlns:p14="http://schemas.microsoft.com/office/powerpoint/2010/main" val="3458721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A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1066800"/>
          </a:xfrm>
          <a:prstGeom prst="rect">
            <a:avLst/>
          </a:prstGeom>
          <a:solidFill>
            <a:srgbClr val="112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Caso: Xerox — Cuando las Palabras No Alcanzan</a:t>
            </a:r>
          </a:p>
        </p:txBody>
      </p:sp>
      <p:sp>
        <p:nvSpPr>
          <p:cNvPr id="6" name="TextBox 5"/>
          <p:cNvSpPr txBox="1"/>
          <p:nvPr/>
        </p:nvSpPr>
        <p:spPr>
          <a:xfrm>
            <a:off x="406400" y="1219200"/>
            <a:ext cx="11379200" cy="5037276"/>
          </a:xfrm>
          <a:prstGeom prst="rect">
            <a:avLst/>
          </a:prstGeom>
          <a:noFill/>
        </p:spPr>
        <p:txBody>
          <a:bodyPr wrap="square">
            <a:spAutoFit/>
          </a:bodyPr>
          <a:lstStyle/>
          <a:p>
            <a:pPr algn="l">
              <a:spcBef>
                <a:spcPts val="500"/>
              </a:spcBef>
            </a:pPr>
            <a:r>
              <a:rPr sz="2400" b="0" i="0" dirty="0">
                <a:solidFill>
                  <a:srgbClr val="E8F0FF"/>
                </a:solidFill>
                <a:latin typeface="Tw Cen MT"/>
              </a:rPr>
              <a:t>Entre 1976 y 1982, la </a:t>
            </a:r>
            <a:r>
              <a:rPr sz="2400" b="0" i="0" dirty="0" err="1">
                <a:solidFill>
                  <a:srgbClr val="E8F0FF"/>
                </a:solidFill>
                <a:latin typeface="Tw Cen MT"/>
              </a:rPr>
              <a:t>cuota</a:t>
            </a:r>
            <a:r>
              <a:rPr sz="2400" b="0" i="0" dirty="0">
                <a:solidFill>
                  <a:srgbClr val="E8F0FF"/>
                </a:solidFill>
                <a:latin typeface="Tw Cen MT"/>
              </a:rPr>
              <a:t> de mercado de Xerox </a:t>
            </a:r>
            <a:r>
              <a:rPr sz="2400" b="0" i="0" dirty="0" err="1">
                <a:solidFill>
                  <a:srgbClr val="E8F0FF"/>
                </a:solidFill>
                <a:latin typeface="Tw Cen MT"/>
              </a:rPr>
              <a:t>en</a:t>
            </a:r>
            <a:r>
              <a:rPr sz="2400" b="0" i="0" dirty="0">
                <a:solidFill>
                  <a:srgbClr val="E8F0FF"/>
                </a:solidFill>
                <a:latin typeface="Tw Cen MT"/>
              </a:rPr>
              <a:t> EE.UU. </a:t>
            </a:r>
            <a:r>
              <a:rPr sz="2400" b="0" i="0" dirty="0" err="1">
                <a:solidFill>
                  <a:srgbClr val="E8F0FF"/>
                </a:solidFill>
                <a:latin typeface="Tw Cen MT"/>
              </a:rPr>
              <a:t>cayó</a:t>
            </a:r>
            <a:r>
              <a:rPr sz="2400" b="0" i="0" dirty="0">
                <a:solidFill>
                  <a:srgbClr val="E8F0FF"/>
                </a:solidFill>
                <a:latin typeface="Tw Cen MT"/>
              </a:rPr>
              <a:t> del 80% al 13%. Las </a:t>
            </a:r>
            <a:r>
              <a:rPr sz="2400" b="0" i="0" dirty="0" err="1">
                <a:solidFill>
                  <a:srgbClr val="E8F0FF"/>
                </a:solidFill>
                <a:latin typeface="Tw Cen MT"/>
              </a:rPr>
              <a:t>empresas</a:t>
            </a:r>
            <a:r>
              <a:rPr sz="2400" b="0" i="0" dirty="0">
                <a:solidFill>
                  <a:srgbClr val="E8F0FF"/>
                </a:solidFill>
                <a:latin typeface="Tw Cen MT"/>
              </a:rPr>
              <a:t> </a:t>
            </a:r>
            <a:r>
              <a:rPr sz="2400" b="0" i="0" dirty="0" err="1">
                <a:solidFill>
                  <a:srgbClr val="E8F0FF"/>
                </a:solidFill>
                <a:latin typeface="Tw Cen MT"/>
              </a:rPr>
              <a:t>japonesas</a:t>
            </a:r>
            <a:r>
              <a:rPr sz="2400" b="0" i="0" dirty="0">
                <a:solidFill>
                  <a:srgbClr val="E8F0FF"/>
                </a:solidFill>
                <a:latin typeface="Tw Cen MT"/>
              </a:rPr>
              <a:t> </a:t>
            </a:r>
            <a:r>
              <a:rPr sz="2400" b="0" i="0" dirty="0" err="1">
                <a:solidFill>
                  <a:srgbClr val="E8F0FF"/>
                </a:solidFill>
                <a:latin typeface="Tw Cen MT"/>
              </a:rPr>
              <a:t>vendían</a:t>
            </a:r>
            <a:r>
              <a:rPr sz="2400" b="0" i="0" dirty="0">
                <a:solidFill>
                  <a:srgbClr val="E8F0FF"/>
                </a:solidFill>
                <a:latin typeface="Tw Cen MT"/>
              </a:rPr>
              <a:t> a </a:t>
            </a:r>
            <a:r>
              <a:rPr sz="2400" b="0" i="0" dirty="0" err="1">
                <a:solidFill>
                  <a:srgbClr val="E8F0FF"/>
                </a:solidFill>
                <a:latin typeface="Tw Cen MT"/>
              </a:rPr>
              <a:t>precios</a:t>
            </a:r>
            <a:r>
              <a:rPr sz="2400" b="0" i="0" dirty="0">
                <a:solidFill>
                  <a:srgbClr val="E8F0FF"/>
                </a:solidFill>
                <a:latin typeface="Tw Cen MT"/>
              </a:rPr>
              <a:t> </a:t>
            </a:r>
            <a:r>
              <a:rPr sz="2400" b="0" i="0" dirty="0" err="1">
                <a:solidFill>
                  <a:srgbClr val="E8F0FF"/>
                </a:solidFill>
                <a:latin typeface="Tw Cen MT"/>
              </a:rPr>
              <a:t>inferiores</a:t>
            </a:r>
            <a:r>
              <a:rPr sz="2400" b="0" i="0" dirty="0">
                <a:solidFill>
                  <a:srgbClr val="E8F0FF"/>
                </a:solidFill>
                <a:latin typeface="Tw Cen MT"/>
              </a:rPr>
              <a:t> al </a:t>
            </a:r>
            <a:r>
              <a:rPr sz="2400" b="0" i="0" dirty="0" err="1">
                <a:solidFill>
                  <a:srgbClr val="E8F0FF"/>
                </a:solidFill>
                <a:latin typeface="Tw Cen MT"/>
              </a:rPr>
              <a:t>costo</a:t>
            </a:r>
            <a:r>
              <a:rPr sz="2400" b="0" i="0" dirty="0">
                <a:solidFill>
                  <a:srgbClr val="E8F0FF"/>
                </a:solidFill>
                <a:latin typeface="Tw Cen MT"/>
              </a:rPr>
              <a:t> de Xerox.</a:t>
            </a:r>
          </a:p>
          <a:p>
            <a:pPr algn="l">
              <a:spcBef>
                <a:spcPts val="500"/>
              </a:spcBef>
            </a:pPr>
            <a:r>
              <a:rPr sz="2400" b="0" i="0" dirty="0">
                <a:solidFill>
                  <a:srgbClr val="E8F0FF"/>
                </a:solidFill>
                <a:latin typeface="Tw Cen MT"/>
              </a:rPr>
              <a:t>El CEO Kearns </a:t>
            </a:r>
            <a:r>
              <a:rPr sz="2400" b="0" i="0" dirty="0" err="1">
                <a:solidFill>
                  <a:srgbClr val="E8F0FF"/>
                </a:solidFill>
                <a:latin typeface="Tw Cen MT"/>
              </a:rPr>
              <a:t>identificó</a:t>
            </a:r>
            <a:r>
              <a:rPr sz="2400" b="0" i="0" dirty="0">
                <a:solidFill>
                  <a:srgbClr val="E8F0FF"/>
                </a:solidFill>
                <a:latin typeface="Tw Cen MT"/>
              </a:rPr>
              <a:t> l</a:t>
            </a:r>
            <a:r>
              <a:rPr lang="es-419" sz="2400" b="0" i="0" dirty="0">
                <a:solidFill>
                  <a:srgbClr val="E8F0FF"/>
                </a:solidFill>
                <a:latin typeface="Tw Cen MT"/>
              </a:rPr>
              <a:t>as causas: </a:t>
            </a:r>
            <a:r>
              <a:rPr sz="2400" b="0" i="0" dirty="0">
                <a:solidFill>
                  <a:srgbClr val="E8F0FF"/>
                </a:solidFill>
                <a:latin typeface="Tw Cen MT"/>
              </a:rPr>
              <a:t> mala </a:t>
            </a:r>
            <a:r>
              <a:rPr sz="2400" b="0" i="0" dirty="0" err="1">
                <a:solidFill>
                  <a:srgbClr val="E8F0FF"/>
                </a:solidFill>
                <a:latin typeface="Tw Cen MT"/>
              </a:rPr>
              <a:t>calidad</a:t>
            </a:r>
            <a:r>
              <a:rPr sz="2400" b="0" i="0" dirty="0">
                <a:solidFill>
                  <a:srgbClr val="E8F0FF"/>
                </a:solidFill>
                <a:latin typeface="Tw Cen MT"/>
              </a:rPr>
              <a:t> del </a:t>
            </a:r>
            <a:r>
              <a:rPr sz="2400" b="0" i="0" dirty="0" err="1">
                <a:solidFill>
                  <a:srgbClr val="E8F0FF"/>
                </a:solidFill>
                <a:latin typeface="Tw Cen MT"/>
              </a:rPr>
              <a:t>producto</a:t>
            </a:r>
            <a:r>
              <a:rPr sz="2400" b="0" i="0" dirty="0">
                <a:solidFill>
                  <a:srgbClr val="E8F0FF"/>
                </a:solidFill>
                <a:latin typeface="Tw Cen MT"/>
              </a:rPr>
              <a:t> y </a:t>
            </a:r>
            <a:r>
              <a:rPr sz="2400" b="0" i="0" dirty="0" err="1">
                <a:solidFill>
                  <a:srgbClr val="E8F0FF"/>
                </a:solidFill>
                <a:latin typeface="Tw Cen MT"/>
              </a:rPr>
              <a:t>empleados</a:t>
            </a:r>
            <a:r>
              <a:rPr sz="2400" b="0" i="0" dirty="0">
                <a:solidFill>
                  <a:srgbClr val="E8F0FF"/>
                </a:solidFill>
                <a:latin typeface="Tw Cen MT"/>
              </a:rPr>
              <a:t> </a:t>
            </a:r>
            <a:r>
              <a:rPr sz="2400" b="0" i="0" dirty="0" err="1">
                <a:solidFill>
                  <a:srgbClr val="E8F0FF"/>
                </a:solidFill>
                <a:latin typeface="Tw Cen MT"/>
              </a:rPr>
              <a:t>que</a:t>
            </a:r>
            <a:r>
              <a:rPr sz="2400" b="0" i="0" dirty="0">
                <a:solidFill>
                  <a:srgbClr val="E8F0FF"/>
                </a:solidFill>
                <a:latin typeface="Tw Cen MT"/>
              </a:rPr>
              <a:t> no </a:t>
            </a:r>
            <a:r>
              <a:rPr sz="2400" b="0" i="0" dirty="0" err="1">
                <a:solidFill>
                  <a:srgbClr val="E8F0FF"/>
                </a:solidFill>
                <a:latin typeface="Tw Cen MT"/>
              </a:rPr>
              <a:t>entendían</a:t>
            </a:r>
            <a:r>
              <a:rPr sz="2400" b="0" i="0" dirty="0">
                <a:solidFill>
                  <a:srgbClr val="E8F0FF"/>
                </a:solidFill>
                <a:latin typeface="Tw Cen MT"/>
              </a:rPr>
              <a:t> la </a:t>
            </a:r>
            <a:r>
              <a:rPr sz="2400" b="0" i="0" dirty="0" err="1">
                <a:solidFill>
                  <a:srgbClr val="E8F0FF"/>
                </a:solidFill>
                <a:latin typeface="Tw Cen MT"/>
              </a:rPr>
              <a:t>gravedad</a:t>
            </a:r>
            <a:r>
              <a:rPr sz="2400" b="0" i="0" dirty="0">
                <a:solidFill>
                  <a:srgbClr val="E8F0FF"/>
                </a:solidFill>
                <a:latin typeface="Tw Cen MT"/>
              </a:rPr>
              <a:t> del </a:t>
            </a:r>
            <a:r>
              <a:rPr sz="2400" b="0" i="0" dirty="0" err="1">
                <a:solidFill>
                  <a:srgbClr val="E8F0FF"/>
                </a:solidFill>
                <a:latin typeface="Tw Cen MT"/>
              </a:rPr>
              <a:t>problema</a:t>
            </a:r>
            <a:r>
              <a:rPr sz="2400" b="0" i="0" dirty="0">
                <a:solidFill>
                  <a:srgbClr val="E8F0FF"/>
                </a:solidFill>
                <a:latin typeface="Tw Cen MT"/>
              </a:rPr>
              <a:t>.</a:t>
            </a:r>
            <a:endParaRPr lang="es-419" sz="2400" b="0" i="0" dirty="0">
              <a:solidFill>
                <a:srgbClr val="E8F0FF"/>
              </a:solidFill>
              <a:latin typeface="Tw Cen MT"/>
            </a:endParaRPr>
          </a:p>
          <a:p>
            <a:pPr algn="l">
              <a:spcBef>
                <a:spcPts val="500"/>
              </a:spcBef>
            </a:pPr>
            <a:endParaRPr sz="2400" b="0" i="0" dirty="0">
              <a:solidFill>
                <a:srgbClr val="E8F0FF"/>
              </a:solidFill>
              <a:latin typeface="Tw Cen MT"/>
            </a:endParaRPr>
          </a:p>
          <a:p>
            <a:pPr algn="l">
              <a:spcBef>
                <a:spcPts val="500"/>
              </a:spcBef>
            </a:pPr>
            <a:r>
              <a:rPr sz="2400" b="1" i="0" dirty="0">
                <a:solidFill>
                  <a:srgbClr val="D4A017"/>
                </a:solidFill>
                <a:latin typeface="Tw Cen MT"/>
              </a:rPr>
              <a:t>LA LECCIÓN</a:t>
            </a:r>
          </a:p>
          <a:p>
            <a:pPr algn="l">
              <a:spcBef>
                <a:spcPts val="500"/>
              </a:spcBef>
            </a:pPr>
            <a:r>
              <a:rPr sz="2400" i="0" dirty="0">
                <a:solidFill>
                  <a:srgbClr val="E8F0FF"/>
                </a:solidFill>
                <a:latin typeface="Tw Cen MT"/>
              </a:rPr>
              <a:t>■  Para </a:t>
            </a:r>
            <a:r>
              <a:rPr sz="2400" i="0" dirty="0" err="1">
                <a:solidFill>
                  <a:srgbClr val="E8F0FF"/>
                </a:solidFill>
                <a:latin typeface="Tw Cen MT"/>
              </a:rPr>
              <a:t>cambiar</a:t>
            </a:r>
            <a:r>
              <a:rPr sz="2400" i="0" dirty="0">
                <a:solidFill>
                  <a:srgbClr val="E8F0FF"/>
                </a:solidFill>
                <a:latin typeface="Tw Cen MT"/>
              </a:rPr>
              <a:t> </a:t>
            </a:r>
            <a:r>
              <a:rPr sz="2400" i="0" dirty="0" err="1">
                <a:solidFill>
                  <a:srgbClr val="E8F0FF"/>
                </a:solidFill>
                <a:latin typeface="Tw Cen MT"/>
              </a:rPr>
              <a:t>el</a:t>
            </a:r>
            <a:r>
              <a:rPr sz="2400" i="0" dirty="0">
                <a:solidFill>
                  <a:srgbClr val="E8F0FF"/>
                </a:solidFill>
                <a:latin typeface="Tw Cen MT"/>
              </a:rPr>
              <a:t> </a:t>
            </a:r>
            <a:r>
              <a:rPr sz="2400" i="0" dirty="0" err="1">
                <a:solidFill>
                  <a:srgbClr val="E8F0FF"/>
                </a:solidFill>
                <a:latin typeface="Tw Cen MT"/>
              </a:rPr>
              <a:t>comportamiento</a:t>
            </a:r>
            <a:r>
              <a:rPr sz="2400" i="0" dirty="0">
                <a:solidFill>
                  <a:srgbClr val="E8F0FF"/>
                </a:solidFill>
                <a:latin typeface="Tw Cen MT"/>
              </a:rPr>
              <a:t>, no </a:t>
            </a:r>
            <a:r>
              <a:rPr sz="2400" i="0" dirty="0" err="1">
                <a:solidFill>
                  <a:srgbClr val="E8F0FF"/>
                </a:solidFill>
                <a:latin typeface="Tw Cen MT"/>
              </a:rPr>
              <a:t>alcanza</a:t>
            </a:r>
            <a:r>
              <a:rPr sz="2400" i="0" dirty="0">
                <a:solidFill>
                  <a:srgbClr val="E8F0FF"/>
                </a:solidFill>
                <a:latin typeface="Tw Cen MT"/>
              </a:rPr>
              <a:t> con </a:t>
            </a:r>
            <a:r>
              <a:rPr sz="2400" i="0" dirty="0" err="1">
                <a:solidFill>
                  <a:srgbClr val="E8F0FF"/>
                </a:solidFill>
                <a:latin typeface="Tw Cen MT"/>
              </a:rPr>
              <a:t>exhortar</a:t>
            </a:r>
            <a:r>
              <a:rPr sz="2400" i="0" dirty="0">
                <a:solidFill>
                  <a:srgbClr val="E8F0FF"/>
                </a:solidFill>
                <a:latin typeface="Tw Cen MT"/>
              </a:rPr>
              <a:t>, </a:t>
            </a:r>
            <a:r>
              <a:rPr sz="2400" i="0" dirty="0" err="1">
                <a:solidFill>
                  <a:srgbClr val="E8F0FF"/>
                </a:solidFill>
                <a:latin typeface="Tw Cen MT"/>
              </a:rPr>
              <a:t>explicar</a:t>
            </a:r>
            <a:r>
              <a:rPr sz="2400" i="0" dirty="0">
                <a:solidFill>
                  <a:srgbClr val="E8F0FF"/>
                </a:solidFill>
                <a:latin typeface="Tw Cen MT"/>
              </a:rPr>
              <a:t> y </a:t>
            </a:r>
            <a:r>
              <a:rPr sz="2400" i="0" dirty="0" err="1">
                <a:solidFill>
                  <a:srgbClr val="E8F0FF"/>
                </a:solidFill>
                <a:latin typeface="Tw Cen MT"/>
              </a:rPr>
              <a:t>suplicar</a:t>
            </a:r>
            <a:r>
              <a:rPr sz="2400" i="0" dirty="0">
                <a:solidFill>
                  <a:srgbClr val="E8F0FF"/>
                </a:solidFill>
                <a:latin typeface="Tw Cen MT"/>
              </a:rPr>
              <a:t>.</a:t>
            </a:r>
          </a:p>
          <a:p>
            <a:pPr algn="l">
              <a:spcBef>
                <a:spcPts val="500"/>
              </a:spcBef>
            </a:pPr>
            <a:r>
              <a:rPr sz="2400" i="0" dirty="0">
                <a:solidFill>
                  <a:srgbClr val="E8F0FF"/>
                </a:solidFill>
                <a:latin typeface="Tw Cen MT"/>
              </a:rPr>
              <a:t>■  Ha</a:t>
            </a:r>
            <a:r>
              <a:rPr lang="es-419" sz="2400" i="0">
                <a:solidFill>
                  <a:srgbClr val="E8F0FF"/>
                </a:solidFill>
                <a:latin typeface="Tw Cen MT"/>
              </a:rPr>
              <a:t>y</a:t>
            </a:r>
            <a:r>
              <a:rPr sz="2400" i="0">
                <a:solidFill>
                  <a:srgbClr val="E8F0FF"/>
                </a:solidFill>
                <a:latin typeface="Tw Cen MT"/>
              </a:rPr>
              <a:t> </a:t>
            </a:r>
            <a:r>
              <a:rPr sz="2400" i="0" dirty="0" err="1">
                <a:solidFill>
                  <a:srgbClr val="E8F0FF"/>
                </a:solidFill>
                <a:latin typeface="Tw Cen MT"/>
              </a:rPr>
              <a:t>que</a:t>
            </a:r>
            <a:r>
              <a:rPr sz="2400" i="0" dirty="0">
                <a:solidFill>
                  <a:srgbClr val="E8F0FF"/>
                </a:solidFill>
                <a:latin typeface="Tw Cen MT"/>
              </a:rPr>
              <a:t> </a:t>
            </a:r>
            <a:r>
              <a:rPr sz="2400" i="0" dirty="0" err="1">
                <a:solidFill>
                  <a:srgbClr val="E8F0FF"/>
                </a:solidFill>
                <a:latin typeface="Tw Cen MT"/>
              </a:rPr>
              <a:t>cambiar</a:t>
            </a:r>
            <a:r>
              <a:rPr sz="2400" i="0" dirty="0">
                <a:solidFill>
                  <a:srgbClr val="E8F0FF"/>
                </a:solidFill>
                <a:latin typeface="Tw Cen MT"/>
              </a:rPr>
              <a:t> </a:t>
            </a:r>
            <a:r>
              <a:rPr sz="2400" i="0" dirty="0" err="1">
                <a:solidFill>
                  <a:srgbClr val="E8F0FF"/>
                </a:solidFill>
                <a:latin typeface="Tw Cen MT"/>
              </a:rPr>
              <a:t>los</a:t>
            </a:r>
            <a:r>
              <a:rPr sz="2400" i="0" dirty="0">
                <a:solidFill>
                  <a:srgbClr val="E8F0FF"/>
                </a:solidFill>
                <a:latin typeface="Tw Cen MT"/>
              </a:rPr>
              <a:t> </a:t>
            </a:r>
            <a:r>
              <a:rPr sz="2400" i="0" dirty="0" err="1">
                <a:solidFill>
                  <a:srgbClr val="E8F0FF"/>
                </a:solidFill>
                <a:latin typeface="Tw Cen MT"/>
              </a:rPr>
              <a:t>sistemas</a:t>
            </a:r>
            <a:r>
              <a:rPr sz="2400" i="0" dirty="0">
                <a:solidFill>
                  <a:srgbClr val="E8F0FF"/>
                </a:solidFill>
                <a:latin typeface="Tw Cen MT"/>
              </a:rPr>
              <a:t> de </a:t>
            </a:r>
            <a:r>
              <a:rPr sz="2400" i="0" dirty="0" err="1">
                <a:solidFill>
                  <a:srgbClr val="E8F0FF"/>
                </a:solidFill>
                <a:latin typeface="Tw Cen MT"/>
              </a:rPr>
              <a:t>medición</a:t>
            </a:r>
            <a:r>
              <a:rPr sz="2400" i="0" dirty="0">
                <a:solidFill>
                  <a:srgbClr val="E8F0FF"/>
                </a:solidFill>
                <a:latin typeface="Tw Cen MT"/>
              </a:rPr>
              <a:t> del </a:t>
            </a:r>
            <a:r>
              <a:rPr sz="2400" i="0" dirty="0" err="1">
                <a:solidFill>
                  <a:srgbClr val="E8F0FF"/>
                </a:solidFill>
                <a:latin typeface="Tw Cen MT"/>
              </a:rPr>
              <a:t>desempeño</a:t>
            </a:r>
            <a:r>
              <a:rPr sz="2400" i="0" dirty="0">
                <a:solidFill>
                  <a:srgbClr val="E8F0FF"/>
                </a:solidFill>
                <a:latin typeface="Tw Cen MT"/>
              </a:rPr>
              <a:t> y de </a:t>
            </a:r>
            <a:r>
              <a:rPr sz="2400" i="0" dirty="0" err="1">
                <a:solidFill>
                  <a:srgbClr val="E8F0FF"/>
                </a:solidFill>
                <a:latin typeface="Tw Cen MT"/>
              </a:rPr>
              <a:t>compensación</a:t>
            </a:r>
            <a:r>
              <a:rPr sz="2400" i="0" dirty="0">
                <a:solidFill>
                  <a:srgbClr val="E8F0FF"/>
                </a:solidFill>
                <a:latin typeface="Tw Cen MT"/>
              </a:rPr>
              <a:t>.</a:t>
            </a:r>
          </a:p>
          <a:p>
            <a:pPr algn="l">
              <a:spcBef>
                <a:spcPts val="500"/>
              </a:spcBef>
            </a:pPr>
            <a:r>
              <a:rPr sz="2400" i="0" dirty="0">
                <a:solidFill>
                  <a:srgbClr val="E8F0FF"/>
                </a:solidFill>
                <a:latin typeface="Tw Cen MT"/>
              </a:rPr>
              <a:t>■  'A </a:t>
            </a:r>
            <a:r>
              <a:rPr sz="2400" i="0" dirty="0" err="1">
                <a:solidFill>
                  <a:srgbClr val="E8F0FF"/>
                </a:solidFill>
                <a:latin typeface="Tw Cen MT"/>
              </a:rPr>
              <a:t>menos</a:t>
            </a:r>
            <a:r>
              <a:rPr sz="2400" i="0" dirty="0">
                <a:solidFill>
                  <a:srgbClr val="E8F0FF"/>
                </a:solidFill>
                <a:latin typeface="Tw Cen MT"/>
              </a:rPr>
              <a:t> </a:t>
            </a:r>
            <a:r>
              <a:rPr sz="2400" i="0" dirty="0" err="1">
                <a:solidFill>
                  <a:srgbClr val="E8F0FF"/>
                </a:solidFill>
                <a:latin typeface="Tw Cen MT"/>
              </a:rPr>
              <a:t>que</a:t>
            </a:r>
            <a:r>
              <a:rPr sz="2400" i="0" dirty="0">
                <a:solidFill>
                  <a:srgbClr val="E8F0FF"/>
                </a:solidFill>
                <a:latin typeface="Tw Cen MT"/>
              </a:rPr>
              <a:t> se </a:t>
            </a:r>
            <a:r>
              <a:rPr sz="2400" i="0" dirty="0" err="1">
                <a:solidFill>
                  <a:srgbClr val="E8F0FF"/>
                </a:solidFill>
                <a:latin typeface="Tw Cen MT"/>
              </a:rPr>
              <a:t>premie</a:t>
            </a:r>
            <a:r>
              <a:rPr sz="2400" i="0" dirty="0">
                <a:solidFill>
                  <a:srgbClr val="E8F0FF"/>
                </a:solidFill>
                <a:latin typeface="Tw Cen MT"/>
              </a:rPr>
              <a:t> y </a:t>
            </a:r>
            <a:r>
              <a:rPr sz="2400" i="0" dirty="0" err="1">
                <a:solidFill>
                  <a:srgbClr val="E8F0FF"/>
                </a:solidFill>
                <a:latin typeface="Tw Cen MT"/>
              </a:rPr>
              <a:t>castigue</a:t>
            </a:r>
            <a:r>
              <a:rPr sz="2400" i="0" dirty="0">
                <a:solidFill>
                  <a:srgbClr val="E8F0FF"/>
                </a:solidFill>
                <a:latin typeface="Tw Cen MT"/>
              </a:rPr>
              <a:t> a las personas </a:t>
            </a:r>
            <a:r>
              <a:rPr sz="2400" i="0" dirty="0" err="1">
                <a:solidFill>
                  <a:srgbClr val="E8F0FF"/>
                </a:solidFill>
                <a:latin typeface="Tw Cen MT"/>
              </a:rPr>
              <a:t>por</a:t>
            </a:r>
            <a:r>
              <a:rPr sz="2400" i="0" dirty="0">
                <a:solidFill>
                  <a:srgbClr val="E8F0FF"/>
                </a:solidFill>
                <a:latin typeface="Tw Cen MT"/>
              </a:rPr>
              <a:t> </a:t>
            </a:r>
            <a:r>
              <a:rPr sz="2400" i="0" dirty="0" err="1">
                <a:solidFill>
                  <a:srgbClr val="E8F0FF"/>
                </a:solidFill>
                <a:latin typeface="Tw Cen MT"/>
              </a:rPr>
              <a:t>su</a:t>
            </a:r>
            <a:r>
              <a:rPr sz="2400" i="0" dirty="0">
                <a:solidFill>
                  <a:srgbClr val="E8F0FF"/>
                </a:solidFill>
                <a:latin typeface="Tw Cen MT"/>
              </a:rPr>
              <a:t> </a:t>
            </a:r>
            <a:r>
              <a:rPr sz="2400" i="0" dirty="0" err="1">
                <a:solidFill>
                  <a:srgbClr val="E8F0FF"/>
                </a:solidFill>
                <a:latin typeface="Tw Cen MT"/>
              </a:rPr>
              <a:t>comportamiento</a:t>
            </a:r>
            <a:r>
              <a:rPr sz="2400" i="0" dirty="0">
                <a:solidFill>
                  <a:srgbClr val="E8F0FF"/>
                </a:solidFill>
                <a:latin typeface="Tw Cen MT"/>
              </a:rPr>
              <a:t>, </a:t>
            </a:r>
            <a:r>
              <a:rPr sz="2400" i="0" dirty="0" err="1">
                <a:solidFill>
                  <a:srgbClr val="E8F0FF"/>
                </a:solidFill>
                <a:latin typeface="Tw Cen MT"/>
              </a:rPr>
              <a:t>nadie</a:t>
            </a:r>
            <a:r>
              <a:rPr sz="2400" i="0" dirty="0">
                <a:solidFill>
                  <a:srgbClr val="E8F0FF"/>
                </a:solidFill>
                <a:latin typeface="Tw Cen MT"/>
              </a:rPr>
              <a:t> </a:t>
            </a:r>
            <a:r>
              <a:rPr sz="2400" i="0" dirty="0" err="1">
                <a:solidFill>
                  <a:srgbClr val="E8F0FF"/>
                </a:solidFill>
                <a:latin typeface="Tw Cen MT"/>
              </a:rPr>
              <a:t>creerá</a:t>
            </a:r>
            <a:r>
              <a:rPr sz="2400" i="0" dirty="0">
                <a:solidFill>
                  <a:srgbClr val="E8F0FF"/>
                </a:solidFill>
                <a:latin typeface="Tw Cen MT"/>
              </a:rPr>
              <a:t> </a:t>
            </a:r>
            <a:r>
              <a:rPr sz="2400" i="0" dirty="0" err="1">
                <a:solidFill>
                  <a:srgbClr val="E8F0FF"/>
                </a:solidFill>
                <a:latin typeface="Tw Cen MT"/>
              </a:rPr>
              <a:t>realmente</a:t>
            </a:r>
            <a:r>
              <a:rPr sz="2400" i="0" dirty="0">
                <a:solidFill>
                  <a:srgbClr val="E8F0FF"/>
                </a:solidFill>
                <a:latin typeface="Tw Cen MT"/>
              </a:rPr>
              <a:t> </a:t>
            </a:r>
            <a:r>
              <a:rPr sz="2400" i="0" dirty="0" err="1">
                <a:solidFill>
                  <a:srgbClr val="E8F0FF"/>
                </a:solidFill>
                <a:latin typeface="Tw Cen MT"/>
              </a:rPr>
              <a:t>que</a:t>
            </a:r>
            <a:r>
              <a:rPr sz="2400" i="0" dirty="0">
                <a:solidFill>
                  <a:srgbClr val="E8F0FF"/>
                </a:solidFill>
                <a:latin typeface="Tw Cen MT"/>
              </a:rPr>
              <a:t> </a:t>
            </a:r>
            <a:r>
              <a:rPr sz="2400" i="0" dirty="0" err="1">
                <a:solidFill>
                  <a:srgbClr val="E8F0FF"/>
                </a:solidFill>
                <a:latin typeface="Tw Cen MT"/>
              </a:rPr>
              <a:t>esto</a:t>
            </a:r>
            <a:r>
              <a:rPr sz="2400" i="0" dirty="0">
                <a:solidFill>
                  <a:srgbClr val="E8F0FF"/>
                </a:solidFill>
                <a:latin typeface="Tw Cen MT"/>
              </a:rPr>
              <a:t> es algo </a:t>
            </a:r>
            <a:r>
              <a:rPr sz="2400" i="0" dirty="0" err="1">
                <a:solidFill>
                  <a:srgbClr val="E8F0FF"/>
                </a:solidFill>
                <a:latin typeface="Tw Cen MT"/>
              </a:rPr>
              <a:t>más</a:t>
            </a:r>
            <a:r>
              <a:rPr sz="2400" i="0" dirty="0">
                <a:solidFill>
                  <a:srgbClr val="E8F0FF"/>
                </a:solidFill>
                <a:latin typeface="Tw Cen MT"/>
              </a:rPr>
              <a:t> </a:t>
            </a:r>
            <a:r>
              <a:rPr sz="2400" i="0" dirty="0" err="1">
                <a:solidFill>
                  <a:srgbClr val="E8F0FF"/>
                </a:solidFill>
                <a:latin typeface="Tw Cen MT"/>
              </a:rPr>
              <a:t>que</a:t>
            </a:r>
            <a:r>
              <a:rPr sz="2400" i="0" dirty="0">
                <a:solidFill>
                  <a:srgbClr val="E8F0FF"/>
                </a:solidFill>
                <a:latin typeface="Tw Cen MT"/>
              </a:rPr>
              <a:t> </a:t>
            </a:r>
            <a:r>
              <a:rPr sz="2400" i="0" dirty="0" err="1">
                <a:solidFill>
                  <a:srgbClr val="E8F0FF"/>
                </a:solidFill>
                <a:latin typeface="Tw Cen MT"/>
              </a:rPr>
              <a:t>palabrería</a:t>
            </a:r>
            <a:r>
              <a:rPr sz="2400" i="0" dirty="0">
                <a:solidFill>
                  <a:srgbClr val="E8F0FF"/>
                </a:solidFill>
                <a:latin typeface="Tw Cen MT"/>
              </a:rPr>
              <a:t>.' </a:t>
            </a:r>
            <a:r>
              <a:rPr lang="es-419" sz="2400" i="0" dirty="0">
                <a:solidFill>
                  <a:srgbClr val="E8F0FF"/>
                </a:solidFill>
                <a:latin typeface="Tw Cen MT"/>
              </a:rPr>
              <a:t>–</a:t>
            </a:r>
            <a:r>
              <a:rPr sz="2400" i="0" dirty="0">
                <a:solidFill>
                  <a:srgbClr val="E8F0FF"/>
                </a:solidFill>
                <a:latin typeface="Tw Cen MT"/>
              </a:rPr>
              <a:t> Kearns</a:t>
            </a:r>
            <a:endParaRPr lang="es-419" sz="2400" i="0" dirty="0">
              <a:solidFill>
                <a:srgbClr val="E8F0FF"/>
              </a:solidFill>
              <a:latin typeface="Tw Cen MT"/>
            </a:endParaRPr>
          </a:p>
          <a:p>
            <a:pPr algn="l">
              <a:spcBef>
                <a:spcPts val="500"/>
              </a:spcBef>
            </a:pPr>
            <a:endParaRPr sz="2400" b="1" i="0" dirty="0">
              <a:solidFill>
                <a:srgbClr val="E8F0FF"/>
              </a:solidFill>
              <a:latin typeface="Tw Cen MT"/>
            </a:endParaRPr>
          </a:p>
          <a:p>
            <a:pPr algn="r">
              <a:spcBef>
                <a:spcPts val="500"/>
              </a:spcBef>
            </a:pPr>
            <a:r>
              <a:rPr sz="2400" b="0" i="0" dirty="0">
                <a:solidFill>
                  <a:srgbClr val="E8F0FF"/>
                </a:solidFill>
                <a:latin typeface="Tw Cen MT"/>
              </a:rPr>
              <a:t>Fuente: Designing Organizations for Value — Journal of Applied Corporate Finance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Arquitectura Organizacional</a:t>
            </a:r>
          </a:p>
        </p:txBody>
      </p:sp>
      <p:sp>
        <p:nvSpPr>
          <p:cNvPr id="5" name="TextBox 4"/>
          <p:cNvSpPr txBox="1"/>
          <p:nvPr/>
        </p:nvSpPr>
        <p:spPr>
          <a:xfrm>
            <a:off x="406400" y="1219200"/>
            <a:ext cx="11379200" cy="5239896"/>
          </a:xfrm>
          <a:prstGeom prst="rect">
            <a:avLst/>
          </a:prstGeom>
          <a:noFill/>
        </p:spPr>
        <p:txBody>
          <a:bodyPr wrap="square">
            <a:spAutoFit/>
          </a:bodyPr>
          <a:lstStyle/>
          <a:p>
            <a:pPr algn="l">
              <a:spcBef>
                <a:spcPts val="500"/>
              </a:spcBef>
            </a:pPr>
            <a:r>
              <a:rPr sz="2400" b="1" i="0" dirty="0">
                <a:solidFill>
                  <a:srgbClr val="222222"/>
                </a:solidFill>
                <a:latin typeface="Tw Cen MT"/>
              </a:rPr>
              <a:t>El </a:t>
            </a:r>
            <a:r>
              <a:rPr sz="2400" b="1" i="0" dirty="0" err="1">
                <a:solidFill>
                  <a:srgbClr val="222222"/>
                </a:solidFill>
                <a:latin typeface="Tw Cen MT"/>
              </a:rPr>
              <a:t>diseño</a:t>
            </a:r>
            <a:r>
              <a:rPr sz="2400" b="1" i="0" dirty="0">
                <a:solidFill>
                  <a:srgbClr val="222222"/>
                </a:solidFill>
                <a:latin typeface="Tw Cen MT"/>
              </a:rPr>
              <a:t> de </a:t>
            </a:r>
            <a:r>
              <a:rPr sz="2400" b="1" i="0" dirty="0" err="1">
                <a:solidFill>
                  <a:srgbClr val="222222"/>
                </a:solidFill>
                <a:latin typeface="Tw Cen MT"/>
              </a:rPr>
              <a:t>una</a:t>
            </a:r>
            <a:r>
              <a:rPr sz="2400" b="1" i="0" dirty="0">
                <a:solidFill>
                  <a:srgbClr val="222222"/>
                </a:solidFill>
                <a:latin typeface="Tw Cen MT"/>
              </a:rPr>
              <a:t> </a:t>
            </a:r>
            <a:r>
              <a:rPr sz="2400" b="1" i="0" dirty="0" err="1">
                <a:solidFill>
                  <a:srgbClr val="222222"/>
                </a:solidFill>
                <a:latin typeface="Tw Cen MT"/>
              </a:rPr>
              <a:t>empresa</a:t>
            </a:r>
            <a:r>
              <a:rPr sz="2400" b="1" i="0" dirty="0">
                <a:solidFill>
                  <a:srgbClr val="222222"/>
                </a:solidFill>
                <a:latin typeface="Tw Cen MT"/>
              </a:rPr>
              <a:t> </a:t>
            </a:r>
            <a:r>
              <a:rPr sz="2400" b="1" i="0" dirty="0" err="1">
                <a:solidFill>
                  <a:srgbClr val="222222"/>
                </a:solidFill>
                <a:latin typeface="Tw Cen MT"/>
              </a:rPr>
              <a:t>debe</a:t>
            </a:r>
            <a:r>
              <a:rPr sz="2400" b="1" i="0" dirty="0">
                <a:solidFill>
                  <a:srgbClr val="222222"/>
                </a:solidFill>
                <a:latin typeface="Tw Cen MT"/>
              </a:rPr>
              <a:t> </a:t>
            </a:r>
            <a:r>
              <a:rPr sz="2400" b="1" i="0" dirty="0" err="1">
                <a:solidFill>
                  <a:srgbClr val="222222"/>
                </a:solidFill>
                <a:latin typeface="Tw Cen MT"/>
              </a:rPr>
              <a:t>maximizar</a:t>
            </a:r>
            <a:r>
              <a:rPr sz="2400" b="1" i="0" dirty="0">
                <a:solidFill>
                  <a:srgbClr val="222222"/>
                </a:solidFill>
                <a:latin typeface="Tw Cen MT"/>
              </a:rPr>
              <a:t> la </a:t>
            </a:r>
            <a:r>
              <a:rPr sz="2400" b="1" i="0" dirty="0" err="1">
                <a:solidFill>
                  <a:srgbClr val="222222"/>
                </a:solidFill>
                <a:latin typeface="Tw Cen MT"/>
              </a:rPr>
              <a:t>probabilidad</a:t>
            </a:r>
            <a:r>
              <a:rPr sz="2400" b="1" i="0" dirty="0">
                <a:solidFill>
                  <a:srgbClr val="222222"/>
                </a:solidFill>
                <a:latin typeface="Tw Cen MT"/>
              </a:rPr>
              <a:t> de </a:t>
            </a:r>
            <a:r>
              <a:rPr sz="2400" b="1" i="0" dirty="0" err="1">
                <a:solidFill>
                  <a:srgbClr val="222222"/>
                </a:solidFill>
                <a:latin typeface="Tw Cen MT"/>
              </a:rPr>
              <a:t>que</a:t>
            </a:r>
            <a:r>
              <a:rPr sz="2400" b="1" i="0" dirty="0">
                <a:solidFill>
                  <a:srgbClr val="222222"/>
                </a:solidFill>
                <a:latin typeface="Tw Cen MT"/>
              </a:rPr>
              <a:t> </a:t>
            </a:r>
            <a:r>
              <a:rPr sz="2400" b="1" i="0" dirty="0" err="1">
                <a:solidFill>
                  <a:srgbClr val="222222"/>
                </a:solidFill>
                <a:latin typeface="Tw Cen MT"/>
              </a:rPr>
              <a:t>los</a:t>
            </a:r>
            <a:r>
              <a:rPr sz="2400" b="1" i="0" dirty="0">
                <a:solidFill>
                  <a:srgbClr val="222222"/>
                </a:solidFill>
                <a:latin typeface="Tw Cen MT"/>
              </a:rPr>
              <a:t> </a:t>
            </a:r>
            <a:r>
              <a:rPr sz="2400" b="1" i="0" dirty="0" err="1">
                <a:solidFill>
                  <a:srgbClr val="222222"/>
                </a:solidFill>
                <a:latin typeface="Tw Cen MT"/>
              </a:rPr>
              <a:t>tomadores</a:t>
            </a:r>
            <a:r>
              <a:rPr sz="2400" b="1" i="0" dirty="0">
                <a:solidFill>
                  <a:srgbClr val="222222"/>
                </a:solidFill>
                <a:latin typeface="Tw Cen MT"/>
              </a:rPr>
              <a:t> de </a:t>
            </a:r>
            <a:r>
              <a:rPr sz="2400" b="1" i="0" dirty="0" err="1">
                <a:solidFill>
                  <a:srgbClr val="222222"/>
                </a:solidFill>
                <a:latin typeface="Tw Cen MT"/>
              </a:rPr>
              <a:t>decisión</a:t>
            </a:r>
            <a:r>
              <a:rPr sz="2400" b="1" i="0" dirty="0">
                <a:solidFill>
                  <a:srgbClr val="222222"/>
                </a:solidFill>
                <a:latin typeface="Tw Cen MT"/>
              </a:rPr>
              <a:t> </a:t>
            </a:r>
            <a:r>
              <a:rPr sz="2400" b="1" i="0" dirty="0" err="1">
                <a:solidFill>
                  <a:srgbClr val="222222"/>
                </a:solidFill>
                <a:latin typeface="Tw Cen MT"/>
              </a:rPr>
              <a:t>tengan</a:t>
            </a:r>
            <a:r>
              <a:rPr sz="2400" b="1" i="0" dirty="0">
                <a:solidFill>
                  <a:srgbClr val="222222"/>
                </a:solidFill>
                <a:latin typeface="Tw Cen MT"/>
              </a:rPr>
              <a:t> la </a:t>
            </a:r>
            <a:r>
              <a:rPr sz="2400" b="1" i="0" dirty="0" err="1">
                <a:solidFill>
                  <a:srgbClr val="222222"/>
                </a:solidFill>
                <a:latin typeface="Tw Cen MT"/>
              </a:rPr>
              <a:t>información</a:t>
            </a:r>
            <a:r>
              <a:rPr sz="2400" b="1" i="0" dirty="0">
                <a:solidFill>
                  <a:srgbClr val="222222"/>
                </a:solidFill>
                <a:latin typeface="Tw Cen MT"/>
              </a:rPr>
              <a:t> </a:t>
            </a:r>
            <a:r>
              <a:rPr sz="2400" b="1" i="0" dirty="0" err="1">
                <a:solidFill>
                  <a:srgbClr val="222222"/>
                </a:solidFill>
                <a:latin typeface="Tw Cen MT"/>
              </a:rPr>
              <a:t>necesaria</a:t>
            </a:r>
            <a:r>
              <a:rPr sz="2400" b="1" i="0" dirty="0">
                <a:solidFill>
                  <a:srgbClr val="222222"/>
                </a:solidFill>
                <a:latin typeface="Tw Cen MT"/>
              </a:rPr>
              <a:t> </a:t>
            </a:r>
            <a:r>
              <a:rPr lang="es-419" sz="2400" b="1" i="0" dirty="0">
                <a:solidFill>
                  <a:srgbClr val="222222"/>
                </a:solidFill>
                <a:latin typeface="Tw Cen MT"/>
              </a:rPr>
              <a:t>y</a:t>
            </a:r>
            <a:r>
              <a:rPr sz="2400" b="1" i="0" dirty="0">
                <a:solidFill>
                  <a:srgbClr val="222222"/>
                </a:solidFill>
                <a:latin typeface="Tw Cen MT"/>
              </a:rPr>
              <a:t> </a:t>
            </a:r>
            <a:r>
              <a:rPr sz="2400" b="1" i="0" dirty="0" err="1">
                <a:solidFill>
                  <a:srgbClr val="222222"/>
                </a:solidFill>
                <a:latin typeface="Tw Cen MT"/>
              </a:rPr>
              <a:t>los</a:t>
            </a:r>
            <a:r>
              <a:rPr sz="2400" b="1" i="0" dirty="0">
                <a:solidFill>
                  <a:srgbClr val="222222"/>
                </a:solidFill>
                <a:latin typeface="Tw Cen MT"/>
              </a:rPr>
              <a:t> </a:t>
            </a:r>
            <a:r>
              <a:rPr sz="2400" b="1" i="0" dirty="0" err="1">
                <a:solidFill>
                  <a:srgbClr val="222222"/>
                </a:solidFill>
                <a:latin typeface="Tw Cen MT"/>
              </a:rPr>
              <a:t>incentivos</a:t>
            </a:r>
            <a:r>
              <a:rPr sz="2400" b="1" i="0" dirty="0">
                <a:solidFill>
                  <a:srgbClr val="222222"/>
                </a:solidFill>
                <a:latin typeface="Tw Cen MT"/>
              </a:rPr>
              <a:t> para </a:t>
            </a:r>
            <a:r>
              <a:rPr sz="2400" b="1" i="0" dirty="0" err="1">
                <a:solidFill>
                  <a:srgbClr val="222222"/>
                </a:solidFill>
                <a:latin typeface="Tw Cen MT"/>
              </a:rPr>
              <a:t>utilizarla</a:t>
            </a:r>
            <a:r>
              <a:rPr sz="2400" b="1" i="0" dirty="0">
                <a:solidFill>
                  <a:srgbClr val="222222"/>
                </a:solidFill>
                <a:latin typeface="Tw Cen MT"/>
              </a:rPr>
              <a:t> </a:t>
            </a:r>
            <a:r>
              <a:rPr sz="2400" b="1" i="0" dirty="0" err="1">
                <a:solidFill>
                  <a:srgbClr val="222222"/>
                </a:solidFill>
                <a:latin typeface="Tw Cen MT"/>
              </a:rPr>
              <a:t>productivamente</a:t>
            </a:r>
            <a:r>
              <a:rPr sz="2400" b="1" i="0" dirty="0">
                <a:solidFill>
                  <a:srgbClr val="222222"/>
                </a:solidFill>
                <a:latin typeface="Tw Cen MT"/>
              </a:rPr>
              <a:t>.</a:t>
            </a:r>
            <a:endParaRPr lang="es-419" sz="2400" b="1" i="0" dirty="0">
              <a:solidFill>
                <a:srgbClr val="222222"/>
              </a:solidFill>
              <a:latin typeface="Tw Cen MT"/>
            </a:endParaRPr>
          </a:p>
          <a:p>
            <a:pPr algn="l">
              <a:spcBef>
                <a:spcPts val="500"/>
              </a:spcBef>
            </a:pPr>
            <a:endParaRPr sz="2400" b="1" i="0" dirty="0">
              <a:solidFill>
                <a:srgbClr val="222222"/>
              </a:solidFill>
              <a:latin typeface="Tw Cen MT"/>
            </a:endParaRPr>
          </a:p>
          <a:p>
            <a:pPr algn="l">
              <a:spcBef>
                <a:spcPts val="500"/>
              </a:spcBef>
            </a:pPr>
            <a:r>
              <a:rPr sz="2400" b="1" i="0" dirty="0">
                <a:solidFill>
                  <a:srgbClr val="8B0000"/>
                </a:solidFill>
                <a:latin typeface="Tw Cen MT"/>
              </a:rPr>
              <a:t>CONTRATOS EXPLÍCITOS E IMPLÍCITOS </a:t>
            </a:r>
            <a:r>
              <a:rPr sz="2400" b="1" i="0" dirty="0" err="1">
                <a:solidFill>
                  <a:srgbClr val="8B0000"/>
                </a:solidFill>
                <a:latin typeface="Tw Cen MT"/>
              </a:rPr>
              <a:t>definen</a:t>
            </a:r>
            <a:r>
              <a:rPr sz="2400" b="1" i="0" dirty="0">
                <a:solidFill>
                  <a:srgbClr val="8B0000"/>
                </a:solidFill>
                <a:latin typeface="Tw Cen MT"/>
              </a:rPr>
              <a:t>:</a:t>
            </a:r>
          </a:p>
          <a:p>
            <a:pPr algn="l">
              <a:spcBef>
                <a:spcPts val="200"/>
              </a:spcBef>
            </a:pPr>
            <a:r>
              <a:rPr sz="2400" b="0" i="0" dirty="0">
                <a:solidFill>
                  <a:srgbClr val="222222"/>
                </a:solidFill>
                <a:latin typeface="Tw Cen MT"/>
              </a:rPr>
              <a:t>    ▸  La </a:t>
            </a:r>
            <a:r>
              <a:rPr sz="2400" b="0" i="0" dirty="0" err="1">
                <a:solidFill>
                  <a:srgbClr val="222222"/>
                </a:solidFill>
                <a:latin typeface="Tw Cen MT"/>
              </a:rPr>
              <a:t>autoridad</a:t>
            </a:r>
            <a:r>
              <a:rPr sz="2400" b="0" i="0" dirty="0">
                <a:solidFill>
                  <a:srgbClr val="222222"/>
                </a:solidFill>
                <a:latin typeface="Tw Cen MT"/>
              </a:rPr>
              <a:t> </a:t>
            </a:r>
            <a:r>
              <a:rPr sz="2400" b="0" i="0" dirty="0" err="1">
                <a:solidFill>
                  <a:srgbClr val="222222"/>
                </a:solidFill>
                <a:latin typeface="Tw Cen MT"/>
              </a:rPr>
              <a:t>en</a:t>
            </a:r>
            <a:r>
              <a:rPr sz="2400" b="0" i="0" dirty="0">
                <a:solidFill>
                  <a:srgbClr val="222222"/>
                </a:solidFill>
                <a:latin typeface="Tw Cen MT"/>
              </a:rPr>
              <a:t> la </a:t>
            </a:r>
            <a:r>
              <a:rPr sz="2400" b="0" i="0" dirty="0" err="1">
                <a:solidFill>
                  <a:srgbClr val="222222"/>
                </a:solidFill>
                <a:latin typeface="Tw Cen MT"/>
              </a:rPr>
              <a:t>toma</a:t>
            </a:r>
            <a:r>
              <a:rPr sz="2400" b="0" i="0" dirty="0">
                <a:solidFill>
                  <a:srgbClr val="222222"/>
                </a:solidFill>
                <a:latin typeface="Tw Cen MT"/>
              </a:rPr>
              <a:t> de </a:t>
            </a:r>
            <a:r>
              <a:rPr sz="2400" b="0" i="0" dirty="0" err="1">
                <a:solidFill>
                  <a:srgbClr val="222222"/>
                </a:solidFill>
                <a:latin typeface="Tw Cen MT"/>
              </a:rPr>
              <a:t>decisiones</a:t>
            </a:r>
            <a:r>
              <a:rPr sz="2400" b="0" i="0" dirty="0">
                <a:solidFill>
                  <a:srgbClr val="222222"/>
                </a:solidFill>
                <a:latin typeface="Tw Cen MT"/>
              </a:rPr>
              <a:t>.</a:t>
            </a:r>
          </a:p>
          <a:p>
            <a:pPr algn="l">
              <a:spcBef>
                <a:spcPts val="200"/>
              </a:spcBef>
            </a:pPr>
            <a:r>
              <a:rPr sz="2400" b="0" i="0" dirty="0">
                <a:solidFill>
                  <a:srgbClr val="222222"/>
                </a:solidFill>
                <a:latin typeface="Tw Cen MT"/>
              </a:rPr>
              <a:t>    ▸  El </a:t>
            </a:r>
            <a:r>
              <a:rPr sz="2400" b="0" i="0" dirty="0" err="1">
                <a:solidFill>
                  <a:srgbClr val="222222"/>
                </a:solidFill>
                <a:latin typeface="Tw Cen MT"/>
              </a:rPr>
              <a:t>sistema</a:t>
            </a:r>
            <a:r>
              <a:rPr sz="2400" b="0" i="0" dirty="0">
                <a:solidFill>
                  <a:srgbClr val="222222"/>
                </a:solidFill>
                <a:latin typeface="Tw Cen MT"/>
              </a:rPr>
              <a:t> de </a:t>
            </a:r>
            <a:r>
              <a:rPr sz="2400" b="0" i="0" dirty="0" err="1">
                <a:solidFill>
                  <a:srgbClr val="222222"/>
                </a:solidFill>
                <a:latin typeface="Tw Cen MT"/>
              </a:rPr>
              <a:t>compensación</a:t>
            </a:r>
            <a:r>
              <a:rPr sz="2400" b="0" i="0" dirty="0">
                <a:solidFill>
                  <a:srgbClr val="222222"/>
                </a:solidFill>
                <a:latin typeface="Tw Cen MT"/>
              </a:rPr>
              <a:t>.</a:t>
            </a:r>
          </a:p>
          <a:p>
            <a:pPr algn="l">
              <a:spcBef>
                <a:spcPts val="200"/>
              </a:spcBef>
            </a:pPr>
            <a:r>
              <a:rPr sz="2400" b="0" i="0" dirty="0">
                <a:solidFill>
                  <a:srgbClr val="222222"/>
                </a:solidFill>
                <a:latin typeface="Tw Cen MT"/>
              </a:rPr>
              <a:t>    ▸  La </a:t>
            </a:r>
            <a:r>
              <a:rPr sz="2400" b="0" i="0" dirty="0" err="1">
                <a:solidFill>
                  <a:srgbClr val="222222"/>
                </a:solidFill>
                <a:latin typeface="Tw Cen MT"/>
              </a:rPr>
              <a:t>evaluación</a:t>
            </a:r>
            <a:r>
              <a:rPr sz="2400" b="0" i="0" dirty="0">
                <a:solidFill>
                  <a:srgbClr val="222222"/>
                </a:solidFill>
                <a:latin typeface="Tw Cen MT"/>
              </a:rPr>
              <a:t> del </a:t>
            </a:r>
            <a:r>
              <a:rPr sz="2400" b="0" i="0" dirty="0" err="1">
                <a:solidFill>
                  <a:srgbClr val="222222"/>
                </a:solidFill>
                <a:latin typeface="Tw Cen MT"/>
              </a:rPr>
              <a:t>desempeño</a:t>
            </a:r>
            <a:r>
              <a:rPr sz="2400" b="0" i="0" dirty="0">
                <a:solidFill>
                  <a:srgbClr val="222222"/>
                </a:solidFill>
                <a:latin typeface="Tw Cen MT"/>
              </a:rPr>
              <a:t>.</a:t>
            </a:r>
            <a:endParaRPr lang="es-419" sz="2400" b="0" i="0" dirty="0">
              <a:solidFill>
                <a:srgbClr val="222222"/>
              </a:solidFill>
              <a:latin typeface="Tw Cen MT"/>
            </a:endParaRPr>
          </a:p>
          <a:p>
            <a:pPr algn="l">
              <a:spcBef>
                <a:spcPts val="200"/>
              </a:spcBef>
            </a:pPr>
            <a:endParaRPr sz="2400" b="0" i="0" dirty="0">
              <a:solidFill>
                <a:srgbClr val="222222"/>
              </a:solidFill>
              <a:latin typeface="Tw Cen MT"/>
            </a:endParaRPr>
          </a:p>
          <a:p>
            <a:pPr algn="l">
              <a:spcBef>
                <a:spcPts val="500"/>
              </a:spcBef>
            </a:pPr>
            <a:r>
              <a:rPr sz="2400" b="1" i="0" dirty="0">
                <a:solidFill>
                  <a:srgbClr val="8B0000"/>
                </a:solidFill>
                <a:latin typeface="Tw Cen MT"/>
              </a:rPr>
              <a:t>EL PROBLEMA DE LOS CONTRATOS</a:t>
            </a:r>
          </a:p>
          <a:p>
            <a:pPr algn="l">
              <a:spcBef>
                <a:spcPts val="200"/>
              </a:spcBef>
            </a:pPr>
            <a:r>
              <a:rPr sz="2400" b="0" i="0" dirty="0">
                <a:solidFill>
                  <a:srgbClr val="222222"/>
                </a:solidFill>
                <a:latin typeface="Tw Cen MT"/>
              </a:rPr>
              <a:t>    </a:t>
            </a:r>
            <a:r>
              <a:rPr sz="2400" i="0" dirty="0">
                <a:solidFill>
                  <a:srgbClr val="222222"/>
                </a:solidFill>
                <a:latin typeface="Tw Cen MT"/>
              </a:rPr>
              <a:t>▸  Tienen un </a:t>
            </a:r>
            <a:r>
              <a:rPr sz="2400" i="0" dirty="0" err="1">
                <a:solidFill>
                  <a:srgbClr val="222222"/>
                </a:solidFill>
                <a:latin typeface="Tw Cen MT"/>
              </a:rPr>
              <a:t>costo</a:t>
            </a:r>
            <a:r>
              <a:rPr sz="2400" i="0" dirty="0">
                <a:solidFill>
                  <a:srgbClr val="222222"/>
                </a:solidFill>
                <a:latin typeface="Tw Cen MT"/>
              </a:rPr>
              <a:t> </a:t>
            </a:r>
            <a:r>
              <a:rPr sz="2400" i="0" dirty="0" err="1">
                <a:solidFill>
                  <a:srgbClr val="222222"/>
                </a:solidFill>
                <a:latin typeface="Tw Cen MT"/>
              </a:rPr>
              <a:t>asociado</a:t>
            </a:r>
            <a:r>
              <a:rPr sz="2400" i="0" dirty="0">
                <a:solidFill>
                  <a:srgbClr val="222222"/>
                </a:solidFill>
                <a:latin typeface="Tw Cen MT"/>
              </a:rPr>
              <a:t>: </a:t>
            </a:r>
            <a:r>
              <a:rPr sz="2400" i="0" dirty="0" err="1">
                <a:solidFill>
                  <a:srgbClr val="222222"/>
                </a:solidFill>
                <a:latin typeface="Tw Cen MT"/>
              </a:rPr>
              <a:t>negociación</a:t>
            </a:r>
            <a:r>
              <a:rPr sz="2400" i="0" dirty="0">
                <a:solidFill>
                  <a:srgbClr val="222222"/>
                </a:solidFill>
                <a:latin typeface="Tw Cen MT"/>
              </a:rPr>
              <a:t>, </a:t>
            </a:r>
            <a:r>
              <a:rPr sz="2400" i="0" dirty="0" err="1">
                <a:solidFill>
                  <a:srgbClr val="222222"/>
                </a:solidFill>
                <a:latin typeface="Tw Cen MT"/>
              </a:rPr>
              <a:t>diseño</a:t>
            </a:r>
            <a:r>
              <a:rPr sz="2400" i="0" dirty="0">
                <a:solidFill>
                  <a:srgbClr val="222222"/>
                </a:solidFill>
                <a:latin typeface="Tw Cen MT"/>
              </a:rPr>
              <a:t>, </a:t>
            </a:r>
            <a:r>
              <a:rPr sz="2400" i="0" dirty="0" err="1">
                <a:solidFill>
                  <a:srgbClr val="222222"/>
                </a:solidFill>
                <a:latin typeface="Tw Cen MT"/>
              </a:rPr>
              <a:t>administración</a:t>
            </a:r>
            <a:r>
              <a:rPr sz="2400" i="0" dirty="0">
                <a:solidFill>
                  <a:srgbClr val="222222"/>
                </a:solidFill>
                <a:latin typeface="Tw Cen MT"/>
              </a:rPr>
              <a:t> y </a:t>
            </a:r>
            <a:r>
              <a:rPr sz="2400" i="0" dirty="0" err="1">
                <a:solidFill>
                  <a:srgbClr val="222222"/>
                </a:solidFill>
                <a:latin typeface="Tw Cen MT"/>
              </a:rPr>
              <a:t>cumplimiento</a:t>
            </a:r>
            <a:r>
              <a:rPr sz="2400" i="0" dirty="0">
                <a:solidFill>
                  <a:srgbClr val="222222"/>
                </a:solidFill>
                <a:latin typeface="Tw Cen MT"/>
              </a:rPr>
              <a:t>.</a:t>
            </a:r>
          </a:p>
          <a:p>
            <a:pPr algn="l">
              <a:spcBef>
                <a:spcPts val="200"/>
              </a:spcBef>
            </a:pPr>
            <a:r>
              <a:rPr sz="2400" i="0" dirty="0">
                <a:solidFill>
                  <a:srgbClr val="222222"/>
                </a:solidFill>
                <a:latin typeface="Tw Cen MT"/>
              </a:rPr>
              <a:t>    ▸  La </a:t>
            </a:r>
            <a:r>
              <a:rPr sz="2400" i="0" dirty="0" err="1">
                <a:solidFill>
                  <a:srgbClr val="222222"/>
                </a:solidFill>
                <a:latin typeface="Tw Cen MT"/>
              </a:rPr>
              <a:t>información</a:t>
            </a:r>
            <a:r>
              <a:rPr sz="2400" i="0" dirty="0">
                <a:solidFill>
                  <a:srgbClr val="222222"/>
                </a:solidFill>
                <a:latin typeface="Tw Cen MT"/>
              </a:rPr>
              <a:t> </a:t>
            </a:r>
            <a:r>
              <a:rPr sz="2400" i="0" dirty="0" err="1">
                <a:solidFill>
                  <a:srgbClr val="222222"/>
                </a:solidFill>
                <a:latin typeface="Tw Cen MT"/>
              </a:rPr>
              <a:t>necesaria</a:t>
            </a:r>
            <a:r>
              <a:rPr sz="2400" i="0" dirty="0">
                <a:solidFill>
                  <a:srgbClr val="222222"/>
                </a:solidFill>
                <a:latin typeface="Tw Cen MT"/>
              </a:rPr>
              <a:t> para </a:t>
            </a:r>
            <a:r>
              <a:rPr sz="2400" i="0" dirty="0" err="1">
                <a:solidFill>
                  <a:srgbClr val="222222"/>
                </a:solidFill>
                <a:latin typeface="Tw Cen MT"/>
              </a:rPr>
              <a:t>hacer</a:t>
            </a:r>
            <a:r>
              <a:rPr sz="2400" i="0" dirty="0">
                <a:solidFill>
                  <a:srgbClr val="222222"/>
                </a:solidFill>
                <a:latin typeface="Tw Cen MT"/>
              </a:rPr>
              <a:t> un </a:t>
            </a:r>
            <a:r>
              <a:rPr sz="2400" i="0" dirty="0" err="1">
                <a:solidFill>
                  <a:srgbClr val="222222"/>
                </a:solidFill>
                <a:latin typeface="Tw Cen MT"/>
              </a:rPr>
              <a:t>buen</a:t>
            </a:r>
            <a:r>
              <a:rPr sz="2400" i="0" dirty="0">
                <a:solidFill>
                  <a:srgbClr val="222222"/>
                </a:solidFill>
                <a:latin typeface="Tw Cen MT"/>
              </a:rPr>
              <a:t> </a:t>
            </a:r>
            <a:r>
              <a:rPr sz="2400" i="0" dirty="0" err="1">
                <a:solidFill>
                  <a:srgbClr val="222222"/>
                </a:solidFill>
                <a:latin typeface="Tw Cen MT"/>
              </a:rPr>
              <a:t>contrato</a:t>
            </a:r>
            <a:r>
              <a:rPr sz="2400" i="0" dirty="0">
                <a:solidFill>
                  <a:srgbClr val="222222"/>
                </a:solidFill>
                <a:latin typeface="Tw Cen MT"/>
              </a:rPr>
              <a:t> es </a:t>
            </a:r>
            <a:r>
              <a:rPr sz="2400" i="0" dirty="0" err="1">
                <a:solidFill>
                  <a:srgbClr val="222222"/>
                </a:solidFill>
                <a:latin typeface="Tw Cen MT"/>
              </a:rPr>
              <a:t>costosa</a:t>
            </a:r>
            <a:r>
              <a:rPr sz="2400" i="0" dirty="0">
                <a:solidFill>
                  <a:srgbClr val="222222"/>
                </a:solidFill>
                <a:latin typeface="Tw Cen MT"/>
              </a:rPr>
              <a:t> y, </a:t>
            </a:r>
            <a:r>
              <a:rPr sz="2400" i="0" dirty="0" err="1">
                <a:solidFill>
                  <a:srgbClr val="222222"/>
                </a:solidFill>
                <a:latin typeface="Tw Cen MT"/>
              </a:rPr>
              <a:t>típicamente</a:t>
            </a:r>
            <a:r>
              <a:rPr sz="2400" i="0" dirty="0">
                <a:solidFill>
                  <a:srgbClr val="222222"/>
                </a:solidFill>
                <a:latin typeface="Tw Cen MT"/>
              </a:rPr>
              <a:t>, </a:t>
            </a:r>
            <a:r>
              <a:rPr sz="2400" i="0" dirty="0" err="1">
                <a:solidFill>
                  <a:srgbClr val="222222"/>
                </a:solidFill>
                <a:latin typeface="Tw Cen MT"/>
              </a:rPr>
              <a:t>asimétrica</a:t>
            </a:r>
            <a:r>
              <a:rPr sz="2400" i="0" dirty="0">
                <a:solidFill>
                  <a:srgbClr val="222222"/>
                </a:solidFill>
                <a:latin typeface="Tw Cen MT"/>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La Arquitectura en las Firmas</a:t>
            </a:r>
          </a:p>
        </p:txBody>
      </p:sp>
      <p:sp>
        <p:nvSpPr>
          <p:cNvPr id="5" name="TextBox 4"/>
          <p:cNvSpPr txBox="1"/>
          <p:nvPr/>
        </p:nvSpPr>
        <p:spPr>
          <a:xfrm>
            <a:off x="406400" y="1219200"/>
            <a:ext cx="11379200" cy="4201150"/>
          </a:xfrm>
          <a:prstGeom prst="rect">
            <a:avLst/>
          </a:prstGeom>
          <a:noFill/>
        </p:spPr>
        <p:txBody>
          <a:bodyPr wrap="square">
            <a:spAutoFit/>
          </a:bodyPr>
          <a:lstStyle/>
          <a:p>
            <a:pPr algn="l">
              <a:spcBef>
                <a:spcPts val="500"/>
              </a:spcBef>
            </a:pPr>
            <a:r>
              <a:rPr sz="2200" b="0" i="0" dirty="0">
                <a:solidFill>
                  <a:srgbClr val="222222"/>
                </a:solidFill>
                <a:latin typeface="Tw Cen MT"/>
              </a:rPr>
              <a:t>No hay un </a:t>
            </a:r>
            <a:r>
              <a:rPr sz="2200" b="0" i="0" dirty="0" err="1">
                <a:solidFill>
                  <a:srgbClr val="222222"/>
                </a:solidFill>
                <a:latin typeface="Tw Cen MT"/>
              </a:rPr>
              <a:t>sistema</a:t>
            </a:r>
            <a:r>
              <a:rPr sz="2200" b="0" i="0" dirty="0">
                <a:solidFill>
                  <a:srgbClr val="222222"/>
                </a:solidFill>
                <a:latin typeface="Tw Cen MT"/>
              </a:rPr>
              <a:t> </a:t>
            </a:r>
            <a:r>
              <a:rPr sz="2200" b="0" i="0" dirty="0" err="1">
                <a:solidFill>
                  <a:srgbClr val="222222"/>
                </a:solidFill>
                <a:latin typeface="Tw Cen MT"/>
              </a:rPr>
              <a:t>automático</a:t>
            </a:r>
            <a:r>
              <a:rPr sz="2200" b="0" i="0" dirty="0">
                <a:solidFill>
                  <a:srgbClr val="222222"/>
                </a:solidFill>
                <a:latin typeface="Tw Cen MT"/>
              </a:rPr>
              <a:t> para </a:t>
            </a:r>
            <a:r>
              <a:rPr sz="2200" b="0" i="0" dirty="0" err="1">
                <a:solidFill>
                  <a:srgbClr val="222222"/>
                </a:solidFill>
                <a:latin typeface="Tw Cen MT"/>
              </a:rPr>
              <a:t>asignar</a:t>
            </a:r>
            <a:r>
              <a:rPr sz="2200" b="0" i="0" dirty="0">
                <a:solidFill>
                  <a:srgbClr val="222222"/>
                </a:solidFill>
                <a:latin typeface="Tw Cen MT"/>
              </a:rPr>
              <a:t> </a:t>
            </a:r>
            <a:r>
              <a:rPr sz="2200" b="0" i="0" dirty="0" err="1">
                <a:solidFill>
                  <a:srgbClr val="222222"/>
                </a:solidFill>
                <a:latin typeface="Tw Cen MT"/>
              </a:rPr>
              <a:t>poder</a:t>
            </a:r>
            <a:r>
              <a:rPr sz="2200" b="0" i="0" dirty="0">
                <a:solidFill>
                  <a:srgbClr val="222222"/>
                </a:solidFill>
                <a:latin typeface="Tw Cen MT"/>
              </a:rPr>
              <a:t> de </a:t>
            </a:r>
            <a:r>
              <a:rPr sz="2200" b="0" i="0" dirty="0" err="1">
                <a:solidFill>
                  <a:srgbClr val="222222"/>
                </a:solidFill>
                <a:latin typeface="Tw Cen MT"/>
              </a:rPr>
              <a:t>decisión</a:t>
            </a:r>
            <a:r>
              <a:rPr sz="2200" b="0" i="0" dirty="0">
                <a:solidFill>
                  <a:srgbClr val="222222"/>
                </a:solidFill>
                <a:latin typeface="Tw Cen MT"/>
              </a:rPr>
              <a:t> a </a:t>
            </a:r>
            <a:r>
              <a:rPr sz="2200" b="0" i="0" dirty="0" err="1">
                <a:solidFill>
                  <a:srgbClr val="222222"/>
                </a:solidFill>
                <a:latin typeface="Tw Cen MT"/>
              </a:rPr>
              <a:t>quienes</a:t>
            </a:r>
            <a:r>
              <a:rPr sz="2200" b="0" i="0" dirty="0">
                <a:solidFill>
                  <a:srgbClr val="222222"/>
                </a:solidFill>
                <a:latin typeface="Tw Cen MT"/>
              </a:rPr>
              <a:t> </a:t>
            </a:r>
            <a:r>
              <a:rPr sz="2200" b="0" i="0" dirty="0" err="1">
                <a:solidFill>
                  <a:srgbClr val="222222"/>
                </a:solidFill>
                <a:latin typeface="Tw Cen MT"/>
              </a:rPr>
              <a:t>tienen</a:t>
            </a:r>
            <a:r>
              <a:rPr sz="2200" b="0" i="0" dirty="0">
                <a:solidFill>
                  <a:srgbClr val="222222"/>
                </a:solidFill>
                <a:latin typeface="Tw Cen MT"/>
              </a:rPr>
              <a:t> la </a:t>
            </a:r>
            <a:r>
              <a:rPr sz="2200" b="0" i="0" dirty="0" err="1">
                <a:solidFill>
                  <a:srgbClr val="222222"/>
                </a:solidFill>
                <a:latin typeface="Tw Cen MT"/>
              </a:rPr>
              <a:t>información</a:t>
            </a:r>
            <a:r>
              <a:rPr sz="2200" b="0" i="0" dirty="0">
                <a:solidFill>
                  <a:srgbClr val="222222"/>
                </a:solidFill>
                <a:latin typeface="Tw Cen MT"/>
              </a:rPr>
              <a:t> </a:t>
            </a:r>
            <a:r>
              <a:rPr sz="2200" b="0" i="0" dirty="0" err="1">
                <a:solidFill>
                  <a:srgbClr val="222222"/>
                </a:solidFill>
                <a:latin typeface="Tw Cen MT"/>
              </a:rPr>
              <a:t>relevante</a:t>
            </a:r>
            <a:r>
              <a:rPr sz="2200" b="0" i="0" dirty="0">
                <a:solidFill>
                  <a:srgbClr val="222222"/>
                </a:solidFill>
                <a:latin typeface="Tw Cen MT"/>
              </a:rPr>
              <a:t>, </a:t>
            </a:r>
            <a:r>
              <a:rPr sz="2200" b="0" i="0" dirty="0" err="1">
                <a:solidFill>
                  <a:srgbClr val="222222"/>
                </a:solidFill>
                <a:latin typeface="Tw Cen MT"/>
              </a:rPr>
              <a:t>ni</a:t>
            </a:r>
            <a:r>
              <a:rPr sz="2200" b="0" i="0" dirty="0">
                <a:solidFill>
                  <a:srgbClr val="222222"/>
                </a:solidFill>
                <a:latin typeface="Tw Cen MT"/>
              </a:rPr>
              <a:t> para </a:t>
            </a:r>
            <a:r>
              <a:rPr sz="2200" b="0" i="0" dirty="0" err="1">
                <a:solidFill>
                  <a:srgbClr val="222222"/>
                </a:solidFill>
                <a:latin typeface="Tw Cen MT"/>
              </a:rPr>
              <a:t>motivar</a:t>
            </a:r>
            <a:r>
              <a:rPr sz="2200" b="0" i="0" dirty="0">
                <a:solidFill>
                  <a:srgbClr val="222222"/>
                </a:solidFill>
                <a:latin typeface="Tw Cen MT"/>
              </a:rPr>
              <a:t> a </a:t>
            </a:r>
            <a:r>
              <a:rPr sz="2200" b="0" i="0" dirty="0" err="1">
                <a:solidFill>
                  <a:srgbClr val="222222"/>
                </a:solidFill>
                <a:latin typeface="Tw Cen MT"/>
              </a:rPr>
              <a:t>usarla</a:t>
            </a:r>
            <a:r>
              <a:rPr sz="2200" b="0" i="0" dirty="0">
                <a:solidFill>
                  <a:srgbClr val="222222"/>
                </a:solidFill>
                <a:latin typeface="Tw Cen MT"/>
              </a:rPr>
              <a:t> para </a:t>
            </a:r>
            <a:r>
              <a:rPr sz="2200" b="0" i="0" dirty="0" err="1">
                <a:solidFill>
                  <a:srgbClr val="222222"/>
                </a:solidFill>
                <a:latin typeface="Tw Cen MT"/>
              </a:rPr>
              <a:t>el</a:t>
            </a:r>
            <a:r>
              <a:rPr sz="2200" b="0" i="0" dirty="0">
                <a:solidFill>
                  <a:srgbClr val="222222"/>
                </a:solidFill>
                <a:latin typeface="Tw Cen MT"/>
              </a:rPr>
              <a:t> bien de la </a:t>
            </a:r>
            <a:r>
              <a:rPr sz="2200" b="0" i="0" dirty="0" err="1">
                <a:solidFill>
                  <a:srgbClr val="222222"/>
                </a:solidFill>
                <a:latin typeface="Tw Cen MT"/>
              </a:rPr>
              <a:t>firma</a:t>
            </a:r>
            <a:r>
              <a:rPr sz="2200" b="0" i="0" dirty="0">
                <a:solidFill>
                  <a:srgbClr val="222222"/>
                </a:solidFill>
                <a:latin typeface="Tw Cen MT"/>
              </a:rPr>
              <a:t>.</a:t>
            </a:r>
            <a:endParaRPr lang="es-419" sz="2200" b="0" i="0" dirty="0">
              <a:solidFill>
                <a:srgbClr val="222222"/>
              </a:solidFill>
              <a:latin typeface="Tw Cen MT"/>
            </a:endParaRPr>
          </a:p>
          <a:p>
            <a:pPr algn="l">
              <a:spcBef>
                <a:spcPts val="500"/>
              </a:spcBef>
            </a:pPr>
            <a:endParaRPr sz="2200" b="0" i="0" dirty="0">
              <a:solidFill>
                <a:srgbClr val="222222"/>
              </a:solidFill>
              <a:latin typeface="Tw Cen MT"/>
            </a:endParaRPr>
          </a:p>
          <a:p>
            <a:pPr algn="l">
              <a:spcBef>
                <a:spcPts val="500"/>
              </a:spcBef>
            </a:pPr>
            <a:r>
              <a:rPr sz="2200" b="1" i="0" dirty="0">
                <a:solidFill>
                  <a:srgbClr val="8B0000"/>
                </a:solidFill>
                <a:latin typeface="Tw Cen MT"/>
              </a:rPr>
              <a:t>DIMENSIONES CLAVE</a:t>
            </a:r>
          </a:p>
          <a:p>
            <a:pPr>
              <a:spcBef>
                <a:spcPts val="500"/>
              </a:spcBef>
            </a:pPr>
            <a:r>
              <a:rPr sz="2200" b="0" i="0" dirty="0">
                <a:solidFill>
                  <a:srgbClr val="222222"/>
                </a:solidFill>
                <a:latin typeface="Tw Cen MT"/>
              </a:rPr>
              <a:t>1. TOMA DE DECISIONES: </a:t>
            </a:r>
            <a:r>
              <a:rPr lang="es-419" sz="2200" b="0" i="0" dirty="0">
                <a:solidFill>
                  <a:srgbClr val="222222"/>
                </a:solidFill>
                <a:latin typeface="Tw Cen MT"/>
              </a:rPr>
              <a:t>Se otorgan poderes de decisión a los individuos para utilizar los recursos de la empresa en </a:t>
            </a:r>
            <a:r>
              <a:rPr lang="es-419" sz="2200" b="0" i="0" dirty="0" err="1">
                <a:solidFill>
                  <a:srgbClr val="222222"/>
                </a:solidFill>
                <a:latin typeface="Tw Cen MT"/>
              </a:rPr>
              <a:t>pos</a:t>
            </a:r>
            <a:r>
              <a:rPr lang="es-419" sz="2200" b="0" i="0" dirty="0">
                <a:solidFill>
                  <a:srgbClr val="222222"/>
                </a:solidFill>
                <a:latin typeface="Tw Cen MT"/>
              </a:rPr>
              <a:t> de generar valor para la compañía. La persona, </a:t>
            </a:r>
            <a:r>
              <a:rPr lang="es-AR" sz="2200" dirty="0">
                <a:solidFill>
                  <a:srgbClr val="222222"/>
                </a:solidFill>
                <a:latin typeface="Tw Cen MT"/>
              </a:rPr>
              <a:t>no es dueño de los recursos. Y muchas veces, no se queda con la ganancia residual.</a:t>
            </a:r>
            <a:endParaRPr lang="es-419" sz="2200" dirty="0">
              <a:solidFill>
                <a:srgbClr val="222222"/>
              </a:solidFill>
              <a:latin typeface="Tw Cen MT"/>
            </a:endParaRPr>
          </a:p>
          <a:p>
            <a:pPr algn="l">
              <a:spcBef>
                <a:spcPts val="500"/>
              </a:spcBef>
            </a:pPr>
            <a:endParaRPr sz="2200" b="0" i="0" dirty="0">
              <a:solidFill>
                <a:srgbClr val="222222"/>
              </a:solidFill>
              <a:latin typeface="Tw Cen MT"/>
            </a:endParaRPr>
          </a:p>
          <a:p>
            <a:pPr algn="l">
              <a:spcBef>
                <a:spcPts val="500"/>
              </a:spcBef>
            </a:pPr>
            <a:r>
              <a:rPr sz="2200" b="0" i="0" dirty="0">
                <a:solidFill>
                  <a:srgbClr val="222222"/>
                </a:solidFill>
                <a:latin typeface="Tw Cen MT"/>
              </a:rPr>
              <a:t>2. SISTEMAS DE CONTROL: </a:t>
            </a:r>
            <a:r>
              <a:rPr lang="es-419" sz="2200" b="0" i="0" dirty="0">
                <a:solidFill>
                  <a:srgbClr val="222222"/>
                </a:solidFill>
                <a:latin typeface="Tw Cen MT"/>
              </a:rPr>
              <a:t>Es la vinculación necesaria entre el </a:t>
            </a:r>
            <a:r>
              <a:rPr sz="2200" b="0" i="0" dirty="0" err="1">
                <a:solidFill>
                  <a:srgbClr val="222222"/>
                </a:solidFill>
                <a:latin typeface="Tw Cen MT"/>
              </a:rPr>
              <a:t>sistema</a:t>
            </a:r>
            <a:r>
              <a:rPr sz="2200" b="0" i="0" dirty="0">
                <a:solidFill>
                  <a:srgbClr val="222222"/>
                </a:solidFill>
                <a:latin typeface="Tw Cen MT"/>
              </a:rPr>
              <a:t> de </a:t>
            </a:r>
            <a:r>
              <a:rPr sz="2200" b="0" i="0" dirty="0" err="1">
                <a:solidFill>
                  <a:srgbClr val="222222"/>
                </a:solidFill>
                <a:latin typeface="Tw Cen MT"/>
              </a:rPr>
              <a:t>compensación</a:t>
            </a:r>
            <a:r>
              <a:rPr sz="2200" b="0" i="0" dirty="0">
                <a:solidFill>
                  <a:srgbClr val="222222"/>
                </a:solidFill>
                <a:latin typeface="Tw Cen MT"/>
              </a:rPr>
              <a:t> y </a:t>
            </a:r>
            <a:r>
              <a:rPr sz="2200" b="0" i="0" dirty="0" err="1">
                <a:solidFill>
                  <a:srgbClr val="222222"/>
                </a:solidFill>
                <a:latin typeface="Tw Cen MT"/>
              </a:rPr>
              <a:t>evaluación</a:t>
            </a:r>
            <a:r>
              <a:rPr lang="es-419" sz="2200" b="0" i="0" dirty="0">
                <a:solidFill>
                  <a:srgbClr val="222222"/>
                </a:solidFill>
                <a:latin typeface="Tw Cen MT"/>
              </a:rPr>
              <a:t> de desempeño</a:t>
            </a:r>
            <a:r>
              <a:rPr sz="2200" b="0" i="0" dirty="0">
                <a:solidFill>
                  <a:srgbClr val="222222"/>
                </a:solidFill>
                <a:latin typeface="Tw Cen MT"/>
              </a:rPr>
              <a:t>.</a:t>
            </a:r>
            <a:endParaRPr lang="es-419" sz="2200" b="0" i="0" dirty="0">
              <a:solidFill>
                <a:srgbClr val="222222"/>
              </a:solidFill>
              <a:latin typeface="Tw Cen MT"/>
            </a:endParaRPr>
          </a:p>
          <a:p>
            <a:pPr algn="l">
              <a:spcBef>
                <a:spcPts val="500"/>
              </a:spcBef>
            </a:pPr>
            <a:endParaRPr sz="2200" b="0" i="0" dirty="0">
              <a:solidFill>
                <a:srgbClr val="222222"/>
              </a:solidFill>
              <a:latin typeface="Tw Cen M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El Problema Fundamental</a:t>
            </a:r>
          </a:p>
        </p:txBody>
      </p:sp>
      <p:sp>
        <p:nvSpPr>
          <p:cNvPr id="5" name="TextBox 4"/>
          <p:cNvSpPr txBox="1"/>
          <p:nvPr/>
        </p:nvSpPr>
        <p:spPr>
          <a:xfrm>
            <a:off x="406400" y="1219200"/>
            <a:ext cx="11379200" cy="3860031"/>
          </a:xfrm>
          <a:prstGeom prst="rect">
            <a:avLst/>
          </a:prstGeom>
          <a:noFill/>
        </p:spPr>
        <p:txBody>
          <a:bodyPr wrap="square">
            <a:spAutoFit/>
          </a:bodyPr>
          <a:lstStyle/>
          <a:p>
            <a:pPr algn="l">
              <a:spcBef>
                <a:spcPts val="500"/>
              </a:spcBef>
            </a:pPr>
            <a:r>
              <a:rPr sz="2800" b="0" i="0" dirty="0">
                <a:solidFill>
                  <a:srgbClr val="222222"/>
                </a:solidFill>
                <a:latin typeface="Tw Cen MT"/>
              </a:rPr>
              <a:t>El </a:t>
            </a:r>
            <a:r>
              <a:rPr sz="2800" b="0" i="0" dirty="0" err="1">
                <a:solidFill>
                  <a:srgbClr val="222222"/>
                </a:solidFill>
                <a:latin typeface="Tw Cen MT"/>
              </a:rPr>
              <a:t>desafío</a:t>
            </a:r>
            <a:r>
              <a:rPr sz="2800" b="0" i="0" dirty="0">
                <a:solidFill>
                  <a:srgbClr val="222222"/>
                </a:solidFill>
                <a:latin typeface="Tw Cen MT"/>
              </a:rPr>
              <a:t> principal al </a:t>
            </a:r>
            <a:r>
              <a:rPr sz="2800" b="0" i="0" dirty="0" err="1">
                <a:solidFill>
                  <a:srgbClr val="222222"/>
                </a:solidFill>
                <a:latin typeface="Tw Cen MT"/>
              </a:rPr>
              <a:t>diseñar</a:t>
            </a:r>
            <a:r>
              <a:rPr sz="2800" b="0" i="0" dirty="0">
                <a:solidFill>
                  <a:srgbClr val="222222"/>
                </a:solidFill>
                <a:latin typeface="Tw Cen MT"/>
              </a:rPr>
              <a:t> </a:t>
            </a:r>
            <a:r>
              <a:rPr sz="2800" b="0" i="0" dirty="0" err="1">
                <a:solidFill>
                  <a:srgbClr val="222222"/>
                </a:solidFill>
                <a:latin typeface="Tw Cen MT"/>
              </a:rPr>
              <a:t>firmas</a:t>
            </a:r>
            <a:r>
              <a:rPr sz="2800" b="0" i="0" dirty="0">
                <a:solidFill>
                  <a:srgbClr val="222222"/>
                </a:solidFill>
                <a:latin typeface="Tw Cen MT"/>
              </a:rPr>
              <a:t> es </a:t>
            </a:r>
            <a:r>
              <a:rPr sz="2800" b="0" i="0" dirty="0" err="1">
                <a:solidFill>
                  <a:srgbClr val="222222"/>
                </a:solidFill>
                <a:latin typeface="Tw Cen MT"/>
              </a:rPr>
              <a:t>maximizar</a:t>
            </a:r>
            <a:r>
              <a:rPr sz="2800" b="0" i="0" dirty="0">
                <a:solidFill>
                  <a:srgbClr val="222222"/>
                </a:solidFill>
                <a:latin typeface="Tw Cen MT"/>
              </a:rPr>
              <a:t> la </a:t>
            </a:r>
            <a:r>
              <a:rPr sz="2800" b="0" i="0" dirty="0" err="1">
                <a:solidFill>
                  <a:srgbClr val="222222"/>
                </a:solidFill>
                <a:latin typeface="Tw Cen MT"/>
              </a:rPr>
              <a:t>probabilidad</a:t>
            </a:r>
            <a:r>
              <a:rPr sz="2800" b="0" i="0" dirty="0">
                <a:solidFill>
                  <a:srgbClr val="222222"/>
                </a:solidFill>
                <a:latin typeface="Tw Cen MT"/>
              </a:rPr>
              <a:t> de </a:t>
            </a:r>
            <a:r>
              <a:rPr sz="2800" b="0" i="0" dirty="0" err="1">
                <a:solidFill>
                  <a:srgbClr val="222222"/>
                </a:solidFill>
                <a:latin typeface="Tw Cen MT"/>
              </a:rPr>
              <a:t>que</a:t>
            </a:r>
            <a:r>
              <a:rPr sz="2800" b="0" i="0" dirty="0">
                <a:solidFill>
                  <a:srgbClr val="222222"/>
                </a:solidFill>
                <a:latin typeface="Tw Cen MT"/>
              </a:rPr>
              <a:t> </a:t>
            </a:r>
            <a:r>
              <a:rPr sz="2800" b="0" i="0" dirty="0" err="1">
                <a:solidFill>
                  <a:srgbClr val="222222"/>
                </a:solidFill>
                <a:latin typeface="Tw Cen MT"/>
              </a:rPr>
              <a:t>los</a:t>
            </a:r>
            <a:r>
              <a:rPr sz="2800" b="0" i="0" dirty="0">
                <a:solidFill>
                  <a:srgbClr val="222222"/>
                </a:solidFill>
                <a:latin typeface="Tw Cen MT"/>
              </a:rPr>
              <a:t> </a:t>
            </a:r>
            <a:r>
              <a:rPr sz="2800" b="0" i="0" dirty="0" err="1">
                <a:solidFill>
                  <a:srgbClr val="222222"/>
                </a:solidFill>
                <a:latin typeface="Tw Cen MT"/>
              </a:rPr>
              <a:t>tomadores</a:t>
            </a:r>
            <a:r>
              <a:rPr sz="2800" b="0" i="0" dirty="0">
                <a:solidFill>
                  <a:srgbClr val="222222"/>
                </a:solidFill>
                <a:latin typeface="Tw Cen MT"/>
              </a:rPr>
              <a:t> de </a:t>
            </a:r>
            <a:r>
              <a:rPr sz="2800" b="0" i="0" dirty="0" err="1">
                <a:solidFill>
                  <a:srgbClr val="222222"/>
                </a:solidFill>
                <a:latin typeface="Tw Cen MT"/>
              </a:rPr>
              <a:t>decisiones</a:t>
            </a:r>
            <a:r>
              <a:rPr sz="2800" b="0" i="0" dirty="0">
                <a:solidFill>
                  <a:srgbClr val="222222"/>
                </a:solidFill>
                <a:latin typeface="Tw Cen MT"/>
              </a:rPr>
              <a:t> </a:t>
            </a:r>
            <a:r>
              <a:rPr sz="2800" b="0" i="0" dirty="0" err="1">
                <a:solidFill>
                  <a:srgbClr val="222222"/>
                </a:solidFill>
                <a:latin typeface="Tw Cen MT"/>
              </a:rPr>
              <a:t>tengan</a:t>
            </a:r>
            <a:r>
              <a:rPr sz="2800" b="0" i="0" dirty="0">
                <a:solidFill>
                  <a:srgbClr val="222222"/>
                </a:solidFill>
                <a:latin typeface="Tw Cen MT"/>
              </a:rPr>
              <a:t>:</a:t>
            </a:r>
            <a:endParaRPr lang="es-419" sz="2800" dirty="0">
              <a:solidFill>
                <a:srgbClr val="222222"/>
              </a:solidFill>
              <a:latin typeface="Tw Cen MT"/>
            </a:endParaRPr>
          </a:p>
          <a:p>
            <a:pPr algn="l">
              <a:spcBef>
                <a:spcPts val="500"/>
              </a:spcBef>
            </a:pPr>
            <a:endParaRPr sz="2800" b="0" i="0" dirty="0">
              <a:solidFill>
                <a:srgbClr val="222222"/>
              </a:solidFill>
              <a:latin typeface="Tw Cen MT"/>
            </a:endParaRPr>
          </a:p>
          <a:p>
            <a:pPr algn="l">
              <a:spcBef>
                <a:spcPts val="500"/>
              </a:spcBef>
            </a:pPr>
            <a:r>
              <a:rPr sz="2800" b="1" i="0" dirty="0">
                <a:solidFill>
                  <a:srgbClr val="222222"/>
                </a:solidFill>
                <a:latin typeface="Tw Cen MT"/>
              </a:rPr>
              <a:t>(1) La </a:t>
            </a:r>
            <a:r>
              <a:rPr sz="2800" b="1" i="0" dirty="0" err="1">
                <a:solidFill>
                  <a:srgbClr val="222222"/>
                </a:solidFill>
                <a:latin typeface="Tw Cen MT"/>
              </a:rPr>
              <a:t>información</a:t>
            </a:r>
            <a:r>
              <a:rPr sz="2800" b="1" i="0" dirty="0">
                <a:solidFill>
                  <a:srgbClr val="222222"/>
                </a:solidFill>
                <a:latin typeface="Tw Cen MT"/>
              </a:rPr>
              <a:t> </a:t>
            </a:r>
            <a:r>
              <a:rPr sz="2800" b="1" i="0" dirty="0" err="1">
                <a:solidFill>
                  <a:srgbClr val="222222"/>
                </a:solidFill>
                <a:latin typeface="Tw Cen MT"/>
              </a:rPr>
              <a:t>relevante</a:t>
            </a:r>
            <a:r>
              <a:rPr sz="2800" b="1" i="0" dirty="0">
                <a:solidFill>
                  <a:srgbClr val="222222"/>
                </a:solidFill>
                <a:latin typeface="Tw Cen MT"/>
              </a:rPr>
              <a:t> para </a:t>
            </a:r>
            <a:r>
              <a:rPr sz="2800" b="1" i="0" dirty="0" err="1">
                <a:solidFill>
                  <a:srgbClr val="222222"/>
                </a:solidFill>
                <a:latin typeface="Tw Cen MT"/>
              </a:rPr>
              <a:t>tomar</a:t>
            </a:r>
            <a:r>
              <a:rPr sz="2800" b="1" i="0" dirty="0">
                <a:solidFill>
                  <a:srgbClr val="222222"/>
                </a:solidFill>
                <a:latin typeface="Tw Cen MT"/>
              </a:rPr>
              <a:t> </a:t>
            </a:r>
            <a:r>
              <a:rPr sz="2800" b="1" i="0" dirty="0" err="1">
                <a:solidFill>
                  <a:srgbClr val="222222"/>
                </a:solidFill>
                <a:latin typeface="Tw Cen MT"/>
              </a:rPr>
              <a:t>buenas</a:t>
            </a:r>
            <a:r>
              <a:rPr sz="2800" b="1" i="0" dirty="0">
                <a:solidFill>
                  <a:srgbClr val="222222"/>
                </a:solidFill>
                <a:latin typeface="Tw Cen MT"/>
              </a:rPr>
              <a:t> </a:t>
            </a:r>
            <a:r>
              <a:rPr sz="2800" b="1" i="0" dirty="0" err="1">
                <a:solidFill>
                  <a:srgbClr val="222222"/>
                </a:solidFill>
                <a:latin typeface="Tw Cen MT"/>
              </a:rPr>
              <a:t>decisiones</a:t>
            </a:r>
            <a:r>
              <a:rPr sz="2800" b="1" i="0" dirty="0">
                <a:solidFill>
                  <a:srgbClr val="222222"/>
                </a:solidFill>
                <a:latin typeface="Tw Cen MT"/>
              </a:rPr>
              <a:t>.</a:t>
            </a:r>
          </a:p>
          <a:p>
            <a:pPr algn="l">
              <a:spcBef>
                <a:spcPts val="500"/>
              </a:spcBef>
            </a:pPr>
            <a:r>
              <a:rPr sz="2800" b="1" i="0" dirty="0">
                <a:solidFill>
                  <a:srgbClr val="222222"/>
                </a:solidFill>
                <a:latin typeface="Tw Cen MT"/>
              </a:rPr>
              <a:t>(2) Los </a:t>
            </a:r>
            <a:r>
              <a:rPr sz="2800" b="1" i="0" dirty="0" err="1">
                <a:solidFill>
                  <a:srgbClr val="222222"/>
                </a:solidFill>
                <a:latin typeface="Tw Cen MT"/>
              </a:rPr>
              <a:t>incentivos</a:t>
            </a:r>
            <a:r>
              <a:rPr sz="2800" b="1" i="0" dirty="0">
                <a:solidFill>
                  <a:srgbClr val="222222"/>
                </a:solidFill>
                <a:latin typeface="Tw Cen MT"/>
              </a:rPr>
              <a:t> para usar </a:t>
            </a:r>
            <a:r>
              <a:rPr sz="2800" b="1" i="0" dirty="0" err="1">
                <a:solidFill>
                  <a:srgbClr val="222222"/>
                </a:solidFill>
                <a:latin typeface="Tw Cen MT"/>
              </a:rPr>
              <a:t>esa</a:t>
            </a:r>
            <a:r>
              <a:rPr sz="2800" b="1" i="0" dirty="0">
                <a:solidFill>
                  <a:srgbClr val="222222"/>
                </a:solidFill>
                <a:latin typeface="Tw Cen MT"/>
              </a:rPr>
              <a:t> </a:t>
            </a:r>
            <a:r>
              <a:rPr sz="2800" b="1" i="0" dirty="0" err="1">
                <a:solidFill>
                  <a:srgbClr val="222222"/>
                </a:solidFill>
                <a:latin typeface="Tw Cen MT"/>
              </a:rPr>
              <a:t>información</a:t>
            </a:r>
            <a:r>
              <a:rPr sz="2800" b="1" i="0" dirty="0">
                <a:solidFill>
                  <a:srgbClr val="222222"/>
                </a:solidFill>
                <a:latin typeface="Tw Cen MT"/>
              </a:rPr>
              <a:t> </a:t>
            </a:r>
            <a:r>
              <a:rPr sz="2800" b="1" i="0" dirty="0" err="1">
                <a:solidFill>
                  <a:srgbClr val="222222"/>
                </a:solidFill>
                <a:latin typeface="Tw Cen MT"/>
              </a:rPr>
              <a:t>productivamente</a:t>
            </a:r>
            <a:r>
              <a:rPr sz="2800" b="1" i="0" dirty="0">
                <a:solidFill>
                  <a:srgbClr val="222222"/>
                </a:solidFill>
                <a:latin typeface="Tw Cen MT"/>
              </a:rPr>
              <a:t>.</a:t>
            </a:r>
            <a:endParaRPr lang="es-419" sz="2800" b="1" i="0" dirty="0">
              <a:solidFill>
                <a:srgbClr val="222222"/>
              </a:solidFill>
              <a:latin typeface="Tw Cen MT"/>
            </a:endParaRPr>
          </a:p>
          <a:p>
            <a:pPr algn="l">
              <a:spcBef>
                <a:spcPts val="500"/>
              </a:spcBef>
            </a:pPr>
            <a:endParaRPr sz="2800" b="1" i="0" dirty="0">
              <a:solidFill>
                <a:srgbClr val="222222"/>
              </a:solidFill>
              <a:latin typeface="Tw Cen MT"/>
            </a:endParaRPr>
          </a:p>
          <a:p>
            <a:pPr algn="ctr">
              <a:spcBef>
                <a:spcPts val="500"/>
              </a:spcBef>
            </a:pPr>
            <a:r>
              <a:rPr sz="2800" b="0" i="0" dirty="0" err="1">
                <a:solidFill>
                  <a:srgbClr val="222222"/>
                </a:solidFill>
                <a:latin typeface="Tw Cen MT"/>
              </a:rPr>
              <a:t>Estos</a:t>
            </a:r>
            <a:r>
              <a:rPr sz="2800" b="0" i="0" dirty="0">
                <a:solidFill>
                  <a:srgbClr val="222222"/>
                </a:solidFill>
                <a:latin typeface="Tw Cen MT"/>
              </a:rPr>
              <a:t> dos </a:t>
            </a:r>
            <a:r>
              <a:rPr sz="2800" b="0" i="0" dirty="0" err="1">
                <a:solidFill>
                  <a:srgbClr val="222222"/>
                </a:solidFill>
                <a:latin typeface="Tw Cen MT"/>
              </a:rPr>
              <a:t>elementos</a:t>
            </a:r>
            <a:r>
              <a:rPr sz="2800" b="0" i="0" dirty="0">
                <a:solidFill>
                  <a:srgbClr val="222222"/>
                </a:solidFill>
                <a:latin typeface="Tw Cen MT"/>
              </a:rPr>
              <a:t> son </a:t>
            </a:r>
            <a:r>
              <a:rPr sz="2800" b="0" i="0" dirty="0" err="1">
                <a:solidFill>
                  <a:srgbClr val="222222"/>
                </a:solidFill>
                <a:latin typeface="Tw Cen MT"/>
              </a:rPr>
              <a:t>los</a:t>
            </a:r>
            <a:r>
              <a:rPr sz="2800" b="0" i="0" dirty="0">
                <a:solidFill>
                  <a:srgbClr val="222222"/>
                </a:solidFill>
                <a:latin typeface="Tw Cen MT"/>
              </a:rPr>
              <a:t> </a:t>
            </a:r>
            <a:r>
              <a:rPr sz="2800" b="0" i="0" dirty="0" err="1">
                <a:solidFill>
                  <a:srgbClr val="222222"/>
                </a:solidFill>
                <a:latin typeface="Tw Cen MT"/>
              </a:rPr>
              <a:t>pilares</a:t>
            </a:r>
            <a:r>
              <a:rPr sz="2800" b="0" i="0" dirty="0">
                <a:solidFill>
                  <a:srgbClr val="222222"/>
                </a:solidFill>
                <a:latin typeface="Tw Cen MT"/>
              </a:rPr>
              <a:t> de </a:t>
            </a:r>
            <a:r>
              <a:rPr sz="2800" b="0" i="0" dirty="0" err="1">
                <a:solidFill>
                  <a:srgbClr val="222222"/>
                </a:solidFill>
                <a:latin typeface="Tw Cen MT"/>
              </a:rPr>
              <a:t>cualquier</a:t>
            </a:r>
            <a:r>
              <a:rPr sz="2800" b="0" i="0" dirty="0">
                <a:solidFill>
                  <a:srgbClr val="222222"/>
                </a:solidFill>
                <a:latin typeface="Tw Cen MT"/>
              </a:rPr>
              <a:t> </a:t>
            </a:r>
            <a:r>
              <a:rPr sz="2800" b="0" i="0" dirty="0" err="1">
                <a:solidFill>
                  <a:srgbClr val="222222"/>
                </a:solidFill>
                <a:latin typeface="Tw Cen MT"/>
              </a:rPr>
              <a:t>sistema</a:t>
            </a:r>
            <a:r>
              <a:rPr sz="2800" b="0" i="0" dirty="0">
                <a:solidFill>
                  <a:srgbClr val="222222"/>
                </a:solidFill>
                <a:latin typeface="Tw Cen MT"/>
              </a:rPr>
              <a:t> de </a:t>
            </a:r>
            <a:r>
              <a:rPr sz="2800" b="0" i="0" dirty="0" err="1">
                <a:solidFill>
                  <a:srgbClr val="222222"/>
                </a:solidFill>
                <a:latin typeface="Tw Cen MT"/>
              </a:rPr>
              <a:t>gobierno</a:t>
            </a:r>
            <a:r>
              <a:rPr sz="2800" b="0" i="0" dirty="0">
                <a:solidFill>
                  <a:srgbClr val="222222"/>
                </a:solidFill>
                <a:latin typeface="Tw Cen MT"/>
              </a:rPr>
              <a:t> </a:t>
            </a:r>
            <a:r>
              <a:rPr sz="2800" b="0" i="0" dirty="0" err="1">
                <a:solidFill>
                  <a:srgbClr val="222222"/>
                </a:solidFill>
                <a:latin typeface="Tw Cen MT"/>
              </a:rPr>
              <a:t>corporativo</a:t>
            </a:r>
            <a:r>
              <a:rPr sz="2800" b="0" i="0" dirty="0">
                <a:solidFill>
                  <a:srgbClr val="222222"/>
                </a:solidFill>
                <a:latin typeface="Tw Cen MT"/>
              </a:rPr>
              <a:t> </a:t>
            </a:r>
            <a:r>
              <a:rPr sz="2800" b="0" i="0" dirty="0" err="1">
                <a:solidFill>
                  <a:srgbClr val="222222"/>
                </a:solidFill>
                <a:latin typeface="Tw Cen MT"/>
              </a:rPr>
              <a:t>efectivo</a:t>
            </a:r>
            <a:r>
              <a:rPr sz="2800" b="0" i="0" dirty="0">
                <a:solidFill>
                  <a:srgbClr val="222222"/>
                </a:solidFill>
                <a:latin typeface="Tw Cen MT"/>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C3CA8-095D-0449-CD34-032E4CE6812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A60D74-4F84-091A-5300-15D50F362599}"/>
              </a:ext>
            </a:extLst>
          </p:cNvPr>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68A3D0D-5FFE-B6A7-398F-7C84AFC9B5BE}"/>
              </a:ext>
            </a:extLst>
          </p:cNvPr>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B84C056-CE29-B2C6-8117-47D2CB4E635D}"/>
              </a:ext>
            </a:extLst>
          </p:cNvPr>
          <p:cNvSpPr txBox="1"/>
          <p:nvPr/>
        </p:nvSpPr>
        <p:spPr>
          <a:xfrm>
            <a:off x="406400" y="152400"/>
            <a:ext cx="11379200" cy="762000"/>
          </a:xfrm>
          <a:prstGeom prst="rect">
            <a:avLst/>
          </a:prstGeom>
          <a:noFill/>
        </p:spPr>
        <p:txBody>
          <a:bodyPr wrap="square" anchor="ctr"/>
          <a:lstStyle/>
          <a:p>
            <a:pPr algn="l"/>
            <a:r>
              <a:rPr lang="es-419" sz="2800" b="1" i="0" dirty="0">
                <a:solidFill>
                  <a:srgbClr val="FFFFFF"/>
                </a:solidFill>
                <a:latin typeface="Tw Cen MT"/>
              </a:rPr>
              <a:t>Medio ambiente de negocios</a:t>
            </a:r>
            <a:endParaRPr sz="2800" b="1" i="0" dirty="0">
              <a:solidFill>
                <a:srgbClr val="FFFFFF"/>
              </a:solidFill>
              <a:latin typeface="Tw Cen MT"/>
            </a:endParaRPr>
          </a:p>
        </p:txBody>
      </p:sp>
      <p:pic>
        <p:nvPicPr>
          <p:cNvPr id="7" name="Imagen 6" descr="Valor de la Firma.&#10;&#10;El contenido generado por IA puede ser incorrecto.">
            <a:extLst>
              <a:ext uri="{FF2B5EF4-FFF2-40B4-BE49-F238E27FC236}">
                <a16:creationId xmlns:a16="http://schemas.microsoft.com/office/drawing/2014/main" id="{19B0BF20-A40F-64F9-7894-6D53EC0AD125}"/>
              </a:ext>
            </a:extLst>
          </p:cNvPr>
          <p:cNvPicPr>
            <a:picLocks noChangeAspect="1"/>
          </p:cNvPicPr>
          <p:nvPr/>
        </p:nvPicPr>
        <p:blipFill>
          <a:blip r:embed="rId2"/>
          <a:stretch>
            <a:fillRect/>
          </a:stretch>
        </p:blipFill>
        <p:spPr>
          <a:xfrm>
            <a:off x="3236360" y="1403121"/>
            <a:ext cx="4695289" cy="5227232"/>
          </a:xfrm>
          <a:prstGeom prst="rect">
            <a:avLst/>
          </a:prstGeom>
        </p:spPr>
      </p:pic>
    </p:spTree>
    <p:extLst>
      <p:ext uri="{BB962C8B-B14F-4D97-AF65-F5344CB8AC3E}">
        <p14:creationId xmlns:p14="http://schemas.microsoft.com/office/powerpoint/2010/main" val="1134636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Determinantes de la Arquitectura Organizacional</a:t>
            </a:r>
          </a:p>
        </p:txBody>
      </p:sp>
      <p:sp>
        <p:nvSpPr>
          <p:cNvPr id="5" name="TextBox 4"/>
          <p:cNvSpPr txBox="1"/>
          <p:nvPr/>
        </p:nvSpPr>
        <p:spPr>
          <a:xfrm>
            <a:off x="356171" y="1143000"/>
            <a:ext cx="11379200" cy="5752857"/>
          </a:xfrm>
          <a:prstGeom prst="rect">
            <a:avLst/>
          </a:prstGeom>
          <a:noFill/>
        </p:spPr>
        <p:txBody>
          <a:bodyPr wrap="square">
            <a:spAutoFit/>
          </a:bodyPr>
          <a:lstStyle/>
          <a:p>
            <a:pPr algn="l">
              <a:spcBef>
                <a:spcPts val="500"/>
              </a:spcBef>
            </a:pPr>
            <a:r>
              <a:rPr sz="2400" b="0" i="0" dirty="0">
                <a:solidFill>
                  <a:srgbClr val="222222"/>
                </a:solidFill>
                <a:latin typeface="Tw Cen MT"/>
              </a:rPr>
              <a:t>La </a:t>
            </a:r>
            <a:r>
              <a:rPr sz="2400" b="0" i="0" dirty="0" err="1">
                <a:solidFill>
                  <a:srgbClr val="222222"/>
                </a:solidFill>
                <a:latin typeface="Tw Cen MT"/>
              </a:rPr>
              <a:t>estrategia</a:t>
            </a:r>
            <a:r>
              <a:rPr sz="2400" b="0" i="0" dirty="0">
                <a:solidFill>
                  <a:srgbClr val="222222"/>
                </a:solidFill>
                <a:latin typeface="Tw Cen MT"/>
              </a:rPr>
              <a:t> y la AO </a:t>
            </a:r>
            <a:r>
              <a:rPr sz="2400" b="0" i="0" dirty="0" err="1">
                <a:solidFill>
                  <a:srgbClr val="222222"/>
                </a:solidFill>
                <a:latin typeface="Tw Cen MT"/>
              </a:rPr>
              <a:t>deben</a:t>
            </a:r>
            <a:r>
              <a:rPr sz="2400" b="0" i="0" dirty="0">
                <a:solidFill>
                  <a:srgbClr val="222222"/>
                </a:solidFill>
                <a:latin typeface="Tw Cen MT"/>
              </a:rPr>
              <a:t> </a:t>
            </a:r>
            <a:r>
              <a:rPr sz="2400" b="0" i="0" dirty="0" err="1">
                <a:solidFill>
                  <a:srgbClr val="222222"/>
                </a:solidFill>
                <a:latin typeface="Tw Cen MT"/>
              </a:rPr>
              <a:t>estar</a:t>
            </a:r>
            <a:r>
              <a:rPr sz="2400" b="0" i="0" dirty="0">
                <a:solidFill>
                  <a:srgbClr val="222222"/>
                </a:solidFill>
                <a:latin typeface="Tw Cen MT"/>
              </a:rPr>
              <a:t> </a:t>
            </a:r>
            <a:r>
              <a:rPr sz="2400" b="0" i="0" dirty="0" err="1">
                <a:solidFill>
                  <a:srgbClr val="222222"/>
                </a:solidFill>
                <a:latin typeface="Tw Cen MT"/>
              </a:rPr>
              <a:t>influenciadas</a:t>
            </a:r>
            <a:r>
              <a:rPr sz="2400" b="0" i="0" dirty="0">
                <a:solidFill>
                  <a:srgbClr val="222222"/>
                </a:solidFill>
                <a:latin typeface="Tw Cen MT"/>
              </a:rPr>
              <a:t> y ser </a:t>
            </a:r>
            <a:r>
              <a:rPr sz="2400" b="0" i="0" dirty="0" err="1">
                <a:solidFill>
                  <a:srgbClr val="222222"/>
                </a:solidFill>
                <a:latin typeface="Tw Cen MT"/>
              </a:rPr>
              <a:t>coherentes</a:t>
            </a:r>
            <a:r>
              <a:rPr sz="2400" b="0" i="0" dirty="0">
                <a:solidFill>
                  <a:srgbClr val="222222"/>
                </a:solidFill>
                <a:latin typeface="Tw Cen MT"/>
              </a:rPr>
              <a:t> entre </a:t>
            </a:r>
            <a:r>
              <a:rPr sz="2400" b="0" i="0" dirty="0" err="1">
                <a:solidFill>
                  <a:srgbClr val="222222"/>
                </a:solidFill>
                <a:latin typeface="Tw Cen MT"/>
              </a:rPr>
              <a:t>sí</a:t>
            </a:r>
            <a:r>
              <a:rPr sz="2400" b="0" i="0" dirty="0">
                <a:solidFill>
                  <a:srgbClr val="222222"/>
                </a:solidFill>
                <a:latin typeface="Tw Cen MT"/>
              </a:rPr>
              <a:t>.</a:t>
            </a:r>
          </a:p>
          <a:p>
            <a:pPr algn="l">
              <a:spcBef>
                <a:spcPts val="500"/>
              </a:spcBef>
            </a:pPr>
            <a:r>
              <a:rPr sz="2400" b="0" i="0" dirty="0">
                <a:solidFill>
                  <a:srgbClr val="222222"/>
                </a:solidFill>
                <a:latin typeface="Tw Cen MT"/>
              </a:rPr>
              <a:t>Cuando se </a:t>
            </a:r>
            <a:r>
              <a:rPr sz="2400" b="0" i="0" dirty="0" err="1">
                <a:solidFill>
                  <a:srgbClr val="222222"/>
                </a:solidFill>
                <a:latin typeface="Tw Cen MT"/>
              </a:rPr>
              <a:t>producen</a:t>
            </a:r>
            <a:r>
              <a:rPr sz="2400" b="0" i="0" dirty="0">
                <a:solidFill>
                  <a:srgbClr val="222222"/>
                </a:solidFill>
                <a:latin typeface="Tw Cen MT"/>
              </a:rPr>
              <a:t> </a:t>
            </a:r>
            <a:r>
              <a:rPr sz="2400" b="0" i="0" dirty="0" err="1">
                <a:solidFill>
                  <a:srgbClr val="222222"/>
                </a:solidFill>
                <a:latin typeface="Tw Cen MT"/>
              </a:rPr>
              <a:t>cambios</a:t>
            </a:r>
            <a:r>
              <a:rPr sz="2400" b="0" i="0" dirty="0">
                <a:solidFill>
                  <a:srgbClr val="222222"/>
                </a:solidFill>
                <a:latin typeface="Tw Cen MT"/>
              </a:rPr>
              <a:t> </a:t>
            </a:r>
            <a:r>
              <a:rPr sz="2400" b="0" i="0" dirty="0" err="1">
                <a:solidFill>
                  <a:srgbClr val="222222"/>
                </a:solidFill>
                <a:latin typeface="Tw Cen MT"/>
              </a:rPr>
              <a:t>significativos</a:t>
            </a:r>
            <a:r>
              <a:rPr sz="2400" b="0" i="0" dirty="0">
                <a:solidFill>
                  <a:srgbClr val="222222"/>
                </a:solidFill>
                <a:latin typeface="Tw Cen MT"/>
              </a:rPr>
              <a:t> </a:t>
            </a:r>
            <a:r>
              <a:rPr sz="2400" b="0" i="0" dirty="0" err="1">
                <a:solidFill>
                  <a:srgbClr val="222222"/>
                </a:solidFill>
                <a:latin typeface="Tw Cen MT"/>
              </a:rPr>
              <a:t>en</a:t>
            </a:r>
            <a:r>
              <a:rPr sz="2400" b="0" i="0" dirty="0">
                <a:solidFill>
                  <a:srgbClr val="222222"/>
                </a:solidFill>
                <a:latin typeface="Tw Cen MT"/>
              </a:rPr>
              <a:t> </a:t>
            </a:r>
            <a:r>
              <a:rPr sz="2400" b="0" i="0" dirty="0" err="1">
                <a:solidFill>
                  <a:srgbClr val="222222"/>
                </a:solidFill>
                <a:latin typeface="Tw Cen MT"/>
              </a:rPr>
              <a:t>el</a:t>
            </a:r>
            <a:r>
              <a:rPr sz="2400" b="0" i="0" dirty="0">
                <a:solidFill>
                  <a:srgbClr val="222222"/>
                </a:solidFill>
                <a:latin typeface="Tw Cen MT"/>
              </a:rPr>
              <a:t> </a:t>
            </a:r>
            <a:r>
              <a:rPr sz="2400" b="0" i="0" dirty="0" err="1">
                <a:solidFill>
                  <a:srgbClr val="222222"/>
                </a:solidFill>
                <a:latin typeface="Tw Cen MT"/>
              </a:rPr>
              <a:t>entorno</a:t>
            </a:r>
            <a:r>
              <a:rPr sz="2400" b="0" i="0" dirty="0">
                <a:solidFill>
                  <a:srgbClr val="222222"/>
                </a:solidFill>
                <a:latin typeface="Tw Cen MT"/>
              </a:rPr>
              <a:t> </a:t>
            </a:r>
            <a:r>
              <a:rPr sz="2400" b="0" i="0" dirty="0" err="1">
                <a:solidFill>
                  <a:srgbClr val="222222"/>
                </a:solidFill>
                <a:latin typeface="Tw Cen MT"/>
              </a:rPr>
              <a:t>operativo</a:t>
            </a:r>
            <a:r>
              <a:rPr sz="2400" b="0" i="0" dirty="0">
                <a:solidFill>
                  <a:srgbClr val="222222"/>
                </a:solidFill>
                <a:latin typeface="Tw Cen MT"/>
              </a:rPr>
              <a:t>, la </a:t>
            </a:r>
            <a:r>
              <a:rPr sz="2400" b="0" i="0" dirty="0" err="1">
                <a:solidFill>
                  <a:srgbClr val="222222"/>
                </a:solidFill>
                <a:latin typeface="Tw Cen MT"/>
              </a:rPr>
              <a:t>empresa</a:t>
            </a:r>
            <a:r>
              <a:rPr sz="2400" b="0" i="0" dirty="0">
                <a:solidFill>
                  <a:srgbClr val="222222"/>
                </a:solidFill>
                <a:latin typeface="Tw Cen MT"/>
              </a:rPr>
              <a:t> </a:t>
            </a:r>
            <a:r>
              <a:rPr sz="2400" b="0" i="0" dirty="0" err="1">
                <a:solidFill>
                  <a:srgbClr val="222222"/>
                </a:solidFill>
                <a:latin typeface="Tw Cen MT"/>
              </a:rPr>
              <a:t>debe</a:t>
            </a:r>
            <a:r>
              <a:rPr sz="2400" b="0" i="0" dirty="0">
                <a:solidFill>
                  <a:srgbClr val="222222"/>
                </a:solidFill>
                <a:latin typeface="Tw Cen MT"/>
              </a:rPr>
              <a:t> </a:t>
            </a:r>
            <a:r>
              <a:rPr sz="2400" b="0" i="0" dirty="0" err="1">
                <a:solidFill>
                  <a:srgbClr val="222222"/>
                </a:solidFill>
                <a:latin typeface="Tw Cen MT"/>
              </a:rPr>
              <a:t>reevaluar</a:t>
            </a:r>
            <a:r>
              <a:rPr sz="2400" b="0" i="0" dirty="0">
                <a:solidFill>
                  <a:srgbClr val="222222"/>
                </a:solidFill>
                <a:latin typeface="Tw Cen MT"/>
              </a:rPr>
              <a:t> </a:t>
            </a:r>
            <a:r>
              <a:rPr sz="2400" b="0" i="0" dirty="0" err="1">
                <a:solidFill>
                  <a:srgbClr val="222222"/>
                </a:solidFill>
                <a:latin typeface="Tw Cen MT"/>
              </a:rPr>
              <a:t>si</a:t>
            </a:r>
            <a:r>
              <a:rPr sz="2400" b="0" i="0" dirty="0">
                <a:solidFill>
                  <a:srgbClr val="222222"/>
                </a:solidFill>
                <a:latin typeface="Tw Cen MT"/>
              </a:rPr>
              <a:t> </a:t>
            </a:r>
            <a:r>
              <a:rPr sz="2400" b="0" i="0" dirty="0" err="1">
                <a:solidFill>
                  <a:srgbClr val="222222"/>
                </a:solidFill>
                <a:latin typeface="Tw Cen MT"/>
              </a:rPr>
              <a:t>su</a:t>
            </a:r>
            <a:r>
              <a:rPr sz="2400" b="0" i="0" dirty="0">
                <a:solidFill>
                  <a:srgbClr val="222222"/>
                </a:solidFill>
                <a:latin typeface="Tw Cen MT"/>
              </a:rPr>
              <a:t> </a:t>
            </a:r>
            <a:r>
              <a:rPr sz="2400" b="0" i="0" dirty="0" err="1">
                <a:solidFill>
                  <a:srgbClr val="222222"/>
                </a:solidFill>
                <a:latin typeface="Tw Cen MT"/>
              </a:rPr>
              <a:t>arquitectura</a:t>
            </a:r>
            <a:r>
              <a:rPr sz="2400" b="0" i="0" dirty="0">
                <a:solidFill>
                  <a:srgbClr val="222222"/>
                </a:solidFill>
                <a:latin typeface="Tw Cen MT"/>
              </a:rPr>
              <a:t> </a:t>
            </a:r>
            <a:r>
              <a:rPr sz="2400" b="0" i="0" dirty="0" err="1">
                <a:solidFill>
                  <a:srgbClr val="222222"/>
                </a:solidFill>
                <a:latin typeface="Tw Cen MT"/>
              </a:rPr>
              <a:t>sigue</a:t>
            </a:r>
            <a:r>
              <a:rPr sz="2400" b="0" i="0" dirty="0">
                <a:solidFill>
                  <a:srgbClr val="222222"/>
                </a:solidFill>
                <a:latin typeface="Tw Cen MT"/>
              </a:rPr>
              <a:t> </a:t>
            </a:r>
            <a:r>
              <a:rPr sz="2400" b="0" i="0" dirty="0" err="1">
                <a:solidFill>
                  <a:srgbClr val="222222"/>
                </a:solidFill>
                <a:latin typeface="Tw Cen MT"/>
              </a:rPr>
              <a:t>siendo</a:t>
            </a:r>
            <a:r>
              <a:rPr sz="2400" b="0" i="0" dirty="0">
                <a:solidFill>
                  <a:srgbClr val="222222"/>
                </a:solidFill>
                <a:latin typeface="Tw Cen MT"/>
              </a:rPr>
              <a:t> </a:t>
            </a:r>
            <a:r>
              <a:rPr sz="2400" b="0" i="0" dirty="0" err="1">
                <a:solidFill>
                  <a:srgbClr val="222222"/>
                </a:solidFill>
                <a:latin typeface="Tw Cen MT"/>
              </a:rPr>
              <a:t>eficaz</a:t>
            </a:r>
            <a:r>
              <a:rPr sz="2400" b="0" i="0" dirty="0">
                <a:solidFill>
                  <a:srgbClr val="222222"/>
                </a:solidFill>
                <a:latin typeface="Tw Cen MT"/>
              </a:rPr>
              <a:t>.</a:t>
            </a:r>
            <a:endParaRPr lang="es-419" sz="2400" b="0" i="0" dirty="0">
              <a:solidFill>
                <a:srgbClr val="222222"/>
              </a:solidFill>
              <a:latin typeface="Tw Cen MT"/>
            </a:endParaRPr>
          </a:p>
          <a:p>
            <a:pPr algn="l">
              <a:spcBef>
                <a:spcPts val="500"/>
              </a:spcBef>
            </a:pPr>
            <a:endParaRPr sz="2400" b="0" i="0" dirty="0">
              <a:solidFill>
                <a:srgbClr val="222222"/>
              </a:solidFill>
              <a:latin typeface="Tw Cen MT"/>
            </a:endParaRPr>
          </a:p>
          <a:p>
            <a:pPr algn="l">
              <a:spcBef>
                <a:spcPts val="500"/>
              </a:spcBef>
            </a:pPr>
            <a:r>
              <a:rPr sz="2400" b="1" i="0" dirty="0">
                <a:solidFill>
                  <a:srgbClr val="8B0000"/>
                </a:solidFill>
                <a:latin typeface="Tw Cen MT"/>
              </a:rPr>
              <a:t>COMPONENTES DEL MODELO</a:t>
            </a:r>
          </a:p>
          <a:p>
            <a:pPr algn="l">
              <a:spcBef>
                <a:spcPts val="200"/>
              </a:spcBef>
            </a:pPr>
            <a:r>
              <a:rPr sz="2400" b="0" i="0" dirty="0">
                <a:solidFill>
                  <a:srgbClr val="222222"/>
                </a:solidFill>
                <a:latin typeface="Tw Cen MT"/>
              </a:rPr>
              <a:t>    ▸  </a:t>
            </a:r>
            <a:r>
              <a:rPr sz="2400" b="0" i="0" dirty="0" err="1">
                <a:solidFill>
                  <a:srgbClr val="222222"/>
                </a:solidFill>
                <a:latin typeface="Tw Cen MT"/>
              </a:rPr>
              <a:t>Entorno</a:t>
            </a:r>
            <a:r>
              <a:rPr sz="2400" b="0" i="0" dirty="0">
                <a:solidFill>
                  <a:srgbClr val="222222"/>
                </a:solidFill>
                <a:latin typeface="Tw Cen MT"/>
              </a:rPr>
              <a:t> de </a:t>
            </a:r>
            <a:r>
              <a:rPr sz="2400" b="0" i="0" dirty="0" err="1">
                <a:solidFill>
                  <a:srgbClr val="222222"/>
                </a:solidFill>
                <a:latin typeface="Tw Cen MT"/>
              </a:rPr>
              <a:t>negocios</a:t>
            </a:r>
            <a:r>
              <a:rPr sz="2400" b="0" i="0" dirty="0">
                <a:solidFill>
                  <a:srgbClr val="222222"/>
                </a:solidFill>
                <a:latin typeface="Tw Cen MT"/>
              </a:rPr>
              <a:t> (</a:t>
            </a:r>
            <a:r>
              <a:rPr sz="2400" b="0" i="0" dirty="0" err="1">
                <a:solidFill>
                  <a:srgbClr val="222222"/>
                </a:solidFill>
                <a:latin typeface="Tw Cen MT"/>
              </a:rPr>
              <a:t>tecnología</a:t>
            </a:r>
            <a:r>
              <a:rPr sz="2400" b="0" i="0" dirty="0">
                <a:solidFill>
                  <a:srgbClr val="222222"/>
                </a:solidFill>
                <a:latin typeface="Tw Cen MT"/>
              </a:rPr>
              <a:t>, mercados, </a:t>
            </a:r>
            <a:r>
              <a:rPr sz="2400" b="0" i="0" dirty="0" err="1">
                <a:solidFill>
                  <a:srgbClr val="222222"/>
                </a:solidFill>
                <a:latin typeface="Tw Cen MT"/>
              </a:rPr>
              <a:t>regulación</a:t>
            </a:r>
            <a:r>
              <a:rPr sz="2400" b="0" i="0" dirty="0">
                <a:solidFill>
                  <a:srgbClr val="222222"/>
                </a:solidFill>
                <a:latin typeface="Tw Cen MT"/>
              </a:rPr>
              <a:t>).</a:t>
            </a:r>
          </a:p>
          <a:p>
            <a:pPr algn="l">
              <a:spcBef>
                <a:spcPts val="200"/>
              </a:spcBef>
            </a:pPr>
            <a:r>
              <a:rPr sz="2400" b="0" i="0" dirty="0">
                <a:solidFill>
                  <a:srgbClr val="222222"/>
                </a:solidFill>
                <a:latin typeface="Tw Cen MT"/>
              </a:rPr>
              <a:t>    ▸  </a:t>
            </a:r>
            <a:r>
              <a:rPr sz="2400" b="0" i="0" dirty="0" err="1">
                <a:solidFill>
                  <a:srgbClr val="222222"/>
                </a:solidFill>
                <a:latin typeface="Tw Cen MT"/>
              </a:rPr>
              <a:t>Estrategia</a:t>
            </a:r>
            <a:r>
              <a:rPr sz="2400" b="0" i="0" dirty="0">
                <a:solidFill>
                  <a:srgbClr val="222222"/>
                </a:solidFill>
                <a:latin typeface="Tw Cen MT"/>
              </a:rPr>
              <a:t> de </a:t>
            </a:r>
            <a:r>
              <a:rPr sz="2400" b="0" i="0" dirty="0" err="1">
                <a:solidFill>
                  <a:srgbClr val="222222"/>
                </a:solidFill>
                <a:latin typeface="Tw Cen MT"/>
              </a:rPr>
              <a:t>negocios</a:t>
            </a:r>
            <a:r>
              <a:rPr sz="2400" b="0" i="0" dirty="0">
                <a:solidFill>
                  <a:srgbClr val="222222"/>
                </a:solidFill>
                <a:latin typeface="Tw Cen MT"/>
              </a:rPr>
              <a:t>.</a:t>
            </a:r>
          </a:p>
          <a:p>
            <a:pPr algn="l">
              <a:spcBef>
                <a:spcPts val="200"/>
              </a:spcBef>
            </a:pPr>
            <a:r>
              <a:rPr sz="2400" b="0" i="0" dirty="0">
                <a:solidFill>
                  <a:srgbClr val="222222"/>
                </a:solidFill>
                <a:latin typeface="Tw Cen MT"/>
              </a:rPr>
              <a:t>    ▸  </a:t>
            </a:r>
            <a:r>
              <a:rPr sz="2400" b="0" i="0" dirty="0" err="1">
                <a:solidFill>
                  <a:srgbClr val="222222"/>
                </a:solidFill>
                <a:latin typeface="Tw Cen MT"/>
              </a:rPr>
              <a:t>Arquitectura</a:t>
            </a:r>
            <a:r>
              <a:rPr sz="2400" b="0" i="0" dirty="0">
                <a:solidFill>
                  <a:srgbClr val="222222"/>
                </a:solidFill>
                <a:latin typeface="Tw Cen MT"/>
              </a:rPr>
              <a:t> </a:t>
            </a:r>
            <a:r>
              <a:rPr sz="2400" b="0" i="0" dirty="0" err="1">
                <a:solidFill>
                  <a:srgbClr val="222222"/>
                </a:solidFill>
                <a:latin typeface="Tw Cen MT"/>
              </a:rPr>
              <a:t>organizacional</a:t>
            </a:r>
            <a:r>
              <a:rPr sz="2400" b="0" i="0" dirty="0">
                <a:solidFill>
                  <a:srgbClr val="222222"/>
                </a:solidFill>
                <a:latin typeface="Tw Cen MT"/>
              </a:rPr>
              <a:t> (AO).</a:t>
            </a:r>
          </a:p>
          <a:p>
            <a:pPr algn="l">
              <a:spcBef>
                <a:spcPts val="200"/>
              </a:spcBef>
            </a:pPr>
            <a:r>
              <a:rPr sz="2400" b="0" i="0" dirty="0">
                <a:solidFill>
                  <a:srgbClr val="222222"/>
                </a:solidFill>
                <a:latin typeface="Tw Cen MT"/>
              </a:rPr>
              <a:t>    ▸  Valor de la </a:t>
            </a:r>
            <a:r>
              <a:rPr sz="2400" b="0" i="0" dirty="0" err="1">
                <a:solidFill>
                  <a:srgbClr val="222222"/>
                </a:solidFill>
                <a:latin typeface="Tw Cen MT"/>
              </a:rPr>
              <a:t>firma</a:t>
            </a:r>
            <a:r>
              <a:rPr sz="2400" b="0" i="0" dirty="0">
                <a:solidFill>
                  <a:srgbClr val="222222"/>
                </a:solidFill>
                <a:latin typeface="Tw Cen MT"/>
              </a:rPr>
              <a:t>.</a:t>
            </a:r>
          </a:p>
          <a:p>
            <a:pPr algn="l">
              <a:spcBef>
                <a:spcPts val="500"/>
              </a:spcBef>
            </a:pPr>
            <a:endParaRPr lang="es-419" sz="2400" b="1" dirty="0">
              <a:solidFill>
                <a:srgbClr val="222222"/>
              </a:solidFill>
              <a:latin typeface="Tw Cen MT"/>
            </a:endParaRPr>
          </a:p>
          <a:p>
            <a:pPr algn="ctr">
              <a:spcBef>
                <a:spcPts val="500"/>
              </a:spcBef>
            </a:pPr>
            <a:r>
              <a:rPr sz="2400" b="1" i="0" dirty="0">
                <a:solidFill>
                  <a:srgbClr val="222222"/>
                </a:solidFill>
                <a:latin typeface="Tw Cen MT"/>
              </a:rPr>
              <a:t>Una </a:t>
            </a:r>
            <a:r>
              <a:rPr sz="2400" b="1" i="0" dirty="0" err="1">
                <a:solidFill>
                  <a:srgbClr val="222222"/>
                </a:solidFill>
                <a:latin typeface="Tw Cen MT"/>
              </a:rPr>
              <a:t>debilidad</a:t>
            </a:r>
            <a:r>
              <a:rPr sz="2400" b="1" i="0" dirty="0">
                <a:solidFill>
                  <a:srgbClr val="222222"/>
                </a:solidFill>
                <a:latin typeface="Tw Cen MT"/>
              </a:rPr>
              <a:t> </a:t>
            </a:r>
            <a:r>
              <a:rPr sz="2400" b="1" i="0" dirty="0" err="1">
                <a:solidFill>
                  <a:srgbClr val="222222"/>
                </a:solidFill>
                <a:latin typeface="Tw Cen MT"/>
              </a:rPr>
              <a:t>en</a:t>
            </a:r>
            <a:r>
              <a:rPr sz="2400" b="1" i="0" dirty="0">
                <a:solidFill>
                  <a:srgbClr val="222222"/>
                </a:solidFill>
                <a:latin typeface="Tw Cen MT"/>
              </a:rPr>
              <a:t> un </a:t>
            </a:r>
            <a:r>
              <a:rPr sz="2400" b="1" i="0" dirty="0" err="1">
                <a:solidFill>
                  <a:srgbClr val="222222"/>
                </a:solidFill>
                <a:latin typeface="Tw Cen MT"/>
              </a:rPr>
              <a:t>elemento</a:t>
            </a:r>
            <a:r>
              <a:rPr sz="2400" b="1" i="0" dirty="0">
                <a:solidFill>
                  <a:srgbClr val="222222"/>
                </a:solidFill>
                <a:latin typeface="Tw Cen MT"/>
              </a:rPr>
              <a:t> de la AO </a:t>
            </a:r>
            <a:r>
              <a:rPr sz="2400" b="1" i="0" dirty="0" err="1">
                <a:solidFill>
                  <a:srgbClr val="222222"/>
                </a:solidFill>
                <a:latin typeface="Tw Cen MT"/>
              </a:rPr>
              <a:t>puede</a:t>
            </a:r>
            <a:r>
              <a:rPr sz="2400" b="1" i="0" dirty="0">
                <a:solidFill>
                  <a:srgbClr val="222222"/>
                </a:solidFill>
                <a:latin typeface="Tw Cen MT"/>
              </a:rPr>
              <a:t> </a:t>
            </a:r>
            <a:r>
              <a:rPr sz="2400" b="1" i="0" dirty="0" err="1">
                <a:solidFill>
                  <a:srgbClr val="222222"/>
                </a:solidFill>
                <a:latin typeface="Tw Cen MT"/>
              </a:rPr>
              <a:t>provocar</a:t>
            </a:r>
            <a:r>
              <a:rPr sz="2400" b="1" i="0" dirty="0">
                <a:solidFill>
                  <a:srgbClr val="222222"/>
                </a:solidFill>
                <a:latin typeface="Tw Cen MT"/>
              </a:rPr>
              <a:t> </a:t>
            </a:r>
            <a:r>
              <a:rPr sz="2400" b="1" i="0" dirty="0" err="1">
                <a:solidFill>
                  <a:srgbClr val="222222"/>
                </a:solidFill>
                <a:latin typeface="Tw Cen MT"/>
              </a:rPr>
              <a:t>el</a:t>
            </a:r>
            <a:r>
              <a:rPr sz="2400" b="1" i="0" dirty="0">
                <a:solidFill>
                  <a:srgbClr val="222222"/>
                </a:solidFill>
                <a:latin typeface="Tw Cen MT"/>
              </a:rPr>
              <a:t> </a:t>
            </a:r>
            <a:r>
              <a:rPr sz="2400" b="1" i="0" dirty="0" err="1">
                <a:solidFill>
                  <a:srgbClr val="222222"/>
                </a:solidFill>
                <a:latin typeface="Tw Cen MT"/>
              </a:rPr>
              <a:t>fracaso</a:t>
            </a:r>
            <a:r>
              <a:rPr sz="2400" b="1" i="0" dirty="0">
                <a:solidFill>
                  <a:srgbClr val="222222"/>
                </a:solidFill>
                <a:latin typeface="Tw Cen MT"/>
              </a:rPr>
              <a:t> de</a:t>
            </a:r>
            <a:r>
              <a:rPr lang="es-419" sz="2400" b="1" i="0" dirty="0">
                <a:solidFill>
                  <a:srgbClr val="222222"/>
                </a:solidFill>
                <a:latin typeface="Tw Cen MT"/>
              </a:rPr>
              <a:t> </a:t>
            </a:r>
            <a:r>
              <a:rPr sz="2400" b="1" i="0" dirty="0">
                <a:solidFill>
                  <a:srgbClr val="222222"/>
                </a:solidFill>
                <a:latin typeface="Tw Cen MT"/>
              </a:rPr>
              <a:t>l</a:t>
            </a:r>
            <a:r>
              <a:rPr lang="es-419" sz="2400" b="1" i="0" dirty="0">
                <a:solidFill>
                  <a:srgbClr val="222222"/>
                </a:solidFill>
                <a:latin typeface="Tw Cen MT"/>
              </a:rPr>
              <a:t>a estrategia deseada</a:t>
            </a:r>
            <a:r>
              <a:rPr sz="2400" b="1" i="0" dirty="0">
                <a:solidFill>
                  <a:srgbClr val="222222"/>
                </a:solidFill>
                <a:latin typeface="Tw Cen MT"/>
              </a:rPr>
              <a:t>.</a:t>
            </a:r>
            <a:endParaRPr lang="es-419" sz="2400" b="1" i="0" dirty="0">
              <a:solidFill>
                <a:srgbClr val="222222"/>
              </a:solidFill>
              <a:latin typeface="Tw Cen MT"/>
            </a:endParaRPr>
          </a:p>
          <a:p>
            <a:pPr algn="l">
              <a:spcBef>
                <a:spcPts val="500"/>
              </a:spcBef>
            </a:pPr>
            <a:endParaRPr sz="2200" b="1" i="0" dirty="0">
              <a:solidFill>
                <a:srgbClr val="222222"/>
              </a:solidFill>
              <a:latin typeface="Tw Cen MT"/>
            </a:endParaRPr>
          </a:p>
          <a:p>
            <a:pPr algn="r">
              <a:spcBef>
                <a:spcPts val="500"/>
              </a:spcBef>
            </a:pPr>
            <a:r>
              <a:rPr sz="2200" b="0" i="0" dirty="0" err="1">
                <a:solidFill>
                  <a:srgbClr val="222222"/>
                </a:solidFill>
                <a:latin typeface="Tw Cen MT"/>
              </a:rPr>
              <a:t>Referencia</a:t>
            </a:r>
            <a:r>
              <a:rPr sz="2200" b="0" i="0" dirty="0">
                <a:solidFill>
                  <a:srgbClr val="222222"/>
                </a:solidFill>
                <a:latin typeface="Tw Cen MT"/>
              </a:rPr>
              <a:t>: Enron: Flaws in Organizational Architecture and Its Failure — Nguyen, K.Q. Trung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dirty="0">
                <a:solidFill>
                  <a:srgbClr val="FFFFFF"/>
                </a:solidFill>
                <a:latin typeface="Tw Cen MT"/>
              </a:rPr>
              <a:t>Teoría </a:t>
            </a:r>
            <a:r>
              <a:rPr sz="2800" b="1" i="0" dirty="0" err="1">
                <a:solidFill>
                  <a:srgbClr val="FFFFFF"/>
                </a:solidFill>
                <a:latin typeface="Tw Cen MT"/>
              </a:rPr>
              <a:t>Contingente</a:t>
            </a:r>
            <a:r>
              <a:rPr lang="es-419" sz="2800" b="1" i="0" dirty="0">
                <a:solidFill>
                  <a:srgbClr val="FFFFFF"/>
                </a:solidFill>
                <a:latin typeface="Tw Cen MT"/>
              </a:rPr>
              <a:t> – influencia del entorno en el diseño organizacional</a:t>
            </a:r>
            <a:endParaRPr sz="2800" b="1" i="0" dirty="0">
              <a:solidFill>
                <a:srgbClr val="FFFFFF"/>
              </a:solidFill>
              <a:latin typeface="Tw Cen MT"/>
            </a:endParaRPr>
          </a:p>
        </p:txBody>
      </p:sp>
      <p:sp>
        <p:nvSpPr>
          <p:cNvPr id="5" name="TextBox 4"/>
          <p:cNvSpPr txBox="1"/>
          <p:nvPr/>
        </p:nvSpPr>
        <p:spPr>
          <a:xfrm>
            <a:off x="406400" y="1219200"/>
            <a:ext cx="11379200" cy="4921860"/>
          </a:xfrm>
          <a:prstGeom prst="rect">
            <a:avLst/>
          </a:prstGeom>
          <a:noFill/>
        </p:spPr>
        <p:txBody>
          <a:bodyPr wrap="square">
            <a:spAutoFit/>
          </a:bodyPr>
          <a:lstStyle/>
          <a:p>
            <a:pPr algn="l">
              <a:spcBef>
                <a:spcPts val="500"/>
              </a:spcBef>
            </a:pPr>
            <a:r>
              <a:rPr sz="2400" b="0" i="0" dirty="0">
                <a:solidFill>
                  <a:srgbClr val="222222"/>
                </a:solidFill>
                <a:latin typeface="Tw Cen MT"/>
              </a:rPr>
              <a:t>El </a:t>
            </a:r>
            <a:r>
              <a:rPr sz="2400" b="0" i="0" dirty="0" err="1">
                <a:solidFill>
                  <a:srgbClr val="222222"/>
                </a:solidFill>
                <a:latin typeface="Tw Cen MT"/>
              </a:rPr>
              <a:t>diseño</a:t>
            </a:r>
            <a:r>
              <a:rPr sz="2400" b="0" i="0" dirty="0">
                <a:solidFill>
                  <a:srgbClr val="222222"/>
                </a:solidFill>
                <a:latin typeface="Tw Cen MT"/>
              </a:rPr>
              <a:t> </a:t>
            </a:r>
            <a:r>
              <a:rPr sz="2400" b="0" i="0" dirty="0" err="1">
                <a:solidFill>
                  <a:srgbClr val="222222"/>
                </a:solidFill>
                <a:latin typeface="Tw Cen MT"/>
              </a:rPr>
              <a:t>organizacional</a:t>
            </a:r>
            <a:r>
              <a:rPr sz="2400" b="0" i="0" dirty="0">
                <a:solidFill>
                  <a:srgbClr val="222222"/>
                </a:solidFill>
                <a:latin typeface="Tw Cen MT"/>
              </a:rPr>
              <a:t> </a:t>
            </a:r>
            <a:r>
              <a:rPr sz="2400" b="0" i="0" dirty="0" err="1">
                <a:solidFill>
                  <a:srgbClr val="222222"/>
                </a:solidFill>
                <a:latin typeface="Tw Cen MT"/>
              </a:rPr>
              <a:t>óptimo</a:t>
            </a:r>
            <a:r>
              <a:rPr sz="2400" b="0" i="0" dirty="0">
                <a:solidFill>
                  <a:srgbClr val="222222"/>
                </a:solidFill>
                <a:latin typeface="Tw Cen MT"/>
              </a:rPr>
              <a:t> </a:t>
            </a:r>
            <a:r>
              <a:rPr sz="2400" b="0" i="0" dirty="0" err="1">
                <a:solidFill>
                  <a:srgbClr val="222222"/>
                </a:solidFill>
                <a:latin typeface="Tw Cen MT"/>
              </a:rPr>
              <a:t>viene</a:t>
            </a:r>
            <a:r>
              <a:rPr sz="2400" b="0" i="0" dirty="0">
                <a:solidFill>
                  <a:srgbClr val="222222"/>
                </a:solidFill>
                <a:latin typeface="Tw Cen MT"/>
              </a:rPr>
              <a:t> dado </a:t>
            </a:r>
            <a:r>
              <a:rPr sz="2400" b="0" i="0" dirty="0" err="1">
                <a:solidFill>
                  <a:srgbClr val="222222"/>
                </a:solidFill>
                <a:latin typeface="Tw Cen MT"/>
              </a:rPr>
              <a:t>por</a:t>
            </a:r>
            <a:r>
              <a:rPr sz="2400" b="0" i="0" dirty="0">
                <a:solidFill>
                  <a:srgbClr val="222222"/>
                </a:solidFill>
                <a:latin typeface="Tw Cen MT"/>
              </a:rPr>
              <a:t> </a:t>
            </a:r>
            <a:r>
              <a:rPr sz="2400" b="0" i="0" dirty="0" err="1">
                <a:solidFill>
                  <a:srgbClr val="222222"/>
                </a:solidFill>
                <a:latin typeface="Tw Cen MT"/>
              </a:rPr>
              <a:t>el</a:t>
            </a:r>
            <a:r>
              <a:rPr sz="2400" b="0" i="0" dirty="0">
                <a:solidFill>
                  <a:srgbClr val="222222"/>
                </a:solidFill>
                <a:latin typeface="Tw Cen MT"/>
              </a:rPr>
              <a:t> </a:t>
            </a:r>
            <a:r>
              <a:rPr sz="2400" b="0" i="0" dirty="0" err="1">
                <a:solidFill>
                  <a:srgbClr val="222222"/>
                </a:solidFill>
                <a:latin typeface="Tw Cen MT"/>
              </a:rPr>
              <a:t>ajuste</a:t>
            </a:r>
            <a:r>
              <a:rPr sz="2400" b="0" i="0" dirty="0">
                <a:solidFill>
                  <a:srgbClr val="222222"/>
                </a:solidFill>
                <a:latin typeface="Tw Cen MT"/>
              </a:rPr>
              <a:t> entre las variables </a:t>
            </a:r>
            <a:r>
              <a:rPr sz="2400" b="0" i="0" dirty="0" err="1">
                <a:solidFill>
                  <a:srgbClr val="222222"/>
                </a:solidFill>
                <a:latin typeface="Tw Cen MT"/>
              </a:rPr>
              <a:t>estructurales</a:t>
            </a:r>
            <a:r>
              <a:rPr sz="2400" b="0" i="0" dirty="0">
                <a:solidFill>
                  <a:srgbClr val="222222"/>
                </a:solidFill>
                <a:latin typeface="Tw Cen MT"/>
              </a:rPr>
              <a:t> con </a:t>
            </a:r>
            <a:r>
              <a:rPr sz="2400" b="0" i="0" dirty="0" err="1">
                <a:solidFill>
                  <a:srgbClr val="222222"/>
                </a:solidFill>
                <a:latin typeface="Tw Cen MT"/>
              </a:rPr>
              <a:t>factores</a:t>
            </a:r>
            <a:r>
              <a:rPr sz="2400" b="0" i="0" dirty="0">
                <a:solidFill>
                  <a:srgbClr val="222222"/>
                </a:solidFill>
                <a:latin typeface="Tw Cen MT"/>
              </a:rPr>
              <a:t> </a:t>
            </a:r>
            <a:r>
              <a:rPr sz="2400" b="0" i="0" dirty="0" err="1">
                <a:solidFill>
                  <a:srgbClr val="222222"/>
                </a:solidFill>
                <a:latin typeface="Tw Cen MT"/>
              </a:rPr>
              <a:t>internos</a:t>
            </a:r>
            <a:r>
              <a:rPr sz="2400" b="0" i="0" dirty="0">
                <a:solidFill>
                  <a:srgbClr val="222222"/>
                </a:solidFill>
                <a:latin typeface="Tw Cen MT"/>
              </a:rPr>
              <a:t> y del </a:t>
            </a:r>
            <a:r>
              <a:rPr sz="2400" b="0" i="0" dirty="0" err="1">
                <a:solidFill>
                  <a:srgbClr val="222222"/>
                </a:solidFill>
                <a:latin typeface="Tw Cen MT"/>
              </a:rPr>
              <a:t>entorno</a:t>
            </a:r>
            <a:r>
              <a:rPr sz="2400" b="0" i="0" dirty="0">
                <a:solidFill>
                  <a:srgbClr val="222222"/>
                </a:solidFill>
                <a:latin typeface="Tw Cen MT"/>
              </a:rPr>
              <a:t>.</a:t>
            </a:r>
            <a:endParaRPr lang="es-419" sz="2400" b="0" i="0" dirty="0">
              <a:solidFill>
                <a:srgbClr val="222222"/>
              </a:solidFill>
              <a:latin typeface="Tw Cen MT"/>
            </a:endParaRPr>
          </a:p>
          <a:p>
            <a:pPr algn="l">
              <a:spcBef>
                <a:spcPts val="500"/>
              </a:spcBef>
            </a:pPr>
            <a:endParaRPr sz="2400" b="0" i="0" dirty="0">
              <a:solidFill>
                <a:srgbClr val="222222"/>
              </a:solidFill>
              <a:latin typeface="Tw Cen MT"/>
            </a:endParaRPr>
          </a:p>
          <a:p>
            <a:pPr algn="l">
              <a:spcBef>
                <a:spcPts val="500"/>
              </a:spcBef>
            </a:pPr>
            <a:r>
              <a:rPr sz="2400" b="1" i="0" dirty="0">
                <a:solidFill>
                  <a:srgbClr val="8B0000"/>
                </a:solidFill>
                <a:latin typeface="Tw Cen MT"/>
              </a:rPr>
              <a:t>PRINCIPIO CENTRAL</a:t>
            </a:r>
          </a:p>
          <a:p>
            <a:pPr algn="l">
              <a:spcBef>
                <a:spcPts val="500"/>
              </a:spcBef>
            </a:pPr>
            <a:r>
              <a:rPr sz="2400" b="1" i="0" dirty="0">
                <a:solidFill>
                  <a:srgbClr val="222222"/>
                </a:solidFill>
                <a:latin typeface="Tw Cen MT"/>
              </a:rPr>
              <a:t>■  No hay </a:t>
            </a:r>
            <a:r>
              <a:rPr sz="2400" b="1" i="0" dirty="0" err="1">
                <a:solidFill>
                  <a:srgbClr val="222222"/>
                </a:solidFill>
                <a:latin typeface="Tw Cen MT"/>
              </a:rPr>
              <a:t>una</a:t>
            </a:r>
            <a:r>
              <a:rPr sz="2400" b="1" i="0" dirty="0">
                <a:solidFill>
                  <a:srgbClr val="222222"/>
                </a:solidFill>
                <a:latin typeface="Tw Cen MT"/>
              </a:rPr>
              <a:t> </a:t>
            </a:r>
            <a:r>
              <a:rPr sz="2400" b="1" i="0" dirty="0" err="1">
                <a:solidFill>
                  <a:srgbClr val="222222"/>
                </a:solidFill>
                <a:latin typeface="Tw Cen MT"/>
              </a:rPr>
              <a:t>estructura</a:t>
            </a:r>
            <a:r>
              <a:rPr sz="2400" b="1" i="0" dirty="0">
                <a:solidFill>
                  <a:srgbClr val="222222"/>
                </a:solidFill>
                <a:latin typeface="Tw Cen MT"/>
              </a:rPr>
              <a:t> </a:t>
            </a:r>
            <a:r>
              <a:rPr sz="2400" b="1" i="0" dirty="0" err="1">
                <a:solidFill>
                  <a:srgbClr val="222222"/>
                </a:solidFill>
                <a:latin typeface="Tw Cen MT"/>
              </a:rPr>
              <a:t>organizacional</a:t>
            </a:r>
            <a:r>
              <a:rPr sz="2400" b="1" i="0" dirty="0">
                <a:solidFill>
                  <a:srgbClr val="222222"/>
                </a:solidFill>
                <a:latin typeface="Tw Cen MT"/>
              </a:rPr>
              <a:t> </a:t>
            </a:r>
            <a:r>
              <a:rPr sz="2400" b="1" i="0" dirty="0" err="1">
                <a:solidFill>
                  <a:srgbClr val="222222"/>
                </a:solidFill>
                <a:latin typeface="Tw Cen MT"/>
              </a:rPr>
              <a:t>mejor</a:t>
            </a:r>
            <a:r>
              <a:rPr sz="2400" b="1" i="0" dirty="0">
                <a:solidFill>
                  <a:srgbClr val="222222"/>
                </a:solidFill>
                <a:latin typeface="Tw Cen MT"/>
              </a:rPr>
              <a:t> </a:t>
            </a:r>
            <a:r>
              <a:rPr sz="2400" b="1" i="0" dirty="0" err="1">
                <a:solidFill>
                  <a:srgbClr val="222222"/>
                </a:solidFill>
                <a:latin typeface="Tw Cen MT"/>
              </a:rPr>
              <a:t>en</a:t>
            </a:r>
            <a:r>
              <a:rPr sz="2400" b="1" i="0" dirty="0">
                <a:solidFill>
                  <a:srgbClr val="222222"/>
                </a:solidFill>
                <a:latin typeface="Tw Cen MT"/>
              </a:rPr>
              <a:t> </a:t>
            </a:r>
            <a:r>
              <a:rPr sz="2400" b="1" i="0" dirty="0" err="1">
                <a:solidFill>
                  <a:srgbClr val="222222"/>
                </a:solidFill>
                <a:latin typeface="Tw Cen MT"/>
              </a:rPr>
              <a:t>todas</a:t>
            </a:r>
            <a:r>
              <a:rPr sz="2400" b="1" i="0" dirty="0">
                <a:solidFill>
                  <a:srgbClr val="222222"/>
                </a:solidFill>
                <a:latin typeface="Tw Cen MT"/>
              </a:rPr>
              <a:t> las </a:t>
            </a:r>
            <a:r>
              <a:rPr sz="2400" b="1" i="0" dirty="0" err="1">
                <a:solidFill>
                  <a:srgbClr val="222222"/>
                </a:solidFill>
                <a:latin typeface="Tw Cen MT"/>
              </a:rPr>
              <a:t>circunstancias</a:t>
            </a:r>
            <a:r>
              <a:rPr sz="2400" b="1" i="0" dirty="0">
                <a:solidFill>
                  <a:srgbClr val="222222"/>
                </a:solidFill>
                <a:latin typeface="Tw Cen MT"/>
              </a:rPr>
              <a:t>.</a:t>
            </a:r>
          </a:p>
          <a:p>
            <a:pPr algn="l">
              <a:spcBef>
                <a:spcPts val="500"/>
              </a:spcBef>
            </a:pPr>
            <a:endParaRPr lang="es-419" sz="2400" b="1" i="0" dirty="0">
              <a:solidFill>
                <a:srgbClr val="8B0000"/>
              </a:solidFill>
              <a:latin typeface="Tw Cen MT"/>
            </a:endParaRPr>
          </a:p>
          <a:p>
            <a:pPr algn="l">
              <a:spcBef>
                <a:spcPts val="500"/>
              </a:spcBef>
            </a:pPr>
            <a:r>
              <a:rPr sz="2400" b="1" i="0" dirty="0">
                <a:solidFill>
                  <a:srgbClr val="8B0000"/>
                </a:solidFill>
                <a:latin typeface="Tw Cen MT"/>
              </a:rPr>
              <a:t>IMPLICANCIAS</a:t>
            </a:r>
          </a:p>
          <a:p>
            <a:pPr algn="l">
              <a:spcBef>
                <a:spcPts val="200"/>
              </a:spcBef>
            </a:pPr>
            <a:r>
              <a:rPr sz="2400" b="0" i="0" dirty="0">
                <a:solidFill>
                  <a:srgbClr val="222222"/>
                </a:solidFill>
                <a:latin typeface="Tw Cen MT"/>
              </a:rPr>
              <a:t>    ▸  </a:t>
            </a:r>
            <a:r>
              <a:rPr sz="2400" b="0" i="0" dirty="0" err="1">
                <a:solidFill>
                  <a:srgbClr val="222222"/>
                </a:solidFill>
                <a:latin typeface="Tw Cen MT"/>
              </a:rPr>
              <a:t>Compañías</a:t>
            </a:r>
            <a:r>
              <a:rPr sz="2400" b="0" i="0" dirty="0">
                <a:solidFill>
                  <a:srgbClr val="222222"/>
                </a:solidFill>
                <a:latin typeface="Tw Cen MT"/>
              </a:rPr>
              <a:t> </a:t>
            </a:r>
            <a:r>
              <a:rPr sz="2400" b="0" i="0" dirty="0" err="1">
                <a:solidFill>
                  <a:srgbClr val="222222"/>
                </a:solidFill>
                <a:latin typeface="Tw Cen MT"/>
              </a:rPr>
              <a:t>en</a:t>
            </a:r>
            <a:r>
              <a:rPr sz="2400" b="0" i="0" dirty="0">
                <a:solidFill>
                  <a:srgbClr val="222222"/>
                </a:solidFill>
                <a:latin typeface="Tw Cen MT"/>
              </a:rPr>
              <a:t> la </a:t>
            </a:r>
            <a:r>
              <a:rPr sz="2400" b="0" i="0" dirty="0" err="1">
                <a:solidFill>
                  <a:srgbClr val="222222"/>
                </a:solidFill>
                <a:latin typeface="Tw Cen MT"/>
              </a:rPr>
              <a:t>misma</a:t>
            </a:r>
            <a:r>
              <a:rPr sz="2400" b="0" i="0" dirty="0">
                <a:solidFill>
                  <a:srgbClr val="222222"/>
                </a:solidFill>
                <a:latin typeface="Tw Cen MT"/>
              </a:rPr>
              <a:t> </a:t>
            </a:r>
            <a:r>
              <a:rPr sz="2400" b="0" i="0" dirty="0" err="1">
                <a:solidFill>
                  <a:srgbClr val="222222"/>
                </a:solidFill>
                <a:latin typeface="Tw Cen MT"/>
              </a:rPr>
              <a:t>industria</a:t>
            </a:r>
            <a:r>
              <a:rPr sz="2400" b="0" i="0" dirty="0">
                <a:solidFill>
                  <a:srgbClr val="222222"/>
                </a:solidFill>
                <a:latin typeface="Tw Cen MT"/>
              </a:rPr>
              <a:t> </a:t>
            </a:r>
            <a:r>
              <a:rPr sz="2400" b="0" i="0" dirty="0" err="1">
                <a:solidFill>
                  <a:srgbClr val="222222"/>
                </a:solidFill>
                <a:latin typeface="Tw Cen MT"/>
              </a:rPr>
              <a:t>tienden</a:t>
            </a:r>
            <a:r>
              <a:rPr sz="2400" b="0" i="0" dirty="0">
                <a:solidFill>
                  <a:srgbClr val="222222"/>
                </a:solidFill>
                <a:latin typeface="Tw Cen MT"/>
              </a:rPr>
              <a:t> a </a:t>
            </a:r>
            <a:r>
              <a:rPr sz="2400" b="0" i="0" dirty="0" err="1">
                <a:solidFill>
                  <a:srgbClr val="222222"/>
                </a:solidFill>
                <a:latin typeface="Tw Cen MT"/>
              </a:rPr>
              <a:t>desarrollar</a:t>
            </a:r>
            <a:r>
              <a:rPr sz="2400" b="0" i="0" dirty="0">
                <a:solidFill>
                  <a:srgbClr val="222222"/>
                </a:solidFill>
                <a:latin typeface="Tw Cen MT"/>
              </a:rPr>
              <a:t> </a:t>
            </a:r>
            <a:r>
              <a:rPr sz="2400" b="0" i="0" dirty="0" err="1">
                <a:solidFill>
                  <a:srgbClr val="222222"/>
                </a:solidFill>
                <a:latin typeface="Tw Cen MT"/>
              </a:rPr>
              <a:t>arquitecturas</a:t>
            </a:r>
            <a:r>
              <a:rPr sz="2400" b="0" i="0" dirty="0">
                <a:solidFill>
                  <a:srgbClr val="222222"/>
                </a:solidFill>
                <a:latin typeface="Tw Cen MT"/>
              </a:rPr>
              <a:t> </a:t>
            </a:r>
            <a:r>
              <a:rPr sz="2400" b="0" i="0" dirty="0" err="1">
                <a:solidFill>
                  <a:srgbClr val="222222"/>
                </a:solidFill>
                <a:latin typeface="Tw Cen MT"/>
              </a:rPr>
              <a:t>similares</a:t>
            </a:r>
            <a:r>
              <a:rPr sz="2400" b="0" i="0" dirty="0">
                <a:solidFill>
                  <a:srgbClr val="222222"/>
                </a:solidFill>
                <a:latin typeface="Tw Cen MT"/>
              </a:rPr>
              <a:t>.</a:t>
            </a:r>
          </a:p>
          <a:p>
            <a:pPr algn="l">
              <a:spcBef>
                <a:spcPts val="200"/>
              </a:spcBef>
            </a:pPr>
            <a:r>
              <a:rPr sz="2400" b="0" i="0" dirty="0">
                <a:solidFill>
                  <a:srgbClr val="222222"/>
                </a:solidFill>
                <a:latin typeface="Tw Cen MT"/>
              </a:rPr>
              <a:t>    ▸  Las </a:t>
            </a:r>
            <a:r>
              <a:rPr sz="2400" b="0" i="0" dirty="0" err="1">
                <a:solidFill>
                  <a:srgbClr val="222222"/>
                </a:solidFill>
                <a:latin typeface="Tw Cen MT"/>
              </a:rPr>
              <a:t>diferencias</a:t>
            </a:r>
            <a:r>
              <a:rPr sz="2400" b="0" i="0" dirty="0">
                <a:solidFill>
                  <a:srgbClr val="222222"/>
                </a:solidFill>
                <a:latin typeface="Tw Cen MT"/>
              </a:rPr>
              <a:t> </a:t>
            </a:r>
            <a:r>
              <a:rPr sz="2400" b="0" i="0" dirty="0" err="1">
                <a:solidFill>
                  <a:srgbClr val="222222"/>
                </a:solidFill>
                <a:latin typeface="Tw Cen MT"/>
              </a:rPr>
              <a:t>estructurales</a:t>
            </a:r>
            <a:r>
              <a:rPr sz="2400" b="0" i="0" dirty="0">
                <a:solidFill>
                  <a:srgbClr val="222222"/>
                </a:solidFill>
                <a:latin typeface="Tw Cen MT"/>
              </a:rPr>
              <a:t> no son </a:t>
            </a:r>
            <a:r>
              <a:rPr sz="2400" b="0" i="0" dirty="0" err="1">
                <a:solidFill>
                  <a:srgbClr val="222222"/>
                </a:solidFill>
                <a:latin typeface="Tw Cen MT"/>
              </a:rPr>
              <a:t>aleatorias</a:t>
            </a:r>
            <a:r>
              <a:rPr sz="2400" b="0" i="0" dirty="0">
                <a:solidFill>
                  <a:srgbClr val="222222"/>
                </a:solidFill>
                <a:latin typeface="Tw Cen MT"/>
              </a:rPr>
              <a:t>: </a:t>
            </a:r>
            <a:r>
              <a:rPr sz="2400" b="0" i="0" dirty="0" err="1">
                <a:solidFill>
                  <a:srgbClr val="222222"/>
                </a:solidFill>
                <a:latin typeface="Tw Cen MT"/>
              </a:rPr>
              <a:t>varían</a:t>
            </a:r>
            <a:r>
              <a:rPr sz="2400" b="0" i="0" dirty="0">
                <a:solidFill>
                  <a:srgbClr val="222222"/>
                </a:solidFill>
                <a:latin typeface="Tw Cen MT"/>
              </a:rPr>
              <a:t> </a:t>
            </a:r>
            <a:r>
              <a:rPr sz="2400" b="0" i="0" dirty="0" err="1">
                <a:solidFill>
                  <a:srgbClr val="222222"/>
                </a:solidFill>
                <a:latin typeface="Tw Cen MT"/>
              </a:rPr>
              <a:t>sistemáticamente</a:t>
            </a:r>
            <a:r>
              <a:rPr sz="2400" b="0" i="0" dirty="0">
                <a:solidFill>
                  <a:srgbClr val="222222"/>
                </a:solidFill>
                <a:latin typeface="Tw Cen MT"/>
              </a:rPr>
              <a:t> con </a:t>
            </a:r>
            <a:r>
              <a:rPr sz="2400" b="0" i="0" dirty="0" err="1">
                <a:solidFill>
                  <a:srgbClr val="222222"/>
                </a:solidFill>
                <a:latin typeface="Tw Cen MT"/>
              </a:rPr>
              <a:t>características</a:t>
            </a:r>
            <a:r>
              <a:rPr sz="2400" b="0" i="0" dirty="0">
                <a:solidFill>
                  <a:srgbClr val="222222"/>
                </a:solidFill>
                <a:latin typeface="Tw Cen MT"/>
              </a:rPr>
              <a:t> </a:t>
            </a:r>
            <a:r>
              <a:rPr sz="2400" b="0" i="0" dirty="0" err="1">
                <a:solidFill>
                  <a:srgbClr val="222222"/>
                </a:solidFill>
                <a:latin typeface="Tw Cen MT"/>
              </a:rPr>
              <a:t>fundamentales</a:t>
            </a:r>
            <a:r>
              <a:rPr sz="2400" b="0" i="0" dirty="0">
                <a:solidFill>
                  <a:srgbClr val="222222"/>
                </a:solidFill>
                <a:latin typeface="Tw Cen MT"/>
              </a:rPr>
              <a:t> de las </a:t>
            </a:r>
            <a:r>
              <a:rPr sz="2400" b="0" i="0" dirty="0" err="1">
                <a:solidFill>
                  <a:srgbClr val="222222"/>
                </a:solidFill>
                <a:latin typeface="Tw Cen MT"/>
              </a:rPr>
              <a:t>empresas</a:t>
            </a:r>
            <a:r>
              <a:rPr sz="2400" b="0" i="0" dirty="0">
                <a:solidFill>
                  <a:srgbClr val="222222"/>
                </a:solidFill>
                <a:latin typeface="Tw Cen MT"/>
              </a:rPr>
              <a:t>.</a:t>
            </a:r>
          </a:p>
          <a:p>
            <a:pPr algn="l">
              <a:spcBef>
                <a:spcPts val="200"/>
              </a:spcBef>
            </a:pPr>
            <a:r>
              <a:rPr sz="2400" b="0" i="0" dirty="0">
                <a:solidFill>
                  <a:srgbClr val="222222"/>
                </a:solidFill>
                <a:latin typeface="Tw Cen MT"/>
              </a:rPr>
              <a:t>    ▸  La AO </a:t>
            </a:r>
            <a:r>
              <a:rPr sz="2400" b="0" i="0" dirty="0" err="1">
                <a:solidFill>
                  <a:srgbClr val="222222"/>
                </a:solidFill>
                <a:latin typeface="Tw Cen MT"/>
              </a:rPr>
              <a:t>óptima</a:t>
            </a:r>
            <a:r>
              <a:rPr sz="2400" b="0" i="0" dirty="0">
                <a:solidFill>
                  <a:srgbClr val="222222"/>
                </a:solidFill>
                <a:latin typeface="Tw Cen MT"/>
              </a:rPr>
              <a:t> para </a:t>
            </a:r>
            <a:r>
              <a:rPr sz="2400" b="0" i="0" dirty="0" err="1">
                <a:solidFill>
                  <a:srgbClr val="222222"/>
                </a:solidFill>
                <a:latin typeface="Tw Cen MT"/>
              </a:rPr>
              <a:t>una</a:t>
            </a:r>
            <a:r>
              <a:rPr sz="2400" b="0" i="0" dirty="0">
                <a:solidFill>
                  <a:srgbClr val="222222"/>
                </a:solidFill>
                <a:latin typeface="Tw Cen MT"/>
              </a:rPr>
              <a:t> startup </a:t>
            </a:r>
            <a:r>
              <a:rPr sz="2400" b="0" i="0" dirty="0" err="1">
                <a:solidFill>
                  <a:srgbClr val="222222"/>
                </a:solidFill>
                <a:latin typeface="Tw Cen MT"/>
              </a:rPr>
              <a:t>tecnológica</a:t>
            </a:r>
            <a:r>
              <a:rPr sz="2400" b="0" i="0" dirty="0">
                <a:solidFill>
                  <a:srgbClr val="222222"/>
                </a:solidFill>
                <a:latin typeface="Tw Cen MT"/>
              </a:rPr>
              <a:t> es </a:t>
            </a:r>
            <a:r>
              <a:rPr sz="2400" b="0" i="0" dirty="0" err="1">
                <a:solidFill>
                  <a:srgbClr val="222222"/>
                </a:solidFill>
                <a:latin typeface="Tw Cen MT"/>
              </a:rPr>
              <a:t>diferente</a:t>
            </a:r>
            <a:r>
              <a:rPr sz="2400" b="0" i="0" dirty="0">
                <a:solidFill>
                  <a:srgbClr val="222222"/>
                </a:solidFill>
                <a:latin typeface="Tw Cen MT"/>
              </a:rPr>
              <a:t> a la de un banco o </a:t>
            </a:r>
            <a:r>
              <a:rPr sz="2400" b="0" i="0" dirty="0" err="1">
                <a:solidFill>
                  <a:srgbClr val="222222"/>
                </a:solidFill>
                <a:latin typeface="Tw Cen MT"/>
              </a:rPr>
              <a:t>una</a:t>
            </a:r>
            <a:r>
              <a:rPr sz="2400" b="0" i="0" dirty="0">
                <a:solidFill>
                  <a:srgbClr val="222222"/>
                </a:solidFill>
                <a:latin typeface="Tw Cen MT"/>
              </a:rPr>
              <a:t> </a:t>
            </a:r>
            <a:r>
              <a:rPr sz="2400" b="0" i="0" dirty="0" err="1">
                <a:solidFill>
                  <a:srgbClr val="222222"/>
                </a:solidFill>
                <a:latin typeface="Tw Cen MT"/>
              </a:rPr>
              <a:t>cooperativa</a:t>
            </a:r>
            <a:r>
              <a:rPr sz="2400" b="0" i="0" dirty="0">
                <a:solidFill>
                  <a:srgbClr val="222222"/>
                </a:solidFill>
                <a:latin typeface="Tw Cen MT"/>
              </a:rPr>
              <a:t> </a:t>
            </a:r>
            <a:r>
              <a:rPr sz="2400" b="0" i="0" dirty="0" err="1">
                <a:solidFill>
                  <a:srgbClr val="222222"/>
                </a:solidFill>
                <a:latin typeface="Tw Cen MT"/>
              </a:rPr>
              <a:t>agropecuaria</a:t>
            </a:r>
            <a:r>
              <a:rPr sz="2400" b="0" i="0" dirty="0">
                <a:solidFill>
                  <a:srgbClr val="222222"/>
                </a:solidFill>
                <a:latin typeface="Tw Cen MT"/>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A95C9-B58F-7006-E60F-0A28C640B6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1DD69F2-3473-3CB3-C010-F539CCD75FEA}"/>
              </a:ext>
            </a:extLst>
          </p:cNvPr>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BF7CEE4-230F-01A0-B82D-E2F3CBBDDB58}"/>
              </a:ext>
            </a:extLst>
          </p:cNvPr>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C7F0B82-CB8B-A62E-F9CD-3059949C57CB}"/>
              </a:ext>
            </a:extLst>
          </p:cNvPr>
          <p:cNvSpPr txBox="1"/>
          <p:nvPr/>
        </p:nvSpPr>
        <p:spPr>
          <a:xfrm>
            <a:off x="406400" y="152400"/>
            <a:ext cx="11379200" cy="762000"/>
          </a:xfrm>
          <a:prstGeom prst="rect">
            <a:avLst/>
          </a:prstGeom>
          <a:noFill/>
        </p:spPr>
        <p:txBody>
          <a:bodyPr wrap="square" anchor="ctr"/>
          <a:lstStyle/>
          <a:p>
            <a:pPr algn="l"/>
            <a:r>
              <a:rPr lang="es-AR" sz="2800" b="1" i="0" dirty="0">
                <a:solidFill>
                  <a:srgbClr val="FFFFFF"/>
                </a:solidFill>
                <a:latin typeface="Tw Cen MT"/>
              </a:rPr>
              <a:t>Determinantes de la estrategia de negocios, la arquitectura organizacional y el valor de la firma</a:t>
            </a:r>
            <a:endParaRPr sz="2800" b="1" i="0" dirty="0">
              <a:solidFill>
                <a:srgbClr val="FFFFFF"/>
              </a:solidFill>
              <a:latin typeface="Tw Cen MT"/>
            </a:endParaRPr>
          </a:p>
        </p:txBody>
      </p:sp>
      <p:sp>
        <p:nvSpPr>
          <p:cNvPr id="5" name="Marcador de contenido 2">
            <a:extLst>
              <a:ext uri="{FF2B5EF4-FFF2-40B4-BE49-F238E27FC236}">
                <a16:creationId xmlns:a16="http://schemas.microsoft.com/office/drawing/2014/main" id="{B7EB3DB8-4FAD-9F12-EE64-2304EDAE5018}"/>
              </a:ext>
            </a:extLst>
          </p:cNvPr>
          <p:cNvSpPr txBox="1">
            <a:spLocks/>
          </p:cNvSpPr>
          <p:nvPr/>
        </p:nvSpPr>
        <p:spPr>
          <a:xfrm>
            <a:off x="816864" y="1295401"/>
            <a:ext cx="10871200" cy="5269786"/>
          </a:xfrm>
          <a:prstGeom prst="rect">
            <a:avLst/>
          </a:prstGeom>
        </p:spPr>
        <p:txBody>
          <a:bodyPr vert="horz">
            <a:normAutofit fontScale="92500" lnSpcReduction="20000"/>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marL="320040" marR="0" lvl="0" indent="-320040" algn="l" defTabSz="914400" rtl="0" eaLnBrk="1" fontAlgn="auto" latinLnBrk="0" hangingPunct="1">
              <a:lnSpc>
                <a:spcPct val="100000"/>
              </a:lnSpc>
              <a:spcBef>
                <a:spcPts val="700"/>
              </a:spcBef>
              <a:spcAft>
                <a:spcPts val="0"/>
              </a:spcAft>
              <a:buClr>
                <a:srgbClr val="DD8047"/>
              </a:buClr>
              <a:buSzPct val="60000"/>
              <a:buFont typeface="Wingdings"/>
              <a:buChar char=""/>
              <a:tabLst/>
              <a:defRPr/>
            </a:pPr>
            <a:r>
              <a:rPr kumimoji="0" lang="es-AR" sz="2900" b="0" i="0" u="none" strike="noStrike" kern="1200" cap="none" spc="0" normalizeH="0" baseline="0" noProof="0" dirty="0">
                <a:ln>
                  <a:noFill/>
                </a:ln>
                <a:solidFill>
                  <a:sysClr val="windowText" lastClr="000000"/>
                </a:solidFill>
                <a:effectLst/>
                <a:uLnTx/>
                <a:uFillTx/>
                <a:latin typeface="Tw Cen MT"/>
                <a:ea typeface="+mn-ea"/>
                <a:cs typeface="+mn-cs"/>
              </a:rPr>
              <a:t>La estrategia y la arquitectura organizacional de la empresa deben estar influenciadas y ser coherentes entre sí. Por ejemplo, las empresas suelen reevaluar y modificar sus estrategias cuando se producen cambios significativos en el entorno operativo de un sector. </a:t>
            </a:r>
          </a:p>
          <a:p>
            <a:pPr marL="320040" marR="0" lvl="0" indent="-320040" algn="l" defTabSz="914400" rtl="0" eaLnBrk="1" fontAlgn="auto" latinLnBrk="0" hangingPunct="1">
              <a:lnSpc>
                <a:spcPct val="100000"/>
              </a:lnSpc>
              <a:spcBef>
                <a:spcPts val="700"/>
              </a:spcBef>
              <a:spcAft>
                <a:spcPts val="0"/>
              </a:spcAft>
              <a:buClr>
                <a:srgbClr val="DD8047"/>
              </a:buClr>
              <a:buSzPct val="60000"/>
              <a:buFont typeface="Wingdings"/>
              <a:buChar char=""/>
              <a:tabLst/>
              <a:defRPr/>
            </a:pPr>
            <a:endParaRPr kumimoji="0" lang="es-AR" sz="2900" b="0" i="0" u="none" strike="noStrike" kern="1200" cap="none" spc="0" normalizeH="0" baseline="0" noProof="0" dirty="0">
              <a:ln>
                <a:noFill/>
              </a:ln>
              <a:solidFill>
                <a:sysClr val="windowText" lastClr="000000"/>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D8047"/>
              </a:buClr>
              <a:buSzPct val="60000"/>
              <a:buFont typeface="Wingdings"/>
              <a:buChar char=""/>
              <a:tabLst/>
              <a:defRPr/>
            </a:pPr>
            <a:r>
              <a:rPr kumimoji="0" lang="es-AR" sz="2900" b="0" i="0" u="none" strike="noStrike" kern="1200" cap="none" spc="0" normalizeH="0" baseline="0" noProof="0" dirty="0">
                <a:ln>
                  <a:noFill/>
                </a:ln>
                <a:solidFill>
                  <a:sysClr val="windowText" lastClr="000000"/>
                </a:solidFill>
                <a:effectLst/>
                <a:uLnTx/>
                <a:uFillTx/>
                <a:latin typeface="Tw Cen MT"/>
                <a:ea typeface="+mn-ea"/>
                <a:cs typeface="+mn-cs"/>
              </a:rPr>
              <a:t>En este caso, también deben considerar si la arquitectura organizacional existente sigue siendo eficaz. </a:t>
            </a:r>
          </a:p>
          <a:p>
            <a:pPr marL="320040" marR="0" lvl="0" indent="-320040" algn="l" defTabSz="914400" rtl="0" eaLnBrk="1" fontAlgn="auto" latinLnBrk="0" hangingPunct="1">
              <a:lnSpc>
                <a:spcPct val="100000"/>
              </a:lnSpc>
              <a:spcBef>
                <a:spcPts val="700"/>
              </a:spcBef>
              <a:spcAft>
                <a:spcPts val="0"/>
              </a:spcAft>
              <a:buClr>
                <a:srgbClr val="DD8047"/>
              </a:buClr>
              <a:buSzPct val="60000"/>
              <a:buFont typeface="Wingdings"/>
              <a:buChar char=""/>
              <a:tabLst/>
              <a:defRPr/>
            </a:pPr>
            <a:endParaRPr kumimoji="0" lang="es-AR" sz="2900" b="0" i="0" u="none" strike="noStrike" kern="1200" cap="none" spc="0" normalizeH="0" baseline="0" noProof="0" dirty="0">
              <a:ln>
                <a:noFill/>
              </a:ln>
              <a:solidFill>
                <a:sysClr val="windowText" lastClr="000000"/>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D8047"/>
              </a:buClr>
              <a:buSzPct val="60000"/>
              <a:buFont typeface="Wingdings"/>
              <a:buChar char=""/>
              <a:tabLst/>
              <a:defRPr/>
            </a:pPr>
            <a:r>
              <a:rPr kumimoji="0" lang="es-AR" sz="2900" b="0" i="0" u="none" strike="noStrike" kern="1200" cap="none" spc="0" normalizeH="0" baseline="0" noProof="0" dirty="0">
                <a:ln>
                  <a:noFill/>
                </a:ln>
                <a:solidFill>
                  <a:sysClr val="windowText" lastClr="000000"/>
                </a:solidFill>
                <a:effectLst/>
                <a:uLnTx/>
                <a:uFillTx/>
                <a:latin typeface="Tw Cen MT"/>
                <a:ea typeface="+mn-ea"/>
                <a:cs typeface="+mn-cs"/>
              </a:rPr>
              <a:t>Una arquitectura organizacional corporativa eficaz es la base para alcanzar con éxito los objetivos estratégicos y mantener un sólido gobierno corporativo. </a:t>
            </a:r>
          </a:p>
          <a:p>
            <a:pPr marL="320040" marR="0" lvl="0" indent="-320040" algn="l" defTabSz="914400" rtl="0" eaLnBrk="1" fontAlgn="auto" latinLnBrk="0" hangingPunct="1">
              <a:lnSpc>
                <a:spcPct val="100000"/>
              </a:lnSpc>
              <a:spcBef>
                <a:spcPts val="700"/>
              </a:spcBef>
              <a:spcAft>
                <a:spcPts val="0"/>
              </a:spcAft>
              <a:buClr>
                <a:srgbClr val="DD8047"/>
              </a:buClr>
              <a:buSzPct val="60000"/>
              <a:buFont typeface="Wingdings"/>
              <a:buChar char=""/>
              <a:tabLst/>
              <a:defRPr/>
            </a:pPr>
            <a:endParaRPr kumimoji="0" lang="es-AR" sz="2900" b="0" i="0" u="none" strike="noStrike" kern="1200" cap="none" spc="0" normalizeH="0" baseline="0" noProof="0" dirty="0">
              <a:ln>
                <a:noFill/>
              </a:ln>
              <a:solidFill>
                <a:sysClr val="windowText" lastClr="000000"/>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D8047"/>
              </a:buClr>
              <a:buSzPct val="60000"/>
              <a:buFont typeface="Wingdings"/>
              <a:buChar char=""/>
              <a:tabLst/>
              <a:defRPr/>
            </a:pPr>
            <a:r>
              <a:rPr kumimoji="0" lang="es-AR" sz="2900" b="0" i="0" u="none" strike="noStrike" kern="1200" cap="none" spc="0" normalizeH="0" baseline="0" noProof="0" dirty="0">
                <a:ln>
                  <a:noFill/>
                </a:ln>
                <a:solidFill>
                  <a:sysClr val="windowText" lastClr="000000"/>
                </a:solidFill>
                <a:effectLst/>
                <a:uLnTx/>
                <a:uFillTx/>
                <a:latin typeface="Tw Cen MT"/>
                <a:ea typeface="+mn-ea"/>
                <a:cs typeface="+mn-cs"/>
              </a:rPr>
              <a:t>Una debilidad en un elemento de la arquitectura organizacional puede provocar el fracaso del sistema de gobierno corporativo.</a:t>
            </a:r>
          </a:p>
        </p:txBody>
      </p:sp>
    </p:spTree>
    <p:extLst>
      <p:ext uri="{BB962C8B-B14F-4D97-AF65-F5344CB8AC3E}">
        <p14:creationId xmlns:p14="http://schemas.microsoft.com/office/powerpoint/2010/main" val="1119249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AO en Empresas: Estrategia y Diseño</a:t>
            </a:r>
          </a:p>
        </p:txBody>
      </p:sp>
      <p:sp>
        <p:nvSpPr>
          <p:cNvPr id="5" name="TextBox 4"/>
          <p:cNvSpPr txBox="1"/>
          <p:nvPr/>
        </p:nvSpPr>
        <p:spPr>
          <a:xfrm>
            <a:off x="406400" y="1219200"/>
            <a:ext cx="11379200" cy="5129609"/>
          </a:xfrm>
          <a:prstGeom prst="rect">
            <a:avLst/>
          </a:prstGeom>
          <a:noFill/>
        </p:spPr>
        <p:txBody>
          <a:bodyPr wrap="square">
            <a:spAutoFit/>
          </a:bodyPr>
          <a:lstStyle/>
          <a:p>
            <a:pPr algn="l">
              <a:spcBef>
                <a:spcPts val="500"/>
              </a:spcBef>
            </a:pPr>
            <a:r>
              <a:rPr sz="2000" dirty="0">
                <a:solidFill>
                  <a:srgbClr val="8B0000"/>
                </a:solidFill>
                <a:latin typeface="Tw Cen MT"/>
              </a:rPr>
              <a:t>FOCO EN INNOVACIÓN Y DIFERENCIACIÓN</a:t>
            </a:r>
          </a:p>
          <a:p>
            <a:pPr>
              <a:spcBef>
                <a:spcPts val="200"/>
              </a:spcBef>
            </a:pPr>
            <a:r>
              <a:rPr sz="2000" dirty="0">
                <a:solidFill>
                  <a:srgbClr val="222222"/>
                </a:solidFill>
                <a:latin typeface="Tw Cen MT"/>
              </a:rPr>
              <a:t>    ▸  Apple</a:t>
            </a:r>
            <a:r>
              <a:rPr lang="es-419" sz="2000" dirty="0">
                <a:solidFill>
                  <a:srgbClr val="222222"/>
                </a:solidFill>
                <a:latin typeface="Tw Cen MT"/>
              </a:rPr>
              <a:t>: </a:t>
            </a:r>
            <a:r>
              <a:rPr lang="es-ES" sz="2000" dirty="0"/>
              <a:t>estrategia determinada por innovación, calidad y diseño de sus productos - centralización estratégica. </a:t>
            </a:r>
            <a:endParaRPr sz="2000" dirty="0">
              <a:solidFill>
                <a:srgbClr val="222222"/>
              </a:solidFill>
              <a:latin typeface="Tw Cen MT"/>
            </a:endParaRPr>
          </a:p>
          <a:p>
            <a:pPr>
              <a:spcBef>
                <a:spcPts val="200"/>
              </a:spcBef>
            </a:pPr>
            <a:r>
              <a:rPr sz="2000" dirty="0">
                <a:solidFill>
                  <a:srgbClr val="222222"/>
                </a:solidFill>
                <a:latin typeface="Tw Cen MT"/>
              </a:rPr>
              <a:t>    ▸  Google</a:t>
            </a:r>
            <a:r>
              <a:rPr lang="es-419" sz="2000" dirty="0">
                <a:solidFill>
                  <a:srgbClr val="222222"/>
                </a:solidFill>
                <a:latin typeface="Tw Cen MT"/>
              </a:rPr>
              <a:t>: </a:t>
            </a:r>
            <a:r>
              <a:rPr lang="es-ES" sz="2000" dirty="0"/>
              <a:t>innovación constante,  análisis de datos, y entrega de servicios en línea relevantes y efectivos - </a:t>
            </a:r>
            <a:r>
              <a:rPr sz="2000" dirty="0" err="1">
                <a:solidFill>
                  <a:srgbClr val="222222"/>
                </a:solidFill>
                <a:latin typeface="Tw Cen MT"/>
              </a:rPr>
              <a:t>equipos</a:t>
            </a:r>
            <a:r>
              <a:rPr sz="2000" dirty="0">
                <a:solidFill>
                  <a:srgbClr val="222222"/>
                </a:solidFill>
                <a:latin typeface="Tw Cen MT"/>
              </a:rPr>
              <a:t> </a:t>
            </a:r>
            <a:r>
              <a:rPr sz="2000" dirty="0" err="1">
                <a:solidFill>
                  <a:srgbClr val="222222"/>
                </a:solidFill>
                <a:latin typeface="Tw Cen MT"/>
              </a:rPr>
              <a:t>autónomos</a:t>
            </a:r>
            <a:r>
              <a:rPr sz="2000" dirty="0">
                <a:solidFill>
                  <a:srgbClr val="222222"/>
                </a:solidFill>
                <a:latin typeface="Tw Cen MT"/>
              </a:rPr>
              <a:t>.</a:t>
            </a:r>
          </a:p>
          <a:p>
            <a:pPr>
              <a:spcBef>
                <a:spcPts val="200"/>
              </a:spcBef>
            </a:pPr>
            <a:r>
              <a:rPr sz="2000" dirty="0">
                <a:solidFill>
                  <a:srgbClr val="222222"/>
                </a:solidFill>
                <a:latin typeface="Tw Cen MT"/>
              </a:rPr>
              <a:t>    ▸  Tesla: </a:t>
            </a:r>
            <a:r>
              <a:rPr lang="es-ES" sz="2000" dirty="0"/>
              <a:t>producción sostenible e innovación constante- </a:t>
            </a:r>
            <a:r>
              <a:rPr sz="2000" dirty="0" err="1">
                <a:solidFill>
                  <a:srgbClr val="222222"/>
                </a:solidFill>
                <a:latin typeface="Tw Cen MT"/>
              </a:rPr>
              <a:t>alta</a:t>
            </a:r>
            <a:r>
              <a:rPr sz="2000" dirty="0">
                <a:solidFill>
                  <a:srgbClr val="222222"/>
                </a:solidFill>
                <a:latin typeface="Tw Cen MT"/>
              </a:rPr>
              <a:t> </a:t>
            </a:r>
            <a:r>
              <a:rPr sz="2000" dirty="0" err="1">
                <a:solidFill>
                  <a:srgbClr val="222222"/>
                </a:solidFill>
                <a:latin typeface="Tw Cen MT"/>
              </a:rPr>
              <a:t>integración</a:t>
            </a:r>
            <a:r>
              <a:rPr sz="2000" dirty="0">
                <a:solidFill>
                  <a:srgbClr val="222222"/>
                </a:solidFill>
                <a:latin typeface="Tw Cen MT"/>
              </a:rPr>
              <a:t> vertical.</a:t>
            </a:r>
            <a:endParaRPr lang="es-419" sz="2000" dirty="0">
              <a:solidFill>
                <a:srgbClr val="222222"/>
              </a:solidFill>
              <a:latin typeface="Tw Cen MT"/>
            </a:endParaRPr>
          </a:p>
          <a:p>
            <a:pPr>
              <a:spcBef>
                <a:spcPts val="200"/>
              </a:spcBef>
            </a:pPr>
            <a:endParaRPr sz="2000" dirty="0">
              <a:solidFill>
                <a:srgbClr val="222222"/>
              </a:solidFill>
              <a:latin typeface="Tw Cen MT"/>
            </a:endParaRPr>
          </a:p>
          <a:p>
            <a:pPr algn="l">
              <a:spcBef>
                <a:spcPts val="500"/>
              </a:spcBef>
            </a:pPr>
            <a:r>
              <a:rPr sz="2000" dirty="0">
                <a:solidFill>
                  <a:srgbClr val="8B0000"/>
                </a:solidFill>
                <a:latin typeface="Tw Cen MT"/>
              </a:rPr>
              <a:t>FOCO EN EFICIENCIA OPERATIVA</a:t>
            </a:r>
          </a:p>
          <a:p>
            <a:pPr>
              <a:spcBef>
                <a:spcPts val="200"/>
              </a:spcBef>
            </a:pPr>
            <a:r>
              <a:rPr sz="2000" dirty="0">
                <a:solidFill>
                  <a:srgbClr val="222222"/>
                </a:solidFill>
                <a:latin typeface="Tw Cen MT"/>
              </a:rPr>
              <a:t>    ▸  Amazon:</a:t>
            </a:r>
            <a:r>
              <a:rPr lang="es-419" sz="2000" dirty="0">
                <a:solidFill>
                  <a:srgbClr val="222222"/>
                </a:solidFill>
                <a:latin typeface="Tw Cen MT"/>
              </a:rPr>
              <a:t> </a:t>
            </a:r>
            <a:r>
              <a:rPr lang="es-ES" sz="2000" dirty="0"/>
              <a:t>proporcionar una experiencia al cliente excepcional a través de una logística eficiente, una amplia gama de productos y servicios, y un excelente servicio al cliente - </a:t>
            </a:r>
            <a:r>
              <a:rPr sz="2000" dirty="0" err="1">
                <a:solidFill>
                  <a:srgbClr val="222222"/>
                </a:solidFill>
                <a:latin typeface="Tw Cen MT"/>
              </a:rPr>
              <a:t>obsesión</a:t>
            </a:r>
            <a:r>
              <a:rPr sz="2000" dirty="0">
                <a:solidFill>
                  <a:srgbClr val="222222"/>
                </a:solidFill>
                <a:latin typeface="Tw Cen MT"/>
              </a:rPr>
              <a:t> </a:t>
            </a:r>
            <a:r>
              <a:rPr sz="2000" dirty="0" err="1">
                <a:solidFill>
                  <a:srgbClr val="222222"/>
                </a:solidFill>
                <a:latin typeface="Tw Cen MT"/>
              </a:rPr>
              <a:t>por</a:t>
            </a:r>
            <a:r>
              <a:rPr sz="2000" dirty="0">
                <a:solidFill>
                  <a:srgbClr val="222222"/>
                </a:solidFill>
                <a:latin typeface="Tw Cen MT"/>
              </a:rPr>
              <a:t> </a:t>
            </a:r>
            <a:r>
              <a:rPr sz="2000" dirty="0" err="1">
                <a:solidFill>
                  <a:srgbClr val="222222"/>
                </a:solidFill>
                <a:latin typeface="Tw Cen MT"/>
              </a:rPr>
              <a:t>el</a:t>
            </a:r>
            <a:r>
              <a:rPr sz="2000" dirty="0">
                <a:solidFill>
                  <a:srgbClr val="222222"/>
                </a:solidFill>
                <a:latin typeface="Tw Cen MT"/>
              </a:rPr>
              <a:t> </a:t>
            </a:r>
            <a:r>
              <a:rPr sz="2000" dirty="0" err="1">
                <a:solidFill>
                  <a:srgbClr val="222222"/>
                </a:solidFill>
                <a:latin typeface="Tw Cen MT"/>
              </a:rPr>
              <a:t>cliente</a:t>
            </a:r>
            <a:r>
              <a:rPr sz="2000" dirty="0">
                <a:solidFill>
                  <a:srgbClr val="222222"/>
                </a:solidFill>
                <a:latin typeface="Tw Cen MT"/>
              </a:rPr>
              <a:t>.</a:t>
            </a:r>
          </a:p>
          <a:p>
            <a:pPr>
              <a:spcBef>
                <a:spcPts val="200"/>
              </a:spcBef>
            </a:pPr>
            <a:r>
              <a:rPr sz="2000" dirty="0">
                <a:solidFill>
                  <a:srgbClr val="222222"/>
                </a:solidFill>
                <a:latin typeface="Tw Cen MT"/>
              </a:rPr>
              <a:t>    ▸  Walmart: </a:t>
            </a:r>
            <a:r>
              <a:rPr sz="2000" dirty="0" err="1">
                <a:solidFill>
                  <a:srgbClr val="222222"/>
                </a:solidFill>
                <a:latin typeface="Tw Cen MT"/>
              </a:rPr>
              <a:t>eficiencia</a:t>
            </a:r>
            <a:r>
              <a:rPr sz="2000" dirty="0">
                <a:solidFill>
                  <a:srgbClr val="222222"/>
                </a:solidFill>
                <a:latin typeface="Tw Cen MT"/>
              </a:rPr>
              <a:t> </a:t>
            </a:r>
            <a:r>
              <a:rPr sz="2000" dirty="0" err="1">
                <a:solidFill>
                  <a:srgbClr val="222222"/>
                </a:solidFill>
                <a:latin typeface="Tw Cen MT"/>
              </a:rPr>
              <a:t>logística</a:t>
            </a:r>
            <a:r>
              <a:rPr sz="2000" dirty="0">
                <a:solidFill>
                  <a:srgbClr val="222222"/>
                </a:solidFill>
                <a:latin typeface="Tw Cen MT"/>
              </a:rPr>
              <a:t>, </a:t>
            </a:r>
            <a:r>
              <a:rPr sz="2000" dirty="0" err="1">
                <a:solidFill>
                  <a:srgbClr val="222222"/>
                </a:solidFill>
                <a:latin typeface="Tw Cen MT"/>
              </a:rPr>
              <a:t>precios</a:t>
            </a:r>
            <a:r>
              <a:rPr sz="2000" dirty="0">
                <a:solidFill>
                  <a:srgbClr val="222222"/>
                </a:solidFill>
                <a:latin typeface="Tw Cen MT"/>
              </a:rPr>
              <a:t> </a:t>
            </a:r>
            <a:r>
              <a:rPr sz="2000" dirty="0" err="1">
                <a:solidFill>
                  <a:srgbClr val="222222"/>
                </a:solidFill>
                <a:latin typeface="Tw Cen MT"/>
              </a:rPr>
              <a:t>bajos</a:t>
            </a:r>
            <a:r>
              <a:rPr sz="2000" dirty="0">
                <a:solidFill>
                  <a:srgbClr val="222222"/>
                </a:solidFill>
                <a:latin typeface="Tw Cen MT"/>
              </a:rPr>
              <a:t>, </a:t>
            </a:r>
            <a:r>
              <a:rPr lang="es-ES" sz="2000" dirty="0"/>
              <a:t>amplia variedad de productos  - </a:t>
            </a:r>
            <a:r>
              <a:rPr sz="2000" dirty="0" err="1">
                <a:solidFill>
                  <a:srgbClr val="222222"/>
                </a:solidFill>
                <a:latin typeface="Tw Cen MT"/>
              </a:rPr>
              <a:t>alta</a:t>
            </a:r>
            <a:r>
              <a:rPr sz="2000" dirty="0">
                <a:solidFill>
                  <a:srgbClr val="222222"/>
                </a:solidFill>
                <a:latin typeface="Tw Cen MT"/>
              </a:rPr>
              <a:t> </a:t>
            </a:r>
            <a:r>
              <a:rPr sz="2000" dirty="0" err="1">
                <a:solidFill>
                  <a:srgbClr val="222222"/>
                </a:solidFill>
                <a:latin typeface="Tw Cen MT"/>
              </a:rPr>
              <a:t>estandarización</a:t>
            </a:r>
            <a:r>
              <a:rPr sz="2000" dirty="0">
                <a:solidFill>
                  <a:srgbClr val="222222"/>
                </a:solidFill>
                <a:latin typeface="Tw Cen MT"/>
              </a:rPr>
              <a:t>.</a:t>
            </a:r>
          </a:p>
          <a:p>
            <a:pPr>
              <a:spcBef>
                <a:spcPts val="200"/>
              </a:spcBef>
            </a:pPr>
            <a:r>
              <a:rPr sz="2000" dirty="0">
                <a:solidFill>
                  <a:srgbClr val="222222"/>
                </a:solidFill>
                <a:latin typeface="Tw Cen MT"/>
              </a:rPr>
              <a:t>    ▸  Toyota: </a:t>
            </a:r>
            <a:r>
              <a:rPr sz="2000" dirty="0" err="1">
                <a:solidFill>
                  <a:srgbClr val="222222"/>
                </a:solidFill>
                <a:latin typeface="Tw Cen MT"/>
              </a:rPr>
              <a:t>producción</a:t>
            </a:r>
            <a:r>
              <a:rPr sz="2000" dirty="0">
                <a:solidFill>
                  <a:srgbClr val="222222"/>
                </a:solidFill>
                <a:latin typeface="Tw Cen MT"/>
              </a:rPr>
              <a:t> </a:t>
            </a:r>
            <a:r>
              <a:rPr sz="2000" dirty="0" err="1">
                <a:solidFill>
                  <a:srgbClr val="222222"/>
                </a:solidFill>
                <a:latin typeface="Tw Cen MT"/>
              </a:rPr>
              <a:t>eficiente</a:t>
            </a:r>
            <a:r>
              <a:rPr sz="2000" dirty="0">
                <a:solidFill>
                  <a:srgbClr val="222222"/>
                </a:solidFill>
                <a:latin typeface="Tw Cen MT"/>
              </a:rPr>
              <a:t> (just-in-time), </a:t>
            </a:r>
            <a:r>
              <a:rPr sz="2000" dirty="0" err="1">
                <a:solidFill>
                  <a:srgbClr val="222222"/>
                </a:solidFill>
                <a:latin typeface="Tw Cen MT"/>
              </a:rPr>
              <a:t>calidad</a:t>
            </a:r>
            <a:r>
              <a:rPr sz="2000" dirty="0">
                <a:solidFill>
                  <a:srgbClr val="222222"/>
                </a:solidFill>
                <a:latin typeface="Tw Cen MT"/>
              </a:rPr>
              <a:t> y </a:t>
            </a:r>
            <a:r>
              <a:rPr sz="2000" dirty="0" err="1">
                <a:solidFill>
                  <a:srgbClr val="222222"/>
                </a:solidFill>
                <a:latin typeface="Tw Cen MT"/>
              </a:rPr>
              <a:t>mejora</a:t>
            </a:r>
            <a:r>
              <a:rPr sz="2000" dirty="0">
                <a:solidFill>
                  <a:srgbClr val="222222"/>
                </a:solidFill>
                <a:latin typeface="Tw Cen MT"/>
              </a:rPr>
              <a:t> continua.</a:t>
            </a:r>
            <a:r>
              <a:rPr lang="es-419" sz="2000" dirty="0">
                <a:solidFill>
                  <a:srgbClr val="222222"/>
                </a:solidFill>
                <a:latin typeface="Tw Cen MT"/>
              </a:rPr>
              <a:t> </a:t>
            </a:r>
          </a:p>
          <a:p>
            <a:pPr>
              <a:spcBef>
                <a:spcPts val="200"/>
              </a:spcBef>
            </a:pPr>
            <a:r>
              <a:rPr sz="2000" dirty="0">
                <a:solidFill>
                  <a:srgbClr val="222222"/>
                </a:solidFill>
                <a:latin typeface="Tw Cen MT"/>
              </a:rPr>
              <a:t>▸  McDonald's: </a:t>
            </a:r>
            <a:r>
              <a:rPr sz="2000" dirty="0" err="1">
                <a:solidFill>
                  <a:srgbClr val="222222"/>
                </a:solidFill>
                <a:latin typeface="Tw Cen MT"/>
              </a:rPr>
              <a:t>eficiencia</a:t>
            </a:r>
            <a:r>
              <a:rPr sz="2000" dirty="0">
                <a:solidFill>
                  <a:srgbClr val="222222"/>
                </a:solidFill>
                <a:latin typeface="Tw Cen MT"/>
              </a:rPr>
              <a:t> </a:t>
            </a:r>
            <a:r>
              <a:rPr sz="2000" dirty="0" err="1">
                <a:solidFill>
                  <a:srgbClr val="222222"/>
                </a:solidFill>
                <a:latin typeface="Tw Cen MT"/>
              </a:rPr>
              <a:t>operativa</a:t>
            </a:r>
            <a:r>
              <a:rPr sz="2000" dirty="0">
                <a:solidFill>
                  <a:srgbClr val="222222"/>
                </a:solidFill>
                <a:latin typeface="Tw Cen MT"/>
              </a:rPr>
              <a:t>, </a:t>
            </a:r>
            <a:r>
              <a:rPr sz="2000" dirty="0" err="1">
                <a:solidFill>
                  <a:srgbClr val="222222"/>
                </a:solidFill>
                <a:latin typeface="Tw Cen MT"/>
              </a:rPr>
              <a:t>consistencia</a:t>
            </a:r>
            <a:r>
              <a:rPr sz="2000" dirty="0">
                <a:solidFill>
                  <a:srgbClr val="222222"/>
                </a:solidFill>
                <a:latin typeface="Tw Cen MT"/>
              </a:rPr>
              <a:t> y </a:t>
            </a:r>
            <a:r>
              <a:rPr sz="2000" dirty="0" err="1">
                <a:solidFill>
                  <a:srgbClr val="222222"/>
                </a:solidFill>
                <a:latin typeface="Tw Cen MT"/>
              </a:rPr>
              <a:t>experiencia</a:t>
            </a:r>
            <a:r>
              <a:rPr sz="2000" dirty="0">
                <a:solidFill>
                  <a:srgbClr val="222222"/>
                </a:solidFill>
                <a:latin typeface="Tw Cen MT"/>
              </a:rPr>
              <a:t> del </a:t>
            </a:r>
            <a:r>
              <a:rPr sz="2000" dirty="0" err="1">
                <a:solidFill>
                  <a:srgbClr val="222222"/>
                </a:solidFill>
                <a:latin typeface="Tw Cen MT"/>
              </a:rPr>
              <a:t>cliente</a:t>
            </a:r>
            <a:r>
              <a:rPr sz="2000" dirty="0">
                <a:solidFill>
                  <a:srgbClr val="222222"/>
                </a:solidFill>
                <a:latin typeface="Tw Cen MT"/>
              </a:rPr>
              <a:t>.</a:t>
            </a:r>
            <a:endParaRPr lang="es-419" sz="2000" dirty="0">
              <a:solidFill>
                <a:srgbClr val="222222"/>
              </a:solidFill>
              <a:latin typeface="Tw Cen MT"/>
            </a:endParaRPr>
          </a:p>
          <a:p>
            <a:pPr>
              <a:spcBef>
                <a:spcPts val="200"/>
              </a:spcBef>
            </a:pPr>
            <a:endParaRPr sz="2000" dirty="0">
              <a:solidFill>
                <a:srgbClr val="222222"/>
              </a:solidFill>
              <a:latin typeface="Tw Cen MT"/>
            </a:endParaRPr>
          </a:p>
          <a:p>
            <a:pPr algn="ctr">
              <a:spcBef>
                <a:spcPts val="500"/>
              </a:spcBef>
            </a:pPr>
            <a:r>
              <a:rPr sz="2400" b="1" dirty="0">
                <a:solidFill>
                  <a:srgbClr val="8B0000"/>
                </a:solidFill>
                <a:latin typeface="Tw Cen MT"/>
              </a:rPr>
              <a:t>CLAVE: </a:t>
            </a:r>
            <a:r>
              <a:rPr sz="2400" b="1" dirty="0" err="1">
                <a:solidFill>
                  <a:srgbClr val="8B0000"/>
                </a:solidFill>
                <a:latin typeface="Tw Cen MT"/>
              </a:rPr>
              <a:t>cada</a:t>
            </a:r>
            <a:r>
              <a:rPr sz="2400" b="1" dirty="0">
                <a:solidFill>
                  <a:srgbClr val="8B0000"/>
                </a:solidFill>
                <a:latin typeface="Tw Cen MT"/>
              </a:rPr>
              <a:t> </a:t>
            </a:r>
            <a:r>
              <a:rPr sz="2400" b="1" dirty="0" err="1">
                <a:solidFill>
                  <a:srgbClr val="8B0000"/>
                </a:solidFill>
                <a:latin typeface="Tw Cen MT"/>
              </a:rPr>
              <a:t>empresa</a:t>
            </a:r>
            <a:r>
              <a:rPr sz="2400" b="1" dirty="0">
                <a:solidFill>
                  <a:srgbClr val="8B0000"/>
                </a:solidFill>
                <a:latin typeface="Tw Cen MT"/>
              </a:rPr>
              <a:t> </a:t>
            </a:r>
            <a:r>
              <a:rPr sz="2400" b="1" dirty="0" err="1">
                <a:solidFill>
                  <a:srgbClr val="8B0000"/>
                </a:solidFill>
                <a:latin typeface="Tw Cen MT"/>
              </a:rPr>
              <a:t>diseña</a:t>
            </a:r>
            <a:r>
              <a:rPr sz="2400" b="1" dirty="0">
                <a:solidFill>
                  <a:srgbClr val="8B0000"/>
                </a:solidFill>
                <a:latin typeface="Tw Cen MT"/>
              </a:rPr>
              <a:t> </a:t>
            </a:r>
            <a:r>
              <a:rPr sz="2400" b="1" dirty="0" err="1">
                <a:solidFill>
                  <a:srgbClr val="8B0000"/>
                </a:solidFill>
                <a:latin typeface="Tw Cen MT"/>
              </a:rPr>
              <a:t>su</a:t>
            </a:r>
            <a:r>
              <a:rPr sz="2400" b="1" dirty="0">
                <a:solidFill>
                  <a:srgbClr val="8B0000"/>
                </a:solidFill>
                <a:latin typeface="Tw Cen MT"/>
              </a:rPr>
              <a:t> AO </a:t>
            </a:r>
            <a:r>
              <a:rPr sz="2400" b="1" dirty="0" err="1">
                <a:solidFill>
                  <a:srgbClr val="8B0000"/>
                </a:solidFill>
                <a:latin typeface="Tw Cen MT"/>
              </a:rPr>
              <a:t>en</a:t>
            </a:r>
            <a:r>
              <a:rPr sz="2400" b="1" dirty="0">
                <a:solidFill>
                  <a:srgbClr val="8B0000"/>
                </a:solidFill>
                <a:latin typeface="Tw Cen MT"/>
              </a:rPr>
              <a:t> </a:t>
            </a:r>
            <a:r>
              <a:rPr sz="2400" b="1" dirty="0" err="1">
                <a:solidFill>
                  <a:srgbClr val="8B0000"/>
                </a:solidFill>
                <a:latin typeface="Tw Cen MT"/>
              </a:rPr>
              <a:t>función</a:t>
            </a:r>
            <a:r>
              <a:rPr sz="2400" b="1" dirty="0">
                <a:solidFill>
                  <a:srgbClr val="8B0000"/>
                </a:solidFill>
                <a:latin typeface="Tw Cen MT"/>
              </a:rPr>
              <a:t> de </a:t>
            </a:r>
            <a:r>
              <a:rPr sz="2400" b="1" dirty="0" err="1">
                <a:solidFill>
                  <a:srgbClr val="8B0000"/>
                </a:solidFill>
                <a:latin typeface="Tw Cen MT"/>
              </a:rPr>
              <a:t>su</a:t>
            </a:r>
            <a:r>
              <a:rPr sz="2400" b="1" dirty="0">
                <a:solidFill>
                  <a:srgbClr val="8B0000"/>
                </a:solidFill>
                <a:latin typeface="Tw Cen MT"/>
              </a:rPr>
              <a:t> </a:t>
            </a:r>
            <a:r>
              <a:rPr sz="2400" b="1" dirty="0" err="1">
                <a:solidFill>
                  <a:srgbClr val="8B0000"/>
                </a:solidFill>
                <a:latin typeface="Tw Cen MT"/>
              </a:rPr>
              <a:t>estrategia</a:t>
            </a:r>
            <a:r>
              <a:rPr sz="2400" b="1" dirty="0">
                <a:solidFill>
                  <a:srgbClr val="8B0000"/>
                </a:solidFill>
                <a:latin typeface="Tw Cen MT"/>
              </a:rPr>
              <a:t> </a:t>
            </a:r>
            <a:r>
              <a:rPr sz="2400" b="1" dirty="0" err="1">
                <a:solidFill>
                  <a:srgbClr val="8B0000"/>
                </a:solidFill>
                <a:latin typeface="Tw Cen MT"/>
              </a:rPr>
              <a:t>competitiva</a:t>
            </a:r>
            <a:r>
              <a:rPr sz="2400" b="1" dirty="0">
                <a:solidFill>
                  <a:srgbClr val="8B0000"/>
                </a:solidFill>
                <a:latin typeface="Tw Cen MT"/>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AO e Incentivos</a:t>
            </a:r>
          </a:p>
        </p:txBody>
      </p:sp>
      <p:sp>
        <p:nvSpPr>
          <p:cNvPr id="5" name="TextBox 4"/>
          <p:cNvSpPr txBox="1"/>
          <p:nvPr/>
        </p:nvSpPr>
        <p:spPr>
          <a:xfrm>
            <a:off x="406400" y="1835650"/>
            <a:ext cx="11379200" cy="4911601"/>
          </a:xfrm>
          <a:prstGeom prst="rect">
            <a:avLst/>
          </a:prstGeom>
          <a:noFill/>
        </p:spPr>
        <p:txBody>
          <a:bodyPr wrap="square">
            <a:spAutoFit/>
          </a:bodyPr>
          <a:lstStyle/>
          <a:p>
            <a:pPr algn="l">
              <a:spcBef>
                <a:spcPts val="500"/>
              </a:spcBef>
            </a:pPr>
            <a:r>
              <a:rPr sz="2400" i="0" dirty="0">
                <a:solidFill>
                  <a:srgbClr val="222222"/>
                </a:solidFill>
                <a:latin typeface="Tw Cen MT"/>
              </a:rPr>
              <a:t>Las personas </a:t>
            </a:r>
            <a:r>
              <a:rPr sz="2400" i="0" dirty="0" err="1">
                <a:solidFill>
                  <a:srgbClr val="222222"/>
                </a:solidFill>
                <a:latin typeface="Tw Cen MT"/>
              </a:rPr>
              <a:t>responden</a:t>
            </a:r>
            <a:r>
              <a:rPr sz="2400" i="0" dirty="0">
                <a:solidFill>
                  <a:srgbClr val="222222"/>
                </a:solidFill>
                <a:latin typeface="Tw Cen MT"/>
              </a:rPr>
              <a:t> a </a:t>
            </a:r>
            <a:r>
              <a:rPr sz="2400" i="0" dirty="0" err="1">
                <a:solidFill>
                  <a:srgbClr val="222222"/>
                </a:solidFill>
                <a:latin typeface="Tw Cen MT"/>
              </a:rPr>
              <a:t>los</a:t>
            </a:r>
            <a:r>
              <a:rPr sz="2400" i="0" dirty="0">
                <a:solidFill>
                  <a:srgbClr val="222222"/>
                </a:solidFill>
                <a:latin typeface="Tw Cen MT"/>
              </a:rPr>
              <a:t> </a:t>
            </a:r>
            <a:r>
              <a:rPr sz="2400" i="0" dirty="0" err="1">
                <a:solidFill>
                  <a:srgbClr val="222222"/>
                </a:solidFill>
                <a:latin typeface="Tw Cen MT"/>
              </a:rPr>
              <a:t>incentivos</a:t>
            </a:r>
            <a:r>
              <a:rPr sz="2400" i="0" dirty="0">
                <a:solidFill>
                  <a:srgbClr val="222222"/>
                </a:solidFill>
                <a:latin typeface="Tw Cen MT"/>
              </a:rPr>
              <a:t> de forma </a:t>
            </a:r>
            <a:r>
              <a:rPr sz="2400" i="0" dirty="0" err="1">
                <a:solidFill>
                  <a:srgbClr val="222222"/>
                </a:solidFill>
                <a:latin typeface="Tw Cen MT"/>
              </a:rPr>
              <a:t>sistemática</a:t>
            </a:r>
            <a:r>
              <a:rPr sz="2400" i="0" dirty="0">
                <a:solidFill>
                  <a:srgbClr val="222222"/>
                </a:solidFill>
                <a:latin typeface="Tw Cen MT"/>
              </a:rPr>
              <a:t> y </a:t>
            </a:r>
            <a:r>
              <a:rPr sz="2400" i="0" dirty="0" err="1">
                <a:solidFill>
                  <a:srgbClr val="222222"/>
                </a:solidFill>
                <a:latin typeface="Tw Cen MT"/>
              </a:rPr>
              <a:t>creativa</a:t>
            </a:r>
            <a:r>
              <a:rPr sz="2400" i="0" dirty="0">
                <a:solidFill>
                  <a:srgbClr val="222222"/>
                </a:solidFill>
                <a:latin typeface="Tw Cen MT"/>
              </a:rPr>
              <a:t>.</a:t>
            </a:r>
          </a:p>
          <a:p>
            <a:pPr algn="l">
              <a:spcBef>
                <a:spcPts val="500"/>
              </a:spcBef>
            </a:pPr>
            <a:r>
              <a:rPr sz="2400" b="0" i="0" dirty="0" err="1">
                <a:solidFill>
                  <a:srgbClr val="222222"/>
                </a:solidFill>
                <a:latin typeface="Tw Cen MT"/>
              </a:rPr>
              <a:t>Dentro</a:t>
            </a:r>
            <a:r>
              <a:rPr sz="2400" b="0" i="0" dirty="0">
                <a:solidFill>
                  <a:srgbClr val="222222"/>
                </a:solidFill>
                <a:latin typeface="Tw Cen MT"/>
              </a:rPr>
              <a:t> de las </a:t>
            </a:r>
            <a:r>
              <a:rPr sz="2400" b="0" i="0" dirty="0" err="1">
                <a:solidFill>
                  <a:srgbClr val="222222"/>
                </a:solidFill>
                <a:latin typeface="Tw Cen MT"/>
              </a:rPr>
              <a:t>organizaciones</a:t>
            </a:r>
            <a:r>
              <a:rPr sz="2400" b="0" i="0" dirty="0">
                <a:solidFill>
                  <a:srgbClr val="222222"/>
                </a:solidFill>
                <a:latin typeface="Tw Cen MT"/>
              </a:rPr>
              <a:t>, </a:t>
            </a:r>
            <a:r>
              <a:rPr sz="2400" b="0" i="0" dirty="0" err="1">
                <a:solidFill>
                  <a:srgbClr val="222222"/>
                </a:solidFill>
                <a:latin typeface="Tw Cen MT"/>
              </a:rPr>
              <a:t>los</a:t>
            </a:r>
            <a:r>
              <a:rPr sz="2400" b="0" i="0" dirty="0">
                <a:solidFill>
                  <a:srgbClr val="222222"/>
                </a:solidFill>
                <a:latin typeface="Tw Cen MT"/>
              </a:rPr>
              <a:t> </a:t>
            </a:r>
            <a:r>
              <a:rPr sz="2400" b="0" i="0" dirty="0" err="1">
                <a:solidFill>
                  <a:srgbClr val="222222"/>
                </a:solidFill>
                <a:latin typeface="Tw Cen MT"/>
              </a:rPr>
              <a:t>incentivos</a:t>
            </a:r>
            <a:r>
              <a:rPr sz="2400" b="0" i="0" dirty="0">
                <a:solidFill>
                  <a:srgbClr val="222222"/>
                </a:solidFill>
                <a:latin typeface="Tw Cen MT"/>
              </a:rPr>
              <a:t> se </a:t>
            </a:r>
            <a:r>
              <a:rPr sz="2400" b="0" i="0" dirty="0" err="1">
                <a:solidFill>
                  <a:srgbClr val="222222"/>
                </a:solidFill>
                <a:latin typeface="Tw Cen MT"/>
              </a:rPr>
              <a:t>establecen</a:t>
            </a:r>
            <a:r>
              <a:rPr sz="2400" b="0" i="0" dirty="0">
                <a:solidFill>
                  <a:srgbClr val="222222"/>
                </a:solidFill>
                <a:latin typeface="Tw Cen MT"/>
              </a:rPr>
              <a:t> a </a:t>
            </a:r>
            <a:r>
              <a:rPr sz="2400" b="0" i="0" dirty="0" err="1">
                <a:solidFill>
                  <a:srgbClr val="222222"/>
                </a:solidFill>
                <a:latin typeface="Tw Cen MT"/>
              </a:rPr>
              <a:t>través</a:t>
            </a:r>
            <a:r>
              <a:rPr sz="2400" b="0" i="0" dirty="0">
                <a:solidFill>
                  <a:srgbClr val="222222"/>
                </a:solidFill>
                <a:latin typeface="Tw Cen MT"/>
              </a:rPr>
              <a:t> de la </a:t>
            </a:r>
            <a:r>
              <a:rPr sz="2400" b="0" i="0" dirty="0" err="1">
                <a:solidFill>
                  <a:srgbClr val="222222"/>
                </a:solidFill>
                <a:latin typeface="Tw Cen MT"/>
              </a:rPr>
              <a:t>estructura</a:t>
            </a:r>
            <a:r>
              <a:rPr sz="2400" b="0" i="0" dirty="0">
                <a:solidFill>
                  <a:srgbClr val="222222"/>
                </a:solidFill>
                <a:latin typeface="Tw Cen MT"/>
              </a:rPr>
              <a:t> de la </a:t>
            </a:r>
            <a:r>
              <a:rPr sz="2400" b="0" i="0" dirty="0" err="1">
                <a:solidFill>
                  <a:srgbClr val="222222"/>
                </a:solidFill>
                <a:latin typeface="Tw Cen MT"/>
              </a:rPr>
              <a:t>Arquitectura</a:t>
            </a:r>
            <a:r>
              <a:rPr sz="2400" b="0" i="0" dirty="0">
                <a:solidFill>
                  <a:srgbClr val="222222"/>
                </a:solidFill>
                <a:latin typeface="Tw Cen MT"/>
              </a:rPr>
              <a:t> </a:t>
            </a:r>
            <a:r>
              <a:rPr sz="2400" b="0" i="0" dirty="0" err="1">
                <a:solidFill>
                  <a:srgbClr val="222222"/>
                </a:solidFill>
                <a:latin typeface="Tw Cen MT"/>
              </a:rPr>
              <a:t>Organizacional</a:t>
            </a:r>
            <a:r>
              <a:rPr sz="2400" b="0" i="0" dirty="0">
                <a:solidFill>
                  <a:srgbClr val="222222"/>
                </a:solidFill>
                <a:latin typeface="Tw Cen MT"/>
              </a:rPr>
              <a:t>.</a:t>
            </a:r>
            <a:endParaRPr lang="es-419" sz="2400" b="0" i="0" dirty="0">
              <a:solidFill>
                <a:srgbClr val="222222"/>
              </a:solidFill>
              <a:latin typeface="Tw Cen MT"/>
            </a:endParaRPr>
          </a:p>
          <a:p>
            <a:pPr algn="l">
              <a:spcBef>
                <a:spcPts val="500"/>
              </a:spcBef>
            </a:pPr>
            <a:endParaRPr sz="2400" b="0" i="0" dirty="0">
              <a:solidFill>
                <a:srgbClr val="222222"/>
              </a:solidFill>
              <a:latin typeface="Tw Cen MT"/>
            </a:endParaRPr>
          </a:p>
          <a:p>
            <a:pPr algn="l">
              <a:spcBef>
                <a:spcPts val="500"/>
              </a:spcBef>
            </a:pPr>
            <a:r>
              <a:rPr sz="2400" b="1" i="0" dirty="0">
                <a:solidFill>
                  <a:srgbClr val="8B0000"/>
                </a:solidFill>
                <a:latin typeface="Tw Cen MT"/>
              </a:rPr>
              <a:t>ESTO SIGNIFICA</a:t>
            </a:r>
            <a:endParaRPr lang="es-419" sz="2400" b="1" i="0" dirty="0">
              <a:solidFill>
                <a:srgbClr val="8B0000"/>
              </a:solidFill>
              <a:latin typeface="Tw Cen MT"/>
            </a:endParaRPr>
          </a:p>
          <a:p>
            <a:pPr algn="l">
              <a:spcBef>
                <a:spcPts val="500"/>
              </a:spcBef>
            </a:pPr>
            <a:endParaRPr sz="2400" b="1" i="0" dirty="0">
              <a:solidFill>
                <a:srgbClr val="8B0000"/>
              </a:solidFill>
              <a:latin typeface="Tw Cen MT"/>
            </a:endParaRPr>
          </a:p>
          <a:p>
            <a:pPr marL="457200" indent="-457200" algn="ctr">
              <a:spcBef>
                <a:spcPts val="500"/>
              </a:spcBef>
              <a:buFont typeface="Arial" panose="020B0604020202020204" pitchFamily="34" charset="0"/>
              <a:buChar char="•"/>
            </a:pPr>
            <a:r>
              <a:rPr sz="2800" b="1" i="0" dirty="0">
                <a:solidFill>
                  <a:srgbClr val="222222"/>
                </a:solidFill>
                <a:latin typeface="Tw Cen MT"/>
              </a:rPr>
              <a:t>El </a:t>
            </a:r>
            <a:r>
              <a:rPr sz="2800" b="1" i="0" dirty="0" err="1">
                <a:solidFill>
                  <a:srgbClr val="222222"/>
                </a:solidFill>
                <a:latin typeface="Tw Cen MT"/>
              </a:rPr>
              <a:t>diseño</a:t>
            </a:r>
            <a:r>
              <a:rPr sz="2800" b="1" i="0" dirty="0">
                <a:solidFill>
                  <a:srgbClr val="222222"/>
                </a:solidFill>
                <a:latin typeface="Tw Cen MT"/>
              </a:rPr>
              <a:t> de la AO no es neutral: genera </a:t>
            </a:r>
            <a:r>
              <a:rPr sz="2800" b="1" i="0" dirty="0" err="1">
                <a:solidFill>
                  <a:srgbClr val="222222"/>
                </a:solidFill>
                <a:latin typeface="Tw Cen MT"/>
              </a:rPr>
              <a:t>incentivos</a:t>
            </a:r>
            <a:r>
              <a:rPr lang="es-419" sz="2800" b="1" i="0" dirty="0">
                <a:solidFill>
                  <a:srgbClr val="222222"/>
                </a:solidFill>
                <a:latin typeface="Tw Cen MT"/>
              </a:rPr>
              <a:t>.</a:t>
            </a:r>
            <a:endParaRPr sz="2800" b="1" i="0" dirty="0">
              <a:solidFill>
                <a:srgbClr val="222222"/>
              </a:solidFill>
              <a:latin typeface="Tw Cen MT"/>
            </a:endParaRPr>
          </a:p>
          <a:p>
            <a:pPr marL="457200" indent="-457200" algn="ctr">
              <a:spcBef>
                <a:spcPts val="500"/>
              </a:spcBef>
              <a:buFont typeface="Arial" panose="020B0604020202020204" pitchFamily="34" charset="0"/>
              <a:buChar char="•"/>
            </a:pPr>
            <a:r>
              <a:rPr sz="2800" b="1" i="0" dirty="0">
                <a:solidFill>
                  <a:srgbClr val="222222"/>
                </a:solidFill>
                <a:latin typeface="Tw Cen MT"/>
              </a:rPr>
              <a:t>Una AO mal </a:t>
            </a:r>
            <a:r>
              <a:rPr sz="2800" b="1" i="0" dirty="0" err="1">
                <a:solidFill>
                  <a:srgbClr val="222222"/>
                </a:solidFill>
                <a:latin typeface="Tw Cen MT"/>
              </a:rPr>
              <a:t>diseñada</a:t>
            </a:r>
            <a:r>
              <a:rPr sz="2800" b="1" i="0" dirty="0">
                <a:solidFill>
                  <a:srgbClr val="222222"/>
                </a:solidFill>
                <a:latin typeface="Tw Cen MT"/>
              </a:rPr>
              <a:t> </a:t>
            </a:r>
            <a:r>
              <a:rPr lang="es-419" sz="2800" b="1" i="0" dirty="0">
                <a:solidFill>
                  <a:srgbClr val="222222"/>
                </a:solidFill>
                <a:latin typeface="Tw Cen MT"/>
              </a:rPr>
              <a:t>puede </a:t>
            </a:r>
            <a:r>
              <a:rPr sz="2800" b="1" i="0" dirty="0">
                <a:solidFill>
                  <a:srgbClr val="222222"/>
                </a:solidFill>
                <a:latin typeface="Tw Cen MT"/>
              </a:rPr>
              <a:t>genera</a:t>
            </a:r>
            <a:r>
              <a:rPr lang="es-419" sz="2800" b="1" i="0" dirty="0">
                <a:solidFill>
                  <a:srgbClr val="222222"/>
                </a:solidFill>
                <a:latin typeface="Tw Cen MT"/>
              </a:rPr>
              <a:t>r</a:t>
            </a:r>
            <a:r>
              <a:rPr sz="2800" b="1" i="0" dirty="0">
                <a:solidFill>
                  <a:srgbClr val="222222"/>
                </a:solidFill>
                <a:latin typeface="Tw Cen MT"/>
              </a:rPr>
              <a:t> </a:t>
            </a:r>
            <a:r>
              <a:rPr sz="2800" b="1" i="0" dirty="0" err="1">
                <a:solidFill>
                  <a:srgbClr val="222222"/>
                </a:solidFill>
                <a:latin typeface="Tw Cen MT"/>
              </a:rPr>
              <a:t>sistemáticamente</a:t>
            </a:r>
            <a:r>
              <a:rPr sz="2800" b="1" i="0" dirty="0">
                <a:solidFill>
                  <a:srgbClr val="222222"/>
                </a:solidFill>
                <a:latin typeface="Tw Cen MT"/>
              </a:rPr>
              <a:t> </a:t>
            </a:r>
            <a:r>
              <a:rPr sz="2800" b="1" i="0" dirty="0" err="1">
                <a:solidFill>
                  <a:srgbClr val="222222"/>
                </a:solidFill>
                <a:latin typeface="Tw Cen MT"/>
              </a:rPr>
              <a:t>comportamientos</a:t>
            </a:r>
            <a:r>
              <a:rPr sz="2800" b="1" i="0" dirty="0">
                <a:solidFill>
                  <a:srgbClr val="222222"/>
                </a:solidFill>
                <a:latin typeface="Tw Cen MT"/>
              </a:rPr>
              <a:t> </a:t>
            </a:r>
            <a:r>
              <a:rPr sz="2800" b="1" i="0" dirty="0" err="1">
                <a:solidFill>
                  <a:srgbClr val="222222"/>
                </a:solidFill>
                <a:latin typeface="Tw Cen MT"/>
              </a:rPr>
              <a:t>que</a:t>
            </a:r>
            <a:r>
              <a:rPr sz="2800" b="1" i="0" dirty="0">
                <a:solidFill>
                  <a:srgbClr val="222222"/>
                </a:solidFill>
                <a:latin typeface="Tw Cen MT"/>
              </a:rPr>
              <a:t> </a:t>
            </a:r>
            <a:r>
              <a:rPr sz="2800" b="1" i="0" dirty="0" err="1">
                <a:solidFill>
                  <a:srgbClr val="222222"/>
                </a:solidFill>
                <a:latin typeface="Tw Cen MT"/>
              </a:rPr>
              <a:t>destruyen</a:t>
            </a:r>
            <a:r>
              <a:rPr sz="2800" b="1" i="0" dirty="0">
                <a:solidFill>
                  <a:srgbClr val="222222"/>
                </a:solidFill>
                <a:latin typeface="Tw Cen MT"/>
              </a:rPr>
              <a:t> valor.</a:t>
            </a:r>
          </a:p>
          <a:p>
            <a:pPr marL="457200" indent="-457200" algn="ctr">
              <a:spcBef>
                <a:spcPts val="500"/>
              </a:spcBef>
              <a:buFont typeface="Arial" panose="020B0604020202020204" pitchFamily="34" charset="0"/>
              <a:buChar char="•"/>
            </a:pPr>
            <a:r>
              <a:rPr sz="2800" b="1" i="0" dirty="0">
                <a:solidFill>
                  <a:srgbClr val="222222"/>
                </a:solidFill>
                <a:latin typeface="Tw Cen MT"/>
              </a:rPr>
              <a:t>Una AO bien </a:t>
            </a:r>
            <a:r>
              <a:rPr sz="2800" b="1" i="0" dirty="0" err="1">
                <a:solidFill>
                  <a:srgbClr val="222222"/>
                </a:solidFill>
                <a:latin typeface="Tw Cen MT"/>
              </a:rPr>
              <a:t>diseñada</a:t>
            </a:r>
            <a:r>
              <a:rPr sz="2800" b="1" i="0" dirty="0">
                <a:solidFill>
                  <a:srgbClr val="222222"/>
                </a:solidFill>
                <a:latin typeface="Tw Cen MT"/>
              </a:rPr>
              <a:t> </a:t>
            </a:r>
            <a:r>
              <a:rPr sz="2800" b="1" i="0" dirty="0" err="1">
                <a:solidFill>
                  <a:srgbClr val="222222"/>
                </a:solidFill>
                <a:latin typeface="Tw Cen MT"/>
              </a:rPr>
              <a:t>alinea</a:t>
            </a:r>
            <a:r>
              <a:rPr sz="2800" b="1" i="0" dirty="0">
                <a:solidFill>
                  <a:srgbClr val="222222"/>
                </a:solidFill>
                <a:latin typeface="Tw Cen MT"/>
              </a:rPr>
              <a:t> </a:t>
            </a:r>
            <a:r>
              <a:rPr sz="2800" b="1" i="0" dirty="0" err="1">
                <a:solidFill>
                  <a:srgbClr val="222222"/>
                </a:solidFill>
                <a:latin typeface="Tw Cen MT"/>
              </a:rPr>
              <a:t>el</a:t>
            </a:r>
            <a:r>
              <a:rPr sz="2800" b="1" i="0" dirty="0">
                <a:solidFill>
                  <a:srgbClr val="222222"/>
                </a:solidFill>
                <a:latin typeface="Tw Cen MT"/>
              </a:rPr>
              <a:t> </a:t>
            </a:r>
            <a:r>
              <a:rPr sz="2800" b="1" i="0" dirty="0" err="1">
                <a:solidFill>
                  <a:srgbClr val="222222"/>
                </a:solidFill>
                <a:latin typeface="Tw Cen MT"/>
              </a:rPr>
              <a:t>interés</a:t>
            </a:r>
            <a:r>
              <a:rPr sz="2800" b="1" i="0" dirty="0">
                <a:solidFill>
                  <a:srgbClr val="222222"/>
                </a:solidFill>
                <a:latin typeface="Tw Cen MT"/>
              </a:rPr>
              <a:t> individual con </a:t>
            </a:r>
            <a:r>
              <a:rPr sz="2800" b="1" i="0" dirty="0" err="1">
                <a:solidFill>
                  <a:srgbClr val="222222"/>
                </a:solidFill>
                <a:latin typeface="Tw Cen MT"/>
              </a:rPr>
              <a:t>el</a:t>
            </a:r>
            <a:r>
              <a:rPr sz="2800" b="1" i="0" dirty="0">
                <a:solidFill>
                  <a:srgbClr val="222222"/>
                </a:solidFill>
                <a:latin typeface="Tw Cen MT"/>
              </a:rPr>
              <a:t> </a:t>
            </a:r>
            <a:r>
              <a:rPr sz="2800" b="1" i="0" dirty="0" err="1">
                <a:solidFill>
                  <a:srgbClr val="222222"/>
                </a:solidFill>
                <a:latin typeface="Tw Cen MT"/>
              </a:rPr>
              <a:t>interés</a:t>
            </a:r>
            <a:r>
              <a:rPr sz="2800" b="1" i="0" dirty="0">
                <a:solidFill>
                  <a:srgbClr val="222222"/>
                </a:solidFill>
                <a:latin typeface="Tw Cen MT"/>
              </a:rPr>
              <a:t> de la </a:t>
            </a:r>
            <a:r>
              <a:rPr sz="2800" b="1" i="0" dirty="0" err="1">
                <a:solidFill>
                  <a:srgbClr val="222222"/>
                </a:solidFill>
                <a:latin typeface="Tw Cen MT"/>
              </a:rPr>
              <a:t>organización</a:t>
            </a:r>
            <a:r>
              <a:rPr sz="2800" b="1" i="0" dirty="0">
                <a:solidFill>
                  <a:srgbClr val="222222"/>
                </a:solidFill>
                <a:latin typeface="Tw Cen MT"/>
              </a:rPr>
              <a:t>.</a:t>
            </a:r>
            <a:r>
              <a:rPr lang="es-419" sz="2800" b="1" i="0" dirty="0">
                <a:solidFill>
                  <a:srgbClr val="222222"/>
                </a:solidFill>
                <a:latin typeface="Tw Cen MT"/>
              </a:rPr>
              <a:t> Minimiza los conflictos de interés.</a:t>
            </a:r>
            <a:endParaRPr sz="2800" b="1" i="0" dirty="0">
              <a:solidFill>
                <a:srgbClr val="222222"/>
              </a:solidFill>
              <a:latin typeface="Tw Cen M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668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66800"/>
            <a:ext cx="12192000" cy="7620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Modificación de la Arquitectura Organizacional</a:t>
            </a:r>
          </a:p>
        </p:txBody>
      </p:sp>
      <p:sp>
        <p:nvSpPr>
          <p:cNvPr id="5" name="TextBox 4"/>
          <p:cNvSpPr txBox="1"/>
          <p:nvPr/>
        </p:nvSpPr>
        <p:spPr>
          <a:xfrm>
            <a:off x="406400" y="1219200"/>
            <a:ext cx="11379200" cy="5339923"/>
          </a:xfrm>
          <a:prstGeom prst="rect">
            <a:avLst/>
          </a:prstGeom>
          <a:noFill/>
        </p:spPr>
        <p:txBody>
          <a:bodyPr wrap="square">
            <a:spAutoFit/>
          </a:bodyPr>
          <a:lstStyle/>
          <a:p>
            <a:pPr algn="l">
              <a:spcBef>
                <a:spcPts val="500"/>
              </a:spcBef>
            </a:pPr>
            <a:r>
              <a:rPr sz="2400" b="1" i="0" dirty="0">
                <a:solidFill>
                  <a:srgbClr val="8B0000"/>
                </a:solidFill>
                <a:latin typeface="Tw Cen MT"/>
              </a:rPr>
              <a:t>EVALUAR COSTOS Y BENEFICIOS antes de </a:t>
            </a:r>
            <a:r>
              <a:rPr sz="2400" b="1" i="0" dirty="0" err="1">
                <a:solidFill>
                  <a:srgbClr val="8B0000"/>
                </a:solidFill>
                <a:latin typeface="Tw Cen MT"/>
              </a:rPr>
              <a:t>cualquier</a:t>
            </a:r>
            <a:r>
              <a:rPr sz="2400" b="1" i="0" dirty="0">
                <a:solidFill>
                  <a:srgbClr val="8B0000"/>
                </a:solidFill>
                <a:latin typeface="Tw Cen MT"/>
              </a:rPr>
              <a:t> </a:t>
            </a:r>
            <a:r>
              <a:rPr sz="2400" b="1" i="0" dirty="0" err="1">
                <a:solidFill>
                  <a:srgbClr val="8B0000"/>
                </a:solidFill>
                <a:latin typeface="Tw Cen MT"/>
              </a:rPr>
              <a:t>cambio</a:t>
            </a:r>
            <a:r>
              <a:rPr sz="2400" b="1" i="0" dirty="0">
                <a:solidFill>
                  <a:srgbClr val="8B0000"/>
                </a:solidFill>
                <a:latin typeface="Tw Cen MT"/>
              </a:rPr>
              <a:t>.</a:t>
            </a:r>
          </a:p>
          <a:p>
            <a:pPr algn="l">
              <a:spcBef>
                <a:spcPts val="500"/>
              </a:spcBef>
            </a:pPr>
            <a:r>
              <a:rPr sz="2400" b="1" i="0" dirty="0">
                <a:solidFill>
                  <a:srgbClr val="8B0000"/>
                </a:solidFill>
                <a:latin typeface="Tw Cen MT"/>
              </a:rPr>
              <a:t>COSTOS DIRECTOS</a:t>
            </a:r>
          </a:p>
          <a:p>
            <a:pPr algn="l">
              <a:spcBef>
                <a:spcPts val="200"/>
              </a:spcBef>
            </a:pPr>
            <a:r>
              <a:rPr sz="2400" b="0" i="0" dirty="0">
                <a:solidFill>
                  <a:srgbClr val="222222"/>
                </a:solidFill>
                <a:latin typeface="Tw Cen MT"/>
              </a:rPr>
              <a:t>    ▸  </a:t>
            </a:r>
            <a:r>
              <a:rPr sz="2400" b="0" i="0" dirty="0" err="1">
                <a:solidFill>
                  <a:srgbClr val="222222"/>
                </a:solidFill>
                <a:latin typeface="Tw Cen MT"/>
              </a:rPr>
              <a:t>Diseño</a:t>
            </a:r>
            <a:r>
              <a:rPr sz="2400" b="0" i="0" dirty="0">
                <a:solidFill>
                  <a:srgbClr val="222222"/>
                </a:solidFill>
                <a:latin typeface="Tw Cen MT"/>
              </a:rPr>
              <a:t> del nuevo </a:t>
            </a:r>
            <a:r>
              <a:rPr sz="2400" b="0" i="0" dirty="0" err="1">
                <a:solidFill>
                  <a:srgbClr val="222222"/>
                </a:solidFill>
                <a:latin typeface="Tw Cen MT"/>
              </a:rPr>
              <a:t>sistema</a:t>
            </a:r>
            <a:r>
              <a:rPr sz="2400" b="0" i="0" dirty="0">
                <a:solidFill>
                  <a:srgbClr val="222222"/>
                </a:solidFill>
                <a:latin typeface="Tw Cen MT"/>
              </a:rPr>
              <a:t>.</a:t>
            </a:r>
          </a:p>
          <a:p>
            <a:pPr algn="l">
              <a:spcBef>
                <a:spcPts val="200"/>
              </a:spcBef>
            </a:pPr>
            <a:r>
              <a:rPr sz="2400" b="0" i="0" dirty="0">
                <a:solidFill>
                  <a:srgbClr val="222222"/>
                </a:solidFill>
                <a:latin typeface="Tw Cen MT"/>
              </a:rPr>
              <a:t>    ▸  </a:t>
            </a:r>
            <a:r>
              <a:rPr sz="2400" b="0" i="0" dirty="0" err="1">
                <a:solidFill>
                  <a:srgbClr val="222222"/>
                </a:solidFill>
                <a:latin typeface="Tw Cen MT"/>
              </a:rPr>
              <a:t>Comunicación</a:t>
            </a:r>
            <a:r>
              <a:rPr sz="2400" b="0" i="0" dirty="0">
                <a:solidFill>
                  <a:srgbClr val="222222"/>
                </a:solidFill>
                <a:latin typeface="Tw Cen MT"/>
              </a:rPr>
              <a:t> interna.</a:t>
            </a:r>
          </a:p>
          <a:p>
            <a:pPr algn="l">
              <a:spcBef>
                <a:spcPts val="200"/>
              </a:spcBef>
            </a:pPr>
            <a:r>
              <a:rPr sz="2400" b="0" i="0" dirty="0">
                <a:solidFill>
                  <a:srgbClr val="222222"/>
                </a:solidFill>
                <a:latin typeface="Tw Cen MT"/>
              </a:rPr>
              <a:t>    ▸  </a:t>
            </a:r>
            <a:r>
              <a:rPr sz="2400" b="0" i="0" dirty="0" err="1">
                <a:solidFill>
                  <a:srgbClr val="222222"/>
                </a:solidFill>
                <a:latin typeface="Tw Cen MT"/>
              </a:rPr>
              <a:t>Cambios</a:t>
            </a:r>
            <a:r>
              <a:rPr sz="2400" b="0" i="0" dirty="0">
                <a:solidFill>
                  <a:srgbClr val="222222"/>
                </a:solidFill>
                <a:latin typeface="Tw Cen MT"/>
              </a:rPr>
              <a:t> </a:t>
            </a:r>
            <a:r>
              <a:rPr sz="2400" b="0" i="0" dirty="0" err="1">
                <a:solidFill>
                  <a:srgbClr val="222222"/>
                </a:solidFill>
                <a:latin typeface="Tw Cen MT"/>
              </a:rPr>
              <a:t>en</a:t>
            </a:r>
            <a:r>
              <a:rPr sz="2400" b="0" i="0" dirty="0">
                <a:solidFill>
                  <a:srgbClr val="222222"/>
                </a:solidFill>
                <a:latin typeface="Tw Cen MT"/>
              </a:rPr>
              <a:t> </a:t>
            </a:r>
            <a:r>
              <a:rPr sz="2400" b="0" i="0" dirty="0" err="1">
                <a:solidFill>
                  <a:srgbClr val="222222"/>
                </a:solidFill>
                <a:latin typeface="Tw Cen MT"/>
              </a:rPr>
              <a:t>los</a:t>
            </a:r>
            <a:r>
              <a:rPr sz="2400" b="0" i="0" dirty="0">
                <a:solidFill>
                  <a:srgbClr val="222222"/>
                </a:solidFill>
                <a:latin typeface="Tw Cen MT"/>
              </a:rPr>
              <a:t> </a:t>
            </a:r>
            <a:r>
              <a:rPr sz="2400" b="0" i="0" dirty="0" err="1">
                <a:solidFill>
                  <a:srgbClr val="222222"/>
                </a:solidFill>
                <a:latin typeface="Tw Cen MT"/>
              </a:rPr>
              <a:t>sistemas</a:t>
            </a:r>
            <a:r>
              <a:rPr sz="2400" b="0" i="0" dirty="0">
                <a:solidFill>
                  <a:srgbClr val="222222"/>
                </a:solidFill>
                <a:latin typeface="Tw Cen MT"/>
              </a:rPr>
              <a:t> de </a:t>
            </a:r>
            <a:r>
              <a:rPr sz="2400" b="0" i="0" dirty="0" err="1">
                <a:solidFill>
                  <a:srgbClr val="222222"/>
                </a:solidFill>
                <a:latin typeface="Tw Cen MT"/>
              </a:rPr>
              <a:t>información</a:t>
            </a:r>
            <a:r>
              <a:rPr sz="2400" b="0" i="0" dirty="0">
                <a:solidFill>
                  <a:srgbClr val="222222"/>
                </a:solidFill>
                <a:latin typeface="Tw Cen MT"/>
              </a:rPr>
              <a:t>, </a:t>
            </a:r>
            <a:r>
              <a:rPr sz="2400" b="0" i="0" dirty="0" err="1">
                <a:solidFill>
                  <a:srgbClr val="222222"/>
                </a:solidFill>
                <a:latin typeface="Tw Cen MT"/>
              </a:rPr>
              <a:t>procesos</a:t>
            </a:r>
            <a:r>
              <a:rPr sz="2400" b="0" i="0" dirty="0">
                <a:solidFill>
                  <a:srgbClr val="222222"/>
                </a:solidFill>
                <a:latin typeface="Tw Cen MT"/>
              </a:rPr>
              <a:t> y </a:t>
            </a:r>
            <a:r>
              <a:rPr sz="2400" b="0" i="0" dirty="0" err="1">
                <a:solidFill>
                  <a:srgbClr val="222222"/>
                </a:solidFill>
                <a:latin typeface="Tw Cen MT"/>
              </a:rPr>
              <a:t>tecnología</a:t>
            </a:r>
            <a:r>
              <a:rPr sz="2400" b="0" i="0" dirty="0">
                <a:solidFill>
                  <a:srgbClr val="222222"/>
                </a:solidFill>
                <a:latin typeface="Tw Cen MT"/>
              </a:rPr>
              <a:t>.</a:t>
            </a:r>
            <a:endParaRPr lang="es-419" sz="2400" b="0" i="0" dirty="0">
              <a:solidFill>
                <a:srgbClr val="222222"/>
              </a:solidFill>
              <a:latin typeface="Tw Cen MT"/>
            </a:endParaRPr>
          </a:p>
          <a:p>
            <a:pPr algn="l">
              <a:spcBef>
                <a:spcPts val="200"/>
              </a:spcBef>
            </a:pPr>
            <a:endParaRPr sz="2400" b="0" i="0" dirty="0">
              <a:solidFill>
                <a:srgbClr val="222222"/>
              </a:solidFill>
              <a:latin typeface="Tw Cen MT"/>
            </a:endParaRPr>
          </a:p>
          <a:p>
            <a:pPr algn="l">
              <a:spcBef>
                <a:spcPts val="500"/>
              </a:spcBef>
            </a:pPr>
            <a:r>
              <a:rPr sz="2400" b="1" i="0" dirty="0">
                <a:solidFill>
                  <a:srgbClr val="8B0000"/>
                </a:solidFill>
                <a:latin typeface="Tw Cen MT"/>
              </a:rPr>
              <a:t>COSTOS INDIRECTOS (</a:t>
            </a:r>
            <a:r>
              <a:rPr sz="2400" b="1" i="0" dirty="0" err="1">
                <a:solidFill>
                  <a:srgbClr val="8B0000"/>
                </a:solidFill>
                <a:latin typeface="Tw Cen MT"/>
              </a:rPr>
              <a:t>generalmente</a:t>
            </a:r>
            <a:r>
              <a:rPr sz="2400" b="1" i="0" dirty="0">
                <a:solidFill>
                  <a:srgbClr val="8B0000"/>
                </a:solidFill>
                <a:latin typeface="Tw Cen MT"/>
              </a:rPr>
              <a:t> </a:t>
            </a:r>
            <a:r>
              <a:rPr sz="2400" b="1" i="0" dirty="0" err="1">
                <a:solidFill>
                  <a:srgbClr val="8B0000"/>
                </a:solidFill>
                <a:latin typeface="Tw Cen MT"/>
              </a:rPr>
              <a:t>subestimados</a:t>
            </a:r>
            <a:r>
              <a:rPr sz="2400" b="1" i="0" dirty="0">
                <a:solidFill>
                  <a:srgbClr val="8B0000"/>
                </a:solidFill>
                <a:latin typeface="Tw Cen MT"/>
              </a:rPr>
              <a:t>)</a:t>
            </a:r>
          </a:p>
          <a:p>
            <a:pPr algn="l">
              <a:spcBef>
                <a:spcPts val="200"/>
              </a:spcBef>
            </a:pPr>
            <a:r>
              <a:rPr sz="2400" b="0" i="0" dirty="0">
                <a:solidFill>
                  <a:srgbClr val="222222"/>
                </a:solidFill>
                <a:latin typeface="Tw Cen MT"/>
              </a:rPr>
              <a:t>    ▸  </a:t>
            </a:r>
            <a:r>
              <a:rPr sz="2400" b="0" i="0" dirty="0" err="1">
                <a:solidFill>
                  <a:srgbClr val="222222"/>
                </a:solidFill>
                <a:latin typeface="Tw Cen MT"/>
              </a:rPr>
              <a:t>Ganadores</a:t>
            </a:r>
            <a:r>
              <a:rPr sz="2400" b="0" i="0" dirty="0">
                <a:solidFill>
                  <a:srgbClr val="222222"/>
                </a:solidFill>
                <a:latin typeface="Tw Cen MT"/>
              </a:rPr>
              <a:t> y </a:t>
            </a:r>
            <a:r>
              <a:rPr sz="2400" b="0" i="0" dirty="0" err="1">
                <a:solidFill>
                  <a:srgbClr val="222222"/>
                </a:solidFill>
                <a:latin typeface="Tw Cen MT"/>
              </a:rPr>
              <a:t>perdedores</a:t>
            </a:r>
            <a:r>
              <a:rPr sz="2400" b="0" i="0" dirty="0">
                <a:solidFill>
                  <a:srgbClr val="222222"/>
                </a:solidFill>
                <a:latin typeface="Tw Cen MT"/>
              </a:rPr>
              <a:t>: </a:t>
            </a:r>
            <a:r>
              <a:rPr sz="2400" b="0" i="0" dirty="0" err="1">
                <a:solidFill>
                  <a:srgbClr val="222222"/>
                </a:solidFill>
                <a:latin typeface="Tw Cen MT"/>
              </a:rPr>
              <a:t>resistencia</a:t>
            </a:r>
            <a:r>
              <a:rPr sz="2400" b="0" i="0" dirty="0">
                <a:solidFill>
                  <a:srgbClr val="222222"/>
                </a:solidFill>
                <a:latin typeface="Tw Cen MT"/>
              </a:rPr>
              <a:t> de </a:t>
            </a:r>
            <a:r>
              <a:rPr sz="2400" b="0" i="0" dirty="0" err="1">
                <a:solidFill>
                  <a:srgbClr val="222222"/>
                </a:solidFill>
                <a:latin typeface="Tw Cen MT"/>
              </a:rPr>
              <a:t>quienes</a:t>
            </a:r>
            <a:r>
              <a:rPr sz="2400" b="0" i="0" dirty="0">
                <a:solidFill>
                  <a:srgbClr val="222222"/>
                </a:solidFill>
                <a:latin typeface="Tw Cen MT"/>
              </a:rPr>
              <a:t> </a:t>
            </a:r>
            <a:r>
              <a:rPr sz="2400" b="0" i="0" dirty="0" err="1">
                <a:solidFill>
                  <a:srgbClr val="222222"/>
                </a:solidFill>
                <a:latin typeface="Tw Cen MT"/>
              </a:rPr>
              <a:t>pierden</a:t>
            </a:r>
            <a:r>
              <a:rPr sz="2400" b="0" i="0" dirty="0">
                <a:solidFill>
                  <a:srgbClr val="222222"/>
                </a:solidFill>
                <a:latin typeface="Tw Cen MT"/>
              </a:rPr>
              <a:t> </a:t>
            </a:r>
            <a:r>
              <a:rPr sz="2400" b="0" i="0" dirty="0" err="1">
                <a:solidFill>
                  <a:srgbClr val="222222"/>
                </a:solidFill>
                <a:latin typeface="Tw Cen MT"/>
              </a:rPr>
              <a:t>poder</a:t>
            </a:r>
            <a:r>
              <a:rPr sz="2400" b="0" i="0" dirty="0">
                <a:solidFill>
                  <a:srgbClr val="222222"/>
                </a:solidFill>
                <a:latin typeface="Tw Cen MT"/>
              </a:rPr>
              <a:t> o </a:t>
            </a:r>
            <a:r>
              <a:rPr sz="2400" b="0" i="0" dirty="0" err="1">
                <a:solidFill>
                  <a:srgbClr val="222222"/>
                </a:solidFill>
                <a:latin typeface="Tw Cen MT"/>
              </a:rPr>
              <a:t>beneficios</a:t>
            </a:r>
            <a:r>
              <a:rPr sz="2400" b="0" i="0" dirty="0">
                <a:solidFill>
                  <a:srgbClr val="222222"/>
                </a:solidFill>
                <a:latin typeface="Tw Cen MT"/>
              </a:rPr>
              <a:t>.</a:t>
            </a:r>
          </a:p>
          <a:p>
            <a:pPr algn="l">
              <a:spcBef>
                <a:spcPts val="200"/>
              </a:spcBef>
            </a:pPr>
            <a:r>
              <a:rPr sz="2400" b="0" i="0" dirty="0">
                <a:solidFill>
                  <a:srgbClr val="222222"/>
                </a:solidFill>
                <a:latin typeface="Tw Cen MT"/>
              </a:rPr>
              <a:t>    ▸  </a:t>
            </a:r>
            <a:r>
              <a:rPr sz="2400" b="0" i="0" dirty="0" err="1">
                <a:solidFill>
                  <a:srgbClr val="222222"/>
                </a:solidFill>
                <a:latin typeface="Tw Cen MT"/>
              </a:rPr>
              <a:t>Incertidumbre</a:t>
            </a:r>
            <a:r>
              <a:rPr sz="2400" b="0" i="0" dirty="0">
                <a:solidFill>
                  <a:srgbClr val="222222"/>
                </a:solidFill>
                <a:latin typeface="Tw Cen MT"/>
              </a:rPr>
              <a:t> y </a:t>
            </a:r>
            <a:r>
              <a:rPr sz="2400" b="0" i="0" dirty="0" err="1">
                <a:solidFill>
                  <a:srgbClr val="222222"/>
                </a:solidFill>
                <a:latin typeface="Tw Cen MT"/>
              </a:rPr>
              <a:t>dudas</a:t>
            </a:r>
            <a:r>
              <a:rPr sz="2400" b="0" i="0" dirty="0">
                <a:solidFill>
                  <a:srgbClr val="222222"/>
                </a:solidFill>
                <a:latin typeface="Tw Cen MT"/>
              </a:rPr>
              <a:t> </a:t>
            </a:r>
            <a:r>
              <a:rPr sz="2400" b="0" i="0" dirty="0" err="1">
                <a:solidFill>
                  <a:srgbClr val="222222"/>
                </a:solidFill>
                <a:latin typeface="Tw Cen MT"/>
              </a:rPr>
              <a:t>sobre</a:t>
            </a:r>
            <a:r>
              <a:rPr sz="2400" b="0" i="0" dirty="0">
                <a:solidFill>
                  <a:srgbClr val="222222"/>
                </a:solidFill>
                <a:latin typeface="Tw Cen MT"/>
              </a:rPr>
              <a:t> </a:t>
            </a:r>
            <a:r>
              <a:rPr sz="2400" b="0" i="0" dirty="0" err="1">
                <a:solidFill>
                  <a:srgbClr val="222222"/>
                </a:solidFill>
                <a:latin typeface="Tw Cen MT"/>
              </a:rPr>
              <a:t>el</a:t>
            </a:r>
            <a:r>
              <a:rPr sz="2400" b="0" i="0" dirty="0">
                <a:solidFill>
                  <a:srgbClr val="222222"/>
                </a:solidFill>
                <a:latin typeface="Tw Cen MT"/>
              </a:rPr>
              <a:t> largo </a:t>
            </a:r>
            <a:r>
              <a:rPr sz="2400" b="0" i="0" dirty="0" err="1">
                <a:solidFill>
                  <a:srgbClr val="222222"/>
                </a:solidFill>
                <a:latin typeface="Tw Cen MT"/>
              </a:rPr>
              <a:t>plazo</a:t>
            </a:r>
            <a:r>
              <a:rPr sz="2400" b="0" i="0" dirty="0">
                <a:solidFill>
                  <a:srgbClr val="222222"/>
                </a:solidFill>
                <a:latin typeface="Tw Cen MT"/>
              </a:rPr>
              <a:t>.</a:t>
            </a:r>
          </a:p>
          <a:p>
            <a:pPr algn="l">
              <a:spcBef>
                <a:spcPts val="200"/>
              </a:spcBef>
            </a:pPr>
            <a:r>
              <a:rPr sz="2400" i="0" dirty="0">
                <a:solidFill>
                  <a:srgbClr val="222222"/>
                </a:solidFill>
                <a:latin typeface="Tw Cen MT"/>
              </a:rPr>
              <a:t>    ▸  </a:t>
            </a:r>
            <a:r>
              <a:rPr sz="2400" i="0" dirty="0" err="1">
                <a:solidFill>
                  <a:srgbClr val="222222"/>
                </a:solidFill>
                <a:latin typeface="Tw Cen MT"/>
              </a:rPr>
              <a:t>Inconvenientes</a:t>
            </a:r>
            <a:r>
              <a:rPr sz="2400" i="0" dirty="0">
                <a:solidFill>
                  <a:srgbClr val="222222"/>
                </a:solidFill>
                <a:latin typeface="Tw Cen MT"/>
              </a:rPr>
              <a:t> con las </a:t>
            </a:r>
            <a:r>
              <a:rPr sz="2400" i="0" dirty="0" err="1">
                <a:solidFill>
                  <a:srgbClr val="222222"/>
                </a:solidFill>
                <a:latin typeface="Tw Cen MT"/>
              </a:rPr>
              <a:t>tareas</a:t>
            </a:r>
            <a:r>
              <a:rPr sz="2400" i="0" dirty="0">
                <a:solidFill>
                  <a:srgbClr val="222222"/>
                </a:solidFill>
                <a:latin typeface="Tw Cen MT"/>
              </a:rPr>
              <a:t> </a:t>
            </a:r>
            <a:r>
              <a:rPr sz="2400" i="0" dirty="0" err="1">
                <a:solidFill>
                  <a:srgbClr val="222222"/>
                </a:solidFill>
                <a:latin typeface="Tw Cen MT"/>
              </a:rPr>
              <a:t>actuales</a:t>
            </a:r>
            <a:r>
              <a:rPr sz="2400" i="0" dirty="0">
                <a:solidFill>
                  <a:srgbClr val="222222"/>
                </a:solidFill>
                <a:latin typeface="Tw Cen MT"/>
              </a:rPr>
              <a:t> </a:t>
            </a:r>
            <a:r>
              <a:rPr sz="2400" i="0" dirty="0" err="1">
                <a:solidFill>
                  <a:srgbClr val="222222"/>
                </a:solidFill>
                <a:latin typeface="Tw Cen MT"/>
              </a:rPr>
              <a:t>durante</a:t>
            </a:r>
            <a:r>
              <a:rPr sz="2400" i="0" dirty="0">
                <a:solidFill>
                  <a:srgbClr val="222222"/>
                </a:solidFill>
                <a:latin typeface="Tw Cen MT"/>
              </a:rPr>
              <a:t> la </a:t>
            </a:r>
            <a:r>
              <a:rPr sz="2400" i="0" dirty="0" err="1">
                <a:solidFill>
                  <a:srgbClr val="222222"/>
                </a:solidFill>
                <a:latin typeface="Tw Cen MT"/>
              </a:rPr>
              <a:t>transición</a:t>
            </a:r>
            <a:r>
              <a:rPr sz="2400" i="0" dirty="0">
                <a:solidFill>
                  <a:srgbClr val="222222"/>
                </a:solidFill>
                <a:latin typeface="Tw Cen MT"/>
              </a:rPr>
              <a:t>.</a:t>
            </a:r>
          </a:p>
          <a:p>
            <a:pPr algn="l">
              <a:spcBef>
                <a:spcPts val="200"/>
              </a:spcBef>
            </a:pPr>
            <a:r>
              <a:rPr sz="2400" b="0" i="0" dirty="0">
                <a:solidFill>
                  <a:srgbClr val="222222"/>
                </a:solidFill>
                <a:latin typeface="Tw Cen MT"/>
              </a:rPr>
              <a:t>    ▸  Impacto </a:t>
            </a:r>
            <a:r>
              <a:rPr sz="2400" b="0" i="0" dirty="0" err="1">
                <a:solidFill>
                  <a:srgbClr val="222222"/>
                </a:solidFill>
                <a:latin typeface="Tw Cen MT"/>
              </a:rPr>
              <a:t>en</a:t>
            </a:r>
            <a:r>
              <a:rPr sz="2400" b="0" i="0" dirty="0">
                <a:solidFill>
                  <a:srgbClr val="222222"/>
                </a:solidFill>
                <a:latin typeface="Tw Cen MT"/>
              </a:rPr>
              <a:t> la </a:t>
            </a:r>
            <a:r>
              <a:rPr sz="2400" b="0" i="0" dirty="0" err="1">
                <a:solidFill>
                  <a:srgbClr val="222222"/>
                </a:solidFill>
                <a:latin typeface="Tw Cen MT"/>
              </a:rPr>
              <a:t>cultura</a:t>
            </a:r>
            <a:r>
              <a:rPr sz="2400" b="0" i="0" dirty="0">
                <a:solidFill>
                  <a:srgbClr val="222222"/>
                </a:solidFill>
                <a:latin typeface="Tw Cen MT"/>
              </a:rPr>
              <a:t> </a:t>
            </a:r>
            <a:r>
              <a:rPr sz="2400" b="0" i="0" dirty="0" err="1">
                <a:solidFill>
                  <a:srgbClr val="222222"/>
                </a:solidFill>
                <a:latin typeface="Tw Cen MT"/>
              </a:rPr>
              <a:t>organizacional</a:t>
            </a:r>
            <a:r>
              <a:rPr sz="2400" b="0" i="0" dirty="0">
                <a:solidFill>
                  <a:srgbClr val="222222"/>
                </a:solidFill>
                <a:latin typeface="Tw Cen MT"/>
              </a:rPr>
              <a:t>.</a:t>
            </a:r>
            <a:endParaRPr lang="es-419" sz="2400" b="0" i="0" dirty="0">
              <a:solidFill>
                <a:srgbClr val="222222"/>
              </a:solidFill>
              <a:latin typeface="Tw Cen MT"/>
            </a:endParaRPr>
          </a:p>
          <a:p>
            <a:pPr algn="l">
              <a:spcBef>
                <a:spcPts val="200"/>
              </a:spcBef>
            </a:pPr>
            <a:endParaRPr lang="es-419" sz="2400" dirty="0">
              <a:solidFill>
                <a:srgbClr val="222222"/>
              </a:solidFill>
              <a:latin typeface="Tw Cen MT"/>
            </a:endParaRPr>
          </a:p>
          <a:p>
            <a:pPr algn="ctr">
              <a:spcBef>
                <a:spcPts val="200"/>
              </a:spcBef>
            </a:pPr>
            <a:r>
              <a:rPr lang="es-419" sz="2800" b="1" i="0" dirty="0">
                <a:solidFill>
                  <a:srgbClr val="C00000"/>
                </a:solidFill>
                <a:latin typeface="Tw Cen MT"/>
              </a:rPr>
              <a:t>Clave: Gestión del Cambio</a:t>
            </a:r>
            <a:endParaRPr sz="2800" b="1" i="0" dirty="0">
              <a:solidFill>
                <a:srgbClr val="C00000"/>
              </a:solidFill>
              <a:latin typeface="Tw Cen M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1066800"/>
          </a:xfrm>
          <a:prstGeom prst="rect">
            <a:avLst/>
          </a:prstGeom>
          <a:solidFill>
            <a:srgbClr val="145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066800"/>
            <a:ext cx="12192000" cy="76200"/>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06400" y="152400"/>
            <a:ext cx="11379200" cy="762000"/>
          </a:xfrm>
          <a:prstGeom prst="rect">
            <a:avLst/>
          </a:prstGeom>
          <a:noFill/>
        </p:spPr>
        <p:txBody>
          <a:bodyPr wrap="square" anchor="ctr"/>
          <a:lstStyle/>
          <a:p>
            <a:pPr algn="l"/>
            <a:r>
              <a:rPr sz="2800" b="1" i="0">
                <a:solidFill>
                  <a:srgbClr val="FFFFFF"/>
                </a:solidFill>
                <a:latin typeface="Tw Cen MT"/>
              </a:rPr>
              <a:t>TALLER — Cadena de Restaurantes Portland/Salt Lake</a:t>
            </a:r>
          </a:p>
        </p:txBody>
      </p:sp>
      <p:sp>
        <p:nvSpPr>
          <p:cNvPr id="6" name="TextBox 5"/>
          <p:cNvSpPr txBox="1"/>
          <p:nvPr/>
        </p:nvSpPr>
        <p:spPr>
          <a:xfrm>
            <a:off x="406400" y="1219200"/>
            <a:ext cx="11379200" cy="5355312"/>
          </a:xfrm>
          <a:prstGeom prst="rect">
            <a:avLst/>
          </a:prstGeom>
          <a:noFill/>
        </p:spPr>
        <p:txBody>
          <a:bodyPr wrap="square">
            <a:spAutoFit/>
          </a:bodyPr>
          <a:lstStyle/>
          <a:p>
            <a:r>
              <a:rPr lang="es-AR" dirty="0">
                <a:solidFill>
                  <a:schemeClr val="bg2"/>
                </a:solidFill>
              </a:rPr>
              <a:t>Usted es propietario de una pequeña cadena de restaurantes en el área de Portland, </a:t>
            </a:r>
            <a:r>
              <a:rPr lang="es-AR" dirty="0" err="1">
                <a:solidFill>
                  <a:schemeClr val="bg2"/>
                </a:solidFill>
              </a:rPr>
              <a:t>Oregon</a:t>
            </a:r>
            <a:r>
              <a:rPr lang="es-AR" dirty="0">
                <a:solidFill>
                  <a:schemeClr val="bg2"/>
                </a:solidFill>
              </a:rPr>
              <a:t>. Sus cinco restaurantes emplean el mismo concepto comercial básico y tienen diseños de edificios, menús y formatos de servicio similares. </a:t>
            </a:r>
          </a:p>
          <a:p>
            <a:r>
              <a:rPr lang="es-AR" dirty="0">
                <a:solidFill>
                  <a:schemeClr val="bg2"/>
                </a:solidFill>
              </a:rPr>
              <a:t>Cada uno de los puntos de venta tiene un gerente que tiene la responsabilidad principal de las operaciones diarias del lugar. Los cinco puntos de venta están dentro de un radio de 15 Km de su oficina central. Usted participa activamente en el negocio y con frecuencia se reúne con los gerentes. A menudo pasa tiempo en los restaurantes durante el horario comercial, visitando clientes y ayudando a administrar el personal. </a:t>
            </a:r>
          </a:p>
          <a:p>
            <a:r>
              <a:rPr lang="es-AR" dirty="0">
                <a:solidFill>
                  <a:schemeClr val="bg2"/>
                </a:solidFill>
              </a:rPr>
              <a:t>Usted paga a cada uno de sus gerentes $ 40,000 por año y les proporciona un paquete de beneficios adicionales (por ejemplo, vacaciones pagadas y seguro). En los últimos tres años, también les ha otorgado un bono de vacaciones de $ 3,000 en diciembre. </a:t>
            </a:r>
          </a:p>
          <a:p>
            <a:r>
              <a:rPr lang="es-AR" dirty="0">
                <a:solidFill>
                  <a:schemeClr val="bg2"/>
                </a:solidFill>
              </a:rPr>
              <a:t>Varios de sus clientes se mudaron el año pasado de Portland a Utah y le han enviado un correo electrónico sugiriéndole que abra un restaurante allí, ya que extrañan su comida, servicio y formato de restaurante. Creen que el nuevo restaurante podría ser exitoso.</a:t>
            </a:r>
          </a:p>
          <a:p>
            <a:r>
              <a:rPr lang="es-AR" dirty="0">
                <a:solidFill>
                  <a:schemeClr val="bg2"/>
                </a:solidFill>
              </a:rPr>
              <a:t>Usted realizó una investigación de mercado y está pensando seriamente en comenzar el nuevo restaurante. Una preocupación que tiene es que Utah está a más de 1200 Km. de Portland. </a:t>
            </a:r>
          </a:p>
          <a:p>
            <a:r>
              <a:rPr lang="es-AR" dirty="0">
                <a:solidFill>
                  <a:schemeClr val="bg2"/>
                </a:solidFill>
              </a:rPr>
              <a:t>Consigna:</a:t>
            </a:r>
          </a:p>
          <a:p>
            <a:pPr marL="285750" indent="-285750">
              <a:buFont typeface="Arial" panose="020B0604020202020204" pitchFamily="34" charset="0"/>
              <a:buChar char="•"/>
            </a:pPr>
            <a:r>
              <a:rPr lang="es-AR" dirty="0">
                <a:solidFill>
                  <a:schemeClr val="bg2"/>
                </a:solidFill>
              </a:rPr>
              <a:t>Que tipo de decisiones toman los 5 gerentes de los restaurantes existentes.</a:t>
            </a:r>
          </a:p>
          <a:p>
            <a:pPr marL="285750" indent="-285750">
              <a:buFont typeface="Arial" panose="020B0604020202020204" pitchFamily="34" charset="0"/>
              <a:buChar char="•"/>
            </a:pPr>
            <a:r>
              <a:rPr lang="es-AR" dirty="0">
                <a:solidFill>
                  <a:schemeClr val="bg2"/>
                </a:solidFill>
              </a:rPr>
              <a:t>¿Es acorde la remuneración con las responsabilidades que se les asignan? </a:t>
            </a:r>
          </a:p>
          <a:p>
            <a:pPr marL="285750" indent="-285750">
              <a:buFont typeface="Arial" panose="020B0604020202020204" pitchFamily="34" charset="0"/>
              <a:buChar char="•"/>
            </a:pPr>
            <a:r>
              <a:rPr lang="es-AR" dirty="0">
                <a:solidFill>
                  <a:schemeClr val="bg2"/>
                </a:solidFill>
              </a:rPr>
              <a:t> ¿Deberían ofrecerle al nuevo gerente en Salt Lake el mismo contrato de compensación que está utilizando para los cinco gerentes en Portland?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1A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2286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29400"/>
            <a:ext cx="12192000" cy="2286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06400" y="457200"/>
            <a:ext cx="11379200" cy="457200"/>
          </a:xfrm>
          <a:prstGeom prst="rect">
            <a:avLst/>
          </a:prstGeom>
          <a:noFill/>
        </p:spPr>
        <p:txBody>
          <a:bodyPr wrap="square" anchor="ctr"/>
          <a:lstStyle/>
          <a:p>
            <a:pPr algn="ctr"/>
            <a:r>
              <a:rPr sz="2400" b="1" i="1" dirty="0">
                <a:solidFill>
                  <a:srgbClr val="D4A017"/>
                </a:solidFill>
                <a:latin typeface="Tw Cen MT"/>
              </a:rPr>
              <a:t>RESUMEN DE LA CLASE</a:t>
            </a:r>
          </a:p>
        </p:txBody>
      </p:sp>
      <p:sp>
        <p:nvSpPr>
          <p:cNvPr id="6" name="Rectangle 5"/>
          <p:cNvSpPr/>
          <p:nvPr/>
        </p:nvSpPr>
        <p:spPr>
          <a:xfrm>
            <a:off x="304800" y="1066800"/>
            <a:ext cx="3454400" cy="5562000"/>
          </a:xfrm>
          <a:prstGeom prst="rect">
            <a:avLst/>
          </a:prstGeom>
          <a:solidFill>
            <a:srgbClr val="1E3060"/>
          </a:solidFill>
          <a:ln w="9525">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19200"/>
            <a:ext cx="3149600" cy="1733808"/>
          </a:xfrm>
          <a:prstGeom prst="rect">
            <a:avLst/>
          </a:prstGeom>
          <a:noFill/>
        </p:spPr>
        <p:txBody>
          <a:bodyPr wrap="square">
            <a:spAutoFit/>
          </a:bodyPr>
          <a:lstStyle/>
          <a:p>
            <a:pPr algn="ctr"/>
            <a:r>
              <a:rPr sz="2000" b="1" i="0" dirty="0">
                <a:solidFill>
                  <a:srgbClr val="D4A017"/>
                </a:solidFill>
                <a:latin typeface="Tw Cen MT"/>
              </a:rPr>
              <a:t>CONFLICTOS DE INTERÉS</a:t>
            </a:r>
          </a:p>
          <a:p>
            <a:pPr algn="l">
              <a:spcBef>
                <a:spcPts val="800"/>
              </a:spcBef>
            </a:pPr>
            <a:r>
              <a:rPr sz="2000" b="0" i="0" dirty="0" err="1">
                <a:solidFill>
                  <a:srgbClr val="C8D8F0"/>
                </a:solidFill>
                <a:latin typeface="Tw Cen MT"/>
              </a:rPr>
              <a:t>Dueños</a:t>
            </a:r>
            <a:r>
              <a:rPr sz="2000" b="0" i="0" dirty="0">
                <a:solidFill>
                  <a:srgbClr val="C8D8F0"/>
                </a:solidFill>
                <a:latin typeface="Tw Cen MT"/>
              </a:rPr>
              <a:t> vs. </a:t>
            </a:r>
            <a:r>
              <a:rPr sz="2000" b="0" i="0" dirty="0" err="1">
                <a:solidFill>
                  <a:srgbClr val="C8D8F0"/>
                </a:solidFill>
                <a:latin typeface="Tw Cen MT"/>
              </a:rPr>
              <a:t>Gerentes</a:t>
            </a:r>
            <a:r>
              <a:rPr sz="2000" b="0" i="0" dirty="0">
                <a:solidFill>
                  <a:srgbClr val="C8D8F0"/>
                </a:solidFill>
                <a:latin typeface="Tw Cen MT"/>
              </a:rPr>
              <a:t> ▸ </a:t>
            </a:r>
            <a:r>
              <a:rPr sz="2000" b="0" i="0" dirty="0" err="1">
                <a:solidFill>
                  <a:srgbClr val="C8D8F0"/>
                </a:solidFill>
                <a:latin typeface="Tw Cen MT"/>
              </a:rPr>
              <a:t>Acreedores</a:t>
            </a:r>
            <a:r>
              <a:rPr sz="2000" b="0" i="0" dirty="0">
                <a:solidFill>
                  <a:srgbClr val="C8D8F0"/>
                </a:solidFill>
                <a:latin typeface="Tw Cen MT"/>
              </a:rPr>
              <a:t> vs. </a:t>
            </a:r>
            <a:r>
              <a:rPr sz="2000" b="0" i="0" dirty="0" err="1">
                <a:solidFill>
                  <a:srgbClr val="C8D8F0"/>
                </a:solidFill>
                <a:latin typeface="Tw Cen MT"/>
              </a:rPr>
              <a:t>Accionistas</a:t>
            </a:r>
            <a:r>
              <a:rPr sz="2000" b="0" i="0" dirty="0">
                <a:solidFill>
                  <a:srgbClr val="C8D8F0"/>
                </a:solidFill>
                <a:latin typeface="Tw Cen MT"/>
              </a:rPr>
              <a:t> ▸ Free rider. </a:t>
            </a:r>
            <a:r>
              <a:rPr sz="2000" b="0" i="0" dirty="0" err="1">
                <a:solidFill>
                  <a:srgbClr val="C8D8F0"/>
                </a:solidFill>
                <a:latin typeface="Tw Cen MT"/>
              </a:rPr>
              <a:t>Siempre</a:t>
            </a:r>
            <a:r>
              <a:rPr sz="2000" b="0" i="0" dirty="0">
                <a:solidFill>
                  <a:srgbClr val="C8D8F0"/>
                </a:solidFill>
                <a:latin typeface="Tw Cen MT"/>
              </a:rPr>
              <a:t> </a:t>
            </a:r>
            <a:r>
              <a:rPr sz="2000" b="0" i="0" dirty="0" err="1">
                <a:solidFill>
                  <a:srgbClr val="C8D8F0"/>
                </a:solidFill>
                <a:latin typeface="Tw Cen MT"/>
              </a:rPr>
              <a:t>existen</a:t>
            </a:r>
            <a:r>
              <a:rPr sz="2000" b="0" i="0" dirty="0">
                <a:solidFill>
                  <a:srgbClr val="C8D8F0"/>
                </a:solidFill>
                <a:latin typeface="Tw Cen MT"/>
              </a:rPr>
              <a:t>: la clave es </a:t>
            </a:r>
            <a:r>
              <a:rPr sz="2000" b="0" i="0" dirty="0" err="1">
                <a:solidFill>
                  <a:srgbClr val="C8D8F0"/>
                </a:solidFill>
                <a:latin typeface="Tw Cen MT"/>
              </a:rPr>
              <a:t>minimizarlos</a:t>
            </a:r>
            <a:r>
              <a:rPr sz="2000" b="0" i="0" dirty="0">
                <a:solidFill>
                  <a:srgbClr val="C8D8F0"/>
                </a:solidFill>
                <a:latin typeface="Tw Cen MT"/>
              </a:rPr>
              <a:t>.</a:t>
            </a:r>
          </a:p>
        </p:txBody>
      </p:sp>
      <p:sp>
        <p:nvSpPr>
          <p:cNvPr id="8" name="Rectangle 7"/>
          <p:cNvSpPr/>
          <p:nvPr/>
        </p:nvSpPr>
        <p:spPr>
          <a:xfrm>
            <a:off x="3911600" y="1066800"/>
            <a:ext cx="3454400" cy="5562000"/>
          </a:xfrm>
          <a:prstGeom prst="rect">
            <a:avLst/>
          </a:prstGeom>
          <a:solidFill>
            <a:srgbClr val="1E3060"/>
          </a:solidFill>
          <a:ln w="9525">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dirty="0"/>
          </a:p>
        </p:txBody>
      </p:sp>
      <p:sp>
        <p:nvSpPr>
          <p:cNvPr id="9" name="TextBox 8"/>
          <p:cNvSpPr txBox="1"/>
          <p:nvPr/>
        </p:nvSpPr>
        <p:spPr>
          <a:xfrm>
            <a:off x="4064000" y="1219200"/>
            <a:ext cx="3149600" cy="2041585"/>
          </a:xfrm>
          <a:prstGeom prst="rect">
            <a:avLst/>
          </a:prstGeom>
          <a:noFill/>
        </p:spPr>
        <p:txBody>
          <a:bodyPr wrap="square">
            <a:spAutoFit/>
          </a:bodyPr>
          <a:lstStyle/>
          <a:p>
            <a:pPr algn="ctr"/>
            <a:r>
              <a:rPr sz="2000" b="1" i="0" dirty="0">
                <a:solidFill>
                  <a:srgbClr val="D4A017"/>
                </a:solidFill>
                <a:latin typeface="Tw Cen MT"/>
              </a:rPr>
              <a:t>CONTRATOS Y AO</a:t>
            </a:r>
          </a:p>
          <a:p>
            <a:pPr algn="l">
              <a:spcBef>
                <a:spcPts val="800"/>
              </a:spcBef>
            </a:pPr>
            <a:r>
              <a:rPr sz="2000" b="0" i="0" dirty="0">
                <a:solidFill>
                  <a:srgbClr val="C8D8F0"/>
                </a:solidFill>
                <a:latin typeface="Tw Cen MT"/>
              </a:rPr>
              <a:t>Los </a:t>
            </a:r>
            <a:r>
              <a:rPr sz="2000" b="0" i="0" dirty="0" err="1">
                <a:solidFill>
                  <a:srgbClr val="C8D8F0"/>
                </a:solidFill>
                <a:latin typeface="Tw Cen MT"/>
              </a:rPr>
              <a:t>contratos</a:t>
            </a:r>
            <a:r>
              <a:rPr sz="2000" b="0" i="0" dirty="0">
                <a:solidFill>
                  <a:srgbClr val="C8D8F0"/>
                </a:solidFill>
                <a:latin typeface="Tw Cen MT"/>
              </a:rPr>
              <a:t> (</a:t>
            </a:r>
            <a:r>
              <a:rPr sz="2000" b="0" i="0" dirty="0" err="1">
                <a:solidFill>
                  <a:srgbClr val="C8D8F0"/>
                </a:solidFill>
                <a:latin typeface="Tw Cen MT"/>
              </a:rPr>
              <a:t>explícitos</a:t>
            </a:r>
            <a:r>
              <a:rPr sz="2000" b="0" i="0" dirty="0">
                <a:solidFill>
                  <a:srgbClr val="C8D8F0"/>
                </a:solidFill>
                <a:latin typeface="Tw Cen MT"/>
              </a:rPr>
              <a:t> e </a:t>
            </a:r>
            <a:r>
              <a:rPr sz="2000" b="0" i="0" dirty="0" err="1">
                <a:solidFill>
                  <a:srgbClr val="C8D8F0"/>
                </a:solidFill>
                <a:latin typeface="Tw Cen MT"/>
              </a:rPr>
              <a:t>implícitos</a:t>
            </a:r>
            <a:r>
              <a:rPr sz="2000" b="0" i="0" dirty="0">
                <a:solidFill>
                  <a:srgbClr val="C8D8F0"/>
                </a:solidFill>
                <a:latin typeface="Tw Cen MT"/>
              </a:rPr>
              <a:t>) </a:t>
            </a:r>
            <a:r>
              <a:rPr sz="2000" b="0" i="0" dirty="0" err="1">
                <a:solidFill>
                  <a:srgbClr val="C8D8F0"/>
                </a:solidFill>
                <a:latin typeface="Tw Cen MT"/>
              </a:rPr>
              <a:t>definen</a:t>
            </a:r>
            <a:r>
              <a:rPr sz="2000" b="0" i="0" dirty="0">
                <a:solidFill>
                  <a:srgbClr val="C8D8F0"/>
                </a:solidFill>
                <a:latin typeface="Tw Cen MT"/>
              </a:rPr>
              <a:t>: </a:t>
            </a:r>
            <a:r>
              <a:rPr sz="2000" b="0" i="0" dirty="0" err="1">
                <a:solidFill>
                  <a:srgbClr val="C8D8F0"/>
                </a:solidFill>
                <a:latin typeface="Tw Cen MT"/>
              </a:rPr>
              <a:t>asignación</a:t>
            </a:r>
            <a:r>
              <a:rPr sz="2000" b="0" i="0" dirty="0">
                <a:solidFill>
                  <a:srgbClr val="C8D8F0"/>
                </a:solidFill>
                <a:latin typeface="Tw Cen MT"/>
              </a:rPr>
              <a:t> de </a:t>
            </a:r>
            <a:r>
              <a:rPr sz="2000" b="0" i="0" dirty="0" err="1">
                <a:solidFill>
                  <a:srgbClr val="C8D8F0"/>
                </a:solidFill>
                <a:latin typeface="Tw Cen MT"/>
              </a:rPr>
              <a:t>autoridad</a:t>
            </a:r>
            <a:r>
              <a:rPr sz="2000" b="0" i="0" dirty="0">
                <a:solidFill>
                  <a:srgbClr val="C8D8F0"/>
                </a:solidFill>
                <a:latin typeface="Tw Cen MT"/>
              </a:rPr>
              <a:t>, </a:t>
            </a:r>
            <a:r>
              <a:rPr sz="2000" b="0" i="0" dirty="0" err="1">
                <a:solidFill>
                  <a:srgbClr val="C8D8F0"/>
                </a:solidFill>
                <a:latin typeface="Tw Cen MT"/>
              </a:rPr>
              <a:t>medición</a:t>
            </a:r>
            <a:r>
              <a:rPr sz="2000" b="0" i="0" dirty="0">
                <a:solidFill>
                  <a:srgbClr val="C8D8F0"/>
                </a:solidFill>
                <a:latin typeface="Tw Cen MT"/>
              </a:rPr>
              <a:t> del </a:t>
            </a:r>
            <a:r>
              <a:rPr sz="2000" b="0" i="0" dirty="0" err="1">
                <a:solidFill>
                  <a:srgbClr val="C8D8F0"/>
                </a:solidFill>
                <a:latin typeface="Tw Cen MT"/>
              </a:rPr>
              <a:t>desempeño</a:t>
            </a:r>
            <a:r>
              <a:rPr sz="2000" b="0" i="0" dirty="0">
                <a:solidFill>
                  <a:srgbClr val="C8D8F0"/>
                </a:solidFill>
                <a:latin typeface="Tw Cen MT"/>
              </a:rPr>
              <a:t>, </a:t>
            </a:r>
            <a:r>
              <a:rPr sz="2000" b="0" i="0" dirty="0" err="1">
                <a:solidFill>
                  <a:srgbClr val="C8D8F0"/>
                </a:solidFill>
                <a:latin typeface="Tw Cen MT"/>
              </a:rPr>
              <a:t>política</a:t>
            </a:r>
            <a:r>
              <a:rPr sz="2000" b="0" i="0" dirty="0">
                <a:solidFill>
                  <a:srgbClr val="C8D8F0"/>
                </a:solidFill>
                <a:latin typeface="Tw Cen MT"/>
              </a:rPr>
              <a:t> </a:t>
            </a:r>
            <a:r>
              <a:rPr sz="2000" b="0" i="0" dirty="0" err="1">
                <a:solidFill>
                  <a:srgbClr val="C8D8F0"/>
                </a:solidFill>
                <a:latin typeface="Tw Cen MT"/>
              </a:rPr>
              <a:t>compensatoria</a:t>
            </a:r>
            <a:r>
              <a:rPr sz="2000" b="0" i="0" dirty="0">
                <a:solidFill>
                  <a:srgbClr val="C8D8F0"/>
                </a:solidFill>
                <a:latin typeface="Tw Cen MT"/>
              </a:rPr>
              <a:t>.</a:t>
            </a:r>
          </a:p>
        </p:txBody>
      </p:sp>
      <p:sp>
        <p:nvSpPr>
          <p:cNvPr id="10" name="Rectangle 9"/>
          <p:cNvSpPr/>
          <p:nvPr/>
        </p:nvSpPr>
        <p:spPr>
          <a:xfrm>
            <a:off x="7518400" y="1066800"/>
            <a:ext cx="3454400" cy="5562000"/>
          </a:xfrm>
          <a:prstGeom prst="rect">
            <a:avLst/>
          </a:prstGeom>
          <a:solidFill>
            <a:srgbClr val="1E3060"/>
          </a:solidFill>
          <a:ln w="9525">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70800" y="1219200"/>
            <a:ext cx="3149600" cy="3785652"/>
          </a:xfrm>
          <a:prstGeom prst="rect">
            <a:avLst/>
          </a:prstGeom>
          <a:noFill/>
        </p:spPr>
        <p:txBody>
          <a:bodyPr wrap="square">
            <a:spAutoFit/>
          </a:bodyPr>
          <a:lstStyle>
            <a:defPPr>
              <a:defRPr lang="en-US"/>
            </a:defPPr>
            <a:lvl1pPr algn="ctr">
              <a:defRPr sz="2000" b="1" i="0">
                <a:solidFill>
                  <a:srgbClr val="D4A017"/>
                </a:solidFill>
                <a:latin typeface="Tw Cen MT"/>
              </a:defRPr>
            </a:lvl1pPr>
          </a:lstStyle>
          <a:p>
            <a:r>
              <a:rPr dirty="0"/>
              <a:t>TEORÍA CONTINGENTE</a:t>
            </a:r>
          </a:p>
          <a:p>
            <a:r>
              <a:rPr b="0" dirty="0">
                <a:solidFill>
                  <a:schemeClr val="bg1"/>
                </a:solidFill>
              </a:rPr>
              <a:t>No hay </a:t>
            </a:r>
            <a:r>
              <a:rPr b="0" dirty="0" err="1">
                <a:solidFill>
                  <a:schemeClr val="bg1"/>
                </a:solidFill>
              </a:rPr>
              <a:t>una</a:t>
            </a:r>
            <a:r>
              <a:rPr b="0" dirty="0">
                <a:solidFill>
                  <a:schemeClr val="bg1"/>
                </a:solidFill>
              </a:rPr>
              <a:t> AO </a:t>
            </a:r>
            <a:r>
              <a:rPr b="0" dirty="0" err="1">
                <a:solidFill>
                  <a:schemeClr val="bg1"/>
                </a:solidFill>
              </a:rPr>
              <a:t>mejor</a:t>
            </a:r>
            <a:r>
              <a:rPr b="0" dirty="0">
                <a:solidFill>
                  <a:schemeClr val="bg1"/>
                </a:solidFill>
              </a:rPr>
              <a:t> </a:t>
            </a:r>
            <a:r>
              <a:rPr b="0" dirty="0" err="1">
                <a:solidFill>
                  <a:schemeClr val="bg1"/>
                </a:solidFill>
              </a:rPr>
              <a:t>en</a:t>
            </a:r>
            <a:r>
              <a:rPr b="0" dirty="0">
                <a:solidFill>
                  <a:schemeClr val="bg1"/>
                </a:solidFill>
              </a:rPr>
              <a:t> </a:t>
            </a:r>
            <a:r>
              <a:rPr b="0" dirty="0" err="1">
                <a:solidFill>
                  <a:schemeClr val="bg1"/>
                </a:solidFill>
              </a:rPr>
              <a:t>todas</a:t>
            </a:r>
            <a:r>
              <a:rPr b="0" dirty="0">
                <a:solidFill>
                  <a:schemeClr val="bg1"/>
                </a:solidFill>
              </a:rPr>
              <a:t> las </a:t>
            </a:r>
            <a:r>
              <a:rPr b="0" dirty="0" err="1">
                <a:solidFill>
                  <a:schemeClr val="bg1"/>
                </a:solidFill>
              </a:rPr>
              <a:t>circunstancias</a:t>
            </a:r>
            <a:r>
              <a:rPr b="0" dirty="0">
                <a:solidFill>
                  <a:schemeClr val="bg1"/>
                </a:solidFill>
              </a:rPr>
              <a:t>. </a:t>
            </a:r>
            <a:r>
              <a:rPr b="0" dirty="0" err="1">
                <a:solidFill>
                  <a:schemeClr val="bg1"/>
                </a:solidFill>
              </a:rPr>
              <a:t>Estrategia</a:t>
            </a:r>
            <a:r>
              <a:rPr b="0" dirty="0">
                <a:solidFill>
                  <a:schemeClr val="bg1"/>
                </a:solidFill>
              </a:rPr>
              <a:t> y </a:t>
            </a:r>
            <a:r>
              <a:rPr b="0" dirty="0" err="1">
                <a:solidFill>
                  <a:schemeClr val="bg1"/>
                </a:solidFill>
              </a:rPr>
              <a:t>arquitectura</a:t>
            </a:r>
            <a:r>
              <a:rPr b="0" dirty="0">
                <a:solidFill>
                  <a:schemeClr val="bg1"/>
                </a:solidFill>
              </a:rPr>
              <a:t> </a:t>
            </a:r>
            <a:r>
              <a:rPr b="0" dirty="0" err="1">
                <a:solidFill>
                  <a:schemeClr val="bg1"/>
                </a:solidFill>
              </a:rPr>
              <a:t>deben</a:t>
            </a:r>
            <a:r>
              <a:rPr b="0" dirty="0">
                <a:solidFill>
                  <a:schemeClr val="bg1"/>
                </a:solidFill>
              </a:rPr>
              <a:t> ser </a:t>
            </a:r>
            <a:r>
              <a:rPr b="0" dirty="0" err="1">
                <a:solidFill>
                  <a:schemeClr val="bg1"/>
                </a:solidFill>
              </a:rPr>
              <a:t>coherentes</a:t>
            </a:r>
            <a:r>
              <a:rPr b="0" dirty="0">
                <a:solidFill>
                  <a:schemeClr val="bg1"/>
                </a:solidFill>
              </a:rPr>
              <a:t> entre </a:t>
            </a:r>
            <a:r>
              <a:rPr b="0" dirty="0" err="1">
                <a:solidFill>
                  <a:schemeClr val="bg1"/>
                </a:solidFill>
              </a:rPr>
              <a:t>sí</a:t>
            </a:r>
            <a:r>
              <a:rPr b="0" dirty="0">
                <a:solidFill>
                  <a:schemeClr val="bg1"/>
                </a:solidFill>
              </a:rPr>
              <a:t>.</a:t>
            </a:r>
          </a:p>
          <a:p>
            <a:r>
              <a:rPr b="0" dirty="0">
                <a:solidFill>
                  <a:schemeClr val="bg1"/>
                </a:solidFill>
              </a:rPr>
              <a:t>→ </a:t>
            </a:r>
            <a:endParaRPr lang="es-419" b="0" dirty="0">
              <a:solidFill>
                <a:schemeClr val="bg1"/>
              </a:solidFill>
            </a:endParaRPr>
          </a:p>
          <a:p>
            <a:endParaRPr lang="es-419" b="0" dirty="0">
              <a:solidFill>
                <a:schemeClr val="bg1"/>
              </a:solidFill>
            </a:endParaRPr>
          </a:p>
          <a:p>
            <a:endParaRPr lang="es-419" b="0" dirty="0">
              <a:solidFill>
                <a:schemeClr val="bg1"/>
              </a:solidFill>
            </a:endParaRPr>
          </a:p>
          <a:p>
            <a:endParaRPr lang="es-419" b="0" dirty="0">
              <a:solidFill>
                <a:schemeClr val="bg1"/>
              </a:solidFill>
            </a:endParaRPr>
          </a:p>
          <a:p>
            <a:r>
              <a:rPr b="0" dirty="0">
                <a:solidFill>
                  <a:schemeClr val="bg1"/>
                </a:solidFill>
              </a:rPr>
              <a:t>Clase 3: </a:t>
            </a:r>
            <a:r>
              <a:rPr b="0" dirty="0" err="1">
                <a:solidFill>
                  <a:schemeClr val="bg1"/>
                </a:solidFill>
              </a:rPr>
              <a:t>Asignación</a:t>
            </a:r>
            <a:r>
              <a:rPr b="0" dirty="0">
                <a:solidFill>
                  <a:schemeClr val="bg1"/>
                </a:solidFill>
              </a:rPr>
              <a:t> de derechos de </a:t>
            </a:r>
            <a:r>
              <a:rPr b="0" dirty="0" err="1">
                <a:solidFill>
                  <a:schemeClr val="bg1"/>
                </a:solidFill>
              </a:rPr>
              <a:t>decisión</a:t>
            </a:r>
            <a:endParaRPr b="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TotalTime>
  <Words>3680</Words>
  <Application>Microsoft Office PowerPoint</Application>
  <PresentationFormat>Panorámica</PresentationFormat>
  <Paragraphs>385</Paragraphs>
  <Slides>35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35</vt:i4>
      </vt:variant>
    </vt:vector>
  </HeadingPairs>
  <TitlesOfParts>
    <vt:vector size="41" baseType="lpstr">
      <vt:lpstr>Aptos</vt:lpstr>
      <vt:lpstr>Arial</vt:lpstr>
      <vt:lpstr>Calibri</vt:lpstr>
      <vt:lpstr>Tw Cen MT</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adriana delle donne</dc:creator>
  <cp:keywords/>
  <dc:description>generated using python-pptx</dc:description>
  <cp:lastModifiedBy>adriana delle donne</cp:lastModifiedBy>
  <cp:revision>2</cp:revision>
  <dcterms:created xsi:type="dcterms:W3CDTF">2013-01-27T09:14:16Z</dcterms:created>
  <dcterms:modified xsi:type="dcterms:W3CDTF">2026-04-14T13:06:38Z</dcterms:modified>
  <cp:category/>
</cp:coreProperties>
</file>