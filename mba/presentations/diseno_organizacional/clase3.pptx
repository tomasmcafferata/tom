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8" r:id="rId3"/>
    <p:sldId id="259" r:id="rId4"/>
    <p:sldId id="299" r:id="rId5"/>
    <p:sldId id="262" r:id="rId6"/>
    <p:sldId id="260" r:id="rId7"/>
    <p:sldId id="261" r:id="rId8"/>
    <p:sldId id="263" r:id="rId9"/>
    <p:sldId id="264" r:id="rId10"/>
    <p:sldId id="265" r:id="rId11"/>
    <p:sldId id="300" r:id="rId12"/>
    <p:sldId id="303" r:id="rId13"/>
    <p:sldId id="267" r:id="rId14"/>
    <p:sldId id="268" r:id="rId15"/>
    <p:sldId id="269" r:id="rId16"/>
    <p:sldId id="270" r:id="rId17"/>
    <p:sldId id="271" r:id="rId18"/>
    <p:sldId id="272" r:id="rId19"/>
    <p:sldId id="273" r:id="rId20"/>
    <p:sldId id="298" r:id="rId21"/>
    <p:sldId id="275" r:id="rId22"/>
    <p:sldId id="276" r:id="rId23"/>
    <p:sldId id="277" r:id="rId24"/>
    <p:sldId id="278" r:id="rId25"/>
    <p:sldId id="279" r:id="rId26"/>
    <p:sldId id="280" r:id="rId27"/>
    <p:sldId id="281"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482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BB34FF-B354-4B7C-9916-8BE65557829B}" v="1" dt="2026-08-19T19:25:26.3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404" autoAdjust="0"/>
  </p:normalViewPr>
  <p:slideViewPr>
    <p:cSldViewPr snapToGrid="0" snapToObjects="1">
      <p:cViewPr varScale="1">
        <p:scale>
          <a:sx n="74" d="100"/>
          <a:sy n="74" d="100"/>
        </p:scale>
        <p:origin x="106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a delle donne" userId="bccfde87c812eabf" providerId="LiveId" clId="{63C4EB39-52B5-4101-B6B9-27F9C95430F6}"/>
    <pc:docChg chg="modSld">
      <pc:chgData name="adriana delle donne" userId="bccfde87c812eabf" providerId="LiveId" clId="{63C4EB39-52B5-4101-B6B9-27F9C95430F6}" dt="2026-08-19T19:44:22.565" v="236" actId="1076"/>
      <pc:docMkLst>
        <pc:docMk/>
      </pc:docMkLst>
      <pc:sldChg chg="addSp modSp mod">
        <pc:chgData name="adriana delle donne" userId="bccfde87c812eabf" providerId="LiveId" clId="{63C4EB39-52B5-4101-B6B9-27F9C95430F6}" dt="2026-08-19T19:28:49.345" v="146" actId="2711"/>
        <pc:sldMkLst>
          <pc:docMk/>
          <pc:sldMk cId="0" sldId="275"/>
        </pc:sldMkLst>
        <pc:spChg chg="mod">
          <ac:chgData name="adriana delle donne" userId="bccfde87c812eabf" providerId="LiveId" clId="{63C4EB39-52B5-4101-B6B9-27F9C95430F6}" dt="2026-08-19T19:28:04.343" v="80" actId="1076"/>
          <ac:spMkLst>
            <pc:docMk/>
            <pc:sldMk cId="0" sldId="275"/>
            <ac:spMk id="5" creationId="{00000000-0000-0000-0000-000000000000}"/>
          </ac:spMkLst>
        </pc:spChg>
        <pc:spChg chg="add mod">
          <ac:chgData name="adriana delle donne" userId="bccfde87c812eabf" providerId="LiveId" clId="{63C4EB39-52B5-4101-B6B9-27F9C95430F6}" dt="2026-08-19T19:28:49.345" v="146" actId="2711"/>
          <ac:spMkLst>
            <pc:docMk/>
            <pc:sldMk cId="0" sldId="275"/>
            <ac:spMk id="8" creationId="{F4D01F32-261E-B5C1-AA43-956926BC9201}"/>
          </ac:spMkLst>
        </pc:spChg>
        <pc:picChg chg="mod">
          <ac:chgData name="adriana delle donne" userId="bccfde87c812eabf" providerId="LiveId" clId="{63C4EB39-52B5-4101-B6B9-27F9C95430F6}" dt="2026-08-19T19:28:08.585" v="81" actId="1076"/>
          <ac:picMkLst>
            <pc:docMk/>
            <pc:sldMk cId="0" sldId="275"/>
            <ac:picMk id="9" creationId="{D5BDF580-D6D4-880C-9DC8-322B4CCB9A59}"/>
          </ac:picMkLst>
        </pc:picChg>
      </pc:sldChg>
      <pc:sldChg chg="addSp modSp mod">
        <pc:chgData name="adriana delle donne" userId="bccfde87c812eabf" providerId="LiveId" clId="{63C4EB39-52B5-4101-B6B9-27F9C95430F6}" dt="2026-08-19T19:30:50.797" v="206" actId="20577"/>
        <pc:sldMkLst>
          <pc:docMk/>
          <pc:sldMk cId="0" sldId="276"/>
        </pc:sldMkLst>
        <pc:spChg chg="mod">
          <ac:chgData name="adriana delle donne" userId="bccfde87c812eabf" providerId="LiveId" clId="{63C4EB39-52B5-4101-B6B9-27F9C95430F6}" dt="2026-08-19T19:29:01.820" v="147" actId="1076"/>
          <ac:spMkLst>
            <pc:docMk/>
            <pc:sldMk cId="0" sldId="276"/>
            <ac:spMk id="5" creationId="{00000000-0000-0000-0000-000000000000}"/>
          </ac:spMkLst>
        </pc:spChg>
        <pc:spChg chg="add mod">
          <ac:chgData name="adriana delle donne" userId="bccfde87c812eabf" providerId="LiveId" clId="{63C4EB39-52B5-4101-B6B9-27F9C95430F6}" dt="2026-08-19T19:30:50.797" v="206" actId="20577"/>
          <ac:spMkLst>
            <pc:docMk/>
            <pc:sldMk cId="0" sldId="276"/>
            <ac:spMk id="8" creationId="{FE21EE44-44F7-24AF-72D9-9C95542112A7}"/>
          </ac:spMkLst>
        </pc:spChg>
        <pc:spChg chg="mod">
          <ac:chgData name="adriana delle donne" userId="bccfde87c812eabf" providerId="LiveId" clId="{63C4EB39-52B5-4101-B6B9-27F9C95430F6}" dt="2026-08-19T19:29:07.082" v="148" actId="1076"/>
          <ac:spMkLst>
            <pc:docMk/>
            <pc:sldMk cId="0" sldId="276"/>
            <ac:spMk id="9" creationId="{4D87EC79-3F41-5076-541C-617227199FB4}"/>
          </ac:spMkLst>
        </pc:spChg>
        <pc:picChg chg="mod">
          <ac:chgData name="adriana delle donne" userId="bccfde87c812eabf" providerId="LiveId" clId="{63C4EB39-52B5-4101-B6B9-27F9C95430F6}" dt="2026-08-19T19:29:11.202" v="149" actId="1076"/>
          <ac:picMkLst>
            <pc:docMk/>
            <pc:sldMk cId="0" sldId="276"/>
            <ac:picMk id="7" creationId="{DEDBCC13-C245-7B0E-E7F2-9D20F2E351E1}"/>
          </ac:picMkLst>
        </pc:picChg>
      </pc:sldChg>
      <pc:sldChg chg="addSp modSp mod">
        <pc:chgData name="adriana delle donne" userId="bccfde87c812eabf" providerId="LiveId" clId="{63C4EB39-52B5-4101-B6B9-27F9C95430F6}" dt="2026-08-19T19:42:31.699" v="233" actId="1076"/>
        <pc:sldMkLst>
          <pc:docMk/>
          <pc:sldMk cId="0" sldId="277"/>
        </pc:sldMkLst>
        <pc:spChg chg="add mod">
          <ac:chgData name="adriana delle donne" userId="bccfde87c812eabf" providerId="LiveId" clId="{63C4EB39-52B5-4101-B6B9-27F9C95430F6}" dt="2026-08-19T19:42:31.699" v="233" actId="1076"/>
          <ac:spMkLst>
            <pc:docMk/>
            <pc:sldMk cId="0" sldId="277"/>
            <ac:spMk id="8" creationId="{BFFF8EF2-A7D7-E79E-D023-C181BB917D3F}"/>
          </ac:spMkLst>
        </pc:spChg>
        <pc:picChg chg="mod">
          <ac:chgData name="adriana delle donne" userId="bccfde87c812eabf" providerId="LiveId" clId="{63C4EB39-52B5-4101-B6B9-27F9C95430F6}" dt="2026-08-19T19:41:46.662" v="214" actId="1076"/>
          <ac:picMkLst>
            <pc:docMk/>
            <pc:sldMk cId="0" sldId="277"/>
            <ac:picMk id="7" creationId="{DA7213AA-987B-6691-55E9-A794B8C7ED45}"/>
          </ac:picMkLst>
        </pc:picChg>
      </pc:sldChg>
      <pc:sldChg chg="modSp mod">
        <pc:chgData name="adriana delle donne" userId="bccfde87c812eabf" providerId="LiveId" clId="{63C4EB39-52B5-4101-B6B9-27F9C95430F6}" dt="2026-08-19T19:44:22.565" v="236" actId="1076"/>
        <pc:sldMkLst>
          <pc:docMk/>
          <pc:sldMk cId="0" sldId="278"/>
        </pc:sldMkLst>
        <pc:spChg chg="mod">
          <ac:chgData name="adriana delle donne" userId="bccfde87c812eabf" providerId="LiveId" clId="{63C4EB39-52B5-4101-B6B9-27F9C95430F6}" dt="2026-08-19T19:44:17.343" v="235" actId="1076"/>
          <ac:spMkLst>
            <pc:docMk/>
            <pc:sldMk cId="0" sldId="278"/>
            <ac:spMk id="5" creationId="{00000000-0000-0000-0000-000000000000}"/>
          </ac:spMkLst>
        </pc:spChg>
        <pc:spChg chg="mod">
          <ac:chgData name="adriana delle donne" userId="bccfde87c812eabf" providerId="LiveId" clId="{63C4EB39-52B5-4101-B6B9-27F9C95430F6}" dt="2026-08-19T19:44:22.565" v="236" actId="1076"/>
          <ac:spMkLst>
            <pc:docMk/>
            <pc:sldMk cId="0" sldId="278"/>
            <ac:spMk id="9" creationId="{5E97F7A0-F2C3-3F6A-B65E-75652EE78ACB}"/>
          </ac:spMkLst>
        </pc:spChg>
      </pc:sldChg>
      <pc:sldChg chg="addSp modSp mod">
        <pc:chgData name="adriana delle donne" userId="bccfde87c812eabf" providerId="LiveId" clId="{63C4EB39-52B5-4101-B6B9-27F9C95430F6}" dt="2026-08-19T19:26:24.689" v="77" actId="2711"/>
        <pc:sldMkLst>
          <pc:docMk/>
          <pc:sldMk cId="2220790859" sldId="298"/>
        </pc:sldMkLst>
        <pc:spChg chg="mod">
          <ac:chgData name="adriana delle donne" userId="bccfde87c812eabf" providerId="LiveId" clId="{63C4EB39-52B5-4101-B6B9-27F9C95430F6}" dt="2026-08-19T19:25:20.504" v="3" actId="1076"/>
          <ac:spMkLst>
            <pc:docMk/>
            <pc:sldMk cId="2220790859" sldId="298"/>
            <ac:spMk id="8" creationId="{8B7FBC09-14C5-2261-210D-05F147FF5244}"/>
          </ac:spMkLst>
        </pc:spChg>
        <pc:spChg chg="add mod">
          <ac:chgData name="adriana delle donne" userId="bccfde87c812eabf" providerId="LiveId" clId="{63C4EB39-52B5-4101-B6B9-27F9C95430F6}" dt="2026-08-19T19:26:24.689" v="77" actId="2711"/>
          <ac:spMkLst>
            <pc:docMk/>
            <pc:sldMk cId="2220790859" sldId="298"/>
            <ac:spMk id="9" creationId="{11742256-3552-9F1B-5CC9-EFA5293FF67F}"/>
          </ac:spMkLst>
        </pc:spChg>
        <pc:picChg chg="mod">
          <ac:chgData name="adriana delle donne" userId="bccfde87c812eabf" providerId="LiveId" clId="{63C4EB39-52B5-4101-B6B9-27F9C95430F6}" dt="2026-08-19T19:25:26.296" v="4" actId="1076"/>
          <ac:picMkLst>
            <pc:docMk/>
            <pc:sldMk cId="2220790859" sldId="298"/>
            <ac:picMk id="7" creationId="{AB6D648A-7A8C-B60F-8875-136789B9B70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E5A1B-6207-4243-A724-4586CC082517}" type="datetimeFigureOut">
              <a:rPr lang="en-US" smtClean="0"/>
              <a:t>8/19/2026</a:t>
            </a:fld>
            <a:endParaRPr lang="en-US"/>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6210F1-BB70-446A-8D4E-29DF78B41E80}" type="slidenum">
              <a:rPr lang="en-US" smtClean="0"/>
              <a:t>‹Nº›</a:t>
            </a:fld>
            <a:endParaRPr lang="en-US"/>
          </a:p>
        </p:txBody>
      </p:sp>
    </p:spTree>
    <p:extLst>
      <p:ext uri="{BB962C8B-B14F-4D97-AF65-F5344CB8AC3E}">
        <p14:creationId xmlns:p14="http://schemas.microsoft.com/office/powerpoint/2010/main" val="1739806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5"/>
          </p:nvPr>
        </p:nvSpPr>
        <p:spPr/>
        <p:txBody>
          <a:bodyPr/>
          <a:lstStyle/>
          <a:p>
            <a:fld id="{F66210F1-BB70-446A-8D4E-29DF78B41E80}" type="slidenum">
              <a:rPr lang="en-US" smtClean="0"/>
              <a:t>6</a:t>
            </a:fld>
            <a:endParaRPr lang="en-US"/>
          </a:p>
        </p:txBody>
      </p:sp>
    </p:spTree>
    <p:extLst>
      <p:ext uri="{BB962C8B-B14F-4D97-AF65-F5344CB8AC3E}">
        <p14:creationId xmlns:p14="http://schemas.microsoft.com/office/powerpoint/2010/main" val="4012440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4B6A1A7E-89B0-0F62-1B33-087814E2BE32}"/>
              </a:ext>
            </a:extLst>
          </p:cNvPr>
          <p:cNvSpPr txBox="1"/>
          <p:nvPr/>
        </p:nvSpPr>
        <p:spPr>
          <a:xfrm>
            <a:off x="2898823" y="5071174"/>
            <a:ext cx="4038606" cy="95410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s-AR" sz="2800" b="1" i="0" u="none" strike="noStrike" kern="1200" cap="none" spc="0" normalizeH="0" baseline="0" noProof="0" dirty="0">
                <a:ln>
                  <a:noFill/>
                </a:ln>
                <a:solidFill>
                  <a:prstClr val="black"/>
                </a:solidFill>
                <a:effectLst/>
                <a:uLnTx/>
                <a:uFillTx/>
                <a:latin typeface="Tw Cen MT"/>
                <a:ea typeface="+mn-ea"/>
                <a:cs typeface="+mn-cs"/>
              </a:rPr>
              <a:t>Profesora</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s-AR" sz="2800" b="1" i="0" u="none" strike="noStrike" kern="1200" cap="none" spc="0" normalizeH="0" baseline="0" noProof="0" dirty="0">
                <a:ln>
                  <a:noFill/>
                </a:ln>
                <a:solidFill>
                  <a:prstClr val="black"/>
                </a:solidFill>
                <a:effectLst/>
                <a:uLnTx/>
                <a:uFillTx/>
                <a:latin typeface="Tw Cen MT"/>
                <a:ea typeface="+mn-ea"/>
                <a:cs typeface="+mn-cs"/>
              </a:rPr>
              <a:t>Dra. Adriana Delle Donne</a:t>
            </a:r>
          </a:p>
        </p:txBody>
      </p:sp>
      <p:sp>
        <p:nvSpPr>
          <p:cNvPr id="8" name="CuadroTexto 7">
            <a:extLst>
              <a:ext uri="{FF2B5EF4-FFF2-40B4-BE49-F238E27FC236}">
                <a16:creationId xmlns:a16="http://schemas.microsoft.com/office/drawing/2014/main" id="{FD6DB1E1-0588-74EC-AE0F-2B275872BCC9}"/>
              </a:ext>
            </a:extLst>
          </p:cNvPr>
          <p:cNvSpPr txBox="1"/>
          <p:nvPr/>
        </p:nvSpPr>
        <p:spPr>
          <a:xfrm>
            <a:off x="2124389" y="3671636"/>
            <a:ext cx="4730847" cy="954107"/>
          </a:xfrm>
          <a:prstGeom prst="rect">
            <a:avLst/>
          </a:prstGeom>
          <a:noFill/>
        </p:spPr>
        <p:txBody>
          <a:bodyPr wrap="non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AR" sz="2800" b="1" i="0" u="none" strike="noStrike" kern="1200" cap="none" spc="0" normalizeH="0" baseline="0" noProof="0" dirty="0">
                <a:ln>
                  <a:noFill/>
                </a:ln>
                <a:solidFill>
                  <a:srgbClr val="CC0000"/>
                </a:solidFill>
                <a:effectLst/>
                <a:uLnTx/>
                <a:uFillTx/>
                <a:latin typeface="Tw Cen MT"/>
                <a:ea typeface="+mn-ea"/>
                <a:cs typeface="+mn-cs"/>
              </a:rPr>
              <a:t>Clase N 3</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s-AR" sz="2800" b="1" i="0" u="none" strike="noStrike" kern="1200" cap="none" spc="0" normalizeH="0" baseline="0" noProof="0" dirty="0">
                <a:ln>
                  <a:noFill/>
                </a:ln>
                <a:solidFill>
                  <a:srgbClr val="CC0000"/>
                </a:solidFill>
                <a:effectLst/>
                <a:uLnTx/>
                <a:uFillTx/>
                <a:latin typeface="Tw Cen MT"/>
                <a:ea typeface="+mn-ea"/>
                <a:cs typeface="+mn-cs"/>
              </a:rPr>
              <a:t>AO – Asignación de autoridad</a:t>
            </a:r>
          </a:p>
        </p:txBody>
      </p:sp>
      <p:pic>
        <p:nvPicPr>
          <p:cNvPr id="4" name="Imagen 3" descr="UCEMA&#10;&#10;El contenido generado por IA puede ser incorrecto.">
            <a:extLst>
              <a:ext uri="{FF2B5EF4-FFF2-40B4-BE49-F238E27FC236}">
                <a16:creationId xmlns:a16="http://schemas.microsoft.com/office/drawing/2014/main" id="{7539B644-65D3-DFE6-DE98-1CE60177DB81}"/>
              </a:ext>
            </a:extLst>
          </p:cNvPr>
          <p:cNvPicPr>
            <a:picLocks noChangeAspect="1"/>
          </p:cNvPicPr>
          <p:nvPr/>
        </p:nvPicPr>
        <p:blipFill>
          <a:blip r:embed="rId2"/>
          <a:stretch>
            <a:fillRect/>
          </a:stretch>
        </p:blipFill>
        <p:spPr>
          <a:xfrm>
            <a:off x="3886710" y="226542"/>
            <a:ext cx="1658256" cy="1658256"/>
          </a:xfrm>
          <a:prstGeom prst="rect">
            <a:avLst/>
          </a:prstGeom>
        </p:spPr>
      </p:pic>
      <p:pic>
        <p:nvPicPr>
          <p:cNvPr id="9" name="Imagen 8" descr="The image shows a person holding a phone.&#10;&#10;El contenido generado por IA puede ser incorrecto.">
            <a:extLst>
              <a:ext uri="{FF2B5EF4-FFF2-40B4-BE49-F238E27FC236}">
                <a16:creationId xmlns:a16="http://schemas.microsoft.com/office/drawing/2014/main" id="{81C31408-482E-266A-7A35-7F43F9D04F7F}"/>
              </a:ext>
            </a:extLst>
          </p:cNvPr>
          <p:cNvPicPr>
            <a:picLocks noChangeAspect="1"/>
          </p:cNvPicPr>
          <p:nvPr/>
        </p:nvPicPr>
        <p:blipFill>
          <a:blip r:embed="rId3"/>
          <a:stretch>
            <a:fillRect/>
          </a:stretch>
        </p:blipFill>
        <p:spPr>
          <a:xfrm>
            <a:off x="1082307" y="2598049"/>
            <a:ext cx="7267062" cy="11766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2744"/>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286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9144000" cy="2286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457200"/>
            <a:ext cx="8229600" cy="457200"/>
          </a:xfrm>
          <a:prstGeom prst="rect">
            <a:avLst/>
          </a:prstGeom>
          <a:noFill/>
        </p:spPr>
        <p:txBody>
          <a:bodyPr wrap="square" anchor="ctr">
            <a:spAutoFit/>
          </a:bodyPr>
          <a:lstStyle/>
          <a:p>
            <a:pPr algn="ctr"/>
            <a:r>
              <a:rPr sz="1600" b="1" i="1" dirty="0">
                <a:solidFill>
                  <a:srgbClr val="D4A017"/>
                </a:solidFill>
                <a:latin typeface="Tw Cen MT"/>
              </a:rPr>
              <a:t>PREGUNTA CENTRAL DE LA CLASE</a:t>
            </a:r>
          </a:p>
        </p:txBody>
      </p:sp>
      <p:sp>
        <p:nvSpPr>
          <p:cNvPr id="5" name="TextBox 4"/>
          <p:cNvSpPr txBox="1"/>
          <p:nvPr/>
        </p:nvSpPr>
        <p:spPr>
          <a:xfrm>
            <a:off x="457200" y="1066800"/>
            <a:ext cx="8229600" cy="2133600"/>
          </a:xfrm>
          <a:prstGeom prst="rect">
            <a:avLst/>
          </a:prstGeom>
          <a:noFill/>
        </p:spPr>
        <p:txBody>
          <a:bodyPr wrap="square">
            <a:spAutoFit/>
          </a:bodyPr>
          <a:lstStyle/>
          <a:p>
            <a:pPr algn="ctr"/>
            <a:r>
              <a:rPr sz="3000" b="1" i="0" dirty="0">
                <a:solidFill>
                  <a:srgbClr val="FFFFFF"/>
                </a:solidFill>
                <a:latin typeface="Tw Cen MT"/>
              </a:rPr>
              <a:t>¿</a:t>
            </a:r>
            <a:r>
              <a:rPr sz="3000" b="1" i="0" dirty="0" err="1">
                <a:solidFill>
                  <a:srgbClr val="FFFFFF"/>
                </a:solidFill>
                <a:latin typeface="Tw Cen MT"/>
              </a:rPr>
              <a:t>Cómo</a:t>
            </a:r>
            <a:r>
              <a:rPr sz="3000" b="1" i="0" dirty="0">
                <a:solidFill>
                  <a:srgbClr val="FFFFFF"/>
                </a:solidFill>
                <a:latin typeface="Tw Cen MT"/>
              </a:rPr>
              <a:t> </a:t>
            </a:r>
            <a:r>
              <a:rPr sz="3000" b="1" i="0" dirty="0" err="1">
                <a:solidFill>
                  <a:srgbClr val="FFFFFF"/>
                </a:solidFill>
                <a:latin typeface="Tw Cen MT"/>
              </a:rPr>
              <a:t>asignar</a:t>
            </a:r>
            <a:r>
              <a:rPr sz="3000" b="1" i="0" dirty="0">
                <a:solidFill>
                  <a:srgbClr val="FFFFFF"/>
                </a:solidFill>
                <a:latin typeface="Tw Cen MT"/>
              </a:rPr>
              <a:t> </a:t>
            </a:r>
            <a:r>
              <a:rPr sz="3000" b="1" i="0" dirty="0" err="1">
                <a:solidFill>
                  <a:srgbClr val="FFFFFF"/>
                </a:solidFill>
                <a:latin typeface="Tw Cen MT"/>
              </a:rPr>
              <a:t>los</a:t>
            </a:r>
            <a:r>
              <a:rPr sz="3000" b="1" i="0" dirty="0">
                <a:solidFill>
                  <a:srgbClr val="FFFFFF"/>
                </a:solidFill>
                <a:latin typeface="Tw Cen MT"/>
              </a:rPr>
              <a:t> derechos de </a:t>
            </a:r>
            <a:r>
              <a:rPr sz="3000" b="1" i="0" dirty="0" err="1">
                <a:solidFill>
                  <a:srgbClr val="FFFFFF"/>
                </a:solidFill>
                <a:latin typeface="Tw Cen MT"/>
              </a:rPr>
              <a:t>decisión</a:t>
            </a:r>
            <a:r>
              <a:rPr sz="3000" b="1" i="0" dirty="0">
                <a:solidFill>
                  <a:srgbClr val="FFFFFF"/>
                </a:solidFill>
                <a:latin typeface="Tw Cen MT"/>
              </a:rPr>
              <a:t> para </a:t>
            </a:r>
            <a:r>
              <a:rPr sz="3000" b="1" i="0" dirty="0" err="1">
                <a:solidFill>
                  <a:srgbClr val="FFFFFF"/>
                </a:solidFill>
                <a:latin typeface="Tw Cen MT"/>
              </a:rPr>
              <a:t>que</a:t>
            </a:r>
            <a:r>
              <a:rPr sz="3000" b="1" i="0" dirty="0">
                <a:solidFill>
                  <a:srgbClr val="FFFFFF"/>
                </a:solidFill>
                <a:latin typeface="Tw Cen MT"/>
              </a:rPr>
              <a:t> </a:t>
            </a:r>
            <a:r>
              <a:rPr sz="3000" b="1" i="0" dirty="0" err="1">
                <a:solidFill>
                  <a:srgbClr val="FFFFFF"/>
                </a:solidFill>
                <a:latin typeface="Tw Cen MT"/>
              </a:rPr>
              <a:t>quienes</a:t>
            </a:r>
            <a:r>
              <a:rPr sz="3000" b="1" i="0" dirty="0">
                <a:solidFill>
                  <a:srgbClr val="FFFFFF"/>
                </a:solidFill>
                <a:latin typeface="Tw Cen MT"/>
              </a:rPr>
              <a:t> </a:t>
            </a:r>
            <a:r>
              <a:rPr sz="3000" b="1" i="0" dirty="0" err="1">
                <a:solidFill>
                  <a:srgbClr val="FFFFFF"/>
                </a:solidFill>
                <a:latin typeface="Tw Cen MT"/>
              </a:rPr>
              <a:t>deciden</a:t>
            </a:r>
            <a:r>
              <a:rPr sz="3000" b="1" i="0" dirty="0">
                <a:solidFill>
                  <a:srgbClr val="FFFFFF"/>
                </a:solidFill>
                <a:latin typeface="Tw Cen MT"/>
              </a:rPr>
              <a:t> </a:t>
            </a:r>
            <a:r>
              <a:rPr sz="3000" b="1" i="0" dirty="0" err="1">
                <a:solidFill>
                  <a:srgbClr val="FFFFFF"/>
                </a:solidFill>
                <a:latin typeface="Tw Cen MT"/>
              </a:rPr>
              <a:t>tengan</a:t>
            </a:r>
            <a:r>
              <a:rPr sz="3000" b="1" i="0" dirty="0">
                <a:solidFill>
                  <a:srgbClr val="FFFFFF"/>
                </a:solidFill>
                <a:latin typeface="Tw Cen MT"/>
              </a:rPr>
              <a:t> la </a:t>
            </a:r>
            <a:r>
              <a:rPr sz="3000" b="1" i="0" dirty="0" err="1">
                <a:solidFill>
                  <a:srgbClr val="FFFFFF"/>
                </a:solidFill>
                <a:latin typeface="Tw Cen MT"/>
              </a:rPr>
              <a:t>información</a:t>
            </a:r>
            <a:r>
              <a:rPr sz="3000" b="1" i="0" dirty="0">
                <a:solidFill>
                  <a:srgbClr val="FFFFFF"/>
                </a:solidFill>
                <a:latin typeface="Tw Cen MT"/>
              </a:rPr>
              <a:t> </a:t>
            </a:r>
            <a:r>
              <a:rPr sz="3000" b="1" i="0" dirty="0" err="1">
                <a:solidFill>
                  <a:srgbClr val="FFFFFF"/>
                </a:solidFill>
                <a:latin typeface="Tw Cen MT"/>
              </a:rPr>
              <a:t>relevante</a:t>
            </a:r>
            <a:r>
              <a:rPr sz="3000" b="1" i="0" dirty="0">
                <a:solidFill>
                  <a:srgbClr val="FFFFFF"/>
                </a:solidFill>
                <a:latin typeface="Tw Cen MT"/>
              </a:rPr>
              <a:t> y </a:t>
            </a:r>
            <a:r>
              <a:rPr sz="3000" b="1" i="0" dirty="0" err="1">
                <a:solidFill>
                  <a:srgbClr val="FFFFFF"/>
                </a:solidFill>
                <a:latin typeface="Tw Cen MT"/>
              </a:rPr>
              <a:t>los</a:t>
            </a:r>
            <a:r>
              <a:rPr sz="3000" b="1" i="0" dirty="0">
                <a:solidFill>
                  <a:srgbClr val="FFFFFF"/>
                </a:solidFill>
                <a:latin typeface="Tw Cen MT"/>
              </a:rPr>
              <a:t> </a:t>
            </a:r>
            <a:r>
              <a:rPr sz="3000" b="1" i="0" dirty="0" err="1">
                <a:solidFill>
                  <a:srgbClr val="FFFFFF"/>
                </a:solidFill>
                <a:latin typeface="Tw Cen MT"/>
              </a:rPr>
              <a:t>incentivos</a:t>
            </a:r>
            <a:r>
              <a:rPr sz="3000" b="1" i="0" dirty="0">
                <a:solidFill>
                  <a:srgbClr val="FFFFFF"/>
                </a:solidFill>
                <a:latin typeface="Tw Cen MT"/>
              </a:rPr>
              <a:t> para </a:t>
            </a:r>
            <a:r>
              <a:rPr sz="3000" b="1" i="0" dirty="0" err="1">
                <a:solidFill>
                  <a:srgbClr val="FFFFFF"/>
                </a:solidFill>
                <a:latin typeface="Tw Cen MT"/>
              </a:rPr>
              <a:t>generar</a:t>
            </a:r>
            <a:r>
              <a:rPr sz="3000" b="1" i="0" dirty="0">
                <a:solidFill>
                  <a:srgbClr val="FFFFFF"/>
                </a:solidFill>
                <a:latin typeface="Tw Cen MT"/>
              </a:rPr>
              <a:t> valor?</a:t>
            </a:r>
          </a:p>
        </p:txBody>
      </p:sp>
      <p:sp>
        <p:nvSpPr>
          <p:cNvPr id="7" name="TextBox 6"/>
          <p:cNvSpPr txBox="1"/>
          <p:nvPr/>
        </p:nvSpPr>
        <p:spPr>
          <a:xfrm>
            <a:off x="403412" y="3124200"/>
            <a:ext cx="8229600" cy="457200"/>
          </a:xfrm>
          <a:prstGeom prst="rect">
            <a:avLst/>
          </a:prstGeom>
          <a:noFill/>
        </p:spPr>
        <p:txBody>
          <a:bodyPr wrap="square" anchor="ctr">
            <a:spAutoFit/>
          </a:bodyPr>
          <a:lstStyle/>
          <a:p>
            <a:pPr algn="ctr"/>
            <a:r>
              <a:rPr sz="2400" b="1" i="0" dirty="0">
                <a:solidFill>
                  <a:srgbClr val="D4A017"/>
                </a:solidFill>
                <a:latin typeface="Tw Cen MT"/>
              </a:rPr>
              <a:t>Los </a:t>
            </a:r>
            <a:r>
              <a:rPr sz="2400" b="1" i="0" dirty="0" err="1">
                <a:solidFill>
                  <a:srgbClr val="D4A017"/>
                </a:solidFill>
                <a:latin typeface="Tw Cen MT"/>
              </a:rPr>
              <a:t>tres</a:t>
            </a:r>
            <a:r>
              <a:rPr sz="2400" b="1" i="0" dirty="0">
                <a:solidFill>
                  <a:srgbClr val="D4A017"/>
                </a:solidFill>
                <a:latin typeface="Tw Cen MT"/>
              </a:rPr>
              <a:t> </a:t>
            </a:r>
            <a:r>
              <a:rPr sz="2400" b="1" i="0" dirty="0" err="1">
                <a:solidFill>
                  <a:srgbClr val="D4A017"/>
                </a:solidFill>
                <a:latin typeface="Tw Cen MT"/>
              </a:rPr>
              <a:t>pilares</a:t>
            </a:r>
            <a:r>
              <a:rPr sz="2400" b="1" i="0" dirty="0">
                <a:solidFill>
                  <a:srgbClr val="D4A017"/>
                </a:solidFill>
                <a:latin typeface="Tw Cen MT"/>
              </a:rPr>
              <a:t> de la AO:</a:t>
            </a:r>
          </a:p>
        </p:txBody>
      </p:sp>
      <p:sp>
        <p:nvSpPr>
          <p:cNvPr id="8" name="TextBox 7"/>
          <p:cNvSpPr txBox="1"/>
          <p:nvPr/>
        </p:nvSpPr>
        <p:spPr>
          <a:xfrm>
            <a:off x="457200" y="3775502"/>
            <a:ext cx="8229600" cy="830997"/>
          </a:xfrm>
          <a:prstGeom prst="rect">
            <a:avLst/>
          </a:prstGeom>
          <a:noFill/>
        </p:spPr>
        <p:txBody>
          <a:bodyPr wrap="square" anchor="ctr">
            <a:spAutoFit/>
          </a:bodyPr>
          <a:lstStyle/>
          <a:p>
            <a:pPr algn="ctr"/>
            <a:r>
              <a:rPr sz="2400" b="1" i="0" dirty="0" err="1">
                <a:solidFill>
                  <a:srgbClr val="FFFFFF"/>
                </a:solidFill>
                <a:latin typeface="Tw Cen MT"/>
              </a:rPr>
              <a:t>Asignación</a:t>
            </a:r>
            <a:r>
              <a:rPr sz="2400" b="1" i="0" dirty="0">
                <a:solidFill>
                  <a:srgbClr val="FFFFFF"/>
                </a:solidFill>
                <a:latin typeface="Tw Cen MT"/>
              </a:rPr>
              <a:t> de </a:t>
            </a:r>
            <a:r>
              <a:rPr sz="2400" b="1" i="0" dirty="0" err="1">
                <a:solidFill>
                  <a:srgbClr val="FFFFFF"/>
                </a:solidFill>
                <a:latin typeface="Tw Cen MT"/>
              </a:rPr>
              <a:t>autoridad</a:t>
            </a:r>
            <a:r>
              <a:rPr sz="2400" b="1" i="0" dirty="0">
                <a:solidFill>
                  <a:srgbClr val="FFFFFF"/>
                </a:solidFill>
                <a:latin typeface="Tw Cen MT"/>
              </a:rPr>
              <a:t>  </a:t>
            </a:r>
            <a:endParaRPr lang="es-419" sz="2400" b="1" i="0" dirty="0">
              <a:solidFill>
                <a:srgbClr val="FFFFFF"/>
              </a:solidFill>
              <a:latin typeface="Tw Cen MT"/>
            </a:endParaRPr>
          </a:p>
          <a:p>
            <a:pPr algn="ctr"/>
            <a:r>
              <a:rPr sz="2400" i="0" dirty="0">
                <a:solidFill>
                  <a:srgbClr val="FFFFFF"/>
                </a:solidFill>
                <a:latin typeface="Tw Cen MT"/>
              </a:rPr>
              <a:t>▸  </a:t>
            </a:r>
            <a:r>
              <a:rPr sz="2400" i="0" dirty="0" err="1">
                <a:solidFill>
                  <a:srgbClr val="FFFFFF"/>
                </a:solidFill>
                <a:latin typeface="Tw Cen MT"/>
              </a:rPr>
              <a:t>Medición</a:t>
            </a:r>
            <a:r>
              <a:rPr sz="2400" i="0" dirty="0">
                <a:solidFill>
                  <a:srgbClr val="FFFFFF"/>
                </a:solidFill>
                <a:latin typeface="Tw Cen MT"/>
              </a:rPr>
              <a:t> del </a:t>
            </a:r>
            <a:r>
              <a:rPr sz="2400" i="0" dirty="0" err="1">
                <a:solidFill>
                  <a:srgbClr val="FFFFFF"/>
                </a:solidFill>
                <a:latin typeface="Tw Cen MT"/>
              </a:rPr>
              <a:t>desempeño</a:t>
            </a:r>
            <a:r>
              <a:rPr sz="2400" i="0" dirty="0">
                <a:solidFill>
                  <a:srgbClr val="FFFFFF"/>
                </a:solidFill>
                <a:latin typeface="Tw Cen MT"/>
              </a:rPr>
              <a:t>  ▸  Política </a:t>
            </a:r>
            <a:r>
              <a:rPr sz="2400" i="0" dirty="0" err="1">
                <a:solidFill>
                  <a:srgbClr val="FFFFFF"/>
                </a:solidFill>
                <a:latin typeface="Tw Cen MT"/>
              </a:rPr>
              <a:t>compensatoria</a:t>
            </a:r>
            <a:endParaRPr sz="2400" i="0" dirty="0">
              <a:solidFill>
                <a:srgbClr val="FFFFFF"/>
              </a:solidFill>
              <a:latin typeface="Tw Cen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 4">
            <a:extLst>
              <a:ext uri="{FF2B5EF4-FFF2-40B4-BE49-F238E27FC236}">
                <a16:creationId xmlns:a16="http://schemas.microsoft.com/office/drawing/2014/main" id="{1CA4A5B2-7F17-5DF6-3631-82F9EA33B293}"/>
              </a:ext>
            </a:extLst>
          </p:cNvPr>
          <p:cNvSpPr/>
          <p:nvPr/>
        </p:nvSpPr>
        <p:spPr>
          <a:xfrm>
            <a:off x="335280" y="291565"/>
            <a:ext cx="8503920" cy="530352"/>
          </a:xfrm>
          <a:prstGeom prst="rect">
            <a:avLst/>
          </a:prstGeom>
          <a:noFill/>
          <a:ln/>
        </p:spPr>
        <p:txBody>
          <a:bodyPr wrap="square" lIns="0" tIns="0" rIns="0" bIns="0" rtlCol="0" anchor="ctr"/>
          <a:lstStyle/>
          <a:p>
            <a:r>
              <a:rPr lang="en-US" sz="2400" b="1" dirty="0">
                <a:solidFill>
                  <a:srgbClr val="FFFFFF"/>
                </a:solidFill>
                <a:latin typeface="Tw Cen MT" panose="020B0602020104020603" pitchFamily="34" charset="0"/>
              </a:rPr>
              <a:t>Taller: Spotify vs. Apple Music – </a:t>
            </a:r>
            <a:r>
              <a:rPr lang="en-US" sz="2400" b="1" dirty="0">
                <a:solidFill>
                  <a:srgbClr val="FFFFFF"/>
                </a:solidFill>
                <a:latin typeface="Tw Cen MT"/>
              </a:rPr>
              <a:t>¿</a:t>
            </a:r>
            <a:r>
              <a:rPr lang="en-US" sz="2400" b="1" dirty="0" err="1">
                <a:solidFill>
                  <a:srgbClr val="FFFFFF"/>
                </a:solidFill>
                <a:latin typeface="Tw Cen MT" panose="020B0602020104020603" pitchFamily="34" charset="0"/>
              </a:rPr>
              <a:t>Cómo</a:t>
            </a:r>
            <a:r>
              <a:rPr lang="en-US" sz="2400" b="1" dirty="0">
                <a:solidFill>
                  <a:srgbClr val="FFFFFF"/>
                </a:solidFill>
                <a:latin typeface="Tw Cen MT" panose="020B0602020104020603" pitchFamily="34" charset="0"/>
              </a:rPr>
              <a:t> </a:t>
            </a:r>
            <a:r>
              <a:rPr lang="en-US" sz="2400" b="1" dirty="0" err="1">
                <a:solidFill>
                  <a:srgbClr val="FFFFFF"/>
                </a:solidFill>
                <a:latin typeface="Tw Cen MT" panose="020B0602020104020603" pitchFamily="34" charset="0"/>
              </a:rPr>
              <a:t>funcionan</a:t>
            </a:r>
            <a:r>
              <a:rPr lang="en-US" sz="2400" b="1" dirty="0">
                <a:solidFill>
                  <a:srgbClr val="FFFFFF"/>
                </a:solidFill>
                <a:latin typeface="Tw Cen MT" panose="020B0602020104020603" pitchFamily="34" charset="0"/>
              </a:rPr>
              <a:t>?</a:t>
            </a:r>
            <a:endParaRPr lang="en-US" sz="2400" dirty="0">
              <a:latin typeface="Tw Cen MT" panose="020B0602020104020603" pitchFamily="34" charset="0"/>
            </a:endParaRPr>
          </a:p>
        </p:txBody>
      </p:sp>
      <p:sp>
        <p:nvSpPr>
          <p:cNvPr id="8" name="Shape 6"/>
          <p:cNvSpPr/>
          <p:nvPr/>
        </p:nvSpPr>
        <p:spPr>
          <a:xfrm>
            <a:off x="274320" y="1358365"/>
            <a:ext cx="3977640" cy="5435626"/>
          </a:xfrm>
          <a:prstGeom prst="rect">
            <a:avLst/>
          </a:prstGeom>
          <a:solidFill>
            <a:srgbClr val="1E4827"/>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sz="1600">
              <a:latin typeface="Tw Cen MT" panose="020B0602020104020603" pitchFamily="34" charset="0"/>
            </a:endParaRPr>
          </a:p>
        </p:txBody>
      </p:sp>
      <p:sp>
        <p:nvSpPr>
          <p:cNvPr id="9" name="Shape 7"/>
          <p:cNvSpPr/>
          <p:nvPr/>
        </p:nvSpPr>
        <p:spPr>
          <a:xfrm>
            <a:off x="274320" y="1358365"/>
            <a:ext cx="3977640" cy="64008"/>
          </a:xfrm>
          <a:prstGeom prst="rect">
            <a:avLst/>
          </a:prstGeom>
          <a:solidFill>
            <a:srgbClr val="1DB954"/>
          </a:solidFill>
          <a:ln w="12700">
            <a:solidFill>
              <a:srgbClr val="1DB954"/>
            </a:solidFill>
            <a:prstDash val="solid"/>
          </a:ln>
        </p:spPr>
        <p:txBody>
          <a:bodyPr/>
          <a:lstStyle/>
          <a:p>
            <a:endParaRPr lang="en-US" sz="1600">
              <a:latin typeface="Tw Cen MT" panose="020B0602020104020603" pitchFamily="34" charset="0"/>
            </a:endParaRPr>
          </a:p>
        </p:txBody>
      </p:sp>
      <p:sp>
        <p:nvSpPr>
          <p:cNvPr id="10" name="Shape 8"/>
          <p:cNvSpPr/>
          <p:nvPr/>
        </p:nvSpPr>
        <p:spPr>
          <a:xfrm>
            <a:off x="411480" y="1477237"/>
            <a:ext cx="1188720" cy="256032"/>
          </a:xfrm>
          <a:prstGeom prst="roundRect">
            <a:avLst>
              <a:gd name="adj" fmla="val 14286"/>
            </a:avLst>
          </a:prstGeom>
          <a:solidFill>
            <a:srgbClr val="1DB954"/>
          </a:solidFill>
          <a:ln w="12700">
            <a:solidFill>
              <a:srgbClr val="1DB954"/>
            </a:solidFill>
            <a:prstDash val="solid"/>
          </a:ln>
        </p:spPr>
        <p:txBody>
          <a:bodyPr/>
          <a:lstStyle/>
          <a:p>
            <a:endParaRPr lang="en-US" sz="1600">
              <a:latin typeface="Tw Cen MT" panose="020B0602020104020603" pitchFamily="34" charset="0"/>
            </a:endParaRPr>
          </a:p>
        </p:txBody>
      </p:sp>
      <p:sp>
        <p:nvSpPr>
          <p:cNvPr id="11" name="Text 9"/>
          <p:cNvSpPr/>
          <p:nvPr/>
        </p:nvSpPr>
        <p:spPr>
          <a:xfrm>
            <a:off x="411480" y="1477237"/>
            <a:ext cx="1188720" cy="256032"/>
          </a:xfrm>
          <a:prstGeom prst="rect">
            <a:avLst/>
          </a:prstGeom>
          <a:noFill/>
          <a:ln/>
        </p:spPr>
        <p:txBody>
          <a:bodyPr wrap="square" lIns="0" tIns="0" rIns="0" bIns="0" rtlCol="0" anchor="ctr"/>
          <a:lstStyle/>
          <a:p>
            <a:pPr algn="ctr"/>
            <a:r>
              <a:rPr lang="en-US" sz="1600" b="1" dirty="0">
                <a:solidFill>
                  <a:srgbClr val="FFFFFF"/>
                </a:solidFill>
                <a:latin typeface="Tw Cen MT" panose="020B0602020104020603" pitchFamily="34" charset="0"/>
              </a:rPr>
              <a:t>SPOTIFY</a:t>
            </a:r>
            <a:endParaRPr lang="en-US" sz="1600" dirty="0">
              <a:latin typeface="Tw Cen MT" panose="020B0602020104020603" pitchFamily="34" charset="0"/>
            </a:endParaRPr>
          </a:p>
        </p:txBody>
      </p:sp>
      <p:sp>
        <p:nvSpPr>
          <p:cNvPr id="12" name="Text 10"/>
          <p:cNvSpPr/>
          <p:nvPr/>
        </p:nvSpPr>
        <p:spPr>
          <a:xfrm>
            <a:off x="1691640" y="1477237"/>
            <a:ext cx="2377440" cy="256032"/>
          </a:xfrm>
          <a:prstGeom prst="rect">
            <a:avLst/>
          </a:prstGeom>
          <a:noFill/>
          <a:ln/>
        </p:spPr>
        <p:txBody>
          <a:bodyPr wrap="square" lIns="0" tIns="0" rIns="0" bIns="0" rtlCol="0" anchor="ctr"/>
          <a:lstStyle/>
          <a:p>
            <a:r>
              <a:rPr lang="en-US" sz="1600" b="1" dirty="0">
                <a:solidFill>
                  <a:srgbClr val="1DB954"/>
                </a:solidFill>
                <a:latin typeface="Tw Cen MT" panose="020B0602020104020603" pitchFamily="34" charset="0"/>
              </a:rPr>
              <a:t>DESCENTRALIZADO</a:t>
            </a:r>
            <a:endParaRPr lang="en-US" sz="1600" dirty="0">
              <a:latin typeface="Tw Cen MT" panose="020B0602020104020603" pitchFamily="34" charset="0"/>
            </a:endParaRPr>
          </a:p>
        </p:txBody>
      </p:sp>
      <p:sp>
        <p:nvSpPr>
          <p:cNvPr id="13" name="Text 11"/>
          <p:cNvSpPr/>
          <p:nvPr/>
        </p:nvSpPr>
        <p:spPr>
          <a:xfrm>
            <a:off x="411480" y="1815565"/>
            <a:ext cx="3703320" cy="4978426"/>
          </a:xfrm>
          <a:prstGeom prst="rect">
            <a:avLst/>
          </a:prstGeom>
          <a:noFill/>
          <a:ln/>
        </p:spPr>
        <p:txBody>
          <a:bodyPr wrap="square" lIns="0" tIns="0" rIns="0" bIns="0" rtlCol="0" anchor="t"/>
          <a:lstStyle/>
          <a:p>
            <a:r>
              <a:rPr lang="en-US" sz="1500" b="1" dirty="0">
                <a:solidFill>
                  <a:srgbClr val="1DB954"/>
                </a:solidFill>
                <a:latin typeface="Tw Cen MT" panose="020B0602020104020603" pitchFamily="34" charset="0"/>
              </a:rPr>
              <a:t>El modelo Squad:</a:t>
            </a:r>
            <a:endParaRPr lang="en-US" sz="1500" dirty="0">
              <a:latin typeface="Tw Cen MT" panose="020B0602020104020603" pitchFamily="34" charset="0"/>
            </a:endParaRPr>
          </a:p>
          <a:p>
            <a:r>
              <a:rPr lang="en-US" sz="1500" dirty="0">
                <a:solidFill>
                  <a:srgbClr val="CADCFC"/>
                </a:solidFill>
                <a:latin typeface="Tw Cen MT" panose="020B0602020104020603" pitchFamily="34" charset="0"/>
              </a:rPr>
              <a:t>La autoridad se asigna a equipos autónomos de 6–12 personas (</a:t>
            </a:r>
            <a:r>
              <a:rPr lang="en-US" sz="1500" i="1" dirty="0">
                <a:solidFill>
                  <a:srgbClr val="FFFFFF"/>
                </a:solidFill>
                <a:latin typeface="Tw Cen MT" panose="020B0602020104020603" pitchFamily="34" charset="0"/>
              </a:rPr>
              <a:t>squads</a:t>
            </a:r>
            <a:r>
              <a:rPr lang="en-US" sz="1500" dirty="0">
                <a:solidFill>
                  <a:srgbClr val="CADCFC"/>
                </a:solidFill>
                <a:latin typeface="Tw Cen MT" panose="020B0602020104020603" pitchFamily="34" charset="0"/>
              </a:rPr>
              <a:t>), cada uno con misión propia y libertad total para elegir sus métodos y herramientas.</a:t>
            </a:r>
            <a:endParaRPr lang="en-US" sz="1500" dirty="0">
              <a:latin typeface="Tw Cen MT" panose="020B0602020104020603" pitchFamily="34" charset="0"/>
            </a:endParaRPr>
          </a:p>
          <a:p>
            <a:endParaRPr lang="en-US" sz="1500" dirty="0">
              <a:latin typeface="Tw Cen MT" panose="020B0602020104020603" pitchFamily="34" charset="0"/>
            </a:endParaRPr>
          </a:p>
          <a:p>
            <a:r>
              <a:rPr lang="en-US" sz="1500" b="1" dirty="0">
                <a:solidFill>
                  <a:srgbClr val="1DB954"/>
                </a:solidFill>
                <a:latin typeface="Tw Cen MT" panose="020B0602020104020603" pitchFamily="34" charset="0"/>
              </a:rPr>
              <a:t>Mecanismo de coordinación:</a:t>
            </a:r>
            <a:endParaRPr lang="en-US" sz="1500" dirty="0">
              <a:latin typeface="Tw Cen MT" panose="020B0602020104020603" pitchFamily="34" charset="0"/>
            </a:endParaRPr>
          </a:p>
          <a:p>
            <a:r>
              <a:rPr lang="en-US" sz="1500" dirty="0">
                <a:solidFill>
                  <a:srgbClr val="CADCFC"/>
                </a:solidFill>
                <a:latin typeface="Tw Cen MT" panose="020B0602020104020603" pitchFamily="34" charset="0"/>
              </a:rPr>
              <a:t>No hay jefes de equipo formales. La alineación se logra mediante </a:t>
            </a:r>
            <a:r>
              <a:rPr lang="en-US" sz="1500" i="1" dirty="0">
                <a:solidFill>
                  <a:srgbClr val="FFFFFF"/>
                </a:solidFill>
                <a:latin typeface="Tw Cen MT" panose="020B0602020104020603" pitchFamily="34" charset="0"/>
              </a:rPr>
              <a:t>tribus, chapters y guilds</a:t>
            </a:r>
            <a:r>
              <a:rPr lang="en-US" sz="1500" dirty="0">
                <a:solidFill>
                  <a:srgbClr val="CADCFC"/>
                </a:solidFill>
                <a:latin typeface="Tw Cen MT" panose="020B0602020104020603" pitchFamily="34" charset="0"/>
              </a:rPr>
              <a:t> —comunidades de práctica horizontales— sin cadena de mando vertical.</a:t>
            </a:r>
            <a:endParaRPr lang="en-US" sz="1500" dirty="0">
              <a:latin typeface="Tw Cen MT" panose="020B0602020104020603" pitchFamily="34" charset="0"/>
            </a:endParaRPr>
          </a:p>
          <a:p>
            <a:endParaRPr lang="en-US" sz="1500" dirty="0">
              <a:latin typeface="Tw Cen MT" panose="020B0602020104020603" pitchFamily="34" charset="0"/>
            </a:endParaRPr>
          </a:p>
          <a:p>
            <a:r>
              <a:rPr lang="en-US" sz="1500" b="1" dirty="0">
                <a:solidFill>
                  <a:srgbClr val="1DB954"/>
                </a:solidFill>
                <a:latin typeface="Tw Cen MT" panose="020B0602020104020603" pitchFamily="34" charset="0"/>
              </a:rPr>
              <a:t>Resultado:</a:t>
            </a:r>
            <a:endParaRPr lang="en-US" sz="1500" dirty="0">
              <a:latin typeface="Tw Cen MT" panose="020B0602020104020603" pitchFamily="34" charset="0"/>
            </a:endParaRPr>
          </a:p>
          <a:p>
            <a:r>
              <a:rPr lang="en-US" sz="1500" dirty="0">
                <a:solidFill>
                  <a:srgbClr val="CADCFC"/>
                </a:solidFill>
                <a:latin typeface="Tw Cen MT" panose="020B0602020104020603" pitchFamily="34" charset="0"/>
              </a:rPr>
              <a:t>Innovación rápida y continua. Pasó de 18M a +252M suscriptores (2015–2024). Lanzó podcasts, audiolibros y herramientas de IA para artistas sin reorganizar la empresa.</a:t>
            </a:r>
            <a:endParaRPr lang="en-US" sz="1500" dirty="0">
              <a:latin typeface="Tw Cen MT" panose="020B0602020104020603" pitchFamily="34" charset="0"/>
            </a:endParaRPr>
          </a:p>
          <a:p>
            <a:endParaRPr lang="en-US" sz="1500" dirty="0">
              <a:latin typeface="Tw Cen MT" panose="020B0602020104020603" pitchFamily="34" charset="0"/>
            </a:endParaRPr>
          </a:p>
          <a:p>
            <a:r>
              <a:rPr lang="en-US" sz="1500" b="1" dirty="0">
                <a:solidFill>
                  <a:srgbClr val="E8A020"/>
                </a:solidFill>
                <a:latin typeface="Tw Cen MT" panose="020B0602020104020603" pitchFamily="34" charset="0"/>
              </a:rPr>
              <a:t>Riesgo estructural:</a:t>
            </a:r>
            <a:endParaRPr lang="en-US" sz="1500" dirty="0">
              <a:latin typeface="Tw Cen MT" panose="020B0602020104020603" pitchFamily="34" charset="0"/>
            </a:endParaRPr>
          </a:p>
          <a:p>
            <a:r>
              <a:rPr lang="en-US" sz="1500" dirty="0">
                <a:solidFill>
                  <a:srgbClr val="CADCFC"/>
                </a:solidFill>
                <a:latin typeface="Tw Cen MT" panose="020B0602020104020603" pitchFamily="34" charset="0"/>
              </a:rPr>
              <a:t>Dificultad para mantener consistencia global. Coordinación costosa a escala.</a:t>
            </a:r>
            <a:endParaRPr lang="en-US" sz="1500" dirty="0">
              <a:latin typeface="Tw Cen MT" panose="020B0602020104020603" pitchFamily="34" charset="0"/>
            </a:endParaRPr>
          </a:p>
        </p:txBody>
      </p:sp>
      <p:sp>
        <p:nvSpPr>
          <p:cNvPr id="7" name="Shape 12">
            <a:extLst>
              <a:ext uri="{FF2B5EF4-FFF2-40B4-BE49-F238E27FC236}">
                <a16:creationId xmlns:a16="http://schemas.microsoft.com/office/drawing/2014/main" id="{7B69F610-4CF6-56F4-CBA7-13B0D82D1E02}"/>
              </a:ext>
            </a:extLst>
          </p:cNvPr>
          <p:cNvSpPr/>
          <p:nvPr/>
        </p:nvSpPr>
        <p:spPr>
          <a:xfrm>
            <a:off x="4617720" y="1358364"/>
            <a:ext cx="4407408" cy="5360069"/>
          </a:xfrm>
          <a:prstGeom prst="rect">
            <a:avLst/>
          </a:prstGeom>
          <a:solidFill>
            <a:srgbClr val="1E4827"/>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sz="1600">
              <a:latin typeface="Tw Cen MT" panose="020B0602020104020603" pitchFamily="34" charset="0"/>
            </a:endParaRPr>
          </a:p>
        </p:txBody>
      </p:sp>
      <p:sp>
        <p:nvSpPr>
          <p:cNvPr id="14" name="Shape 13">
            <a:extLst>
              <a:ext uri="{FF2B5EF4-FFF2-40B4-BE49-F238E27FC236}">
                <a16:creationId xmlns:a16="http://schemas.microsoft.com/office/drawing/2014/main" id="{8C3CC439-381D-0AD2-1E82-D14467AFA5E4}"/>
              </a:ext>
            </a:extLst>
          </p:cNvPr>
          <p:cNvSpPr/>
          <p:nvPr/>
        </p:nvSpPr>
        <p:spPr>
          <a:xfrm>
            <a:off x="4617720" y="1358365"/>
            <a:ext cx="4407408" cy="64008"/>
          </a:xfrm>
          <a:prstGeom prst="rect">
            <a:avLst/>
          </a:prstGeom>
          <a:solidFill>
            <a:srgbClr val="A2A2A7"/>
          </a:solidFill>
          <a:ln w="12700">
            <a:solidFill>
              <a:srgbClr val="A2A2A7"/>
            </a:solidFill>
            <a:prstDash val="solid"/>
          </a:ln>
        </p:spPr>
        <p:txBody>
          <a:bodyPr/>
          <a:lstStyle/>
          <a:p>
            <a:endParaRPr lang="en-US" sz="1600">
              <a:latin typeface="Tw Cen MT" panose="020B0602020104020603" pitchFamily="34" charset="0"/>
            </a:endParaRPr>
          </a:p>
        </p:txBody>
      </p:sp>
      <p:sp>
        <p:nvSpPr>
          <p:cNvPr id="15" name="Shape 14">
            <a:extLst>
              <a:ext uri="{FF2B5EF4-FFF2-40B4-BE49-F238E27FC236}">
                <a16:creationId xmlns:a16="http://schemas.microsoft.com/office/drawing/2014/main" id="{10A6EA73-9EC3-13A2-FB5A-61FBB6696F8E}"/>
              </a:ext>
            </a:extLst>
          </p:cNvPr>
          <p:cNvSpPr/>
          <p:nvPr/>
        </p:nvSpPr>
        <p:spPr>
          <a:xfrm>
            <a:off x="4754880" y="1477237"/>
            <a:ext cx="1417320" cy="256032"/>
          </a:xfrm>
          <a:prstGeom prst="roundRect">
            <a:avLst>
              <a:gd name="adj" fmla="val 14286"/>
            </a:avLst>
          </a:prstGeom>
          <a:solidFill>
            <a:srgbClr val="A2A2A7"/>
          </a:solidFill>
          <a:ln w="12700">
            <a:solidFill>
              <a:srgbClr val="A2A2A7"/>
            </a:solidFill>
            <a:prstDash val="solid"/>
          </a:ln>
        </p:spPr>
        <p:txBody>
          <a:bodyPr/>
          <a:lstStyle/>
          <a:p>
            <a:endParaRPr lang="en-US" sz="1600">
              <a:latin typeface="Tw Cen MT" panose="020B0602020104020603" pitchFamily="34" charset="0"/>
            </a:endParaRPr>
          </a:p>
        </p:txBody>
      </p:sp>
      <p:sp>
        <p:nvSpPr>
          <p:cNvPr id="16" name="Text 15">
            <a:extLst>
              <a:ext uri="{FF2B5EF4-FFF2-40B4-BE49-F238E27FC236}">
                <a16:creationId xmlns:a16="http://schemas.microsoft.com/office/drawing/2014/main" id="{BF3C42E7-5030-A2AB-A491-60BB915CC9F1}"/>
              </a:ext>
            </a:extLst>
          </p:cNvPr>
          <p:cNvSpPr/>
          <p:nvPr/>
        </p:nvSpPr>
        <p:spPr>
          <a:xfrm>
            <a:off x="4754880" y="1477237"/>
            <a:ext cx="1417320" cy="256032"/>
          </a:xfrm>
          <a:prstGeom prst="rect">
            <a:avLst/>
          </a:prstGeom>
          <a:noFill/>
          <a:ln/>
        </p:spPr>
        <p:txBody>
          <a:bodyPr wrap="square" lIns="0" tIns="0" rIns="0" bIns="0" rtlCol="0" anchor="ctr"/>
          <a:lstStyle/>
          <a:p>
            <a:pPr algn="ctr"/>
            <a:r>
              <a:rPr lang="en-US" sz="1600" b="1" dirty="0">
                <a:solidFill>
                  <a:srgbClr val="FFFFFF"/>
                </a:solidFill>
                <a:latin typeface="Tw Cen MT" panose="020B0602020104020603" pitchFamily="34" charset="0"/>
              </a:rPr>
              <a:t>APPLE MUSIC</a:t>
            </a:r>
            <a:endParaRPr lang="en-US" sz="1600" dirty="0">
              <a:latin typeface="Tw Cen MT" panose="020B0602020104020603" pitchFamily="34" charset="0"/>
            </a:endParaRPr>
          </a:p>
        </p:txBody>
      </p:sp>
      <p:sp>
        <p:nvSpPr>
          <p:cNvPr id="17" name="Text 16">
            <a:extLst>
              <a:ext uri="{FF2B5EF4-FFF2-40B4-BE49-F238E27FC236}">
                <a16:creationId xmlns:a16="http://schemas.microsoft.com/office/drawing/2014/main" id="{8BFC9A43-5462-22D0-07BC-B762F1B2B0B2}"/>
              </a:ext>
            </a:extLst>
          </p:cNvPr>
          <p:cNvSpPr/>
          <p:nvPr/>
        </p:nvSpPr>
        <p:spPr>
          <a:xfrm>
            <a:off x="6263640" y="1477237"/>
            <a:ext cx="2560320" cy="256032"/>
          </a:xfrm>
          <a:prstGeom prst="rect">
            <a:avLst/>
          </a:prstGeom>
          <a:noFill/>
          <a:ln/>
        </p:spPr>
        <p:txBody>
          <a:bodyPr wrap="square" lIns="0" tIns="0" rIns="0" bIns="0" rtlCol="0" anchor="ctr"/>
          <a:lstStyle/>
          <a:p>
            <a:r>
              <a:rPr lang="en-US" sz="1600" b="1" dirty="0">
                <a:solidFill>
                  <a:srgbClr val="A2A2A7"/>
                </a:solidFill>
                <a:latin typeface="Tw Cen MT" panose="020B0602020104020603" pitchFamily="34" charset="0"/>
              </a:rPr>
              <a:t>CENTRALIZADO</a:t>
            </a:r>
            <a:endParaRPr lang="en-US" sz="1600" dirty="0">
              <a:latin typeface="Tw Cen MT" panose="020B0602020104020603" pitchFamily="34" charset="0"/>
            </a:endParaRPr>
          </a:p>
        </p:txBody>
      </p:sp>
      <p:sp>
        <p:nvSpPr>
          <p:cNvPr id="18" name="Text 17">
            <a:extLst>
              <a:ext uri="{FF2B5EF4-FFF2-40B4-BE49-F238E27FC236}">
                <a16:creationId xmlns:a16="http://schemas.microsoft.com/office/drawing/2014/main" id="{4B47E0B4-491A-886A-030C-7382D9292C72}"/>
              </a:ext>
            </a:extLst>
          </p:cNvPr>
          <p:cNvSpPr/>
          <p:nvPr/>
        </p:nvSpPr>
        <p:spPr>
          <a:xfrm>
            <a:off x="4754880" y="1815564"/>
            <a:ext cx="4133088" cy="4013133"/>
          </a:xfrm>
          <a:prstGeom prst="rect">
            <a:avLst/>
          </a:prstGeom>
          <a:noFill/>
          <a:ln/>
        </p:spPr>
        <p:txBody>
          <a:bodyPr wrap="square" lIns="0" tIns="0" rIns="0" bIns="0" rtlCol="0" anchor="t"/>
          <a:lstStyle/>
          <a:p>
            <a:r>
              <a:rPr lang="en-US" sz="1500" b="1" dirty="0">
                <a:solidFill>
                  <a:srgbClr val="A2A2A7"/>
                </a:solidFill>
                <a:latin typeface="Tw Cen MT" panose="020B0602020104020603" pitchFamily="34" charset="0"/>
              </a:rPr>
              <a:t>Estructura funcional jerárquica:</a:t>
            </a:r>
            <a:endParaRPr lang="en-US" sz="1500" dirty="0">
              <a:latin typeface="Tw Cen MT" panose="020B0602020104020603" pitchFamily="34" charset="0"/>
            </a:endParaRPr>
          </a:p>
          <a:p>
            <a:r>
              <a:rPr lang="en-US" sz="1500" dirty="0">
                <a:solidFill>
                  <a:srgbClr val="CADCFC"/>
                </a:solidFill>
                <a:latin typeface="Tw Cen MT" panose="020B0602020104020603" pitchFamily="34" charset="0"/>
              </a:rPr>
              <a:t>Apple Music es una función dentro del área de Servicios liderada por un único SVP (Eddy Cue), que reporta directamente al CEO Tim Cook. Toda decisión estratégica pasa por Cupertino.</a:t>
            </a:r>
            <a:endParaRPr lang="en-US" sz="1500" dirty="0">
              <a:latin typeface="Tw Cen MT" panose="020B0602020104020603" pitchFamily="34" charset="0"/>
            </a:endParaRPr>
          </a:p>
          <a:p>
            <a:endParaRPr lang="en-US" sz="1500" dirty="0">
              <a:latin typeface="Tw Cen MT" panose="020B0602020104020603" pitchFamily="34" charset="0"/>
            </a:endParaRPr>
          </a:p>
          <a:p>
            <a:r>
              <a:rPr lang="en-US" sz="1500" b="1" dirty="0">
                <a:solidFill>
                  <a:srgbClr val="A2A2A7"/>
                </a:solidFill>
                <a:latin typeface="Tw Cen MT" panose="020B0602020104020603" pitchFamily="34" charset="0"/>
              </a:rPr>
              <a:t>Mecanismo de coordinación:</a:t>
            </a:r>
            <a:endParaRPr lang="en-US" sz="1500" dirty="0">
              <a:latin typeface="Tw Cen MT" panose="020B0602020104020603" pitchFamily="34" charset="0"/>
            </a:endParaRPr>
          </a:p>
          <a:p>
            <a:r>
              <a:rPr lang="en-US" sz="1500" dirty="0">
                <a:solidFill>
                  <a:srgbClr val="CADCFC"/>
                </a:solidFill>
                <a:latin typeface="Tw Cen MT" panose="020B0602020104020603" pitchFamily="34" charset="0"/>
              </a:rPr>
              <a:t>Equipos interfuncionales temporales (hardware + software + diseño) se forman por proyecto. La autoridad final reside en expertos técnicos designados centralmente, no en equipos autónomos.</a:t>
            </a:r>
            <a:endParaRPr lang="en-US" sz="1500" dirty="0">
              <a:latin typeface="Tw Cen MT" panose="020B0602020104020603" pitchFamily="34" charset="0"/>
            </a:endParaRPr>
          </a:p>
          <a:p>
            <a:endParaRPr lang="en-US" sz="1500" dirty="0">
              <a:latin typeface="Tw Cen MT" panose="020B0602020104020603" pitchFamily="34" charset="0"/>
            </a:endParaRPr>
          </a:p>
          <a:p>
            <a:r>
              <a:rPr lang="en-US" sz="1500" b="1" dirty="0">
                <a:solidFill>
                  <a:srgbClr val="A2A2A7"/>
                </a:solidFill>
                <a:latin typeface="Tw Cen MT" panose="020B0602020104020603" pitchFamily="34" charset="0"/>
              </a:rPr>
              <a:t>Resultado:</a:t>
            </a:r>
            <a:endParaRPr lang="en-US" sz="1500" dirty="0">
              <a:latin typeface="Tw Cen MT" panose="020B0602020104020603" pitchFamily="34" charset="0"/>
            </a:endParaRPr>
          </a:p>
          <a:p>
            <a:r>
              <a:rPr lang="en-US" sz="1500" dirty="0">
                <a:solidFill>
                  <a:srgbClr val="CADCFC"/>
                </a:solidFill>
                <a:latin typeface="Tw Cen MT" panose="020B0602020104020603" pitchFamily="34" charset="0"/>
              </a:rPr>
              <a:t>Alta coherencia de marca y calidad del ecosistema. Alcanzó 88M suscriptores (2024), con ventaja competitiva sobre hardware propio (AirPods, HomePod). Integración perfecta entre productos.</a:t>
            </a:r>
            <a:endParaRPr lang="en-US" sz="1500" dirty="0">
              <a:latin typeface="Tw Cen MT" panose="020B0602020104020603" pitchFamily="34" charset="0"/>
            </a:endParaRPr>
          </a:p>
          <a:p>
            <a:endParaRPr lang="en-US" sz="1500" dirty="0">
              <a:latin typeface="Tw Cen MT" panose="020B0602020104020603" pitchFamily="34" charset="0"/>
            </a:endParaRPr>
          </a:p>
          <a:p>
            <a:r>
              <a:rPr lang="en-US" sz="1500" b="1" dirty="0">
                <a:solidFill>
                  <a:srgbClr val="E8A020"/>
                </a:solidFill>
                <a:latin typeface="Tw Cen MT" panose="020B0602020104020603" pitchFamily="34" charset="0"/>
              </a:rPr>
              <a:t>Riesgo estructural:</a:t>
            </a:r>
            <a:endParaRPr lang="en-US" sz="1500" dirty="0">
              <a:latin typeface="Tw Cen MT" panose="020B0602020104020603" pitchFamily="34" charset="0"/>
            </a:endParaRPr>
          </a:p>
          <a:p>
            <a:r>
              <a:rPr lang="en-US" sz="1500" dirty="0">
                <a:solidFill>
                  <a:srgbClr val="CADCFC"/>
                </a:solidFill>
                <a:latin typeface="Tw Cen MT" panose="020B0602020104020603" pitchFamily="34" charset="0"/>
              </a:rPr>
              <a:t>Menor velocidad de innovación autónoma. Rigidez ante cambios de mercado no anticipados por el centro.</a:t>
            </a:r>
            <a:endParaRPr lang="en-US" sz="1500" dirty="0">
              <a:latin typeface="Tw Cen MT" panose="020B0602020104020603" pitchFamily="34" charset="0"/>
            </a:endParaRPr>
          </a:p>
        </p:txBody>
      </p:sp>
      <p:sp>
        <p:nvSpPr>
          <p:cNvPr id="19" name="Shape 18">
            <a:extLst>
              <a:ext uri="{FF2B5EF4-FFF2-40B4-BE49-F238E27FC236}">
                <a16:creationId xmlns:a16="http://schemas.microsoft.com/office/drawing/2014/main" id="{176B5D2D-D802-432D-8688-3A69D7FA7C88}"/>
              </a:ext>
            </a:extLst>
          </p:cNvPr>
          <p:cNvSpPr/>
          <p:nvPr/>
        </p:nvSpPr>
        <p:spPr>
          <a:xfrm>
            <a:off x="4096512" y="3070098"/>
            <a:ext cx="658368" cy="502920"/>
          </a:xfrm>
          <a:prstGeom prst="ellipse">
            <a:avLst/>
          </a:prstGeom>
          <a:solidFill>
            <a:srgbClr val="E8A020"/>
          </a:solidFill>
          <a:ln w="12700">
            <a:solidFill>
              <a:srgbClr val="E8A020"/>
            </a:solidFill>
            <a:prstDash val="solid"/>
          </a:ln>
        </p:spPr>
        <p:txBody>
          <a:bodyPr/>
          <a:lstStyle/>
          <a:p>
            <a:endParaRPr lang="en-US" sz="1600">
              <a:latin typeface="Tw Cen MT" panose="020B0602020104020603" pitchFamily="34" charset="0"/>
            </a:endParaRPr>
          </a:p>
        </p:txBody>
      </p:sp>
      <p:sp>
        <p:nvSpPr>
          <p:cNvPr id="20" name="Text 19">
            <a:extLst>
              <a:ext uri="{FF2B5EF4-FFF2-40B4-BE49-F238E27FC236}">
                <a16:creationId xmlns:a16="http://schemas.microsoft.com/office/drawing/2014/main" id="{DFEDC524-4151-89DC-798E-51C0AB773614}"/>
              </a:ext>
            </a:extLst>
          </p:cNvPr>
          <p:cNvSpPr/>
          <p:nvPr/>
        </p:nvSpPr>
        <p:spPr>
          <a:xfrm>
            <a:off x="4114800" y="3070098"/>
            <a:ext cx="640080" cy="502920"/>
          </a:xfrm>
          <a:prstGeom prst="rect">
            <a:avLst/>
          </a:prstGeom>
          <a:noFill/>
          <a:ln/>
        </p:spPr>
        <p:txBody>
          <a:bodyPr wrap="square" lIns="0" tIns="0" rIns="0" bIns="0" rtlCol="0" anchor="ctr"/>
          <a:lstStyle/>
          <a:p>
            <a:pPr algn="ctr"/>
            <a:r>
              <a:rPr lang="en-US" sz="1600" b="1" dirty="0">
                <a:solidFill>
                  <a:srgbClr val="1E2761"/>
                </a:solidFill>
                <a:latin typeface="Tw Cen MT" panose="020B0602020104020603" pitchFamily="34" charset="0"/>
              </a:rPr>
              <a:t>vs.</a:t>
            </a:r>
            <a:endParaRPr lang="en-US" sz="1600" dirty="0">
              <a:latin typeface="Tw Cen MT" panose="020B06020201040206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F371A7C3-E7EC-F2D4-BECB-2A13DF08F37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731D164-31BC-C0A2-238B-2D38EC0169B7}"/>
              </a:ext>
            </a:extLst>
          </p:cNvPr>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E6BFE7F8-D4A4-F2C4-B741-E3BC11DC9074}"/>
              </a:ext>
            </a:extLst>
          </p:cNvPr>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DA1A3F2-5BE4-D084-2CD2-3C1F04963C0F}"/>
              </a:ext>
            </a:extLst>
          </p:cNvPr>
          <p:cNvSpPr txBox="1"/>
          <p:nvPr/>
        </p:nvSpPr>
        <p:spPr>
          <a:xfrm>
            <a:off x="228600" y="335056"/>
            <a:ext cx="8534400" cy="523220"/>
          </a:xfrm>
          <a:prstGeom prst="rect">
            <a:avLst/>
          </a:prstGeom>
          <a:noFill/>
        </p:spPr>
        <p:txBody>
          <a:bodyPr wrap="square" anchor="ctr">
            <a:spAutoFit/>
          </a:bodyPr>
          <a:lstStyle/>
          <a:p>
            <a:r>
              <a:rPr lang="en-US" sz="2800" b="1" dirty="0">
                <a:solidFill>
                  <a:srgbClr val="FFFFFF"/>
                </a:solidFill>
                <a:latin typeface="Tw Cen MT"/>
              </a:rPr>
              <a:t>¿</a:t>
            </a:r>
            <a:r>
              <a:rPr lang="es-419" sz="2600" b="1" i="0" dirty="0">
                <a:solidFill>
                  <a:srgbClr val="FFFFFF"/>
                </a:solidFill>
                <a:latin typeface="Tw Cen MT"/>
              </a:rPr>
              <a:t>Cual de las dos es más exitosa?</a:t>
            </a:r>
            <a:endParaRPr sz="2600" b="1" i="0" dirty="0">
              <a:solidFill>
                <a:srgbClr val="FFFFFF"/>
              </a:solidFill>
              <a:latin typeface="Tw Cen MT"/>
            </a:endParaRPr>
          </a:p>
        </p:txBody>
      </p:sp>
      <p:graphicFrame>
        <p:nvGraphicFramePr>
          <p:cNvPr id="6" name="Tabla 5">
            <a:extLst>
              <a:ext uri="{FF2B5EF4-FFF2-40B4-BE49-F238E27FC236}">
                <a16:creationId xmlns:a16="http://schemas.microsoft.com/office/drawing/2014/main" id="{532F7376-EF57-1A65-CEF5-0FDCC773DC2C}"/>
              </a:ext>
            </a:extLst>
          </p:cNvPr>
          <p:cNvGraphicFramePr>
            <a:graphicFrameLocks noGrp="1"/>
          </p:cNvGraphicFramePr>
          <p:nvPr>
            <p:extLst>
              <p:ext uri="{D42A27DB-BD31-4B8C-83A1-F6EECF244321}">
                <p14:modId xmlns:p14="http://schemas.microsoft.com/office/powerpoint/2010/main" val="2585361164"/>
              </p:ext>
            </p:extLst>
          </p:nvPr>
        </p:nvGraphicFramePr>
        <p:xfrm>
          <a:off x="304800" y="1249172"/>
          <a:ext cx="8382000" cy="3386246"/>
        </p:xfrm>
        <a:graphic>
          <a:graphicData uri="http://schemas.openxmlformats.org/drawingml/2006/table">
            <a:tbl>
              <a:tblPr/>
              <a:tblGrid>
                <a:gridCol w="2794000">
                  <a:extLst>
                    <a:ext uri="{9D8B030D-6E8A-4147-A177-3AD203B41FA5}">
                      <a16:colId xmlns:a16="http://schemas.microsoft.com/office/drawing/2014/main" val="1688938998"/>
                    </a:ext>
                  </a:extLst>
                </a:gridCol>
                <a:gridCol w="2794000">
                  <a:extLst>
                    <a:ext uri="{9D8B030D-6E8A-4147-A177-3AD203B41FA5}">
                      <a16:colId xmlns:a16="http://schemas.microsoft.com/office/drawing/2014/main" val="266522810"/>
                    </a:ext>
                  </a:extLst>
                </a:gridCol>
                <a:gridCol w="2794000">
                  <a:extLst>
                    <a:ext uri="{9D8B030D-6E8A-4147-A177-3AD203B41FA5}">
                      <a16:colId xmlns:a16="http://schemas.microsoft.com/office/drawing/2014/main" val="2277058205"/>
                    </a:ext>
                  </a:extLst>
                </a:gridCol>
              </a:tblGrid>
              <a:tr h="436935">
                <a:tc>
                  <a:txBody>
                    <a:bodyPr/>
                    <a:lstStyle/>
                    <a:p>
                      <a:pPr algn="ctr">
                        <a:buNone/>
                      </a:pPr>
                      <a:r>
                        <a:rPr lang="en-US">
                          <a:solidFill>
                            <a:schemeClr val="bg2"/>
                          </a:solidFill>
                          <a:latin typeface="Tw Cen MT" panose="020B0602020104020603" pitchFamily="34" charset="0"/>
                        </a:rPr>
                        <a:t>Dimensión</a:t>
                      </a:r>
                    </a:p>
                  </a:txBody>
                  <a:tcPr anchor="ctr">
                    <a:lnL>
                      <a:noFill/>
                    </a:lnL>
                    <a:lnR>
                      <a:noFill/>
                    </a:lnR>
                    <a:lnT>
                      <a:noFill/>
                    </a:lnT>
                    <a:lnB>
                      <a:noFill/>
                    </a:lnB>
                    <a:noFill/>
                  </a:tcPr>
                </a:tc>
                <a:tc>
                  <a:txBody>
                    <a:bodyPr/>
                    <a:lstStyle/>
                    <a:p>
                      <a:pPr algn="ctr">
                        <a:buNone/>
                      </a:pPr>
                      <a:r>
                        <a:rPr lang="en-US">
                          <a:solidFill>
                            <a:schemeClr val="bg2"/>
                          </a:solidFill>
                          <a:latin typeface="Tw Cen MT" panose="020B0602020104020603" pitchFamily="34" charset="0"/>
                        </a:rPr>
                        <a:t>Ganador</a:t>
                      </a:r>
                    </a:p>
                  </a:txBody>
                  <a:tcPr anchor="ctr">
                    <a:lnL>
                      <a:noFill/>
                    </a:lnL>
                    <a:lnR>
                      <a:noFill/>
                    </a:lnR>
                    <a:lnT>
                      <a:noFill/>
                    </a:lnT>
                    <a:lnB>
                      <a:noFill/>
                    </a:lnB>
                    <a:noFill/>
                  </a:tcPr>
                </a:tc>
                <a:tc>
                  <a:txBody>
                    <a:bodyPr/>
                    <a:lstStyle/>
                    <a:p>
                      <a:pPr algn="ctr">
                        <a:buNone/>
                      </a:pPr>
                      <a:r>
                        <a:rPr lang="en-US">
                          <a:solidFill>
                            <a:schemeClr val="bg2"/>
                          </a:solidFill>
                          <a:latin typeface="Tw Cen MT" panose="020B0602020104020603" pitchFamily="34" charset="0"/>
                        </a:rPr>
                        <a:t>Modelo favorecido</a:t>
                      </a:r>
                    </a:p>
                  </a:txBody>
                  <a:tcPr anchor="ctr">
                    <a:lnL>
                      <a:noFill/>
                    </a:lnL>
                    <a:lnR>
                      <a:noFill/>
                    </a:lnR>
                    <a:lnT>
                      <a:noFill/>
                    </a:lnT>
                    <a:lnB>
                      <a:noFill/>
                    </a:lnB>
                    <a:noFill/>
                  </a:tcPr>
                </a:tc>
                <a:extLst>
                  <a:ext uri="{0D108BD9-81ED-4DB2-BD59-A6C34878D82A}">
                    <a16:rowId xmlns:a16="http://schemas.microsoft.com/office/drawing/2014/main" val="3264171460"/>
                  </a:ext>
                </a:extLst>
              </a:tr>
              <a:tr h="436935">
                <a:tc>
                  <a:txBody>
                    <a:bodyPr/>
                    <a:lstStyle/>
                    <a:p>
                      <a:pPr algn="ctr">
                        <a:buNone/>
                      </a:pPr>
                      <a:r>
                        <a:rPr lang="en-US">
                          <a:solidFill>
                            <a:schemeClr val="bg2"/>
                          </a:solidFill>
                          <a:latin typeface="Tw Cen MT" panose="020B0602020104020603" pitchFamily="34" charset="0"/>
                        </a:rPr>
                        <a:t>Cuota de mercado</a:t>
                      </a:r>
                    </a:p>
                  </a:txBody>
                  <a:tcPr anchor="ctr">
                    <a:lnL>
                      <a:noFill/>
                    </a:lnL>
                    <a:lnR>
                      <a:noFill/>
                    </a:lnR>
                    <a:lnT>
                      <a:noFill/>
                    </a:lnT>
                    <a:lnB>
                      <a:noFill/>
                    </a:lnB>
                    <a:noFill/>
                  </a:tcPr>
                </a:tc>
                <a:tc>
                  <a:txBody>
                    <a:bodyPr/>
                    <a:lstStyle/>
                    <a:p>
                      <a:pPr algn="ctr">
                        <a:buNone/>
                      </a:pPr>
                      <a:r>
                        <a:rPr lang="en-US">
                          <a:solidFill>
                            <a:schemeClr val="bg2"/>
                          </a:solidFill>
                          <a:latin typeface="Tw Cen MT" panose="020B0602020104020603" pitchFamily="34" charset="0"/>
                        </a:rPr>
                        <a:t>Spotify</a:t>
                      </a:r>
                    </a:p>
                  </a:txBody>
                  <a:tcPr anchor="ctr">
                    <a:lnL>
                      <a:noFill/>
                    </a:lnL>
                    <a:lnR>
                      <a:noFill/>
                    </a:lnR>
                    <a:lnT>
                      <a:noFill/>
                    </a:lnT>
                    <a:lnB>
                      <a:noFill/>
                    </a:lnB>
                    <a:noFill/>
                  </a:tcPr>
                </a:tc>
                <a:tc>
                  <a:txBody>
                    <a:bodyPr/>
                    <a:lstStyle/>
                    <a:p>
                      <a:pPr algn="ctr">
                        <a:buNone/>
                      </a:pPr>
                      <a:r>
                        <a:rPr lang="en-US">
                          <a:solidFill>
                            <a:schemeClr val="bg2"/>
                          </a:solidFill>
                          <a:latin typeface="Tw Cen MT" panose="020B0602020104020603" pitchFamily="34" charset="0"/>
                        </a:rPr>
                        <a:t>Descentralizado</a:t>
                      </a:r>
                    </a:p>
                  </a:txBody>
                  <a:tcPr anchor="ctr">
                    <a:lnL>
                      <a:noFill/>
                    </a:lnL>
                    <a:lnR>
                      <a:noFill/>
                    </a:lnR>
                    <a:lnT>
                      <a:noFill/>
                    </a:lnT>
                    <a:lnB>
                      <a:noFill/>
                    </a:lnB>
                    <a:noFill/>
                  </a:tcPr>
                </a:tc>
                <a:extLst>
                  <a:ext uri="{0D108BD9-81ED-4DB2-BD59-A6C34878D82A}">
                    <a16:rowId xmlns:a16="http://schemas.microsoft.com/office/drawing/2014/main" val="2704896375"/>
                  </a:ext>
                </a:extLst>
              </a:tr>
              <a:tr h="436935">
                <a:tc>
                  <a:txBody>
                    <a:bodyPr/>
                    <a:lstStyle/>
                    <a:p>
                      <a:pPr algn="ctr">
                        <a:buNone/>
                      </a:pPr>
                      <a:r>
                        <a:rPr lang="en-US">
                          <a:solidFill>
                            <a:schemeClr val="bg2"/>
                          </a:solidFill>
                          <a:latin typeface="Tw Cen MT" panose="020B0602020104020603" pitchFamily="34" charset="0"/>
                        </a:rPr>
                        <a:t>Suscriptores</a:t>
                      </a:r>
                    </a:p>
                  </a:txBody>
                  <a:tcPr anchor="ctr">
                    <a:lnL>
                      <a:noFill/>
                    </a:lnL>
                    <a:lnR>
                      <a:noFill/>
                    </a:lnR>
                    <a:lnT>
                      <a:noFill/>
                    </a:lnT>
                    <a:lnB>
                      <a:noFill/>
                    </a:lnB>
                    <a:noFill/>
                  </a:tcPr>
                </a:tc>
                <a:tc>
                  <a:txBody>
                    <a:bodyPr/>
                    <a:lstStyle/>
                    <a:p>
                      <a:pPr algn="ctr">
                        <a:buNone/>
                      </a:pPr>
                      <a:r>
                        <a:rPr lang="en-US">
                          <a:solidFill>
                            <a:schemeClr val="bg2"/>
                          </a:solidFill>
                          <a:latin typeface="Tw Cen MT" panose="020B0602020104020603" pitchFamily="34" charset="0"/>
                        </a:rPr>
                        <a:t>Spotify (252M vs 88M)</a:t>
                      </a:r>
                    </a:p>
                  </a:txBody>
                  <a:tcPr anchor="ctr">
                    <a:lnL>
                      <a:noFill/>
                    </a:lnL>
                    <a:lnR>
                      <a:noFill/>
                    </a:lnR>
                    <a:lnT>
                      <a:noFill/>
                    </a:lnT>
                    <a:lnB>
                      <a:noFill/>
                    </a:lnB>
                    <a:noFill/>
                  </a:tcPr>
                </a:tc>
                <a:tc>
                  <a:txBody>
                    <a:bodyPr/>
                    <a:lstStyle/>
                    <a:p>
                      <a:pPr algn="ctr">
                        <a:buNone/>
                      </a:pPr>
                      <a:r>
                        <a:rPr lang="en-US">
                          <a:solidFill>
                            <a:schemeClr val="bg2"/>
                          </a:solidFill>
                          <a:latin typeface="Tw Cen MT" panose="020B0602020104020603" pitchFamily="34" charset="0"/>
                        </a:rPr>
                        <a:t>Descentralizado</a:t>
                      </a:r>
                    </a:p>
                  </a:txBody>
                  <a:tcPr anchor="ctr">
                    <a:lnL>
                      <a:noFill/>
                    </a:lnL>
                    <a:lnR>
                      <a:noFill/>
                    </a:lnR>
                    <a:lnT>
                      <a:noFill/>
                    </a:lnT>
                    <a:lnB>
                      <a:noFill/>
                    </a:lnB>
                    <a:noFill/>
                  </a:tcPr>
                </a:tc>
                <a:extLst>
                  <a:ext uri="{0D108BD9-81ED-4DB2-BD59-A6C34878D82A}">
                    <a16:rowId xmlns:a16="http://schemas.microsoft.com/office/drawing/2014/main" val="3536462163"/>
                  </a:ext>
                </a:extLst>
              </a:tr>
              <a:tr h="436935">
                <a:tc>
                  <a:txBody>
                    <a:bodyPr/>
                    <a:lstStyle/>
                    <a:p>
                      <a:pPr algn="ctr">
                        <a:buNone/>
                      </a:pPr>
                      <a:r>
                        <a:rPr lang="en-US">
                          <a:solidFill>
                            <a:schemeClr val="bg2"/>
                          </a:solidFill>
                          <a:latin typeface="Tw Cen MT" panose="020B0602020104020603" pitchFamily="34" charset="0"/>
                        </a:rPr>
                        <a:t>Margen bruto</a:t>
                      </a:r>
                    </a:p>
                  </a:txBody>
                  <a:tcPr anchor="ctr">
                    <a:lnL>
                      <a:noFill/>
                    </a:lnL>
                    <a:lnR>
                      <a:noFill/>
                    </a:lnR>
                    <a:lnT>
                      <a:noFill/>
                    </a:lnT>
                    <a:lnB>
                      <a:noFill/>
                    </a:lnB>
                    <a:noFill/>
                  </a:tcPr>
                </a:tc>
                <a:tc>
                  <a:txBody>
                    <a:bodyPr/>
                    <a:lstStyle/>
                    <a:p>
                      <a:pPr algn="ctr">
                        <a:buNone/>
                      </a:pPr>
                      <a:r>
                        <a:rPr lang="en-US">
                          <a:solidFill>
                            <a:schemeClr val="bg2"/>
                          </a:solidFill>
                          <a:latin typeface="Tw Cen MT" panose="020B0602020104020603" pitchFamily="34" charset="0"/>
                        </a:rPr>
                        <a:t>Apple (~74% vs ~32%)</a:t>
                      </a:r>
                    </a:p>
                  </a:txBody>
                  <a:tcPr anchor="ctr">
                    <a:lnL>
                      <a:noFill/>
                    </a:lnL>
                    <a:lnR>
                      <a:noFill/>
                    </a:lnR>
                    <a:lnT>
                      <a:noFill/>
                    </a:lnT>
                    <a:lnB>
                      <a:noFill/>
                    </a:lnB>
                    <a:noFill/>
                  </a:tcPr>
                </a:tc>
                <a:tc>
                  <a:txBody>
                    <a:bodyPr/>
                    <a:lstStyle/>
                    <a:p>
                      <a:pPr algn="ctr">
                        <a:buNone/>
                      </a:pPr>
                      <a:r>
                        <a:rPr lang="en-US">
                          <a:solidFill>
                            <a:schemeClr val="bg2"/>
                          </a:solidFill>
                          <a:latin typeface="Tw Cen MT" panose="020B0602020104020603" pitchFamily="34" charset="0"/>
                        </a:rPr>
                        <a:t>Centralizado</a:t>
                      </a:r>
                    </a:p>
                  </a:txBody>
                  <a:tcPr anchor="ctr">
                    <a:lnL>
                      <a:noFill/>
                    </a:lnL>
                    <a:lnR>
                      <a:noFill/>
                    </a:lnR>
                    <a:lnT>
                      <a:noFill/>
                    </a:lnT>
                    <a:lnB>
                      <a:noFill/>
                    </a:lnB>
                    <a:noFill/>
                  </a:tcPr>
                </a:tc>
                <a:extLst>
                  <a:ext uri="{0D108BD9-81ED-4DB2-BD59-A6C34878D82A}">
                    <a16:rowId xmlns:a16="http://schemas.microsoft.com/office/drawing/2014/main" val="1072631346"/>
                  </a:ext>
                </a:extLst>
              </a:tr>
              <a:tr h="436935">
                <a:tc>
                  <a:txBody>
                    <a:bodyPr/>
                    <a:lstStyle/>
                    <a:p>
                      <a:pPr algn="ctr">
                        <a:buNone/>
                      </a:pPr>
                      <a:r>
                        <a:rPr lang="en-US">
                          <a:solidFill>
                            <a:schemeClr val="bg2"/>
                          </a:solidFill>
                          <a:latin typeface="Tw Cen MT" panose="020B0602020104020603" pitchFamily="34" charset="0"/>
                        </a:rPr>
                        <a:t>Velocidad de innovación</a:t>
                      </a:r>
                    </a:p>
                  </a:txBody>
                  <a:tcPr anchor="ctr">
                    <a:lnL>
                      <a:noFill/>
                    </a:lnL>
                    <a:lnR>
                      <a:noFill/>
                    </a:lnR>
                    <a:lnT>
                      <a:noFill/>
                    </a:lnT>
                    <a:lnB>
                      <a:noFill/>
                    </a:lnB>
                    <a:noFill/>
                  </a:tcPr>
                </a:tc>
                <a:tc>
                  <a:txBody>
                    <a:bodyPr/>
                    <a:lstStyle/>
                    <a:p>
                      <a:pPr algn="ctr">
                        <a:buNone/>
                      </a:pPr>
                      <a:r>
                        <a:rPr lang="en-US">
                          <a:solidFill>
                            <a:schemeClr val="bg2"/>
                          </a:solidFill>
                          <a:latin typeface="Tw Cen MT" panose="020B0602020104020603" pitchFamily="34" charset="0"/>
                        </a:rPr>
                        <a:t>Spotify</a:t>
                      </a:r>
                    </a:p>
                  </a:txBody>
                  <a:tcPr anchor="ctr">
                    <a:lnL>
                      <a:noFill/>
                    </a:lnL>
                    <a:lnR>
                      <a:noFill/>
                    </a:lnR>
                    <a:lnT>
                      <a:noFill/>
                    </a:lnT>
                    <a:lnB>
                      <a:noFill/>
                    </a:lnB>
                    <a:noFill/>
                  </a:tcPr>
                </a:tc>
                <a:tc>
                  <a:txBody>
                    <a:bodyPr/>
                    <a:lstStyle/>
                    <a:p>
                      <a:pPr algn="ctr">
                        <a:buNone/>
                      </a:pPr>
                      <a:r>
                        <a:rPr lang="en-US">
                          <a:solidFill>
                            <a:schemeClr val="bg2"/>
                          </a:solidFill>
                          <a:latin typeface="Tw Cen MT" panose="020B0602020104020603" pitchFamily="34" charset="0"/>
                        </a:rPr>
                        <a:t>Descentralizado</a:t>
                      </a:r>
                    </a:p>
                  </a:txBody>
                  <a:tcPr anchor="ctr">
                    <a:lnL>
                      <a:noFill/>
                    </a:lnL>
                    <a:lnR>
                      <a:noFill/>
                    </a:lnR>
                    <a:lnT>
                      <a:noFill/>
                    </a:lnT>
                    <a:lnB>
                      <a:noFill/>
                    </a:lnB>
                    <a:noFill/>
                  </a:tcPr>
                </a:tc>
                <a:extLst>
                  <a:ext uri="{0D108BD9-81ED-4DB2-BD59-A6C34878D82A}">
                    <a16:rowId xmlns:a16="http://schemas.microsoft.com/office/drawing/2014/main" val="3144800009"/>
                  </a:ext>
                </a:extLst>
              </a:tr>
              <a:tr h="436935">
                <a:tc>
                  <a:txBody>
                    <a:bodyPr/>
                    <a:lstStyle/>
                    <a:p>
                      <a:pPr algn="ctr">
                        <a:buNone/>
                      </a:pPr>
                      <a:r>
                        <a:rPr lang="en-US">
                          <a:solidFill>
                            <a:schemeClr val="bg2"/>
                          </a:solidFill>
                          <a:latin typeface="Tw Cen MT" panose="020B0602020104020603" pitchFamily="34" charset="0"/>
                        </a:rPr>
                        <a:t>Integración de ecosistema</a:t>
                      </a:r>
                    </a:p>
                  </a:txBody>
                  <a:tcPr anchor="ctr">
                    <a:lnL>
                      <a:noFill/>
                    </a:lnL>
                    <a:lnR>
                      <a:noFill/>
                    </a:lnR>
                    <a:lnT>
                      <a:noFill/>
                    </a:lnT>
                    <a:lnB>
                      <a:noFill/>
                    </a:lnB>
                    <a:noFill/>
                  </a:tcPr>
                </a:tc>
                <a:tc>
                  <a:txBody>
                    <a:bodyPr/>
                    <a:lstStyle/>
                    <a:p>
                      <a:pPr algn="ctr">
                        <a:buNone/>
                      </a:pPr>
                      <a:r>
                        <a:rPr lang="en-US">
                          <a:solidFill>
                            <a:schemeClr val="bg2"/>
                          </a:solidFill>
                          <a:latin typeface="Tw Cen MT" panose="020B0602020104020603" pitchFamily="34" charset="0"/>
                        </a:rPr>
                        <a:t>Apple</a:t>
                      </a:r>
                    </a:p>
                  </a:txBody>
                  <a:tcPr anchor="ctr">
                    <a:lnL>
                      <a:noFill/>
                    </a:lnL>
                    <a:lnR>
                      <a:noFill/>
                    </a:lnR>
                    <a:lnT>
                      <a:noFill/>
                    </a:lnT>
                    <a:lnB>
                      <a:noFill/>
                    </a:lnB>
                    <a:noFill/>
                  </a:tcPr>
                </a:tc>
                <a:tc>
                  <a:txBody>
                    <a:bodyPr/>
                    <a:lstStyle/>
                    <a:p>
                      <a:pPr algn="ctr">
                        <a:buNone/>
                      </a:pPr>
                      <a:r>
                        <a:rPr lang="en-US" dirty="0" err="1">
                          <a:solidFill>
                            <a:schemeClr val="bg2"/>
                          </a:solidFill>
                          <a:latin typeface="Tw Cen MT" panose="020B0602020104020603" pitchFamily="34" charset="0"/>
                        </a:rPr>
                        <a:t>Centralizado</a:t>
                      </a:r>
                      <a:endParaRPr lang="en-US" dirty="0">
                        <a:solidFill>
                          <a:schemeClr val="bg2"/>
                        </a:solidFill>
                        <a:latin typeface="Tw Cen MT" panose="020B0602020104020603" pitchFamily="34" charset="0"/>
                      </a:endParaRPr>
                    </a:p>
                  </a:txBody>
                  <a:tcPr anchor="ctr">
                    <a:lnL>
                      <a:noFill/>
                    </a:lnL>
                    <a:lnR>
                      <a:noFill/>
                    </a:lnR>
                    <a:lnT>
                      <a:noFill/>
                    </a:lnT>
                    <a:lnB>
                      <a:noFill/>
                    </a:lnB>
                    <a:noFill/>
                  </a:tcPr>
                </a:tc>
                <a:extLst>
                  <a:ext uri="{0D108BD9-81ED-4DB2-BD59-A6C34878D82A}">
                    <a16:rowId xmlns:a16="http://schemas.microsoft.com/office/drawing/2014/main" val="4069151923"/>
                  </a:ext>
                </a:extLst>
              </a:tr>
              <a:tr h="764636">
                <a:tc>
                  <a:txBody>
                    <a:bodyPr/>
                    <a:lstStyle/>
                    <a:p>
                      <a:pPr algn="ctr">
                        <a:buNone/>
                      </a:pPr>
                      <a:r>
                        <a:rPr lang="es-AR">
                          <a:solidFill>
                            <a:schemeClr val="bg2"/>
                          </a:solidFill>
                          <a:latin typeface="Tw Cen MT" panose="020B0602020104020603" pitchFamily="34" charset="0"/>
                        </a:rPr>
                        <a:t>Dependencia de un solo producto</a:t>
                      </a:r>
                    </a:p>
                  </a:txBody>
                  <a:tcPr anchor="ctr">
                    <a:lnL>
                      <a:noFill/>
                    </a:lnL>
                    <a:lnR>
                      <a:noFill/>
                    </a:lnR>
                    <a:lnT>
                      <a:noFill/>
                    </a:lnT>
                    <a:lnB>
                      <a:noFill/>
                    </a:lnB>
                    <a:noFill/>
                  </a:tcPr>
                </a:tc>
                <a:tc>
                  <a:txBody>
                    <a:bodyPr/>
                    <a:lstStyle/>
                    <a:p>
                      <a:pPr algn="ctr">
                        <a:buNone/>
                      </a:pPr>
                      <a:r>
                        <a:rPr lang="en-US">
                          <a:solidFill>
                            <a:schemeClr val="bg2"/>
                          </a:solidFill>
                          <a:latin typeface="Tw Cen MT" panose="020B0602020104020603" pitchFamily="34" charset="0"/>
                        </a:rPr>
                        <a:t>Spotify (riesgo alto)</a:t>
                      </a:r>
                    </a:p>
                  </a:txBody>
                  <a:tcPr anchor="ctr">
                    <a:lnL>
                      <a:noFill/>
                    </a:lnL>
                    <a:lnR>
                      <a:noFill/>
                    </a:lnR>
                    <a:lnT>
                      <a:noFill/>
                    </a:lnT>
                    <a:lnB>
                      <a:noFill/>
                    </a:lnB>
                    <a:noFill/>
                  </a:tcPr>
                </a:tc>
                <a:tc>
                  <a:txBody>
                    <a:bodyPr/>
                    <a:lstStyle/>
                    <a:p>
                      <a:pPr algn="ctr">
                        <a:buNone/>
                      </a:pPr>
                      <a:r>
                        <a:rPr lang="en-US" dirty="0">
                          <a:solidFill>
                            <a:schemeClr val="bg2"/>
                          </a:solidFill>
                          <a:latin typeface="Tw Cen MT" panose="020B0602020104020603" pitchFamily="34" charset="0"/>
                        </a:rPr>
                        <a:t>—</a:t>
                      </a:r>
                    </a:p>
                  </a:txBody>
                  <a:tcPr anchor="ctr">
                    <a:lnL>
                      <a:noFill/>
                    </a:lnL>
                    <a:lnR>
                      <a:noFill/>
                    </a:lnR>
                    <a:lnT>
                      <a:noFill/>
                    </a:lnT>
                    <a:lnB>
                      <a:noFill/>
                    </a:lnB>
                    <a:noFill/>
                  </a:tcPr>
                </a:tc>
                <a:extLst>
                  <a:ext uri="{0D108BD9-81ED-4DB2-BD59-A6C34878D82A}">
                    <a16:rowId xmlns:a16="http://schemas.microsoft.com/office/drawing/2014/main" val="2010227857"/>
                  </a:ext>
                </a:extLst>
              </a:tr>
            </a:tbl>
          </a:graphicData>
        </a:graphic>
      </p:graphicFrame>
      <p:sp>
        <p:nvSpPr>
          <p:cNvPr id="8" name="CuadroTexto 7">
            <a:extLst>
              <a:ext uri="{FF2B5EF4-FFF2-40B4-BE49-F238E27FC236}">
                <a16:creationId xmlns:a16="http://schemas.microsoft.com/office/drawing/2014/main" id="{03F7B4F9-864E-87F6-1623-6E73CA7616E0}"/>
              </a:ext>
            </a:extLst>
          </p:cNvPr>
          <p:cNvSpPr txBox="1"/>
          <p:nvPr/>
        </p:nvSpPr>
        <p:spPr>
          <a:xfrm>
            <a:off x="304800" y="4741590"/>
            <a:ext cx="8534400" cy="1938992"/>
          </a:xfrm>
          <a:prstGeom prst="rect">
            <a:avLst/>
          </a:prstGeom>
          <a:noFill/>
        </p:spPr>
        <p:txBody>
          <a:bodyPr wrap="square">
            <a:spAutoFit/>
          </a:bodyPr>
          <a:lstStyle/>
          <a:p>
            <a:r>
              <a:rPr lang="es-AR" sz="2000" b="1" dirty="0">
                <a:solidFill>
                  <a:schemeClr val="bg2"/>
                </a:solidFill>
                <a:latin typeface="Tw Cen MT" panose="020B0602020104020603" pitchFamily="34" charset="0"/>
              </a:rPr>
              <a:t>La descentralización de Spotify es funcional a su estrategia de crecimiento global y experimentación continua. </a:t>
            </a:r>
          </a:p>
          <a:p>
            <a:r>
              <a:rPr lang="es-AR" sz="2000" b="1" dirty="0">
                <a:solidFill>
                  <a:schemeClr val="bg2"/>
                </a:solidFill>
                <a:latin typeface="Tw Cen MT" panose="020B0602020104020603" pitchFamily="34" charset="0"/>
              </a:rPr>
              <a:t>La centralización de Apple es funcional a su estrategia de ecosistema integrado y margen premium.</a:t>
            </a:r>
          </a:p>
          <a:p>
            <a:r>
              <a:rPr lang="es-AR" sz="2000" b="1" dirty="0">
                <a:solidFill>
                  <a:schemeClr val="bg2"/>
                </a:solidFill>
                <a:latin typeface="Tw Cen MT" panose="020B0602020104020603" pitchFamily="34" charset="0"/>
              </a:rPr>
              <a:t>La asignación de autoridad debe ser coherente con la estrategia competitiva, no con una preferencia ideológica por la autonomía o el control.</a:t>
            </a:r>
            <a:endParaRPr lang="en-US" sz="2000" b="1" dirty="0">
              <a:solidFill>
                <a:schemeClr val="bg2"/>
              </a:solidFill>
              <a:latin typeface="Tw Cen MT" panose="020B0602020104020603" pitchFamily="34" charset="0"/>
            </a:endParaRPr>
          </a:p>
        </p:txBody>
      </p:sp>
    </p:spTree>
    <p:extLst>
      <p:ext uri="{BB962C8B-B14F-4D97-AF65-F5344CB8AC3E}">
        <p14:creationId xmlns:p14="http://schemas.microsoft.com/office/powerpoint/2010/main" val="534910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Asignación de Autoridad</a:t>
            </a:r>
          </a:p>
        </p:txBody>
      </p:sp>
      <p:sp>
        <p:nvSpPr>
          <p:cNvPr id="5" name="TextBox 4"/>
          <p:cNvSpPr txBox="1"/>
          <p:nvPr/>
        </p:nvSpPr>
        <p:spPr>
          <a:xfrm>
            <a:off x="304800" y="1035424"/>
            <a:ext cx="8534400" cy="5745163"/>
          </a:xfrm>
          <a:prstGeom prst="rect">
            <a:avLst/>
          </a:prstGeom>
          <a:noFill/>
        </p:spPr>
        <p:txBody>
          <a:bodyPr wrap="square">
            <a:spAutoFit/>
          </a:bodyPr>
          <a:lstStyle/>
          <a:p>
            <a:pPr marL="342900" indent="-342900" algn="l">
              <a:spcBef>
                <a:spcPts val="400"/>
              </a:spcBef>
              <a:buFont typeface="Arial" panose="020B0604020202020204" pitchFamily="34" charset="0"/>
              <a:buChar char="•"/>
            </a:pPr>
            <a:r>
              <a:rPr sz="2400" b="0" dirty="0">
                <a:solidFill>
                  <a:srgbClr val="222222"/>
                </a:solidFill>
                <a:latin typeface="Tw Cen MT"/>
              </a:rPr>
              <a:t>Los </a:t>
            </a:r>
            <a:r>
              <a:rPr sz="2400" b="0" dirty="0" err="1">
                <a:solidFill>
                  <a:srgbClr val="222222"/>
                </a:solidFill>
                <a:latin typeface="Tw Cen MT"/>
              </a:rPr>
              <a:t>empleados</a:t>
            </a:r>
            <a:r>
              <a:rPr sz="2400" b="0" dirty="0">
                <a:solidFill>
                  <a:srgbClr val="222222"/>
                </a:solidFill>
                <a:latin typeface="Tw Cen MT"/>
              </a:rPr>
              <a:t> </a:t>
            </a:r>
            <a:r>
              <a:rPr sz="2400" b="0" dirty="0" err="1">
                <a:solidFill>
                  <a:srgbClr val="222222"/>
                </a:solidFill>
                <a:latin typeface="Tw Cen MT"/>
              </a:rPr>
              <a:t>obtienen</a:t>
            </a:r>
            <a:r>
              <a:rPr sz="2400" b="0" dirty="0">
                <a:solidFill>
                  <a:srgbClr val="222222"/>
                </a:solidFill>
                <a:latin typeface="Tw Cen MT"/>
              </a:rPr>
              <a:t> </a:t>
            </a:r>
            <a:r>
              <a:rPr sz="2400" b="0" dirty="0" err="1">
                <a:solidFill>
                  <a:srgbClr val="222222"/>
                </a:solidFill>
                <a:latin typeface="Tw Cen MT"/>
              </a:rPr>
              <a:t>autoridad</a:t>
            </a:r>
            <a:r>
              <a:rPr sz="2400" b="0" dirty="0">
                <a:solidFill>
                  <a:srgbClr val="222222"/>
                </a:solidFill>
                <a:latin typeface="Tw Cen MT"/>
              </a:rPr>
              <a:t> </a:t>
            </a:r>
            <a:r>
              <a:rPr sz="2400" b="0" dirty="0" err="1">
                <a:solidFill>
                  <a:srgbClr val="222222"/>
                </a:solidFill>
                <a:latin typeface="Tw Cen MT"/>
              </a:rPr>
              <a:t>sobre</a:t>
            </a:r>
            <a:r>
              <a:rPr sz="2400" b="0" dirty="0">
                <a:solidFill>
                  <a:srgbClr val="222222"/>
                </a:solidFill>
                <a:latin typeface="Tw Cen MT"/>
              </a:rPr>
              <a:t> </a:t>
            </a:r>
            <a:r>
              <a:rPr sz="2400" b="0" dirty="0" err="1">
                <a:solidFill>
                  <a:srgbClr val="222222"/>
                </a:solidFill>
                <a:latin typeface="Tw Cen MT"/>
              </a:rPr>
              <a:t>el</a:t>
            </a:r>
            <a:r>
              <a:rPr sz="2400" b="0" dirty="0">
                <a:solidFill>
                  <a:srgbClr val="222222"/>
                </a:solidFill>
                <a:latin typeface="Tw Cen MT"/>
              </a:rPr>
              <a:t> </a:t>
            </a:r>
            <a:r>
              <a:rPr sz="2400" b="0" dirty="0" err="1">
                <a:solidFill>
                  <a:srgbClr val="222222"/>
                </a:solidFill>
                <a:latin typeface="Tw Cen MT"/>
              </a:rPr>
              <a:t>uso</a:t>
            </a:r>
            <a:r>
              <a:rPr sz="2400" b="0" dirty="0">
                <a:solidFill>
                  <a:srgbClr val="222222"/>
                </a:solidFill>
                <a:latin typeface="Tw Cen MT"/>
              </a:rPr>
              <a:t> de </a:t>
            </a:r>
            <a:r>
              <a:rPr sz="2400" b="0" dirty="0" err="1">
                <a:solidFill>
                  <a:srgbClr val="222222"/>
                </a:solidFill>
                <a:latin typeface="Tw Cen MT"/>
              </a:rPr>
              <a:t>los</a:t>
            </a:r>
            <a:r>
              <a:rPr sz="2400" b="0" dirty="0">
                <a:solidFill>
                  <a:srgbClr val="222222"/>
                </a:solidFill>
                <a:latin typeface="Tw Cen MT"/>
              </a:rPr>
              <a:t> </a:t>
            </a:r>
            <a:r>
              <a:rPr sz="2400" b="0" dirty="0" err="1">
                <a:solidFill>
                  <a:srgbClr val="222222"/>
                </a:solidFill>
                <a:latin typeface="Tw Cen MT"/>
              </a:rPr>
              <a:t>recursos</a:t>
            </a:r>
            <a:r>
              <a:rPr sz="2400" b="0" dirty="0">
                <a:solidFill>
                  <a:srgbClr val="222222"/>
                </a:solidFill>
                <a:latin typeface="Tw Cen MT"/>
              </a:rPr>
              <a:t> de la </a:t>
            </a:r>
            <a:r>
              <a:rPr sz="2400" b="0" dirty="0" err="1">
                <a:solidFill>
                  <a:srgbClr val="222222"/>
                </a:solidFill>
                <a:latin typeface="Tw Cen MT"/>
              </a:rPr>
              <a:t>empresa</a:t>
            </a:r>
            <a:r>
              <a:rPr sz="2400" b="0" dirty="0">
                <a:solidFill>
                  <a:srgbClr val="222222"/>
                </a:solidFill>
                <a:latin typeface="Tw Cen MT"/>
              </a:rPr>
              <a:t>.</a:t>
            </a:r>
          </a:p>
          <a:p>
            <a:pPr marL="342900" indent="-342900" algn="l">
              <a:spcBef>
                <a:spcPts val="400"/>
              </a:spcBef>
              <a:buFont typeface="Arial" panose="020B0604020202020204" pitchFamily="34" charset="0"/>
              <a:buChar char="•"/>
            </a:pPr>
            <a:r>
              <a:rPr sz="2400" b="0" dirty="0">
                <a:solidFill>
                  <a:srgbClr val="222222"/>
                </a:solidFill>
                <a:latin typeface="Tw Cen MT"/>
              </a:rPr>
              <a:t>No son </a:t>
            </a:r>
            <a:r>
              <a:rPr sz="2400" b="0" dirty="0" err="1">
                <a:solidFill>
                  <a:srgbClr val="222222"/>
                </a:solidFill>
                <a:latin typeface="Tw Cen MT"/>
              </a:rPr>
              <a:t>propietarios</a:t>
            </a:r>
            <a:r>
              <a:rPr sz="2400" b="0" dirty="0">
                <a:solidFill>
                  <a:srgbClr val="222222"/>
                </a:solidFill>
                <a:latin typeface="Tw Cen MT"/>
              </a:rPr>
              <a:t>: no </a:t>
            </a:r>
            <a:r>
              <a:rPr sz="2400" b="0" dirty="0" err="1">
                <a:solidFill>
                  <a:srgbClr val="222222"/>
                </a:solidFill>
                <a:latin typeface="Tw Cen MT"/>
              </a:rPr>
              <a:t>pueden</a:t>
            </a:r>
            <a:r>
              <a:rPr sz="2400" b="0" dirty="0">
                <a:solidFill>
                  <a:srgbClr val="222222"/>
                </a:solidFill>
                <a:latin typeface="Tw Cen MT"/>
              </a:rPr>
              <a:t> vender </a:t>
            </a:r>
            <a:r>
              <a:rPr sz="2400" b="0" dirty="0" err="1">
                <a:solidFill>
                  <a:srgbClr val="222222"/>
                </a:solidFill>
                <a:latin typeface="Tw Cen MT"/>
              </a:rPr>
              <a:t>propiedades</a:t>
            </a:r>
            <a:r>
              <a:rPr sz="2400" b="0" dirty="0">
                <a:solidFill>
                  <a:srgbClr val="222222"/>
                </a:solidFill>
                <a:latin typeface="Tw Cen MT"/>
              </a:rPr>
              <a:t> de la </a:t>
            </a:r>
            <a:r>
              <a:rPr sz="2400" b="0" dirty="0" err="1">
                <a:solidFill>
                  <a:srgbClr val="222222"/>
                </a:solidFill>
                <a:latin typeface="Tw Cen MT"/>
              </a:rPr>
              <a:t>empresa</a:t>
            </a:r>
            <a:r>
              <a:rPr sz="2400" b="0" dirty="0">
                <a:solidFill>
                  <a:srgbClr val="222222"/>
                </a:solidFill>
                <a:latin typeface="Tw Cen MT"/>
              </a:rPr>
              <a:t> </a:t>
            </a:r>
            <a:r>
              <a:rPr sz="2400" b="0" dirty="0" err="1">
                <a:solidFill>
                  <a:srgbClr val="222222"/>
                </a:solidFill>
                <a:latin typeface="Tw Cen MT"/>
              </a:rPr>
              <a:t>ni</a:t>
            </a:r>
            <a:r>
              <a:rPr sz="2400" b="0" dirty="0">
                <a:solidFill>
                  <a:srgbClr val="222222"/>
                </a:solidFill>
                <a:latin typeface="Tw Cen MT"/>
              </a:rPr>
              <a:t> </a:t>
            </a:r>
            <a:r>
              <a:rPr sz="2400" b="0" dirty="0" err="1">
                <a:solidFill>
                  <a:srgbClr val="222222"/>
                </a:solidFill>
                <a:latin typeface="Tw Cen MT"/>
              </a:rPr>
              <a:t>quedarse</a:t>
            </a:r>
            <a:r>
              <a:rPr sz="2400" b="0" dirty="0">
                <a:solidFill>
                  <a:srgbClr val="222222"/>
                </a:solidFill>
                <a:latin typeface="Tw Cen MT"/>
              </a:rPr>
              <a:t> con las </a:t>
            </a:r>
            <a:r>
              <a:rPr sz="2400" b="0" dirty="0" err="1">
                <a:solidFill>
                  <a:srgbClr val="222222"/>
                </a:solidFill>
                <a:latin typeface="Tw Cen MT"/>
              </a:rPr>
              <a:t>ganancias</a:t>
            </a:r>
            <a:r>
              <a:rPr sz="2400" b="0" dirty="0">
                <a:solidFill>
                  <a:srgbClr val="222222"/>
                </a:solidFill>
                <a:latin typeface="Tw Cen MT"/>
              </a:rPr>
              <a:t>.</a:t>
            </a:r>
          </a:p>
          <a:p>
            <a:pPr algn="ctr">
              <a:spcBef>
                <a:spcPts val="400"/>
              </a:spcBef>
            </a:pPr>
            <a:r>
              <a:rPr sz="2600" b="1" dirty="0">
                <a:solidFill>
                  <a:srgbClr val="222222"/>
                </a:solidFill>
                <a:latin typeface="Tw Cen MT"/>
              </a:rPr>
              <a:t>Tienen </a:t>
            </a:r>
            <a:r>
              <a:rPr sz="2600" b="1" dirty="0" err="1">
                <a:solidFill>
                  <a:srgbClr val="222222"/>
                </a:solidFill>
                <a:latin typeface="Tw Cen MT"/>
              </a:rPr>
              <a:t>menos</a:t>
            </a:r>
            <a:r>
              <a:rPr sz="2600" b="1" dirty="0">
                <a:solidFill>
                  <a:srgbClr val="222222"/>
                </a:solidFill>
                <a:latin typeface="Tw Cen MT"/>
              </a:rPr>
              <a:t> </a:t>
            </a:r>
            <a:r>
              <a:rPr sz="2600" b="1" dirty="0" err="1">
                <a:solidFill>
                  <a:srgbClr val="222222"/>
                </a:solidFill>
                <a:latin typeface="Tw Cen MT"/>
              </a:rPr>
              <a:t>incentivos</a:t>
            </a:r>
            <a:r>
              <a:rPr sz="2600" b="1" dirty="0">
                <a:solidFill>
                  <a:srgbClr val="222222"/>
                </a:solidFill>
                <a:latin typeface="Tw Cen MT"/>
              </a:rPr>
              <a:t> para </a:t>
            </a:r>
            <a:r>
              <a:rPr sz="2600" b="1" dirty="0" err="1">
                <a:solidFill>
                  <a:srgbClr val="222222"/>
                </a:solidFill>
                <a:latin typeface="Tw Cen MT"/>
              </a:rPr>
              <a:t>preocuparse</a:t>
            </a:r>
            <a:r>
              <a:rPr sz="2600" b="1" dirty="0">
                <a:solidFill>
                  <a:srgbClr val="222222"/>
                </a:solidFill>
                <a:latin typeface="Tw Cen MT"/>
              </a:rPr>
              <a:t> </a:t>
            </a:r>
            <a:r>
              <a:rPr sz="2600" b="1" dirty="0" err="1">
                <a:solidFill>
                  <a:srgbClr val="222222"/>
                </a:solidFill>
                <a:latin typeface="Tw Cen MT"/>
              </a:rPr>
              <a:t>por</a:t>
            </a:r>
            <a:r>
              <a:rPr sz="2600" b="1" dirty="0">
                <a:solidFill>
                  <a:srgbClr val="222222"/>
                </a:solidFill>
                <a:latin typeface="Tw Cen MT"/>
              </a:rPr>
              <a:t> </a:t>
            </a:r>
            <a:r>
              <a:rPr sz="2600" b="1" dirty="0" err="1">
                <a:solidFill>
                  <a:srgbClr val="222222"/>
                </a:solidFill>
                <a:latin typeface="Tw Cen MT"/>
              </a:rPr>
              <a:t>el</a:t>
            </a:r>
            <a:r>
              <a:rPr sz="2600" b="1" dirty="0">
                <a:solidFill>
                  <a:srgbClr val="222222"/>
                </a:solidFill>
                <a:latin typeface="Tw Cen MT"/>
              </a:rPr>
              <a:t> </a:t>
            </a:r>
            <a:r>
              <a:rPr sz="2600" b="1" dirty="0" err="1">
                <a:solidFill>
                  <a:srgbClr val="222222"/>
                </a:solidFill>
                <a:latin typeface="Tw Cen MT"/>
              </a:rPr>
              <a:t>uso</a:t>
            </a:r>
            <a:r>
              <a:rPr sz="2600" b="1" dirty="0">
                <a:solidFill>
                  <a:srgbClr val="222222"/>
                </a:solidFill>
                <a:latin typeface="Tw Cen MT"/>
              </a:rPr>
              <a:t> </a:t>
            </a:r>
            <a:r>
              <a:rPr sz="2600" b="1" dirty="0" err="1">
                <a:solidFill>
                  <a:srgbClr val="222222"/>
                </a:solidFill>
                <a:latin typeface="Tw Cen MT"/>
              </a:rPr>
              <a:t>eficiente</a:t>
            </a:r>
            <a:r>
              <a:rPr sz="2600" b="1" dirty="0">
                <a:solidFill>
                  <a:srgbClr val="222222"/>
                </a:solidFill>
                <a:latin typeface="Tw Cen MT"/>
              </a:rPr>
              <a:t> de </a:t>
            </a:r>
            <a:r>
              <a:rPr sz="2600" b="1" dirty="0" err="1">
                <a:solidFill>
                  <a:srgbClr val="222222"/>
                </a:solidFill>
                <a:latin typeface="Tw Cen MT"/>
              </a:rPr>
              <a:t>los</a:t>
            </a:r>
            <a:r>
              <a:rPr sz="2600" b="1" dirty="0">
                <a:solidFill>
                  <a:srgbClr val="222222"/>
                </a:solidFill>
                <a:latin typeface="Tw Cen MT"/>
              </a:rPr>
              <a:t> </a:t>
            </a:r>
            <a:r>
              <a:rPr sz="2600" b="1" dirty="0" err="1">
                <a:solidFill>
                  <a:srgbClr val="222222"/>
                </a:solidFill>
                <a:latin typeface="Tw Cen MT"/>
              </a:rPr>
              <a:t>recursos</a:t>
            </a:r>
            <a:r>
              <a:rPr sz="2600" b="1" dirty="0">
                <a:solidFill>
                  <a:srgbClr val="222222"/>
                </a:solidFill>
                <a:latin typeface="Tw Cen MT"/>
              </a:rPr>
              <a:t> </a:t>
            </a:r>
            <a:r>
              <a:rPr sz="2600" b="1" dirty="0" err="1">
                <a:solidFill>
                  <a:srgbClr val="222222"/>
                </a:solidFill>
                <a:latin typeface="Tw Cen MT"/>
              </a:rPr>
              <a:t>que</a:t>
            </a:r>
            <a:r>
              <a:rPr sz="2600" b="1" dirty="0">
                <a:solidFill>
                  <a:srgbClr val="222222"/>
                </a:solidFill>
                <a:latin typeface="Tw Cen MT"/>
              </a:rPr>
              <a:t> </a:t>
            </a:r>
            <a:r>
              <a:rPr sz="2600" b="1" dirty="0" err="1">
                <a:solidFill>
                  <a:srgbClr val="222222"/>
                </a:solidFill>
                <a:latin typeface="Tw Cen MT"/>
              </a:rPr>
              <a:t>los</a:t>
            </a:r>
            <a:r>
              <a:rPr sz="2600" b="1" dirty="0">
                <a:solidFill>
                  <a:srgbClr val="222222"/>
                </a:solidFill>
                <a:latin typeface="Tw Cen MT"/>
              </a:rPr>
              <a:t> </a:t>
            </a:r>
            <a:r>
              <a:rPr sz="2600" b="1" dirty="0" err="1">
                <a:solidFill>
                  <a:srgbClr val="222222"/>
                </a:solidFill>
                <a:latin typeface="Tw Cen MT"/>
              </a:rPr>
              <a:t>propietarios</a:t>
            </a:r>
            <a:r>
              <a:rPr sz="2600" b="1" dirty="0">
                <a:solidFill>
                  <a:srgbClr val="222222"/>
                </a:solidFill>
                <a:latin typeface="Tw Cen MT"/>
              </a:rPr>
              <a:t>.</a:t>
            </a:r>
            <a:endParaRPr lang="es-419" sz="2600" b="1" dirty="0">
              <a:solidFill>
                <a:srgbClr val="222222"/>
              </a:solidFill>
              <a:latin typeface="Tw Cen MT"/>
            </a:endParaRPr>
          </a:p>
          <a:p>
            <a:pPr algn="l">
              <a:spcBef>
                <a:spcPts val="400"/>
              </a:spcBef>
            </a:pPr>
            <a:endParaRPr sz="2400" b="1" dirty="0">
              <a:solidFill>
                <a:srgbClr val="222222"/>
              </a:solidFill>
              <a:latin typeface="Tw Cen MT"/>
            </a:endParaRPr>
          </a:p>
          <a:p>
            <a:pPr algn="l">
              <a:spcBef>
                <a:spcPts val="400"/>
              </a:spcBef>
              <a:buNone/>
            </a:pPr>
            <a:r>
              <a:rPr sz="2400" b="1" dirty="0">
                <a:solidFill>
                  <a:srgbClr val="8B0000"/>
                </a:solidFill>
                <a:latin typeface="Tw Cen MT"/>
              </a:rPr>
              <a:t>SISTEMA DE CONTROL</a:t>
            </a:r>
          </a:p>
          <a:p>
            <a:pPr algn="l">
              <a:spcBef>
                <a:spcPts val="400"/>
              </a:spcBef>
            </a:pPr>
            <a:r>
              <a:rPr lang="es-419" sz="2400" dirty="0">
                <a:solidFill>
                  <a:srgbClr val="222222"/>
                </a:solidFill>
                <a:latin typeface="Tw Cen MT"/>
              </a:rPr>
              <a:t>P</a:t>
            </a:r>
            <a:r>
              <a:rPr sz="2400" b="0" dirty="0" err="1">
                <a:solidFill>
                  <a:srgbClr val="222222"/>
                </a:solidFill>
                <a:latin typeface="Tw Cen MT"/>
              </a:rPr>
              <a:t>olítica</a:t>
            </a:r>
            <a:r>
              <a:rPr sz="2400" b="0" dirty="0">
                <a:solidFill>
                  <a:srgbClr val="222222"/>
                </a:solidFill>
                <a:latin typeface="Tw Cen MT"/>
              </a:rPr>
              <a:t> </a:t>
            </a:r>
            <a:r>
              <a:rPr sz="2400" b="0" dirty="0" err="1">
                <a:solidFill>
                  <a:srgbClr val="222222"/>
                </a:solidFill>
                <a:latin typeface="Tw Cen MT"/>
              </a:rPr>
              <a:t>compensatoria</a:t>
            </a:r>
            <a:r>
              <a:rPr sz="2400" b="0" dirty="0">
                <a:solidFill>
                  <a:srgbClr val="222222"/>
                </a:solidFill>
                <a:latin typeface="Tw Cen MT"/>
              </a:rPr>
              <a:t> y </a:t>
            </a:r>
            <a:r>
              <a:rPr sz="2400" b="0" dirty="0" err="1">
                <a:solidFill>
                  <a:srgbClr val="222222"/>
                </a:solidFill>
                <a:latin typeface="Tw Cen MT"/>
              </a:rPr>
              <a:t>evaluación</a:t>
            </a:r>
            <a:r>
              <a:rPr sz="2400" b="0" dirty="0">
                <a:solidFill>
                  <a:srgbClr val="222222"/>
                </a:solidFill>
                <a:latin typeface="Tw Cen MT"/>
              </a:rPr>
              <a:t> de </a:t>
            </a:r>
            <a:r>
              <a:rPr sz="2400" b="0" dirty="0" err="1">
                <a:solidFill>
                  <a:srgbClr val="222222"/>
                </a:solidFill>
                <a:latin typeface="Tw Cen MT"/>
              </a:rPr>
              <a:t>desempeño</a:t>
            </a:r>
            <a:r>
              <a:rPr sz="2400" b="0" dirty="0">
                <a:solidFill>
                  <a:srgbClr val="222222"/>
                </a:solidFill>
                <a:latin typeface="Tw Cen MT"/>
              </a:rPr>
              <a:t>, </a:t>
            </a:r>
            <a:r>
              <a:rPr sz="2400" b="0" dirty="0" err="1">
                <a:solidFill>
                  <a:srgbClr val="222222"/>
                </a:solidFill>
                <a:latin typeface="Tw Cen MT"/>
              </a:rPr>
              <a:t>colaboran</a:t>
            </a:r>
            <a:r>
              <a:rPr sz="2400" b="0" dirty="0">
                <a:solidFill>
                  <a:srgbClr val="222222"/>
                </a:solidFill>
                <a:latin typeface="Tw Cen MT"/>
              </a:rPr>
              <a:t> </a:t>
            </a:r>
            <a:r>
              <a:rPr sz="2400" b="0" dirty="0" err="1">
                <a:solidFill>
                  <a:srgbClr val="222222"/>
                </a:solidFill>
                <a:latin typeface="Tw Cen MT"/>
              </a:rPr>
              <a:t>en</a:t>
            </a:r>
            <a:r>
              <a:rPr sz="2400" b="0" dirty="0">
                <a:solidFill>
                  <a:srgbClr val="222222"/>
                </a:solidFill>
                <a:latin typeface="Tw Cen MT"/>
              </a:rPr>
              <a:t> </a:t>
            </a:r>
            <a:r>
              <a:rPr sz="2400" b="0" dirty="0" err="1">
                <a:solidFill>
                  <a:srgbClr val="222222"/>
                </a:solidFill>
                <a:latin typeface="Tw Cen MT"/>
              </a:rPr>
              <a:t>alinear</a:t>
            </a:r>
            <a:r>
              <a:rPr sz="2400" b="0" dirty="0">
                <a:solidFill>
                  <a:srgbClr val="222222"/>
                </a:solidFill>
                <a:latin typeface="Tw Cen MT"/>
              </a:rPr>
              <a:t> </a:t>
            </a:r>
            <a:r>
              <a:rPr sz="2400" b="0" dirty="0" err="1">
                <a:solidFill>
                  <a:srgbClr val="222222"/>
                </a:solidFill>
                <a:latin typeface="Tw Cen MT"/>
              </a:rPr>
              <a:t>los</a:t>
            </a:r>
            <a:r>
              <a:rPr sz="2400" b="0" dirty="0">
                <a:solidFill>
                  <a:srgbClr val="222222"/>
                </a:solidFill>
                <a:latin typeface="Tw Cen MT"/>
              </a:rPr>
              <a:t> </a:t>
            </a:r>
            <a:r>
              <a:rPr sz="2400" b="0" dirty="0" err="1">
                <a:solidFill>
                  <a:srgbClr val="222222"/>
                </a:solidFill>
                <a:latin typeface="Tw Cen MT"/>
              </a:rPr>
              <a:t>intereses</a:t>
            </a:r>
            <a:r>
              <a:rPr sz="2400" b="0" dirty="0">
                <a:solidFill>
                  <a:srgbClr val="222222"/>
                </a:solidFill>
                <a:latin typeface="Tw Cen MT"/>
              </a:rPr>
              <a:t> de </a:t>
            </a:r>
            <a:r>
              <a:rPr sz="2400" b="0" dirty="0" err="1">
                <a:solidFill>
                  <a:srgbClr val="222222"/>
                </a:solidFill>
                <a:latin typeface="Tw Cen MT"/>
              </a:rPr>
              <a:t>quienes</a:t>
            </a:r>
            <a:r>
              <a:rPr sz="2400" b="0" dirty="0">
                <a:solidFill>
                  <a:srgbClr val="222222"/>
                </a:solidFill>
                <a:latin typeface="Tw Cen MT"/>
              </a:rPr>
              <a:t> toman las </a:t>
            </a:r>
            <a:r>
              <a:rPr sz="2400" b="0" dirty="0" err="1">
                <a:solidFill>
                  <a:srgbClr val="222222"/>
                </a:solidFill>
                <a:latin typeface="Tw Cen MT"/>
              </a:rPr>
              <a:t>decisiones</a:t>
            </a:r>
            <a:r>
              <a:rPr sz="2400" b="0" dirty="0">
                <a:solidFill>
                  <a:srgbClr val="222222"/>
                </a:solidFill>
                <a:latin typeface="Tw Cen MT"/>
              </a:rPr>
              <a:t> con </a:t>
            </a:r>
            <a:r>
              <a:rPr sz="2400" b="0" dirty="0" err="1">
                <a:solidFill>
                  <a:srgbClr val="222222"/>
                </a:solidFill>
                <a:latin typeface="Tw Cen MT"/>
              </a:rPr>
              <a:t>los</a:t>
            </a:r>
            <a:r>
              <a:rPr sz="2400" b="0" dirty="0">
                <a:solidFill>
                  <a:srgbClr val="222222"/>
                </a:solidFill>
                <a:latin typeface="Tw Cen MT"/>
              </a:rPr>
              <a:t> de </a:t>
            </a:r>
            <a:r>
              <a:rPr sz="2400" b="0" dirty="0" err="1">
                <a:solidFill>
                  <a:srgbClr val="222222"/>
                </a:solidFill>
                <a:latin typeface="Tw Cen MT"/>
              </a:rPr>
              <a:t>los</a:t>
            </a:r>
            <a:r>
              <a:rPr sz="2400" b="0" dirty="0">
                <a:solidFill>
                  <a:srgbClr val="222222"/>
                </a:solidFill>
                <a:latin typeface="Tw Cen MT"/>
              </a:rPr>
              <a:t> </a:t>
            </a:r>
            <a:r>
              <a:rPr sz="2400" b="0" dirty="0" err="1">
                <a:solidFill>
                  <a:srgbClr val="222222"/>
                </a:solidFill>
                <a:latin typeface="Tw Cen MT"/>
              </a:rPr>
              <a:t>propietarios</a:t>
            </a:r>
            <a:r>
              <a:rPr sz="2400" b="0" dirty="0">
                <a:solidFill>
                  <a:srgbClr val="222222"/>
                </a:solidFill>
                <a:latin typeface="Tw Cen MT"/>
              </a:rPr>
              <a:t>.</a:t>
            </a:r>
            <a:endParaRPr lang="es-419" sz="2400" b="0" dirty="0">
              <a:solidFill>
                <a:srgbClr val="222222"/>
              </a:solidFill>
              <a:latin typeface="Tw Cen MT"/>
            </a:endParaRPr>
          </a:p>
          <a:p>
            <a:pPr algn="l">
              <a:spcBef>
                <a:spcPts val="400"/>
              </a:spcBef>
            </a:pPr>
            <a:endParaRPr lang="es-419" sz="2400" b="0" dirty="0">
              <a:solidFill>
                <a:srgbClr val="222222"/>
              </a:solidFill>
              <a:latin typeface="Tw Cen MT"/>
            </a:endParaRPr>
          </a:p>
          <a:p>
            <a:pPr algn="ctr">
              <a:spcBef>
                <a:spcPts val="400"/>
              </a:spcBef>
            </a:pPr>
            <a:r>
              <a:rPr sz="2600" b="1" dirty="0">
                <a:solidFill>
                  <a:srgbClr val="222222"/>
                </a:solidFill>
                <a:latin typeface="Tw Cen MT"/>
              </a:rPr>
              <a:t>Un </a:t>
            </a:r>
            <a:r>
              <a:rPr sz="2600" b="1" dirty="0" err="1">
                <a:solidFill>
                  <a:srgbClr val="222222"/>
                </a:solidFill>
                <a:latin typeface="Tw Cen MT"/>
              </a:rPr>
              <a:t>sistema</a:t>
            </a:r>
            <a:r>
              <a:rPr sz="2600" b="1" dirty="0">
                <a:solidFill>
                  <a:srgbClr val="222222"/>
                </a:solidFill>
                <a:latin typeface="Tw Cen MT"/>
              </a:rPr>
              <a:t> de control </a:t>
            </a:r>
            <a:r>
              <a:rPr sz="2600" b="1" dirty="0" err="1">
                <a:solidFill>
                  <a:srgbClr val="222222"/>
                </a:solidFill>
                <a:latin typeface="Tw Cen MT"/>
              </a:rPr>
              <a:t>óptimo</a:t>
            </a:r>
            <a:r>
              <a:rPr sz="2600" b="1" dirty="0">
                <a:solidFill>
                  <a:srgbClr val="222222"/>
                </a:solidFill>
                <a:latin typeface="Tw Cen MT"/>
              </a:rPr>
              <a:t> </a:t>
            </a:r>
            <a:r>
              <a:rPr sz="2600" b="1" dirty="0" err="1">
                <a:solidFill>
                  <a:srgbClr val="222222"/>
                </a:solidFill>
                <a:latin typeface="Tw Cen MT"/>
              </a:rPr>
              <a:t>depende</a:t>
            </a:r>
            <a:r>
              <a:rPr sz="2600" b="1" dirty="0">
                <a:solidFill>
                  <a:srgbClr val="222222"/>
                </a:solidFill>
                <a:latin typeface="Tw Cen MT"/>
              </a:rPr>
              <a:t> de </a:t>
            </a:r>
            <a:r>
              <a:rPr sz="2600" b="1" dirty="0" err="1">
                <a:solidFill>
                  <a:srgbClr val="222222"/>
                </a:solidFill>
                <a:latin typeface="Tw Cen MT"/>
              </a:rPr>
              <a:t>cómo</a:t>
            </a:r>
            <a:r>
              <a:rPr sz="2600" b="1" dirty="0">
                <a:solidFill>
                  <a:srgbClr val="222222"/>
                </a:solidFill>
                <a:latin typeface="Tw Cen MT"/>
              </a:rPr>
              <a:t> se </a:t>
            </a:r>
            <a:r>
              <a:rPr sz="2600" b="1" dirty="0" err="1">
                <a:solidFill>
                  <a:srgbClr val="222222"/>
                </a:solidFill>
                <a:latin typeface="Tw Cen MT"/>
              </a:rPr>
              <a:t>reparten</a:t>
            </a:r>
            <a:r>
              <a:rPr sz="2600" b="1" dirty="0">
                <a:solidFill>
                  <a:srgbClr val="222222"/>
                </a:solidFill>
                <a:latin typeface="Tw Cen MT"/>
              </a:rPr>
              <a:t> </a:t>
            </a:r>
            <a:r>
              <a:rPr sz="2600" b="1" dirty="0" err="1">
                <a:solidFill>
                  <a:srgbClr val="222222"/>
                </a:solidFill>
                <a:latin typeface="Tw Cen MT"/>
              </a:rPr>
              <a:t>los</a:t>
            </a:r>
            <a:r>
              <a:rPr sz="2600" b="1" dirty="0">
                <a:solidFill>
                  <a:srgbClr val="222222"/>
                </a:solidFill>
                <a:latin typeface="Tw Cen MT"/>
              </a:rPr>
              <a:t> derechos de </a:t>
            </a:r>
            <a:r>
              <a:rPr sz="2600" b="1" dirty="0" err="1">
                <a:solidFill>
                  <a:srgbClr val="222222"/>
                </a:solidFill>
                <a:latin typeface="Tw Cen MT"/>
              </a:rPr>
              <a:t>decisión</a:t>
            </a:r>
            <a:r>
              <a:rPr sz="2600" b="1" dirty="0">
                <a:solidFill>
                  <a:srgbClr val="222222"/>
                </a:solidFill>
                <a:latin typeface="Tw Cen MT"/>
              </a:rPr>
              <a:t> </a:t>
            </a:r>
            <a:r>
              <a:rPr sz="2600" b="1" dirty="0" err="1">
                <a:solidFill>
                  <a:srgbClr val="222222"/>
                </a:solidFill>
                <a:latin typeface="Tw Cen MT"/>
              </a:rPr>
              <a:t>en</a:t>
            </a:r>
            <a:r>
              <a:rPr sz="2600" b="1" dirty="0">
                <a:solidFill>
                  <a:srgbClr val="222222"/>
                </a:solidFill>
                <a:latin typeface="Tw Cen MT"/>
              </a:rPr>
              <a:t> la </a:t>
            </a:r>
            <a:r>
              <a:rPr sz="2600" b="1" dirty="0" err="1">
                <a:solidFill>
                  <a:srgbClr val="222222"/>
                </a:solidFill>
                <a:latin typeface="Tw Cen MT"/>
              </a:rPr>
              <a:t>empresa</a:t>
            </a:r>
            <a:r>
              <a:rPr sz="2600" b="1" dirty="0">
                <a:solidFill>
                  <a:srgbClr val="222222"/>
                </a:solidFill>
                <a:latin typeface="Tw Cen MT"/>
              </a:rPr>
              <a:t>, y </a:t>
            </a:r>
            <a:r>
              <a:rPr sz="2600" b="1" dirty="0" err="1">
                <a:solidFill>
                  <a:srgbClr val="222222"/>
                </a:solidFill>
                <a:latin typeface="Tw Cen MT"/>
              </a:rPr>
              <a:t>viceversa</a:t>
            </a:r>
            <a:r>
              <a:rPr sz="2600" b="1" dirty="0">
                <a:solidFill>
                  <a:srgbClr val="222222"/>
                </a:solidFill>
                <a:latin typeface="Tw Cen MT"/>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dirty="0">
                <a:solidFill>
                  <a:srgbClr val="FFFFFF"/>
                </a:solidFill>
                <a:latin typeface="Tw Cen MT"/>
              </a:rPr>
              <a:t>TALLER — </a:t>
            </a:r>
            <a:r>
              <a:rPr sz="2600" b="1" i="0" dirty="0" err="1">
                <a:solidFill>
                  <a:srgbClr val="FFFFFF"/>
                </a:solidFill>
                <a:latin typeface="Tw Cen MT"/>
              </a:rPr>
              <a:t>AutoMart</a:t>
            </a:r>
            <a:r>
              <a:rPr sz="2600" b="1" i="0" dirty="0">
                <a:solidFill>
                  <a:srgbClr val="FFFFFF"/>
                </a:solidFill>
                <a:latin typeface="Tw Cen MT"/>
              </a:rPr>
              <a:t>: ¿</a:t>
            </a:r>
            <a:r>
              <a:rPr sz="2600" b="1" i="0" dirty="0" err="1">
                <a:solidFill>
                  <a:srgbClr val="FFFFFF"/>
                </a:solidFill>
                <a:latin typeface="Tw Cen MT"/>
              </a:rPr>
              <a:t>Quién</a:t>
            </a:r>
            <a:r>
              <a:rPr sz="2600" b="1" i="0" dirty="0">
                <a:solidFill>
                  <a:srgbClr val="FFFFFF"/>
                </a:solidFill>
                <a:latin typeface="Tw Cen MT"/>
              </a:rPr>
              <a:t> </a:t>
            </a:r>
            <a:r>
              <a:rPr sz="2600" b="1" i="0" dirty="0" err="1">
                <a:solidFill>
                  <a:srgbClr val="FFFFFF"/>
                </a:solidFill>
                <a:latin typeface="Tw Cen MT"/>
              </a:rPr>
              <a:t>fija</a:t>
            </a:r>
            <a:r>
              <a:rPr sz="2600" b="1" i="0" dirty="0">
                <a:solidFill>
                  <a:srgbClr val="FFFFFF"/>
                </a:solidFill>
                <a:latin typeface="Tw Cen MT"/>
              </a:rPr>
              <a:t> </a:t>
            </a:r>
            <a:r>
              <a:rPr sz="2600" b="1" i="0" dirty="0" err="1">
                <a:solidFill>
                  <a:srgbClr val="FFFFFF"/>
                </a:solidFill>
                <a:latin typeface="Tw Cen MT"/>
              </a:rPr>
              <a:t>los</a:t>
            </a:r>
            <a:r>
              <a:rPr sz="2600" b="1" i="0" dirty="0">
                <a:solidFill>
                  <a:srgbClr val="FFFFFF"/>
                </a:solidFill>
                <a:latin typeface="Tw Cen MT"/>
              </a:rPr>
              <a:t> </a:t>
            </a:r>
            <a:r>
              <a:rPr sz="2600" b="1" i="0" dirty="0" err="1">
                <a:solidFill>
                  <a:srgbClr val="FFFFFF"/>
                </a:solidFill>
                <a:latin typeface="Tw Cen MT"/>
              </a:rPr>
              <a:t>precios</a:t>
            </a:r>
            <a:r>
              <a:rPr sz="2600" b="1" i="0" dirty="0">
                <a:solidFill>
                  <a:srgbClr val="FFFFFF"/>
                </a:solidFill>
                <a:latin typeface="Tw Cen MT"/>
              </a:rPr>
              <a:t>?</a:t>
            </a:r>
          </a:p>
        </p:txBody>
      </p:sp>
      <p:sp>
        <p:nvSpPr>
          <p:cNvPr id="5" name="TextBox 4"/>
          <p:cNvSpPr txBox="1"/>
          <p:nvPr/>
        </p:nvSpPr>
        <p:spPr>
          <a:xfrm>
            <a:off x="304800" y="1444118"/>
            <a:ext cx="8534400" cy="4755148"/>
          </a:xfrm>
          <a:prstGeom prst="rect">
            <a:avLst/>
          </a:prstGeom>
          <a:noFill/>
        </p:spPr>
        <p:txBody>
          <a:bodyPr wrap="square">
            <a:spAutoFit/>
          </a:bodyPr>
          <a:lstStyle/>
          <a:p>
            <a:pPr algn="l">
              <a:spcBef>
                <a:spcPts val="400"/>
              </a:spcBef>
            </a:pPr>
            <a:r>
              <a:rPr sz="2400" b="0" dirty="0" err="1">
                <a:solidFill>
                  <a:srgbClr val="FFFFFF"/>
                </a:solidFill>
                <a:latin typeface="Tw Cen MT"/>
              </a:rPr>
              <a:t>AutoMart</a:t>
            </a:r>
            <a:r>
              <a:rPr sz="2400" b="0" dirty="0">
                <a:solidFill>
                  <a:srgbClr val="FFFFFF"/>
                </a:solidFill>
                <a:latin typeface="Tw Cen MT"/>
              </a:rPr>
              <a:t> </a:t>
            </a:r>
            <a:r>
              <a:rPr sz="2400" b="0" dirty="0" err="1">
                <a:solidFill>
                  <a:srgbClr val="FFFFFF"/>
                </a:solidFill>
                <a:latin typeface="Tw Cen MT"/>
              </a:rPr>
              <a:t>vende</a:t>
            </a:r>
            <a:r>
              <a:rPr sz="2400" b="0" dirty="0">
                <a:solidFill>
                  <a:srgbClr val="FFFFFF"/>
                </a:solidFill>
                <a:latin typeface="Tw Cen MT"/>
              </a:rPr>
              <a:t> autos </a:t>
            </a:r>
            <a:r>
              <a:rPr sz="2400" b="0" dirty="0" err="1">
                <a:solidFill>
                  <a:srgbClr val="FFFFFF"/>
                </a:solidFill>
                <a:latin typeface="Tw Cen MT"/>
              </a:rPr>
              <a:t>en</a:t>
            </a:r>
            <a:r>
              <a:rPr sz="2400" b="0" dirty="0">
                <a:solidFill>
                  <a:srgbClr val="FFFFFF"/>
                </a:solidFill>
                <a:latin typeface="Tw Cen MT"/>
              </a:rPr>
              <a:t> dos </a:t>
            </a:r>
            <a:r>
              <a:rPr sz="2400" b="0" dirty="0" err="1">
                <a:solidFill>
                  <a:srgbClr val="FFFFFF"/>
                </a:solidFill>
                <a:latin typeface="Tw Cen MT"/>
              </a:rPr>
              <a:t>ciudades</a:t>
            </a:r>
            <a:r>
              <a:rPr sz="2400" b="0" dirty="0">
                <a:solidFill>
                  <a:srgbClr val="FFFFFF"/>
                </a:solidFill>
                <a:latin typeface="Tw Cen MT"/>
              </a:rPr>
              <a:t>. Cruz es </a:t>
            </a:r>
            <a:r>
              <a:rPr sz="2400" b="0" dirty="0" err="1">
                <a:solidFill>
                  <a:srgbClr val="FFFFFF"/>
                </a:solidFill>
                <a:latin typeface="Tw Cen MT"/>
              </a:rPr>
              <a:t>el</a:t>
            </a:r>
            <a:r>
              <a:rPr sz="2400" b="0" dirty="0">
                <a:solidFill>
                  <a:srgbClr val="FFFFFF"/>
                </a:solidFill>
                <a:latin typeface="Tw Cen MT"/>
              </a:rPr>
              <a:t> Presidente y </a:t>
            </a:r>
            <a:r>
              <a:rPr sz="2400" b="0" dirty="0" err="1">
                <a:solidFill>
                  <a:srgbClr val="FFFFFF"/>
                </a:solidFill>
                <a:latin typeface="Tw Cen MT"/>
              </a:rPr>
              <a:t>tiene</a:t>
            </a:r>
            <a:r>
              <a:rPr sz="2400" b="0" dirty="0">
                <a:solidFill>
                  <a:srgbClr val="FFFFFF"/>
                </a:solidFill>
                <a:latin typeface="Tw Cen MT"/>
              </a:rPr>
              <a:t> dos </a:t>
            </a:r>
            <a:r>
              <a:rPr sz="2400" b="0" dirty="0" err="1">
                <a:solidFill>
                  <a:srgbClr val="FFFFFF"/>
                </a:solidFill>
                <a:latin typeface="Tw Cen MT"/>
              </a:rPr>
              <a:t>Directores</a:t>
            </a:r>
            <a:r>
              <a:rPr sz="2400" b="0" dirty="0">
                <a:solidFill>
                  <a:srgbClr val="FFFFFF"/>
                </a:solidFill>
                <a:latin typeface="Tw Cen MT"/>
              </a:rPr>
              <a:t> locales. El derecho de </a:t>
            </a:r>
            <a:r>
              <a:rPr sz="2400" b="0" dirty="0" err="1">
                <a:solidFill>
                  <a:srgbClr val="FFFFFF"/>
                </a:solidFill>
                <a:latin typeface="Tw Cen MT"/>
              </a:rPr>
              <a:t>decisión</a:t>
            </a:r>
            <a:r>
              <a:rPr sz="2400" b="0" dirty="0">
                <a:solidFill>
                  <a:srgbClr val="FFFFFF"/>
                </a:solidFill>
                <a:latin typeface="Tw Cen MT"/>
              </a:rPr>
              <a:t> </a:t>
            </a:r>
            <a:r>
              <a:rPr sz="2400" b="0" dirty="0" err="1">
                <a:solidFill>
                  <a:srgbClr val="FFFFFF"/>
                </a:solidFill>
                <a:latin typeface="Tw Cen MT"/>
              </a:rPr>
              <a:t>más</a:t>
            </a:r>
            <a:r>
              <a:rPr sz="2400" b="0" dirty="0">
                <a:solidFill>
                  <a:srgbClr val="FFFFFF"/>
                </a:solidFill>
                <a:latin typeface="Tw Cen MT"/>
              </a:rPr>
              <a:t> </a:t>
            </a:r>
            <a:r>
              <a:rPr sz="2400" b="0" dirty="0" err="1">
                <a:solidFill>
                  <a:srgbClr val="FFFFFF"/>
                </a:solidFill>
                <a:latin typeface="Tw Cen MT"/>
              </a:rPr>
              <a:t>importante</a:t>
            </a:r>
            <a:r>
              <a:rPr sz="2400" b="0" dirty="0">
                <a:solidFill>
                  <a:srgbClr val="FFFFFF"/>
                </a:solidFill>
                <a:latin typeface="Tw Cen MT"/>
              </a:rPr>
              <a:t> es la </a:t>
            </a:r>
            <a:r>
              <a:rPr sz="2400" b="0" dirty="0" err="1">
                <a:solidFill>
                  <a:srgbClr val="FFFFFF"/>
                </a:solidFill>
                <a:latin typeface="Tw Cen MT"/>
              </a:rPr>
              <a:t>fijación</a:t>
            </a:r>
            <a:r>
              <a:rPr sz="2400" b="0" dirty="0">
                <a:solidFill>
                  <a:srgbClr val="FFFFFF"/>
                </a:solidFill>
                <a:latin typeface="Tw Cen MT"/>
              </a:rPr>
              <a:t> de </a:t>
            </a:r>
            <a:r>
              <a:rPr sz="2400" b="0" dirty="0" err="1">
                <a:solidFill>
                  <a:srgbClr val="FFFFFF"/>
                </a:solidFill>
                <a:latin typeface="Tw Cen MT"/>
              </a:rPr>
              <a:t>precios</a:t>
            </a:r>
            <a:r>
              <a:rPr lang="es-419" sz="2400" dirty="0">
                <a:solidFill>
                  <a:srgbClr val="FFFFFF"/>
                </a:solidFill>
                <a:latin typeface="Tw Cen MT"/>
              </a:rPr>
              <a:t> de venta.</a:t>
            </a:r>
            <a:endParaRPr sz="2400" b="0" dirty="0">
              <a:solidFill>
                <a:srgbClr val="FFFFFF"/>
              </a:solidFill>
              <a:latin typeface="Tw Cen MT"/>
            </a:endParaRPr>
          </a:p>
          <a:p>
            <a:pPr algn="l">
              <a:spcBef>
                <a:spcPts val="400"/>
              </a:spcBef>
            </a:pPr>
            <a:r>
              <a:rPr sz="2400" b="0" dirty="0">
                <a:solidFill>
                  <a:srgbClr val="FFFFFF"/>
                </a:solidFill>
                <a:latin typeface="Tw Cen MT"/>
              </a:rPr>
              <a:t>Cruz no </a:t>
            </a:r>
            <a:r>
              <a:rPr sz="2400" b="0" dirty="0" err="1">
                <a:solidFill>
                  <a:srgbClr val="FFFFFF"/>
                </a:solidFill>
                <a:latin typeface="Tw Cen MT"/>
              </a:rPr>
              <a:t>quiere</a:t>
            </a:r>
            <a:r>
              <a:rPr sz="2400" b="0" dirty="0">
                <a:solidFill>
                  <a:srgbClr val="FFFFFF"/>
                </a:solidFill>
                <a:latin typeface="Tw Cen MT"/>
              </a:rPr>
              <a:t> </a:t>
            </a:r>
            <a:r>
              <a:rPr sz="2400" b="0" dirty="0" err="1">
                <a:solidFill>
                  <a:srgbClr val="FFFFFF"/>
                </a:solidFill>
                <a:latin typeface="Tw Cen MT"/>
              </a:rPr>
              <a:t>tomar</a:t>
            </a:r>
            <a:r>
              <a:rPr sz="2400" b="0" dirty="0">
                <a:solidFill>
                  <a:srgbClr val="FFFFFF"/>
                </a:solidFill>
                <a:latin typeface="Tw Cen MT"/>
              </a:rPr>
              <a:t> </a:t>
            </a:r>
            <a:r>
              <a:rPr sz="2400" b="0" dirty="0" err="1">
                <a:solidFill>
                  <a:srgbClr val="FFFFFF"/>
                </a:solidFill>
                <a:latin typeface="Tw Cen MT"/>
              </a:rPr>
              <a:t>esa</a:t>
            </a:r>
            <a:r>
              <a:rPr sz="2400" b="0" dirty="0">
                <a:solidFill>
                  <a:srgbClr val="FFFFFF"/>
                </a:solidFill>
                <a:latin typeface="Tw Cen MT"/>
              </a:rPr>
              <a:t> </a:t>
            </a:r>
            <a:r>
              <a:rPr sz="2400" b="0" dirty="0" err="1">
                <a:solidFill>
                  <a:srgbClr val="FFFFFF"/>
                </a:solidFill>
                <a:latin typeface="Tw Cen MT"/>
              </a:rPr>
              <a:t>decisión</a:t>
            </a:r>
            <a:r>
              <a:rPr sz="2400" b="0" dirty="0">
                <a:solidFill>
                  <a:srgbClr val="FFFFFF"/>
                </a:solidFill>
                <a:latin typeface="Tw Cen MT"/>
              </a:rPr>
              <a:t>; </a:t>
            </a:r>
            <a:r>
              <a:rPr sz="2400" b="0" dirty="0" err="1">
                <a:solidFill>
                  <a:srgbClr val="FFFFFF"/>
                </a:solidFill>
                <a:latin typeface="Tw Cen MT"/>
              </a:rPr>
              <a:t>prefiere</a:t>
            </a:r>
            <a:r>
              <a:rPr sz="2400" b="0" dirty="0">
                <a:solidFill>
                  <a:srgbClr val="FFFFFF"/>
                </a:solidFill>
                <a:latin typeface="Tw Cen MT"/>
              </a:rPr>
              <a:t> </a:t>
            </a:r>
            <a:r>
              <a:rPr sz="2400" b="0" dirty="0" err="1">
                <a:solidFill>
                  <a:srgbClr val="FFFFFF"/>
                </a:solidFill>
                <a:latin typeface="Tw Cen MT"/>
              </a:rPr>
              <a:t>concentrarse</a:t>
            </a:r>
            <a:r>
              <a:rPr sz="2400" b="0" dirty="0">
                <a:solidFill>
                  <a:srgbClr val="FFFFFF"/>
                </a:solidFill>
                <a:latin typeface="Tw Cen MT"/>
              </a:rPr>
              <a:t> </a:t>
            </a:r>
            <a:r>
              <a:rPr sz="2400" b="0" dirty="0" err="1">
                <a:solidFill>
                  <a:srgbClr val="FFFFFF"/>
                </a:solidFill>
                <a:latin typeface="Tw Cen MT"/>
              </a:rPr>
              <a:t>en</a:t>
            </a:r>
            <a:r>
              <a:rPr sz="2400" b="0" dirty="0">
                <a:solidFill>
                  <a:srgbClr val="FFFFFF"/>
                </a:solidFill>
                <a:latin typeface="Tw Cen MT"/>
              </a:rPr>
              <a:t> </a:t>
            </a:r>
            <a:r>
              <a:rPr sz="2400" b="0" dirty="0" err="1">
                <a:solidFill>
                  <a:srgbClr val="FFFFFF"/>
                </a:solidFill>
                <a:latin typeface="Tw Cen MT"/>
              </a:rPr>
              <a:t>el</a:t>
            </a:r>
            <a:r>
              <a:rPr sz="2400" b="0" dirty="0">
                <a:solidFill>
                  <a:srgbClr val="FFFFFF"/>
                </a:solidFill>
                <a:latin typeface="Tw Cen MT"/>
              </a:rPr>
              <a:t> </a:t>
            </a:r>
            <a:r>
              <a:rPr sz="2400" b="0" dirty="0" err="1">
                <a:solidFill>
                  <a:srgbClr val="FFFFFF"/>
                </a:solidFill>
                <a:latin typeface="Tw Cen MT"/>
              </a:rPr>
              <a:t>crecimiento</a:t>
            </a:r>
            <a:r>
              <a:rPr sz="2400" b="0" dirty="0">
                <a:solidFill>
                  <a:srgbClr val="FFFFFF"/>
                </a:solidFill>
                <a:latin typeface="Tw Cen MT"/>
              </a:rPr>
              <a:t> de la </a:t>
            </a:r>
            <a:r>
              <a:rPr sz="2400" b="0" dirty="0" err="1">
                <a:solidFill>
                  <a:srgbClr val="FFFFFF"/>
                </a:solidFill>
                <a:latin typeface="Tw Cen MT"/>
              </a:rPr>
              <a:t>empresa</a:t>
            </a:r>
            <a:r>
              <a:rPr sz="2400" b="0" dirty="0">
                <a:solidFill>
                  <a:srgbClr val="FFFFFF"/>
                </a:solidFill>
                <a:latin typeface="Tw Cen MT"/>
              </a:rPr>
              <a:t>. </a:t>
            </a:r>
            <a:r>
              <a:rPr sz="2400" b="0" dirty="0" err="1">
                <a:solidFill>
                  <a:srgbClr val="FFFFFF"/>
                </a:solidFill>
                <a:latin typeface="Tw Cen MT"/>
              </a:rPr>
              <a:t>Puede</a:t>
            </a:r>
            <a:r>
              <a:rPr sz="2400" b="0" dirty="0">
                <a:solidFill>
                  <a:srgbClr val="FFFFFF"/>
                </a:solidFill>
                <a:latin typeface="Tw Cen MT"/>
              </a:rPr>
              <a:t>:</a:t>
            </a:r>
          </a:p>
          <a:p>
            <a:pPr lvl="1" algn="l">
              <a:spcBef>
                <a:spcPts val="150"/>
              </a:spcBef>
              <a:buFont typeface="Tw Cen MT"/>
              <a:buChar char="▸"/>
            </a:pPr>
            <a:r>
              <a:rPr sz="2400" b="0" dirty="0">
                <a:solidFill>
                  <a:srgbClr val="FFFFFF"/>
                </a:solidFill>
                <a:latin typeface="Tw Cen MT"/>
              </a:rPr>
              <a:t>Opción 1: </a:t>
            </a:r>
            <a:r>
              <a:rPr sz="2400" b="0" dirty="0" err="1">
                <a:solidFill>
                  <a:srgbClr val="FFFFFF"/>
                </a:solidFill>
                <a:latin typeface="Tw Cen MT"/>
              </a:rPr>
              <a:t>Asignar</a:t>
            </a:r>
            <a:r>
              <a:rPr sz="2400" b="0" dirty="0">
                <a:solidFill>
                  <a:srgbClr val="FFFFFF"/>
                </a:solidFill>
                <a:latin typeface="Tw Cen MT"/>
              </a:rPr>
              <a:t> a </a:t>
            </a:r>
            <a:r>
              <a:rPr sz="2400" b="0" dirty="0" err="1">
                <a:solidFill>
                  <a:srgbClr val="FFFFFF"/>
                </a:solidFill>
                <a:latin typeface="Tw Cen MT"/>
              </a:rPr>
              <a:t>cada</a:t>
            </a:r>
            <a:r>
              <a:rPr sz="2400" b="0" dirty="0">
                <a:solidFill>
                  <a:srgbClr val="FFFFFF"/>
                </a:solidFill>
                <a:latin typeface="Tw Cen MT"/>
              </a:rPr>
              <a:t> Director </a:t>
            </a:r>
            <a:r>
              <a:rPr sz="2400" b="0" dirty="0" err="1">
                <a:solidFill>
                  <a:srgbClr val="FFFFFF"/>
                </a:solidFill>
                <a:latin typeface="Tw Cen MT"/>
              </a:rPr>
              <a:t>el</a:t>
            </a:r>
            <a:r>
              <a:rPr sz="2400" b="0" dirty="0">
                <a:solidFill>
                  <a:srgbClr val="FFFFFF"/>
                </a:solidFill>
                <a:latin typeface="Tw Cen MT"/>
              </a:rPr>
              <a:t> derecho a </a:t>
            </a:r>
            <a:r>
              <a:rPr sz="2400" b="0" dirty="0" err="1">
                <a:solidFill>
                  <a:srgbClr val="FFFFFF"/>
                </a:solidFill>
                <a:latin typeface="Tw Cen MT"/>
              </a:rPr>
              <a:t>fijar</a:t>
            </a:r>
            <a:r>
              <a:rPr sz="2400" b="0" dirty="0">
                <a:solidFill>
                  <a:srgbClr val="FFFFFF"/>
                </a:solidFill>
                <a:latin typeface="Tw Cen MT"/>
              </a:rPr>
              <a:t> </a:t>
            </a:r>
            <a:r>
              <a:rPr sz="2400" b="0" dirty="0" err="1">
                <a:solidFill>
                  <a:srgbClr val="FFFFFF"/>
                </a:solidFill>
                <a:latin typeface="Tw Cen MT"/>
              </a:rPr>
              <a:t>los</a:t>
            </a:r>
            <a:r>
              <a:rPr sz="2400" b="0" dirty="0">
                <a:solidFill>
                  <a:srgbClr val="FFFFFF"/>
                </a:solidFill>
                <a:latin typeface="Tw Cen MT"/>
              </a:rPr>
              <a:t> </a:t>
            </a:r>
            <a:r>
              <a:rPr sz="2400" b="0" dirty="0" err="1">
                <a:solidFill>
                  <a:srgbClr val="FFFFFF"/>
                </a:solidFill>
                <a:latin typeface="Tw Cen MT"/>
              </a:rPr>
              <a:t>precios</a:t>
            </a:r>
            <a:r>
              <a:rPr sz="2400" b="0" dirty="0">
                <a:solidFill>
                  <a:srgbClr val="FFFFFF"/>
                </a:solidFill>
                <a:latin typeface="Tw Cen MT"/>
              </a:rPr>
              <a:t> de sus </a:t>
            </a:r>
            <a:r>
              <a:rPr sz="2400" b="0" dirty="0" err="1">
                <a:solidFill>
                  <a:srgbClr val="FFFFFF"/>
                </a:solidFill>
                <a:latin typeface="Tw Cen MT"/>
              </a:rPr>
              <a:t>propias</a:t>
            </a:r>
            <a:r>
              <a:rPr sz="2400" b="0" dirty="0">
                <a:solidFill>
                  <a:srgbClr val="FFFFFF"/>
                </a:solidFill>
                <a:latin typeface="Tw Cen MT"/>
              </a:rPr>
              <a:t> </a:t>
            </a:r>
            <a:r>
              <a:rPr sz="2400" b="0" dirty="0" err="1">
                <a:solidFill>
                  <a:srgbClr val="FFFFFF"/>
                </a:solidFill>
                <a:latin typeface="Tw Cen MT"/>
              </a:rPr>
              <a:t>unidades</a:t>
            </a:r>
            <a:r>
              <a:rPr sz="2400" b="0" dirty="0">
                <a:solidFill>
                  <a:srgbClr val="FFFFFF"/>
                </a:solidFill>
                <a:latin typeface="Tw Cen MT"/>
              </a:rPr>
              <a:t>.</a:t>
            </a:r>
          </a:p>
          <a:p>
            <a:pPr lvl="1" algn="l">
              <a:spcBef>
                <a:spcPts val="150"/>
              </a:spcBef>
              <a:buFont typeface="Tw Cen MT"/>
              <a:buChar char="▸"/>
            </a:pPr>
            <a:r>
              <a:rPr sz="2400" b="0" dirty="0">
                <a:solidFill>
                  <a:srgbClr val="FFFFFF"/>
                </a:solidFill>
                <a:latin typeface="Tw Cen MT"/>
              </a:rPr>
              <a:t>Opción 2: </a:t>
            </a:r>
            <a:r>
              <a:rPr sz="2400" b="0" dirty="0" err="1">
                <a:solidFill>
                  <a:srgbClr val="FFFFFF"/>
                </a:solidFill>
                <a:latin typeface="Tw Cen MT"/>
              </a:rPr>
              <a:t>Asignar</a:t>
            </a:r>
            <a:r>
              <a:rPr sz="2400" b="0" dirty="0">
                <a:solidFill>
                  <a:srgbClr val="FFFFFF"/>
                </a:solidFill>
                <a:latin typeface="Tw Cen MT"/>
              </a:rPr>
              <a:t> </a:t>
            </a:r>
            <a:r>
              <a:rPr sz="2400" b="0" dirty="0" err="1">
                <a:solidFill>
                  <a:srgbClr val="FFFFFF"/>
                </a:solidFill>
                <a:latin typeface="Tw Cen MT"/>
              </a:rPr>
              <a:t>el</a:t>
            </a:r>
            <a:r>
              <a:rPr sz="2400" b="0" dirty="0">
                <a:solidFill>
                  <a:srgbClr val="FFFFFF"/>
                </a:solidFill>
                <a:latin typeface="Tw Cen MT"/>
              </a:rPr>
              <a:t> derecho de </a:t>
            </a:r>
            <a:r>
              <a:rPr sz="2400" b="0" dirty="0" err="1">
                <a:solidFill>
                  <a:srgbClr val="FFFFFF"/>
                </a:solidFill>
                <a:latin typeface="Tw Cen MT"/>
              </a:rPr>
              <a:t>decidir</a:t>
            </a:r>
            <a:r>
              <a:rPr sz="2400" b="0" dirty="0">
                <a:solidFill>
                  <a:srgbClr val="FFFFFF"/>
                </a:solidFill>
                <a:latin typeface="Tw Cen MT"/>
              </a:rPr>
              <a:t> </a:t>
            </a:r>
            <a:r>
              <a:rPr sz="2400" b="0" dirty="0" err="1">
                <a:solidFill>
                  <a:srgbClr val="FFFFFF"/>
                </a:solidFill>
                <a:latin typeface="Tw Cen MT"/>
              </a:rPr>
              <a:t>los</a:t>
            </a:r>
            <a:r>
              <a:rPr sz="2400" b="0" dirty="0">
                <a:solidFill>
                  <a:srgbClr val="FFFFFF"/>
                </a:solidFill>
                <a:latin typeface="Tw Cen MT"/>
              </a:rPr>
              <a:t> </a:t>
            </a:r>
            <a:r>
              <a:rPr sz="2400" b="0" dirty="0" err="1">
                <a:solidFill>
                  <a:srgbClr val="FFFFFF"/>
                </a:solidFill>
                <a:latin typeface="Tw Cen MT"/>
              </a:rPr>
              <a:t>precios</a:t>
            </a:r>
            <a:r>
              <a:rPr sz="2400" b="0" dirty="0">
                <a:solidFill>
                  <a:srgbClr val="FFFFFF"/>
                </a:solidFill>
                <a:latin typeface="Tw Cen MT"/>
              </a:rPr>
              <a:t> de ambas </a:t>
            </a:r>
            <a:r>
              <a:rPr sz="2400" b="0" dirty="0" err="1">
                <a:solidFill>
                  <a:srgbClr val="FFFFFF"/>
                </a:solidFill>
                <a:latin typeface="Tw Cen MT"/>
              </a:rPr>
              <a:t>ciudades</a:t>
            </a:r>
            <a:r>
              <a:rPr sz="2400" b="0" dirty="0">
                <a:solidFill>
                  <a:srgbClr val="FFFFFF"/>
                </a:solidFill>
                <a:latin typeface="Tw Cen MT"/>
              </a:rPr>
              <a:t> a uno solo de </a:t>
            </a:r>
            <a:r>
              <a:rPr sz="2400" b="0" dirty="0" err="1">
                <a:solidFill>
                  <a:srgbClr val="FFFFFF"/>
                </a:solidFill>
                <a:latin typeface="Tw Cen MT"/>
              </a:rPr>
              <a:t>los</a:t>
            </a:r>
            <a:r>
              <a:rPr sz="2400" b="0" dirty="0">
                <a:solidFill>
                  <a:srgbClr val="FFFFFF"/>
                </a:solidFill>
                <a:latin typeface="Tw Cen MT"/>
              </a:rPr>
              <a:t> </a:t>
            </a:r>
            <a:r>
              <a:rPr sz="2400" b="0" dirty="0" err="1">
                <a:solidFill>
                  <a:srgbClr val="FFFFFF"/>
                </a:solidFill>
                <a:latin typeface="Tw Cen MT"/>
              </a:rPr>
              <a:t>Directores</a:t>
            </a:r>
            <a:r>
              <a:rPr sz="2400" b="0" dirty="0">
                <a:solidFill>
                  <a:srgbClr val="FFFFFF"/>
                </a:solidFill>
                <a:latin typeface="Tw Cen MT"/>
              </a:rPr>
              <a:t>.</a:t>
            </a:r>
            <a:endParaRPr lang="es-419" sz="2400" b="0" dirty="0">
              <a:solidFill>
                <a:srgbClr val="FFFFFF"/>
              </a:solidFill>
              <a:latin typeface="Tw Cen MT"/>
            </a:endParaRPr>
          </a:p>
          <a:p>
            <a:pPr lvl="1" algn="l">
              <a:spcBef>
                <a:spcPts val="150"/>
              </a:spcBef>
              <a:buFont typeface="Tw Cen MT"/>
              <a:buChar char="▸"/>
            </a:pPr>
            <a:endParaRPr sz="2400" b="0" dirty="0">
              <a:solidFill>
                <a:srgbClr val="FFFFFF"/>
              </a:solidFill>
              <a:latin typeface="Tw Cen MT"/>
            </a:endParaRPr>
          </a:p>
          <a:p>
            <a:pPr algn="l">
              <a:spcBef>
                <a:spcPts val="400"/>
              </a:spcBef>
              <a:buNone/>
            </a:pPr>
            <a:r>
              <a:rPr sz="2400" b="1" dirty="0">
                <a:solidFill>
                  <a:srgbClr val="52B788"/>
                </a:solidFill>
                <a:latin typeface="Tw Cen MT"/>
              </a:rPr>
              <a:t>CONSIGNA</a:t>
            </a:r>
          </a:p>
          <a:p>
            <a:pPr algn="l">
              <a:spcBef>
                <a:spcPts val="400"/>
              </a:spcBef>
            </a:pPr>
            <a:r>
              <a:rPr sz="2400" b="1" dirty="0" err="1">
                <a:solidFill>
                  <a:srgbClr val="FFFFFF"/>
                </a:solidFill>
                <a:latin typeface="Tw Cen MT"/>
              </a:rPr>
              <a:t>Determinen</a:t>
            </a:r>
            <a:r>
              <a:rPr sz="2400" b="1" dirty="0">
                <a:solidFill>
                  <a:srgbClr val="FFFFFF"/>
                </a:solidFill>
                <a:latin typeface="Tw Cen MT"/>
              </a:rPr>
              <a:t> las </a:t>
            </a:r>
            <a:r>
              <a:rPr sz="2400" b="1" dirty="0" err="1">
                <a:solidFill>
                  <a:srgbClr val="FFFFFF"/>
                </a:solidFill>
                <a:latin typeface="Tw Cen MT"/>
              </a:rPr>
              <a:t>ventajas</a:t>
            </a:r>
            <a:r>
              <a:rPr sz="2400" b="1" dirty="0">
                <a:solidFill>
                  <a:srgbClr val="FFFFFF"/>
                </a:solidFill>
                <a:latin typeface="Tw Cen MT"/>
              </a:rPr>
              <a:t> y </a:t>
            </a:r>
            <a:r>
              <a:rPr sz="2400" b="1" dirty="0" err="1">
                <a:solidFill>
                  <a:srgbClr val="FFFFFF"/>
                </a:solidFill>
                <a:latin typeface="Tw Cen MT"/>
              </a:rPr>
              <a:t>desventajas</a:t>
            </a:r>
            <a:r>
              <a:rPr sz="2400" b="1" dirty="0">
                <a:solidFill>
                  <a:srgbClr val="FFFFFF"/>
                </a:solidFill>
                <a:latin typeface="Tw Cen MT"/>
              </a:rPr>
              <a:t> de </a:t>
            </a:r>
            <a:r>
              <a:rPr sz="2400" b="1" dirty="0" err="1">
                <a:solidFill>
                  <a:srgbClr val="FFFFFF"/>
                </a:solidFill>
                <a:latin typeface="Tw Cen MT"/>
              </a:rPr>
              <a:t>cada</a:t>
            </a:r>
            <a:r>
              <a:rPr sz="2400" b="1" dirty="0">
                <a:solidFill>
                  <a:srgbClr val="FFFFFF"/>
                </a:solidFill>
                <a:latin typeface="Tw Cen MT"/>
              </a:rPr>
              <a:t> </a:t>
            </a:r>
            <a:r>
              <a:rPr sz="2400" b="1" dirty="0" err="1">
                <a:solidFill>
                  <a:srgbClr val="FFFFFF"/>
                </a:solidFill>
                <a:latin typeface="Tw Cen MT"/>
              </a:rPr>
              <a:t>opción</a:t>
            </a:r>
            <a:r>
              <a:rPr sz="2400" b="1" dirty="0">
                <a:solidFill>
                  <a:srgbClr val="FFFFFF"/>
                </a:solidFill>
                <a:latin typeface="Tw Cen MT"/>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dirty="0" err="1">
                <a:solidFill>
                  <a:srgbClr val="FFFFFF"/>
                </a:solidFill>
                <a:latin typeface="Tw Cen MT"/>
              </a:rPr>
              <a:t>Descentralización</a:t>
            </a:r>
            <a:r>
              <a:rPr sz="2600" b="1" i="0" dirty="0">
                <a:solidFill>
                  <a:srgbClr val="FFFFFF"/>
                </a:solidFill>
                <a:latin typeface="Tw Cen MT"/>
              </a:rPr>
              <a:t>: </a:t>
            </a:r>
            <a:r>
              <a:rPr sz="2600" b="1" i="0" dirty="0" err="1">
                <a:solidFill>
                  <a:srgbClr val="FFFFFF"/>
                </a:solidFill>
                <a:latin typeface="Tw Cen MT"/>
              </a:rPr>
              <a:t>Beneficios</a:t>
            </a:r>
            <a:r>
              <a:rPr sz="2600" b="1" i="0" dirty="0">
                <a:solidFill>
                  <a:srgbClr val="FFFFFF"/>
                </a:solidFill>
                <a:latin typeface="Tw Cen MT"/>
              </a:rPr>
              <a:t> y Costos</a:t>
            </a:r>
          </a:p>
        </p:txBody>
      </p:sp>
      <p:sp>
        <p:nvSpPr>
          <p:cNvPr id="5" name="TextBox 4"/>
          <p:cNvSpPr txBox="1"/>
          <p:nvPr/>
        </p:nvSpPr>
        <p:spPr>
          <a:xfrm>
            <a:off x="304800" y="1220000"/>
            <a:ext cx="8534400" cy="5109091"/>
          </a:xfrm>
          <a:prstGeom prst="rect">
            <a:avLst/>
          </a:prstGeom>
          <a:noFill/>
        </p:spPr>
        <p:txBody>
          <a:bodyPr wrap="square">
            <a:spAutoFit/>
          </a:bodyPr>
          <a:lstStyle/>
          <a:p>
            <a:pPr algn="l">
              <a:spcBef>
                <a:spcPts val="400"/>
              </a:spcBef>
              <a:buNone/>
            </a:pPr>
            <a:r>
              <a:rPr sz="2200" b="1" dirty="0">
                <a:solidFill>
                  <a:srgbClr val="8B0000"/>
                </a:solidFill>
                <a:latin typeface="Tw Cen MT"/>
              </a:rPr>
              <a:t>BENEFICIOS DE LA DESCENTRALIZACIÓN</a:t>
            </a:r>
          </a:p>
          <a:p>
            <a:pPr marL="342900" indent="-342900" algn="l">
              <a:spcBef>
                <a:spcPts val="400"/>
              </a:spcBef>
              <a:buFont typeface="Arial" panose="020B0604020202020204" pitchFamily="34" charset="0"/>
              <a:buChar char="•"/>
            </a:pPr>
            <a:r>
              <a:rPr sz="2200" b="0" dirty="0">
                <a:solidFill>
                  <a:srgbClr val="222222"/>
                </a:solidFill>
                <a:latin typeface="Tw Cen MT"/>
              </a:rPr>
              <a:t>Uso </a:t>
            </a:r>
            <a:r>
              <a:rPr sz="2200" b="0" dirty="0" err="1">
                <a:solidFill>
                  <a:srgbClr val="222222"/>
                </a:solidFill>
                <a:latin typeface="Tw Cen MT"/>
              </a:rPr>
              <a:t>efectivo</a:t>
            </a:r>
            <a:r>
              <a:rPr sz="2200" b="0" dirty="0">
                <a:solidFill>
                  <a:srgbClr val="222222"/>
                </a:solidFill>
                <a:latin typeface="Tw Cen MT"/>
              </a:rPr>
              <a:t> del </a:t>
            </a:r>
            <a:r>
              <a:rPr sz="2200" b="0" dirty="0" err="1">
                <a:solidFill>
                  <a:srgbClr val="222222"/>
                </a:solidFill>
                <a:latin typeface="Tw Cen MT"/>
              </a:rPr>
              <a:t>conocimiento</a:t>
            </a:r>
            <a:r>
              <a:rPr sz="2200" b="0" dirty="0">
                <a:solidFill>
                  <a:srgbClr val="222222"/>
                </a:solidFill>
                <a:latin typeface="Tw Cen MT"/>
              </a:rPr>
              <a:t> local.</a:t>
            </a:r>
          </a:p>
          <a:p>
            <a:pPr marL="342900" indent="-342900" algn="l">
              <a:spcBef>
                <a:spcPts val="400"/>
              </a:spcBef>
              <a:buFont typeface="Arial" panose="020B0604020202020204" pitchFamily="34" charset="0"/>
              <a:buChar char="•"/>
            </a:pPr>
            <a:r>
              <a:rPr sz="2200" b="0" dirty="0" err="1">
                <a:solidFill>
                  <a:srgbClr val="222222"/>
                </a:solidFill>
                <a:latin typeface="Tw Cen MT"/>
              </a:rPr>
              <a:t>Promueve</a:t>
            </a:r>
            <a:r>
              <a:rPr sz="2200" b="0" dirty="0">
                <a:solidFill>
                  <a:srgbClr val="222222"/>
                </a:solidFill>
                <a:latin typeface="Tw Cen MT"/>
              </a:rPr>
              <a:t> </a:t>
            </a:r>
            <a:r>
              <a:rPr sz="2200" b="0" dirty="0" err="1">
                <a:solidFill>
                  <a:srgbClr val="222222"/>
                </a:solidFill>
                <a:latin typeface="Tw Cen MT"/>
              </a:rPr>
              <a:t>respuestas</a:t>
            </a:r>
            <a:r>
              <a:rPr sz="2200" b="0" dirty="0">
                <a:solidFill>
                  <a:srgbClr val="222222"/>
                </a:solidFill>
                <a:latin typeface="Tw Cen MT"/>
              </a:rPr>
              <a:t> </a:t>
            </a:r>
            <a:r>
              <a:rPr sz="2200" b="0" dirty="0" err="1">
                <a:solidFill>
                  <a:srgbClr val="222222"/>
                </a:solidFill>
                <a:latin typeface="Tw Cen MT"/>
              </a:rPr>
              <a:t>rápidas</a:t>
            </a:r>
            <a:r>
              <a:rPr sz="2200" b="0" dirty="0">
                <a:solidFill>
                  <a:srgbClr val="222222"/>
                </a:solidFill>
                <a:latin typeface="Tw Cen MT"/>
              </a:rPr>
              <a:t> a </a:t>
            </a:r>
            <a:r>
              <a:rPr sz="2200" b="0" dirty="0" err="1">
                <a:solidFill>
                  <a:srgbClr val="222222"/>
                </a:solidFill>
                <a:latin typeface="Tw Cen MT"/>
              </a:rPr>
              <a:t>cambios</a:t>
            </a:r>
            <a:r>
              <a:rPr sz="2200" b="0" dirty="0">
                <a:solidFill>
                  <a:srgbClr val="222222"/>
                </a:solidFill>
                <a:latin typeface="Tw Cen MT"/>
              </a:rPr>
              <a:t> </a:t>
            </a:r>
            <a:r>
              <a:rPr sz="2200" b="0" dirty="0" err="1">
                <a:solidFill>
                  <a:srgbClr val="222222"/>
                </a:solidFill>
                <a:latin typeface="Tw Cen MT"/>
              </a:rPr>
              <a:t>en</a:t>
            </a:r>
            <a:r>
              <a:rPr sz="2200" b="0" dirty="0">
                <a:solidFill>
                  <a:srgbClr val="222222"/>
                </a:solidFill>
                <a:latin typeface="Tw Cen MT"/>
              </a:rPr>
              <a:t> las </a:t>
            </a:r>
            <a:r>
              <a:rPr sz="2200" b="0" dirty="0" err="1">
                <a:solidFill>
                  <a:srgbClr val="222222"/>
                </a:solidFill>
                <a:latin typeface="Tw Cen MT"/>
              </a:rPr>
              <a:t>condiciones</a:t>
            </a:r>
            <a:r>
              <a:rPr sz="2200" b="0" dirty="0">
                <a:solidFill>
                  <a:srgbClr val="222222"/>
                </a:solidFill>
                <a:latin typeface="Tw Cen MT"/>
              </a:rPr>
              <a:t> del </a:t>
            </a:r>
            <a:r>
              <a:rPr sz="2200" b="0" dirty="0" err="1">
                <a:solidFill>
                  <a:srgbClr val="222222"/>
                </a:solidFill>
                <a:latin typeface="Tw Cen MT"/>
              </a:rPr>
              <a:t>entorno</a:t>
            </a:r>
            <a:r>
              <a:rPr sz="2200" b="0" dirty="0">
                <a:solidFill>
                  <a:srgbClr val="222222"/>
                </a:solidFill>
                <a:latin typeface="Tw Cen MT"/>
              </a:rPr>
              <a:t>.</a:t>
            </a:r>
          </a:p>
          <a:p>
            <a:pPr marL="342900" indent="-342900" algn="l">
              <a:spcBef>
                <a:spcPts val="400"/>
              </a:spcBef>
              <a:buFont typeface="Arial" panose="020B0604020202020204" pitchFamily="34" charset="0"/>
              <a:buChar char="•"/>
            </a:pPr>
            <a:r>
              <a:rPr sz="2200" b="0" dirty="0">
                <a:solidFill>
                  <a:srgbClr val="222222"/>
                </a:solidFill>
                <a:latin typeface="Tw Cen MT"/>
              </a:rPr>
              <a:t>Ahorro de </a:t>
            </a:r>
            <a:r>
              <a:rPr sz="2200" b="0" dirty="0" err="1">
                <a:solidFill>
                  <a:srgbClr val="222222"/>
                </a:solidFill>
                <a:latin typeface="Tw Cen MT"/>
              </a:rPr>
              <a:t>tiempo</a:t>
            </a:r>
            <a:r>
              <a:rPr sz="2200" b="0" dirty="0">
                <a:solidFill>
                  <a:srgbClr val="222222"/>
                </a:solidFill>
                <a:latin typeface="Tw Cen MT"/>
              </a:rPr>
              <a:t> </a:t>
            </a:r>
            <a:r>
              <a:rPr sz="2200" b="0" dirty="0" err="1">
                <a:solidFill>
                  <a:srgbClr val="222222"/>
                </a:solidFill>
                <a:latin typeface="Tw Cen MT"/>
              </a:rPr>
              <a:t>gerencial</a:t>
            </a:r>
            <a:r>
              <a:rPr sz="2200" b="0" dirty="0">
                <a:solidFill>
                  <a:srgbClr val="222222"/>
                </a:solidFill>
                <a:latin typeface="Tw Cen MT"/>
              </a:rPr>
              <a:t>.</a:t>
            </a:r>
          </a:p>
          <a:p>
            <a:pPr marL="342900" indent="-342900" algn="l">
              <a:spcBef>
                <a:spcPts val="400"/>
              </a:spcBef>
              <a:buFont typeface="Arial" panose="020B0604020202020204" pitchFamily="34" charset="0"/>
              <a:buChar char="•"/>
            </a:pPr>
            <a:r>
              <a:rPr sz="2200" b="0" dirty="0" err="1">
                <a:solidFill>
                  <a:srgbClr val="222222"/>
                </a:solidFill>
                <a:latin typeface="Tw Cen MT"/>
              </a:rPr>
              <a:t>Entrenamiento</a:t>
            </a:r>
            <a:r>
              <a:rPr sz="2200" b="0" dirty="0">
                <a:solidFill>
                  <a:srgbClr val="222222"/>
                </a:solidFill>
                <a:latin typeface="Tw Cen MT"/>
              </a:rPr>
              <a:t> y </a:t>
            </a:r>
            <a:r>
              <a:rPr sz="2200" b="0" dirty="0" err="1">
                <a:solidFill>
                  <a:srgbClr val="222222"/>
                </a:solidFill>
                <a:latin typeface="Tw Cen MT"/>
              </a:rPr>
              <a:t>motivación</a:t>
            </a:r>
            <a:r>
              <a:rPr sz="2200" b="0" dirty="0">
                <a:solidFill>
                  <a:srgbClr val="222222"/>
                </a:solidFill>
                <a:latin typeface="Tw Cen MT"/>
              </a:rPr>
              <a:t> de </a:t>
            </a:r>
            <a:r>
              <a:rPr sz="2200" b="0" dirty="0" err="1">
                <a:solidFill>
                  <a:srgbClr val="222222"/>
                </a:solidFill>
                <a:latin typeface="Tw Cen MT"/>
              </a:rPr>
              <a:t>gerentes</a:t>
            </a:r>
            <a:r>
              <a:rPr sz="2200" b="0" dirty="0">
                <a:solidFill>
                  <a:srgbClr val="222222"/>
                </a:solidFill>
                <a:latin typeface="Tw Cen MT"/>
              </a:rPr>
              <a:t> locales.</a:t>
            </a:r>
            <a:endParaRPr lang="es-419" sz="2200" b="0" dirty="0">
              <a:solidFill>
                <a:srgbClr val="222222"/>
              </a:solidFill>
              <a:latin typeface="Tw Cen MT"/>
            </a:endParaRPr>
          </a:p>
          <a:p>
            <a:pPr marL="342900" indent="-342900" algn="l">
              <a:spcBef>
                <a:spcPts val="400"/>
              </a:spcBef>
              <a:buFont typeface="Arial" panose="020B0604020202020204" pitchFamily="34" charset="0"/>
              <a:buChar char="•"/>
            </a:pPr>
            <a:endParaRPr sz="2200" b="0" dirty="0">
              <a:solidFill>
                <a:srgbClr val="222222"/>
              </a:solidFill>
              <a:latin typeface="Tw Cen MT"/>
            </a:endParaRPr>
          </a:p>
          <a:p>
            <a:pPr algn="l">
              <a:spcBef>
                <a:spcPts val="400"/>
              </a:spcBef>
              <a:buNone/>
            </a:pPr>
            <a:r>
              <a:rPr sz="2200" b="1" dirty="0">
                <a:solidFill>
                  <a:srgbClr val="8B0000"/>
                </a:solidFill>
                <a:latin typeface="Tw Cen MT"/>
              </a:rPr>
              <a:t>COSTOS DE LA DESCENTRALIZACIÓN</a:t>
            </a:r>
          </a:p>
          <a:p>
            <a:pPr algn="l">
              <a:spcBef>
                <a:spcPts val="400"/>
              </a:spcBef>
            </a:pPr>
            <a:r>
              <a:rPr sz="2200" b="0" dirty="0">
                <a:solidFill>
                  <a:srgbClr val="222222"/>
                </a:solidFill>
                <a:latin typeface="Tw Cen MT"/>
              </a:rPr>
              <a:t>Costos de </a:t>
            </a:r>
            <a:r>
              <a:rPr sz="2200" b="0" dirty="0" err="1">
                <a:solidFill>
                  <a:srgbClr val="222222"/>
                </a:solidFill>
                <a:latin typeface="Tw Cen MT"/>
              </a:rPr>
              <a:t>agencia</a:t>
            </a:r>
            <a:r>
              <a:rPr sz="2200" b="0" dirty="0">
                <a:solidFill>
                  <a:srgbClr val="222222"/>
                </a:solidFill>
                <a:latin typeface="Tw Cen MT"/>
              </a:rPr>
              <a:t>.</a:t>
            </a:r>
          </a:p>
          <a:p>
            <a:pPr algn="l">
              <a:spcBef>
                <a:spcPts val="400"/>
              </a:spcBef>
            </a:pPr>
            <a:r>
              <a:rPr sz="2200" b="0" dirty="0">
                <a:solidFill>
                  <a:srgbClr val="222222"/>
                </a:solidFill>
                <a:latin typeface="Tw Cen MT"/>
              </a:rPr>
              <a:t>Fallas y </a:t>
            </a:r>
            <a:r>
              <a:rPr sz="2200" b="0" dirty="0" err="1">
                <a:solidFill>
                  <a:srgbClr val="222222"/>
                </a:solidFill>
                <a:latin typeface="Tw Cen MT"/>
              </a:rPr>
              <a:t>costos</a:t>
            </a:r>
            <a:r>
              <a:rPr sz="2200" b="0" dirty="0">
                <a:solidFill>
                  <a:srgbClr val="222222"/>
                </a:solidFill>
                <a:latin typeface="Tw Cen MT"/>
              </a:rPr>
              <a:t> de </a:t>
            </a:r>
            <a:r>
              <a:rPr sz="2200" b="0" dirty="0" err="1">
                <a:solidFill>
                  <a:srgbClr val="222222"/>
                </a:solidFill>
                <a:latin typeface="Tw Cen MT"/>
              </a:rPr>
              <a:t>coordinación</a:t>
            </a:r>
            <a:r>
              <a:rPr sz="2200" b="0" dirty="0">
                <a:solidFill>
                  <a:srgbClr val="222222"/>
                </a:solidFill>
                <a:latin typeface="Tw Cen MT"/>
              </a:rPr>
              <a:t>.</a:t>
            </a:r>
          </a:p>
          <a:p>
            <a:pPr algn="l">
              <a:spcBef>
                <a:spcPts val="400"/>
              </a:spcBef>
            </a:pPr>
            <a:r>
              <a:rPr sz="2200" b="0" dirty="0">
                <a:solidFill>
                  <a:srgbClr val="222222"/>
                </a:solidFill>
                <a:latin typeface="Tw Cen MT"/>
              </a:rPr>
              <a:t>Uso </a:t>
            </a:r>
            <a:r>
              <a:rPr sz="2200" b="0" dirty="0" err="1">
                <a:solidFill>
                  <a:srgbClr val="222222"/>
                </a:solidFill>
                <a:latin typeface="Tw Cen MT"/>
              </a:rPr>
              <a:t>menos</a:t>
            </a:r>
            <a:r>
              <a:rPr sz="2200" b="0" dirty="0">
                <a:solidFill>
                  <a:srgbClr val="222222"/>
                </a:solidFill>
                <a:latin typeface="Tw Cen MT"/>
              </a:rPr>
              <a:t> </a:t>
            </a:r>
            <a:r>
              <a:rPr sz="2200" b="0" dirty="0" err="1">
                <a:solidFill>
                  <a:srgbClr val="222222"/>
                </a:solidFill>
                <a:latin typeface="Tw Cen MT"/>
              </a:rPr>
              <a:t>efectivo</a:t>
            </a:r>
            <a:r>
              <a:rPr sz="2200" b="0" dirty="0">
                <a:solidFill>
                  <a:srgbClr val="222222"/>
                </a:solidFill>
                <a:latin typeface="Tw Cen MT"/>
              </a:rPr>
              <a:t> de </a:t>
            </a:r>
            <a:r>
              <a:rPr sz="2200" b="0" dirty="0" err="1">
                <a:solidFill>
                  <a:srgbClr val="222222"/>
                </a:solidFill>
                <a:latin typeface="Tw Cen MT"/>
              </a:rPr>
              <a:t>información</a:t>
            </a:r>
            <a:r>
              <a:rPr sz="2200" b="0" dirty="0">
                <a:solidFill>
                  <a:srgbClr val="222222"/>
                </a:solidFill>
                <a:latin typeface="Tw Cen MT"/>
              </a:rPr>
              <a:t> central.</a:t>
            </a:r>
            <a:endParaRPr lang="es-419" sz="2200" b="0" dirty="0">
              <a:solidFill>
                <a:srgbClr val="222222"/>
              </a:solidFill>
              <a:latin typeface="Tw Cen MT"/>
            </a:endParaRPr>
          </a:p>
          <a:p>
            <a:pPr algn="l">
              <a:spcBef>
                <a:spcPts val="400"/>
              </a:spcBef>
            </a:pPr>
            <a:endParaRPr sz="2200" b="0" dirty="0">
              <a:solidFill>
                <a:srgbClr val="222222"/>
              </a:solidFill>
              <a:latin typeface="Tw Cen MT"/>
            </a:endParaRPr>
          </a:p>
          <a:p>
            <a:pPr algn="l">
              <a:spcBef>
                <a:spcPts val="400"/>
              </a:spcBef>
              <a:buNone/>
            </a:pPr>
            <a:r>
              <a:rPr sz="2200" b="1" dirty="0">
                <a:solidFill>
                  <a:srgbClr val="8B0000"/>
                </a:solidFill>
                <a:latin typeface="Tw Cen MT"/>
              </a:rPr>
              <a:t>PROBLEMAS A RESOLVER</a:t>
            </a:r>
          </a:p>
          <a:p>
            <a:pPr algn="l">
              <a:spcBef>
                <a:spcPts val="400"/>
              </a:spcBef>
            </a:pPr>
            <a:r>
              <a:rPr sz="2200" b="0" dirty="0" err="1">
                <a:solidFill>
                  <a:srgbClr val="222222"/>
                </a:solidFill>
                <a:latin typeface="Tw Cen MT"/>
              </a:rPr>
              <a:t>Incentivos</a:t>
            </a:r>
            <a:r>
              <a:rPr sz="2200" b="0" dirty="0">
                <a:solidFill>
                  <a:srgbClr val="222222"/>
                </a:solidFill>
                <a:latin typeface="Tw Cen MT"/>
              </a:rPr>
              <a:t>  ▸  </a:t>
            </a:r>
            <a:r>
              <a:rPr sz="2200" b="0" dirty="0" err="1">
                <a:solidFill>
                  <a:srgbClr val="222222"/>
                </a:solidFill>
                <a:latin typeface="Tw Cen MT"/>
              </a:rPr>
              <a:t>Coordinación</a:t>
            </a:r>
            <a:r>
              <a:rPr sz="2200" b="0" dirty="0">
                <a:solidFill>
                  <a:srgbClr val="222222"/>
                </a:solidFill>
                <a:latin typeface="Tw Cen MT"/>
              </a:rPr>
              <a:t>  ▸  </a:t>
            </a:r>
            <a:r>
              <a:rPr sz="2200" b="0" dirty="0" err="1">
                <a:solidFill>
                  <a:srgbClr val="222222"/>
                </a:solidFill>
                <a:latin typeface="Tw Cen MT"/>
              </a:rPr>
              <a:t>Comunicación</a:t>
            </a:r>
            <a:r>
              <a:rPr sz="2200" b="0" dirty="0">
                <a:solidFill>
                  <a:srgbClr val="222222"/>
                </a:solidFill>
                <a:latin typeface="Tw Cen MT"/>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dirty="0" err="1">
                <a:solidFill>
                  <a:srgbClr val="FFFFFF"/>
                </a:solidFill>
                <a:latin typeface="Tw Cen MT"/>
              </a:rPr>
              <a:t>Descentralización</a:t>
            </a:r>
            <a:r>
              <a:rPr sz="2600" b="1" i="0" dirty="0">
                <a:solidFill>
                  <a:srgbClr val="FFFFFF"/>
                </a:solidFill>
                <a:latin typeface="Tw Cen MT"/>
              </a:rPr>
              <a:t>: </a:t>
            </a:r>
            <a:r>
              <a:rPr sz="2600" b="1" i="0" dirty="0" err="1">
                <a:solidFill>
                  <a:srgbClr val="FFFFFF"/>
                </a:solidFill>
                <a:latin typeface="Tw Cen MT"/>
              </a:rPr>
              <a:t>Asignación</a:t>
            </a:r>
            <a:r>
              <a:rPr sz="2600" b="1" i="0" dirty="0">
                <a:solidFill>
                  <a:srgbClr val="FFFFFF"/>
                </a:solidFill>
                <a:latin typeface="Tw Cen MT"/>
              </a:rPr>
              <a:t> </a:t>
            </a:r>
            <a:r>
              <a:rPr sz="2600" b="1" i="0" dirty="0" err="1">
                <a:solidFill>
                  <a:srgbClr val="FFFFFF"/>
                </a:solidFill>
                <a:latin typeface="Tw Cen MT"/>
              </a:rPr>
              <a:t>Óptima</a:t>
            </a:r>
            <a:endParaRPr sz="2600" b="1" i="0" dirty="0">
              <a:solidFill>
                <a:srgbClr val="FFFFFF"/>
              </a:solidFill>
              <a:latin typeface="Tw Cen MT"/>
            </a:endParaRPr>
          </a:p>
        </p:txBody>
      </p:sp>
      <p:sp>
        <p:nvSpPr>
          <p:cNvPr id="5" name="TextBox 4"/>
          <p:cNvSpPr txBox="1"/>
          <p:nvPr/>
        </p:nvSpPr>
        <p:spPr>
          <a:xfrm>
            <a:off x="304800" y="1220000"/>
            <a:ext cx="8534400" cy="5324535"/>
          </a:xfrm>
          <a:prstGeom prst="rect">
            <a:avLst/>
          </a:prstGeom>
          <a:noFill/>
        </p:spPr>
        <p:txBody>
          <a:bodyPr wrap="square">
            <a:spAutoFit/>
          </a:bodyPr>
          <a:lstStyle/>
          <a:p>
            <a:pPr algn="ctr">
              <a:spcBef>
                <a:spcPts val="400"/>
              </a:spcBef>
            </a:pPr>
            <a:r>
              <a:rPr sz="2600" b="1" dirty="0" err="1">
                <a:solidFill>
                  <a:srgbClr val="222222"/>
                </a:solidFill>
                <a:latin typeface="Tw Cen MT"/>
              </a:rPr>
              <a:t>Asignar</a:t>
            </a:r>
            <a:r>
              <a:rPr sz="2600" b="1" dirty="0">
                <a:solidFill>
                  <a:srgbClr val="222222"/>
                </a:solidFill>
                <a:latin typeface="Tw Cen MT"/>
              </a:rPr>
              <a:t> </a:t>
            </a:r>
            <a:r>
              <a:rPr sz="2600" b="1" dirty="0" err="1">
                <a:solidFill>
                  <a:srgbClr val="222222"/>
                </a:solidFill>
                <a:latin typeface="Tw Cen MT"/>
              </a:rPr>
              <a:t>los</a:t>
            </a:r>
            <a:r>
              <a:rPr sz="2600" b="1" dirty="0">
                <a:solidFill>
                  <a:srgbClr val="222222"/>
                </a:solidFill>
                <a:latin typeface="Tw Cen MT"/>
              </a:rPr>
              <a:t> derechos de </a:t>
            </a:r>
            <a:r>
              <a:rPr sz="2600" b="1" dirty="0" err="1">
                <a:solidFill>
                  <a:srgbClr val="222222"/>
                </a:solidFill>
                <a:latin typeface="Tw Cen MT"/>
              </a:rPr>
              <a:t>decisión</a:t>
            </a:r>
            <a:r>
              <a:rPr sz="2600" b="1" dirty="0">
                <a:solidFill>
                  <a:srgbClr val="222222"/>
                </a:solidFill>
                <a:latin typeface="Tw Cen MT"/>
              </a:rPr>
              <a:t> a </a:t>
            </a:r>
            <a:r>
              <a:rPr sz="2600" b="1" dirty="0" err="1">
                <a:solidFill>
                  <a:srgbClr val="222222"/>
                </a:solidFill>
                <a:latin typeface="Tw Cen MT"/>
              </a:rPr>
              <a:t>quien</a:t>
            </a:r>
            <a:r>
              <a:rPr sz="2600" b="1" dirty="0">
                <a:solidFill>
                  <a:srgbClr val="222222"/>
                </a:solidFill>
                <a:latin typeface="Tw Cen MT"/>
              </a:rPr>
              <a:t> </a:t>
            </a:r>
            <a:r>
              <a:rPr sz="2600" b="1" dirty="0" err="1">
                <a:solidFill>
                  <a:srgbClr val="222222"/>
                </a:solidFill>
                <a:latin typeface="Tw Cen MT"/>
              </a:rPr>
              <a:t>tiene</a:t>
            </a:r>
            <a:r>
              <a:rPr sz="2600" b="1" dirty="0">
                <a:solidFill>
                  <a:srgbClr val="222222"/>
                </a:solidFill>
                <a:latin typeface="Tw Cen MT"/>
              </a:rPr>
              <a:t> la </a:t>
            </a:r>
            <a:r>
              <a:rPr sz="2600" b="1" dirty="0" err="1">
                <a:solidFill>
                  <a:srgbClr val="222222"/>
                </a:solidFill>
                <a:latin typeface="Tw Cen MT"/>
              </a:rPr>
              <a:t>información</a:t>
            </a:r>
            <a:r>
              <a:rPr sz="2600" b="1" dirty="0">
                <a:solidFill>
                  <a:srgbClr val="222222"/>
                </a:solidFill>
                <a:latin typeface="Tw Cen MT"/>
              </a:rPr>
              <a:t> </a:t>
            </a:r>
            <a:r>
              <a:rPr sz="2600" b="1" dirty="0" err="1">
                <a:solidFill>
                  <a:srgbClr val="222222"/>
                </a:solidFill>
                <a:latin typeface="Tw Cen MT"/>
              </a:rPr>
              <a:t>relevante</a:t>
            </a:r>
            <a:r>
              <a:rPr sz="2600" b="1" dirty="0">
                <a:solidFill>
                  <a:srgbClr val="222222"/>
                </a:solidFill>
                <a:latin typeface="Tw Cen MT"/>
              </a:rPr>
              <a:t> y </a:t>
            </a:r>
            <a:r>
              <a:rPr sz="2600" b="1" dirty="0" err="1">
                <a:solidFill>
                  <a:srgbClr val="222222"/>
                </a:solidFill>
                <a:latin typeface="Tw Cen MT"/>
              </a:rPr>
              <a:t>establecer</a:t>
            </a:r>
            <a:r>
              <a:rPr sz="2600" b="1" dirty="0">
                <a:solidFill>
                  <a:srgbClr val="222222"/>
                </a:solidFill>
                <a:latin typeface="Tw Cen MT"/>
              </a:rPr>
              <a:t> </a:t>
            </a:r>
            <a:r>
              <a:rPr sz="2600" b="1" dirty="0" err="1">
                <a:solidFill>
                  <a:srgbClr val="222222"/>
                </a:solidFill>
                <a:latin typeface="Tw Cen MT"/>
              </a:rPr>
              <a:t>los</a:t>
            </a:r>
            <a:r>
              <a:rPr sz="2600" b="1" dirty="0">
                <a:solidFill>
                  <a:srgbClr val="222222"/>
                </a:solidFill>
                <a:latin typeface="Tw Cen MT"/>
              </a:rPr>
              <a:t> </a:t>
            </a:r>
            <a:r>
              <a:rPr sz="2600" b="1" dirty="0" err="1">
                <a:solidFill>
                  <a:srgbClr val="222222"/>
                </a:solidFill>
                <a:latin typeface="Tw Cen MT"/>
              </a:rPr>
              <a:t>incentivos</a:t>
            </a:r>
            <a:r>
              <a:rPr sz="2600" b="1" dirty="0">
                <a:solidFill>
                  <a:srgbClr val="222222"/>
                </a:solidFill>
                <a:latin typeface="Tw Cen MT"/>
              </a:rPr>
              <a:t> </a:t>
            </a:r>
            <a:r>
              <a:rPr sz="2600" b="1" dirty="0" err="1">
                <a:solidFill>
                  <a:srgbClr val="222222"/>
                </a:solidFill>
                <a:latin typeface="Tw Cen MT"/>
              </a:rPr>
              <a:t>adecuados</a:t>
            </a:r>
            <a:r>
              <a:rPr sz="2600" b="1" dirty="0">
                <a:solidFill>
                  <a:srgbClr val="222222"/>
                </a:solidFill>
                <a:latin typeface="Tw Cen MT"/>
              </a:rPr>
              <a:t> para </a:t>
            </a:r>
            <a:r>
              <a:rPr sz="2600" b="1" dirty="0" err="1">
                <a:solidFill>
                  <a:srgbClr val="222222"/>
                </a:solidFill>
                <a:latin typeface="Tw Cen MT"/>
              </a:rPr>
              <a:t>que</a:t>
            </a:r>
            <a:r>
              <a:rPr sz="2600" b="1" dirty="0">
                <a:solidFill>
                  <a:srgbClr val="222222"/>
                </a:solidFill>
                <a:latin typeface="Tw Cen MT"/>
              </a:rPr>
              <a:t> tome las </a:t>
            </a:r>
            <a:r>
              <a:rPr sz="2600" b="1" dirty="0" err="1">
                <a:solidFill>
                  <a:srgbClr val="222222"/>
                </a:solidFill>
                <a:latin typeface="Tw Cen MT"/>
              </a:rPr>
              <a:t>decisiones</a:t>
            </a:r>
            <a:r>
              <a:rPr sz="2600" b="1" dirty="0">
                <a:solidFill>
                  <a:srgbClr val="222222"/>
                </a:solidFill>
                <a:latin typeface="Tw Cen MT"/>
              </a:rPr>
              <a:t> </a:t>
            </a:r>
            <a:r>
              <a:rPr sz="2600" b="1" dirty="0" err="1">
                <a:solidFill>
                  <a:srgbClr val="222222"/>
                </a:solidFill>
                <a:latin typeface="Tw Cen MT"/>
              </a:rPr>
              <a:t>que</a:t>
            </a:r>
            <a:r>
              <a:rPr sz="2600" b="1" dirty="0">
                <a:solidFill>
                  <a:srgbClr val="222222"/>
                </a:solidFill>
                <a:latin typeface="Tw Cen MT"/>
              </a:rPr>
              <a:t> </a:t>
            </a:r>
            <a:r>
              <a:rPr sz="2600" b="1" dirty="0" err="1">
                <a:solidFill>
                  <a:srgbClr val="222222"/>
                </a:solidFill>
                <a:latin typeface="Tw Cen MT"/>
              </a:rPr>
              <a:t>generan</a:t>
            </a:r>
            <a:r>
              <a:rPr sz="2600" b="1" dirty="0">
                <a:solidFill>
                  <a:srgbClr val="222222"/>
                </a:solidFill>
                <a:latin typeface="Tw Cen MT"/>
              </a:rPr>
              <a:t> valor para la </a:t>
            </a:r>
            <a:r>
              <a:rPr sz="2600" b="1" dirty="0" err="1">
                <a:solidFill>
                  <a:srgbClr val="222222"/>
                </a:solidFill>
                <a:latin typeface="Tw Cen MT"/>
              </a:rPr>
              <a:t>compañía</a:t>
            </a:r>
            <a:r>
              <a:rPr sz="2600" b="1" dirty="0">
                <a:solidFill>
                  <a:srgbClr val="222222"/>
                </a:solidFill>
                <a:latin typeface="Tw Cen MT"/>
              </a:rPr>
              <a:t>.</a:t>
            </a:r>
          </a:p>
          <a:p>
            <a:pPr algn="l">
              <a:spcBef>
                <a:spcPts val="400"/>
              </a:spcBef>
              <a:buNone/>
            </a:pPr>
            <a:endParaRPr lang="es-419" sz="2400" b="1" dirty="0">
              <a:solidFill>
                <a:srgbClr val="8B0000"/>
              </a:solidFill>
              <a:latin typeface="Tw Cen MT"/>
            </a:endParaRPr>
          </a:p>
          <a:p>
            <a:pPr algn="l">
              <a:spcBef>
                <a:spcPts val="400"/>
              </a:spcBef>
              <a:buNone/>
            </a:pPr>
            <a:r>
              <a:rPr sz="2400" b="1" dirty="0">
                <a:solidFill>
                  <a:srgbClr val="8B0000"/>
                </a:solidFill>
                <a:latin typeface="Tw Cen MT"/>
              </a:rPr>
              <a:t>PROBLEMA CENTRAL</a:t>
            </a:r>
          </a:p>
          <a:p>
            <a:pPr algn="l">
              <a:spcBef>
                <a:spcPts val="400"/>
              </a:spcBef>
            </a:pPr>
            <a:r>
              <a:rPr sz="2400" b="0" dirty="0" err="1">
                <a:solidFill>
                  <a:srgbClr val="222222"/>
                </a:solidFill>
                <a:latin typeface="Tw Cen MT"/>
              </a:rPr>
              <a:t>Dentro</a:t>
            </a:r>
            <a:r>
              <a:rPr sz="2400" b="0" dirty="0">
                <a:solidFill>
                  <a:srgbClr val="222222"/>
                </a:solidFill>
                <a:latin typeface="Tw Cen MT"/>
              </a:rPr>
              <a:t> de las </a:t>
            </a:r>
            <a:r>
              <a:rPr sz="2400" b="0" dirty="0" err="1">
                <a:solidFill>
                  <a:srgbClr val="222222"/>
                </a:solidFill>
                <a:latin typeface="Tw Cen MT"/>
              </a:rPr>
              <a:t>empresas</a:t>
            </a:r>
            <a:r>
              <a:rPr sz="2400" b="0" dirty="0">
                <a:solidFill>
                  <a:srgbClr val="222222"/>
                </a:solidFill>
                <a:latin typeface="Tw Cen MT"/>
              </a:rPr>
              <a:t>, no </a:t>
            </a:r>
            <a:r>
              <a:rPr sz="2400" b="0" dirty="0" err="1">
                <a:solidFill>
                  <a:srgbClr val="222222"/>
                </a:solidFill>
                <a:latin typeface="Tw Cen MT"/>
              </a:rPr>
              <a:t>existen</a:t>
            </a:r>
            <a:r>
              <a:rPr sz="2400" b="0" dirty="0">
                <a:solidFill>
                  <a:srgbClr val="222222"/>
                </a:solidFill>
                <a:latin typeface="Tw Cen MT"/>
              </a:rPr>
              <a:t> </a:t>
            </a:r>
            <a:r>
              <a:rPr sz="2400" b="0" dirty="0" err="1">
                <a:solidFill>
                  <a:srgbClr val="222222"/>
                </a:solidFill>
                <a:latin typeface="Tw Cen MT"/>
              </a:rPr>
              <a:t>sistemas</a:t>
            </a:r>
            <a:r>
              <a:rPr sz="2400" b="0" dirty="0">
                <a:solidFill>
                  <a:srgbClr val="222222"/>
                </a:solidFill>
                <a:latin typeface="Tw Cen MT"/>
              </a:rPr>
              <a:t> </a:t>
            </a:r>
            <a:r>
              <a:rPr sz="2400" b="0" dirty="0" err="1">
                <a:solidFill>
                  <a:srgbClr val="222222"/>
                </a:solidFill>
                <a:latin typeface="Tw Cen MT"/>
              </a:rPr>
              <a:t>automáticos</a:t>
            </a:r>
            <a:r>
              <a:rPr sz="2400" b="0" dirty="0">
                <a:solidFill>
                  <a:srgbClr val="222222"/>
                </a:solidFill>
                <a:latin typeface="Tw Cen MT"/>
              </a:rPr>
              <a:t> para </a:t>
            </a:r>
            <a:r>
              <a:rPr sz="2400" b="0" dirty="0" err="1">
                <a:solidFill>
                  <a:srgbClr val="222222"/>
                </a:solidFill>
                <a:latin typeface="Tw Cen MT"/>
              </a:rPr>
              <a:t>asignar</a:t>
            </a:r>
            <a:r>
              <a:rPr sz="2400" b="0" dirty="0">
                <a:solidFill>
                  <a:srgbClr val="222222"/>
                </a:solidFill>
                <a:latin typeface="Tw Cen MT"/>
              </a:rPr>
              <a:t> derechos de </a:t>
            </a:r>
            <a:r>
              <a:rPr sz="2400" b="0" dirty="0" err="1">
                <a:solidFill>
                  <a:srgbClr val="222222"/>
                </a:solidFill>
                <a:latin typeface="Tw Cen MT"/>
              </a:rPr>
              <a:t>decisión</a:t>
            </a:r>
            <a:r>
              <a:rPr sz="2400" b="0" dirty="0">
                <a:solidFill>
                  <a:srgbClr val="222222"/>
                </a:solidFill>
                <a:latin typeface="Tw Cen MT"/>
              </a:rPr>
              <a:t> a las personas con </a:t>
            </a:r>
            <a:r>
              <a:rPr sz="2400" b="0" dirty="0" err="1">
                <a:solidFill>
                  <a:srgbClr val="222222"/>
                </a:solidFill>
                <a:latin typeface="Tw Cen MT"/>
              </a:rPr>
              <a:t>información</a:t>
            </a:r>
            <a:r>
              <a:rPr sz="2400" b="0" dirty="0">
                <a:solidFill>
                  <a:srgbClr val="222222"/>
                </a:solidFill>
                <a:latin typeface="Tw Cen MT"/>
              </a:rPr>
              <a:t> </a:t>
            </a:r>
            <a:r>
              <a:rPr sz="2400" b="0" dirty="0" err="1">
                <a:solidFill>
                  <a:srgbClr val="222222"/>
                </a:solidFill>
                <a:latin typeface="Tw Cen MT"/>
              </a:rPr>
              <a:t>relevante</a:t>
            </a:r>
            <a:r>
              <a:rPr sz="2400" b="0" dirty="0">
                <a:solidFill>
                  <a:srgbClr val="222222"/>
                </a:solidFill>
                <a:latin typeface="Tw Cen MT"/>
              </a:rPr>
              <a:t> </a:t>
            </a:r>
            <a:r>
              <a:rPr sz="2400" b="0" dirty="0" err="1">
                <a:solidFill>
                  <a:srgbClr val="222222"/>
                </a:solidFill>
                <a:latin typeface="Tw Cen MT"/>
              </a:rPr>
              <a:t>ni</a:t>
            </a:r>
            <a:r>
              <a:rPr sz="2400" b="0" dirty="0">
                <a:solidFill>
                  <a:srgbClr val="222222"/>
                </a:solidFill>
                <a:latin typeface="Tw Cen MT"/>
              </a:rPr>
              <a:t> para </a:t>
            </a:r>
            <a:r>
              <a:rPr sz="2400" b="0" dirty="0" err="1">
                <a:solidFill>
                  <a:srgbClr val="222222"/>
                </a:solidFill>
                <a:latin typeface="Tw Cen MT"/>
              </a:rPr>
              <a:t>motivarlas</a:t>
            </a:r>
            <a:r>
              <a:rPr sz="2400" b="0" dirty="0">
                <a:solidFill>
                  <a:srgbClr val="222222"/>
                </a:solidFill>
                <a:latin typeface="Tw Cen MT"/>
              </a:rPr>
              <a:t> a usar </a:t>
            </a:r>
            <a:r>
              <a:rPr sz="2400" b="0" dirty="0" err="1">
                <a:solidFill>
                  <a:srgbClr val="222222"/>
                </a:solidFill>
                <a:latin typeface="Tw Cen MT"/>
              </a:rPr>
              <a:t>su</a:t>
            </a:r>
            <a:r>
              <a:rPr sz="2400" b="0" dirty="0">
                <a:solidFill>
                  <a:srgbClr val="222222"/>
                </a:solidFill>
                <a:latin typeface="Tw Cen MT"/>
              </a:rPr>
              <a:t> </a:t>
            </a:r>
            <a:r>
              <a:rPr sz="2400" b="0" dirty="0" err="1">
                <a:solidFill>
                  <a:srgbClr val="222222"/>
                </a:solidFill>
                <a:latin typeface="Tw Cen MT"/>
              </a:rPr>
              <a:t>información</a:t>
            </a:r>
            <a:r>
              <a:rPr sz="2400" b="0" dirty="0">
                <a:solidFill>
                  <a:srgbClr val="222222"/>
                </a:solidFill>
                <a:latin typeface="Tw Cen MT"/>
              </a:rPr>
              <a:t> para </a:t>
            </a:r>
            <a:r>
              <a:rPr sz="2400" b="0" dirty="0" err="1">
                <a:solidFill>
                  <a:srgbClr val="222222"/>
                </a:solidFill>
                <a:latin typeface="Tw Cen MT"/>
              </a:rPr>
              <a:t>alcanzar</a:t>
            </a:r>
            <a:r>
              <a:rPr sz="2400" b="0" dirty="0">
                <a:solidFill>
                  <a:srgbClr val="222222"/>
                </a:solidFill>
                <a:latin typeface="Tw Cen MT"/>
              </a:rPr>
              <a:t> </a:t>
            </a:r>
            <a:r>
              <a:rPr sz="2400" b="0" dirty="0" err="1">
                <a:solidFill>
                  <a:srgbClr val="222222"/>
                </a:solidFill>
                <a:latin typeface="Tw Cen MT"/>
              </a:rPr>
              <a:t>los</a:t>
            </a:r>
            <a:r>
              <a:rPr sz="2400" b="0" dirty="0">
                <a:solidFill>
                  <a:srgbClr val="222222"/>
                </a:solidFill>
                <a:latin typeface="Tw Cen MT"/>
              </a:rPr>
              <a:t> </a:t>
            </a:r>
            <a:r>
              <a:rPr sz="2400" b="0" dirty="0" err="1">
                <a:solidFill>
                  <a:srgbClr val="222222"/>
                </a:solidFill>
                <a:latin typeface="Tw Cen MT"/>
              </a:rPr>
              <a:t>objetivos</a:t>
            </a:r>
            <a:r>
              <a:rPr sz="2400" b="0" dirty="0">
                <a:solidFill>
                  <a:srgbClr val="222222"/>
                </a:solidFill>
                <a:latin typeface="Tw Cen MT"/>
              </a:rPr>
              <a:t> de la </a:t>
            </a:r>
            <a:r>
              <a:rPr sz="2400" b="0" dirty="0" err="1">
                <a:solidFill>
                  <a:srgbClr val="222222"/>
                </a:solidFill>
                <a:latin typeface="Tw Cen MT"/>
              </a:rPr>
              <a:t>empresa</a:t>
            </a:r>
            <a:r>
              <a:rPr sz="2400" b="0" dirty="0">
                <a:solidFill>
                  <a:srgbClr val="222222"/>
                </a:solidFill>
                <a:latin typeface="Tw Cen MT"/>
              </a:rPr>
              <a:t>.</a:t>
            </a:r>
            <a:endParaRPr lang="es-419" sz="2400" b="0" dirty="0">
              <a:solidFill>
                <a:srgbClr val="222222"/>
              </a:solidFill>
              <a:latin typeface="Tw Cen MT"/>
            </a:endParaRPr>
          </a:p>
          <a:p>
            <a:pPr algn="l">
              <a:spcBef>
                <a:spcPts val="400"/>
              </a:spcBef>
            </a:pPr>
            <a:endParaRPr sz="2400" b="0" dirty="0">
              <a:solidFill>
                <a:srgbClr val="222222"/>
              </a:solidFill>
              <a:latin typeface="Tw Cen MT"/>
            </a:endParaRPr>
          </a:p>
          <a:p>
            <a:pPr algn="l">
              <a:spcBef>
                <a:spcPts val="400"/>
              </a:spcBef>
              <a:buNone/>
            </a:pPr>
            <a:r>
              <a:rPr sz="2400" b="1" dirty="0">
                <a:solidFill>
                  <a:srgbClr val="8B0000"/>
                </a:solidFill>
                <a:latin typeface="Tw Cen MT"/>
              </a:rPr>
              <a:t>FACTORES QUE DETERMINAN EL NIVEL ÓPTIMO</a:t>
            </a:r>
          </a:p>
          <a:p>
            <a:pPr algn="ctr">
              <a:spcBef>
                <a:spcPts val="400"/>
              </a:spcBef>
            </a:pPr>
            <a:r>
              <a:rPr lang="es-419" sz="2600" b="1" dirty="0">
                <a:solidFill>
                  <a:srgbClr val="222222"/>
                </a:solidFill>
                <a:latin typeface="Tw Cen MT"/>
              </a:rPr>
              <a:t>Medio ambiente de negocios + </a:t>
            </a:r>
            <a:r>
              <a:rPr sz="2600" b="1" dirty="0" err="1">
                <a:solidFill>
                  <a:srgbClr val="222222"/>
                </a:solidFill>
                <a:latin typeface="Tw Cen MT"/>
              </a:rPr>
              <a:t>Estrategia</a:t>
            </a:r>
            <a:r>
              <a:rPr sz="2600" b="1" dirty="0">
                <a:solidFill>
                  <a:srgbClr val="222222"/>
                </a:solidFill>
                <a:latin typeface="Tw Cen MT"/>
              </a:rPr>
              <a:t> de la </a:t>
            </a:r>
            <a:r>
              <a:rPr sz="2600" b="1" dirty="0" err="1">
                <a:solidFill>
                  <a:srgbClr val="222222"/>
                </a:solidFill>
                <a:latin typeface="Tw Cen MT"/>
              </a:rPr>
              <a:t>empresa</a:t>
            </a:r>
            <a:r>
              <a:rPr sz="2600" b="1" dirty="0">
                <a:solidFill>
                  <a:srgbClr val="222222"/>
                </a:solidFill>
                <a:latin typeface="Tw Cen MT"/>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TALLER — ¿Centralizar o Descentralizar?</a:t>
            </a:r>
          </a:p>
        </p:txBody>
      </p:sp>
      <p:sp>
        <p:nvSpPr>
          <p:cNvPr id="5" name="TextBox 4"/>
          <p:cNvSpPr txBox="1"/>
          <p:nvPr/>
        </p:nvSpPr>
        <p:spPr>
          <a:xfrm>
            <a:off x="304800" y="1220000"/>
            <a:ext cx="8534400" cy="5252720"/>
          </a:xfrm>
          <a:prstGeom prst="rect">
            <a:avLst/>
          </a:prstGeom>
          <a:noFill/>
        </p:spPr>
        <p:txBody>
          <a:bodyPr wrap="square">
            <a:spAutoFit/>
          </a:bodyPr>
          <a:lstStyle/>
          <a:p>
            <a:pPr algn="l">
              <a:spcBef>
                <a:spcPts val="400"/>
              </a:spcBef>
              <a:buNone/>
            </a:pPr>
            <a:r>
              <a:rPr sz="2400" b="1" dirty="0">
                <a:solidFill>
                  <a:srgbClr val="52B788"/>
                </a:solidFill>
                <a:latin typeface="Tw Cen MT"/>
              </a:rPr>
              <a:t>EMPRESAS PEQUEÑAS / SECTORES ESTABLES</a:t>
            </a:r>
          </a:p>
          <a:p>
            <a:pPr algn="l">
              <a:spcBef>
                <a:spcPts val="400"/>
              </a:spcBef>
            </a:pPr>
            <a:r>
              <a:rPr lang="es-AR" sz="2400" b="0" dirty="0">
                <a:solidFill>
                  <a:srgbClr val="FFFFFF"/>
                </a:solidFill>
                <a:latin typeface="Tw Cen MT"/>
              </a:rPr>
              <a:t>Los altos directivos suelen poseer la mayor parte de la información relevante. Es más probable que los derechos de decisión estén centralizados.</a:t>
            </a:r>
          </a:p>
          <a:p>
            <a:pPr algn="l">
              <a:spcBef>
                <a:spcPts val="400"/>
              </a:spcBef>
              <a:buNone/>
            </a:pPr>
            <a:endParaRPr lang="es-419" sz="2400" b="1" dirty="0">
              <a:solidFill>
                <a:srgbClr val="52B788"/>
              </a:solidFill>
              <a:latin typeface="Tw Cen MT"/>
            </a:endParaRPr>
          </a:p>
          <a:p>
            <a:pPr algn="l">
              <a:spcBef>
                <a:spcPts val="400"/>
              </a:spcBef>
              <a:buNone/>
            </a:pPr>
            <a:endParaRPr lang="es-419" sz="2400" b="1" dirty="0">
              <a:solidFill>
                <a:srgbClr val="52B788"/>
              </a:solidFill>
              <a:latin typeface="Tw Cen MT"/>
            </a:endParaRPr>
          </a:p>
          <a:p>
            <a:pPr algn="l">
              <a:spcBef>
                <a:spcPts val="400"/>
              </a:spcBef>
              <a:buNone/>
            </a:pPr>
            <a:r>
              <a:rPr sz="2400" b="1" dirty="0">
                <a:solidFill>
                  <a:srgbClr val="52B788"/>
                </a:solidFill>
                <a:latin typeface="Tw Cen MT"/>
              </a:rPr>
              <a:t>EMPRESAS GRANDES / CAMBIO RÁPIDO</a:t>
            </a:r>
          </a:p>
          <a:p>
            <a:pPr algn="l">
              <a:spcBef>
                <a:spcPts val="400"/>
              </a:spcBef>
            </a:pPr>
            <a:r>
              <a:rPr sz="2400" b="0" dirty="0">
                <a:solidFill>
                  <a:srgbClr val="FFFFFF"/>
                </a:solidFill>
                <a:latin typeface="Tw Cen MT"/>
              </a:rPr>
              <a:t>Los altos </a:t>
            </a:r>
            <a:r>
              <a:rPr sz="2400" b="0" dirty="0" err="1">
                <a:solidFill>
                  <a:srgbClr val="FFFFFF"/>
                </a:solidFill>
                <a:latin typeface="Tw Cen MT"/>
              </a:rPr>
              <a:t>directivos</a:t>
            </a:r>
            <a:r>
              <a:rPr sz="2400" b="0" dirty="0">
                <a:solidFill>
                  <a:srgbClr val="FFFFFF"/>
                </a:solidFill>
                <a:latin typeface="Tw Cen MT"/>
              </a:rPr>
              <a:t> no </a:t>
            </a:r>
            <a:r>
              <a:rPr sz="2400" b="0" dirty="0" err="1">
                <a:solidFill>
                  <a:srgbClr val="FFFFFF"/>
                </a:solidFill>
                <a:latin typeface="Tw Cen MT"/>
              </a:rPr>
              <a:t>están</a:t>
            </a:r>
            <a:r>
              <a:rPr sz="2400" b="0" dirty="0">
                <a:solidFill>
                  <a:srgbClr val="FFFFFF"/>
                </a:solidFill>
                <a:latin typeface="Tw Cen MT"/>
              </a:rPr>
              <a:t> </a:t>
            </a:r>
            <a:r>
              <a:rPr sz="2400" b="0" dirty="0" err="1">
                <a:solidFill>
                  <a:srgbClr val="FFFFFF"/>
                </a:solidFill>
                <a:latin typeface="Tw Cen MT"/>
              </a:rPr>
              <a:t>en</a:t>
            </a:r>
            <a:r>
              <a:rPr sz="2400" b="0" dirty="0">
                <a:solidFill>
                  <a:srgbClr val="FFFFFF"/>
                </a:solidFill>
                <a:latin typeface="Tw Cen MT"/>
              </a:rPr>
              <a:t> la </a:t>
            </a:r>
            <a:r>
              <a:rPr sz="2400" b="0" dirty="0" err="1">
                <a:solidFill>
                  <a:srgbClr val="FFFFFF"/>
                </a:solidFill>
                <a:latin typeface="Tw Cen MT"/>
              </a:rPr>
              <a:t>mejor</a:t>
            </a:r>
            <a:r>
              <a:rPr sz="2400" b="0" dirty="0">
                <a:solidFill>
                  <a:srgbClr val="FFFFFF"/>
                </a:solidFill>
                <a:latin typeface="Tw Cen MT"/>
              </a:rPr>
              <a:t> </a:t>
            </a:r>
            <a:r>
              <a:rPr sz="2400" b="0" dirty="0" err="1">
                <a:solidFill>
                  <a:srgbClr val="FFFFFF"/>
                </a:solidFill>
                <a:latin typeface="Tw Cen MT"/>
              </a:rPr>
              <a:t>posición</a:t>
            </a:r>
            <a:r>
              <a:rPr sz="2400" b="0" dirty="0">
                <a:solidFill>
                  <a:srgbClr val="FFFFFF"/>
                </a:solidFill>
                <a:latin typeface="Tw Cen MT"/>
              </a:rPr>
              <a:t> para </a:t>
            </a:r>
            <a:r>
              <a:rPr sz="2400" b="0" dirty="0" err="1">
                <a:solidFill>
                  <a:srgbClr val="FFFFFF"/>
                </a:solidFill>
                <a:latin typeface="Tw Cen MT"/>
              </a:rPr>
              <a:t>tomar</a:t>
            </a:r>
            <a:r>
              <a:rPr sz="2400" b="0" dirty="0">
                <a:solidFill>
                  <a:srgbClr val="FFFFFF"/>
                </a:solidFill>
                <a:latin typeface="Tw Cen MT"/>
              </a:rPr>
              <a:t> </a:t>
            </a:r>
            <a:r>
              <a:rPr sz="2400" b="0" dirty="0" err="1">
                <a:solidFill>
                  <a:srgbClr val="FFFFFF"/>
                </a:solidFill>
                <a:latin typeface="Tw Cen MT"/>
              </a:rPr>
              <a:t>una</a:t>
            </a:r>
            <a:r>
              <a:rPr sz="2400" b="0" dirty="0">
                <a:solidFill>
                  <a:srgbClr val="FFFFFF"/>
                </a:solidFill>
                <a:latin typeface="Tw Cen MT"/>
              </a:rPr>
              <a:t> </a:t>
            </a:r>
            <a:r>
              <a:rPr sz="2400" b="0" dirty="0" err="1">
                <a:solidFill>
                  <a:srgbClr val="FFFFFF"/>
                </a:solidFill>
                <a:latin typeface="Tw Cen MT"/>
              </a:rPr>
              <a:t>amplia</a:t>
            </a:r>
            <a:r>
              <a:rPr sz="2400" b="0" dirty="0">
                <a:solidFill>
                  <a:srgbClr val="FFFFFF"/>
                </a:solidFill>
                <a:latin typeface="Tw Cen MT"/>
              </a:rPr>
              <a:t> </a:t>
            </a:r>
            <a:r>
              <a:rPr sz="2400" b="0" dirty="0" err="1">
                <a:solidFill>
                  <a:srgbClr val="FFFFFF"/>
                </a:solidFill>
                <a:latin typeface="Tw Cen MT"/>
              </a:rPr>
              <a:t>gama</a:t>
            </a:r>
            <a:r>
              <a:rPr sz="2400" b="0" dirty="0">
                <a:solidFill>
                  <a:srgbClr val="FFFFFF"/>
                </a:solidFill>
                <a:latin typeface="Tw Cen MT"/>
              </a:rPr>
              <a:t> de </a:t>
            </a:r>
            <a:r>
              <a:rPr sz="2400" b="0" dirty="0" err="1">
                <a:solidFill>
                  <a:srgbClr val="FFFFFF"/>
                </a:solidFill>
                <a:latin typeface="Tw Cen MT"/>
              </a:rPr>
              <a:t>decisiones</a:t>
            </a:r>
            <a:r>
              <a:rPr sz="2400" b="0" dirty="0">
                <a:solidFill>
                  <a:srgbClr val="FFFFFF"/>
                </a:solidFill>
                <a:latin typeface="Tw Cen MT"/>
              </a:rPr>
              <a:t>. Es </a:t>
            </a:r>
            <a:r>
              <a:rPr sz="2400" b="0" dirty="0" err="1">
                <a:solidFill>
                  <a:srgbClr val="FFFFFF"/>
                </a:solidFill>
                <a:latin typeface="Tw Cen MT"/>
              </a:rPr>
              <a:t>más</a:t>
            </a:r>
            <a:r>
              <a:rPr sz="2400" b="0" dirty="0">
                <a:solidFill>
                  <a:srgbClr val="FFFFFF"/>
                </a:solidFill>
                <a:latin typeface="Tw Cen MT"/>
              </a:rPr>
              <a:t> probable </a:t>
            </a:r>
            <a:r>
              <a:rPr sz="2400" b="0" dirty="0" err="1">
                <a:solidFill>
                  <a:srgbClr val="FFFFFF"/>
                </a:solidFill>
                <a:latin typeface="Tw Cen MT"/>
              </a:rPr>
              <a:t>que</a:t>
            </a:r>
            <a:r>
              <a:rPr sz="2400" b="0" dirty="0">
                <a:solidFill>
                  <a:srgbClr val="FFFFFF"/>
                </a:solidFill>
                <a:latin typeface="Tw Cen MT"/>
              </a:rPr>
              <a:t> </a:t>
            </a:r>
            <a:r>
              <a:rPr sz="2400" b="0" dirty="0" err="1">
                <a:solidFill>
                  <a:srgbClr val="FFFFFF"/>
                </a:solidFill>
                <a:latin typeface="Tw Cen MT"/>
              </a:rPr>
              <a:t>los</a:t>
            </a:r>
            <a:r>
              <a:rPr sz="2400" b="0" dirty="0">
                <a:solidFill>
                  <a:srgbClr val="FFFFFF"/>
                </a:solidFill>
                <a:latin typeface="Tw Cen MT"/>
              </a:rPr>
              <a:t> derechos de </a:t>
            </a:r>
            <a:r>
              <a:rPr sz="2400" b="0" dirty="0" err="1">
                <a:solidFill>
                  <a:srgbClr val="FFFFFF"/>
                </a:solidFill>
                <a:latin typeface="Tw Cen MT"/>
              </a:rPr>
              <a:t>decisión</a:t>
            </a:r>
            <a:r>
              <a:rPr sz="2400" b="0" dirty="0">
                <a:solidFill>
                  <a:srgbClr val="FFFFFF"/>
                </a:solidFill>
                <a:latin typeface="Tw Cen MT"/>
              </a:rPr>
              <a:t> </a:t>
            </a:r>
            <a:r>
              <a:rPr sz="2400" b="0" dirty="0" err="1">
                <a:solidFill>
                  <a:srgbClr val="FFFFFF"/>
                </a:solidFill>
                <a:latin typeface="Tw Cen MT"/>
              </a:rPr>
              <a:t>estén</a:t>
            </a:r>
            <a:r>
              <a:rPr sz="2400" b="0" dirty="0">
                <a:solidFill>
                  <a:srgbClr val="FFFFFF"/>
                </a:solidFill>
                <a:latin typeface="Tw Cen MT"/>
              </a:rPr>
              <a:t> </a:t>
            </a:r>
            <a:r>
              <a:rPr sz="2400" b="0" dirty="0" err="1">
                <a:solidFill>
                  <a:srgbClr val="FFFFFF"/>
                </a:solidFill>
                <a:latin typeface="Tw Cen MT"/>
              </a:rPr>
              <a:t>descentralizados</a:t>
            </a:r>
            <a:r>
              <a:rPr sz="2400" b="0" dirty="0">
                <a:solidFill>
                  <a:srgbClr val="FFFFFF"/>
                </a:solidFill>
                <a:latin typeface="Tw Cen MT"/>
              </a:rPr>
              <a:t>, con </a:t>
            </a:r>
            <a:r>
              <a:rPr sz="2400" b="0" dirty="0" err="1">
                <a:solidFill>
                  <a:srgbClr val="FFFFFF"/>
                </a:solidFill>
                <a:latin typeface="Tw Cen MT"/>
              </a:rPr>
              <a:t>los</a:t>
            </a:r>
            <a:r>
              <a:rPr sz="2400" b="0" dirty="0">
                <a:solidFill>
                  <a:srgbClr val="FFFFFF"/>
                </a:solidFill>
                <a:latin typeface="Tw Cen MT"/>
              </a:rPr>
              <a:t> </a:t>
            </a:r>
            <a:r>
              <a:rPr sz="2400" b="0" dirty="0" err="1">
                <a:solidFill>
                  <a:srgbClr val="FFFFFF"/>
                </a:solidFill>
                <a:latin typeface="Tw Cen MT"/>
              </a:rPr>
              <a:t>sistemas</a:t>
            </a:r>
            <a:r>
              <a:rPr sz="2400" b="0" dirty="0">
                <a:solidFill>
                  <a:srgbClr val="FFFFFF"/>
                </a:solidFill>
                <a:latin typeface="Tw Cen MT"/>
              </a:rPr>
              <a:t> de control </a:t>
            </a:r>
            <a:r>
              <a:rPr sz="2400" b="0" dirty="0" err="1">
                <a:solidFill>
                  <a:srgbClr val="FFFFFF"/>
                </a:solidFill>
                <a:latin typeface="Tw Cen MT"/>
              </a:rPr>
              <a:t>correspondientes</a:t>
            </a:r>
            <a:r>
              <a:rPr sz="2400" b="0" dirty="0">
                <a:solidFill>
                  <a:srgbClr val="FFFFFF"/>
                </a:solidFill>
                <a:latin typeface="Tw Cen MT"/>
              </a:rPr>
              <a:t>.</a:t>
            </a:r>
            <a:endParaRPr lang="es-419" sz="2400" b="0" dirty="0">
              <a:solidFill>
                <a:srgbClr val="FFFFFF"/>
              </a:solidFill>
              <a:latin typeface="Tw Cen MT"/>
            </a:endParaRPr>
          </a:p>
          <a:p>
            <a:pPr algn="l">
              <a:spcBef>
                <a:spcPts val="400"/>
              </a:spcBef>
            </a:pPr>
            <a:endParaRPr sz="2400" b="0" dirty="0">
              <a:solidFill>
                <a:srgbClr val="FFFFFF"/>
              </a:solidFill>
              <a:latin typeface="Tw Cen MT"/>
            </a:endParaRPr>
          </a:p>
          <a:p>
            <a:pPr algn="ctr">
              <a:spcBef>
                <a:spcPts val="400"/>
              </a:spcBef>
            </a:pPr>
            <a:r>
              <a:rPr sz="2400" b="1" dirty="0">
                <a:solidFill>
                  <a:srgbClr val="FFFFFF"/>
                </a:solidFill>
                <a:latin typeface="Tw Cen MT"/>
              </a:rPr>
              <a:t>¿En </a:t>
            </a:r>
            <a:r>
              <a:rPr sz="2400" b="1" dirty="0" err="1">
                <a:solidFill>
                  <a:srgbClr val="FFFFFF"/>
                </a:solidFill>
                <a:latin typeface="Tw Cen MT"/>
              </a:rPr>
              <a:t>qué</a:t>
            </a:r>
            <a:r>
              <a:rPr sz="2400" b="1" dirty="0">
                <a:solidFill>
                  <a:srgbClr val="FFFFFF"/>
                </a:solidFill>
                <a:latin typeface="Tw Cen MT"/>
              </a:rPr>
              <a:t> </a:t>
            </a:r>
            <a:r>
              <a:rPr sz="2400" b="1" dirty="0" err="1">
                <a:solidFill>
                  <a:srgbClr val="FFFFFF"/>
                </a:solidFill>
                <a:latin typeface="Tw Cen MT"/>
              </a:rPr>
              <a:t>categoría</a:t>
            </a:r>
            <a:r>
              <a:rPr sz="2400" b="1" dirty="0">
                <a:solidFill>
                  <a:srgbClr val="FFFFFF"/>
                </a:solidFill>
                <a:latin typeface="Tw Cen MT"/>
              </a:rPr>
              <a:t> </a:t>
            </a:r>
            <a:r>
              <a:rPr sz="2400" b="1" dirty="0" err="1">
                <a:solidFill>
                  <a:srgbClr val="FFFFFF"/>
                </a:solidFill>
                <a:latin typeface="Tw Cen MT"/>
              </a:rPr>
              <a:t>ubican</a:t>
            </a:r>
            <a:r>
              <a:rPr sz="2400" b="1" dirty="0">
                <a:solidFill>
                  <a:srgbClr val="FFFFFF"/>
                </a:solidFill>
                <a:latin typeface="Tw Cen MT"/>
              </a:rPr>
              <a:t> a </a:t>
            </a:r>
            <a:r>
              <a:rPr sz="2400" b="1" dirty="0" err="1">
                <a:solidFill>
                  <a:srgbClr val="FFFFFF"/>
                </a:solidFill>
                <a:latin typeface="Tw Cen MT"/>
              </a:rPr>
              <a:t>su</a:t>
            </a:r>
            <a:r>
              <a:rPr sz="2400" b="1" dirty="0">
                <a:solidFill>
                  <a:srgbClr val="FFFFFF"/>
                </a:solidFill>
                <a:latin typeface="Tw Cen MT"/>
              </a:rPr>
              <a:t> </a:t>
            </a:r>
            <a:r>
              <a:rPr sz="2400" b="1" dirty="0" err="1">
                <a:solidFill>
                  <a:srgbClr val="FFFFFF"/>
                </a:solidFill>
                <a:latin typeface="Tw Cen MT"/>
              </a:rPr>
              <a:t>empresa</a:t>
            </a:r>
            <a:r>
              <a:rPr sz="2400" b="1" dirty="0">
                <a:solidFill>
                  <a:srgbClr val="FFFFFF"/>
                </a:solidFill>
                <a:latin typeface="Tw Cen MT"/>
              </a:rPr>
              <a:t> actual?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Cultura Organizacional (CO) y AO</a:t>
            </a:r>
          </a:p>
        </p:txBody>
      </p:sp>
      <p:sp>
        <p:nvSpPr>
          <p:cNvPr id="5" name="TextBox 4"/>
          <p:cNvSpPr txBox="1"/>
          <p:nvPr/>
        </p:nvSpPr>
        <p:spPr>
          <a:xfrm>
            <a:off x="304800" y="1220000"/>
            <a:ext cx="8534400" cy="5201424"/>
          </a:xfrm>
          <a:prstGeom prst="rect">
            <a:avLst/>
          </a:prstGeom>
          <a:noFill/>
        </p:spPr>
        <p:txBody>
          <a:bodyPr wrap="square">
            <a:spAutoFit/>
          </a:bodyPr>
          <a:lstStyle/>
          <a:p>
            <a:pPr algn="l">
              <a:spcBef>
                <a:spcPts val="400"/>
              </a:spcBef>
              <a:buNone/>
            </a:pPr>
            <a:r>
              <a:rPr sz="2400" b="1" dirty="0">
                <a:solidFill>
                  <a:srgbClr val="8B0000"/>
                </a:solidFill>
                <a:latin typeface="Tw Cen MT"/>
              </a:rPr>
              <a:t>CULTURA ORGANIZACIONAL (CO)</a:t>
            </a:r>
          </a:p>
          <a:p>
            <a:pPr algn="l">
              <a:spcBef>
                <a:spcPts val="400"/>
              </a:spcBef>
            </a:pPr>
            <a:r>
              <a:rPr sz="2400" b="0" dirty="0" err="1">
                <a:solidFill>
                  <a:srgbClr val="222222"/>
                </a:solidFill>
                <a:latin typeface="Tw Cen MT"/>
              </a:rPr>
              <a:t>Creencias</a:t>
            </a:r>
            <a:r>
              <a:rPr sz="2400" b="0" dirty="0">
                <a:solidFill>
                  <a:srgbClr val="222222"/>
                </a:solidFill>
                <a:latin typeface="Tw Cen MT"/>
              </a:rPr>
              <a:t> y </a:t>
            </a:r>
            <a:r>
              <a:rPr sz="2400" b="0" dirty="0" err="1">
                <a:solidFill>
                  <a:srgbClr val="222222"/>
                </a:solidFill>
                <a:latin typeface="Tw Cen MT"/>
              </a:rPr>
              <a:t>expectativas</a:t>
            </a:r>
            <a:r>
              <a:rPr sz="2400" b="0" dirty="0">
                <a:solidFill>
                  <a:srgbClr val="222222"/>
                </a:solidFill>
                <a:latin typeface="Tw Cen MT"/>
              </a:rPr>
              <a:t> </a:t>
            </a:r>
            <a:r>
              <a:rPr sz="2400" b="0" dirty="0" err="1">
                <a:solidFill>
                  <a:srgbClr val="222222"/>
                </a:solidFill>
                <a:latin typeface="Tw Cen MT"/>
              </a:rPr>
              <a:t>compartidas</a:t>
            </a:r>
            <a:r>
              <a:rPr sz="2400" b="0" dirty="0">
                <a:solidFill>
                  <a:srgbClr val="222222"/>
                </a:solidFill>
                <a:latin typeface="Tw Cen MT"/>
              </a:rPr>
              <a:t> </a:t>
            </a:r>
            <a:r>
              <a:rPr sz="2400" b="0" dirty="0" err="1">
                <a:solidFill>
                  <a:srgbClr val="222222"/>
                </a:solidFill>
                <a:latin typeface="Tw Cen MT"/>
              </a:rPr>
              <a:t>que</a:t>
            </a:r>
            <a:r>
              <a:rPr sz="2400" b="0" dirty="0">
                <a:solidFill>
                  <a:srgbClr val="222222"/>
                </a:solidFill>
                <a:latin typeface="Tw Cen MT"/>
              </a:rPr>
              <a:t> </a:t>
            </a:r>
            <a:r>
              <a:rPr sz="2400" b="0" dirty="0" err="1">
                <a:solidFill>
                  <a:srgbClr val="222222"/>
                </a:solidFill>
                <a:latin typeface="Tw Cen MT"/>
              </a:rPr>
              <a:t>influyen</a:t>
            </a:r>
            <a:r>
              <a:rPr sz="2400" b="0" dirty="0">
                <a:solidFill>
                  <a:srgbClr val="222222"/>
                </a:solidFill>
                <a:latin typeface="Tw Cen MT"/>
              </a:rPr>
              <a:t> </a:t>
            </a:r>
            <a:r>
              <a:rPr sz="2400" b="0" dirty="0" err="1">
                <a:solidFill>
                  <a:srgbClr val="222222"/>
                </a:solidFill>
                <a:latin typeface="Tw Cen MT"/>
              </a:rPr>
              <a:t>en</a:t>
            </a:r>
            <a:r>
              <a:rPr sz="2400" b="0" dirty="0">
                <a:solidFill>
                  <a:srgbClr val="222222"/>
                </a:solidFill>
                <a:latin typeface="Tw Cen MT"/>
              </a:rPr>
              <a:t> </a:t>
            </a:r>
            <a:r>
              <a:rPr sz="2400" b="0" dirty="0" err="1">
                <a:solidFill>
                  <a:srgbClr val="222222"/>
                </a:solidFill>
                <a:latin typeface="Tw Cen MT"/>
              </a:rPr>
              <a:t>el</a:t>
            </a:r>
            <a:r>
              <a:rPr sz="2400" b="0" dirty="0">
                <a:solidFill>
                  <a:srgbClr val="222222"/>
                </a:solidFill>
                <a:latin typeface="Tw Cen MT"/>
              </a:rPr>
              <a:t> </a:t>
            </a:r>
            <a:r>
              <a:rPr sz="2400" b="0" dirty="0" err="1">
                <a:solidFill>
                  <a:srgbClr val="222222"/>
                </a:solidFill>
                <a:latin typeface="Tw Cen MT"/>
              </a:rPr>
              <a:t>comportamiento</a:t>
            </a:r>
            <a:r>
              <a:rPr sz="2400" b="0" dirty="0">
                <a:solidFill>
                  <a:srgbClr val="222222"/>
                </a:solidFill>
                <a:latin typeface="Tw Cen MT"/>
              </a:rPr>
              <a:t> de las personas </a:t>
            </a:r>
            <a:r>
              <a:rPr sz="2400" b="0" dirty="0" err="1">
                <a:solidFill>
                  <a:srgbClr val="222222"/>
                </a:solidFill>
                <a:latin typeface="Tw Cen MT"/>
              </a:rPr>
              <a:t>en</a:t>
            </a:r>
            <a:r>
              <a:rPr sz="2400" b="0" dirty="0">
                <a:solidFill>
                  <a:srgbClr val="222222"/>
                </a:solidFill>
                <a:latin typeface="Tw Cen MT"/>
              </a:rPr>
              <a:t> las </a:t>
            </a:r>
            <a:r>
              <a:rPr sz="2400" b="0" dirty="0" err="1">
                <a:solidFill>
                  <a:srgbClr val="222222"/>
                </a:solidFill>
                <a:latin typeface="Tw Cen MT"/>
              </a:rPr>
              <a:t>organizaciones</a:t>
            </a:r>
            <a:r>
              <a:rPr sz="2400" b="0" dirty="0">
                <a:solidFill>
                  <a:srgbClr val="222222"/>
                </a:solidFill>
                <a:latin typeface="Tw Cen MT"/>
              </a:rPr>
              <a:t>.</a:t>
            </a:r>
          </a:p>
          <a:p>
            <a:pPr algn="l">
              <a:spcBef>
                <a:spcPts val="400"/>
              </a:spcBef>
            </a:pPr>
            <a:r>
              <a:rPr sz="2400" b="0" dirty="0">
                <a:solidFill>
                  <a:srgbClr val="222222"/>
                </a:solidFill>
                <a:latin typeface="Tw Cen MT"/>
              </a:rPr>
              <a:t>Abarca: la forma </a:t>
            </a:r>
            <a:r>
              <a:rPr sz="2400" b="0" dirty="0" err="1">
                <a:solidFill>
                  <a:srgbClr val="222222"/>
                </a:solidFill>
                <a:latin typeface="Tw Cen MT"/>
              </a:rPr>
              <a:t>en</a:t>
            </a:r>
            <a:r>
              <a:rPr sz="2400" b="0" dirty="0">
                <a:solidFill>
                  <a:srgbClr val="222222"/>
                </a:solidFill>
                <a:latin typeface="Tw Cen MT"/>
              </a:rPr>
              <a:t> </a:t>
            </a:r>
            <a:r>
              <a:rPr sz="2400" b="0" dirty="0" err="1">
                <a:solidFill>
                  <a:srgbClr val="222222"/>
                </a:solidFill>
                <a:latin typeface="Tw Cen MT"/>
              </a:rPr>
              <a:t>que</a:t>
            </a:r>
            <a:r>
              <a:rPr sz="2400" b="0" dirty="0">
                <a:solidFill>
                  <a:srgbClr val="222222"/>
                </a:solidFill>
                <a:latin typeface="Tw Cen MT"/>
              </a:rPr>
              <a:t> se </a:t>
            </a:r>
            <a:r>
              <a:rPr sz="2400" b="0" dirty="0" err="1">
                <a:solidFill>
                  <a:srgbClr val="222222"/>
                </a:solidFill>
                <a:latin typeface="Tw Cen MT"/>
              </a:rPr>
              <a:t>organiza</a:t>
            </a:r>
            <a:r>
              <a:rPr sz="2400" b="0" dirty="0">
                <a:solidFill>
                  <a:srgbClr val="222222"/>
                </a:solidFill>
                <a:latin typeface="Tw Cen MT"/>
              </a:rPr>
              <a:t> </a:t>
            </a:r>
            <a:r>
              <a:rPr sz="2400" b="0" dirty="0" err="1">
                <a:solidFill>
                  <a:srgbClr val="222222"/>
                </a:solidFill>
                <a:latin typeface="Tw Cen MT"/>
              </a:rPr>
              <a:t>el</a:t>
            </a:r>
            <a:r>
              <a:rPr sz="2400" b="0" dirty="0">
                <a:solidFill>
                  <a:srgbClr val="222222"/>
                </a:solidFill>
                <a:latin typeface="Tw Cen MT"/>
              </a:rPr>
              <a:t> </a:t>
            </a:r>
            <a:r>
              <a:rPr sz="2400" b="0" dirty="0" err="1">
                <a:solidFill>
                  <a:srgbClr val="222222"/>
                </a:solidFill>
                <a:latin typeface="Tw Cen MT"/>
              </a:rPr>
              <a:t>trabajo</a:t>
            </a:r>
            <a:r>
              <a:rPr sz="2400" b="0" dirty="0">
                <a:solidFill>
                  <a:srgbClr val="222222"/>
                </a:solidFill>
                <a:latin typeface="Tw Cen MT"/>
              </a:rPr>
              <a:t> y la </a:t>
            </a:r>
            <a:r>
              <a:rPr sz="2400" b="0" dirty="0" err="1">
                <a:solidFill>
                  <a:srgbClr val="222222"/>
                </a:solidFill>
                <a:latin typeface="Tw Cen MT"/>
              </a:rPr>
              <a:t>autoridad</a:t>
            </a:r>
            <a:r>
              <a:rPr sz="2400" b="0" dirty="0">
                <a:solidFill>
                  <a:srgbClr val="222222"/>
                </a:solidFill>
                <a:latin typeface="Tw Cen MT"/>
              </a:rPr>
              <a:t>, las formas </a:t>
            </a:r>
            <a:r>
              <a:rPr sz="2400" b="0" dirty="0" err="1">
                <a:solidFill>
                  <a:srgbClr val="222222"/>
                </a:solidFill>
                <a:latin typeface="Tw Cen MT"/>
              </a:rPr>
              <a:t>en</a:t>
            </a:r>
            <a:r>
              <a:rPr sz="2400" b="0" dirty="0">
                <a:solidFill>
                  <a:srgbClr val="222222"/>
                </a:solidFill>
                <a:latin typeface="Tw Cen MT"/>
              </a:rPr>
              <a:t> </a:t>
            </a:r>
            <a:r>
              <a:rPr sz="2400" b="0" dirty="0" err="1">
                <a:solidFill>
                  <a:srgbClr val="222222"/>
                </a:solidFill>
                <a:latin typeface="Tw Cen MT"/>
              </a:rPr>
              <a:t>que</a:t>
            </a:r>
            <a:r>
              <a:rPr sz="2400" b="0" dirty="0">
                <a:solidFill>
                  <a:srgbClr val="222222"/>
                </a:solidFill>
                <a:latin typeface="Tw Cen MT"/>
              </a:rPr>
              <a:t> se </a:t>
            </a:r>
            <a:r>
              <a:rPr sz="2400" b="0" dirty="0" err="1">
                <a:solidFill>
                  <a:srgbClr val="222222"/>
                </a:solidFill>
                <a:latin typeface="Tw Cen MT"/>
              </a:rPr>
              <a:t>recompensa</a:t>
            </a:r>
            <a:r>
              <a:rPr sz="2400" b="0" dirty="0">
                <a:solidFill>
                  <a:srgbClr val="222222"/>
                </a:solidFill>
                <a:latin typeface="Tw Cen MT"/>
              </a:rPr>
              <a:t> y </a:t>
            </a:r>
            <a:r>
              <a:rPr sz="2400" b="0" dirty="0" err="1">
                <a:solidFill>
                  <a:srgbClr val="222222"/>
                </a:solidFill>
                <a:latin typeface="Tw Cen MT"/>
              </a:rPr>
              <a:t>controla</a:t>
            </a:r>
            <a:r>
              <a:rPr sz="2400" b="0" dirty="0">
                <a:solidFill>
                  <a:srgbClr val="222222"/>
                </a:solidFill>
                <a:latin typeface="Tw Cen MT"/>
              </a:rPr>
              <a:t> a las personas, y las </a:t>
            </a:r>
            <a:r>
              <a:rPr sz="2400" b="0" dirty="0" err="1">
                <a:solidFill>
                  <a:srgbClr val="222222"/>
                </a:solidFill>
                <a:latin typeface="Tw Cen MT"/>
              </a:rPr>
              <a:t>características</a:t>
            </a:r>
            <a:r>
              <a:rPr sz="2400" b="0" dirty="0">
                <a:solidFill>
                  <a:srgbClr val="222222"/>
                </a:solidFill>
                <a:latin typeface="Tw Cen MT"/>
              </a:rPr>
              <a:t> </a:t>
            </a:r>
            <a:r>
              <a:rPr sz="2400" b="0" dirty="0" err="1">
                <a:solidFill>
                  <a:srgbClr val="222222"/>
                </a:solidFill>
                <a:latin typeface="Tw Cen MT"/>
              </a:rPr>
              <a:t>organizacionales</a:t>
            </a:r>
            <a:r>
              <a:rPr sz="2400" b="0" dirty="0">
                <a:solidFill>
                  <a:srgbClr val="222222"/>
                </a:solidFill>
                <a:latin typeface="Tw Cen MT"/>
              </a:rPr>
              <a:t> </a:t>
            </a:r>
            <a:r>
              <a:rPr sz="2400" b="0" dirty="0" err="1">
                <a:solidFill>
                  <a:srgbClr val="222222"/>
                </a:solidFill>
                <a:latin typeface="Tw Cen MT"/>
              </a:rPr>
              <a:t>como</a:t>
            </a:r>
            <a:r>
              <a:rPr sz="2400" b="0" dirty="0">
                <a:solidFill>
                  <a:srgbClr val="222222"/>
                </a:solidFill>
                <a:latin typeface="Tw Cen MT"/>
              </a:rPr>
              <a:t> </a:t>
            </a:r>
            <a:r>
              <a:rPr sz="2400" b="0" dirty="0" err="1">
                <a:solidFill>
                  <a:srgbClr val="222222"/>
                </a:solidFill>
                <a:latin typeface="Tw Cen MT"/>
              </a:rPr>
              <a:t>costumbres</a:t>
            </a:r>
            <a:r>
              <a:rPr sz="2400" b="0" dirty="0">
                <a:solidFill>
                  <a:srgbClr val="222222"/>
                </a:solidFill>
                <a:latin typeface="Tw Cen MT"/>
              </a:rPr>
              <a:t>, </a:t>
            </a:r>
            <a:r>
              <a:rPr sz="2400" b="0" dirty="0" err="1">
                <a:solidFill>
                  <a:srgbClr val="222222"/>
                </a:solidFill>
                <a:latin typeface="Tw Cen MT"/>
              </a:rPr>
              <a:t>tabúes</a:t>
            </a:r>
            <a:r>
              <a:rPr sz="2400" b="0" dirty="0">
                <a:solidFill>
                  <a:srgbClr val="222222"/>
                </a:solidFill>
                <a:latin typeface="Tw Cen MT"/>
              </a:rPr>
              <a:t>, </a:t>
            </a:r>
            <a:r>
              <a:rPr sz="2400" b="0" dirty="0" err="1">
                <a:solidFill>
                  <a:srgbClr val="222222"/>
                </a:solidFill>
                <a:latin typeface="Tw Cen MT"/>
              </a:rPr>
              <a:t>lemas</a:t>
            </a:r>
            <a:r>
              <a:rPr sz="2400" b="0" dirty="0">
                <a:solidFill>
                  <a:srgbClr val="222222"/>
                </a:solidFill>
                <a:latin typeface="Tw Cen MT"/>
              </a:rPr>
              <a:t>, </a:t>
            </a:r>
            <a:r>
              <a:rPr sz="2400" b="0" dirty="0" err="1">
                <a:solidFill>
                  <a:srgbClr val="222222"/>
                </a:solidFill>
                <a:latin typeface="Tw Cen MT"/>
              </a:rPr>
              <a:t>héroes</a:t>
            </a:r>
            <a:r>
              <a:rPr sz="2400" b="0" dirty="0">
                <a:solidFill>
                  <a:srgbClr val="222222"/>
                </a:solidFill>
                <a:latin typeface="Tw Cen MT"/>
              </a:rPr>
              <a:t> y </a:t>
            </a:r>
            <a:r>
              <a:rPr sz="2400" b="0" dirty="0" err="1">
                <a:solidFill>
                  <a:srgbClr val="222222"/>
                </a:solidFill>
                <a:latin typeface="Tw Cen MT"/>
              </a:rPr>
              <a:t>rituales</a:t>
            </a:r>
            <a:r>
              <a:rPr sz="2400" b="0" dirty="0">
                <a:solidFill>
                  <a:srgbClr val="222222"/>
                </a:solidFill>
                <a:latin typeface="Tw Cen MT"/>
              </a:rPr>
              <a:t> </a:t>
            </a:r>
            <a:r>
              <a:rPr sz="2400" b="0" dirty="0" err="1">
                <a:solidFill>
                  <a:srgbClr val="222222"/>
                </a:solidFill>
                <a:latin typeface="Tw Cen MT"/>
              </a:rPr>
              <a:t>sociales</a:t>
            </a:r>
            <a:r>
              <a:rPr sz="2400" b="0" dirty="0">
                <a:solidFill>
                  <a:srgbClr val="222222"/>
                </a:solidFill>
                <a:latin typeface="Tw Cen MT"/>
              </a:rPr>
              <a:t>.</a:t>
            </a:r>
            <a:endParaRPr lang="es-419" sz="2400" b="0" dirty="0">
              <a:solidFill>
                <a:srgbClr val="222222"/>
              </a:solidFill>
              <a:latin typeface="Tw Cen MT"/>
            </a:endParaRPr>
          </a:p>
          <a:p>
            <a:pPr algn="l">
              <a:spcBef>
                <a:spcPts val="400"/>
              </a:spcBef>
            </a:pPr>
            <a:endParaRPr lang="es-419" sz="2400" b="0" dirty="0">
              <a:solidFill>
                <a:srgbClr val="222222"/>
              </a:solidFill>
              <a:latin typeface="Tw Cen MT"/>
            </a:endParaRPr>
          </a:p>
          <a:p>
            <a:pPr algn="l">
              <a:spcBef>
                <a:spcPts val="400"/>
              </a:spcBef>
            </a:pPr>
            <a:endParaRPr sz="2400" b="0" dirty="0">
              <a:solidFill>
                <a:srgbClr val="222222"/>
              </a:solidFill>
              <a:latin typeface="Tw Cen MT"/>
            </a:endParaRPr>
          </a:p>
          <a:p>
            <a:pPr algn="l">
              <a:spcBef>
                <a:spcPts val="400"/>
              </a:spcBef>
              <a:buNone/>
            </a:pPr>
            <a:r>
              <a:rPr sz="2400" b="1" dirty="0">
                <a:solidFill>
                  <a:srgbClr val="8B0000"/>
                </a:solidFill>
                <a:latin typeface="Tw Cen MT"/>
              </a:rPr>
              <a:t>ARQUITECTURA ORGANIZACIONAL (AO)</a:t>
            </a:r>
          </a:p>
          <a:p>
            <a:pPr algn="ctr">
              <a:spcBef>
                <a:spcPts val="400"/>
              </a:spcBef>
            </a:pPr>
            <a:r>
              <a:rPr sz="2400" b="1" dirty="0" err="1">
                <a:solidFill>
                  <a:srgbClr val="222222"/>
                </a:solidFill>
                <a:latin typeface="Tw Cen MT"/>
              </a:rPr>
              <a:t>Especifica</a:t>
            </a:r>
            <a:r>
              <a:rPr sz="2400" b="1" dirty="0">
                <a:solidFill>
                  <a:srgbClr val="222222"/>
                </a:solidFill>
                <a:latin typeface="Tw Cen MT"/>
              </a:rPr>
              <a:t> </a:t>
            </a:r>
            <a:r>
              <a:rPr sz="2400" b="1" dirty="0" err="1">
                <a:solidFill>
                  <a:srgbClr val="222222"/>
                </a:solidFill>
                <a:latin typeface="Tw Cen MT"/>
              </a:rPr>
              <a:t>cómo</a:t>
            </a:r>
            <a:r>
              <a:rPr sz="2400" b="1" dirty="0">
                <a:solidFill>
                  <a:srgbClr val="222222"/>
                </a:solidFill>
                <a:latin typeface="Tw Cen MT"/>
              </a:rPr>
              <a:t> se </a:t>
            </a:r>
            <a:r>
              <a:rPr sz="2400" b="1" dirty="0" err="1">
                <a:solidFill>
                  <a:srgbClr val="222222"/>
                </a:solidFill>
                <a:latin typeface="Tw Cen MT"/>
              </a:rPr>
              <a:t>distribuye</a:t>
            </a:r>
            <a:r>
              <a:rPr sz="2400" b="1" dirty="0">
                <a:solidFill>
                  <a:srgbClr val="222222"/>
                </a:solidFill>
                <a:latin typeface="Tw Cen MT"/>
              </a:rPr>
              <a:t> la </a:t>
            </a:r>
            <a:r>
              <a:rPr sz="2400" b="1" dirty="0" err="1">
                <a:solidFill>
                  <a:srgbClr val="222222"/>
                </a:solidFill>
                <a:latin typeface="Tw Cen MT"/>
              </a:rPr>
              <a:t>autoridad</a:t>
            </a:r>
            <a:r>
              <a:rPr sz="2400" b="1" dirty="0">
                <a:solidFill>
                  <a:srgbClr val="222222"/>
                </a:solidFill>
                <a:latin typeface="Tw Cen MT"/>
              </a:rPr>
              <a:t> (derechos de </a:t>
            </a:r>
            <a:r>
              <a:rPr sz="2400" b="1" dirty="0" err="1">
                <a:solidFill>
                  <a:srgbClr val="222222"/>
                </a:solidFill>
                <a:latin typeface="Tw Cen MT"/>
              </a:rPr>
              <a:t>decisión</a:t>
            </a:r>
            <a:r>
              <a:rPr sz="2400" b="1" dirty="0">
                <a:solidFill>
                  <a:srgbClr val="222222"/>
                </a:solidFill>
                <a:latin typeface="Tw Cen MT"/>
              </a:rPr>
              <a:t>) entre </a:t>
            </a:r>
            <a:r>
              <a:rPr sz="2400" b="1" dirty="0" err="1">
                <a:solidFill>
                  <a:srgbClr val="222222"/>
                </a:solidFill>
                <a:latin typeface="Tw Cen MT"/>
              </a:rPr>
              <a:t>los</a:t>
            </a:r>
            <a:r>
              <a:rPr sz="2400" b="1" dirty="0">
                <a:solidFill>
                  <a:srgbClr val="222222"/>
                </a:solidFill>
                <a:latin typeface="Tw Cen MT"/>
              </a:rPr>
              <a:t> </a:t>
            </a:r>
            <a:r>
              <a:rPr sz="2400" b="1" dirty="0" err="1">
                <a:solidFill>
                  <a:srgbClr val="222222"/>
                </a:solidFill>
                <a:latin typeface="Tw Cen MT"/>
              </a:rPr>
              <a:t>empleados</a:t>
            </a:r>
            <a:r>
              <a:rPr lang="es-419" sz="2400" b="1" dirty="0">
                <a:solidFill>
                  <a:srgbClr val="222222"/>
                </a:solidFill>
                <a:latin typeface="Tw Cen MT"/>
              </a:rPr>
              <a:t> y </a:t>
            </a:r>
            <a:r>
              <a:rPr sz="2400" b="1" dirty="0" err="1">
                <a:solidFill>
                  <a:srgbClr val="222222"/>
                </a:solidFill>
                <a:latin typeface="Tw Cen MT"/>
              </a:rPr>
              <a:t>cómo</a:t>
            </a:r>
            <a:r>
              <a:rPr sz="2400" b="1" dirty="0">
                <a:solidFill>
                  <a:srgbClr val="222222"/>
                </a:solidFill>
                <a:latin typeface="Tw Cen MT"/>
              </a:rPr>
              <a:t> se </a:t>
            </a:r>
            <a:r>
              <a:rPr sz="2400" b="1" dirty="0" err="1">
                <a:solidFill>
                  <a:srgbClr val="222222"/>
                </a:solidFill>
                <a:latin typeface="Tw Cen MT"/>
              </a:rPr>
              <a:t>determinan</a:t>
            </a:r>
            <a:r>
              <a:rPr sz="2400" b="1" dirty="0">
                <a:solidFill>
                  <a:srgbClr val="222222"/>
                </a:solidFill>
                <a:latin typeface="Tw Cen MT"/>
              </a:rPr>
              <a:t> las </a:t>
            </a:r>
            <a:r>
              <a:rPr sz="2400" b="1" dirty="0" err="1">
                <a:solidFill>
                  <a:srgbClr val="222222"/>
                </a:solidFill>
                <a:latin typeface="Tw Cen MT"/>
              </a:rPr>
              <a:t>recompensas</a:t>
            </a:r>
            <a:r>
              <a:rPr sz="2400" b="1" dirty="0">
                <a:solidFill>
                  <a:srgbClr val="222222"/>
                </a:solidFill>
                <a:latin typeface="Tw Cen MT"/>
              </a:rPr>
              <a:t> a </a:t>
            </a:r>
            <a:r>
              <a:rPr sz="2400" b="1" dirty="0" err="1">
                <a:solidFill>
                  <a:srgbClr val="222222"/>
                </a:solidFill>
                <a:latin typeface="Tw Cen MT"/>
              </a:rPr>
              <a:t>través</a:t>
            </a:r>
            <a:r>
              <a:rPr sz="2400" b="1" dirty="0">
                <a:solidFill>
                  <a:srgbClr val="222222"/>
                </a:solidFill>
                <a:latin typeface="Tw Cen MT"/>
              </a:rPr>
              <a:t> del </a:t>
            </a:r>
            <a:r>
              <a:rPr sz="2400" b="1" dirty="0" err="1">
                <a:solidFill>
                  <a:srgbClr val="222222"/>
                </a:solidFill>
                <a:latin typeface="Tw Cen MT"/>
              </a:rPr>
              <a:t>sistema</a:t>
            </a:r>
            <a:r>
              <a:rPr sz="2400" b="1" dirty="0">
                <a:solidFill>
                  <a:srgbClr val="222222"/>
                </a:solidFill>
                <a:latin typeface="Tw Cen MT"/>
              </a:rPr>
              <a:t> de control.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a:extLst>
            <a:ext uri="{FF2B5EF4-FFF2-40B4-BE49-F238E27FC236}">
              <a16:creationId xmlns:a16="http://schemas.microsoft.com/office/drawing/2014/main" id="{0EC94F9C-6D0D-E970-A994-7C24DA31468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1355E60-256F-0796-BCD3-F0378F62BF34}"/>
              </a:ext>
            </a:extLst>
          </p:cNvPr>
          <p:cNvSpPr/>
          <p:nvPr/>
        </p:nvSpPr>
        <p:spPr>
          <a:xfrm>
            <a:off x="0" y="0"/>
            <a:ext cx="9144000" cy="1066800"/>
          </a:xfrm>
          <a:prstGeom prst="rect">
            <a:avLst/>
          </a:prstGeom>
          <a:solidFill>
            <a:srgbClr val="11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hape 1"/>
          <p:cNvSpPr/>
          <p:nvPr/>
        </p:nvSpPr>
        <p:spPr>
          <a:xfrm>
            <a:off x="164592" y="857250"/>
            <a:ext cx="8979408" cy="90768"/>
          </a:xfrm>
          <a:prstGeom prst="rect">
            <a:avLst/>
          </a:prstGeom>
          <a:solidFill>
            <a:srgbClr val="162050"/>
          </a:solidFill>
          <a:ln w="12700">
            <a:solidFill>
              <a:srgbClr val="162050"/>
            </a:solidFill>
            <a:prstDash val="solid"/>
          </a:ln>
        </p:spPr>
        <p:txBody>
          <a:bodyPr/>
          <a:lstStyle/>
          <a:p>
            <a:endParaRPr lang="en-US">
              <a:latin typeface="Tw Cen MT" panose="020B0602020104020603" pitchFamily="34" charset="0"/>
            </a:endParaRPr>
          </a:p>
        </p:txBody>
      </p:sp>
      <p:sp>
        <p:nvSpPr>
          <p:cNvPr id="7" name="Text 4"/>
          <p:cNvSpPr/>
          <p:nvPr/>
        </p:nvSpPr>
        <p:spPr>
          <a:xfrm>
            <a:off x="304799" y="310703"/>
            <a:ext cx="8503920" cy="521208"/>
          </a:xfrm>
          <a:prstGeom prst="rect">
            <a:avLst/>
          </a:prstGeom>
          <a:noFill/>
          <a:ln/>
        </p:spPr>
        <p:txBody>
          <a:bodyPr wrap="square" lIns="0" tIns="0" rIns="0" bIns="0" rtlCol="0" anchor="ctr"/>
          <a:lstStyle/>
          <a:p>
            <a:r>
              <a:rPr lang="en-US" sz="2400" b="1" dirty="0">
                <a:solidFill>
                  <a:srgbClr val="FFC000"/>
                </a:solidFill>
                <a:latin typeface="Tw Cen MT" panose="020B0602020104020603" pitchFamily="34" charset="0"/>
              </a:rPr>
              <a:t>Caso: </a:t>
            </a:r>
            <a:r>
              <a:rPr lang="en-US" sz="2400" b="1" dirty="0">
                <a:solidFill>
                  <a:srgbClr val="FFFFFF"/>
                </a:solidFill>
                <a:latin typeface="Tw Cen MT" panose="020B0602020104020603" pitchFamily="34" charset="0"/>
              </a:rPr>
              <a:t>Microsoft: </a:t>
            </a:r>
            <a:r>
              <a:rPr lang="en-US" sz="2400" b="1" dirty="0" err="1">
                <a:solidFill>
                  <a:srgbClr val="FFFFFF"/>
                </a:solidFill>
                <a:latin typeface="Tw Cen MT" panose="020B0602020104020603" pitchFamily="34" charset="0"/>
              </a:rPr>
              <a:t>Transformando</a:t>
            </a:r>
            <a:r>
              <a:rPr lang="en-US" sz="2400" b="1" dirty="0">
                <a:solidFill>
                  <a:srgbClr val="FFFFFF"/>
                </a:solidFill>
                <a:latin typeface="Tw Cen MT" panose="020B0602020104020603" pitchFamily="34" charset="0"/>
              </a:rPr>
              <a:t> la </a:t>
            </a:r>
            <a:r>
              <a:rPr lang="en-US" sz="2400" b="1" dirty="0" err="1">
                <a:solidFill>
                  <a:srgbClr val="FFFFFF"/>
                </a:solidFill>
                <a:latin typeface="Tw Cen MT" panose="020B0602020104020603" pitchFamily="34" charset="0"/>
              </a:rPr>
              <a:t>cultura</a:t>
            </a:r>
            <a:r>
              <a:rPr lang="en-US" sz="2400" b="1" dirty="0">
                <a:solidFill>
                  <a:srgbClr val="FFFFFF"/>
                </a:solidFill>
                <a:latin typeface="Tw Cen MT" panose="020B0602020104020603" pitchFamily="34" charset="0"/>
              </a:rPr>
              <a:t> – Nadella 2014</a:t>
            </a:r>
            <a:endParaRPr lang="en-US" sz="2400" dirty="0">
              <a:latin typeface="Tw Cen MT" panose="020B0602020104020603" pitchFamily="34" charset="0"/>
            </a:endParaRPr>
          </a:p>
        </p:txBody>
      </p:sp>
      <p:sp>
        <p:nvSpPr>
          <p:cNvPr id="8" name="Shape 6"/>
          <p:cNvSpPr/>
          <p:nvPr/>
        </p:nvSpPr>
        <p:spPr>
          <a:xfrm>
            <a:off x="64010" y="1185581"/>
            <a:ext cx="2843782" cy="5513601"/>
          </a:xfrm>
          <a:prstGeom prst="rect">
            <a:avLst/>
          </a:prstGeom>
          <a:solidFill>
            <a:srgbClr val="162050"/>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sz="1600" dirty="0">
              <a:latin typeface="Tw Cen MT" panose="020B0602020104020603" pitchFamily="34" charset="0"/>
            </a:endParaRPr>
          </a:p>
        </p:txBody>
      </p:sp>
      <p:sp>
        <p:nvSpPr>
          <p:cNvPr id="10" name="Text 8"/>
          <p:cNvSpPr/>
          <p:nvPr/>
        </p:nvSpPr>
        <p:spPr>
          <a:xfrm>
            <a:off x="265176" y="1160616"/>
            <a:ext cx="2651760" cy="347472"/>
          </a:xfrm>
          <a:prstGeom prst="rect">
            <a:avLst/>
          </a:prstGeom>
          <a:noFill/>
          <a:ln/>
        </p:spPr>
        <p:txBody>
          <a:bodyPr wrap="square" lIns="0" tIns="0" rIns="0" bIns="0" rtlCol="0" anchor="ctr"/>
          <a:lstStyle/>
          <a:p>
            <a:pPr algn="ctr"/>
            <a:r>
              <a:rPr lang="en-US" b="1" dirty="0">
                <a:solidFill>
                  <a:srgbClr val="C0392B"/>
                </a:solidFill>
                <a:latin typeface="Tw Cen MT" panose="020B0602020104020603" pitchFamily="34" charset="0"/>
              </a:rPr>
              <a:t>ANTES DE NADELLA </a:t>
            </a:r>
            <a:endParaRPr lang="en-US" dirty="0">
              <a:latin typeface="Tw Cen MT" panose="020B0602020104020603" pitchFamily="34" charset="0"/>
            </a:endParaRPr>
          </a:p>
        </p:txBody>
      </p:sp>
      <p:sp>
        <p:nvSpPr>
          <p:cNvPr id="11" name="Text 9"/>
          <p:cNvSpPr/>
          <p:nvPr/>
        </p:nvSpPr>
        <p:spPr>
          <a:xfrm>
            <a:off x="192022" y="1601904"/>
            <a:ext cx="2715770" cy="2423160"/>
          </a:xfrm>
          <a:prstGeom prst="rect">
            <a:avLst/>
          </a:prstGeom>
          <a:noFill/>
          <a:ln/>
        </p:spPr>
        <p:txBody>
          <a:bodyPr wrap="square" lIns="0" tIns="0" rIns="0" bIns="0" rtlCol="0" anchor="t"/>
          <a:lstStyle/>
          <a:p>
            <a:r>
              <a:rPr lang="en-US" sz="1600" b="1" dirty="0">
                <a:solidFill>
                  <a:srgbClr val="C0392B"/>
                </a:solidFill>
                <a:latin typeface="Tw Cen MT" panose="020B0602020104020603" pitchFamily="34" charset="0"/>
              </a:rPr>
              <a:t>Cultura de </a:t>
            </a:r>
            <a:r>
              <a:rPr lang="en-US" sz="1600" b="1" dirty="0" err="1">
                <a:solidFill>
                  <a:srgbClr val="C0392B"/>
                </a:solidFill>
                <a:latin typeface="Tw Cen MT" panose="020B0602020104020603" pitchFamily="34" charset="0"/>
              </a:rPr>
              <a:t>competencia</a:t>
            </a:r>
            <a:r>
              <a:rPr lang="en-US" sz="1600" b="1" dirty="0">
                <a:solidFill>
                  <a:srgbClr val="C0392B"/>
                </a:solidFill>
                <a:latin typeface="Tw Cen MT" panose="020B0602020104020603" pitchFamily="34" charset="0"/>
              </a:rPr>
              <a:t> interna:</a:t>
            </a:r>
            <a:endParaRPr lang="en-US" sz="1600" dirty="0">
              <a:latin typeface="Tw Cen MT" panose="020B0602020104020603" pitchFamily="34" charset="0"/>
            </a:endParaRPr>
          </a:p>
          <a:p>
            <a:r>
              <a:rPr lang="en-US" sz="1600" dirty="0">
                <a:solidFill>
                  <a:srgbClr val="CADCFC"/>
                </a:solidFill>
                <a:latin typeface="Tw Cen MT" panose="020B0602020104020603" pitchFamily="34" charset="0"/>
              </a:rPr>
              <a:t>El </a:t>
            </a:r>
            <a:r>
              <a:rPr lang="en-US" sz="1600" dirty="0" err="1">
                <a:solidFill>
                  <a:srgbClr val="CADCFC"/>
                </a:solidFill>
                <a:latin typeface="Tw Cen MT" panose="020B0602020104020603" pitchFamily="34" charset="0"/>
              </a:rPr>
              <a:t>sistema</a:t>
            </a:r>
            <a:r>
              <a:rPr lang="en-US" sz="1600" dirty="0">
                <a:solidFill>
                  <a:srgbClr val="CADCFC"/>
                </a:solidFill>
                <a:latin typeface="Tw Cen MT" panose="020B0602020104020603" pitchFamily="34" charset="0"/>
              </a:rPr>
              <a:t> de "stack ranking" </a:t>
            </a:r>
            <a:r>
              <a:rPr lang="en-US" sz="1600" dirty="0" err="1">
                <a:solidFill>
                  <a:srgbClr val="CADCFC"/>
                </a:solidFill>
                <a:latin typeface="Tw Cen MT" panose="020B0602020104020603" pitchFamily="34" charset="0"/>
              </a:rPr>
              <a:t>enfrentaba</a:t>
            </a:r>
            <a:r>
              <a:rPr lang="en-US" sz="1600" dirty="0">
                <a:solidFill>
                  <a:srgbClr val="CADCFC"/>
                </a:solidFill>
                <a:latin typeface="Tw Cen MT" panose="020B0602020104020603" pitchFamily="34" charset="0"/>
              </a:rPr>
              <a:t> a </a:t>
            </a:r>
            <a:r>
              <a:rPr lang="en-US" sz="1600" dirty="0" err="1">
                <a:solidFill>
                  <a:srgbClr val="CADCFC"/>
                </a:solidFill>
                <a:latin typeface="Tw Cen MT" panose="020B0602020104020603" pitchFamily="34" charset="0"/>
              </a:rPr>
              <a:t>los</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empleados</a:t>
            </a:r>
            <a:r>
              <a:rPr lang="en-US" sz="1600" dirty="0">
                <a:solidFill>
                  <a:srgbClr val="CADCFC"/>
                </a:solidFill>
                <a:latin typeface="Tw Cen MT" panose="020B0602020104020603" pitchFamily="34" charset="0"/>
              </a:rPr>
              <a:t> entre </a:t>
            </a:r>
            <a:r>
              <a:rPr lang="en-US" sz="1600" dirty="0" err="1">
                <a:solidFill>
                  <a:srgbClr val="CADCFC"/>
                </a:solidFill>
                <a:latin typeface="Tw Cen MT" panose="020B0602020104020603" pitchFamily="34" charset="0"/>
              </a:rPr>
              <a:t>sí</a:t>
            </a:r>
            <a:r>
              <a:rPr lang="en-US" sz="1600" dirty="0">
                <a:solidFill>
                  <a:srgbClr val="CADCFC"/>
                </a:solidFill>
                <a:latin typeface="Tw Cen MT" panose="020B0602020104020603" pitchFamily="34" charset="0"/>
              </a:rPr>
              <a:t>. Ser </a:t>
            </a:r>
            <a:r>
              <a:rPr lang="en-US" sz="1600" dirty="0" err="1">
                <a:solidFill>
                  <a:srgbClr val="CADCFC"/>
                </a:solidFill>
                <a:latin typeface="Tw Cen MT" panose="020B0602020104020603" pitchFamily="34" charset="0"/>
              </a:rPr>
              <a:t>el</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mejor</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significaba</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hacer</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que</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otros</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fallaran</a:t>
            </a:r>
            <a:r>
              <a:rPr lang="en-US" sz="1600" dirty="0">
                <a:solidFill>
                  <a:srgbClr val="CADCFC"/>
                </a:solidFill>
                <a:latin typeface="Tw Cen MT" panose="020B0602020104020603" pitchFamily="34" charset="0"/>
              </a:rPr>
              <a:t>.</a:t>
            </a:r>
            <a:endParaRPr lang="en-US" sz="1600" dirty="0">
              <a:latin typeface="Tw Cen MT" panose="020B0602020104020603" pitchFamily="34" charset="0"/>
            </a:endParaRPr>
          </a:p>
          <a:p>
            <a:endParaRPr lang="en-US" sz="1600" dirty="0">
              <a:latin typeface="Tw Cen MT" panose="020B0602020104020603" pitchFamily="34" charset="0"/>
            </a:endParaRPr>
          </a:p>
          <a:p>
            <a:r>
              <a:rPr lang="en-US" sz="1600" b="1" dirty="0">
                <a:solidFill>
                  <a:srgbClr val="C0392B"/>
                </a:solidFill>
                <a:latin typeface="Tw Cen MT" panose="020B0602020104020603" pitchFamily="34" charset="0"/>
              </a:rPr>
              <a:t>Silos </a:t>
            </a:r>
            <a:r>
              <a:rPr lang="en-US" sz="1600" b="1" dirty="0" err="1">
                <a:solidFill>
                  <a:srgbClr val="C0392B"/>
                </a:solidFill>
                <a:latin typeface="Tw Cen MT" panose="020B0602020104020603" pitchFamily="34" charset="0"/>
              </a:rPr>
              <a:t>funcionales</a:t>
            </a:r>
            <a:r>
              <a:rPr lang="en-US" sz="1600" b="1" dirty="0">
                <a:solidFill>
                  <a:srgbClr val="C0392B"/>
                </a:solidFill>
                <a:latin typeface="Tw Cen MT" panose="020B0602020104020603" pitchFamily="34" charset="0"/>
              </a:rPr>
              <a:t>:</a:t>
            </a:r>
            <a:endParaRPr lang="en-US" sz="1600" dirty="0">
              <a:latin typeface="Tw Cen MT" panose="020B0602020104020603" pitchFamily="34" charset="0"/>
            </a:endParaRPr>
          </a:p>
          <a:p>
            <a:r>
              <a:rPr lang="en-US" sz="1600" dirty="0">
                <a:solidFill>
                  <a:srgbClr val="CADCFC"/>
                </a:solidFill>
                <a:latin typeface="Tw Cen MT" panose="020B0602020104020603" pitchFamily="34" charset="0"/>
              </a:rPr>
              <a:t>Windows, Azure y Office </a:t>
            </a:r>
            <a:r>
              <a:rPr lang="en-US" sz="1600" dirty="0" err="1">
                <a:solidFill>
                  <a:srgbClr val="CADCFC"/>
                </a:solidFill>
                <a:latin typeface="Tw Cen MT" panose="020B0602020104020603" pitchFamily="34" charset="0"/>
              </a:rPr>
              <a:t>operaban</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como</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reinos</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separados</a:t>
            </a:r>
            <a:r>
              <a:rPr lang="en-US" sz="1600" dirty="0">
                <a:solidFill>
                  <a:srgbClr val="CADCFC"/>
                </a:solidFill>
                <a:latin typeface="Tw Cen MT" panose="020B0602020104020603" pitchFamily="34" charset="0"/>
              </a:rPr>
              <a:t>, sin </a:t>
            </a:r>
            <a:r>
              <a:rPr lang="en-US" sz="1600" dirty="0" err="1">
                <a:solidFill>
                  <a:srgbClr val="CADCFC"/>
                </a:solidFill>
                <a:latin typeface="Tw Cen MT" panose="020B0602020104020603" pitchFamily="34" charset="0"/>
              </a:rPr>
              <a:t>colaboración</a:t>
            </a:r>
            <a:r>
              <a:rPr lang="en-US" sz="1600" dirty="0">
                <a:solidFill>
                  <a:srgbClr val="CADCFC"/>
                </a:solidFill>
                <a:latin typeface="Tw Cen MT" panose="020B0602020104020603" pitchFamily="34" charset="0"/>
              </a:rPr>
              <a:t>. Cada </a:t>
            </a:r>
            <a:r>
              <a:rPr lang="en-US" sz="1600" dirty="0" err="1">
                <a:solidFill>
                  <a:srgbClr val="CADCFC"/>
                </a:solidFill>
                <a:latin typeface="Tw Cen MT" panose="020B0602020104020603" pitchFamily="34" charset="0"/>
              </a:rPr>
              <a:t>división</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protegía</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su</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territorio</a:t>
            </a:r>
            <a:r>
              <a:rPr lang="en-US" sz="1600" dirty="0">
                <a:solidFill>
                  <a:srgbClr val="CADCFC"/>
                </a:solidFill>
                <a:latin typeface="Tw Cen MT" panose="020B0602020104020603" pitchFamily="34" charset="0"/>
              </a:rPr>
              <a:t>.</a:t>
            </a:r>
            <a:endParaRPr lang="en-US" sz="1600" dirty="0">
              <a:latin typeface="Tw Cen MT" panose="020B0602020104020603" pitchFamily="34" charset="0"/>
            </a:endParaRPr>
          </a:p>
          <a:p>
            <a:endParaRPr lang="en-US" sz="1600" dirty="0">
              <a:latin typeface="Tw Cen MT" panose="020B0602020104020603" pitchFamily="34" charset="0"/>
            </a:endParaRPr>
          </a:p>
          <a:p>
            <a:r>
              <a:rPr lang="en-US" sz="1600" b="1" dirty="0" err="1">
                <a:solidFill>
                  <a:srgbClr val="C0392B"/>
                </a:solidFill>
                <a:latin typeface="Tw Cen MT" panose="020B0602020104020603" pitchFamily="34" charset="0"/>
              </a:rPr>
              <a:t>Orientación</a:t>
            </a:r>
            <a:r>
              <a:rPr lang="en-US" sz="1600" b="1" dirty="0">
                <a:solidFill>
                  <a:srgbClr val="C0392B"/>
                </a:solidFill>
                <a:latin typeface="Tw Cen MT" panose="020B0602020104020603" pitchFamily="34" charset="0"/>
              </a:rPr>
              <a:t> al </a:t>
            </a:r>
            <a:r>
              <a:rPr lang="en-US" sz="1600" b="1" dirty="0" err="1">
                <a:solidFill>
                  <a:srgbClr val="C0392B"/>
                </a:solidFill>
                <a:latin typeface="Tw Cen MT" panose="020B0602020104020603" pitchFamily="34" charset="0"/>
              </a:rPr>
              <a:t>producto</a:t>
            </a:r>
            <a:r>
              <a:rPr lang="en-US" sz="1600" b="1" dirty="0">
                <a:solidFill>
                  <a:srgbClr val="C0392B"/>
                </a:solidFill>
                <a:latin typeface="Tw Cen MT" panose="020B0602020104020603" pitchFamily="34" charset="0"/>
              </a:rPr>
              <a:t>, no al </a:t>
            </a:r>
            <a:r>
              <a:rPr lang="en-US" sz="1600" b="1" dirty="0" err="1">
                <a:solidFill>
                  <a:srgbClr val="C0392B"/>
                </a:solidFill>
                <a:latin typeface="Tw Cen MT" panose="020B0602020104020603" pitchFamily="34" charset="0"/>
              </a:rPr>
              <a:t>cliente</a:t>
            </a:r>
            <a:r>
              <a:rPr lang="en-US" sz="1600" b="1" dirty="0">
                <a:solidFill>
                  <a:srgbClr val="C0392B"/>
                </a:solidFill>
                <a:latin typeface="Tw Cen MT" panose="020B0602020104020603" pitchFamily="34" charset="0"/>
              </a:rPr>
              <a:t>:</a:t>
            </a:r>
            <a:endParaRPr lang="en-US" sz="1600" dirty="0">
              <a:latin typeface="Tw Cen MT" panose="020B0602020104020603" pitchFamily="34" charset="0"/>
            </a:endParaRPr>
          </a:p>
          <a:p>
            <a:r>
              <a:rPr lang="en-US" sz="1600" dirty="0">
                <a:solidFill>
                  <a:srgbClr val="CADCFC"/>
                </a:solidFill>
                <a:latin typeface="Tw Cen MT" panose="020B0602020104020603" pitchFamily="34" charset="0"/>
              </a:rPr>
              <a:t>La </a:t>
            </a:r>
            <a:r>
              <a:rPr lang="en-US" sz="1600" dirty="0" err="1">
                <a:solidFill>
                  <a:srgbClr val="CADCFC"/>
                </a:solidFill>
                <a:latin typeface="Tw Cen MT" panose="020B0602020104020603" pitchFamily="34" charset="0"/>
              </a:rPr>
              <a:t>organización</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miraba</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hacia</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adentro</a:t>
            </a:r>
            <a:r>
              <a:rPr lang="en-US" sz="1600" dirty="0">
                <a:solidFill>
                  <a:srgbClr val="CADCFC"/>
                </a:solidFill>
                <a:latin typeface="Tw Cen MT" panose="020B0602020104020603" pitchFamily="34" charset="0"/>
              </a:rPr>
              <a:t>. Los </a:t>
            </a:r>
            <a:r>
              <a:rPr lang="en-US" sz="1600" dirty="0" err="1">
                <a:solidFill>
                  <a:srgbClr val="CADCFC"/>
                </a:solidFill>
                <a:latin typeface="Tw Cen MT" panose="020B0602020104020603" pitchFamily="34" charset="0"/>
              </a:rPr>
              <a:t>empleados</a:t>
            </a:r>
            <a:r>
              <a:rPr lang="en-US" sz="1600" dirty="0">
                <a:solidFill>
                  <a:srgbClr val="CADCFC"/>
                </a:solidFill>
                <a:latin typeface="Tw Cen MT" panose="020B0602020104020603" pitchFamily="34" charset="0"/>
              </a:rPr>
              <a:t> no </a:t>
            </a:r>
            <a:r>
              <a:rPr lang="en-US" sz="1600" dirty="0" err="1">
                <a:solidFill>
                  <a:srgbClr val="CADCFC"/>
                </a:solidFill>
                <a:latin typeface="Tw Cen MT" panose="020B0602020104020603" pitchFamily="34" charset="0"/>
              </a:rPr>
              <a:t>entendían</a:t>
            </a:r>
            <a:r>
              <a:rPr lang="en-US" sz="1600" dirty="0">
                <a:solidFill>
                  <a:srgbClr val="CADCFC"/>
                </a:solidFill>
                <a:latin typeface="Tw Cen MT" panose="020B0602020104020603" pitchFamily="34" charset="0"/>
              </a:rPr>
              <a:t> la </a:t>
            </a:r>
            <a:r>
              <a:rPr lang="en-US" sz="1600" dirty="0" err="1">
                <a:solidFill>
                  <a:srgbClr val="CADCFC"/>
                </a:solidFill>
                <a:latin typeface="Tw Cen MT" panose="020B0602020104020603" pitchFamily="34" charset="0"/>
              </a:rPr>
              <a:t>gravedad</a:t>
            </a:r>
            <a:r>
              <a:rPr lang="en-US" sz="1600" dirty="0">
                <a:solidFill>
                  <a:srgbClr val="CADCFC"/>
                </a:solidFill>
                <a:latin typeface="Tw Cen MT" panose="020B0602020104020603" pitchFamily="34" charset="0"/>
              </a:rPr>
              <a:t> del </a:t>
            </a:r>
            <a:r>
              <a:rPr lang="en-US" sz="1600" dirty="0" err="1">
                <a:solidFill>
                  <a:srgbClr val="CADCFC"/>
                </a:solidFill>
                <a:latin typeface="Tw Cen MT" panose="020B0602020104020603" pitchFamily="34" charset="0"/>
              </a:rPr>
              <a:t>estancamiento</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competitivo</a:t>
            </a:r>
            <a:r>
              <a:rPr lang="en-US" sz="1600" dirty="0">
                <a:solidFill>
                  <a:srgbClr val="CADCFC"/>
                </a:solidFill>
                <a:latin typeface="Tw Cen MT" panose="020B0602020104020603" pitchFamily="34" charset="0"/>
              </a:rPr>
              <a:t> </a:t>
            </a:r>
            <a:r>
              <a:rPr lang="en-US" sz="1600" dirty="0" err="1">
                <a:solidFill>
                  <a:srgbClr val="CADCFC"/>
                </a:solidFill>
                <a:latin typeface="Tw Cen MT" panose="020B0602020104020603" pitchFamily="34" charset="0"/>
              </a:rPr>
              <a:t>frente</a:t>
            </a:r>
            <a:r>
              <a:rPr lang="en-US" sz="1600" dirty="0">
                <a:solidFill>
                  <a:srgbClr val="CADCFC"/>
                </a:solidFill>
                <a:latin typeface="Tw Cen MT" panose="020B0602020104020603" pitchFamily="34" charset="0"/>
              </a:rPr>
              <a:t> a Google, Apple y Amazon.</a:t>
            </a:r>
            <a:endParaRPr lang="en-US" sz="1600" dirty="0">
              <a:latin typeface="Tw Cen MT" panose="020B0602020104020603" pitchFamily="34" charset="0"/>
            </a:endParaRPr>
          </a:p>
          <a:p>
            <a:endParaRPr lang="en-US" sz="1500" dirty="0">
              <a:latin typeface="Tw Cen MT" panose="020B0602020104020603" pitchFamily="34" charset="0"/>
            </a:endParaRPr>
          </a:p>
        </p:txBody>
      </p:sp>
      <p:sp>
        <p:nvSpPr>
          <p:cNvPr id="12" name="Shape 10"/>
          <p:cNvSpPr/>
          <p:nvPr/>
        </p:nvSpPr>
        <p:spPr>
          <a:xfrm>
            <a:off x="3090671" y="1020410"/>
            <a:ext cx="2651760" cy="5513600"/>
          </a:xfrm>
          <a:prstGeom prst="rect">
            <a:avLst/>
          </a:prstGeom>
          <a:solidFill>
            <a:srgbClr val="162050"/>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a:latin typeface="Tw Cen MT" panose="020B0602020104020603" pitchFamily="34" charset="0"/>
            </a:endParaRPr>
          </a:p>
        </p:txBody>
      </p:sp>
      <p:sp>
        <p:nvSpPr>
          <p:cNvPr id="14" name="Text 12"/>
          <p:cNvSpPr/>
          <p:nvPr/>
        </p:nvSpPr>
        <p:spPr>
          <a:xfrm>
            <a:off x="3154681" y="1143000"/>
            <a:ext cx="2651760" cy="347472"/>
          </a:xfrm>
          <a:prstGeom prst="rect">
            <a:avLst/>
          </a:prstGeom>
          <a:noFill/>
          <a:ln/>
        </p:spPr>
        <p:txBody>
          <a:bodyPr wrap="square" lIns="0" tIns="0" rIns="0" bIns="0" rtlCol="0" anchor="ctr"/>
          <a:lstStyle/>
          <a:p>
            <a:pPr algn="ctr"/>
            <a:r>
              <a:rPr lang="en-US" sz="1600" b="1" dirty="0">
                <a:solidFill>
                  <a:srgbClr val="E8A020"/>
                </a:solidFill>
                <a:latin typeface="Tw Cen MT" panose="020B0602020104020603" pitchFamily="34" charset="0"/>
              </a:rPr>
              <a:t>INTERVENCIONES EN LA AO</a:t>
            </a:r>
            <a:endParaRPr lang="en-US" sz="1600" dirty="0">
              <a:latin typeface="Tw Cen MT" panose="020B0602020104020603" pitchFamily="34" charset="0"/>
            </a:endParaRPr>
          </a:p>
        </p:txBody>
      </p:sp>
      <p:sp>
        <p:nvSpPr>
          <p:cNvPr id="15" name="Text 13"/>
          <p:cNvSpPr/>
          <p:nvPr/>
        </p:nvSpPr>
        <p:spPr>
          <a:xfrm>
            <a:off x="3005004" y="1689161"/>
            <a:ext cx="2651759" cy="2423160"/>
          </a:xfrm>
          <a:prstGeom prst="rect">
            <a:avLst/>
          </a:prstGeom>
          <a:noFill/>
          <a:ln/>
        </p:spPr>
        <p:txBody>
          <a:bodyPr wrap="square" lIns="0" tIns="0" rIns="0" bIns="0" rtlCol="0" anchor="t"/>
          <a:lstStyle/>
          <a:p>
            <a:endParaRPr lang="en-US" sz="1600" dirty="0">
              <a:latin typeface="Tw Cen MT" panose="020B0602020104020603" pitchFamily="34" charset="0"/>
            </a:endParaRPr>
          </a:p>
        </p:txBody>
      </p:sp>
      <p:sp>
        <p:nvSpPr>
          <p:cNvPr id="16" name="Shape 14"/>
          <p:cNvSpPr/>
          <p:nvPr/>
        </p:nvSpPr>
        <p:spPr>
          <a:xfrm>
            <a:off x="6007606" y="1108579"/>
            <a:ext cx="3136393" cy="5590603"/>
          </a:xfrm>
          <a:prstGeom prst="rect">
            <a:avLst/>
          </a:prstGeom>
          <a:solidFill>
            <a:srgbClr val="162050"/>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a:latin typeface="Tw Cen MT" panose="020B0602020104020603" pitchFamily="34" charset="0"/>
            </a:endParaRPr>
          </a:p>
        </p:txBody>
      </p:sp>
      <p:sp>
        <p:nvSpPr>
          <p:cNvPr id="18" name="Text 16"/>
          <p:cNvSpPr/>
          <p:nvPr/>
        </p:nvSpPr>
        <p:spPr>
          <a:xfrm>
            <a:off x="5998464" y="1136142"/>
            <a:ext cx="2651760" cy="347472"/>
          </a:xfrm>
          <a:prstGeom prst="rect">
            <a:avLst/>
          </a:prstGeom>
          <a:noFill/>
          <a:ln/>
        </p:spPr>
        <p:txBody>
          <a:bodyPr wrap="square" lIns="0" tIns="0" rIns="0" bIns="0" rtlCol="0" anchor="ctr"/>
          <a:lstStyle/>
          <a:p>
            <a:pPr algn="ctr"/>
            <a:r>
              <a:rPr lang="en-US" sz="1600" b="1" dirty="0">
                <a:solidFill>
                  <a:srgbClr val="2ECC71"/>
                </a:solidFill>
                <a:latin typeface="Tw Cen MT" panose="020B0602020104020603" pitchFamily="34" charset="0"/>
              </a:rPr>
              <a:t>RESULTADOS (2014–2024)</a:t>
            </a:r>
            <a:endParaRPr lang="en-US" sz="1600" dirty="0">
              <a:latin typeface="Tw Cen MT" panose="020B0602020104020603" pitchFamily="34" charset="0"/>
            </a:endParaRPr>
          </a:p>
        </p:txBody>
      </p:sp>
      <p:sp>
        <p:nvSpPr>
          <p:cNvPr id="19" name="Text 17"/>
          <p:cNvSpPr/>
          <p:nvPr/>
        </p:nvSpPr>
        <p:spPr>
          <a:xfrm>
            <a:off x="6217920" y="1668238"/>
            <a:ext cx="2432304" cy="2423160"/>
          </a:xfrm>
          <a:prstGeom prst="rect">
            <a:avLst/>
          </a:prstGeom>
          <a:noFill/>
          <a:ln/>
        </p:spPr>
        <p:txBody>
          <a:bodyPr wrap="square" lIns="0" tIns="0" rIns="0" bIns="0" rtlCol="0" anchor="t"/>
          <a:lstStyle/>
          <a:p>
            <a:endParaRPr lang="en-US" sz="1600" dirty="0">
              <a:latin typeface="Tw Cen MT" panose="020B0602020104020603" pitchFamily="34" charset="0"/>
            </a:endParaRPr>
          </a:p>
        </p:txBody>
      </p:sp>
      <p:sp>
        <p:nvSpPr>
          <p:cNvPr id="21" name="Text 13"/>
          <p:cNvSpPr/>
          <p:nvPr/>
        </p:nvSpPr>
        <p:spPr>
          <a:xfrm>
            <a:off x="3224459" y="1697545"/>
            <a:ext cx="2432304" cy="2487168"/>
          </a:xfrm>
          <a:prstGeom prst="rect">
            <a:avLst/>
          </a:prstGeom>
          <a:noFill/>
          <a:ln/>
        </p:spPr>
        <p:txBody>
          <a:bodyPr wrap="square" lIns="0" tIns="0" rIns="0" bIns="0" rtlCol="0" anchor="t"/>
          <a:lstStyle/>
          <a:p>
            <a:r>
              <a:rPr lang="en-US" sz="1400" b="1" dirty="0">
                <a:solidFill>
                  <a:srgbClr val="E8A020"/>
                </a:solidFill>
                <a:latin typeface="Tw Cen MT" panose="020B0602020104020603" pitchFamily="34" charset="0"/>
              </a:rPr>
              <a:t>Rediseño de equipos:</a:t>
            </a:r>
            <a:endParaRPr lang="en-US" sz="1400" dirty="0">
              <a:latin typeface="Tw Cen MT" panose="020B0602020104020603" pitchFamily="34" charset="0"/>
            </a:endParaRPr>
          </a:p>
          <a:p>
            <a:r>
              <a:rPr lang="en-US" sz="1400" dirty="0">
                <a:solidFill>
                  <a:srgbClr val="CADCFC"/>
                </a:solidFill>
                <a:latin typeface="Tw Cen MT" panose="020B0602020104020603" pitchFamily="34" charset="0"/>
              </a:rPr>
              <a:t>equipos interfuncionales, eliminación de jerarquías innecesarias y autonomía para </a:t>
            </a:r>
            <a:r>
              <a:rPr lang="en-US" sz="1400" dirty="0" err="1">
                <a:solidFill>
                  <a:srgbClr val="CADCFC"/>
                </a:solidFill>
                <a:latin typeface="Tw Cen MT" panose="020B0602020104020603" pitchFamily="34" charset="0"/>
              </a:rPr>
              <a:t>experimentar</a:t>
            </a:r>
            <a:r>
              <a:rPr lang="en-US" sz="1400" dirty="0">
                <a:solidFill>
                  <a:srgbClr val="CADCFC"/>
                </a:solidFill>
                <a:latin typeface="Tw Cen MT" panose="020B0602020104020603" pitchFamily="34" charset="0"/>
              </a:rPr>
              <a:t>.</a:t>
            </a:r>
            <a:endParaRPr lang="en-US" sz="1400" dirty="0">
              <a:latin typeface="Tw Cen MT" panose="020B0602020104020603" pitchFamily="34" charset="0"/>
            </a:endParaRPr>
          </a:p>
          <a:p>
            <a:endParaRPr lang="en-US" sz="1400" dirty="0">
              <a:latin typeface="Tw Cen MT" panose="020B0602020104020603" pitchFamily="34" charset="0"/>
            </a:endParaRPr>
          </a:p>
          <a:p>
            <a:r>
              <a:rPr lang="en-US" sz="1400" b="1" dirty="0">
                <a:solidFill>
                  <a:srgbClr val="E8A020"/>
                </a:solidFill>
                <a:latin typeface="Tw Cen MT" panose="020B0602020104020603" pitchFamily="34" charset="0"/>
              </a:rPr>
              <a:t>Trabajo en red:</a:t>
            </a:r>
            <a:endParaRPr lang="en-US" sz="1400" dirty="0">
              <a:latin typeface="Tw Cen MT" panose="020B0602020104020603" pitchFamily="34" charset="0"/>
            </a:endParaRPr>
          </a:p>
          <a:p>
            <a:r>
              <a:rPr lang="en-US" sz="1400" dirty="0">
                <a:solidFill>
                  <a:srgbClr val="CADCFC"/>
                </a:solidFill>
                <a:latin typeface="Tw Cen MT" panose="020B0602020104020603" pitchFamily="34" charset="0"/>
              </a:rPr>
              <a:t>Windows, Azure y Office comenzaron a colaborar activamente integrando lo que antes operaba en silos.</a:t>
            </a:r>
            <a:endParaRPr lang="en-US" sz="1400" dirty="0">
              <a:latin typeface="Tw Cen MT" panose="020B0602020104020603" pitchFamily="34" charset="0"/>
            </a:endParaRPr>
          </a:p>
          <a:p>
            <a:endParaRPr lang="en-US" sz="1400" dirty="0">
              <a:latin typeface="Tw Cen MT" panose="020B0602020104020603" pitchFamily="34" charset="0"/>
            </a:endParaRPr>
          </a:p>
          <a:p>
            <a:r>
              <a:rPr lang="en-US" sz="1400" b="1" dirty="0">
                <a:solidFill>
                  <a:srgbClr val="E8A020"/>
                </a:solidFill>
                <a:latin typeface="Tw Cen MT" panose="020B0602020104020603" pitchFamily="34" charset="0"/>
              </a:rPr>
              <a:t>Nuevo sistema de evaluación:</a:t>
            </a:r>
            <a:endParaRPr lang="en-US" sz="1400" dirty="0">
              <a:latin typeface="Tw Cen MT" panose="020B0602020104020603" pitchFamily="34" charset="0"/>
            </a:endParaRPr>
          </a:p>
          <a:p>
            <a:r>
              <a:rPr lang="en-US" sz="1400" dirty="0">
                <a:solidFill>
                  <a:srgbClr val="CADCFC"/>
                </a:solidFill>
                <a:latin typeface="Tw Cen MT" panose="020B0602020104020603" pitchFamily="34" charset="0"/>
              </a:rPr>
              <a:t>se eliminó el stack ranking. Se premió el impacto colectivo y la satisfacción del cliente, no el rendimiento individual.</a:t>
            </a:r>
            <a:endParaRPr lang="en-US" sz="1400" dirty="0">
              <a:latin typeface="Tw Cen MT" panose="020B0602020104020603" pitchFamily="34" charset="0"/>
            </a:endParaRPr>
          </a:p>
          <a:p>
            <a:endParaRPr lang="en-US" sz="1400" dirty="0">
              <a:latin typeface="Tw Cen MT" panose="020B0602020104020603" pitchFamily="34" charset="0"/>
            </a:endParaRPr>
          </a:p>
          <a:p>
            <a:r>
              <a:rPr lang="en-US" sz="1400" b="1" dirty="0">
                <a:solidFill>
                  <a:srgbClr val="E8A020"/>
                </a:solidFill>
                <a:latin typeface="Tw Cen MT" panose="020B0602020104020603" pitchFamily="34" charset="0"/>
              </a:rPr>
              <a:t>Comunicación y propósito:</a:t>
            </a:r>
            <a:endParaRPr lang="en-US" sz="1400" dirty="0">
              <a:latin typeface="Tw Cen MT" panose="020B0602020104020603" pitchFamily="34" charset="0"/>
            </a:endParaRPr>
          </a:p>
          <a:p>
            <a:r>
              <a:rPr lang="en-US" sz="1400" dirty="0">
                <a:solidFill>
                  <a:srgbClr val="CADCFC"/>
                </a:solidFill>
                <a:latin typeface="Tw Cen MT" panose="020B0602020104020603" pitchFamily="34" charset="0"/>
              </a:rPr>
              <a:t>toda la org. alineada detrás de un nuevo norte: empoderar a cada persona y organización del planeta.</a:t>
            </a:r>
            <a:endParaRPr lang="en-US" sz="1400" dirty="0">
              <a:latin typeface="Tw Cen MT" panose="020B0602020104020603" pitchFamily="34" charset="0"/>
            </a:endParaRPr>
          </a:p>
        </p:txBody>
      </p:sp>
      <p:sp>
        <p:nvSpPr>
          <p:cNvPr id="22" name="Text 17"/>
          <p:cNvSpPr/>
          <p:nvPr/>
        </p:nvSpPr>
        <p:spPr>
          <a:xfrm>
            <a:off x="6315130" y="1689161"/>
            <a:ext cx="2636848" cy="2423160"/>
          </a:xfrm>
          <a:prstGeom prst="rect">
            <a:avLst/>
          </a:prstGeom>
          <a:noFill/>
          <a:ln/>
        </p:spPr>
        <p:txBody>
          <a:bodyPr wrap="square" lIns="0" tIns="0" rIns="0" bIns="0" rtlCol="0" anchor="t"/>
          <a:lstStyle/>
          <a:p>
            <a:r>
              <a:rPr lang="en-US" sz="1600" b="1" dirty="0">
                <a:solidFill>
                  <a:srgbClr val="2ECC71"/>
                </a:solidFill>
                <a:latin typeface="Tw Cen MT" panose="020B0602020104020603" pitchFamily="34" charset="0"/>
              </a:rPr>
              <a:t>Capitalización: </a:t>
            </a:r>
            <a:r>
              <a:rPr lang="en-US" sz="1600" dirty="0">
                <a:solidFill>
                  <a:srgbClr val="CADCFC"/>
                </a:solidFill>
                <a:latin typeface="Tw Cen MT" panose="020B0602020104020603" pitchFamily="34" charset="0"/>
              </a:rPr>
              <a:t> </a:t>
            </a:r>
            <a:r>
              <a:rPr lang="en-US" sz="1600" b="1" dirty="0">
                <a:solidFill>
                  <a:srgbClr val="FFFFFF"/>
                </a:solidFill>
                <a:latin typeface="Tw Cen MT" panose="020B0602020104020603" pitchFamily="34" charset="0"/>
              </a:rPr>
              <a:t>+900%</a:t>
            </a:r>
            <a:endParaRPr lang="en-US" sz="1600" dirty="0">
              <a:latin typeface="Tw Cen MT" panose="020B0602020104020603" pitchFamily="34" charset="0"/>
            </a:endParaRPr>
          </a:p>
          <a:p>
            <a:endParaRPr lang="en-US" sz="1600" dirty="0">
              <a:latin typeface="Tw Cen MT" panose="020B0602020104020603" pitchFamily="34" charset="0"/>
            </a:endParaRPr>
          </a:p>
          <a:p>
            <a:r>
              <a:rPr lang="en-US" sz="1600" b="1" dirty="0">
                <a:solidFill>
                  <a:srgbClr val="2ECC71"/>
                </a:solidFill>
                <a:latin typeface="Tw Cen MT" panose="020B0602020104020603" pitchFamily="34" charset="0"/>
              </a:rPr>
              <a:t>Azure: </a:t>
            </a:r>
            <a:endParaRPr lang="en-US" sz="1600" dirty="0">
              <a:latin typeface="Tw Cen MT" panose="020B0602020104020603" pitchFamily="34" charset="0"/>
            </a:endParaRPr>
          </a:p>
          <a:p>
            <a:r>
              <a:rPr lang="en-US" sz="1600" dirty="0">
                <a:solidFill>
                  <a:srgbClr val="CADCFC"/>
                </a:solidFill>
                <a:latin typeface="Tw Cen MT" panose="020B0602020104020603" pitchFamily="34" charset="0"/>
              </a:rPr>
              <a:t> </a:t>
            </a:r>
            <a:r>
              <a:rPr lang="en-US" sz="1600" b="1" dirty="0">
                <a:solidFill>
                  <a:srgbClr val="FFFFFF"/>
                </a:solidFill>
                <a:latin typeface="Tw Cen MT" panose="020B0602020104020603" pitchFamily="34" charset="0"/>
              </a:rPr>
              <a:t>2° nube del mundo</a:t>
            </a:r>
            <a:r>
              <a:rPr lang="en-US" sz="1600" dirty="0">
                <a:solidFill>
                  <a:srgbClr val="CADCFC"/>
                </a:solidFill>
                <a:latin typeface="Tw Cen MT" panose="020B0602020104020603" pitchFamily="34" charset="0"/>
              </a:rPr>
              <a:t>, con más del 29% del mercado cloud global</a:t>
            </a:r>
            <a:endParaRPr lang="en-US" sz="1600" dirty="0">
              <a:latin typeface="Tw Cen MT" panose="020B0602020104020603" pitchFamily="34" charset="0"/>
            </a:endParaRPr>
          </a:p>
          <a:p>
            <a:endParaRPr lang="en-US" sz="1600" dirty="0">
              <a:latin typeface="Tw Cen MT" panose="020B0602020104020603" pitchFamily="34" charset="0"/>
            </a:endParaRPr>
          </a:p>
          <a:p>
            <a:r>
              <a:rPr lang="en-US" sz="1600" b="1" dirty="0">
                <a:solidFill>
                  <a:srgbClr val="2ECC71"/>
                </a:solidFill>
                <a:latin typeface="Tw Cen MT" panose="020B0602020104020603" pitchFamily="34" charset="0"/>
              </a:rPr>
              <a:t>Cultura: </a:t>
            </a:r>
            <a:endParaRPr lang="en-US" sz="1600" dirty="0">
              <a:latin typeface="Tw Cen MT" panose="020B0602020104020603" pitchFamily="34" charset="0"/>
            </a:endParaRPr>
          </a:p>
          <a:p>
            <a:r>
              <a:rPr lang="en-US" sz="1600" dirty="0" err="1">
                <a:solidFill>
                  <a:srgbClr val="CADCFC"/>
                </a:solidFill>
                <a:latin typeface="Tw Cen MT" panose="020B0602020104020603" pitchFamily="34" charset="0"/>
              </a:rPr>
              <a:t>Volvió</a:t>
            </a:r>
            <a:r>
              <a:rPr lang="en-US" sz="1600" dirty="0">
                <a:solidFill>
                  <a:srgbClr val="CADCFC"/>
                </a:solidFill>
                <a:latin typeface="Tw Cen MT" panose="020B0602020104020603" pitchFamily="34" charset="0"/>
              </a:rPr>
              <a:t> a ser uno de los empleadores más deseados del mundo</a:t>
            </a:r>
            <a:endParaRPr lang="en-US" sz="1600" dirty="0">
              <a:latin typeface="Tw Cen MT" panose="020B0602020104020603" pitchFamily="34" charset="0"/>
            </a:endParaRPr>
          </a:p>
          <a:p>
            <a:endParaRPr lang="en-US" sz="1600" dirty="0">
              <a:latin typeface="Tw Cen MT" panose="020B0602020104020603" pitchFamily="34" charset="0"/>
            </a:endParaRPr>
          </a:p>
          <a:p>
            <a:r>
              <a:rPr lang="en-US" sz="1600" b="1" dirty="0">
                <a:solidFill>
                  <a:srgbClr val="2ECC71"/>
                </a:solidFill>
                <a:latin typeface="Tw Cen MT" panose="020B0602020104020603" pitchFamily="34" charset="0"/>
              </a:rPr>
              <a:t>IA: </a:t>
            </a:r>
            <a:endParaRPr lang="en-US" sz="1600" dirty="0">
              <a:latin typeface="Tw Cen MT" panose="020B0602020104020603" pitchFamily="34" charset="0"/>
            </a:endParaRPr>
          </a:p>
          <a:p>
            <a:r>
              <a:rPr lang="en-US" sz="1600" dirty="0">
                <a:solidFill>
                  <a:srgbClr val="CADCFC"/>
                </a:solidFill>
                <a:latin typeface="Tw Cen MT" panose="020B0602020104020603" pitchFamily="34" charset="0"/>
              </a:rPr>
              <a:t>inversión en OpenAI y Copilot la posicionaron como líder en IA empresarial</a:t>
            </a:r>
            <a:endParaRPr lang="en-US" sz="1600" dirty="0">
              <a:latin typeface="Tw Cen MT" panose="020B0602020104020603" pitchFamily="34" charset="0"/>
            </a:endParaRPr>
          </a:p>
          <a:p>
            <a:endParaRPr lang="en-US" sz="1600" dirty="0">
              <a:latin typeface="Tw Cen MT" panose="020B0602020104020603" pitchFamily="34" charset="0"/>
            </a:endParaRPr>
          </a:p>
          <a:p>
            <a:r>
              <a:rPr lang="en-US" sz="1600" b="1" dirty="0">
                <a:solidFill>
                  <a:srgbClr val="FFFFFF"/>
                </a:solidFill>
                <a:latin typeface="Tw Cen MT" panose="020B0602020104020603" pitchFamily="34" charset="0"/>
              </a:rPr>
              <a:t>Empresa más valiosa del </a:t>
            </a:r>
            <a:r>
              <a:rPr lang="en-US" sz="1600" b="1" dirty="0" err="1">
                <a:solidFill>
                  <a:srgbClr val="FFFFFF"/>
                </a:solidFill>
                <a:latin typeface="Tw Cen MT" panose="020B0602020104020603" pitchFamily="34" charset="0"/>
              </a:rPr>
              <a:t>mundo</a:t>
            </a:r>
            <a:r>
              <a:rPr lang="en-US" sz="1600" b="1" dirty="0">
                <a:solidFill>
                  <a:srgbClr val="FFFFFF"/>
                </a:solidFill>
                <a:latin typeface="Tw Cen MT" panose="020B0602020104020603" pitchFamily="34" charset="0"/>
              </a:rPr>
              <a:t> </a:t>
            </a:r>
            <a:r>
              <a:rPr lang="en-US" sz="1600" dirty="0" err="1">
                <a:solidFill>
                  <a:srgbClr val="CADCFC"/>
                </a:solidFill>
                <a:latin typeface="Tw Cen MT" panose="020B0602020104020603" pitchFamily="34" charset="0"/>
              </a:rPr>
              <a:t>en</a:t>
            </a:r>
            <a:r>
              <a:rPr lang="en-US" sz="1600" dirty="0">
                <a:solidFill>
                  <a:srgbClr val="CADCFC"/>
                </a:solidFill>
                <a:latin typeface="Tw Cen MT" panose="020B0602020104020603" pitchFamily="34" charset="0"/>
              </a:rPr>
              <a:t> 2024.</a:t>
            </a:r>
            <a:endParaRPr lang="en-US" sz="1600" dirty="0">
              <a:latin typeface="Tw Cen MT" panose="020B0602020104020603" pitchFamily="34" charset="0"/>
            </a:endParaRPr>
          </a:p>
        </p:txBody>
      </p:sp>
    </p:spTree>
    <p:extLst>
      <p:ext uri="{BB962C8B-B14F-4D97-AF65-F5344CB8AC3E}">
        <p14:creationId xmlns:p14="http://schemas.microsoft.com/office/powerpoint/2010/main" val="1683699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a:extLst>
            <a:ext uri="{FF2B5EF4-FFF2-40B4-BE49-F238E27FC236}">
              <a16:creationId xmlns:a16="http://schemas.microsoft.com/office/drawing/2014/main" id="{6C5D9F37-CC5C-6D33-51F4-15955D5D9A4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00920C-31B8-DCFE-D0AE-54E9516968D3}"/>
              </a:ext>
            </a:extLst>
          </p:cNvPr>
          <p:cNvSpPr/>
          <p:nvPr/>
        </p:nvSpPr>
        <p:spPr>
          <a:xfrm>
            <a:off x="0" y="0"/>
            <a:ext cx="9144000" cy="1066800"/>
          </a:xfrm>
          <a:prstGeom prst="rect">
            <a:avLst/>
          </a:prstGeom>
          <a:solidFill>
            <a:srgbClr val="11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hape 1">
            <a:extLst>
              <a:ext uri="{FF2B5EF4-FFF2-40B4-BE49-F238E27FC236}">
                <a16:creationId xmlns:a16="http://schemas.microsoft.com/office/drawing/2014/main" id="{3C59B9AC-D56E-F614-BD34-FDC830CD2A89}"/>
              </a:ext>
            </a:extLst>
          </p:cNvPr>
          <p:cNvSpPr/>
          <p:nvPr/>
        </p:nvSpPr>
        <p:spPr>
          <a:xfrm>
            <a:off x="164592" y="857250"/>
            <a:ext cx="8979408" cy="90768"/>
          </a:xfrm>
          <a:prstGeom prst="rect">
            <a:avLst/>
          </a:prstGeom>
          <a:solidFill>
            <a:srgbClr val="162050"/>
          </a:solidFill>
          <a:ln w="12700">
            <a:solidFill>
              <a:srgbClr val="162050"/>
            </a:solidFill>
            <a:prstDash val="solid"/>
          </a:ln>
        </p:spPr>
        <p:txBody>
          <a:bodyPr/>
          <a:lstStyle/>
          <a:p>
            <a:endParaRPr lang="en-US">
              <a:latin typeface="Tw Cen MT" panose="020B0602020104020603" pitchFamily="34" charset="0"/>
            </a:endParaRPr>
          </a:p>
        </p:txBody>
      </p:sp>
      <p:sp>
        <p:nvSpPr>
          <p:cNvPr id="7" name="Text 4">
            <a:extLst>
              <a:ext uri="{FF2B5EF4-FFF2-40B4-BE49-F238E27FC236}">
                <a16:creationId xmlns:a16="http://schemas.microsoft.com/office/drawing/2014/main" id="{33B97BB7-5899-61FD-EAC9-ED2CBBA662D7}"/>
              </a:ext>
            </a:extLst>
          </p:cNvPr>
          <p:cNvSpPr/>
          <p:nvPr/>
        </p:nvSpPr>
        <p:spPr>
          <a:xfrm>
            <a:off x="304799" y="310703"/>
            <a:ext cx="8503920" cy="521208"/>
          </a:xfrm>
          <a:prstGeom prst="rect">
            <a:avLst/>
          </a:prstGeom>
          <a:noFill/>
          <a:ln/>
        </p:spPr>
        <p:txBody>
          <a:bodyPr wrap="square" lIns="0" tIns="0" rIns="0" bIns="0" rtlCol="0" anchor="ctr"/>
          <a:lstStyle/>
          <a:p>
            <a:r>
              <a:rPr lang="en-US" sz="2400" b="1" dirty="0">
                <a:solidFill>
                  <a:srgbClr val="FFC000"/>
                </a:solidFill>
                <a:latin typeface="Tw Cen MT" panose="020B0602020104020603" pitchFamily="34" charset="0"/>
              </a:rPr>
              <a:t>Caso: </a:t>
            </a:r>
            <a:r>
              <a:rPr lang="en-US" sz="2400" b="1" dirty="0">
                <a:solidFill>
                  <a:srgbClr val="FFFFFF"/>
                </a:solidFill>
                <a:latin typeface="Tw Cen MT" panose="020B0602020104020603" pitchFamily="34" charset="0"/>
              </a:rPr>
              <a:t>Best Buy — La transformación organizacional que </a:t>
            </a:r>
            <a:r>
              <a:rPr lang="en-US" sz="2400" b="1" dirty="0" err="1">
                <a:solidFill>
                  <a:srgbClr val="FFFFFF"/>
                </a:solidFill>
                <a:latin typeface="Tw Cen MT" panose="020B0602020104020603" pitchFamily="34" charset="0"/>
              </a:rPr>
              <a:t>nadie</a:t>
            </a:r>
            <a:r>
              <a:rPr lang="en-US" sz="2400" b="1" dirty="0">
                <a:solidFill>
                  <a:srgbClr val="FFFFFF"/>
                </a:solidFill>
                <a:latin typeface="Tw Cen MT" panose="020B0602020104020603" pitchFamily="34" charset="0"/>
              </a:rPr>
              <a:t> </a:t>
            </a:r>
            <a:r>
              <a:rPr lang="en-US" sz="2400" b="1" dirty="0" err="1">
                <a:solidFill>
                  <a:srgbClr val="FFFFFF"/>
                </a:solidFill>
                <a:latin typeface="Tw Cen MT" panose="020B0602020104020603" pitchFamily="34" charset="0"/>
              </a:rPr>
              <a:t>esperaba</a:t>
            </a:r>
            <a:r>
              <a:rPr lang="en-US" sz="2400" b="1" dirty="0">
                <a:solidFill>
                  <a:srgbClr val="FFFFFF"/>
                </a:solidFill>
                <a:latin typeface="Tw Cen MT" panose="020B0602020104020603" pitchFamily="34" charset="0"/>
              </a:rPr>
              <a:t>  (2013 – 2019)</a:t>
            </a:r>
            <a:endParaRPr lang="en-US" sz="2400" dirty="0">
              <a:latin typeface="Tw Cen MT" panose="020B0602020104020603" pitchFamily="34" charset="0"/>
            </a:endParaRPr>
          </a:p>
        </p:txBody>
      </p:sp>
      <p:sp>
        <p:nvSpPr>
          <p:cNvPr id="8" name="Shape 6">
            <a:extLst>
              <a:ext uri="{FF2B5EF4-FFF2-40B4-BE49-F238E27FC236}">
                <a16:creationId xmlns:a16="http://schemas.microsoft.com/office/drawing/2014/main" id="{7B5EA932-7758-5833-B455-855E852BECD3}"/>
              </a:ext>
            </a:extLst>
          </p:cNvPr>
          <p:cNvSpPr/>
          <p:nvPr/>
        </p:nvSpPr>
        <p:spPr>
          <a:xfrm>
            <a:off x="256032" y="1185581"/>
            <a:ext cx="2651760" cy="5513601"/>
          </a:xfrm>
          <a:prstGeom prst="rect">
            <a:avLst/>
          </a:prstGeom>
          <a:solidFill>
            <a:srgbClr val="162050"/>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sz="1600" dirty="0">
              <a:latin typeface="Tw Cen MT" panose="020B0602020104020603" pitchFamily="34" charset="0"/>
            </a:endParaRPr>
          </a:p>
        </p:txBody>
      </p:sp>
      <p:sp>
        <p:nvSpPr>
          <p:cNvPr id="10" name="Text 8">
            <a:extLst>
              <a:ext uri="{FF2B5EF4-FFF2-40B4-BE49-F238E27FC236}">
                <a16:creationId xmlns:a16="http://schemas.microsoft.com/office/drawing/2014/main" id="{43FFC619-E0D4-7B46-5CBC-97E4FC2EC162}"/>
              </a:ext>
            </a:extLst>
          </p:cNvPr>
          <p:cNvSpPr/>
          <p:nvPr/>
        </p:nvSpPr>
        <p:spPr>
          <a:xfrm>
            <a:off x="265176" y="1160616"/>
            <a:ext cx="2651760" cy="347472"/>
          </a:xfrm>
          <a:prstGeom prst="rect">
            <a:avLst/>
          </a:prstGeom>
          <a:noFill/>
          <a:ln/>
        </p:spPr>
        <p:txBody>
          <a:bodyPr wrap="square" lIns="0" tIns="0" rIns="0" bIns="0" rtlCol="0" anchor="ctr"/>
          <a:lstStyle/>
          <a:p>
            <a:pPr algn="ctr"/>
            <a:r>
              <a:rPr lang="en-US" b="1" dirty="0">
                <a:solidFill>
                  <a:srgbClr val="C0392B"/>
                </a:solidFill>
                <a:latin typeface="Tw Cen MT" panose="020B0602020104020603" pitchFamily="34" charset="0"/>
              </a:rPr>
              <a:t>ANTES DE JOLY (2012)</a:t>
            </a:r>
            <a:endParaRPr lang="en-US" dirty="0">
              <a:latin typeface="Tw Cen MT" panose="020B0602020104020603" pitchFamily="34" charset="0"/>
            </a:endParaRPr>
          </a:p>
        </p:txBody>
      </p:sp>
      <p:sp>
        <p:nvSpPr>
          <p:cNvPr id="11" name="Text 9">
            <a:extLst>
              <a:ext uri="{FF2B5EF4-FFF2-40B4-BE49-F238E27FC236}">
                <a16:creationId xmlns:a16="http://schemas.microsoft.com/office/drawing/2014/main" id="{91269CE8-5D72-590F-7F8B-F3C29DDD51CD}"/>
              </a:ext>
            </a:extLst>
          </p:cNvPr>
          <p:cNvSpPr/>
          <p:nvPr/>
        </p:nvSpPr>
        <p:spPr>
          <a:xfrm>
            <a:off x="475488" y="1714970"/>
            <a:ext cx="2432304" cy="2423160"/>
          </a:xfrm>
          <a:prstGeom prst="rect">
            <a:avLst/>
          </a:prstGeom>
          <a:noFill/>
          <a:ln/>
        </p:spPr>
        <p:txBody>
          <a:bodyPr wrap="square" lIns="0" tIns="0" rIns="0" bIns="0" rtlCol="0" anchor="t"/>
          <a:lstStyle/>
          <a:p>
            <a:r>
              <a:rPr lang="en-US" b="1" dirty="0">
                <a:solidFill>
                  <a:srgbClr val="C0392B"/>
                </a:solidFill>
                <a:latin typeface="Tw Cen MT" panose="020B0602020104020603" pitchFamily="34" charset="0"/>
              </a:rPr>
              <a:t>Amenaza existencial:</a:t>
            </a:r>
            <a:endParaRPr lang="en-US" dirty="0">
              <a:latin typeface="Tw Cen MT" panose="020B0602020104020603" pitchFamily="34" charset="0"/>
            </a:endParaRPr>
          </a:p>
          <a:p>
            <a:r>
              <a:rPr lang="en-US" sz="1500" dirty="0">
                <a:solidFill>
                  <a:srgbClr val="CADCFC"/>
                </a:solidFill>
                <a:latin typeface="Tw Cen MT" panose="020B0602020104020603" pitchFamily="34" charset="0"/>
              </a:rPr>
              <a:t>Amazon destruía el retail de electrónica. Best Buy era el destino para ver productos que luego se compraban online. La acción cotizaba a </a:t>
            </a:r>
            <a:r>
              <a:rPr lang="en-US" sz="1500" b="1" dirty="0">
                <a:solidFill>
                  <a:srgbClr val="FFFFFF"/>
                </a:solidFill>
                <a:latin typeface="Tw Cen MT" panose="020B0602020104020603" pitchFamily="34" charset="0"/>
              </a:rPr>
              <a:t>USD 11</a:t>
            </a:r>
            <a:r>
              <a:rPr lang="en-US" sz="1500" dirty="0">
                <a:solidFill>
                  <a:srgbClr val="CADCFC"/>
                </a:solidFill>
                <a:latin typeface="Tw Cen MT" panose="020B0602020104020603" pitchFamily="34" charset="0"/>
              </a:rPr>
              <a:t>. El consenso del mercado: la empresa no iba a sobrevivir.</a:t>
            </a:r>
            <a:endParaRPr lang="en-US" sz="1500" dirty="0">
              <a:latin typeface="Tw Cen MT" panose="020B0602020104020603" pitchFamily="34" charset="0"/>
            </a:endParaRPr>
          </a:p>
          <a:p>
            <a:endParaRPr lang="en-US" sz="1500" dirty="0">
              <a:latin typeface="Tw Cen MT" panose="020B0602020104020603" pitchFamily="34" charset="0"/>
            </a:endParaRPr>
          </a:p>
          <a:p>
            <a:r>
              <a:rPr lang="en-US" b="1" dirty="0">
                <a:solidFill>
                  <a:srgbClr val="C0392B"/>
                </a:solidFill>
                <a:latin typeface="Tw Cen MT" panose="020B0602020104020603" pitchFamily="34" charset="0"/>
              </a:rPr>
              <a:t>Cultura disfuncional:</a:t>
            </a:r>
            <a:endParaRPr lang="en-US" dirty="0">
              <a:latin typeface="Tw Cen MT" panose="020B0602020104020603" pitchFamily="34" charset="0"/>
            </a:endParaRPr>
          </a:p>
          <a:p>
            <a:r>
              <a:rPr lang="en-US" sz="1500" dirty="0">
                <a:solidFill>
                  <a:srgbClr val="CADCFC"/>
                </a:solidFill>
                <a:latin typeface="Tw Cen MT" panose="020B0602020104020603" pitchFamily="34" charset="0"/>
              </a:rPr>
              <a:t>silos entre funciones, liderazgo de "comando y control", empleados de primera línea ignorados por la dirección. La organización miraba hacia adentro, no hacia el cliente.</a:t>
            </a:r>
            <a:endParaRPr lang="en-US" sz="1500" dirty="0">
              <a:latin typeface="Tw Cen MT" panose="020B0602020104020603" pitchFamily="34" charset="0"/>
            </a:endParaRPr>
          </a:p>
          <a:p>
            <a:endParaRPr lang="en-US" sz="1500" dirty="0">
              <a:latin typeface="Tw Cen MT" panose="020B0602020104020603" pitchFamily="34" charset="0"/>
            </a:endParaRPr>
          </a:p>
          <a:p>
            <a:r>
              <a:rPr lang="en-US" b="1" dirty="0">
                <a:solidFill>
                  <a:srgbClr val="C0392B"/>
                </a:solidFill>
                <a:latin typeface="Tw Cen MT" panose="020B0602020104020603" pitchFamily="34" charset="0"/>
              </a:rPr>
              <a:t>Consejo del mercado:</a:t>
            </a:r>
            <a:endParaRPr lang="en-US" dirty="0">
              <a:latin typeface="Tw Cen MT" panose="020B0602020104020603" pitchFamily="34" charset="0"/>
            </a:endParaRPr>
          </a:p>
          <a:p>
            <a:r>
              <a:rPr lang="en-US" sz="1500" i="1" dirty="0">
                <a:solidFill>
                  <a:srgbClr val="CADCFC"/>
                </a:solidFill>
                <a:latin typeface="Tw Cen MT" panose="020B0602020104020603" pitchFamily="34" charset="0"/>
              </a:rPr>
              <a:t>"Cierre tiendas. Recorte costos. Achique la empresa."</a:t>
            </a:r>
            <a:endParaRPr lang="en-US" sz="1500" dirty="0">
              <a:latin typeface="Tw Cen MT" panose="020B0602020104020603" pitchFamily="34" charset="0"/>
            </a:endParaRPr>
          </a:p>
        </p:txBody>
      </p:sp>
      <p:sp>
        <p:nvSpPr>
          <p:cNvPr id="12" name="Shape 10">
            <a:extLst>
              <a:ext uri="{FF2B5EF4-FFF2-40B4-BE49-F238E27FC236}">
                <a16:creationId xmlns:a16="http://schemas.microsoft.com/office/drawing/2014/main" id="{468EB08C-0AD8-6E2A-62A1-D4B410EDCF59}"/>
              </a:ext>
            </a:extLst>
          </p:cNvPr>
          <p:cNvSpPr/>
          <p:nvPr/>
        </p:nvSpPr>
        <p:spPr>
          <a:xfrm>
            <a:off x="3090671" y="1020410"/>
            <a:ext cx="2651760" cy="5513600"/>
          </a:xfrm>
          <a:prstGeom prst="rect">
            <a:avLst/>
          </a:prstGeom>
          <a:solidFill>
            <a:srgbClr val="162050"/>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a:latin typeface="Tw Cen MT" panose="020B0602020104020603" pitchFamily="34" charset="0"/>
            </a:endParaRPr>
          </a:p>
        </p:txBody>
      </p:sp>
      <p:sp>
        <p:nvSpPr>
          <p:cNvPr id="14" name="Text 12">
            <a:extLst>
              <a:ext uri="{FF2B5EF4-FFF2-40B4-BE49-F238E27FC236}">
                <a16:creationId xmlns:a16="http://schemas.microsoft.com/office/drawing/2014/main" id="{8FFA6E97-FA8C-40F8-74DB-BA940F519454}"/>
              </a:ext>
            </a:extLst>
          </p:cNvPr>
          <p:cNvSpPr/>
          <p:nvPr/>
        </p:nvSpPr>
        <p:spPr>
          <a:xfrm>
            <a:off x="3154681" y="1143000"/>
            <a:ext cx="2651760" cy="347472"/>
          </a:xfrm>
          <a:prstGeom prst="rect">
            <a:avLst/>
          </a:prstGeom>
          <a:noFill/>
          <a:ln/>
        </p:spPr>
        <p:txBody>
          <a:bodyPr wrap="square" lIns="0" tIns="0" rIns="0" bIns="0" rtlCol="0" anchor="ctr"/>
          <a:lstStyle/>
          <a:p>
            <a:pPr algn="ctr"/>
            <a:r>
              <a:rPr lang="en-US" sz="1600" b="1" dirty="0">
                <a:solidFill>
                  <a:srgbClr val="E8A020"/>
                </a:solidFill>
                <a:latin typeface="Tw Cen MT" panose="020B0602020104020603" pitchFamily="34" charset="0"/>
              </a:rPr>
              <a:t>INTERVENCIONES EN LA AO</a:t>
            </a:r>
            <a:endParaRPr lang="en-US" sz="1600" dirty="0">
              <a:latin typeface="Tw Cen MT" panose="020B0602020104020603" pitchFamily="34" charset="0"/>
            </a:endParaRPr>
          </a:p>
        </p:txBody>
      </p:sp>
      <p:sp>
        <p:nvSpPr>
          <p:cNvPr id="15" name="Text 13">
            <a:extLst>
              <a:ext uri="{FF2B5EF4-FFF2-40B4-BE49-F238E27FC236}">
                <a16:creationId xmlns:a16="http://schemas.microsoft.com/office/drawing/2014/main" id="{8CAA6ACE-372B-7D1F-FBE0-8771336C7C07}"/>
              </a:ext>
            </a:extLst>
          </p:cNvPr>
          <p:cNvSpPr/>
          <p:nvPr/>
        </p:nvSpPr>
        <p:spPr>
          <a:xfrm>
            <a:off x="3005004" y="1689161"/>
            <a:ext cx="2651759" cy="2423160"/>
          </a:xfrm>
          <a:prstGeom prst="rect">
            <a:avLst/>
          </a:prstGeom>
          <a:noFill/>
          <a:ln/>
        </p:spPr>
        <p:txBody>
          <a:bodyPr wrap="square" lIns="0" tIns="0" rIns="0" bIns="0" rtlCol="0" anchor="t"/>
          <a:lstStyle/>
          <a:p>
            <a:r>
              <a:rPr lang="en-US" b="1" dirty="0">
                <a:solidFill>
                  <a:srgbClr val="E8A020"/>
                </a:solidFill>
                <a:latin typeface="Tw Cen MT" panose="020B0602020104020603" pitchFamily="34" charset="0"/>
              </a:rPr>
              <a:t>Escucha a la primera línea:</a:t>
            </a:r>
            <a:endParaRPr lang="en-US" dirty="0">
              <a:latin typeface="Tw Cen MT" panose="020B0602020104020603" pitchFamily="34" charset="0"/>
            </a:endParaRPr>
          </a:p>
          <a:p>
            <a:r>
              <a:rPr lang="en-US" sz="1600" dirty="0">
                <a:solidFill>
                  <a:srgbClr val="CADCFC"/>
                </a:solidFill>
                <a:latin typeface="Tw Cen MT" panose="020B0602020104020603" pitchFamily="34" charset="0"/>
              </a:rPr>
              <a:t>Joly pasó su primera semana como empleado de tienda. El diagnóstico vino de abajo.</a:t>
            </a:r>
            <a:endParaRPr lang="en-US" sz="1600" dirty="0">
              <a:latin typeface="Tw Cen MT" panose="020B0602020104020603" pitchFamily="34" charset="0"/>
            </a:endParaRPr>
          </a:p>
          <a:p>
            <a:endParaRPr lang="en-US" sz="1600" dirty="0">
              <a:latin typeface="Tw Cen MT" panose="020B0602020104020603" pitchFamily="34" charset="0"/>
            </a:endParaRPr>
          </a:p>
          <a:p>
            <a:r>
              <a:rPr lang="en-US" b="1" dirty="0">
                <a:solidFill>
                  <a:srgbClr val="E8A020"/>
                </a:solidFill>
                <a:latin typeface="Tw Cen MT" panose="020B0602020104020603" pitchFamily="34" charset="0"/>
              </a:rPr>
              <a:t>Eliminación de silos:</a:t>
            </a:r>
          </a:p>
          <a:p>
            <a:r>
              <a:rPr lang="en-US" sz="1600" dirty="0" err="1">
                <a:solidFill>
                  <a:srgbClr val="CADCFC"/>
                </a:solidFill>
                <a:latin typeface="Tw Cen MT" panose="020B0602020104020603" pitchFamily="34" charset="0"/>
              </a:rPr>
              <a:t>Equipos</a:t>
            </a:r>
            <a:r>
              <a:rPr lang="en-US" sz="1600" dirty="0">
                <a:solidFill>
                  <a:srgbClr val="CADCFC"/>
                </a:solidFill>
                <a:latin typeface="Tw Cen MT" panose="020B0602020104020603" pitchFamily="34" charset="0"/>
              </a:rPr>
              <a:t> ágiles interfuncionales reemplazaron la </a:t>
            </a:r>
            <a:r>
              <a:rPr lang="en-US" sz="1600" dirty="0" err="1">
                <a:solidFill>
                  <a:srgbClr val="CADCFC"/>
                </a:solidFill>
                <a:latin typeface="Tw Cen MT" panose="020B0602020104020603" pitchFamily="34" charset="0"/>
              </a:rPr>
              <a:t>estructura</a:t>
            </a:r>
            <a:r>
              <a:rPr lang="en-US" sz="1600" dirty="0">
                <a:solidFill>
                  <a:srgbClr val="CADCFC"/>
                </a:solidFill>
                <a:latin typeface="Tw Cen MT" panose="020B0602020104020603" pitchFamily="34" charset="0"/>
              </a:rPr>
              <a:t> anterior. Ventas, operaciones y tecnología trabajaron juntos.</a:t>
            </a:r>
            <a:endParaRPr lang="en-US" sz="1600" dirty="0">
              <a:latin typeface="Tw Cen MT" panose="020B0602020104020603" pitchFamily="34" charset="0"/>
            </a:endParaRPr>
          </a:p>
          <a:p>
            <a:endParaRPr lang="en-US" sz="1600" dirty="0">
              <a:latin typeface="Tw Cen MT" panose="020B0602020104020603" pitchFamily="34" charset="0"/>
            </a:endParaRPr>
          </a:p>
          <a:p>
            <a:r>
              <a:rPr lang="en-US" b="1" dirty="0">
                <a:solidFill>
                  <a:srgbClr val="E8A020"/>
                </a:solidFill>
                <a:latin typeface="Tw Cen MT" panose="020B0602020104020603" pitchFamily="34" charset="0"/>
              </a:rPr>
              <a:t>Rediseño del propósito y </a:t>
            </a:r>
            <a:r>
              <a:rPr lang="en-US" b="1" dirty="0" err="1">
                <a:solidFill>
                  <a:srgbClr val="E8A020"/>
                </a:solidFill>
                <a:latin typeface="Tw Cen MT" panose="020B0602020104020603" pitchFamily="34" charset="0"/>
              </a:rPr>
              <a:t>alianzas</a:t>
            </a:r>
            <a:r>
              <a:rPr lang="en-US" b="1" dirty="0">
                <a:solidFill>
                  <a:srgbClr val="E8A020"/>
                </a:solidFill>
                <a:latin typeface="Tw Cen MT" panose="020B0602020104020603" pitchFamily="34" charset="0"/>
              </a:rPr>
              <a:t>:</a:t>
            </a:r>
          </a:p>
          <a:p>
            <a:r>
              <a:rPr lang="en-US" sz="1600" dirty="0">
                <a:solidFill>
                  <a:srgbClr val="CADCFC"/>
                </a:solidFill>
                <a:latin typeface="Tw Cen MT" panose="020B0602020104020603" pitchFamily="34" charset="0"/>
              </a:rPr>
              <a:t>De "vendedor de electrónica" a "proveedor de soluciones para el hogar". Samsung, Apple, Google y Amazon montaron tiendas dentro de Best Buy: los rivales se convirtieron en socios.</a:t>
            </a:r>
            <a:endParaRPr lang="en-US" sz="1600" dirty="0">
              <a:latin typeface="Tw Cen MT" panose="020B0602020104020603" pitchFamily="34" charset="0"/>
            </a:endParaRPr>
          </a:p>
        </p:txBody>
      </p:sp>
      <p:sp>
        <p:nvSpPr>
          <p:cNvPr id="16" name="Shape 14">
            <a:extLst>
              <a:ext uri="{FF2B5EF4-FFF2-40B4-BE49-F238E27FC236}">
                <a16:creationId xmlns:a16="http://schemas.microsoft.com/office/drawing/2014/main" id="{8A75917F-9391-ED82-BF45-983850116A36}"/>
              </a:ext>
            </a:extLst>
          </p:cNvPr>
          <p:cNvSpPr/>
          <p:nvPr/>
        </p:nvSpPr>
        <p:spPr>
          <a:xfrm>
            <a:off x="6007607" y="1108579"/>
            <a:ext cx="2651760" cy="5590603"/>
          </a:xfrm>
          <a:prstGeom prst="rect">
            <a:avLst/>
          </a:prstGeom>
          <a:solidFill>
            <a:srgbClr val="162050"/>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a:latin typeface="Tw Cen MT" panose="020B0602020104020603" pitchFamily="34" charset="0"/>
            </a:endParaRPr>
          </a:p>
        </p:txBody>
      </p:sp>
      <p:sp>
        <p:nvSpPr>
          <p:cNvPr id="18" name="Text 16">
            <a:extLst>
              <a:ext uri="{FF2B5EF4-FFF2-40B4-BE49-F238E27FC236}">
                <a16:creationId xmlns:a16="http://schemas.microsoft.com/office/drawing/2014/main" id="{421B3ECF-1179-AC37-8E20-366F5BAC4544}"/>
              </a:ext>
            </a:extLst>
          </p:cNvPr>
          <p:cNvSpPr/>
          <p:nvPr/>
        </p:nvSpPr>
        <p:spPr>
          <a:xfrm>
            <a:off x="5998464" y="1136142"/>
            <a:ext cx="2651760" cy="347472"/>
          </a:xfrm>
          <a:prstGeom prst="rect">
            <a:avLst/>
          </a:prstGeom>
          <a:noFill/>
          <a:ln/>
        </p:spPr>
        <p:txBody>
          <a:bodyPr wrap="square" lIns="0" tIns="0" rIns="0" bIns="0" rtlCol="0" anchor="ctr"/>
          <a:lstStyle/>
          <a:p>
            <a:pPr algn="ctr"/>
            <a:r>
              <a:rPr lang="en-US" sz="1600" b="1" dirty="0">
                <a:solidFill>
                  <a:srgbClr val="2ECC71"/>
                </a:solidFill>
                <a:latin typeface="Tw Cen MT" panose="020B0602020104020603" pitchFamily="34" charset="0"/>
              </a:rPr>
              <a:t>RESULTADOS (2012–2019)</a:t>
            </a:r>
            <a:endParaRPr lang="en-US" sz="1600" dirty="0">
              <a:latin typeface="Tw Cen MT" panose="020B0602020104020603" pitchFamily="34" charset="0"/>
            </a:endParaRPr>
          </a:p>
        </p:txBody>
      </p:sp>
      <p:sp>
        <p:nvSpPr>
          <p:cNvPr id="19" name="Text 17">
            <a:extLst>
              <a:ext uri="{FF2B5EF4-FFF2-40B4-BE49-F238E27FC236}">
                <a16:creationId xmlns:a16="http://schemas.microsoft.com/office/drawing/2014/main" id="{2101222C-7695-D91F-8062-3B66AAD9B4FD}"/>
              </a:ext>
            </a:extLst>
          </p:cNvPr>
          <p:cNvSpPr/>
          <p:nvPr/>
        </p:nvSpPr>
        <p:spPr>
          <a:xfrm>
            <a:off x="6217920" y="1668238"/>
            <a:ext cx="2432304" cy="2423160"/>
          </a:xfrm>
          <a:prstGeom prst="rect">
            <a:avLst/>
          </a:prstGeom>
          <a:noFill/>
          <a:ln/>
        </p:spPr>
        <p:txBody>
          <a:bodyPr wrap="square" lIns="0" tIns="0" rIns="0" bIns="0" rtlCol="0" anchor="t"/>
          <a:lstStyle/>
          <a:p>
            <a:r>
              <a:rPr lang="en-US" sz="1600" b="1" dirty="0">
                <a:solidFill>
                  <a:srgbClr val="2ECC71"/>
                </a:solidFill>
                <a:latin typeface="Tw Cen MT" panose="020B0602020104020603" pitchFamily="34" charset="0"/>
              </a:rPr>
              <a:t>Acción: </a:t>
            </a:r>
            <a:r>
              <a:rPr lang="en-US" sz="1600" dirty="0">
                <a:solidFill>
                  <a:srgbClr val="CADCFC"/>
                </a:solidFill>
                <a:latin typeface="Tw Cen MT" panose="020B0602020104020603" pitchFamily="34" charset="0"/>
              </a:rPr>
              <a:t>de USD 11 → </a:t>
            </a:r>
            <a:r>
              <a:rPr lang="en-US" sz="1600" b="1" dirty="0">
                <a:solidFill>
                  <a:srgbClr val="FFFFFF"/>
                </a:solidFill>
                <a:latin typeface="Tw Cen MT" panose="020B0602020104020603" pitchFamily="34" charset="0"/>
              </a:rPr>
              <a:t>USD 110 (+900%)</a:t>
            </a:r>
            <a:endParaRPr lang="en-US" sz="1600" dirty="0">
              <a:latin typeface="Tw Cen MT" panose="020B0602020104020603" pitchFamily="34" charset="0"/>
            </a:endParaRPr>
          </a:p>
          <a:p>
            <a:endParaRPr lang="en-US" sz="1600" dirty="0">
              <a:latin typeface="Tw Cen MT" panose="020B0602020104020603" pitchFamily="34" charset="0"/>
            </a:endParaRPr>
          </a:p>
          <a:p>
            <a:r>
              <a:rPr lang="en-US" sz="1600" b="1" dirty="0">
                <a:solidFill>
                  <a:srgbClr val="2ECC71"/>
                </a:solidFill>
                <a:latin typeface="Tw Cen MT" panose="020B0602020104020603" pitchFamily="34" charset="0"/>
              </a:rPr>
              <a:t>Costos: </a:t>
            </a:r>
            <a:endParaRPr lang="en-US" sz="1600" dirty="0">
              <a:latin typeface="Tw Cen MT" panose="020B0602020104020603" pitchFamily="34" charset="0"/>
            </a:endParaRPr>
          </a:p>
          <a:p>
            <a:r>
              <a:rPr lang="en-US" sz="1600" dirty="0">
                <a:solidFill>
                  <a:srgbClr val="CADCFC"/>
                </a:solidFill>
                <a:latin typeface="Tw Cen MT" panose="020B0602020104020603" pitchFamily="34" charset="0"/>
              </a:rPr>
              <a:t>USD 1.900 M en ahorros </a:t>
            </a:r>
            <a:r>
              <a:rPr lang="en-US" sz="1600" b="1" dirty="0">
                <a:solidFill>
                  <a:srgbClr val="FFFFFF"/>
                </a:solidFill>
                <a:latin typeface="Tw Cen MT" panose="020B0602020104020603" pitchFamily="34" charset="0"/>
              </a:rPr>
              <a:t>sin despidos masivos</a:t>
            </a:r>
            <a:endParaRPr lang="en-US" sz="1600" dirty="0">
              <a:latin typeface="Tw Cen MT" panose="020B0602020104020603" pitchFamily="34" charset="0"/>
            </a:endParaRPr>
          </a:p>
          <a:p>
            <a:endParaRPr lang="en-US" sz="1600" dirty="0">
              <a:latin typeface="Tw Cen MT" panose="020B0602020104020603" pitchFamily="34" charset="0"/>
            </a:endParaRPr>
          </a:p>
          <a:p>
            <a:r>
              <a:rPr lang="en-US" sz="1600" b="1" dirty="0">
                <a:solidFill>
                  <a:srgbClr val="2ECC71"/>
                </a:solidFill>
                <a:latin typeface="Tw Cen MT" panose="020B0602020104020603" pitchFamily="34" charset="0"/>
              </a:rPr>
              <a:t>Ventas: </a:t>
            </a:r>
            <a:endParaRPr lang="en-US" sz="1600" dirty="0">
              <a:latin typeface="Tw Cen MT" panose="020B0602020104020603" pitchFamily="34" charset="0"/>
            </a:endParaRPr>
          </a:p>
          <a:p>
            <a:r>
              <a:rPr lang="en-US" sz="1600" dirty="0">
                <a:solidFill>
                  <a:srgbClr val="CADCFC"/>
                </a:solidFill>
                <a:latin typeface="Tw Cen MT" panose="020B0602020104020603" pitchFamily="34" charset="0"/>
              </a:rPr>
              <a:t>5 años consecutivos de crecimiento comparable</a:t>
            </a:r>
            <a:endParaRPr lang="en-US" sz="1600" dirty="0">
              <a:latin typeface="Tw Cen MT" panose="020B0602020104020603" pitchFamily="34" charset="0"/>
            </a:endParaRPr>
          </a:p>
          <a:p>
            <a:endParaRPr lang="en-US" sz="1600" dirty="0">
              <a:latin typeface="Tw Cen MT" panose="020B0602020104020603" pitchFamily="34" charset="0"/>
            </a:endParaRPr>
          </a:p>
          <a:p>
            <a:r>
              <a:rPr lang="en-US" sz="1600" b="1" dirty="0">
                <a:solidFill>
                  <a:srgbClr val="2ECC71"/>
                </a:solidFill>
                <a:latin typeface="Tw Cen MT" panose="020B0602020104020603" pitchFamily="34" charset="0"/>
              </a:rPr>
              <a:t>Partnerships: </a:t>
            </a:r>
            <a:endParaRPr lang="en-US" sz="1600" dirty="0">
              <a:latin typeface="Tw Cen MT" panose="020B0602020104020603" pitchFamily="34" charset="0"/>
            </a:endParaRPr>
          </a:p>
          <a:p>
            <a:r>
              <a:rPr lang="en-US" sz="1600" dirty="0">
                <a:solidFill>
                  <a:srgbClr val="CADCFC"/>
                </a:solidFill>
                <a:latin typeface="Tw Cen MT" panose="020B0602020104020603" pitchFamily="34" charset="0"/>
              </a:rPr>
              <a:t>+5.000 "tiendas dentro de tiendas" de Samsung, Apple, Google y Amazon</a:t>
            </a:r>
            <a:endParaRPr lang="en-US" sz="1600" dirty="0">
              <a:latin typeface="Tw Cen MT" panose="020B0602020104020603" pitchFamily="34" charset="0"/>
            </a:endParaRPr>
          </a:p>
          <a:p>
            <a:endParaRPr lang="en-US" sz="1600" dirty="0">
              <a:latin typeface="Tw Cen MT" panose="020B0602020104020603" pitchFamily="34" charset="0"/>
            </a:endParaRPr>
          </a:p>
          <a:p>
            <a:r>
              <a:rPr lang="en-US" sz="1600" b="1" dirty="0">
                <a:solidFill>
                  <a:srgbClr val="2ECC71"/>
                </a:solidFill>
                <a:latin typeface="Tw Cen MT" panose="020B0602020104020603" pitchFamily="34" charset="0"/>
              </a:rPr>
              <a:t>Reconocimiento: </a:t>
            </a:r>
            <a:endParaRPr lang="en-US" sz="1600" dirty="0">
              <a:latin typeface="Tw Cen MT" panose="020B0602020104020603" pitchFamily="34" charset="0"/>
            </a:endParaRPr>
          </a:p>
          <a:p>
            <a:r>
              <a:rPr lang="en-US" sz="1600" dirty="0">
                <a:solidFill>
                  <a:srgbClr val="CADCFC"/>
                </a:solidFill>
                <a:latin typeface="Tw Cen MT" panose="020B0602020104020603" pitchFamily="34" charset="0"/>
              </a:rPr>
              <a:t>Top 100 CEOs (HBR) · Top 10 según empleados (Glassdoor)</a:t>
            </a:r>
            <a:endParaRPr lang="en-US" sz="1600" dirty="0">
              <a:latin typeface="Tw Cen MT" panose="020B0602020104020603" pitchFamily="34" charset="0"/>
            </a:endParaRPr>
          </a:p>
        </p:txBody>
      </p:sp>
    </p:spTree>
    <p:extLst>
      <p:ext uri="{BB962C8B-B14F-4D97-AF65-F5344CB8AC3E}">
        <p14:creationId xmlns:p14="http://schemas.microsoft.com/office/powerpoint/2010/main" val="3432512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AO: Las Tres Dimensiones</a:t>
            </a:r>
          </a:p>
        </p:txBody>
      </p:sp>
      <p:sp>
        <p:nvSpPr>
          <p:cNvPr id="5" name="TextBox 4"/>
          <p:cNvSpPr txBox="1"/>
          <p:nvPr/>
        </p:nvSpPr>
        <p:spPr>
          <a:xfrm>
            <a:off x="304800" y="1220000"/>
            <a:ext cx="8534400" cy="4883388"/>
          </a:xfrm>
          <a:prstGeom prst="rect">
            <a:avLst/>
          </a:prstGeom>
          <a:noFill/>
        </p:spPr>
        <p:txBody>
          <a:bodyPr wrap="square">
            <a:spAutoFit/>
          </a:bodyPr>
          <a:lstStyle/>
          <a:p>
            <a:pPr algn="l">
              <a:spcBef>
                <a:spcPts val="400"/>
              </a:spcBef>
              <a:buNone/>
            </a:pPr>
            <a:r>
              <a:rPr sz="2400" b="1" dirty="0">
                <a:solidFill>
                  <a:srgbClr val="8B0000"/>
                </a:solidFill>
                <a:latin typeface="Tw Cen MT"/>
              </a:rPr>
              <a:t>AUTORIDAD PARA LA TOMA DE DECISIONES</a:t>
            </a:r>
          </a:p>
          <a:p>
            <a:pPr algn="l">
              <a:spcBef>
                <a:spcPts val="400"/>
              </a:spcBef>
            </a:pPr>
            <a:r>
              <a:rPr sz="2400" b="0" dirty="0">
                <a:solidFill>
                  <a:srgbClr val="222222"/>
                </a:solidFill>
                <a:latin typeface="Tw Cen MT"/>
              </a:rPr>
              <a:t>Debe </a:t>
            </a:r>
            <a:r>
              <a:rPr sz="2400" b="0" dirty="0" err="1">
                <a:solidFill>
                  <a:srgbClr val="222222"/>
                </a:solidFill>
                <a:latin typeface="Tw Cen MT"/>
              </a:rPr>
              <a:t>garantizar</a:t>
            </a:r>
            <a:r>
              <a:rPr sz="2400" b="0" dirty="0">
                <a:solidFill>
                  <a:srgbClr val="222222"/>
                </a:solidFill>
                <a:latin typeface="Tw Cen MT"/>
              </a:rPr>
              <a:t> </a:t>
            </a:r>
            <a:r>
              <a:rPr sz="2400" b="0" dirty="0" err="1">
                <a:solidFill>
                  <a:srgbClr val="222222"/>
                </a:solidFill>
                <a:latin typeface="Tw Cen MT"/>
              </a:rPr>
              <a:t>que</a:t>
            </a:r>
            <a:r>
              <a:rPr sz="2400" b="0" dirty="0">
                <a:solidFill>
                  <a:srgbClr val="222222"/>
                </a:solidFill>
                <a:latin typeface="Tw Cen MT"/>
              </a:rPr>
              <a:t> </a:t>
            </a:r>
            <a:r>
              <a:rPr sz="2400" b="0" dirty="0" err="1">
                <a:solidFill>
                  <a:srgbClr val="222222"/>
                </a:solidFill>
                <a:latin typeface="Tw Cen MT"/>
              </a:rPr>
              <a:t>quienes</a:t>
            </a:r>
            <a:r>
              <a:rPr sz="2400" b="0" dirty="0">
                <a:solidFill>
                  <a:srgbClr val="222222"/>
                </a:solidFill>
                <a:latin typeface="Tw Cen MT"/>
              </a:rPr>
              <a:t> toman las </a:t>
            </a:r>
            <a:r>
              <a:rPr sz="2400" b="0" dirty="0" err="1">
                <a:solidFill>
                  <a:srgbClr val="222222"/>
                </a:solidFill>
                <a:latin typeface="Tw Cen MT"/>
              </a:rPr>
              <a:t>decisiones</a:t>
            </a:r>
            <a:r>
              <a:rPr sz="2400" b="0" dirty="0">
                <a:solidFill>
                  <a:srgbClr val="222222"/>
                </a:solidFill>
                <a:latin typeface="Tw Cen MT"/>
              </a:rPr>
              <a:t> </a:t>
            </a:r>
            <a:r>
              <a:rPr sz="2400" b="0" dirty="0" err="1">
                <a:solidFill>
                  <a:srgbClr val="222222"/>
                </a:solidFill>
                <a:latin typeface="Tw Cen MT"/>
              </a:rPr>
              <a:t>posean</a:t>
            </a:r>
            <a:r>
              <a:rPr sz="2400" b="0" dirty="0">
                <a:solidFill>
                  <a:srgbClr val="222222"/>
                </a:solidFill>
                <a:latin typeface="Tw Cen MT"/>
              </a:rPr>
              <a:t> </a:t>
            </a:r>
            <a:r>
              <a:rPr sz="2400" b="0" dirty="0" err="1">
                <a:solidFill>
                  <a:srgbClr val="222222"/>
                </a:solidFill>
                <a:latin typeface="Tw Cen MT"/>
              </a:rPr>
              <a:t>los</a:t>
            </a:r>
            <a:r>
              <a:rPr sz="2400" b="0" dirty="0">
                <a:solidFill>
                  <a:srgbClr val="222222"/>
                </a:solidFill>
                <a:latin typeface="Tw Cen MT"/>
              </a:rPr>
              <a:t> </a:t>
            </a:r>
            <a:r>
              <a:rPr sz="2400" b="0" dirty="0" err="1">
                <a:solidFill>
                  <a:srgbClr val="222222"/>
                </a:solidFill>
                <a:latin typeface="Tw Cen MT"/>
              </a:rPr>
              <a:t>conocimientos</a:t>
            </a:r>
            <a:r>
              <a:rPr sz="2400" b="0" dirty="0">
                <a:solidFill>
                  <a:srgbClr val="222222"/>
                </a:solidFill>
                <a:latin typeface="Tw Cen MT"/>
              </a:rPr>
              <a:t>, </a:t>
            </a:r>
            <a:r>
              <a:rPr sz="2400" b="0" dirty="0" err="1">
                <a:solidFill>
                  <a:srgbClr val="222222"/>
                </a:solidFill>
                <a:latin typeface="Tw Cen MT"/>
              </a:rPr>
              <a:t>experiencia</a:t>
            </a:r>
            <a:r>
              <a:rPr sz="2400" b="0" dirty="0">
                <a:solidFill>
                  <a:srgbClr val="222222"/>
                </a:solidFill>
                <a:latin typeface="Tw Cen MT"/>
              </a:rPr>
              <a:t> e </a:t>
            </a:r>
            <a:r>
              <a:rPr sz="2400" b="0" dirty="0" err="1">
                <a:solidFill>
                  <a:srgbClr val="222222"/>
                </a:solidFill>
                <a:latin typeface="Tw Cen MT"/>
              </a:rPr>
              <a:t>información</a:t>
            </a:r>
            <a:r>
              <a:rPr sz="2400" b="0" dirty="0">
                <a:solidFill>
                  <a:srgbClr val="222222"/>
                </a:solidFill>
                <a:latin typeface="Tw Cen MT"/>
              </a:rPr>
              <a:t> </a:t>
            </a:r>
            <a:r>
              <a:rPr sz="2400" b="0" dirty="0" err="1">
                <a:solidFill>
                  <a:srgbClr val="222222"/>
                </a:solidFill>
                <a:latin typeface="Tw Cen MT"/>
              </a:rPr>
              <a:t>necesarios</a:t>
            </a:r>
            <a:r>
              <a:rPr sz="2400" b="0" dirty="0">
                <a:solidFill>
                  <a:srgbClr val="222222"/>
                </a:solidFill>
                <a:latin typeface="Tw Cen MT"/>
              </a:rPr>
              <a:t> para </a:t>
            </a:r>
            <a:r>
              <a:rPr sz="2400" b="0" dirty="0" err="1">
                <a:solidFill>
                  <a:srgbClr val="222222"/>
                </a:solidFill>
                <a:latin typeface="Tw Cen MT"/>
              </a:rPr>
              <a:t>generar</a:t>
            </a:r>
            <a:r>
              <a:rPr sz="2400" b="0" dirty="0">
                <a:solidFill>
                  <a:srgbClr val="222222"/>
                </a:solidFill>
                <a:latin typeface="Tw Cen MT"/>
              </a:rPr>
              <a:t> valor para la </a:t>
            </a:r>
            <a:r>
              <a:rPr sz="2400" b="0" dirty="0" err="1">
                <a:solidFill>
                  <a:srgbClr val="222222"/>
                </a:solidFill>
                <a:latin typeface="Tw Cen MT"/>
              </a:rPr>
              <a:t>compañía</a:t>
            </a:r>
            <a:r>
              <a:rPr sz="2400" b="0" dirty="0">
                <a:solidFill>
                  <a:srgbClr val="222222"/>
                </a:solidFill>
                <a:latin typeface="Tw Cen MT"/>
              </a:rPr>
              <a:t>.</a:t>
            </a:r>
            <a:r>
              <a:rPr lang="es-419" sz="2400" b="0" dirty="0">
                <a:solidFill>
                  <a:srgbClr val="222222"/>
                </a:solidFill>
                <a:latin typeface="Tw Cen MT"/>
              </a:rPr>
              <a:t> Debe tener los incentivos adecuados.</a:t>
            </a:r>
          </a:p>
          <a:p>
            <a:pPr algn="l">
              <a:spcBef>
                <a:spcPts val="400"/>
              </a:spcBef>
            </a:pPr>
            <a:endParaRPr sz="2400" b="0" dirty="0">
              <a:solidFill>
                <a:srgbClr val="222222"/>
              </a:solidFill>
              <a:latin typeface="Tw Cen MT"/>
            </a:endParaRPr>
          </a:p>
          <a:p>
            <a:pPr algn="l">
              <a:spcBef>
                <a:spcPts val="400"/>
              </a:spcBef>
              <a:buNone/>
            </a:pPr>
            <a:r>
              <a:rPr sz="2400" b="1" dirty="0">
                <a:solidFill>
                  <a:srgbClr val="8B0000"/>
                </a:solidFill>
                <a:latin typeface="Tw Cen MT"/>
              </a:rPr>
              <a:t>EVALUACIÓN DEL DESEMPEÑO</a:t>
            </a:r>
          </a:p>
          <a:p>
            <a:pPr algn="l">
              <a:spcBef>
                <a:spcPts val="400"/>
              </a:spcBef>
            </a:pPr>
            <a:r>
              <a:rPr sz="2400" b="0" dirty="0">
                <a:solidFill>
                  <a:srgbClr val="222222"/>
                </a:solidFill>
                <a:latin typeface="Tw Cen MT"/>
              </a:rPr>
              <a:t>Sistemas de </a:t>
            </a:r>
            <a:r>
              <a:rPr sz="2400" b="0" dirty="0" err="1">
                <a:solidFill>
                  <a:srgbClr val="222222"/>
                </a:solidFill>
                <a:latin typeface="Tw Cen MT"/>
              </a:rPr>
              <a:t>medición</a:t>
            </a:r>
            <a:r>
              <a:rPr sz="2400" b="0" dirty="0">
                <a:solidFill>
                  <a:srgbClr val="222222"/>
                </a:solidFill>
                <a:latin typeface="Tw Cen MT"/>
              </a:rPr>
              <a:t> </a:t>
            </a:r>
            <a:r>
              <a:rPr sz="2400" b="0" dirty="0" err="1">
                <a:solidFill>
                  <a:srgbClr val="222222"/>
                </a:solidFill>
                <a:latin typeface="Tw Cen MT"/>
              </a:rPr>
              <a:t>diseñados</a:t>
            </a:r>
            <a:r>
              <a:rPr sz="2400" b="0" dirty="0">
                <a:solidFill>
                  <a:srgbClr val="222222"/>
                </a:solidFill>
                <a:latin typeface="Tw Cen MT"/>
              </a:rPr>
              <a:t> para </a:t>
            </a:r>
            <a:r>
              <a:rPr sz="2400" b="0" dirty="0" err="1">
                <a:solidFill>
                  <a:srgbClr val="222222"/>
                </a:solidFill>
                <a:latin typeface="Tw Cen MT"/>
              </a:rPr>
              <a:t>medir</a:t>
            </a:r>
            <a:r>
              <a:rPr sz="2400" b="0" dirty="0">
                <a:solidFill>
                  <a:srgbClr val="222222"/>
                </a:solidFill>
                <a:latin typeface="Tw Cen MT"/>
              </a:rPr>
              <a:t> </a:t>
            </a:r>
            <a:r>
              <a:rPr sz="2400" b="0" dirty="0" err="1">
                <a:solidFill>
                  <a:srgbClr val="222222"/>
                </a:solidFill>
                <a:latin typeface="Tw Cen MT"/>
              </a:rPr>
              <a:t>el</a:t>
            </a:r>
            <a:r>
              <a:rPr sz="2400" b="0" dirty="0">
                <a:solidFill>
                  <a:srgbClr val="222222"/>
                </a:solidFill>
                <a:latin typeface="Tw Cen MT"/>
              </a:rPr>
              <a:t> </a:t>
            </a:r>
            <a:r>
              <a:rPr sz="2400" b="0" dirty="0" err="1">
                <a:solidFill>
                  <a:srgbClr val="222222"/>
                </a:solidFill>
                <a:latin typeface="Tw Cen MT"/>
              </a:rPr>
              <a:t>desempeño</a:t>
            </a:r>
            <a:r>
              <a:rPr sz="2400" b="0" dirty="0">
                <a:solidFill>
                  <a:srgbClr val="222222"/>
                </a:solidFill>
                <a:latin typeface="Tw Cen MT"/>
              </a:rPr>
              <a:t> y </a:t>
            </a:r>
            <a:r>
              <a:rPr sz="2400" b="0" dirty="0" err="1">
                <a:solidFill>
                  <a:srgbClr val="222222"/>
                </a:solidFill>
                <a:latin typeface="Tw Cen MT"/>
              </a:rPr>
              <a:t>evaluar</a:t>
            </a:r>
            <a:r>
              <a:rPr sz="2400" b="0" dirty="0">
                <a:solidFill>
                  <a:srgbClr val="222222"/>
                </a:solidFill>
                <a:latin typeface="Tw Cen MT"/>
              </a:rPr>
              <a:t> la </a:t>
            </a:r>
            <a:r>
              <a:rPr sz="2400" b="0" dirty="0" err="1">
                <a:solidFill>
                  <a:srgbClr val="222222"/>
                </a:solidFill>
                <a:latin typeface="Tw Cen MT"/>
              </a:rPr>
              <a:t>contribución</a:t>
            </a:r>
            <a:r>
              <a:rPr sz="2400" b="0" dirty="0">
                <a:solidFill>
                  <a:srgbClr val="222222"/>
                </a:solidFill>
                <a:latin typeface="Tw Cen MT"/>
              </a:rPr>
              <a:t> de </a:t>
            </a:r>
            <a:r>
              <a:rPr sz="2400" b="0" dirty="0" err="1">
                <a:solidFill>
                  <a:srgbClr val="222222"/>
                </a:solidFill>
                <a:latin typeface="Tw Cen MT"/>
              </a:rPr>
              <a:t>los</a:t>
            </a:r>
            <a:r>
              <a:rPr sz="2400" b="0" dirty="0">
                <a:solidFill>
                  <a:srgbClr val="222222"/>
                </a:solidFill>
                <a:latin typeface="Tw Cen MT"/>
              </a:rPr>
              <a:t> </a:t>
            </a:r>
            <a:r>
              <a:rPr sz="2400" b="0" dirty="0" err="1">
                <a:solidFill>
                  <a:srgbClr val="222222"/>
                </a:solidFill>
                <a:latin typeface="Tw Cen MT"/>
              </a:rPr>
              <a:t>empleados</a:t>
            </a:r>
            <a:r>
              <a:rPr sz="2400" b="0" dirty="0">
                <a:solidFill>
                  <a:srgbClr val="222222"/>
                </a:solidFill>
                <a:latin typeface="Tw Cen MT"/>
              </a:rPr>
              <a:t> a </a:t>
            </a:r>
            <a:r>
              <a:rPr sz="2400" b="0" dirty="0" err="1">
                <a:solidFill>
                  <a:srgbClr val="222222"/>
                </a:solidFill>
                <a:latin typeface="Tw Cen MT"/>
              </a:rPr>
              <a:t>efectos</a:t>
            </a:r>
            <a:r>
              <a:rPr sz="2400" b="0" dirty="0">
                <a:solidFill>
                  <a:srgbClr val="222222"/>
                </a:solidFill>
                <a:latin typeface="Tw Cen MT"/>
              </a:rPr>
              <a:t> de </a:t>
            </a:r>
            <a:r>
              <a:rPr sz="2400" b="0" dirty="0" err="1">
                <a:solidFill>
                  <a:srgbClr val="222222"/>
                </a:solidFill>
                <a:latin typeface="Tw Cen MT"/>
              </a:rPr>
              <a:t>compensación</a:t>
            </a:r>
            <a:r>
              <a:rPr sz="2400" b="0" dirty="0">
                <a:solidFill>
                  <a:srgbClr val="222222"/>
                </a:solidFill>
                <a:latin typeface="Tw Cen MT"/>
              </a:rPr>
              <a:t>.</a:t>
            </a:r>
            <a:endParaRPr lang="es-419" sz="2400" b="0" dirty="0">
              <a:solidFill>
                <a:srgbClr val="222222"/>
              </a:solidFill>
              <a:latin typeface="Tw Cen MT"/>
            </a:endParaRPr>
          </a:p>
          <a:p>
            <a:pPr algn="l">
              <a:spcBef>
                <a:spcPts val="400"/>
              </a:spcBef>
            </a:pPr>
            <a:endParaRPr sz="2400" b="0" dirty="0">
              <a:solidFill>
                <a:srgbClr val="222222"/>
              </a:solidFill>
              <a:latin typeface="Tw Cen MT"/>
            </a:endParaRPr>
          </a:p>
          <a:p>
            <a:pPr algn="l">
              <a:spcBef>
                <a:spcPts val="400"/>
              </a:spcBef>
              <a:buNone/>
            </a:pPr>
            <a:r>
              <a:rPr sz="2400" b="1" dirty="0">
                <a:solidFill>
                  <a:srgbClr val="8B0000"/>
                </a:solidFill>
                <a:latin typeface="Tw Cen MT"/>
              </a:rPr>
              <a:t>POLÍTICA COMPENSATORIA</a:t>
            </a:r>
          </a:p>
          <a:p>
            <a:pPr algn="l">
              <a:spcBef>
                <a:spcPts val="400"/>
              </a:spcBef>
            </a:pPr>
            <a:r>
              <a:rPr sz="2400" b="0" dirty="0" err="1">
                <a:solidFill>
                  <a:srgbClr val="222222"/>
                </a:solidFill>
                <a:latin typeface="Tw Cen MT"/>
              </a:rPr>
              <a:t>Identifica</a:t>
            </a:r>
            <a:r>
              <a:rPr sz="2400" b="0" dirty="0">
                <a:solidFill>
                  <a:srgbClr val="222222"/>
                </a:solidFill>
                <a:latin typeface="Tw Cen MT"/>
              </a:rPr>
              <a:t> </a:t>
            </a:r>
            <a:r>
              <a:rPr sz="2400" b="0" dirty="0" err="1">
                <a:solidFill>
                  <a:srgbClr val="222222"/>
                </a:solidFill>
                <a:latin typeface="Tw Cen MT"/>
              </a:rPr>
              <a:t>cómo</a:t>
            </a:r>
            <a:r>
              <a:rPr sz="2400" b="0" dirty="0">
                <a:solidFill>
                  <a:srgbClr val="222222"/>
                </a:solidFill>
                <a:latin typeface="Tw Cen MT"/>
              </a:rPr>
              <a:t> se </a:t>
            </a:r>
            <a:r>
              <a:rPr sz="2400" b="0" dirty="0" err="1">
                <a:solidFill>
                  <a:srgbClr val="222222"/>
                </a:solidFill>
                <a:latin typeface="Tw Cen MT"/>
              </a:rPr>
              <a:t>compensa</a:t>
            </a:r>
            <a:r>
              <a:rPr sz="2400" b="0" dirty="0">
                <a:solidFill>
                  <a:srgbClr val="222222"/>
                </a:solidFill>
                <a:latin typeface="Tw Cen MT"/>
              </a:rPr>
              <a:t> a </a:t>
            </a:r>
            <a:r>
              <a:rPr sz="2400" b="0" dirty="0" err="1">
                <a:solidFill>
                  <a:srgbClr val="222222"/>
                </a:solidFill>
                <a:latin typeface="Tw Cen MT"/>
              </a:rPr>
              <a:t>los</a:t>
            </a:r>
            <a:r>
              <a:rPr sz="2400" b="0" dirty="0">
                <a:solidFill>
                  <a:srgbClr val="222222"/>
                </a:solidFill>
                <a:latin typeface="Tw Cen MT"/>
              </a:rPr>
              <a:t> </a:t>
            </a:r>
            <a:r>
              <a:rPr sz="2400" b="0" dirty="0" err="1">
                <a:solidFill>
                  <a:srgbClr val="222222"/>
                </a:solidFill>
                <a:latin typeface="Tw Cen MT"/>
              </a:rPr>
              <a:t>empleados</a:t>
            </a:r>
            <a:r>
              <a:rPr sz="2400" b="0" dirty="0">
                <a:solidFill>
                  <a:srgbClr val="222222"/>
                </a:solidFill>
                <a:latin typeface="Tw Cen MT"/>
              </a:rPr>
              <a:t> </a:t>
            </a:r>
            <a:r>
              <a:rPr sz="2400" b="0" dirty="0" err="1">
                <a:solidFill>
                  <a:srgbClr val="222222"/>
                </a:solidFill>
                <a:latin typeface="Tw Cen MT"/>
              </a:rPr>
              <a:t>en</a:t>
            </a:r>
            <a:r>
              <a:rPr sz="2400" b="0" dirty="0">
                <a:solidFill>
                  <a:srgbClr val="222222"/>
                </a:solidFill>
                <a:latin typeface="Tw Cen MT"/>
              </a:rPr>
              <a:t> </a:t>
            </a:r>
            <a:r>
              <a:rPr sz="2400" b="0" dirty="0" err="1">
                <a:solidFill>
                  <a:srgbClr val="222222"/>
                </a:solidFill>
                <a:latin typeface="Tw Cen MT"/>
              </a:rPr>
              <a:t>función</a:t>
            </a:r>
            <a:r>
              <a:rPr sz="2400" b="0" dirty="0">
                <a:solidFill>
                  <a:srgbClr val="222222"/>
                </a:solidFill>
                <a:latin typeface="Tw Cen MT"/>
              </a:rPr>
              <a:t> de </a:t>
            </a:r>
            <a:r>
              <a:rPr sz="2400" b="0" dirty="0" err="1">
                <a:solidFill>
                  <a:srgbClr val="222222"/>
                </a:solidFill>
                <a:latin typeface="Tw Cen MT"/>
              </a:rPr>
              <a:t>los</a:t>
            </a:r>
            <a:r>
              <a:rPr sz="2400" b="0" dirty="0">
                <a:solidFill>
                  <a:srgbClr val="222222"/>
                </a:solidFill>
                <a:latin typeface="Tw Cen MT"/>
              </a:rPr>
              <a:t> </a:t>
            </a:r>
            <a:r>
              <a:rPr sz="2400" b="0" dirty="0" err="1">
                <a:solidFill>
                  <a:srgbClr val="222222"/>
                </a:solidFill>
                <a:latin typeface="Tw Cen MT"/>
              </a:rPr>
              <a:t>objetivos</a:t>
            </a:r>
            <a:r>
              <a:rPr sz="2400" b="0" dirty="0">
                <a:solidFill>
                  <a:srgbClr val="222222"/>
                </a:solidFill>
                <a:latin typeface="Tw Cen MT"/>
              </a:rPr>
              <a:t> </a:t>
            </a:r>
            <a:r>
              <a:rPr sz="2400" b="0" dirty="0" err="1">
                <a:solidFill>
                  <a:srgbClr val="222222"/>
                </a:solidFill>
                <a:latin typeface="Tw Cen MT"/>
              </a:rPr>
              <a:t>estratégicos</a:t>
            </a:r>
            <a:r>
              <a:rPr sz="2400" b="0" dirty="0">
                <a:solidFill>
                  <a:srgbClr val="222222"/>
                </a:solidFill>
                <a:latin typeface="Tw Cen MT"/>
              </a:rPr>
              <a:t> </a:t>
            </a:r>
            <a:r>
              <a:rPr sz="2400" b="0" dirty="0" err="1">
                <a:solidFill>
                  <a:srgbClr val="222222"/>
                </a:solidFill>
                <a:latin typeface="Tw Cen MT"/>
              </a:rPr>
              <a:t>concretos</a:t>
            </a:r>
            <a:r>
              <a:rPr sz="2400" b="0" dirty="0">
                <a:solidFill>
                  <a:srgbClr val="222222"/>
                </a:solidFill>
                <a:latin typeface="Tw Cen MT"/>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TALLER — Caso Enron: La AO que Falló (1)</a:t>
            </a:r>
          </a:p>
        </p:txBody>
      </p:sp>
      <p:sp>
        <p:nvSpPr>
          <p:cNvPr id="5" name="TextBox 4"/>
          <p:cNvSpPr txBox="1"/>
          <p:nvPr/>
        </p:nvSpPr>
        <p:spPr>
          <a:xfrm>
            <a:off x="304800" y="1220000"/>
            <a:ext cx="8839200" cy="5498941"/>
          </a:xfrm>
          <a:prstGeom prst="rect">
            <a:avLst/>
          </a:prstGeom>
          <a:noFill/>
        </p:spPr>
        <p:txBody>
          <a:bodyPr wrap="square">
            <a:spAutoFit/>
          </a:bodyPr>
          <a:lstStyle/>
          <a:p>
            <a:pPr algn="l">
              <a:spcBef>
                <a:spcPts val="400"/>
              </a:spcBef>
              <a:buNone/>
            </a:pPr>
            <a:r>
              <a:rPr sz="1900" b="1" dirty="0">
                <a:solidFill>
                  <a:srgbClr val="52B788"/>
                </a:solidFill>
                <a:latin typeface="Tw Cen MT"/>
              </a:rPr>
              <a:t>ASIGNACIÓN DE AUTORIDAD</a:t>
            </a:r>
          </a:p>
          <a:p>
            <a:pPr lvl="1" algn="l">
              <a:spcBef>
                <a:spcPts val="150"/>
              </a:spcBef>
              <a:buFont typeface="Tw Cen MT"/>
              <a:buChar char="▸"/>
            </a:pPr>
            <a:r>
              <a:rPr sz="1900" b="0" dirty="0" err="1">
                <a:solidFill>
                  <a:srgbClr val="FFFFFF"/>
                </a:solidFill>
                <a:latin typeface="Tw Cen MT"/>
              </a:rPr>
              <a:t>Formalmente</a:t>
            </a:r>
            <a:r>
              <a:rPr sz="1900" b="0" dirty="0">
                <a:solidFill>
                  <a:srgbClr val="FFFFFF"/>
                </a:solidFill>
                <a:latin typeface="Tw Cen MT"/>
              </a:rPr>
              <a:t> </a:t>
            </a:r>
            <a:r>
              <a:rPr sz="1900" b="0" dirty="0" err="1">
                <a:solidFill>
                  <a:srgbClr val="FFFFFF"/>
                </a:solidFill>
                <a:latin typeface="Tw Cen MT"/>
              </a:rPr>
              <a:t>descentralizada</a:t>
            </a:r>
            <a:r>
              <a:rPr sz="1900" b="0" dirty="0">
                <a:solidFill>
                  <a:srgbClr val="FFFFFF"/>
                </a:solidFill>
                <a:latin typeface="Tw Cen MT"/>
              </a:rPr>
              <a:t>: </a:t>
            </a:r>
            <a:r>
              <a:rPr sz="1900" b="0" dirty="0" err="1">
                <a:solidFill>
                  <a:srgbClr val="FFFFFF"/>
                </a:solidFill>
                <a:latin typeface="Tw Cen MT"/>
              </a:rPr>
              <a:t>los</a:t>
            </a:r>
            <a:r>
              <a:rPr sz="1900" b="0" dirty="0">
                <a:solidFill>
                  <a:srgbClr val="FFFFFF"/>
                </a:solidFill>
                <a:latin typeface="Tw Cen MT"/>
              </a:rPr>
              <a:t> </a:t>
            </a:r>
            <a:r>
              <a:rPr sz="1900" b="0" dirty="0" err="1">
                <a:solidFill>
                  <a:srgbClr val="FFFFFF"/>
                </a:solidFill>
                <a:latin typeface="Tw Cen MT"/>
              </a:rPr>
              <a:t>directivos</a:t>
            </a:r>
            <a:r>
              <a:rPr sz="1900" b="0" dirty="0">
                <a:solidFill>
                  <a:srgbClr val="FFFFFF"/>
                </a:solidFill>
                <a:latin typeface="Tw Cen MT"/>
              </a:rPr>
              <a:t> de </a:t>
            </a:r>
            <a:r>
              <a:rPr sz="1900" b="0" dirty="0" err="1">
                <a:solidFill>
                  <a:srgbClr val="FFFFFF"/>
                </a:solidFill>
                <a:latin typeface="Tw Cen MT"/>
              </a:rPr>
              <a:t>cada</a:t>
            </a:r>
            <a:r>
              <a:rPr sz="1900" b="0" dirty="0">
                <a:solidFill>
                  <a:srgbClr val="FFFFFF"/>
                </a:solidFill>
                <a:latin typeface="Tw Cen MT"/>
              </a:rPr>
              <a:t> </a:t>
            </a:r>
            <a:r>
              <a:rPr sz="1900" b="0" dirty="0" err="1">
                <a:solidFill>
                  <a:srgbClr val="FFFFFF"/>
                </a:solidFill>
                <a:latin typeface="Tw Cen MT"/>
              </a:rPr>
              <a:t>unidad</a:t>
            </a:r>
            <a:r>
              <a:rPr sz="1900" b="0" dirty="0">
                <a:solidFill>
                  <a:srgbClr val="FFFFFF"/>
                </a:solidFill>
                <a:latin typeface="Tw Cen MT"/>
              </a:rPr>
              <a:t> (trading, </a:t>
            </a:r>
            <a:r>
              <a:rPr sz="1900" b="0" dirty="0" err="1">
                <a:solidFill>
                  <a:srgbClr val="FFFFFF"/>
                </a:solidFill>
                <a:latin typeface="Tw Cen MT"/>
              </a:rPr>
              <a:t>derivados</a:t>
            </a:r>
            <a:r>
              <a:rPr sz="1900" b="0" dirty="0">
                <a:solidFill>
                  <a:srgbClr val="FFFFFF"/>
                </a:solidFill>
                <a:latin typeface="Tw Cen MT"/>
              </a:rPr>
              <a:t>, </a:t>
            </a:r>
            <a:r>
              <a:rPr sz="1900" b="0" dirty="0" err="1">
                <a:solidFill>
                  <a:srgbClr val="FFFFFF"/>
                </a:solidFill>
                <a:latin typeface="Tw Cen MT"/>
              </a:rPr>
              <a:t>nuevas</a:t>
            </a:r>
            <a:r>
              <a:rPr sz="1900" b="0" dirty="0">
                <a:solidFill>
                  <a:srgbClr val="FFFFFF"/>
                </a:solidFill>
                <a:latin typeface="Tw Cen MT"/>
              </a:rPr>
              <a:t> </a:t>
            </a:r>
            <a:r>
              <a:rPr sz="1900" b="0" dirty="0" err="1">
                <a:solidFill>
                  <a:srgbClr val="FFFFFF"/>
                </a:solidFill>
                <a:latin typeface="Tw Cen MT"/>
              </a:rPr>
              <a:t>inversiones</a:t>
            </a:r>
            <a:r>
              <a:rPr sz="1900" b="0" dirty="0">
                <a:solidFill>
                  <a:srgbClr val="FFFFFF"/>
                </a:solidFill>
                <a:latin typeface="Tw Cen MT"/>
              </a:rPr>
              <a:t>) </a:t>
            </a:r>
            <a:r>
              <a:rPr sz="1900" b="0" dirty="0" err="1">
                <a:solidFill>
                  <a:srgbClr val="FFFFFF"/>
                </a:solidFill>
                <a:latin typeface="Tw Cen MT"/>
              </a:rPr>
              <a:t>tenían</a:t>
            </a:r>
            <a:r>
              <a:rPr sz="1900" b="0" dirty="0">
                <a:solidFill>
                  <a:srgbClr val="FFFFFF"/>
                </a:solidFill>
                <a:latin typeface="Tw Cen MT"/>
              </a:rPr>
              <a:t> </a:t>
            </a:r>
            <a:r>
              <a:rPr sz="1900" b="0" dirty="0" err="1">
                <a:solidFill>
                  <a:srgbClr val="FFFFFF"/>
                </a:solidFill>
                <a:latin typeface="Tw Cen MT"/>
              </a:rPr>
              <a:t>amplia</a:t>
            </a:r>
            <a:r>
              <a:rPr sz="1900" b="0" dirty="0">
                <a:solidFill>
                  <a:srgbClr val="FFFFFF"/>
                </a:solidFill>
                <a:latin typeface="Tw Cen MT"/>
              </a:rPr>
              <a:t> </a:t>
            </a:r>
            <a:r>
              <a:rPr sz="1900" b="0" dirty="0" err="1">
                <a:solidFill>
                  <a:srgbClr val="FFFFFF"/>
                </a:solidFill>
                <a:latin typeface="Tw Cen MT"/>
              </a:rPr>
              <a:t>autonomía</a:t>
            </a:r>
            <a:r>
              <a:rPr sz="1900" b="0" dirty="0">
                <a:solidFill>
                  <a:srgbClr val="FFFFFF"/>
                </a:solidFill>
                <a:latin typeface="Tw Cen MT"/>
              </a:rPr>
              <a:t>.</a:t>
            </a:r>
          </a:p>
          <a:p>
            <a:pPr lvl="1" algn="l">
              <a:spcBef>
                <a:spcPts val="150"/>
              </a:spcBef>
              <a:buFont typeface="Tw Cen MT"/>
              <a:buChar char="▸"/>
            </a:pPr>
            <a:r>
              <a:rPr sz="1900" b="0" dirty="0" err="1">
                <a:solidFill>
                  <a:srgbClr val="FFFFFF"/>
                </a:solidFill>
                <a:latin typeface="Tw Cen MT"/>
              </a:rPr>
              <a:t>Centralizada</a:t>
            </a:r>
            <a:r>
              <a:rPr sz="1900" b="0" dirty="0">
                <a:solidFill>
                  <a:srgbClr val="FFFFFF"/>
                </a:solidFill>
                <a:latin typeface="Tw Cen MT"/>
              </a:rPr>
              <a:t> </a:t>
            </a:r>
            <a:r>
              <a:rPr sz="1900" b="0" dirty="0" err="1">
                <a:solidFill>
                  <a:srgbClr val="FFFFFF"/>
                </a:solidFill>
                <a:latin typeface="Tw Cen MT"/>
              </a:rPr>
              <a:t>en</a:t>
            </a:r>
            <a:r>
              <a:rPr sz="1900" b="0" dirty="0">
                <a:solidFill>
                  <a:srgbClr val="FFFFFF"/>
                </a:solidFill>
                <a:latin typeface="Tw Cen MT"/>
              </a:rPr>
              <a:t> la </a:t>
            </a:r>
            <a:r>
              <a:rPr sz="1900" b="0" dirty="0" err="1">
                <a:solidFill>
                  <a:srgbClr val="FFFFFF"/>
                </a:solidFill>
                <a:latin typeface="Tw Cen MT"/>
              </a:rPr>
              <a:t>cúpula</a:t>
            </a:r>
            <a:r>
              <a:rPr sz="1900" b="0" dirty="0">
                <a:solidFill>
                  <a:srgbClr val="FFFFFF"/>
                </a:solidFill>
                <a:latin typeface="Tw Cen MT"/>
              </a:rPr>
              <a:t>: las </a:t>
            </a:r>
            <a:r>
              <a:rPr sz="1900" b="0" dirty="0" err="1">
                <a:solidFill>
                  <a:srgbClr val="FFFFFF"/>
                </a:solidFill>
                <a:latin typeface="Tw Cen MT"/>
              </a:rPr>
              <a:t>decisiones</a:t>
            </a:r>
            <a:r>
              <a:rPr sz="1900" b="0" dirty="0">
                <a:solidFill>
                  <a:srgbClr val="FFFFFF"/>
                </a:solidFill>
                <a:latin typeface="Tw Cen MT"/>
              </a:rPr>
              <a:t> </a:t>
            </a:r>
            <a:r>
              <a:rPr sz="1900" b="0" dirty="0" err="1">
                <a:solidFill>
                  <a:srgbClr val="FFFFFF"/>
                </a:solidFill>
                <a:latin typeface="Tw Cen MT"/>
              </a:rPr>
              <a:t>estratégicas</a:t>
            </a:r>
            <a:r>
              <a:rPr sz="1900" b="0" dirty="0">
                <a:solidFill>
                  <a:srgbClr val="FFFFFF"/>
                </a:solidFill>
                <a:latin typeface="Tw Cen MT"/>
              </a:rPr>
              <a:t> y la </a:t>
            </a:r>
            <a:r>
              <a:rPr sz="1900" b="0" dirty="0" err="1">
                <a:solidFill>
                  <a:srgbClr val="FFFFFF"/>
                </a:solidFill>
                <a:latin typeface="Tw Cen MT"/>
              </a:rPr>
              <a:t>presión</a:t>
            </a:r>
            <a:r>
              <a:rPr sz="1900" b="0" dirty="0">
                <a:solidFill>
                  <a:srgbClr val="FFFFFF"/>
                </a:solidFill>
                <a:latin typeface="Tw Cen MT"/>
              </a:rPr>
              <a:t> </a:t>
            </a:r>
            <a:r>
              <a:rPr sz="1900" b="0" dirty="0" err="1">
                <a:solidFill>
                  <a:srgbClr val="FFFFFF"/>
                </a:solidFill>
                <a:latin typeface="Tw Cen MT"/>
              </a:rPr>
              <a:t>por</a:t>
            </a:r>
            <a:r>
              <a:rPr sz="1900" b="0" dirty="0">
                <a:solidFill>
                  <a:srgbClr val="FFFFFF"/>
                </a:solidFill>
                <a:latin typeface="Tw Cen MT"/>
              </a:rPr>
              <a:t> </a:t>
            </a:r>
            <a:r>
              <a:rPr sz="1900" b="0" dirty="0" err="1">
                <a:solidFill>
                  <a:srgbClr val="FFFFFF"/>
                </a:solidFill>
                <a:latin typeface="Tw Cen MT"/>
              </a:rPr>
              <a:t>cumplir</a:t>
            </a:r>
            <a:r>
              <a:rPr sz="1900" b="0" dirty="0">
                <a:solidFill>
                  <a:srgbClr val="FFFFFF"/>
                </a:solidFill>
                <a:latin typeface="Tw Cen MT"/>
              </a:rPr>
              <a:t> </a:t>
            </a:r>
            <a:r>
              <a:rPr sz="1900" b="0" dirty="0" err="1">
                <a:solidFill>
                  <a:srgbClr val="FFFFFF"/>
                </a:solidFill>
                <a:latin typeface="Tw Cen MT"/>
              </a:rPr>
              <a:t>objetivos</a:t>
            </a:r>
            <a:r>
              <a:rPr sz="1900" b="0" dirty="0">
                <a:solidFill>
                  <a:srgbClr val="FFFFFF"/>
                </a:solidFill>
                <a:latin typeface="Tw Cen MT"/>
              </a:rPr>
              <a:t> </a:t>
            </a:r>
            <a:r>
              <a:rPr sz="1900" b="0" dirty="0" err="1">
                <a:solidFill>
                  <a:srgbClr val="FFFFFF"/>
                </a:solidFill>
                <a:latin typeface="Tw Cen MT"/>
              </a:rPr>
              <a:t>financieros</a:t>
            </a:r>
            <a:r>
              <a:rPr sz="1900" b="0" dirty="0">
                <a:solidFill>
                  <a:srgbClr val="FFFFFF"/>
                </a:solidFill>
                <a:latin typeface="Tw Cen MT"/>
              </a:rPr>
              <a:t> </a:t>
            </a:r>
            <a:r>
              <a:rPr sz="1900" b="0" dirty="0" err="1">
                <a:solidFill>
                  <a:srgbClr val="FFFFFF"/>
                </a:solidFill>
                <a:latin typeface="Tw Cen MT"/>
              </a:rPr>
              <a:t>estaban</a:t>
            </a:r>
            <a:r>
              <a:rPr sz="1900" b="0" dirty="0">
                <a:solidFill>
                  <a:srgbClr val="FFFFFF"/>
                </a:solidFill>
                <a:latin typeface="Tw Cen MT"/>
              </a:rPr>
              <a:t> </a:t>
            </a:r>
            <a:r>
              <a:rPr sz="1900" b="0" dirty="0" err="1">
                <a:solidFill>
                  <a:srgbClr val="FFFFFF"/>
                </a:solidFill>
                <a:latin typeface="Tw Cen MT"/>
              </a:rPr>
              <a:t>muy</a:t>
            </a:r>
            <a:r>
              <a:rPr sz="1900" b="0" dirty="0">
                <a:solidFill>
                  <a:srgbClr val="FFFFFF"/>
                </a:solidFill>
                <a:latin typeface="Tw Cen MT"/>
              </a:rPr>
              <a:t> </a:t>
            </a:r>
            <a:r>
              <a:rPr sz="1900" b="0" dirty="0" err="1">
                <a:solidFill>
                  <a:srgbClr val="FFFFFF"/>
                </a:solidFill>
                <a:latin typeface="Tw Cen MT"/>
              </a:rPr>
              <a:t>controladas</a:t>
            </a:r>
            <a:r>
              <a:rPr sz="1900" b="0" dirty="0">
                <a:solidFill>
                  <a:srgbClr val="FFFFFF"/>
                </a:solidFill>
                <a:latin typeface="Tw Cen MT"/>
              </a:rPr>
              <a:t> </a:t>
            </a:r>
            <a:r>
              <a:rPr sz="1900" b="0" dirty="0" err="1">
                <a:solidFill>
                  <a:srgbClr val="FFFFFF"/>
                </a:solidFill>
                <a:latin typeface="Tw Cen MT"/>
              </a:rPr>
              <a:t>por</a:t>
            </a:r>
            <a:r>
              <a:rPr sz="1900" b="0" dirty="0">
                <a:solidFill>
                  <a:srgbClr val="FFFFFF"/>
                </a:solidFill>
                <a:latin typeface="Tw Cen MT"/>
              </a:rPr>
              <a:t> </a:t>
            </a:r>
            <a:r>
              <a:rPr sz="1900" b="0" dirty="0" err="1">
                <a:solidFill>
                  <a:srgbClr val="FFFFFF"/>
                </a:solidFill>
                <a:latin typeface="Tw Cen MT"/>
              </a:rPr>
              <a:t>el</a:t>
            </a:r>
            <a:r>
              <a:rPr sz="1900" b="0" dirty="0">
                <a:solidFill>
                  <a:srgbClr val="FFFFFF"/>
                </a:solidFill>
                <a:latin typeface="Tw Cen MT"/>
              </a:rPr>
              <a:t> CEO Skilling y </a:t>
            </a:r>
            <a:r>
              <a:rPr sz="1900" b="0" dirty="0" err="1">
                <a:solidFill>
                  <a:srgbClr val="FFFFFF"/>
                </a:solidFill>
                <a:latin typeface="Tw Cen MT"/>
              </a:rPr>
              <a:t>el</a:t>
            </a:r>
            <a:r>
              <a:rPr sz="1900" b="0" dirty="0">
                <a:solidFill>
                  <a:srgbClr val="FFFFFF"/>
                </a:solidFill>
                <a:latin typeface="Tw Cen MT"/>
              </a:rPr>
              <a:t> CFO Fastow.</a:t>
            </a:r>
            <a:endParaRPr lang="es-419" sz="1900" b="0" dirty="0">
              <a:solidFill>
                <a:srgbClr val="FFFFFF"/>
              </a:solidFill>
              <a:latin typeface="Tw Cen MT"/>
            </a:endParaRPr>
          </a:p>
          <a:p>
            <a:pPr lvl="1" algn="l">
              <a:spcBef>
                <a:spcPts val="150"/>
              </a:spcBef>
              <a:buFont typeface="Tw Cen MT"/>
              <a:buChar char="▸"/>
            </a:pPr>
            <a:endParaRPr sz="1900" b="0" dirty="0">
              <a:solidFill>
                <a:srgbClr val="FFFFFF"/>
              </a:solidFill>
              <a:latin typeface="Tw Cen MT"/>
            </a:endParaRPr>
          </a:p>
          <a:p>
            <a:pPr algn="l">
              <a:spcBef>
                <a:spcPts val="400"/>
              </a:spcBef>
              <a:buNone/>
            </a:pPr>
            <a:r>
              <a:rPr sz="1900" b="1" dirty="0">
                <a:solidFill>
                  <a:srgbClr val="52B788"/>
                </a:solidFill>
                <a:latin typeface="Tw Cen MT"/>
              </a:rPr>
              <a:t>EVALUACIÓN DEL DESEMPEÑO</a:t>
            </a:r>
          </a:p>
          <a:p>
            <a:pPr lvl="1" algn="l">
              <a:spcBef>
                <a:spcPts val="150"/>
              </a:spcBef>
              <a:buFont typeface="Tw Cen MT"/>
              <a:buChar char="▸"/>
            </a:pPr>
            <a:r>
              <a:rPr sz="1900" b="0" dirty="0">
                <a:solidFill>
                  <a:srgbClr val="FFFFFF"/>
                </a:solidFill>
                <a:latin typeface="Tw Cen MT"/>
              </a:rPr>
              <a:t>Sistema de "rank and yank": se </a:t>
            </a:r>
            <a:r>
              <a:rPr sz="1900" b="0" dirty="0" err="1">
                <a:solidFill>
                  <a:srgbClr val="FFFFFF"/>
                </a:solidFill>
                <a:latin typeface="Tw Cen MT"/>
              </a:rPr>
              <a:t>clasificaba</a:t>
            </a:r>
            <a:r>
              <a:rPr sz="1900" b="0" dirty="0">
                <a:solidFill>
                  <a:srgbClr val="FFFFFF"/>
                </a:solidFill>
                <a:latin typeface="Tw Cen MT"/>
              </a:rPr>
              <a:t> y </a:t>
            </a:r>
            <a:r>
              <a:rPr sz="1900" b="0" dirty="0" err="1">
                <a:solidFill>
                  <a:srgbClr val="FFFFFF"/>
                </a:solidFill>
                <a:latin typeface="Tw Cen MT"/>
              </a:rPr>
              <a:t>despedía</a:t>
            </a:r>
            <a:r>
              <a:rPr sz="1900" b="0" dirty="0">
                <a:solidFill>
                  <a:srgbClr val="FFFFFF"/>
                </a:solidFill>
                <a:latin typeface="Tw Cen MT"/>
              </a:rPr>
              <a:t> al 15% </a:t>
            </a:r>
            <a:r>
              <a:rPr sz="1900" b="0" dirty="0" err="1">
                <a:solidFill>
                  <a:srgbClr val="FFFFFF"/>
                </a:solidFill>
                <a:latin typeface="Tw Cen MT"/>
              </a:rPr>
              <a:t>más</a:t>
            </a:r>
            <a:r>
              <a:rPr sz="1900" b="0" dirty="0">
                <a:solidFill>
                  <a:srgbClr val="FFFFFF"/>
                </a:solidFill>
                <a:latin typeface="Tw Cen MT"/>
              </a:rPr>
              <a:t> bajo </a:t>
            </a:r>
            <a:r>
              <a:rPr sz="1900" b="0" dirty="0" err="1">
                <a:solidFill>
                  <a:srgbClr val="FFFFFF"/>
                </a:solidFill>
                <a:latin typeface="Tw Cen MT"/>
              </a:rPr>
              <a:t>cada</a:t>
            </a:r>
            <a:r>
              <a:rPr sz="1900" b="0" dirty="0">
                <a:solidFill>
                  <a:srgbClr val="FFFFFF"/>
                </a:solidFill>
                <a:latin typeface="Tw Cen MT"/>
              </a:rPr>
              <a:t> </a:t>
            </a:r>
            <a:r>
              <a:rPr sz="1900" b="0" dirty="0" err="1">
                <a:solidFill>
                  <a:srgbClr val="FFFFFF"/>
                </a:solidFill>
                <a:latin typeface="Tw Cen MT"/>
              </a:rPr>
              <a:t>año</a:t>
            </a:r>
            <a:r>
              <a:rPr sz="1900" b="0" dirty="0">
                <a:solidFill>
                  <a:srgbClr val="FFFFFF"/>
                </a:solidFill>
                <a:latin typeface="Tw Cen MT"/>
              </a:rPr>
              <a:t>.</a:t>
            </a:r>
          </a:p>
          <a:p>
            <a:pPr lvl="1" algn="l">
              <a:spcBef>
                <a:spcPts val="150"/>
              </a:spcBef>
              <a:buFont typeface="Tw Cen MT"/>
              <a:buChar char="▸"/>
            </a:pPr>
            <a:r>
              <a:rPr sz="1900" b="0" dirty="0">
                <a:solidFill>
                  <a:srgbClr val="FFFFFF"/>
                </a:solidFill>
                <a:latin typeface="Tw Cen MT"/>
              </a:rPr>
              <a:t>El </a:t>
            </a:r>
            <a:r>
              <a:rPr sz="1900" b="0" dirty="0" err="1">
                <a:solidFill>
                  <a:srgbClr val="FFFFFF"/>
                </a:solidFill>
                <a:latin typeface="Tw Cen MT"/>
              </a:rPr>
              <a:t>desempeño</a:t>
            </a:r>
            <a:r>
              <a:rPr sz="1900" b="0" dirty="0">
                <a:solidFill>
                  <a:srgbClr val="FFFFFF"/>
                </a:solidFill>
                <a:latin typeface="Tw Cen MT"/>
              </a:rPr>
              <a:t> se </a:t>
            </a:r>
            <a:r>
              <a:rPr sz="1900" b="0" dirty="0" err="1">
                <a:solidFill>
                  <a:srgbClr val="FFFFFF"/>
                </a:solidFill>
                <a:latin typeface="Tw Cen MT"/>
              </a:rPr>
              <a:t>medía</a:t>
            </a:r>
            <a:r>
              <a:rPr sz="1900" b="0" dirty="0">
                <a:solidFill>
                  <a:srgbClr val="FFFFFF"/>
                </a:solidFill>
                <a:latin typeface="Tw Cen MT"/>
              </a:rPr>
              <a:t> </a:t>
            </a:r>
            <a:r>
              <a:rPr sz="1900" b="0" dirty="0" err="1">
                <a:solidFill>
                  <a:srgbClr val="FFFFFF"/>
                </a:solidFill>
                <a:latin typeface="Tw Cen MT"/>
              </a:rPr>
              <a:t>principalmente</a:t>
            </a:r>
            <a:r>
              <a:rPr sz="1900" b="0" dirty="0">
                <a:solidFill>
                  <a:srgbClr val="FFFFFF"/>
                </a:solidFill>
                <a:latin typeface="Tw Cen MT"/>
              </a:rPr>
              <a:t> con base </a:t>
            </a:r>
            <a:r>
              <a:rPr sz="1900" b="0" dirty="0" err="1">
                <a:solidFill>
                  <a:srgbClr val="FFFFFF"/>
                </a:solidFill>
                <a:latin typeface="Tw Cen MT"/>
              </a:rPr>
              <a:t>en</a:t>
            </a:r>
            <a:r>
              <a:rPr sz="1900" b="0" dirty="0">
                <a:solidFill>
                  <a:srgbClr val="FFFFFF"/>
                </a:solidFill>
                <a:latin typeface="Tw Cen MT"/>
              </a:rPr>
              <a:t> </a:t>
            </a:r>
            <a:r>
              <a:rPr sz="1900" b="0" dirty="0" err="1">
                <a:solidFill>
                  <a:srgbClr val="FFFFFF"/>
                </a:solidFill>
                <a:latin typeface="Tw Cen MT"/>
              </a:rPr>
              <a:t>el</a:t>
            </a:r>
            <a:r>
              <a:rPr sz="1900" b="0" dirty="0">
                <a:solidFill>
                  <a:srgbClr val="FFFFFF"/>
                </a:solidFill>
                <a:latin typeface="Tw Cen MT"/>
              </a:rPr>
              <a:t> </a:t>
            </a:r>
            <a:r>
              <a:rPr sz="1900" b="0" dirty="0" err="1">
                <a:solidFill>
                  <a:srgbClr val="FFFFFF"/>
                </a:solidFill>
                <a:latin typeface="Tw Cen MT"/>
              </a:rPr>
              <a:t>crecimiento</a:t>
            </a:r>
            <a:r>
              <a:rPr sz="1900" b="0" dirty="0">
                <a:solidFill>
                  <a:srgbClr val="FFFFFF"/>
                </a:solidFill>
                <a:latin typeface="Tw Cen MT"/>
              </a:rPr>
              <a:t> de las </a:t>
            </a:r>
            <a:r>
              <a:rPr sz="1900" b="0" dirty="0" err="1">
                <a:solidFill>
                  <a:srgbClr val="FFFFFF"/>
                </a:solidFill>
                <a:latin typeface="Tw Cen MT"/>
              </a:rPr>
              <a:t>ganancias</a:t>
            </a:r>
            <a:r>
              <a:rPr sz="1900" b="0" dirty="0">
                <a:solidFill>
                  <a:srgbClr val="FFFFFF"/>
                </a:solidFill>
                <a:latin typeface="Tw Cen MT"/>
              </a:rPr>
              <a:t> a corto </a:t>
            </a:r>
            <a:r>
              <a:rPr sz="1900" b="0" dirty="0" err="1">
                <a:solidFill>
                  <a:srgbClr val="FFFFFF"/>
                </a:solidFill>
                <a:latin typeface="Tw Cen MT"/>
              </a:rPr>
              <a:t>plazo</a:t>
            </a:r>
            <a:r>
              <a:rPr sz="1900" b="0" dirty="0">
                <a:solidFill>
                  <a:srgbClr val="FFFFFF"/>
                </a:solidFill>
                <a:latin typeface="Tw Cen MT"/>
              </a:rPr>
              <a:t>.</a:t>
            </a:r>
            <a:endParaRPr lang="es-419" sz="1900" b="0" dirty="0">
              <a:solidFill>
                <a:srgbClr val="FFFFFF"/>
              </a:solidFill>
              <a:latin typeface="Tw Cen MT"/>
            </a:endParaRPr>
          </a:p>
          <a:p>
            <a:pPr lvl="1" algn="l">
              <a:spcBef>
                <a:spcPts val="150"/>
              </a:spcBef>
              <a:buFont typeface="Tw Cen MT"/>
              <a:buChar char="▸"/>
            </a:pPr>
            <a:endParaRPr sz="1900" b="0" dirty="0">
              <a:solidFill>
                <a:srgbClr val="FFFFFF"/>
              </a:solidFill>
              <a:latin typeface="Tw Cen MT"/>
            </a:endParaRPr>
          </a:p>
          <a:p>
            <a:pPr algn="l">
              <a:spcBef>
                <a:spcPts val="400"/>
              </a:spcBef>
              <a:buNone/>
            </a:pPr>
            <a:r>
              <a:rPr sz="1900" b="1" dirty="0">
                <a:solidFill>
                  <a:srgbClr val="52B788"/>
                </a:solidFill>
                <a:latin typeface="Tw Cen MT"/>
              </a:rPr>
              <a:t>POLÍTICA COMPENSATORIA</a:t>
            </a:r>
          </a:p>
          <a:p>
            <a:pPr lvl="1" algn="l">
              <a:spcBef>
                <a:spcPts val="150"/>
              </a:spcBef>
              <a:buFont typeface="Tw Cen MT"/>
              <a:buChar char="▸"/>
            </a:pPr>
            <a:r>
              <a:rPr sz="1900" b="0" dirty="0" err="1">
                <a:solidFill>
                  <a:srgbClr val="FFFFFF"/>
                </a:solidFill>
                <a:latin typeface="Tw Cen MT"/>
              </a:rPr>
              <a:t>Énfasis</a:t>
            </a:r>
            <a:r>
              <a:rPr sz="1900" b="0" dirty="0">
                <a:solidFill>
                  <a:srgbClr val="FFFFFF"/>
                </a:solidFill>
                <a:latin typeface="Tw Cen MT"/>
              </a:rPr>
              <a:t> </a:t>
            </a:r>
            <a:r>
              <a:rPr sz="1900" b="0" dirty="0" err="1">
                <a:solidFill>
                  <a:srgbClr val="FFFFFF"/>
                </a:solidFill>
                <a:latin typeface="Tw Cen MT"/>
              </a:rPr>
              <a:t>en</a:t>
            </a:r>
            <a:r>
              <a:rPr sz="1900" b="0" dirty="0">
                <a:solidFill>
                  <a:srgbClr val="FFFFFF"/>
                </a:solidFill>
                <a:latin typeface="Tw Cen MT"/>
              </a:rPr>
              <a:t> </a:t>
            </a:r>
            <a:r>
              <a:rPr sz="1900" b="0" dirty="0" err="1">
                <a:solidFill>
                  <a:srgbClr val="FFFFFF"/>
                </a:solidFill>
                <a:latin typeface="Tw Cen MT"/>
              </a:rPr>
              <a:t>acciones</a:t>
            </a:r>
            <a:r>
              <a:rPr sz="1900" b="0" dirty="0">
                <a:solidFill>
                  <a:srgbClr val="FFFFFF"/>
                </a:solidFill>
                <a:latin typeface="Tw Cen MT"/>
              </a:rPr>
              <a:t> y </a:t>
            </a:r>
            <a:r>
              <a:rPr sz="1900" b="0" dirty="0" err="1">
                <a:solidFill>
                  <a:srgbClr val="FFFFFF"/>
                </a:solidFill>
                <a:latin typeface="Tw Cen MT"/>
              </a:rPr>
              <a:t>opciones</a:t>
            </a:r>
            <a:r>
              <a:rPr sz="1900" b="0" dirty="0">
                <a:solidFill>
                  <a:srgbClr val="FFFFFF"/>
                </a:solidFill>
                <a:latin typeface="Tw Cen MT"/>
              </a:rPr>
              <a:t> </a:t>
            </a:r>
            <a:r>
              <a:rPr sz="1900" b="0" dirty="0" err="1">
                <a:solidFill>
                  <a:srgbClr val="FFFFFF"/>
                </a:solidFill>
                <a:latin typeface="Tw Cen MT"/>
              </a:rPr>
              <a:t>sobre</a:t>
            </a:r>
            <a:r>
              <a:rPr sz="1900" b="0" dirty="0">
                <a:solidFill>
                  <a:srgbClr val="FFFFFF"/>
                </a:solidFill>
                <a:latin typeface="Tw Cen MT"/>
              </a:rPr>
              <a:t> </a:t>
            </a:r>
            <a:r>
              <a:rPr sz="1900" b="0" dirty="0" err="1">
                <a:solidFill>
                  <a:srgbClr val="FFFFFF"/>
                </a:solidFill>
                <a:latin typeface="Tw Cen MT"/>
              </a:rPr>
              <a:t>acciones</a:t>
            </a:r>
            <a:r>
              <a:rPr sz="1900" b="0" dirty="0">
                <a:solidFill>
                  <a:srgbClr val="FFFFFF"/>
                </a:solidFill>
                <a:latin typeface="Tw Cen MT"/>
              </a:rPr>
              <a:t> </a:t>
            </a:r>
            <a:r>
              <a:rPr sz="1900" b="0" dirty="0" err="1">
                <a:solidFill>
                  <a:srgbClr val="FFFFFF"/>
                </a:solidFill>
                <a:latin typeface="Tw Cen MT"/>
              </a:rPr>
              <a:t>basadas</a:t>
            </a:r>
            <a:r>
              <a:rPr sz="1900" b="0" dirty="0">
                <a:solidFill>
                  <a:srgbClr val="FFFFFF"/>
                </a:solidFill>
                <a:latin typeface="Tw Cen MT"/>
              </a:rPr>
              <a:t> </a:t>
            </a:r>
            <a:r>
              <a:rPr sz="1900" b="0" dirty="0" err="1">
                <a:solidFill>
                  <a:srgbClr val="FFFFFF"/>
                </a:solidFill>
                <a:latin typeface="Tw Cen MT"/>
              </a:rPr>
              <a:t>en</a:t>
            </a:r>
            <a:r>
              <a:rPr sz="1900" b="0" dirty="0">
                <a:solidFill>
                  <a:srgbClr val="FFFFFF"/>
                </a:solidFill>
                <a:latin typeface="Tw Cen MT"/>
              </a:rPr>
              <a:t> </a:t>
            </a:r>
            <a:r>
              <a:rPr sz="1900" b="0" dirty="0" err="1">
                <a:solidFill>
                  <a:srgbClr val="FFFFFF"/>
                </a:solidFill>
                <a:latin typeface="Tw Cen MT"/>
              </a:rPr>
              <a:t>el</a:t>
            </a:r>
            <a:r>
              <a:rPr sz="1900" b="0" dirty="0">
                <a:solidFill>
                  <a:srgbClr val="FFFFFF"/>
                </a:solidFill>
                <a:latin typeface="Tw Cen MT"/>
              </a:rPr>
              <a:t> </a:t>
            </a:r>
            <a:r>
              <a:rPr sz="1900" b="0" dirty="0" err="1">
                <a:solidFill>
                  <a:srgbClr val="FFFFFF"/>
                </a:solidFill>
                <a:latin typeface="Tw Cen MT"/>
              </a:rPr>
              <a:t>crecimiento</a:t>
            </a:r>
            <a:r>
              <a:rPr sz="1900" b="0" dirty="0">
                <a:solidFill>
                  <a:srgbClr val="FFFFFF"/>
                </a:solidFill>
                <a:latin typeface="Tw Cen MT"/>
              </a:rPr>
              <a:t> de </a:t>
            </a:r>
            <a:r>
              <a:rPr sz="1900" b="0" dirty="0" err="1">
                <a:solidFill>
                  <a:srgbClr val="FFFFFF"/>
                </a:solidFill>
                <a:latin typeface="Tw Cen MT"/>
              </a:rPr>
              <a:t>ganancias</a:t>
            </a:r>
            <a:r>
              <a:rPr sz="1900" b="0" dirty="0">
                <a:solidFill>
                  <a:srgbClr val="FFFFFF"/>
                </a:solidFill>
                <a:latin typeface="Tw Cen MT"/>
              </a:rPr>
              <a:t> a corto </a:t>
            </a:r>
            <a:r>
              <a:rPr sz="1900" b="0" dirty="0" err="1">
                <a:solidFill>
                  <a:srgbClr val="FFFFFF"/>
                </a:solidFill>
                <a:latin typeface="Tw Cen MT"/>
              </a:rPr>
              <a:t>plazo</a:t>
            </a:r>
            <a:r>
              <a:rPr sz="1900" b="0" dirty="0">
                <a:solidFill>
                  <a:srgbClr val="FFFFFF"/>
                </a:solidFill>
                <a:latin typeface="Tw Cen MT"/>
              </a:rPr>
              <a:t>.</a:t>
            </a:r>
            <a:endParaRPr lang="es-419" sz="1900" b="0" dirty="0">
              <a:solidFill>
                <a:srgbClr val="FFFFFF"/>
              </a:solidFill>
              <a:latin typeface="Tw Cen MT"/>
            </a:endParaRPr>
          </a:p>
          <a:p>
            <a:pPr lvl="1" algn="l">
              <a:spcBef>
                <a:spcPts val="150"/>
              </a:spcBef>
              <a:buFont typeface="Tw Cen MT"/>
              <a:buChar char="▸"/>
            </a:pPr>
            <a:endParaRPr sz="1900" b="0" dirty="0">
              <a:solidFill>
                <a:srgbClr val="FFFFFF"/>
              </a:solidFill>
              <a:latin typeface="Tw Cen MT"/>
            </a:endParaRPr>
          </a:p>
          <a:p>
            <a:pPr algn="ctr">
              <a:spcBef>
                <a:spcPts val="400"/>
              </a:spcBef>
            </a:pPr>
            <a:r>
              <a:rPr sz="2400" b="1" dirty="0">
                <a:solidFill>
                  <a:srgbClr val="FFFFFF"/>
                </a:solidFill>
                <a:latin typeface="Tw Cen MT"/>
              </a:rPr>
              <a:t>CONSIGNA: ¿</a:t>
            </a:r>
            <a:r>
              <a:rPr sz="2400" b="1" dirty="0" err="1">
                <a:solidFill>
                  <a:srgbClr val="FFFFFF"/>
                </a:solidFill>
                <a:latin typeface="Tw Cen MT"/>
              </a:rPr>
              <a:t>Qué</a:t>
            </a:r>
            <a:r>
              <a:rPr sz="2400" b="1" dirty="0">
                <a:solidFill>
                  <a:srgbClr val="FFFFFF"/>
                </a:solidFill>
                <a:latin typeface="Tw Cen MT"/>
              </a:rPr>
              <a:t> CO </a:t>
            </a:r>
            <a:r>
              <a:rPr sz="2400" b="1" dirty="0" err="1">
                <a:solidFill>
                  <a:srgbClr val="FFFFFF"/>
                </a:solidFill>
                <a:latin typeface="Tw Cen MT"/>
              </a:rPr>
              <a:t>estiman</a:t>
            </a:r>
            <a:r>
              <a:rPr sz="2400" b="1" dirty="0">
                <a:solidFill>
                  <a:srgbClr val="FFFFFF"/>
                </a:solidFill>
                <a:latin typeface="Tw Cen MT"/>
              </a:rPr>
              <a:t> </a:t>
            </a:r>
            <a:r>
              <a:rPr sz="2400" b="1" dirty="0" err="1">
                <a:solidFill>
                  <a:srgbClr val="FFFFFF"/>
                </a:solidFill>
                <a:latin typeface="Tw Cen MT"/>
              </a:rPr>
              <a:t>que</a:t>
            </a:r>
            <a:r>
              <a:rPr sz="2400" b="1" dirty="0">
                <a:solidFill>
                  <a:srgbClr val="FFFFFF"/>
                </a:solidFill>
                <a:latin typeface="Tw Cen MT"/>
              </a:rPr>
              <a:t> era </a:t>
            </a:r>
            <a:r>
              <a:rPr sz="2400" b="1" dirty="0" err="1">
                <a:solidFill>
                  <a:srgbClr val="FFFFFF"/>
                </a:solidFill>
                <a:latin typeface="Tw Cen MT"/>
              </a:rPr>
              <a:t>preponderante</a:t>
            </a:r>
            <a:r>
              <a:rPr sz="2400" b="1" dirty="0">
                <a:solidFill>
                  <a:srgbClr val="FFFFFF"/>
                </a:solidFill>
                <a:latin typeface="Tw Cen MT"/>
              </a:rPr>
              <a:t> </a:t>
            </a:r>
            <a:r>
              <a:rPr sz="2400" b="1" dirty="0" err="1">
                <a:solidFill>
                  <a:srgbClr val="FFFFFF"/>
                </a:solidFill>
                <a:latin typeface="Tw Cen MT"/>
              </a:rPr>
              <a:t>en</a:t>
            </a:r>
            <a:r>
              <a:rPr sz="2400" b="1" dirty="0">
                <a:solidFill>
                  <a:srgbClr val="FFFFFF"/>
                </a:solidFill>
                <a:latin typeface="Tw Cen MT"/>
              </a:rPr>
              <a:t> Enron?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TALLER — Caso Enron: Las Consecuencias (2)</a:t>
            </a:r>
          </a:p>
        </p:txBody>
      </p:sp>
      <p:sp>
        <p:nvSpPr>
          <p:cNvPr id="5" name="TextBox 4"/>
          <p:cNvSpPr txBox="1"/>
          <p:nvPr/>
        </p:nvSpPr>
        <p:spPr>
          <a:xfrm>
            <a:off x="304800" y="1104900"/>
            <a:ext cx="8534400" cy="5868273"/>
          </a:xfrm>
          <a:prstGeom prst="rect">
            <a:avLst/>
          </a:prstGeom>
          <a:noFill/>
        </p:spPr>
        <p:txBody>
          <a:bodyPr wrap="square">
            <a:spAutoFit/>
          </a:bodyPr>
          <a:lstStyle/>
          <a:p>
            <a:pPr marL="342900" indent="-342900" algn="l">
              <a:spcBef>
                <a:spcPts val="400"/>
              </a:spcBef>
              <a:buFont typeface="Arial" panose="020B0604020202020204" pitchFamily="34" charset="0"/>
              <a:buChar char="•"/>
            </a:pPr>
            <a:r>
              <a:rPr sz="2200" b="0" dirty="0">
                <a:solidFill>
                  <a:srgbClr val="FFFFFF"/>
                </a:solidFill>
                <a:latin typeface="Tw Cen MT"/>
              </a:rPr>
              <a:t>La </a:t>
            </a:r>
            <a:r>
              <a:rPr sz="2200" b="0" dirty="0" err="1">
                <a:solidFill>
                  <a:srgbClr val="FFFFFF"/>
                </a:solidFill>
                <a:latin typeface="Tw Cen MT"/>
              </a:rPr>
              <a:t>asignación</a:t>
            </a:r>
            <a:r>
              <a:rPr sz="2200" b="0" dirty="0">
                <a:solidFill>
                  <a:srgbClr val="FFFFFF"/>
                </a:solidFill>
                <a:latin typeface="Tw Cen MT"/>
              </a:rPr>
              <a:t> de </a:t>
            </a:r>
            <a:r>
              <a:rPr sz="2200" b="0" dirty="0" err="1">
                <a:solidFill>
                  <a:srgbClr val="FFFFFF"/>
                </a:solidFill>
                <a:latin typeface="Tw Cen MT"/>
              </a:rPr>
              <a:t>autoridad</a:t>
            </a:r>
            <a:r>
              <a:rPr sz="2200" b="0" dirty="0">
                <a:solidFill>
                  <a:srgbClr val="FFFFFF"/>
                </a:solidFill>
                <a:latin typeface="Tw Cen MT"/>
              </a:rPr>
              <a:t> </a:t>
            </a:r>
            <a:r>
              <a:rPr sz="2200" b="0" dirty="0" err="1">
                <a:solidFill>
                  <a:srgbClr val="FFFFFF"/>
                </a:solidFill>
                <a:latin typeface="Tw Cen MT"/>
              </a:rPr>
              <a:t>descentralizada</a:t>
            </a:r>
            <a:r>
              <a:rPr sz="2200" b="0" dirty="0">
                <a:solidFill>
                  <a:srgbClr val="FFFFFF"/>
                </a:solidFill>
                <a:latin typeface="Tw Cen MT"/>
              </a:rPr>
              <a:t> </a:t>
            </a:r>
            <a:r>
              <a:rPr sz="2200" b="0" dirty="0" err="1">
                <a:solidFill>
                  <a:srgbClr val="FFFFFF"/>
                </a:solidFill>
                <a:latin typeface="Tw Cen MT"/>
              </a:rPr>
              <a:t>daba</a:t>
            </a:r>
            <a:r>
              <a:rPr sz="2200" b="0" dirty="0">
                <a:solidFill>
                  <a:srgbClr val="FFFFFF"/>
                </a:solidFill>
                <a:latin typeface="Tw Cen MT"/>
              </a:rPr>
              <a:t> </a:t>
            </a:r>
            <a:r>
              <a:rPr sz="2200" b="0" dirty="0" err="1">
                <a:solidFill>
                  <a:srgbClr val="FFFFFF"/>
                </a:solidFill>
                <a:latin typeface="Tw Cen MT"/>
              </a:rPr>
              <a:t>poder</a:t>
            </a:r>
            <a:r>
              <a:rPr sz="2200" b="0" dirty="0">
                <a:solidFill>
                  <a:srgbClr val="FFFFFF"/>
                </a:solidFill>
                <a:latin typeface="Tw Cen MT"/>
              </a:rPr>
              <a:t> </a:t>
            </a:r>
            <a:r>
              <a:rPr sz="2200" b="0" dirty="0" err="1">
                <a:solidFill>
                  <a:srgbClr val="FFFFFF"/>
                </a:solidFill>
                <a:latin typeface="Tw Cen MT"/>
              </a:rPr>
              <a:t>operativo</a:t>
            </a:r>
            <a:r>
              <a:rPr sz="2200" b="0" dirty="0">
                <a:solidFill>
                  <a:srgbClr val="FFFFFF"/>
                </a:solidFill>
                <a:latin typeface="Tw Cen MT"/>
              </a:rPr>
              <a:t>, </a:t>
            </a:r>
            <a:r>
              <a:rPr sz="2200" b="0" dirty="0" err="1">
                <a:solidFill>
                  <a:srgbClr val="FFFFFF"/>
                </a:solidFill>
                <a:latin typeface="Tw Cen MT"/>
              </a:rPr>
              <a:t>pero</a:t>
            </a:r>
            <a:r>
              <a:rPr sz="2200" b="0" dirty="0">
                <a:solidFill>
                  <a:srgbClr val="FFFFFF"/>
                </a:solidFill>
                <a:latin typeface="Tw Cen MT"/>
              </a:rPr>
              <a:t> bajo </a:t>
            </a:r>
            <a:r>
              <a:rPr sz="2200" b="0" dirty="0" err="1">
                <a:solidFill>
                  <a:srgbClr val="FFFFFF"/>
                </a:solidFill>
                <a:latin typeface="Tw Cen MT"/>
              </a:rPr>
              <a:t>una</a:t>
            </a:r>
            <a:r>
              <a:rPr sz="2200" b="0" dirty="0">
                <a:solidFill>
                  <a:srgbClr val="FFFFFF"/>
                </a:solidFill>
                <a:latin typeface="Tw Cen MT"/>
              </a:rPr>
              <a:t> </a:t>
            </a:r>
            <a:r>
              <a:rPr sz="2200" b="0" dirty="0" err="1">
                <a:solidFill>
                  <a:srgbClr val="FFFFFF"/>
                </a:solidFill>
                <a:latin typeface="Tw Cen MT"/>
              </a:rPr>
              <a:t>presión</a:t>
            </a:r>
            <a:r>
              <a:rPr sz="2200" b="0" dirty="0">
                <a:solidFill>
                  <a:srgbClr val="FFFFFF"/>
                </a:solidFill>
                <a:latin typeface="Tw Cen MT"/>
              </a:rPr>
              <a:t> central </a:t>
            </a:r>
            <a:r>
              <a:rPr sz="2200" b="0" dirty="0" err="1">
                <a:solidFill>
                  <a:srgbClr val="FFFFFF"/>
                </a:solidFill>
                <a:latin typeface="Tw Cen MT"/>
              </a:rPr>
              <a:t>muy</a:t>
            </a:r>
            <a:r>
              <a:rPr sz="2200" b="0" dirty="0">
                <a:solidFill>
                  <a:srgbClr val="FFFFFF"/>
                </a:solidFill>
                <a:latin typeface="Tw Cen MT"/>
              </a:rPr>
              <a:t> </a:t>
            </a:r>
            <a:r>
              <a:rPr sz="2200" b="0" dirty="0" err="1">
                <a:solidFill>
                  <a:srgbClr val="FFFFFF"/>
                </a:solidFill>
                <a:latin typeface="Tw Cen MT"/>
              </a:rPr>
              <a:t>fuerte</a:t>
            </a:r>
            <a:r>
              <a:rPr sz="2200" b="0" dirty="0">
                <a:solidFill>
                  <a:srgbClr val="FFFFFF"/>
                </a:solidFill>
                <a:latin typeface="Tw Cen MT"/>
              </a:rPr>
              <a:t> de </a:t>
            </a:r>
            <a:r>
              <a:rPr sz="2200" b="0" dirty="0" err="1">
                <a:solidFill>
                  <a:srgbClr val="FFFFFF"/>
                </a:solidFill>
                <a:latin typeface="Tw Cen MT"/>
              </a:rPr>
              <a:t>resultados</a:t>
            </a:r>
            <a:r>
              <a:rPr sz="2200" b="0" dirty="0">
                <a:solidFill>
                  <a:srgbClr val="FFFFFF"/>
                </a:solidFill>
                <a:latin typeface="Tw Cen MT"/>
              </a:rPr>
              <a:t> </a:t>
            </a:r>
            <a:r>
              <a:rPr sz="2200" b="0" dirty="0" err="1">
                <a:solidFill>
                  <a:srgbClr val="FFFFFF"/>
                </a:solidFill>
                <a:latin typeface="Tw Cen MT"/>
              </a:rPr>
              <a:t>trimestrales</a:t>
            </a:r>
            <a:r>
              <a:rPr sz="2200" b="0" dirty="0">
                <a:solidFill>
                  <a:srgbClr val="FFFFFF"/>
                </a:solidFill>
                <a:latin typeface="Tw Cen MT"/>
              </a:rPr>
              <a:t>.</a:t>
            </a:r>
          </a:p>
          <a:p>
            <a:pPr marL="342900" indent="-342900" algn="l">
              <a:spcBef>
                <a:spcPts val="400"/>
              </a:spcBef>
              <a:buFont typeface="Arial" panose="020B0604020202020204" pitchFamily="34" charset="0"/>
              <a:buChar char="•"/>
            </a:pPr>
            <a:r>
              <a:rPr sz="2200" b="0" dirty="0">
                <a:solidFill>
                  <a:srgbClr val="FFFFFF"/>
                </a:solidFill>
                <a:latin typeface="Tw Cen MT"/>
              </a:rPr>
              <a:t>El </a:t>
            </a:r>
            <a:r>
              <a:rPr sz="2200" b="0" dirty="0" err="1">
                <a:solidFill>
                  <a:srgbClr val="FFFFFF"/>
                </a:solidFill>
                <a:latin typeface="Tw Cen MT"/>
              </a:rPr>
              <a:t>desempeño</a:t>
            </a:r>
            <a:r>
              <a:rPr sz="2200" b="0" dirty="0">
                <a:solidFill>
                  <a:srgbClr val="FFFFFF"/>
                </a:solidFill>
                <a:latin typeface="Tw Cen MT"/>
              </a:rPr>
              <a:t> se </a:t>
            </a:r>
            <a:r>
              <a:rPr sz="2200" b="0" dirty="0" err="1">
                <a:solidFill>
                  <a:srgbClr val="FFFFFF"/>
                </a:solidFill>
                <a:latin typeface="Tw Cen MT"/>
              </a:rPr>
              <a:t>medía</a:t>
            </a:r>
            <a:r>
              <a:rPr sz="2200" b="0" dirty="0">
                <a:solidFill>
                  <a:srgbClr val="FFFFFF"/>
                </a:solidFill>
                <a:latin typeface="Tw Cen MT"/>
              </a:rPr>
              <a:t> </a:t>
            </a:r>
            <a:r>
              <a:rPr sz="2200" b="0" dirty="0" err="1">
                <a:solidFill>
                  <a:srgbClr val="FFFFFF"/>
                </a:solidFill>
                <a:latin typeface="Tw Cen MT"/>
              </a:rPr>
              <a:t>principalmente</a:t>
            </a:r>
            <a:r>
              <a:rPr sz="2200" b="0" dirty="0">
                <a:solidFill>
                  <a:srgbClr val="FFFFFF"/>
                </a:solidFill>
                <a:latin typeface="Tw Cen MT"/>
              </a:rPr>
              <a:t> con base </a:t>
            </a:r>
            <a:r>
              <a:rPr sz="2200" b="0" dirty="0" err="1">
                <a:solidFill>
                  <a:srgbClr val="FFFFFF"/>
                </a:solidFill>
                <a:latin typeface="Tw Cen MT"/>
              </a:rPr>
              <a:t>en</a:t>
            </a:r>
            <a:r>
              <a:rPr sz="2200" b="0" dirty="0">
                <a:solidFill>
                  <a:srgbClr val="FFFFFF"/>
                </a:solidFill>
                <a:latin typeface="Tw Cen MT"/>
              </a:rPr>
              <a:t> </a:t>
            </a:r>
            <a:r>
              <a:rPr sz="2200" b="0" dirty="0" err="1">
                <a:solidFill>
                  <a:srgbClr val="FFFFFF"/>
                </a:solidFill>
                <a:latin typeface="Tw Cen MT"/>
              </a:rPr>
              <a:t>el</a:t>
            </a:r>
            <a:r>
              <a:rPr sz="2200" b="0" dirty="0">
                <a:solidFill>
                  <a:srgbClr val="FFFFFF"/>
                </a:solidFill>
                <a:latin typeface="Tw Cen MT"/>
              </a:rPr>
              <a:t> </a:t>
            </a:r>
            <a:r>
              <a:rPr sz="2200" b="0" dirty="0" err="1">
                <a:solidFill>
                  <a:srgbClr val="FFFFFF"/>
                </a:solidFill>
                <a:latin typeface="Tw Cen MT"/>
              </a:rPr>
              <a:t>crecimiento</a:t>
            </a:r>
            <a:r>
              <a:rPr sz="2200" b="0" dirty="0">
                <a:solidFill>
                  <a:srgbClr val="FFFFFF"/>
                </a:solidFill>
                <a:latin typeface="Tw Cen MT"/>
              </a:rPr>
              <a:t> de las </a:t>
            </a:r>
            <a:r>
              <a:rPr sz="2200" b="0" dirty="0" err="1">
                <a:solidFill>
                  <a:srgbClr val="FFFFFF"/>
                </a:solidFill>
                <a:latin typeface="Tw Cen MT"/>
              </a:rPr>
              <a:t>ganancias</a:t>
            </a:r>
            <a:r>
              <a:rPr sz="2200" b="0" dirty="0">
                <a:solidFill>
                  <a:srgbClr val="FFFFFF"/>
                </a:solidFill>
                <a:latin typeface="Tw Cen MT"/>
              </a:rPr>
              <a:t> a corto </a:t>
            </a:r>
            <a:r>
              <a:rPr sz="2200" b="0" dirty="0" err="1">
                <a:solidFill>
                  <a:srgbClr val="FFFFFF"/>
                </a:solidFill>
                <a:latin typeface="Tw Cen MT"/>
              </a:rPr>
              <a:t>plazo</a:t>
            </a:r>
            <a:r>
              <a:rPr sz="2200" b="0" dirty="0">
                <a:solidFill>
                  <a:srgbClr val="FFFFFF"/>
                </a:solidFill>
                <a:latin typeface="Tw Cen MT"/>
              </a:rPr>
              <a:t>, lo </a:t>
            </a:r>
            <a:r>
              <a:rPr sz="2200" b="0" dirty="0" err="1">
                <a:solidFill>
                  <a:srgbClr val="FFFFFF"/>
                </a:solidFill>
                <a:latin typeface="Tw Cen MT"/>
              </a:rPr>
              <a:t>que</a:t>
            </a:r>
            <a:r>
              <a:rPr sz="2200" b="0" dirty="0">
                <a:solidFill>
                  <a:srgbClr val="FFFFFF"/>
                </a:solidFill>
                <a:latin typeface="Tw Cen MT"/>
              </a:rPr>
              <a:t> </a:t>
            </a:r>
            <a:r>
              <a:rPr sz="2200" b="0" dirty="0" err="1">
                <a:solidFill>
                  <a:srgbClr val="FFFFFF"/>
                </a:solidFill>
                <a:latin typeface="Tw Cen MT"/>
              </a:rPr>
              <a:t>promovió</a:t>
            </a:r>
            <a:r>
              <a:rPr sz="2200" b="0" dirty="0">
                <a:solidFill>
                  <a:srgbClr val="FFFFFF"/>
                </a:solidFill>
                <a:latin typeface="Tw Cen MT"/>
              </a:rPr>
              <a:t> </a:t>
            </a:r>
            <a:r>
              <a:rPr sz="2200" b="0" dirty="0" err="1">
                <a:solidFill>
                  <a:srgbClr val="FFFFFF"/>
                </a:solidFill>
                <a:latin typeface="Tw Cen MT"/>
              </a:rPr>
              <a:t>actitudes</a:t>
            </a:r>
            <a:r>
              <a:rPr sz="2200" b="0" dirty="0">
                <a:solidFill>
                  <a:srgbClr val="FFFFFF"/>
                </a:solidFill>
                <a:latin typeface="Tw Cen MT"/>
              </a:rPr>
              <a:t> de </a:t>
            </a:r>
            <a:r>
              <a:rPr sz="2200" b="0" dirty="0" err="1">
                <a:solidFill>
                  <a:srgbClr val="FFFFFF"/>
                </a:solidFill>
                <a:latin typeface="Tw Cen MT"/>
              </a:rPr>
              <a:t>manipulación</a:t>
            </a:r>
            <a:r>
              <a:rPr sz="2200" b="0" dirty="0">
                <a:solidFill>
                  <a:srgbClr val="FFFFFF"/>
                </a:solidFill>
                <a:latin typeface="Tw Cen MT"/>
              </a:rPr>
              <a:t> </a:t>
            </a:r>
            <a:r>
              <a:rPr sz="2200" b="0" dirty="0" err="1">
                <a:solidFill>
                  <a:srgbClr val="FFFFFF"/>
                </a:solidFill>
                <a:latin typeface="Tw Cen MT"/>
              </a:rPr>
              <a:t>contable</a:t>
            </a:r>
            <a:r>
              <a:rPr sz="2200" b="0" dirty="0">
                <a:solidFill>
                  <a:srgbClr val="FFFFFF"/>
                </a:solidFill>
                <a:latin typeface="Tw Cen MT"/>
              </a:rPr>
              <a:t>.</a:t>
            </a:r>
            <a:r>
              <a:rPr lang="es-419" sz="2200" b="0" dirty="0">
                <a:solidFill>
                  <a:srgbClr val="FFFFFF"/>
                </a:solidFill>
                <a:latin typeface="Tw Cen MT"/>
              </a:rPr>
              <a:t> </a:t>
            </a:r>
            <a:endParaRPr sz="2200" b="0" dirty="0">
              <a:solidFill>
                <a:srgbClr val="FFFFFF"/>
              </a:solidFill>
              <a:latin typeface="Tw Cen MT"/>
            </a:endParaRPr>
          </a:p>
          <a:p>
            <a:pPr algn="ctr">
              <a:spcBef>
                <a:spcPts val="400"/>
              </a:spcBef>
            </a:pPr>
            <a:r>
              <a:rPr sz="2200" b="1" dirty="0">
                <a:solidFill>
                  <a:srgbClr val="FFFFFF"/>
                </a:solidFill>
                <a:latin typeface="Tw Cen MT"/>
              </a:rPr>
              <a:t>Se </a:t>
            </a:r>
            <a:r>
              <a:rPr sz="2200" b="1" dirty="0" err="1">
                <a:solidFill>
                  <a:srgbClr val="FFFFFF"/>
                </a:solidFill>
                <a:latin typeface="Tw Cen MT"/>
              </a:rPr>
              <a:t>encontraron</a:t>
            </a:r>
            <a:r>
              <a:rPr sz="2200" b="1" dirty="0">
                <a:solidFill>
                  <a:srgbClr val="FFFFFF"/>
                </a:solidFill>
                <a:latin typeface="Tw Cen MT"/>
              </a:rPr>
              <a:t> al </a:t>
            </a:r>
            <a:r>
              <a:rPr sz="2200" b="1" dirty="0" err="1">
                <a:solidFill>
                  <a:srgbClr val="FFFFFF"/>
                </a:solidFill>
                <a:latin typeface="Tw Cen MT"/>
              </a:rPr>
              <a:t>menos</a:t>
            </a:r>
            <a:r>
              <a:rPr sz="2200" b="1" dirty="0">
                <a:solidFill>
                  <a:srgbClr val="FFFFFF"/>
                </a:solidFill>
                <a:latin typeface="Tw Cen MT"/>
              </a:rPr>
              <a:t> </a:t>
            </a:r>
            <a:r>
              <a:rPr sz="2200" b="1" dirty="0" err="1">
                <a:solidFill>
                  <a:srgbClr val="FFFFFF"/>
                </a:solidFill>
                <a:latin typeface="Tw Cen MT"/>
              </a:rPr>
              <a:t>cinco</a:t>
            </a:r>
            <a:r>
              <a:rPr sz="2200" b="1" dirty="0">
                <a:solidFill>
                  <a:srgbClr val="FFFFFF"/>
                </a:solidFill>
                <a:latin typeface="Tw Cen MT"/>
              </a:rPr>
              <a:t> </a:t>
            </a:r>
            <a:r>
              <a:rPr sz="2200" b="1" dirty="0" err="1">
                <a:solidFill>
                  <a:srgbClr val="FFFFFF"/>
                </a:solidFill>
                <a:latin typeface="Tw Cen MT"/>
              </a:rPr>
              <a:t>tipos</a:t>
            </a:r>
            <a:r>
              <a:rPr sz="2200" b="1" dirty="0">
                <a:solidFill>
                  <a:srgbClr val="FFFFFF"/>
                </a:solidFill>
                <a:latin typeface="Tw Cen MT"/>
              </a:rPr>
              <a:t> de </a:t>
            </a:r>
            <a:r>
              <a:rPr sz="2200" b="1" dirty="0" err="1">
                <a:solidFill>
                  <a:srgbClr val="FFFFFF"/>
                </a:solidFill>
                <a:latin typeface="Tw Cen MT"/>
              </a:rPr>
              <a:t>fraude</a:t>
            </a:r>
            <a:r>
              <a:rPr sz="2200" b="1" dirty="0">
                <a:solidFill>
                  <a:srgbClr val="FFFFFF"/>
                </a:solidFill>
                <a:latin typeface="Tw Cen MT"/>
              </a:rPr>
              <a:t> </a:t>
            </a:r>
            <a:r>
              <a:rPr sz="2200" b="1" dirty="0" err="1">
                <a:solidFill>
                  <a:srgbClr val="FFFFFF"/>
                </a:solidFill>
                <a:latin typeface="Tw Cen MT"/>
              </a:rPr>
              <a:t>contable</a:t>
            </a:r>
            <a:r>
              <a:rPr sz="2200" b="1" dirty="0">
                <a:solidFill>
                  <a:srgbClr val="FFFFFF"/>
                </a:solidFill>
                <a:latin typeface="Tw Cen MT"/>
              </a:rPr>
              <a:t>, </a:t>
            </a:r>
            <a:r>
              <a:rPr sz="2200" b="1" dirty="0" err="1">
                <a:solidFill>
                  <a:srgbClr val="FFFFFF"/>
                </a:solidFill>
                <a:latin typeface="Tw Cen MT"/>
              </a:rPr>
              <a:t>todos</a:t>
            </a:r>
            <a:r>
              <a:rPr sz="2200" b="1" dirty="0">
                <a:solidFill>
                  <a:srgbClr val="FFFFFF"/>
                </a:solidFill>
                <a:latin typeface="Tw Cen MT"/>
              </a:rPr>
              <a:t> con </a:t>
            </a:r>
            <a:r>
              <a:rPr sz="2200" b="1" dirty="0" err="1">
                <a:solidFill>
                  <a:srgbClr val="FFFFFF"/>
                </a:solidFill>
                <a:latin typeface="Tw Cen MT"/>
              </a:rPr>
              <a:t>el</a:t>
            </a:r>
            <a:r>
              <a:rPr sz="2200" b="1" dirty="0">
                <a:solidFill>
                  <a:srgbClr val="FFFFFF"/>
                </a:solidFill>
                <a:latin typeface="Tw Cen MT"/>
              </a:rPr>
              <a:t> </a:t>
            </a:r>
            <a:r>
              <a:rPr sz="2200" b="1" dirty="0" err="1">
                <a:solidFill>
                  <a:srgbClr val="FFFFFF"/>
                </a:solidFill>
                <a:latin typeface="Tw Cen MT"/>
              </a:rPr>
              <a:t>objetivo</a:t>
            </a:r>
            <a:r>
              <a:rPr sz="2200" b="1" dirty="0">
                <a:solidFill>
                  <a:srgbClr val="FFFFFF"/>
                </a:solidFill>
                <a:latin typeface="Tw Cen MT"/>
              </a:rPr>
              <a:t> de registrar </a:t>
            </a:r>
            <a:r>
              <a:rPr sz="2200" b="1" dirty="0" err="1">
                <a:solidFill>
                  <a:srgbClr val="FFFFFF"/>
                </a:solidFill>
                <a:latin typeface="Tw Cen MT"/>
              </a:rPr>
              <a:t>enormes</a:t>
            </a:r>
            <a:r>
              <a:rPr sz="2200" b="1" dirty="0">
                <a:solidFill>
                  <a:srgbClr val="FFFFFF"/>
                </a:solidFill>
                <a:latin typeface="Tw Cen MT"/>
              </a:rPr>
              <a:t> </a:t>
            </a:r>
            <a:r>
              <a:rPr sz="2200" b="1" dirty="0" err="1">
                <a:solidFill>
                  <a:srgbClr val="FFFFFF"/>
                </a:solidFill>
                <a:latin typeface="Tw Cen MT"/>
              </a:rPr>
              <a:t>ganancias</a:t>
            </a:r>
            <a:r>
              <a:rPr sz="2200" b="1" dirty="0">
                <a:solidFill>
                  <a:srgbClr val="FFFFFF"/>
                </a:solidFill>
                <a:latin typeface="Tw Cen MT"/>
              </a:rPr>
              <a:t> de capital.</a:t>
            </a:r>
            <a:endParaRPr lang="es-419" sz="2200" b="1" dirty="0">
              <a:solidFill>
                <a:srgbClr val="FFFFFF"/>
              </a:solidFill>
              <a:latin typeface="Tw Cen MT"/>
            </a:endParaRPr>
          </a:p>
          <a:p>
            <a:pPr algn="ctr">
              <a:spcBef>
                <a:spcPts val="400"/>
              </a:spcBef>
            </a:pPr>
            <a:endParaRPr lang="es-419" sz="2200" b="1" dirty="0">
              <a:solidFill>
                <a:srgbClr val="FFFFFF"/>
              </a:solidFill>
              <a:latin typeface="Tw Cen MT"/>
            </a:endParaRPr>
          </a:p>
          <a:p>
            <a:pPr algn="l">
              <a:spcBef>
                <a:spcPts val="400"/>
              </a:spcBef>
            </a:pPr>
            <a:r>
              <a:rPr sz="2200" b="0" dirty="0">
                <a:solidFill>
                  <a:srgbClr val="FFFFFF"/>
                </a:solidFill>
                <a:latin typeface="Tw Cen MT"/>
              </a:rPr>
              <a:t>La AO </a:t>
            </a:r>
            <a:r>
              <a:rPr sz="2200" b="0" dirty="0" err="1">
                <a:solidFill>
                  <a:srgbClr val="FFFFFF"/>
                </a:solidFill>
                <a:latin typeface="Tw Cen MT"/>
              </a:rPr>
              <a:t>generó</a:t>
            </a:r>
            <a:r>
              <a:rPr sz="2200" b="0" dirty="0">
                <a:solidFill>
                  <a:srgbClr val="FFFFFF"/>
                </a:solidFill>
                <a:latin typeface="Tw Cen MT"/>
              </a:rPr>
              <a:t> </a:t>
            </a:r>
            <a:r>
              <a:rPr sz="2200" b="0" dirty="0" err="1">
                <a:solidFill>
                  <a:srgbClr val="FFFFFF"/>
                </a:solidFill>
                <a:latin typeface="Tw Cen MT"/>
              </a:rPr>
              <a:t>una</a:t>
            </a:r>
            <a:r>
              <a:rPr sz="2200" b="0" dirty="0">
                <a:solidFill>
                  <a:srgbClr val="FFFFFF"/>
                </a:solidFill>
                <a:latin typeface="Tw Cen MT"/>
              </a:rPr>
              <a:t> CO </a:t>
            </a:r>
            <a:r>
              <a:rPr sz="2200" b="0" dirty="0" err="1">
                <a:solidFill>
                  <a:srgbClr val="FFFFFF"/>
                </a:solidFill>
                <a:latin typeface="Tw Cen MT"/>
              </a:rPr>
              <a:t>orientada</a:t>
            </a:r>
            <a:r>
              <a:rPr sz="2200" b="0" dirty="0">
                <a:solidFill>
                  <a:srgbClr val="FFFFFF"/>
                </a:solidFill>
                <a:latin typeface="Tw Cen MT"/>
              </a:rPr>
              <a:t> a la </a:t>
            </a:r>
            <a:r>
              <a:rPr sz="2200" b="0" dirty="0" err="1">
                <a:solidFill>
                  <a:srgbClr val="FFFFFF"/>
                </a:solidFill>
                <a:latin typeface="Tw Cen MT"/>
              </a:rPr>
              <a:t>iniciativa</a:t>
            </a:r>
            <a:r>
              <a:rPr sz="2200" b="0" dirty="0">
                <a:solidFill>
                  <a:srgbClr val="FFFFFF"/>
                </a:solidFill>
                <a:latin typeface="Tw Cen MT"/>
              </a:rPr>
              <a:t> individual: </a:t>
            </a:r>
            <a:r>
              <a:rPr sz="2200" b="0" dirty="0" err="1">
                <a:solidFill>
                  <a:srgbClr val="FFFFFF"/>
                </a:solidFill>
                <a:latin typeface="Tw Cen MT"/>
              </a:rPr>
              <a:t>empleados</a:t>
            </a:r>
            <a:r>
              <a:rPr sz="2200" b="0" dirty="0">
                <a:solidFill>
                  <a:srgbClr val="FFFFFF"/>
                </a:solidFill>
                <a:latin typeface="Tw Cen MT"/>
              </a:rPr>
              <a:t> </a:t>
            </a:r>
            <a:r>
              <a:rPr sz="2200" b="0" dirty="0" err="1">
                <a:solidFill>
                  <a:srgbClr val="FFFFFF"/>
                </a:solidFill>
                <a:latin typeface="Tw Cen MT"/>
              </a:rPr>
              <a:t>que</a:t>
            </a:r>
            <a:r>
              <a:rPr sz="2200" b="0" dirty="0">
                <a:solidFill>
                  <a:srgbClr val="FFFFFF"/>
                </a:solidFill>
                <a:latin typeface="Tw Cen MT"/>
              </a:rPr>
              <a:t> se </a:t>
            </a:r>
            <a:r>
              <a:rPr sz="2200" b="0" dirty="0" err="1">
                <a:solidFill>
                  <a:srgbClr val="FFFFFF"/>
                </a:solidFill>
                <a:latin typeface="Tw Cen MT"/>
              </a:rPr>
              <a:t>saboteaban</a:t>
            </a:r>
            <a:r>
              <a:rPr sz="2200" b="0" dirty="0">
                <a:solidFill>
                  <a:srgbClr val="FFFFFF"/>
                </a:solidFill>
                <a:latin typeface="Tw Cen MT"/>
              </a:rPr>
              <a:t> entre </a:t>
            </a:r>
            <a:r>
              <a:rPr sz="2200" b="0" dirty="0" err="1">
                <a:solidFill>
                  <a:srgbClr val="FFFFFF"/>
                </a:solidFill>
                <a:latin typeface="Tw Cen MT"/>
              </a:rPr>
              <a:t>sí</a:t>
            </a:r>
            <a:r>
              <a:rPr sz="2200" b="0" dirty="0">
                <a:solidFill>
                  <a:srgbClr val="FFFFFF"/>
                </a:solidFill>
                <a:latin typeface="Tw Cen MT"/>
              </a:rPr>
              <a:t> y </a:t>
            </a:r>
            <a:r>
              <a:rPr sz="2200" b="0" dirty="0" err="1">
                <a:solidFill>
                  <a:srgbClr val="FFFFFF"/>
                </a:solidFill>
                <a:latin typeface="Tw Cen MT"/>
              </a:rPr>
              <a:t>ejecutivos</a:t>
            </a:r>
            <a:r>
              <a:rPr sz="2200" b="0" dirty="0">
                <a:solidFill>
                  <a:srgbClr val="FFFFFF"/>
                </a:solidFill>
                <a:latin typeface="Tw Cen MT"/>
              </a:rPr>
              <a:t> </a:t>
            </a:r>
            <a:r>
              <a:rPr sz="2200" b="0" dirty="0" err="1">
                <a:solidFill>
                  <a:srgbClr val="FFFFFF"/>
                </a:solidFill>
                <a:latin typeface="Tw Cen MT"/>
              </a:rPr>
              <a:t>que</a:t>
            </a:r>
            <a:r>
              <a:rPr sz="2200" b="0" dirty="0">
                <a:solidFill>
                  <a:srgbClr val="FFFFFF"/>
                </a:solidFill>
                <a:latin typeface="Tw Cen MT"/>
              </a:rPr>
              <a:t> </a:t>
            </a:r>
            <a:r>
              <a:rPr sz="2200" b="0" dirty="0" err="1">
                <a:solidFill>
                  <a:srgbClr val="FFFFFF"/>
                </a:solidFill>
                <a:latin typeface="Tw Cen MT"/>
              </a:rPr>
              <a:t>organizaban</a:t>
            </a:r>
            <a:r>
              <a:rPr sz="2200" b="0" dirty="0">
                <a:solidFill>
                  <a:srgbClr val="FFFFFF"/>
                </a:solidFill>
                <a:latin typeface="Tw Cen MT"/>
              </a:rPr>
              <a:t> </a:t>
            </a:r>
            <a:r>
              <a:rPr sz="2200" b="0" dirty="0" err="1">
                <a:solidFill>
                  <a:srgbClr val="FFFFFF"/>
                </a:solidFill>
                <a:latin typeface="Tw Cen MT"/>
              </a:rPr>
              <a:t>transacciones</a:t>
            </a:r>
            <a:r>
              <a:rPr sz="2200" b="0" dirty="0">
                <a:solidFill>
                  <a:srgbClr val="FFFFFF"/>
                </a:solidFill>
                <a:latin typeface="Tw Cen MT"/>
              </a:rPr>
              <a:t> </a:t>
            </a:r>
            <a:r>
              <a:rPr sz="2200" b="0" dirty="0" err="1">
                <a:solidFill>
                  <a:srgbClr val="FFFFFF"/>
                </a:solidFill>
                <a:latin typeface="Tw Cen MT"/>
              </a:rPr>
              <a:t>fraudulentas</a:t>
            </a:r>
            <a:r>
              <a:rPr sz="2200" b="0" dirty="0">
                <a:solidFill>
                  <a:srgbClr val="FFFFFF"/>
                </a:solidFill>
                <a:latin typeface="Tw Cen MT"/>
              </a:rPr>
              <a:t>.</a:t>
            </a:r>
            <a:endParaRPr lang="es-419" sz="2200" b="0" dirty="0">
              <a:solidFill>
                <a:srgbClr val="FFFFFF"/>
              </a:solidFill>
              <a:latin typeface="Tw Cen MT"/>
            </a:endParaRPr>
          </a:p>
          <a:p>
            <a:pPr algn="l">
              <a:spcBef>
                <a:spcPts val="400"/>
              </a:spcBef>
            </a:pPr>
            <a:endParaRPr sz="2200" b="0" dirty="0">
              <a:solidFill>
                <a:srgbClr val="FFFFFF"/>
              </a:solidFill>
              <a:latin typeface="Tw Cen MT"/>
            </a:endParaRPr>
          </a:p>
          <a:p>
            <a:pPr algn="l">
              <a:spcBef>
                <a:spcPts val="400"/>
              </a:spcBef>
              <a:buNone/>
            </a:pPr>
            <a:r>
              <a:rPr sz="2200" b="1" dirty="0">
                <a:solidFill>
                  <a:srgbClr val="52B788"/>
                </a:solidFill>
                <a:latin typeface="Tw Cen MT"/>
              </a:rPr>
              <a:t>RESULTADO</a:t>
            </a:r>
          </a:p>
          <a:p>
            <a:pPr algn="ctr">
              <a:spcBef>
                <a:spcPts val="400"/>
              </a:spcBef>
            </a:pPr>
            <a:r>
              <a:rPr sz="2200" b="1" dirty="0">
                <a:solidFill>
                  <a:srgbClr val="FFFFFF"/>
                </a:solidFill>
                <a:latin typeface="Tw Cen MT"/>
              </a:rPr>
              <a:t>El valor de mercado de sus </a:t>
            </a:r>
            <a:r>
              <a:rPr sz="2200" b="1" dirty="0" err="1">
                <a:solidFill>
                  <a:srgbClr val="FFFFFF"/>
                </a:solidFill>
                <a:latin typeface="Tw Cen MT"/>
              </a:rPr>
              <a:t>acciones</a:t>
            </a:r>
            <a:r>
              <a:rPr sz="2200" b="1" dirty="0">
                <a:solidFill>
                  <a:srgbClr val="FFFFFF"/>
                </a:solidFill>
                <a:latin typeface="Tw Cen MT"/>
              </a:rPr>
              <a:t> se </a:t>
            </a:r>
            <a:r>
              <a:rPr sz="2200" b="1" dirty="0" err="1">
                <a:solidFill>
                  <a:srgbClr val="FFFFFF"/>
                </a:solidFill>
                <a:latin typeface="Tw Cen MT"/>
              </a:rPr>
              <a:t>evaporó</a:t>
            </a:r>
            <a:r>
              <a:rPr sz="2200" b="1" dirty="0">
                <a:solidFill>
                  <a:srgbClr val="FFFFFF"/>
                </a:solidFill>
                <a:latin typeface="Tw Cen MT"/>
              </a:rPr>
              <a:t>. El </a:t>
            </a:r>
            <a:r>
              <a:rPr sz="2200" b="1" dirty="0" err="1">
                <a:solidFill>
                  <a:srgbClr val="FFFFFF"/>
                </a:solidFill>
                <a:latin typeface="Tw Cen MT"/>
              </a:rPr>
              <a:t>activo</a:t>
            </a:r>
            <a:r>
              <a:rPr sz="2200" b="1" dirty="0">
                <a:solidFill>
                  <a:srgbClr val="FFFFFF"/>
                </a:solidFill>
                <a:latin typeface="Tw Cen MT"/>
              </a:rPr>
              <a:t> de mil </a:t>
            </a:r>
            <a:r>
              <a:rPr sz="2200" b="1" dirty="0" err="1">
                <a:solidFill>
                  <a:srgbClr val="FFFFFF"/>
                </a:solidFill>
                <a:latin typeface="Tw Cen MT"/>
              </a:rPr>
              <a:t>millones</a:t>
            </a:r>
            <a:r>
              <a:rPr sz="2200" b="1" dirty="0">
                <a:solidFill>
                  <a:srgbClr val="FFFFFF"/>
                </a:solidFill>
                <a:latin typeface="Tw Cen MT"/>
              </a:rPr>
              <a:t> </a:t>
            </a:r>
            <a:r>
              <a:rPr sz="2200" b="1" dirty="0" err="1">
                <a:solidFill>
                  <a:srgbClr val="FFFFFF"/>
                </a:solidFill>
                <a:latin typeface="Tw Cen MT"/>
              </a:rPr>
              <a:t>en</a:t>
            </a:r>
            <a:r>
              <a:rPr sz="2200" b="1" dirty="0">
                <a:solidFill>
                  <a:srgbClr val="FFFFFF"/>
                </a:solidFill>
                <a:latin typeface="Tw Cen MT"/>
              </a:rPr>
              <a:t> </a:t>
            </a:r>
            <a:r>
              <a:rPr sz="2200" b="1" dirty="0" err="1">
                <a:solidFill>
                  <a:srgbClr val="FFFFFF"/>
                </a:solidFill>
                <a:latin typeface="Tw Cen MT"/>
              </a:rPr>
              <a:t>cuentas</a:t>
            </a:r>
            <a:r>
              <a:rPr sz="2200" b="1" dirty="0">
                <a:solidFill>
                  <a:srgbClr val="FFFFFF"/>
                </a:solidFill>
                <a:latin typeface="Tw Cen MT"/>
              </a:rPr>
              <a:t> de </a:t>
            </a:r>
            <a:r>
              <a:rPr sz="2200" b="1" dirty="0" err="1">
                <a:solidFill>
                  <a:srgbClr val="FFFFFF"/>
                </a:solidFill>
                <a:latin typeface="Tw Cen MT"/>
              </a:rPr>
              <a:t>jubilación</a:t>
            </a:r>
            <a:r>
              <a:rPr sz="2200" b="1" dirty="0">
                <a:solidFill>
                  <a:srgbClr val="FFFFFF"/>
                </a:solidFill>
                <a:latin typeface="Tw Cen MT"/>
              </a:rPr>
              <a:t> de </a:t>
            </a:r>
            <a:r>
              <a:rPr sz="2200" b="1" dirty="0" err="1">
                <a:solidFill>
                  <a:srgbClr val="FFFFFF"/>
                </a:solidFill>
                <a:latin typeface="Tw Cen MT"/>
              </a:rPr>
              <a:t>empleados</a:t>
            </a:r>
            <a:r>
              <a:rPr sz="2200" b="1" dirty="0">
                <a:solidFill>
                  <a:srgbClr val="FFFFFF"/>
                </a:solidFill>
                <a:latin typeface="Tw Cen MT"/>
              </a:rPr>
              <a:t> se </a:t>
            </a:r>
            <a:r>
              <a:rPr sz="2200" b="1" dirty="0" err="1">
                <a:solidFill>
                  <a:srgbClr val="FFFFFF"/>
                </a:solidFill>
                <a:latin typeface="Tw Cen MT"/>
              </a:rPr>
              <a:t>desplomó</a:t>
            </a:r>
            <a:r>
              <a:rPr sz="2200" b="1" dirty="0">
                <a:solidFill>
                  <a:srgbClr val="FFFFFF"/>
                </a:solidFill>
                <a:latin typeface="Tw Cen MT"/>
              </a:rPr>
              <a:t> de </a:t>
            </a:r>
            <a:r>
              <a:rPr sz="2200" b="1" dirty="0" err="1">
                <a:solidFill>
                  <a:srgbClr val="FFFFFF"/>
                </a:solidFill>
                <a:latin typeface="Tw Cen MT"/>
              </a:rPr>
              <a:t>inmediato</a:t>
            </a:r>
            <a:r>
              <a:rPr sz="2200" b="1" dirty="0">
                <a:solidFill>
                  <a:srgbClr val="FFFFFF"/>
                </a:solidFill>
                <a:latin typeface="Tw Cen MT"/>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1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Caso: Haier — Descentralización Radical</a:t>
            </a:r>
          </a:p>
        </p:txBody>
      </p:sp>
      <p:sp>
        <p:nvSpPr>
          <p:cNvPr id="5" name="TextBox 4"/>
          <p:cNvSpPr txBox="1"/>
          <p:nvPr/>
        </p:nvSpPr>
        <p:spPr>
          <a:xfrm>
            <a:off x="304800" y="1220000"/>
            <a:ext cx="8534400" cy="5539978"/>
          </a:xfrm>
          <a:prstGeom prst="rect">
            <a:avLst/>
          </a:prstGeom>
          <a:noFill/>
        </p:spPr>
        <p:txBody>
          <a:bodyPr wrap="square">
            <a:spAutoFit/>
          </a:bodyPr>
          <a:lstStyle/>
          <a:p>
            <a:pPr algn="l">
              <a:spcBef>
                <a:spcPts val="400"/>
              </a:spcBef>
            </a:pPr>
            <a:r>
              <a:rPr sz="2000" b="0" dirty="0">
                <a:solidFill>
                  <a:srgbClr val="FFFFFF"/>
                </a:solidFill>
                <a:latin typeface="Tw Cen MT"/>
              </a:rPr>
              <a:t>Haier: </a:t>
            </a:r>
            <a:r>
              <a:rPr sz="2000" b="0" dirty="0" err="1">
                <a:solidFill>
                  <a:srgbClr val="FFFFFF"/>
                </a:solidFill>
                <a:latin typeface="Tw Cen MT"/>
              </a:rPr>
              <a:t>fabricante</a:t>
            </a:r>
            <a:r>
              <a:rPr sz="2000" b="0" dirty="0">
                <a:solidFill>
                  <a:srgbClr val="FFFFFF"/>
                </a:solidFill>
                <a:latin typeface="Tw Cen MT"/>
              </a:rPr>
              <a:t> chino </a:t>
            </a:r>
            <a:r>
              <a:rPr sz="2000" b="0" dirty="0" err="1">
                <a:solidFill>
                  <a:srgbClr val="FFFFFF"/>
                </a:solidFill>
                <a:latin typeface="Tw Cen MT"/>
              </a:rPr>
              <a:t>líder</a:t>
            </a:r>
            <a:r>
              <a:rPr sz="2000" b="0" dirty="0">
                <a:solidFill>
                  <a:srgbClr val="FFFFFF"/>
                </a:solidFill>
                <a:latin typeface="Tw Cen MT"/>
              </a:rPr>
              <a:t> </a:t>
            </a:r>
            <a:r>
              <a:rPr sz="2000" b="0" dirty="0" err="1">
                <a:solidFill>
                  <a:srgbClr val="FFFFFF"/>
                </a:solidFill>
                <a:latin typeface="Tw Cen MT"/>
              </a:rPr>
              <a:t>mundial</a:t>
            </a:r>
            <a:r>
              <a:rPr sz="2000" b="0" dirty="0">
                <a:solidFill>
                  <a:srgbClr val="FFFFFF"/>
                </a:solidFill>
                <a:latin typeface="Tw Cen MT"/>
              </a:rPr>
              <a:t> de </a:t>
            </a:r>
            <a:r>
              <a:rPr sz="2000" b="0" dirty="0" err="1">
                <a:solidFill>
                  <a:srgbClr val="FFFFFF"/>
                </a:solidFill>
                <a:latin typeface="Tw Cen MT"/>
              </a:rPr>
              <a:t>electrodomésticos</a:t>
            </a:r>
            <a:r>
              <a:rPr sz="2000" b="0" dirty="0">
                <a:solidFill>
                  <a:srgbClr val="FFFFFF"/>
                </a:solidFill>
                <a:latin typeface="Tw Cen MT"/>
              </a:rPr>
              <a:t>. 99.000 </a:t>
            </a:r>
            <a:r>
              <a:rPr sz="2000" b="0" dirty="0" err="1">
                <a:solidFill>
                  <a:srgbClr val="FFFFFF"/>
                </a:solidFill>
                <a:latin typeface="Tw Cen MT"/>
              </a:rPr>
              <a:t>empleados</a:t>
            </a:r>
            <a:r>
              <a:rPr sz="2000" b="0" dirty="0">
                <a:solidFill>
                  <a:srgbClr val="FFFFFF"/>
                </a:solidFill>
                <a:latin typeface="Tw Cen MT"/>
              </a:rPr>
              <a:t>. </a:t>
            </a:r>
            <a:r>
              <a:rPr sz="2000" b="0" dirty="0" err="1">
                <a:solidFill>
                  <a:srgbClr val="FFFFFF"/>
                </a:solidFill>
                <a:latin typeface="Tw Cen MT"/>
              </a:rPr>
              <a:t>Ingresos</a:t>
            </a:r>
            <a:r>
              <a:rPr sz="2000" b="0" dirty="0">
                <a:solidFill>
                  <a:srgbClr val="FFFFFF"/>
                </a:solidFill>
                <a:latin typeface="Tw Cen MT"/>
              </a:rPr>
              <a:t> </a:t>
            </a:r>
            <a:r>
              <a:rPr sz="2000" b="0" dirty="0" err="1">
                <a:solidFill>
                  <a:srgbClr val="FFFFFF"/>
                </a:solidFill>
                <a:latin typeface="Tw Cen MT"/>
              </a:rPr>
              <a:t>que</a:t>
            </a:r>
            <a:r>
              <a:rPr sz="2000" b="0" dirty="0">
                <a:solidFill>
                  <a:srgbClr val="FFFFFF"/>
                </a:solidFill>
                <a:latin typeface="Tw Cen MT"/>
              </a:rPr>
              <a:t> </a:t>
            </a:r>
            <a:r>
              <a:rPr sz="2000" b="0" dirty="0" err="1">
                <a:solidFill>
                  <a:srgbClr val="FFFFFF"/>
                </a:solidFill>
                <a:latin typeface="Tw Cen MT"/>
              </a:rPr>
              <a:t>superan</a:t>
            </a:r>
            <a:r>
              <a:rPr sz="2000" b="0" dirty="0">
                <a:solidFill>
                  <a:srgbClr val="FFFFFF"/>
                </a:solidFill>
                <a:latin typeface="Tw Cen MT"/>
              </a:rPr>
              <a:t> U$S 32 mil </a:t>
            </a:r>
            <a:r>
              <a:rPr sz="2000" b="0" dirty="0" err="1">
                <a:solidFill>
                  <a:srgbClr val="FFFFFF"/>
                </a:solidFill>
                <a:latin typeface="Tw Cen MT"/>
              </a:rPr>
              <a:t>millones</a:t>
            </a:r>
            <a:r>
              <a:rPr sz="2000" b="0" dirty="0">
                <a:solidFill>
                  <a:srgbClr val="FFFFFF"/>
                </a:solidFill>
                <a:latin typeface="Tw Cen MT"/>
              </a:rPr>
              <a:t> (2020).</a:t>
            </a:r>
            <a:endParaRPr lang="es-419" sz="2000" b="0" dirty="0">
              <a:solidFill>
                <a:srgbClr val="FFFFFF"/>
              </a:solidFill>
              <a:latin typeface="Tw Cen MT"/>
            </a:endParaRPr>
          </a:p>
          <a:p>
            <a:pPr algn="l">
              <a:spcBef>
                <a:spcPts val="400"/>
              </a:spcBef>
            </a:pPr>
            <a:endParaRPr sz="2000" b="0" dirty="0">
              <a:solidFill>
                <a:srgbClr val="FFFFFF"/>
              </a:solidFill>
              <a:latin typeface="Tw Cen MT"/>
            </a:endParaRPr>
          </a:p>
          <a:p>
            <a:pPr algn="l">
              <a:spcBef>
                <a:spcPts val="400"/>
              </a:spcBef>
              <a:buNone/>
            </a:pPr>
            <a:r>
              <a:rPr sz="2000" b="1" dirty="0">
                <a:solidFill>
                  <a:srgbClr val="D4A017"/>
                </a:solidFill>
                <a:latin typeface="Tw Cen MT"/>
              </a:rPr>
              <a:t>EL MODELO RENDANHEYI</a:t>
            </a:r>
          </a:p>
          <a:p>
            <a:pPr>
              <a:spcBef>
                <a:spcPts val="400"/>
              </a:spcBef>
            </a:pPr>
            <a:r>
              <a:rPr sz="2000" b="0" dirty="0">
                <a:solidFill>
                  <a:srgbClr val="FFFFFF"/>
                </a:solidFill>
                <a:latin typeface="Tw Cen MT"/>
              </a:rPr>
              <a:t>Los </a:t>
            </a:r>
            <a:r>
              <a:rPr sz="2000" b="0" dirty="0" err="1">
                <a:solidFill>
                  <a:srgbClr val="FFFFFF"/>
                </a:solidFill>
                <a:latin typeface="Tw Cen MT"/>
              </a:rPr>
              <a:t>empleados</a:t>
            </a:r>
            <a:r>
              <a:rPr sz="2000" b="0" dirty="0">
                <a:solidFill>
                  <a:srgbClr val="FFFFFF"/>
                </a:solidFill>
                <a:latin typeface="Tw Cen MT"/>
              </a:rPr>
              <a:t> se </a:t>
            </a:r>
            <a:r>
              <a:rPr sz="2000" b="0" dirty="0" err="1">
                <a:solidFill>
                  <a:srgbClr val="FFFFFF"/>
                </a:solidFill>
                <a:latin typeface="Tw Cen MT"/>
              </a:rPr>
              <a:t>autogestionan</a:t>
            </a:r>
            <a:r>
              <a:rPr sz="2000" b="0" dirty="0">
                <a:solidFill>
                  <a:srgbClr val="FFFFFF"/>
                </a:solidFill>
                <a:latin typeface="Tw Cen MT"/>
              </a:rPr>
              <a:t> </a:t>
            </a:r>
            <a:r>
              <a:rPr sz="2000" b="0" dirty="0" err="1">
                <a:solidFill>
                  <a:srgbClr val="FFFFFF"/>
                </a:solidFill>
                <a:latin typeface="Tw Cen MT"/>
              </a:rPr>
              <a:t>en</a:t>
            </a:r>
            <a:r>
              <a:rPr sz="2000" b="0" dirty="0">
                <a:solidFill>
                  <a:srgbClr val="FFFFFF"/>
                </a:solidFill>
                <a:latin typeface="Tw Cen MT"/>
              </a:rPr>
              <a:t> miles de </a:t>
            </a:r>
            <a:r>
              <a:rPr sz="2000" b="0" dirty="0" err="1">
                <a:solidFill>
                  <a:srgbClr val="FFFFFF"/>
                </a:solidFill>
                <a:latin typeface="Tw Cen MT"/>
              </a:rPr>
              <a:t>microempresas</a:t>
            </a:r>
            <a:r>
              <a:rPr sz="2000" b="0" dirty="0">
                <a:solidFill>
                  <a:srgbClr val="FFFFFF"/>
                </a:solidFill>
                <a:latin typeface="Tw Cen MT"/>
              </a:rPr>
              <a:t> (4.000 </a:t>
            </a:r>
            <a:r>
              <a:rPr sz="2000" b="0" dirty="0" err="1">
                <a:solidFill>
                  <a:srgbClr val="FFFFFF"/>
                </a:solidFill>
                <a:latin typeface="Tw Cen MT"/>
              </a:rPr>
              <a:t>actualmente</a:t>
            </a:r>
            <a:r>
              <a:rPr sz="2000" b="0" dirty="0">
                <a:solidFill>
                  <a:srgbClr val="FFFFFF"/>
                </a:solidFill>
                <a:latin typeface="Tw Cen MT"/>
              </a:rPr>
              <a:t>) </a:t>
            </a:r>
            <a:r>
              <a:rPr sz="2000" b="0" dirty="0" err="1">
                <a:solidFill>
                  <a:srgbClr val="FFFFFF"/>
                </a:solidFill>
                <a:latin typeface="Tw Cen MT"/>
              </a:rPr>
              <a:t>que</a:t>
            </a:r>
            <a:r>
              <a:rPr sz="2000" b="0" dirty="0">
                <a:solidFill>
                  <a:srgbClr val="FFFFFF"/>
                </a:solidFill>
                <a:latin typeface="Tw Cen MT"/>
              </a:rPr>
              <a:t> </a:t>
            </a:r>
            <a:r>
              <a:rPr sz="2000" b="0" dirty="0" err="1">
                <a:solidFill>
                  <a:srgbClr val="FFFFFF"/>
                </a:solidFill>
                <a:latin typeface="Tw Cen MT"/>
              </a:rPr>
              <a:t>responden</a:t>
            </a:r>
            <a:r>
              <a:rPr sz="2000" b="0" dirty="0">
                <a:solidFill>
                  <a:srgbClr val="FFFFFF"/>
                </a:solidFill>
                <a:latin typeface="Tw Cen MT"/>
              </a:rPr>
              <a:t> </a:t>
            </a:r>
            <a:r>
              <a:rPr sz="2000" b="0" dirty="0" err="1">
                <a:solidFill>
                  <a:srgbClr val="FFFFFF"/>
                </a:solidFill>
                <a:latin typeface="Tw Cen MT"/>
              </a:rPr>
              <a:t>directamente</a:t>
            </a:r>
            <a:r>
              <a:rPr sz="2000" b="0" dirty="0">
                <a:solidFill>
                  <a:srgbClr val="FFFFFF"/>
                </a:solidFill>
                <a:latin typeface="Tw Cen MT"/>
              </a:rPr>
              <a:t> a las </a:t>
            </a:r>
            <a:r>
              <a:rPr sz="2000" b="0" dirty="0" err="1">
                <a:solidFill>
                  <a:srgbClr val="FFFFFF"/>
                </a:solidFill>
                <a:latin typeface="Tw Cen MT"/>
              </a:rPr>
              <a:t>necesidades</a:t>
            </a:r>
            <a:r>
              <a:rPr sz="2000" b="0" dirty="0">
                <a:solidFill>
                  <a:srgbClr val="FFFFFF"/>
                </a:solidFill>
                <a:latin typeface="Tw Cen MT"/>
              </a:rPr>
              <a:t> de </a:t>
            </a:r>
            <a:r>
              <a:rPr sz="2000" b="0" dirty="0" err="1">
                <a:solidFill>
                  <a:srgbClr val="FFFFFF"/>
                </a:solidFill>
                <a:latin typeface="Tw Cen MT"/>
              </a:rPr>
              <a:t>los</a:t>
            </a:r>
            <a:r>
              <a:rPr sz="2000" b="0" dirty="0">
                <a:solidFill>
                  <a:srgbClr val="FFFFFF"/>
                </a:solidFill>
                <a:latin typeface="Tw Cen MT"/>
              </a:rPr>
              <a:t> </a:t>
            </a:r>
            <a:r>
              <a:rPr sz="2000" b="0" dirty="0" err="1">
                <a:solidFill>
                  <a:srgbClr val="FFFFFF"/>
                </a:solidFill>
                <a:latin typeface="Tw Cen MT"/>
              </a:rPr>
              <a:t>usuarios</a:t>
            </a:r>
            <a:r>
              <a:rPr sz="2000" b="0" dirty="0">
                <a:solidFill>
                  <a:srgbClr val="FFFFFF"/>
                </a:solidFill>
                <a:latin typeface="Tw Cen MT"/>
              </a:rPr>
              <a:t>.</a:t>
            </a:r>
            <a:r>
              <a:rPr lang="es-419" sz="2000" b="0" dirty="0">
                <a:solidFill>
                  <a:srgbClr val="FFFFFF"/>
                </a:solidFill>
                <a:latin typeface="Tw Cen MT"/>
              </a:rPr>
              <a:t> </a:t>
            </a:r>
            <a:r>
              <a:rPr lang="es-AR" sz="2000" dirty="0">
                <a:solidFill>
                  <a:srgbClr val="FFFFFF"/>
                </a:solidFill>
                <a:latin typeface="Tw Cen MT"/>
              </a:rPr>
              <a:t>Cada individuo es compensado por el valor que crea para los usuarios.</a:t>
            </a:r>
          </a:p>
          <a:p>
            <a:pPr algn="l">
              <a:spcBef>
                <a:spcPts val="400"/>
              </a:spcBef>
            </a:pPr>
            <a:endParaRPr sz="2000" b="0" dirty="0">
              <a:solidFill>
                <a:srgbClr val="FFFFFF"/>
              </a:solidFill>
              <a:latin typeface="Tw Cen MT"/>
            </a:endParaRPr>
          </a:p>
          <a:p>
            <a:pPr algn="ctr">
              <a:spcBef>
                <a:spcPts val="400"/>
              </a:spcBef>
            </a:pPr>
            <a:r>
              <a:rPr sz="2200" b="1" dirty="0">
                <a:solidFill>
                  <a:srgbClr val="FFFFFF"/>
                </a:solidFill>
                <a:latin typeface="Tw Cen MT"/>
              </a:rPr>
              <a:t>Se </a:t>
            </a:r>
            <a:r>
              <a:rPr sz="2200" b="1" dirty="0" err="1">
                <a:solidFill>
                  <a:srgbClr val="FFFFFF"/>
                </a:solidFill>
                <a:latin typeface="Tw Cen MT"/>
              </a:rPr>
              <a:t>eliminó</a:t>
            </a:r>
            <a:r>
              <a:rPr sz="2200" b="1" dirty="0">
                <a:solidFill>
                  <a:srgbClr val="FFFFFF"/>
                </a:solidFill>
                <a:latin typeface="Tw Cen MT"/>
              </a:rPr>
              <a:t> la </a:t>
            </a:r>
            <a:r>
              <a:rPr sz="2200" b="1" dirty="0" err="1">
                <a:solidFill>
                  <a:srgbClr val="FFFFFF"/>
                </a:solidFill>
                <a:latin typeface="Tw Cen MT"/>
              </a:rPr>
              <a:t>jerarquía</a:t>
            </a:r>
            <a:r>
              <a:rPr sz="2200" b="1" dirty="0">
                <a:solidFill>
                  <a:srgbClr val="FFFFFF"/>
                </a:solidFill>
                <a:latin typeface="Tw Cen MT"/>
              </a:rPr>
              <a:t> y la </a:t>
            </a:r>
            <a:r>
              <a:rPr sz="2200" b="1" dirty="0" err="1">
                <a:solidFill>
                  <a:srgbClr val="FFFFFF"/>
                </a:solidFill>
                <a:latin typeface="Tw Cen MT"/>
              </a:rPr>
              <a:t>burocracia</a:t>
            </a:r>
            <a:r>
              <a:rPr sz="2200" b="1" dirty="0">
                <a:solidFill>
                  <a:srgbClr val="FFFFFF"/>
                </a:solidFill>
                <a:latin typeface="Tw Cen MT"/>
              </a:rPr>
              <a:t>: </a:t>
            </a:r>
            <a:r>
              <a:rPr sz="2200" b="1" dirty="0" err="1">
                <a:solidFill>
                  <a:srgbClr val="FFFFFF"/>
                </a:solidFill>
                <a:latin typeface="Tw Cen MT"/>
              </a:rPr>
              <a:t>más</a:t>
            </a:r>
            <a:r>
              <a:rPr sz="2200" b="1" dirty="0">
                <a:solidFill>
                  <a:srgbClr val="FFFFFF"/>
                </a:solidFill>
                <a:latin typeface="Tw Cen MT"/>
              </a:rPr>
              <a:t> de 12.000 </a:t>
            </a:r>
            <a:r>
              <a:rPr sz="2200" b="1" dirty="0" err="1">
                <a:solidFill>
                  <a:srgbClr val="FFFFFF"/>
                </a:solidFill>
                <a:latin typeface="Tw Cen MT"/>
              </a:rPr>
              <a:t>gerentes</a:t>
            </a:r>
            <a:r>
              <a:rPr sz="2200" b="1" dirty="0">
                <a:solidFill>
                  <a:srgbClr val="FFFFFF"/>
                </a:solidFill>
                <a:latin typeface="Tw Cen MT"/>
              </a:rPr>
              <a:t> </a:t>
            </a:r>
            <a:r>
              <a:rPr sz="2200" b="1" dirty="0" err="1">
                <a:solidFill>
                  <a:srgbClr val="FFFFFF"/>
                </a:solidFill>
                <a:latin typeface="Tw Cen MT"/>
              </a:rPr>
              <a:t>medios</a:t>
            </a:r>
            <a:r>
              <a:rPr sz="2200" b="1" dirty="0">
                <a:solidFill>
                  <a:srgbClr val="FFFFFF"/>
                </a:solidFill>
                <a:latin typeface="Tw Cen MT"/>
              </a:rPr>
              <a:t> </a:t>
            </a:r>
            <a:r>
              <a:rPr sz="2200" b="1" dirty="0" err="1">
                <a:solidFill>
                  <a:srgbClr val="FFFFFF"/>
                </a:solidFill>
                <a:latin typeface="Tw Cen MT"/>
              </a:rPr>
              <a:t>fueron</a:t>
            </a:r>
            <a:r>
              <a:rPr sz="2200" b="1" dirty="0">
                <a:solidFill>
                  <a:srgbClr val="FFFFFF"/>
                </a:solidFill>
                <a:latin typeface="Tw Cen MT"/>
              </a:rPr>
              <a:t> </a:t>
            </a:r>
            <a:r>
              <a:rPr sz="2200" b="1" dirty="0" err="1">
                <a:solidFill>
                  <a:srgbClr val="FFFFFF"/>
                </a:solidFill>
                <a:latin typeface="Tw Cen MT"/>
              </a:rPr>
              <a:t>suprimidos</a:t>
            </a:r>
            <a:r>
              <a:rPr sz="2000" b="1" dirty="0">
                <a:solidFill>
                  <a:srgbClr val="FFFFFF"/>
                </a:solidFill>
                <a:latin typeface="Tw Cen MT"/>
              </a:rPr>
              <a:t>.</a:t>
            </a:r>
          </a:p>
          <a:p>
            <a:pPr algn="l">
              <a:spcBef>
                <a:spcPts val="400"/>
              </a:spcBef>
              <a:buNone/>
            </a:pPr>
            <a:endParaRPr lang="es-419" sz="2000" b="1" dirty="0">
              <a:solidFill>
                <a:srgbClr val="D4A017"/>
              </a:solidFill>
              <a:latin typeface="Tw Cen MT"/>
            </a:endParaRPr>
          </a:p>
          <a:p>
            <a:pPr algn="l">
              <a:spcBef>
                <a:spcPts val="400"/>
              </a:spcBef>
              <a:buNone/>
            </a:pPr>
            <a:r>
              <a:rPr sz="2000" b="1" dirty="0">
                <a:solidFill>
                  <a:srgbClr val="D4A017"/>
                </a:solidFill>
                <a:latin typeface="Tw Cen MT"/>
              </a:rPr>
              <a:t>TRES PODERES DE LAS MICROEMPRESAS</a:t>
            </a:r>
          </a:p>
          <a:p>
            <a:pPr algn="l">
              <a:spcBef>
                <a:spcPts val="400"/>
              </a:spcBef>
              <a:buFont typeface="Tw Cen MT"/>
              <a:buChar char="■"/>
            </a:pPr>
            <a:r>
              <a:rPr sz="2000" b="0" dirty="0">
                <a:solidFill>
                  <a:srgbClr val="FFFFFF"/>
                </a:solidFill>
                <a:latin typeface="Tw Cen MT"/>
              </a:rPr>
              <a:t>Toma de </a:t>
            </a:r>
            <a:r>
              <a:rPr sz="2000" b="0" dirty="0" err="1">
                <a:solidFill>
                  <a:srgbClr val="FFFFFF"/>
                </a:solidFill>
                <a:latin typeface="Tw Cen MT"/>
              </a:rPr>
              <a:t>decisión</a:t>
            </a:r>
            <a:r>
              <a:rPr sz="2000" b="0" dirty="0">
                <a:solidFill>
                  <a:srgbClr val="FFFFFF"/>
                </a:solidFill>
                <a:latin typeface="Tw Cen MT"/>
              </a:rPr>
              <a:t>  ▸  </a:t>
            </a:r>
            <a:r>
              <a:rPr sz="2000" b="0" dirty="0" err="1">
                <a:solidFill>
                  <a:srgbClr val="FFFFFF"/>
                </a:solidFill>
                <a:latin typeface="Tw Cen MT"/>
              </a:rPr>
              <a:t>Contratación</a:t>
            </a:r>
            <a:r>
              <a:rPr sz="2000" b="0" dirty="0">
                <a:solidFill>
                  <a:srgbClr val="FFFFFF"/>
                </a:solidFill>
                <a:latin typeface="Tw Cen MT"/>
              </a:rPr>
              <a:t> y </a:t>
            </a:r>
            <a:r>
              <a:rPr sz="2000" b="0" dirty="0" err="1">
                <a:solidFill>
                  <a:srgbClr val="FFFFFF"/>
                </a:solidFill>
                <a:latin typeface="Tw Cen MT"/>
              </a:rPr>
              <a:t>despido</a:t>
            </a:r>
            <a:r>
              <a:rPr sz="2000" b="0" dirty="0">
                <a:solidFill>
                  <a:srgbClr val="FFFFFF"/>
                </a:solidFill>
                <a:latin typeface="Tw Cen MT"/>
              </a:rPr>
              <a:t>  ▸  </a:t>
            </a:r>
            <a:r>
              <a:rPr sz="2000" b="0" dirty="0" err="1">
                <a:solidFill>
                  <a:srgbClr val="FFFFFF"/>
                </a:solidFill>
                <a:latin typeface="Tw Cen MT"/>
              </a:rPr>
              <a:t>Establecimiento</a:t>
            </a:r>
            <a:r>
              <a:rPr sz="2000" b="0" dirty="0">
                <a:solidFill>
                  <a:srgbClr val="FFFFFF"/>
                </a:solidFill>
                <a:latin typeface="Tw Cen MT"/>
              </a:rPr>
              <a:t> de </a:t>
            </a:r>
            <a:r>
              <a:rPr sz="2000" b="0" dirty="0" err="1">
                <a:solidFill>
                  <a:srgbClr val="FFFFFF"/>
                </a:solidFill>
                <a:latin typeface="Tw Cen MT"/>
              </a:rPr>
              <a:t>compensaciones</a:t>
            </a:r>
            <a:r>
              <a:rPr sz="2000" b="0" dirty="0">
                <a:solidFill>
                  <a:srgbClr val="FFFFFF"/>
                </a:solidFill>
                <a:latin typeface="Tw Cen MT"/>
              </a:rPr>
              <a:t>.</a:t>
            </a:r>
          </a:p>
          <a:p>
            <a:pPr algn="l">
              <a:spcBef>
                <a:spcPts val="400"/>
              </a:spcBef>
              <a:buFont typeface="Tw Cen MT"/>
              <a:buChar char="■"/>
            </a:pPr>
            <a:r>
              <a:rPr sz="2000" b="0" dirty="0">
                <a:solidFill>
                  <a:srgbClr val="FFFFFF"/>
                </a:solidFill>
                <a:latin typeface="Tw Cen MT"/>
              </a:rPr>
              <a:t>Si </a:t>
            </a:r>
            <a:r>
              <a:rPr sz="2000" b="0" dirty="0" err="1">
                <a:solidFill>
                  <a:srgbClr val="FFFFFF"/>
                </a:solidFill>
                <a:latin typeface="Tw Cen MT"/>
              </a:rPr>
              <a:t>dentro</a:t>
            </a:r>
            <a:r>
              <a:rPr sz="2000" b="0" dirty="0">
                <a:solidFill>
                  <a:srgbClr val="FFFFFF"/>
                </a:solidFill>
                <a:latin typeface="Tw Cen MT"/>
              </a:rPr>
              <a:t> de </a:t>
            </a:r>
            <a:r>
              <a:rPr sz="2000" b="0" dirty="0" err="1">
                <a:solidFill>
                  <a:srgbClr val="FFFFFF"/>
                </a:solidFill>
                <a:latin typeface="Tw Cen MT"/>
              </a:rPr>
              <a:t>cierto</a:t>
            </a:r>
            <a:r>
              <a:rPr sz="2000" b="0" dirty="0">
                <a:solidFill>
                  <a:srgbClr val="FFFFFF"/>
                </a:solidFill>
                <a:latin typeface="Tw Cen MT"/>
              </a:rPr>
              <a:t> </a:t>
            </a:r>
            <a:r>
              <a:rPr sz="2000" b="0" dirty="0" err="1">
                <a:solidFill>
                  <a:srgbClr val="FFFFFF"/>
                </a:solidFill>
                <a:latin typeface="Tw Cen MT"/>
              </a:rPr>
              <a:t>período</a:t>
            </a:r>
            <a:r>
              <a:rPr sz="2000" b="0" dirty="0">
                <a:solidFill>
                  <a:srgbClr val="FFFFFF"/>
                </a:solidFill>
                <a:latin typeface="Tw Cen MT"/>
              </a:rPr>
              <a:t> no </a:t>
            </a:r>
            <a:r>
              <a:rPr sz="2000" b="0" dirty="0" err="1">
                <a:solidFill>
                  <a:srgbClr val="FFFFFF"/>
                </a:solidFill>
                <a:latin typeface="Tw Cen MT"/>
              </a:rPr>
              <a:t>atraen</a:t>
            </a:r>
            <a:r>
              <a:rPr sz="2000" b="0" dirty="0">
                <a:solidFill>
                  <a:srgbClr val="FFFFFF"/>
                </a:solidFill>
                <a:latin typeface="Tw Cen MT"/>
              </a:rPr>
              <a:t> </a:t>
            </a:r>
            <a:r>
              <a:rPr sz="2000" b="0" dirty="0" err="1">
                <a:solidFill>
                  <a:srgbClr val="FFFFFF"/>
                </a:solidFill>
                <a:latin typeface="Tw Cen MT"/>
              </a:rPr>
              <a:t>suficiente</a:t>
            </a:r>
            <a:r>
              <a:rPr sz="2000" b="0" dirty="0">
                <a:solidFill>
                  <a:srgbClr val="FFFFFF"/>
                </a:solidFill>
                <a:latin typeface="Tw Cen MT"/>
              </a:rPr>
              <a:t> capital, la </a:t>
            </a:r>
            <a:r>
              <a:rPr sz="2000" b="0" dirty="0" err="1">
                <a:solidFill>
                  <a:srgbClr val="FFFFFF"/>
                </a:solidFill>
                <a:latin typeface="Tw Cen MT"/>
              </a:rPr>
              <a:t>microempresa</a:t>
            </a:r>
            <a:r>
              <a:rPr sz="2000" b="0" dirty="0">
                <a:solidFill>
                  <a:srgbClr val="FFFFFF"/>
                </a:solidFill>
                <a:latin typeface="Tw Cen MT"/>
              </a:rPr>
              <a:t> es </a:t>
            </a:r>
            <a:r>
              <a:rPr sz="2000" b="0" dirty="0" err="1">
                <a:solidFill>
                  <a:srgbClr val="FFFFFF"/>
                </a:solidFill>
                <a:latin typeface="Tw Cen MT"/>
              </a:rPr>
              <a:t>desmantelada</a:t>
            </a:r>
            <a:r>
              <a:rPr sz="2000" b="0" dirty="0">
                <a:solidFill>
                  <a:srgbClr val="FFFFFF"/>
                </a:solidFill>
                <a:latin typeface="Tw Cen MT"/>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Ejemplos de Centralización</a:t>
            </a:r>
          </a:p>
        </p:txBody>
      </p:sp>
      <p:sp>
        <p:nvSpPr>
          <p:cNvPr id="5" name="TextBox 4"/>
          <p:cNvSpPr txBox="1"/>
          <p:nvPr/>
        </p:nvSpPr>
        <p:spPr>
          <a:xfrm>
            <a:off x="304800" y="1220000"/>
            <a:ext cx="8534400" cy="4452501"/>
          </a:xfrm>
          <a:prstGeom prst="rect">
            <a:avLst/>
          </a:prstGeom>
          <a:noFill/>
        </p:spPr>
        <p:txBody>
          <a:bodyPr wrap="square">
            <a:spAutoFit/>
          </a:bodyPr>
          <a:lstStyle/>
          <a:p>
            <a:pPr algn="l">
              <a:spcBef>
                <a:spcPts val="400"/>
              </a:spcBef>
              <a:buNone/>
            </a:pPr>
            <a:r>
              <a:rPr sz="2000" b="1" dirty="0" err="1">
                <a:solidFill>
                  <a:srgbClr val="8B0000"/>
                </a:solidFill>
                <a:latin typeface="Tw Cen MT"/>
              </a:rPr>
              <a:t>McDONALD’S</a:t>
            </a:r>
            <a:endParaRPr sz="2000" b="1" dirty="0">
              <a:solidFill>
                <a:srgbClr val="8B0000"/>
              </a:solidFill>
              <a:latin typeface="Tw Cen MT"/>
            </a:endParaRPr>
          </a:p>
          <a:p>
            <a:pPr algn="l">
              <a:spcBef>
                <a:spcPts val="400"/>
              </a:spcBef>
            </a:pPr>
            <a:r>
              <a:rPr sz="2000" b="0" dirty="0">
                <a:solidFill>
                  <a:srgbClr val="222222"/>
                </a:solidFill>
                <a:latin typeface="Tw Cen MT"/>
              </a:rPr>
              <a:t>Control </a:t>
            </a:r>
            <a:r>
              <a:rPr sz="2000" b="0" dirty="0" err="1">
                <a:solidFill>
                  <a:srgbClr val="222222"/>
                </a:solidFill>
                <a:latin typeface="Tw Cen MT"/>
              </a:rPr>
              <a:t>centralizado</a:t>
            </a:r>
            <a:r>
              <a:rPr sz="2000" b="0" dirty="0">
                <a:solidFill>
                  <a:srgbClr val="222222"/>
                </a:solidFill>
                <a:latin typeface="Tw Cen MT"/>
              </a:rPr>
              <a:t> </a:t>
            </a:r>
            <a:r>
              <a:rPr sz="2000" b="0" dirty="0" err="1">
                <a:solidFill>
                  <a:srgbClr val="222222"/>
                </a:solidFill>
                <a:latin typeface="Tw Cen MT"/>
              </a:rPr>
              <a:t>sobre</a:t>
            </a:r>
            <a:r>
              <a:rPr sz="2000" b="0" dirty="0">
                <a:solidFill>
                  <a:srgbClr val="222222"/>
                </a:solidFill>
                <a:latin typeface="Tw Cen MT"/>
              </a:rPr>
              <a:t> </a:t>
            </a:r>
            <a:r>
              <a:rPr sz="2000" b="0" dirty="0" err="1">
                <a:solidFill>
                  <a:srgbClr val="222222"/>
                </a:solidFill>
                <a:latin typeface="Tw Cen MT"/>
              </a:rPr>
              <a:t>menú</a:t>
            </a:r>
            <a:r>
              <a:rPr sz="2000" b="0" dirty="0">
                <a:solidFill>
                  <a:srgbClr val="222222"/>
                </a:solidFill>
                <a:latin typeface="Tw Cen MT"/>
              </a:rPr>
              <a:t>, </a:t>
            </a:r>
            <a:r>
              <a:rPr sz="2000" b="0" dirty="0" err="1">
                <a:solidFill>
                  <a:srgbClr val="222222"/>
                </a:solidFill>
                <a:latin typeface="Tw Cen MT"/>
              </a:rPr>
              <a:t>campañas</a:t>
            </a:r>
            <a:r>
              <a:rPr sz="2000" b="0" dirty="0">
                <a:solidFill>
                  <a:srgbClr val="222222"/>
                </a:solidFill>
                <a:latin typeface="Tw Cen MT"/>
              </a:rPr>
              <a:t> de marketing y </a:t>
            </a:r>
            <a:r>
              <a:rPr sz="2000" b="0" dirty="0" err="1">
                <a:solidFill>
                  <a:srgbClr val="222222"/>
                </a:solidFill>
                <a:latin typeface="Tw Cen MT"/>
              </a:rPr>
              <a:t>estándares</a:t>
            </a:r>
            <a:r>
              <a:rPr sz="2000" b="0" dirty="0">
                <a:solidFill>
                  <a:srgbClr val="222222"/>
                </a:solidFill>
                <a:latin typeface="Tw Cen MT"/>
              </a:rPr>
              <a:t> </a:t>
            </a:r>
            <a:r>
              <a:rPr sz="2000" b="0" dirty="0" err="1">
                <a:solidFill>
                  <a:srgbClr val="222222"/>
                </a:solidFill>
                <a:latin typeface="Tw Cen MT"/>
              </a:rPr>
              <a:t>operativos</a:t>
            </a:r>
            <a:r>
              <a:rPr sz="2000" b="0" dirty="0">
                <a:solidFill>
                  <a:srgbClr val="222222"/>
                </a:solidFill>
                <a:latin typeface="Tw Cen MT"/>
              </a:rPr>
              <a:t> </a:t>
            </a:r>
            <a:r>
              <a:rPr sz="2000" b="0" dirty="0" err="1">
                <a:solidFill>
                  <a:srgbClr val="222222"/>
                </a:solidFill>
                <a:latin typeface="Tw Cen MT"/>
              </a:rPr>
              <a:t>en</a:t>
            </a:r>
            <a:r>
              <a:rPr sz="2000" b="0" dirty="0">
                <a:solidFill>
                  <a:srgbClr val="222222"/>
                </a:solidFill>
                <a:latin typeface="Tw Cen MT"/>
              </a:rPr>
              <a:t> miles de </a:t>
            </a:r>
            <a:r>
              <a:rPr sz="2000" b="0" dirty="0" err="1">
                <a:solidFill>
                  <a:srgbClr val="222222"/>
                </a:solidFill>
                <a:latin typeface="Tw Cen MT"/>
              </a:rPr>
              <a:t>franquicias</a:t>
            </a:r>
            <a:r>
              <a:rPr sz="2000" b="0" dirty="0">
                <a:solidFill>
                  <a:srgbClr val="222222"/>
                </a:solidFill>
                <a:latin typeface="Tw Cen MT"/>
              </a:rPr>
              <a:t> </a:t>
            </a:r>
            <a:r>
              <a:rPr sz="2000" b="0" dirty="0" err="1">
                <a:solidFill>
                  <a:srgbClr val="222222"/>
                </a:solidFill>
                <a:latin typeface="Tw Cen MT"/>
              </a:rPr>
              <a:t>en</a:t>
            </a:r>
            <a:r>
              <a:rPr sz="2000" b="0" dirty="0">
                <a:solidFill>
                  <a:srgbClr val="222222"/>
                </a:solidFill>
                <a:latin typeface="Tw Cen MT"/>
              </a:rPr>
              <a:t> </a:t>
            </a:r>
            <a:r>
              <a:rPr sz="2000" b="0" dirty="0" err="1">
                <a:solidFill>
                  <a:srgbClr val="222222"/>
                </a:solidFill>
                <a:latin typeface="Tw Cen MT"/>
              </a:rPr>
              <a:t>todo</a:t>
            </a:r>
            <a:r>
              <a:rPr sz="2000" b="0" dirty="0">
                <a:solidFill>
                  <a:srgbClr val="222222"/>
                </a:solidFill>
                <a:latin typeface="Tw Cen MT"/>
              </a:rPr>
              <a:t> </a:t>
            </a:r>
            <a:r>
              <a:rPr sz="2000" b="0" dirty="0" err="1">
                <a:solidFill>
                  <a:srgbClr val="222222"/>
                </a:solidFill>
                <a:latin typeface="Tw Cen MT"/>
              </a:rPr>
              <a:t>el</a:t>
            </a:r>
            <a:r>
              <a:rPr sz="2000" b="0" dirty="0">
                <a:solidFill>
                  <a:srgbClr val="222222"/>
                </a:solidFill>
                <a:latin typeface="Tw Cen MT"/>
              </a:rPr>
              <a:t> </a:t>
            </a:r>
            <a:r>
              <a:rPr sz="2000" b="0" dirty="0" err="1">
                <a:solidFill>
                  <a:srgbClr val="222222"/>
                </a:solidFill>
                <a:latin typeface="Tw Cen MT"/>
              </a:rPr>
              <a:t>mundo</a:t>
            </a:r>
            <a:r>
              <a:rPr sz="2000" b="0" dirty="0">
                <a:solidFill>
                  <a:srgbClr val="222222"/>
                </a:solidFill>
                <a:latin typeface="Tw Cen MT"/>
              </a:rPr>
              <a:t>. </a:t>
            </a:r>
            <a:r>
              <a:rPr sz="2000" b="0" dirty="0" err="1">
                <a:solidFill>
                  <a:srgbClr val="222222"/>
                </a:solidFill>
                <a:latin typeface="Tw Cen MT"/>
              </a:rPr>
              <a:t>Coherencia</a:t>
            </a:r>
            <a:r>
              <a:rPr sz="2000" b="0" dirty="0">
                <a:solidFill>
                  <a:srgbClr val="222222"/>
                </a:solidFill>
                <a:latin typeface="Tw Cen MT"/>
              </a:rPr>
              <a:t> y </a:t>
            </a:r>
            <a:r>
              <a:rPr sz="2000" b="0" dirty="0" err="1">
                <a:solidFill>
                  <a:srgbClr val="222222"/>
                </a:solidFill>
                <a:latin typeface="Tw Cen MT"/>
              </a:rPr>
              <a:t>uniformidad</a:t>
            </a:r>
            <a:r>
              <a:rPr sz="2000" b="0" dirty="0">
                <a:solidFill>
                  <a:srgbClr val="222222"/>
                </a:solidFill>
                <a:latin typeface="Tw Cen MT"/>
              </a:rPr>
              <a:t> </a:t>
            </a:r>
            <a:r>
              <a:rPr sz="2000" b="0" dirty="0" err="1">
                <a:solidFill>
                  <a:srgbClr val="222222"/>
                </a:solidFill>
                <a:latin typeface="Tw Cen MT"/>
              </a:rPr>
              <a:t>en</a:t>
            </a:r>
            <a:r>
              <a:rPr sz="2000" b="0" dirty="0">
                <a:solidFill>
                  <a:srgbClr val="222222"/>
                </a:solidFill>
                <a:latin typeface="Tw Cen MT"/>
              </a:rPr>
              <a:t> la </a:t>
            </a:r>
            <a:r>
              <a:rPr sz="2000" b="0" dirty="0" err="1">
                <a:solidFill>
                  <a:srgbClr val="222222"/>
                </a:solidFill>
                <a:latin typeface="Tw Cen MT"/>
              </a:rPr>
              <a:t>experiencia</a:t>
            </a:r>
            <a:r>
              <a:rPr sz="2000" b="0" dirty="0">
                <a:solidFill>
                  <a:srgbClr val="222222"/>
                </a:solidFill>
                <a:latin typeface="Tw Cen MT"/>
              </a:rPr>
              <a:t> del </a:t>
            </a:r>
            <a:r>
              <a:rPr sz="2000" b="0" dirty="0" err="1">
                <a:solidFill>
                  <a:srgbClr val="222222"/>
                </a:solidFill>
                <a:latin typeface="Tw Cen MT"/>
              </a:rPr>
              <a:t>cliente</a:t>
            </a:r>
            <a:r>
              <a:rPr sz="2000" b="0" dirty="0">
                <a:solidFill>
                  <a:srgbClr val="222222"/>
                </a:solidFill>
                <a:latin typeface="Tw Cen MT"/>
              </a:rPr>
              <a:t>.</a:t>
            </a:r>
            <a:endParaRPr lang="es-419" sz="2000" b="0" dirty="0">
              <a:solidFill>
                <a:srgbClr val="222222"/>
              </a:solidFill>
              <a:latin typeface="Tw Cen MT"/>
            </a:endParaRPr>
          </a:p>
          <a:p>
            <a:pPr algn="l">
              <a:spcBef>
                <a:spcPts val="400"/>
              </a:spcBef>
            </a:pPr>
            <a:endParaRPr sz="2000" b="0" dirty="0">
              <a:solidFill>
                <a:srgbClr val="222222"/>
              </a:solidFill>
              <a:latin typeface="Tw Cen MT"/>
            </a:endParaRPr>
          </a:p>
          <a:p>
            <a:pPr algn="l">
              <a:spcBef>
                <a:spcPts val="400"/>
              </a:spcBef>
              <a:buNone/>
            </a:pPr>
            <a:r>
              <a:rPr sz="2000" b="1" dirty="0">
                <a:solidFill>
                  <a:srgbClr val="8B0000"/>
                </a:solidFill>
                <a:latin typeface="Tw Cen MT"/>
              </a:rPr>
              <a:t>APPLE</a:t>
            </a:r>
            <a:endParaRPr lang="es-419" sz="2000" b="1" dirty="0">
              <a:solidFill>
                <a:srgbClr val="8B0000"/>
              </a:solidFill>
              <a:latin typeface="Tw Cen MT"/>
            </a:endParaRPr>
          </a:p>
          <a:p>
            <a:pPr algn="l">
              <a:spcBef>
                <a:spcPts val="400"/>
              </a:spcBef>
            </a:pPr>
            <a:r>
              <a:rPr sz="2000" b="0" dirty="0" err="1">
                <a:solidFill>
                  <a:srgbClr val="222222"/>
                </a:solidFill>
                <a:latin typeface="Tw Cen MT"/>
              </a:rPr>
              <a:t>Decisiones</a:t>
            </a:r>
            <a:r>
              <a:rPr sz="2000" b="0" dirty="0">
                <a:solidFill>
                  <a:srgbClr val="222222"/>
                </a:solidFill>
                <a:latin typeface="Tw Cen MT"/>
              </a:rPr>
              <a:t> </a:t>
            </a:r>
            <a:r>
              <a:rPr sz="2000" b="0" dirty="0" err="1">
                <a:solidFill>
                  <a:srgbClr val="222222"/>
                </a:solidFill>
                <a:latin typeface="Tw Cen MT"/>
              </a:rPr>
              <a:t>sobre</a:t>
            </a:r>
            <a:r>
              <a:rPr sz="2000" b="0" dirty="0">
                <a:solidFill>
                  <a:srgbClr val="222222"/>
                </a:solidFill>
                <a:latin typeface="Tw Cen MT"/>
              </a:rPr>
              <a:t> </a:t>
            </a:r>
            <a:r>
              <a:rPr sz="2000" b="0" dirty="0" err="1">
                <a:solidFill>
                  <a:srgbClr val="222222"/>
                </a:solidFill>
                <a:latin typeface="Tw Cen MT"/>
              </a:rPr>
              <a:t>productos</a:t>
            </a:r>
            <a:r>
              <a:rPr sz="2000" b="0" dirty="0">
                <a:solidFill>
                  <a:srgbClr val="222222"/>
                </a:solidFill>
                <a:latin typeface="Tw Cen MT"/>
              </a:rPr>
              <a:t>, </a:t>
            </a:r>
            <a:r>
              <a:rPr sz="2000" b="0" dirty="0" err="1">
                <a:solidFill>
                  <a:srgbClr val="222222"/>
                </a:solidFill>
                <a:latin typeface="Tw Cen MT"/>
              </a:rPr>
              <a:t>diseño</a:t>
            </a:r>
            <a:r>
              <a:rPr sz="2000" b="0" dirty="0">
                <a:solidFill>
                  <a:srgbClr val="222222"/>
                </a:solidFill>
                <a:latin typeface="Tw Cen MT"/>
              </a:rPr>
              <a:t> y marketing </a:t>
            </a:r>
            <a:r>
              <a:rPr sz="2000" b="0" dirty="0" err="1">
                <a:solidFill>
                  <a:srgbClr val="222222"/>
                </a:solidFill>
                <a:latin typeface="Tw Cen MT"/>
              </a:rPr>
              <a:t>tomadas</a:t>
            </a:r>
            <a:r>
              <a:rPr sz="2000" b="0" dirty="0">
                <a:solidFill>
                  <a:srgbClr val="222222"/>
                </a:solidFill>
                <a:latin typeface="Tw Cen MT"/>
              </a:rPr>
              <a:t> </a:t>
            </a:r>
            <a:r>
              <a:rPr sz="2000" b="0" dirty="0" err="1">
                <a:solidFill>
                  <a:srgbClr val="222222"/>
                </a:solidFill>
                <a:latin typeface="Tw Cen MT"/>
              </a:rPr>
              <a:t>en</a:t>
            </a:r>
            <a:r>
              <a:rPr sz="2000" b="0" dirty="0">
                <a:solidFill>
                  <a:srgbClr val="222222"/>
                </a:solidFill>
                <a:latin typeface="Tw Cen MT"/>
              </a:rPr>
              <a:t> Cupertino. Visión de </a:t>
            </a:r>
            <a:r>
              <a:rPr sz="2000" b="0" dirty="0" err="1">
                <a:solidFill>
                  <a:srgbClr val="222222"/>
                </a:solidFill>
                <a:latin typeface="Tw Cen MT"/>
              </a:rPr>
              <a:t>marca</a:t>
            </a:r>
            <a:r>
              <a:rPr sz="2000" b="0" dirty="0">
                <a:solidFill>
                  <a:srgbClr val="222222"/>
                </a:solidFill>
                <a:latin typeface="Tw Cen MT"/>
              </a:rPr>
              <a:t> </a:t>
            </a:r>
            <a:r>
              <a:rPr sz="2000" b="0" dirty="0" err="1">
                <a:solidFill>
                  <a:srgbClr val="222222"/>
                </a:solidFill>
                <a:latin typeface="Tw Cen MT"/>
              </a:rPr>
              <a:t>coherente</a:t>
            </a:r>
            <a:r>
              <a:rPr sz="2000" b="0" dirty="0">
                <a:solidFill>
                  <a:srgbClr val="222222"/>
                </a:solidFill>
                <a:latin typeface="Tw Cen MT"/>
              </a:rPr>
              <a:t> y </a:t>
            </a:r>
            <a:r>
              <a:rPr sz="2000" b="0" dirty="0" err="1">
                <a:solidFill>
                  <a:srgbClr val="222222"/>
                </a:solidFill>
                <a:latin typeface="Tw Cen MT"/>
              </a:rPr>
              <a:t>calidad</a:t>
            </a:r>
            <a:r>
              <a:rPr sz="2000" b="0" dirty="0">
                <a:solidFill>
                  <a:srgbClr val="222222"/>
                </a:solidFill>
                <a:latin typeface="Tw Cen MT"/>
              </a:rPr>
              <a:t> </a:t>
            </a:r>
            <a:r>
              <a:rPr sz="2000" b="0" dirty="0" err="1">
                <a:solidFill>
                  <a:srgbClr val="222222"/>
                </a:solidFill>
                <a:latin typeface="Tw Cen MT"/>
              </a:rPr>
              <a:t>asegurada</a:t>
            </a:r>
            <a:r>
              <a:rPr sz="2000" b="0" dirty="0">
                <a:solidFill>
                  <a:srgbClr val="222222"/>
                </a:solidFill>
                <a:latin typeface="Tw Cen MT"/>
              </a:rPr>
              <a:t> </a:t>
            </a:r>
            <a:r>
              <a:rPr sz="2000" b="0" dirty="0" err="1">
                <a:solidFill>
                  <a:srgbClr val="222222"/>
                </a:solidFill>
                <a:latin typeface="Tw Cen MT"/>
              </a:rPr>
              <a:t>desde</a:t>
            </a:r>
            <a:r>
              <a:rPr sz="2000" b="0" dirty="0">
                <a:solidFill>
                  <a:srgbClr val="222222"/>
                </a:solidFill>
                <a:latin typeface="Tw Cen MT"/>
              </a:rPr>
              <a:t> </a:t>
            </a:r>
            <a:r>
              <a:rPr sz="2000" b="0" dirty="0" err="1">
                <a:solidFill>
                  <a:srgbClr val="222222"/>
                </a:solidFill>
                <a:latin typeface="Tw Cen MT"/>
              </a:rPr>
              <a:t>el</a:t>
            </a:r>
            <a:r>
              <a:rPr sz="2000" b="0" dirty="0">
                <a:solidFill>
                  <a:srgbClr val="222222"/>
                </a:solidFill>
                <a:latin typeface="Tw Cen MT"/>
              </a:rPr>
              <a:t> </a:t>
            </a:r>
            <a:r>
              <a:rPr sz="2000" b="0" dirty="0" err="1">
                <a:solidFill>
                  <a:srgbClr val="222222"/>
                </a:solidFill>
                <a:latin typeface="Tw Cen MT"/>
              </a:rPr>
              <a:t>diseño</a:t>
            </a:r>
            <a:r>
              <a:rPr sz="2000" b="0" dirty="0">
                <a:solidFill>
                  <a:srgbClr val="222222"/>
                </a:solidFill>
                <a:latin typeface="Tw Cen MT"/>
              </a:rPr>
              <a:t> hasta la </a:t>
            </a:r>
            <a:r>
              <a:rPr sz="2000" b="0" dirty="0" err="1">
                <a:solidFill>
                  <a:srgbClr val="222222"/>
                </a:solidFill>
                <a:latin typeface="Tw Cen MT"/>
              </a:rPr>
              <a:t>experiencia</a:t>
            </a:r>
            <a:r>
              <a:rPr sz="2000" b="0" dirty="0">
                <a:solidFill>
                  <a:srgbClr val="222222"/>
                </a:solidFill>
                <a:latin typeface="Tw Cen MT"/>
              </a:rPr>
              <a:t> del </a:t>
            </a:r>
            <a:r>
              <a:rPr sz="2000" b="0" dirty="0" err="1">
                <a:solidFill>
                  <a:srgbClr val="222222"/>
                </a:solidFill>
                <a:latin typeface="Tw Cen MT"/>
              </a:rPr>
              <a:t>usuario</a:t>
            </a:r>
            <a:r>
              <a:rPr sz="2000" b="0" dirty="0">
                <a:solidFill>
                  <a:srgbClr val="222222"/>
                </a:solidFill>
                <a:latin typeface="Tw Cen MT"/>
              </a:rPr>
              <a:t>.</a:t>
            </a:r>
            <a:endParaRPr lang="es-419" sz="2000" b="0" dirty="0">
              <a:solidFill>
                <a:srgbClr val="222222"/>
              </a:solidFill>
              <a:latin typeface="Tw Cen MT"/>
            </a:endParaRPr>
          </a:p>
          <a:p>
            <a:pPr algn="l">
              <a:spcBef>
                <a:spcPts val="400"/>
              </a:spcBef>
            </a:pPr>
            <a:endParaRPr sz="2000" b="0" dirty="0">
              <a:solidFill>
                <a:srgbClr val="222222"/>
              </a:solidFill>
              <a:latin typeface="Tw Cen MT"/>
            </a:endParaRPr>
          </a:p>
          <a:p>
            <a:pPr algn="l">
              <a:spcBef>
                <a:spcPts val="400"/>
              </a:spcBef>
              <a:buNone/>
            </a:pPr>
            <a:r>
              <a:rPr sz="2000" b="1" dirty="0">
                <a:solidFill>
                  <a:srgbClr val="8B0000"/>
                </a:solidFill>
                <a:latin typeface="Tw Cen MT"/>
              </a:rPr>
              <a:t>COCA-COLA</a:t>
            </a:r>
          </a:p>
          <a:p>
            <a:pPr algn="l">
              <a:spcBef>
                <a:spcPts val="400"/>
              </a:spcBef>
            </a:pPr>
            <a:r>
              <a:rPr sz="2000" b="0" dirty="0" err="1">
                <a:solidFill>
                  <a:srgbClr val="222222"/>
                </a:solidFill>
                <a:latin typeface="Tw Cen MT"/>
              </a:rPr>
              <a:t>Estrategia</a:t>
            </a:r>
            <a:r>
              <a:rPr sz="2000" b="0" dirty="0">
                <a:solidFill>
                  <a:srgbClr val="222222"/>
                </a:solidFill>
                <a:latin typeface="Tw Cen MT"/>
              </a:rPr>
              <a:t> global, </a:t>
            </a:r>
            <a:r>
              <a:rPr sz="2000" b="0" dirty="0" err="1">
                <a:solidFill>
                  <a:srgbClr val="222222"/>
                </a:solidFill>
                <a:latin typeface="Tw Cen MT"/>
              </a:rPr>
              <a:t>publicidad</a:t>
            </a:r>
            <a:r>
              <a:rPr sz="2000" b="0" dirty="0">
                <a:solidFill>
                  <a:srgbClr val="222222"/>
                </a:solidFill>
                <a:latin typeface="Tw Cen MT"/>
              </a:rPr>
              <a:t> y </a:t>
            </a:r>
            <a:r>
              <a:rPr sz="2000" b="0" dirty="0" err="1">
                <a:solidFill>
                  <a:srgbClr val="222222"/>
                </a:solidFill>
                <a:latin typeface="Tw Cen MT"/>
              </a:rPr>
              <a:t>posicionamiento</a:t>
            </a:r>
            <a:r>
              <a:rPr sz="2000" b="0" dirty="0">
                <a:solidFill>
                  <a:srgbClr val="222222"/>
                </a:solidFill>
                <a:latin typeface="Tw Cen MT"/>
              </a:rPr>
              <a:t> de </a:t>
            </a:r>
            <a:r>
              <a:rPr sz="2000" b="0" dirty="0" err="1">
                <a:solidFill>
                  <a:srgbClr val="222222"/>
                </a:solidFill>
                <a:latin typeface="Tw Cen MT"/>
              </a:rPr>
              <a:t>marca</a:t>
            </a:r>
            <a:r>
              <a:rPr sz="2000" b="0" dirty="0">
                <a:solidFill>
                  <a:srgbClr val="222222"/>
                </a:solidFill>
                <a:latin typeface="Tw Cen MT"/>
              </a:rPr>
              <a:t> </a:t>
            </a:r>
            <a:r>
              <a:rPr sz="2000" b="0" dirty="0" err="1">
                <a:solidFill>
                  <a:srgbClr val="222222"/>
                </a:solidFill>
                <a:latin typeface="Tw Cen MT"/>
              </a:rPr>
              <a:t>decididos</a:t>
            </a:r>
            <a:r>
              <a:rPr sz="2000" b="0" dirty="0">
                <a:solidFill>
                  <a:srgbClr val="222222"/>
                </a:solidFill>
                <a:latin typeface="Tw Cen MT"/>
              </a:rPr>
              <a:t> </a:t>
            </a:r>
            <a:r>
              <a:rPr sz="2000" b="0" dirty="0" err="1">
                <a:solidFill>
                  <a:srgbClr val="222222"/>
                </a:solidFill>
                <a:latin typeface="Tw Cen MT"/>
              </a:rPr>
              <a:t>centralmente</a:t>
            </a:r>
            <a:r>
              <a:rPr sz="2000" b="0" dirty="0">
                <a:solidFill>
                  <a:srgbClr val="222222"/>
                </a:solidFill>
                <a:latin typeface="Tw Cen MT"/>
              </a:rPr>
              <a:t>. Se </a:t>
            </a:r>
            <a:r>
              <a:rPr sz="2000" b="0" dirty="0" err="1">
                <a:solidFill>
                  <a:srgbClr val="222222"/>
                </a:solidFill>
                <a:latin typeface="Tw Cen MT"/>
              </a:rPr>
              <a:t>permite</a:t>
            </a:r>
            <a:r>
              <a:rPr sz="2000" b="0" dirty="0">
                <a:solidFill>
                  <a:srgbClr val="222222"/>
                </a:solidFill>
                <a:latin typeface="Tw Cen MT"/>
              </a:rPr>
              <a:t> </a:t>
            </a:r>
            <a:r>
              <a:rPr sz="2000" b="0" dirty="0" err="1">
                <a:solidFill>
                  <a:srgbClr val="222222"/>
                </a:solidFill>
                <a:latin typeface="Tw Cen MT"/>
              </a:rPr>
              <a:t>cierta</a:t>
            </a:r>
            <a:r>
              <a:rPr sz="2000" b="0" dirty="0">
                <a:solidFill>
                  <a:srgbClr val="222222"/>
                </a:solidFill>
                <a:latin typeface="Tw Cen MT"/>
              </a:rPr>
              <a:t> </a:t>
            </a:r>
            <a:r>
              <a:rPr sz="2000" b="0" dirty="0" err="1">
                <a:solidFill>
                  <a:srgbClr val="222222"/>
                </a:solidFill>
                <a:latin typeface="Tw Cen MT"/>
              </a:rPr>
              <a:t>adaptación</a:t>
            </a:r>
            <a:r>
              <a:rPr sz="2000" b="0" dirty="0">
                <a:solidFill>
                  <a:srgbClr val="222222"/>
                </a:solidFill>
                <a:latin typeface="Tw Cen MT"/>
              </a:rPr>
              <a:t> local de </a:t>
            </a:r>
            <a:r>
              <a:rPr sz="2000" b="0" dirty="0" err="1">
                <a:solidFill>
                  <a:srgbClr val="222222"/>
                </a:solidFill>
                <a:latin typeface="Tw Cen MT"/>
              </a:rPr>
              <a:t>productos</a:t>
            </a:r>
            <a:r>
              <a:rPr sz="2000" b="0" dirty="0">
                <a:solidFill>
                  <a:srgbClr val="222222"/>
                </a:solidFill>
                <a:latin typeface="Tw Cen MT"/>
              </a:rPr>
              <a:t> para </a:t>
            </a:r>
            <a:r>
              <a:rPr sz="2000" b="0" dirty="0" err="1">
                <a:solidFill>
                  <a:srgbClr val="222222"/>
                </a:solidFill>
                <a:latin typeface="Tw Cen MT"/>
              </a:rPr>
              <a:t>gustos</a:t>
            </a:r>
            <a:r>
              <a:rPr sz="2000" b="0" dirty="0">
                <a:solidFill>
                  <a:srgbClr val="222222"/>
                </a:solidFill>
                <a:latin typeface="Tw Cen MT"/>
              </a:rPr>
              <a:t> </a:t>
            </a:r>
            <a:r>
              <a:rPr sz="2000" b="0" dirty="0" err="1">
                <a:solidFill>
                  <a:srgbClr val="222222"/>
                </a:solidFill>
                <a:latin typeface="Tw Cen MT"/>
              </a:rPr>
              <a:t>regionales</a:t>
            </a:r>
            <a:r>
              <a:rPr sz="2000" b="0" dirty="0">
                <a:solidFill>
                  <a:srgbClr val="222222"/>
                </a:solidFill>
                <a:latin typeface="Tw Cen MT"/>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1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Caso: Walmart vs. Whole Foods Market</a:t>
            </a:r>
          </a:p>
        </p:txBody>
      </p:sp>
      <p:sp>
        <p:nvSpPr>
          <p:cNvPr id="5" name="TextBox 4"/>
          <p:cNvSpPr txBox="1"/>
          <p:nvPr/>
        </p:nvSpPr>
        <p:spPr>
          <a:xfrm>
            <a:off x="304800" y="1220000"/>
            <a:ext cx="8534400" cy="5478423"/>
          </a:xfrm>
          <a:prstGeom prst="rect">
            <a:avLst/>
          </a:prstGeom>
          <a:noFill/>
        </p:spPr>
        <p:txBody>
          <a:bodyPr wrap="square">
            <a:spAutoFit/>
          </a:bodyPr>
          <a:lstStyle/>
          <a:p>
            <a:pPr algn="l">
              <a:spcBef>
                <a:spcPts val="400"/>
              </a:spcBef>
              <a:buNone/>
            </a:pPr>
            <a:r>
              <a:rPr sz="2200" b="1" dirty="0">
                <a:solidFill>
                  <a:srgbClr val="D4A017"/>
                </a:solidFill>
                <a:latin typeface="Tw Cen MT"/>
              </a:rPr>
              <a:t>WALMART — CENTRALIZACIÓN</a:t>
            </a:r>
          </a:p>
          <a:p>
            <a:pPr algn="l">
              <a:spcBef>
                <a:spcPts val="400"/>
              </a:spcBef>
            </a:pPr>
            <a:r>
              <a:rPr sz="2200" b="0" dirty="0" err="1">
                <a:solidFill>
                  <a:srgbClr val="FFFFFF"/>
                </a:solidFill>
                <a:latin typeface="Tw Cen MT"/>
              </a:rPr>
              <a:t>Compras</a:t>
            </a:r>
            <a:r>
              <a:rPr sz="2200" b="0" dirty="0">
                <a:solidFill>
                  <a:srgbClr val="FFFFFF"/>
                </a:solidFill>
                <a:latin typeface="Tw Cen MT"/>
              </a:rPr>
              <a:t>, </a:t>
            </a:r>
            <a:r>
              <a:rPr sz="2200" b="0" dirty="0" err="1">
                <a:solidFill>
                  <a:srgbClr val="FFFFFF"/>
                </a:solidFill>
                <a:latin typeface="Tw Cen MT"/>
              </a:rPr>
              <a:t>políticas</a:t>
            </a:r>
            <a:r>
              <a:rPr sz="2200" b="0" dirty="0">
                <a:solidFill>
                  <a:srgbClr val="FFFFFF"/>
                </a:solidFill>
                <a:latin typeface="Tw Cen MT"/>
              </a:rPr>
              <a:t> de </a:t>
            </a:r>
            <a:r>
              <a:rPr sz="2200" b="0" dirty="0" err="1">
                <a:solidFill>
                  <a:srgbClr val="FFFFFF"/>
                </a:solidFill>
                <a:latin typeface="Tw Cen MT"/>
              </a:rPr>
              <a:t>precios</a:t>
            </a:r>
            <a:r>
              <a:rPr sz="2200" b="0" dirty="0">
                <a:solidFill>
                  <a:srgbClr val="FFFFFF"/>
                </a:solidFill>
                <a:latin typeface="Tw Cen MT"/>
              </a:rPr>
              <a:t>, marketing y </a:t>
            </a:r>
            <a:r>
              <a:rPr sz="2200" b="0" dirty="0" err="1">
                <a:solidFill>
                  <a:srgbClr val="FFFFFF"/>
                </a:solidFill>
                <a:latin typeface="Tw Cen MT"/>
              </a:rPr>
              <a:t>logística</a:t>
            </a:r>
            <a:r>
              <a:rPr sz="2200" b="0" dirty="0">
                <a:solidFill>
                  <a:srgbClr val="FFFFFF"/>
                </a:solidFill>
                <a:latin typeface="Tw Cen MT"/>
              </a:rPr>
              <a:t>: </a:t>
            </a:r>
            <a:r>
              <a:rPr sz="2200" b="0" dirty="0" err="1">
                <a:solidFill>
                  <a:srgbClr val="FFFFFF"/>
                </a:solidFill>
                <a:latin typeface="Tw Cen MT"/>
              </a:rPr>
              <a:t>todas</a:t>
            </a:r>
            <a:r>
              <a:rPr sz="2200" b="0" dirty="0">
                <a:solidFill>
                  <a:srgbClr val="FFFFFF"/>
                </a:solidFill>
                <a:latin typeface="Tw Cen MT"/>
              </a:rPr>
              <a:t> las </a:t>
            </a:r>
            <a:r>
              <a:rPr sz="2200" b="0" dirty="0" err="1">
                <a:solidFill>
                  <a:srgbClr val="FFFFFF"/>
                </a:solidFill>
                <a:latin typeface="Tw Cen MT"/>
              </a:rPr>
              <a:t>decisiones</a:t>
            </a:r>
            <a:r>
              <a:rPr sz="2200" b="0" dirty="0">
                <a:solidFill>
                  <a:srgbClr val="FFFFFF"/>
                </a:solidFill>
                <a:latin typeface="Tw Cen MT"/>
              </a:rPr>
              <a:t> </a:t>
            </a:r>
            <a:r>
              <a:rPr sz="2200" b="0" dirty="0" err="1">
                <a:solidFill>
                  <a:srgbClr val="FFFFFF"/>
                </a:solidFill>
                <a:latin typeface="Tw Cen MT"/>
              </a:rPr>
              <a:t>estratégicas</a:t>
            </a:r>
            <a:r>
              <a:rPr sz="2200" b="0" dirty="0">
                <a:solidFill>
                  <a:srgbClr val="FFFFFF"/>
                </a:solidFill>
                <a:latin typeface="Tw Cen MT"/>
              </a:rPr>
              <a:t> se </a:t>
            </a:r>
            <a:r>
              <a:rPr sz="2200" b="0" dirty="0" err="1">
                <a:solidFill>
                  <a:srgbClr val="FFFFFF"/>
                </a:solidFill>
                <a:latin typeface="Tw Cen MT"/>
              </a:rPr>
              <a:t>manejan</a:t>
            </a:r>
            <a:r>
              <a:rPr sz="2200" b="0" dirty="0">
                <a:solidFill>
                  <a:srgbClr val="FFFFFF"/>
                </a:solidFill>
                <a:latin typeface="Tw Cen MT"/>
              </a:rPr>
              <a:t> </a:t>
            </a:r>
            <a:r>
              <a:rPr sz="2200" b="0" dirty="0" err="1">
                <a:solidFill>
                  <a:srgbClr val="FFFFFF"/>
                </a:solidFill>
                <a:latin typeface="Tw Cen MT"/>
              </a:rPr>
              <a:t>centralmente</a:t>
            </a:r>
            <a:r>
              <a:rPr sz="2200" b="0" dirty="0">
                <a:solidFill>
                  <a:srgbClr val="FFFFFF"/>
                </a:solidFill>
                <a:latin typeface="Tw Cen MT"/>
              </a:rPr>
              <a:t> para </a:t>
            </a:r>
            <a:r>
              <a:rPr sz="2200" b="0" dirty="0" err="1">
                <a:solidFill>
                  <a:srgbClr val="FFFFFF"/>
                </a:solidFill>
                <a:latin typeface="Tw Cen MT"/>
              </a:rPr>
              <a:t>maximizar</a:t>
            </a:r>
            <a:r>
              <a:rPr sz="2200" b="0" dirty="0">
                <a:solidFill>
                  <a:srgbClr val="FFFFFF"/>
                </a:solidFill>
                <a:latin typeface="Tw Cen MT"/>
              </a:rPr>
              <a:t> </a:t>
            </a:r>
            <a:r>
              <a:rPr sz="2200" b="0" dirty="0" err="1">
                <a:solidFill>
                  <a:srgbClr val="FFFFFF"/>
                </a:solidFill>
                <a:latin typeface="Tw Cen MT"/>
              </a:rPr>
              <a:t>eficiencia</a:t>
            </a:r>
            <a:r>
              <a:rPr sz="2200" b="0" dirty="0">
                <a:solidFill>
                  <a:srgbClr val="FFFFFF"/>
                </a:solidFill>
                <a:latin typeface="Tw Cen MT"/>
              </a:rPr>
              <a:t> y </a:t>
            </a:r>
            <a:r>
              <a:rPr sz="2200" b="0" dirty="0" err="1">
                <a:solidFill>
                  <a:srgbClr val="FFFFFF"/>
                </a:solidFill>
                <a:latin typeface="Tw Cen MT"/>
              </a:rPr>
              <a:t>reducir</a:t>
            </a:r>
            <a:r>
              <a:rPr sz="2200" b="0" dirty="0">
                <a:solidFill>
                  <a:srgbClr val="FFFFFF"/>
                </a:solidFill>
                <a:latin typeface="Tw Cen MT"/>
              </a:rPr>
              <a:t> </a:t>
            </a:r>
            <a:r>
              <a:rPr sz="2200" b="0" dirty="0" err="1">
                <a:solidFill>
                  <a:srgbClr val="FFFFFF"/>
                </a:solidFill>
                <a:latin typeface="Tw Cen MT"/>
              </a:rPr>
              <a:t>costos</a:t>
            </a:r>
            <a:r>
              <a:rPr sz="2200" b="0" dirty="0">
                <a:solidFill>
                  <a:srgbClr val="FFFFFF"/>
                </a:solidFill>
                <a:latin typeface="Tw Cen MT"/>
              </a:rPr>
              <a:t>.</a:t>
            </a:r>
            <a:endParaRPr lang="es-419" sz="2200" b="0" dirty="0">
              <a:solidFill>
                <a:srgbClr val="FFFFFF"/>
              </a:solidFill>
              <a:latin typeface="Tw Cen MT"/>
            </a:endParaRPr>
          </a:p>
          <a:p>
            <a:pPr algn="l">
              <a:spcBef>
                <a:spcPts val="400"/>
              </a:spcBef>
            </a:pPr>
            <a:endParaRPr sz="2200" b="0" dirty="0">
              <a:solidFill>
                <a:srgbClr val="FFFFFF"/>
              </a:solidFill>
              <a:latin typeface="Tw Cen MT"/>
            </a:endParaRPr>
          </a:p>
          <a:p>
            <a:pPr algn="l">
              <a:spcBef>
                <a:spcPts val="400"/>
              </a:spcBef>
              <a:buNone/>
            </a:pPr>
            <a:r>
              <a:rPr sz="2200" b="1" dirty="0">
                <a:solidFill>
                  <a:srgbClr val="D4A017"/>
                </a:solidFill>
                <a:latin typeface="Tw Cen MT"/>
              </a:rPr>
              <a:t>WHOLE FOODS MARKET — DESCENTRALIZACIÓN</a:t>
            </a:r>
          </a:p>
          <a:p>
            <a:pPr marL="342900" indent="-342900" algn="l">
              <a:spcBef>
                <a:spcPts val="400"/>
              </a:spcBef>
              <a:buFont typeface="Arial" panose="020B0604020202020204" pitchFamily="34" charset="0"/>
              <a:buChar char="•"/>
            </a:pPr>
            <a:r>
              <a:rPr sz="2200" b="0" dirty="0">
                <a:solidFill>
                  <a:srgbClr val="FFFFFF"/>
                </a:solidFill>
                <a:latin typeface="Tw Cen MT"/>
              </a:rPr>
              <a:t>Cada tienda es un </a:t>
            </a:r>
            <a:r>
              <a:rPr sz="2200" b="0" dirty="0" err="1">
                <a:solidFill>
                  <a:srgbClr val="FFFFFF"/>
                </a:solidFill>
                <a:latin typeface="Tw Cen MT"/>
              </a:rPr>
              <a:t>centro</a:t>
            </a:r>
            <a:r>
              <a:rPr sz="2200" b="0" dirty="0">
                <a:solidFill>
                  <a:srgbClr val="FFFFFF"/>
                </a:solidFill>
                <a:latin typeface="Tw Cen MT"/>
              </a:rPr>
              <a:t> de </a:t>
            </a:r>
            <a:r>
              <a:rPr sz="2200" b="0" dirty="0" err="1">
                <a:solidFill>
                  <a:srgbClr val="FFFFFF"/>
                </a:solidFill>
                <a:latin typeface="Tw Cen MT"/>
              </a:rPr>
              <a:t>beneficios</a:t>
            </a:r>
            <a:r>
              <a:rPr sz="2200" b="0" dirty="0">
                <a:solidFill>
                  <a:srgbClr val="FFFFFF"/>
                </a:solidFill>
                <a:latin typeface="Tw Cen MT"/>
              </a:rPr>
              <a:t> </a:t>
            </a:r>
            <a:r>
              <a:rPr sz="2200" b="0" dirty="0" err="1">
                <a:solidFill>
                  <a:srgbClr val="FFFFFF"/>
                </a:solidFill>
                <a:latin typeface="Tw Cen MT"/>
              </a:rPr>
              <a:t>autónomo</a:t>
            </a:r>
            <a:r>
              <a:rPr sz="2200" b="0" dirty="0">
                <a:solidFill>
                  <a:srgbClr val="FFFFFF"/>
                </a:solidFill>
                <a:latin typeface="Tw Cen MT"/>
              </a:rPr>
              <a:t> </a:t>
            </a:r>
            <a:r>
              <a:rPr sz="2200" b="0" dirty="0" err="1">
                <a:solidFill>
                  <a:srgbClr val="FFFFFF"/>
                </a:solidFill>
                <a:latin typeface="Tw Cen MT"/>
              </a:rPr>
              <a:t>compuesto</a:t>
            </a:r>
            <a:r>
              <a:rPr sz="2200" b="0" dirty="0">
                <a:solidFill>
                  <a:srgbClr val="FFFFFF"/>
                </a:solidFill>
                <a:latin typeface="Tw Cen MT"/>
              </a:rPr>
              <a:t> </a:t>
            </a:r>
            <a:r>
              <a:rPr sz="2200" b="0" dirty="0" err="1">
                <a:solidFill>
                  <a:srgbClr val="FFFFFF"/>
                </a:solidFill>
                <a:latin typeface="Tw Cen MT"/>
              </a:rPr>
              <a:t>por</a:t>
            </a:r>
            <a:r>
              <a:rPr sz="2200" b="0" dirty="0">
                <a:solidFill>
                  <a:srgbClr val="FFFFFF"/>
                </a:solidFill>
                <a:latin typeface="Tw Cen MT"/>
              </a:rPr>
              <a:t> </a:t>
            </a:r>
            <a:r>
              <a:rPr sz="2200" b="0" dirty="0" err="1">
                <a:solidFill>
                  <a:srgbClr val="FFFFFF"/>
                </a:solidFill>
                <a:latin typeface="Tw Cen MT"/>
              </a:rPr>
              <a:t>equipos</a:t>
            </a:r>
            <a:r>
              <a:rPr sz="2200" b="0" dirty="0">
                <a:solidFill>
                  <a:srgbClr val="FFFFFF"/>
                </a:solidFill>
                <a:latin typeface="Tw Cen MT"/>
              </a:rPr>
              <a:t> </a:t>
            </a:r>
            <a:r>
              <a:rPr sz="2200" b="0" dirty="0" err="1">
                <a:solidFill>
                  <a:srgbClr val="FFFFFF"/>
                </a:solidFill>
                <a:latin typeface="Tw Cen MT"/>
              </a:rPr>
              <a:t>autogestionados</a:t>
            </a:r>
            <a:r>
              <a:rPr sz="2200" b="0" dirty="0">
                <a:solidFill>
                  <a:srgbClr val="FFFFFF"/>
                </a:solidFill>
                <a:latin typeface="Tw Cen MT"/>
              </a:rPr>
              <a:t> (</a:t>
            </a:r>
            <a:r>
              <a:rPr sz="2200" b="0" dirty="0" err="1">
                <a:solidFill>
                  <a:srgbClr val="FFFFFF"/>
                </a:solidFill>
                <a:latin typeface="Tw Cen MT"/>
              </a:rPr>
              <a:t>agrícolas</a:t>
            </a:r>
            <a:r>
              <a:rPr sz="2200" b="0" dirty="0">
                <a:solidFill>
                  <a:srgbClr val="FFFFFF"/>
                </a:solidFill>
                <a:latin typeface="Tw Cen MT"/>
              </a:rPr>
              <a:t>, comestibles, </a:t>
            </a:r>
            <a:r>
              <a:rPr sz="2200" b="0" dirty="0" err="1">
                <a:solidFill>
                  <a:srgbClr val="FFFFFF"/>
                </a:solidFill>
                <a:latin typeface="Tw Cen MT"/>
              </a:rPr>
              <a:t>alimentos</a:t>
            </a:r>
            <a:r>
              <a:rPr sz="2200" b="0" dirty="0">
                <a:solidFill>
                  <a:srgbClr val="FFFFFF"/>
                </a:solidFill>
                <a:latin typeface="Tw Cen MT"/>
              </a:rPr>
              <a:t> </a:t>
            </a:r>
            <a:r>
              <a:rPr sz="2200" b="0" dirty="0" err="1">
                <a:solidFill>
                  <a:srgbClr val="FFFFFF"/>
                </a:solidFill>
                <a:latin typeface="Tw Cen MT"/>
              </a:rPr>
              <a:t>preparados</a:t>
            </a:r>
            <a:r>
              <a:rPr sz="2200" b="0" dirty="0">
                <a:solidFill>
                  <a:srgbClr val="FFFFFF"/>
                </a:solidFill>
                <a:latin typeface="Tw Cen MT"/>
              </a:rPr>
              <a:t>, etc.).</a:t>
            </a:r>
          </a:p>
          <a:p>
            <a:pPr marL="342900" indent="-342900" algn="l">
              <a:spcBef>
                <a:spcPts val="400"/>
              </a:spcBef>
              <a:buFont typeface="Arial" panose="020B0604020202020204" pitchFamily="34" charset="0"/>
              <a:buChar char="•"/>
            </a:pPr>
            <a:r>
              <a:rPr sz="2200" b="0" dirty="0">
                <a:solidFill>
                  <a:srgbClr val="FFFFFF"/>
                </a:solidFill>
                <a:latin typeface="Tw Cen MT"/>
              </a:rPr>
              <a:t>Los </a:t>
            </a:r>
            <a:r>
              <a:rPr sz="2200" b="0" dirty="0" err="1">
                <a:solidFill>
                  <a:srgbClr val="FFFFFF"/>
                </a:solidFill>
                <a:latin typeface="Tw Cen MT"/>
              </a:rPr>
              <a:t>equipos</a:t>
            </a:r>
            <a:r>
              <a:rPr sz="2200" b="0" dirty="0">
                <a:solidFill>
                  <a:srgbClr val="FFFFFF"/>
                </a:solidFill>
                <a:latin typeface="Tw Cen MT"/>
              </a:rPr>
              <a:t>, tiendas y regiones </a:t>
            </a:r>
            <a:r>
              <a:rPr sz="2200" b="0" dirty="0" err="1">
                <a:solidFill>
                  <a:srgbClr val="FFFFFF"/>
                </a:solidFill>
                <a:latin typeface="Tw Cen MT"/>
              </a:rPr>
              <a:t>compiten</a:t>
            </a:r>
            <a:r>
              <a:rPr sz="2200" b="0" dirty="0">
                <a:solidFill>
                  <a:srgbClr val="FFFFFF"/>
                </a:solidFill>
                <a:latin typeface="Tw Cen MT"/>
              </a:rPr>
              <a:t> para </a:t>
            </a:r>
            <a:r>
              <a:rPr sz="2200" b="0" dirty="0" err="1">
                <a:solidFill>
                  <a:srgbClr val="FFFFFF"/>
                </a:solidFill>
                <a:latin typeface="Tw Cen MT"/>
              </a:rPr>
              <a:t>superarse</a:t>
            </a:r>
            <a:r>
              <a:rPr sz="2200" b="0" dirty="0">
                <a:solidFill>
                  <a:srgbClr val="FFFFFF"/>
                </a:solidFill>
                <a:latin typeface="Tw Cen MT"/>
              </a:rPr>
              <a:t> </a:t>
            </a:r>
            <a:r>
              <a:rPr sz="2200" b="0" dirty="0" err="1">
                <a:solidFill>
                  <a:srgbClr val="FFFFFF"/>
                </a:solidFill>
                <a:latin typeface="Tw Cen MT"/>
              </a:rPr>
              <a:t>en</a:t>
            </a:r>
            <a:r>
              <a:rPr sz="2200" b="0" dirty="0">
                <a:solidFill>
                  <a:srgbClr val="FFFFFF"/>
                </a:solidFill>
                <a:latin typeface="Tw Cen MT"/>
              </a:rPr>
              <a:t> </a:t>
            </a:r>
            <a:r>
              <a:rPr sz="2200" b="0" dirty="0" err="1">
                <a:solidFill>
                  <a:srgbClr val="FFFFFF"/>
                </a:solidFill>
                <a:latin typeface="Tw Cen MT"/>
              </a:rPr>
              <a:t>calidad</a:t>
            </a:r>
            <a:r>
              <a:rPr sz="2200" b="0" dirty="0">
                <a:solidFill>
                  <a:srgbClr val="FFFFFF"/>
                </a:solidFill>
                <a:latin typeface="Tw Cen MT"/>
              </a:rPr>
              <a:t>, </a:t>
            </a:r>
            <a:r>
              <a:rPr sz="2200" b="0" dirty="0" err="1">
                <a:solidFill>
                  <a:srgbClr val="FFFFFF"/>
                </a:solidFill>
                <a:latin typeface="Tw Cen MT"/>
              </a:rPr>
              <a:t>servicio</a:t>
            </a:r>
            <a:r>
              <a:rPr sz="2200" b="0" dirty="0">
                <a:solidFill>
                  <a:srgbClr val="FFFFFF"/>
                </a:solidFill>
                <a:latin typeface="Tw Cen MT"/>
              </a:rPr>
              <a:t> y </a:t>
            </a:r>
            <a:r>
              <a:rPr sz="2200" b="0" dirty="0" err="1">
                <a:solidFill>
                  <a:srgbClr val="FFFFFF"/>
                </a:solidFill>
                <a:latin typeface="Tw Cen MT"/>
              </a:rPr>
              <a:t>rentabilidad</a:t>
            </a:r>
            <a:r>
              <a:rPr sz="2200" b="0" dirty="0">
                <a:solidFill>
                  <a:srgbClr val="FFFFFF"/>
                </a:solidFill>
                <a:latin typeface="Tw Cen MT"/>
              </a:rPr>
              <a:t>. Los </a:t>
            </a:r>
            <a:r>
              <a:rPr sz="2200" b="0" dirty="0" err="1">
                <a:solidFill>
                  <a:srgbClr val="FFFFFF"/>
                </a:solidFill>
                <a:latin typeface="Tw Cen MT"/>
              </a:rPr>
              <a:t>resultados</a:t>
            </a:r>
            <a:r>
              <a:rPr sz="2200" b="0" dirty="0">
                <a:solidFill>
                  <a:srgbClr val="FFFFFF"/>
                </a:solidFill>
                <a:latin typeface="Tw Cen MT"/>
              </a:rPr>
              <a:t> se </a:t>
            </a:r>
            <a:r>
              <a:rPr sz="2200" b="0" dirty="0" err="1">
                <a:solidFill>
                  <a:srgbClr val="FFFFFF"/>
                </a:solidFill>
                <a:latin typeface="Tw Cen MT"/>
              </a:rPr>
              <a:t>traducen</a:t>
            </a:r>
            <a:r>
              <a:rPr sz="2200" b="0" dirty="0">
                <a:solidFill>
                  <a:srgbClr val="FFFFFF"/>
                </a:solidFill>
                <a:latin typeface="Tw Cen MT"/>
              </a:rPr>
              <a:t> </a:t>
            </a:r>
            <a:r>
              <a:rPr sz="2200" b="0" dirty="0" err="1">
                <a:solidFill>
                  <a:srgbClr val="FFFFFF"/>
                </a:solidFill>
                <a:latin typeface="Tw Cen MT"/>
              </a:rPr>
              <a:t>directamente</a:t>
            </a:r>
            <a:r>
              <a:rPr sz="2200" b="0" dirty="0">
                <a:solidFill>
                  <a:srgbClr val="FFFFFF"/>
                </a:solidFill>
                <a:latin typeface="Tw Cen MT"/>
              </a:rPr>
              <a:t> </a:t>
            </a:r>
            <a:r>
              <a:rPr sz="2200" b="0" dirty="0" err="1">
                <a:solidFill>
                  <a:srgbClr val="FFFFFF"/>
                </a:solidFill>
                <a:latin typeface="Tw Cen MT"/>
              </a:rPr>
              <a:t>en</a:t>
            </a:r>
            <a:r>
              <a:rPr sz="2200" b="0" dirty="0">
                <a:solidFill>
                  <a:srgbClr val="FFFFFF"/>
                </a:solidFill>
                <a:latin typeface="Tw Cen MT"/>
              </a:rPr>
              <a:t> </a:t>
            </a:r>
            <a:r>
              <a:rPr sz="2200" b="0" dirty="0" err="1">
                <a:solidFill>
                  <a:srgbClr val="FFFFFF"/>
                </a:solidFill>
                <a:latin typeface="Tw Cen MT"/>
              </a:rPr>
              <a:t>bonificaciones</a:t>
            </a:r>
            <a:r>
              <a:rPr sz="2200" b="0" dirty="0">
                <a:solidFill>
                  <a:srgbClr val="FFFFFF"/>
                </a:solidFill>
                <a:latin typeface="Tw Cen MT"/>
              </a:rPr>
              <a:t> y </a:t>
            </a:r>
            <a:r>
              <a:rPr sz="2200" b="0" dirty="0" err="1">
                <a:solidFill>
                  <a:srgbClr val="FFFFFF"/>
                </a:solidFill>
                <a:latin typeface="Tw Cen MT"/>
              </a:rPr>
              <a:t>reconocimientos</a:t>
            </a:r>
            <a:r>
              <a:rPr sz="2200" b="0" dirty="0">
                <a:solidFill>
                  <a:srgbClr val="FFFFFF"/>
                </a:solidFill>
                <a:latin typeface="Tw Cen MT"/>
              </a:rPr>
              <a:t>.</a:t>
            </a:r>
          </a:p>
          <a:p>
            <a:pPr marL="342900" indent="-342900" algn="l">
              <a:spcBef>
                <a:spcPts val="400"/>
              </a:spcBef>
              <a:buFont typeface="Arial" panose="020B0604020202020204" pitchFamily="34" charset="0"/>
              <a:buChar char="•"/>
            </a:pPr>
            <a:r>
              <a:rPr sz="2200" b="0" dirty="0">
                <a:solidFill>
                  <a:srgbClr val="FFFFFF"/>
                </a:solidFill>
                <a:latin typeface="Tw Cen MT"/>
              </a:rPr>
              <a:t>"</a:t>
            </a:r>
            <a:r>
              <a:rPr sz="2200" b="0" dirty="0" err="1">
                <a:solidFill>
                  <a:srgbClr val="FFFFFF"/>
                </a:solidFill>
                <a:latin typeface="Tw Cen MT"/>
              </a:rPr>
              <a:t>Repartición</a:t>
            </a:r>
            <a:r>
              <a:rPr sz="2200" b="0" dirty="0">
                <a:solidFill>
                  <a:srgbClr val="FFFFFF"/>
                </a:solidFill>
                <a:latin typeface="Tw Cen MT"/>
              </a:rPr>
              <a:t> de </a:t>
            </a:r>
            <a:r>
              <a:rPr sz="2200" b="0" dirty="0" err="1">
                <a:solidFill>
                  <a:srgbClr val="FFFFFF"/>
                </a:solidFill>
                <a:latin typeface="Tw Cen MT"/>
              </a:rPr>
              <a:t>ganancias</a:t>
            </a:r>
            <a:r>
              <a:rPr sz="2200" b="0" dirty="0">
                <a:solidFill>
                  <a:srgbClr val="FFFFFF"/>
                </a:solidFill>
                <a:latin typeface="Tw Cen MT"/>
              </a:rPr>
              <a:t>": las </a:t>
            </a:r>
            <a:r>
              <a:rPr sz="2200" b="0" dirty="0" err="1">
                <a:solidFill>
                  <a:srgbClr val="FFFFFF"/>
                </a:solidFill>
                <a:latin typeface="Tw Cen MT"/>
              </a:rPr>
              <a:t>bonificaciones</a:t>
            </a:r>
            <a:r>
              <a:rPr sz="2200" b="0" dirty="0">
                <a:solidFill>
                  <a:srgbClr val="FFFFFF"/>
                </a:solidFill>
                <a:latin typeface="Tw Cen MT"/>
              </a:rPr>
              <a:t> se </a:t>
            </a:r>
            <a:r>
              <a:rPr sz="2200" b="0" dirty="0" err="1">
                <a:solidFill>
                  <a:srgbClr val="FFFFFF"/>
                </a:solidFill>
                <a:latin typeface="Tw Cen MT"/>
              </a:rPr>
              <a:t>vinculan</a:t>
            </a:r>
            <a:r>
              <a:rPr sz="2200" b="0" dirty="0">
                <a:solidFill>
                  <a:srgbClr val="FFFFFF"/>
                </a:solidFill>
                <a:latin typeface="Tw Cen MT"/>
              </a:rPr>
              <a:t> </a:t>
            </a:r>
            <a:r>
              <a:rPr sz="2200" b="0" dirty="0" err="1">
                <a:solidFill>
                  <a:srgbClr val="FFFFFF"/>
                </a:solidFill>
                <a:latin typeface="Tw Cen MT"/>
              </a:rPr>
              <a:t>directamente</a:t>
            </a:r>
            <a:r>
              <a:rPr sz="2200" b="0" dirty="0">
                <a:solidFill>
                  <a:srgbClr val="FFFFFF"/>
                </a:solidFill>
                <a:latin typeface="Tw Cen MT"/>
              </a:rPr>
              <a:t> al </a:t>
            </a:r>
            <a:r>
              <a:rPr sz="2200" b="0" dirty="0" err="1">
                <a:solidFill>
                  <a:srgbClr val="FFFFFF"/>
                </a:solidFill>
                <a:latin typeface="Tw Cen MT"/>
              </a:rPr>
              <a:t>desempeño</a:t>
            </a:r>
            <a:r>
              <a:rPr sz="2200" b="0" dirty="0">
                <a:solidFill>
                  <a:srgbClr val="FFFFFF"/>
                </a:solidFill>
                <a:latin typeface="Tw Cen MT"/>
              </a:rPr>
              <a:t> del </a:t>
            </a:r>
            <a:r>
              <a:rPr sz="2200" b="0" dirty="0" err="1">
                <a:solidFill>
                  <a:srgbClr val="FFFFFF"/>
                </a:solidFill>
                <a:latin typeface="Tw Cen MT"/>
              </a:rPr>
              <a:t>equipo</a:t>
            </a:r>
            <a:r>
              <a:rPr sz="2200" b="0" dirty="0">
                <a:solidFill>
                  <a:srgbClr val="FFFFFF"/>
                </a:solidFill>
                <a:latin typeface="Tw Cen MT"/>
              </a:rPr>
              <a:t>, con </a:t>
            </a:r>
            <a:r>
              <a:rPr sz="2200" b="0" dirty="0" err="1">
                <a:solidFill>
                  <a:srgbClr val="FFFFFF"/>
                </a:solidFill>
                <a:latin typeface="Tw Cen MT"/>
              </a:rPr>
              <a:t>política</a:t>
            </a:r>
            <a:r>
              <a:rPr sz="2200" b="0" dirty="0">
                <a:solidFill>
                  <a:srgbClr val="FFFFFF"/>
                </a:solidFill>
                <a:latin typeface="Tw Cen MT"/>
              </a:rPr>
              <a:t> de </a:t>
            </a:r>
            <a:r>
              <a:rPr sz="2200" b="0" dirty="0" err="1">
                <a:solidFill>
                  <a:srgbClr val="FFFFFF"/>
                </a:solidFill>
                <a:latin typeface="Tw Cen MT"/>
              </a:rPr>
              <a:t>salario</a:t>
            </a:r>
            <a:r>
              <a:rPr sz="2200" b="0" dirty="0">
                <a:solidFill>
                  <a:srgbClr val="FFFFFF"/>
                </a:solidFill>
                <a:latin typeface="Tw Cen MT"/>
              </a:rPr>
              <a:t> </a:t>
            </a:r>
            <a:r>
              <a:rPr sz="2200" b="0" dirty="0" err="1">
                <a:solidFill>
                  <a:srgbClr val="FFFFFF"/>
                </a:solidFill>
                <a:latin typeface="Tw Cen MT"/>
              </a:rPr>
              <a:t>abierto</a:t>
            </a:r>
            <a:r>
              <a:rPr sz="2200" b="0" dirty="0">
                <a:solidFill>
                  <a:srgbClr val="FFFFFF"/>
                </a:solidFill>
                <a:latin typeface="Tw Cen MT"/>
              </a:rPr>
              <a:t> para </a:t>
            </a:r>
            <a:r>
              <a:rPr sz="2200" b="0" dirty="0" err="1">
                <a:solidFill>
                  <a:srgbClr val="FFFFFF"/>
                </a:solidFill>
                <a:latin typeface="Tw Cen MT"/>
              </a:rPr>
              <a:t>generar</a:t>
            </a:r>
            <a:r>
              <a:rPr sz="2200" b="0" dirty="0">
                <a:solidFill>
                  <a:srgbClr val="FFFFFF"/>
                </a:solidFill>
                <a:latin typeface="Tw Cen MT"/>
              </a:rPr>
              <a:t> confianza y </a:t>
            </a:r>
            <a:r>
              <a:rPr sz="2200" b="0" dirty="0" err="1">
                <a:solidFill>
                  <a:srgbClr val="FFFFFF"/>
                </a:solidFill>
                <a:latin typeface="Tw Cen MT"/>
              </a:rPr>
              <a:t>competencia</a:t>
            </a:r>
            <a:r>
              <a:rPr sz="2200" b="0" dirty="0">
                <a:solidFill>
                  <a:srgbClr val="FFFFFF"/>
                </a:solidFill>
                <a:latin typeface="Tw Cen MT"/>
              </a:rPr>
              <a:t> interna.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Definición: Centralización y Descentralización</a:t>
            </a:r>
          </a:p>
        </p:txBody>
      </p:sp>
      <p:sp>
        <p:nvSpPr>
          <p:cNvPr id="5" name="TextBox 4"/>
          <p:cNvSpPr txBox="1"/>
          <p:nvPr/>
        </p:nvSpPr>
        <p:spPr>
          <a:xfrm>
            <a:off x="304800" y="1542730"/>
            <a:ext cx="8534400" cy="4462760"/>
          </a:xfrm>
          <a:prstGeom prst="rect">
            <a:avLst/>
          </a:prstGeom>
          <a:noFill/>
        </p:spPr>
        <p:txBody>
          <a:bodyPr wrap="square">
            <a:spAutoFit/>
          </a:bodyPr>
          <a:lstStyle/>
          <a:p>
            <a:pPr algn="l">
              <a:spcBef>
                <a:spcPts val="400"/>
              </a:spcBef>
            </a:pPr>
            <a:r>
              <a:rPr sz="2400" b="0" dirty="0">
                <a:solidFill>
                  <a:srgbClr val="222222"/>
                </a:solidFill>
                <a:latin typeface="Tw Cen MT"/>
              </a:rPr>
              <a:t>La </a:t>
            </a:r>
            <a:r>
              <a:rPr sz="2400" b="0" dirty="0" err="1">
                <a:solidFill>
                  <a:srgbClr val="222222"/>
                </a:solidFill>
                <a:latin typeface="Tw Cen MT"/>
              </a:rPr>
              <a:t>definición</a:t>
            </a:r>
            <a:r>
              <a:rPr sz="2400" b="0" dirty="0">
                <a:solidFill>
                  <a:srgbClr val="222222"/>
                </a:solidFill>
                <a:latin typeface="Tw Cen MT"/>
              </a:rPr>
              <a:t> </a:t>
            </a:r>
            <a:r>
              <a:rPr sz="2400" b="0" dirty="0" err="1">
                <a:solidFill>
                  <a:srgbClr val="222222"/>
                </a:solidFill>
                <a:latin typeface="Tw Cen MT"/>
              </a:rPr>
              <a:t>clásica</a:t>
            </a:r>
            <a:r>
              <a:rPr sz="2400" b="0" dirty="0">
                <a:solidFill>
                  <a:srgbClr val="222222"/>
                </a:solidFill>
                <a:latin typeface="Tw Cen MT"/>
              </a:rPr>
              <a:t> de la </a:t>
            </a:r>
            <a:r>
              <a:rPr sz="2400" b="0" dirty="0" err="1">
                <a:solidFill>
                  <a:srgbClr val="222222"/>
                </a:solidFill>
                <a:latin typeface="Tw Cen MT"/>
              </a:rPr>
              <a:t>centralización</a:t>
            </a:r>
            <a:r>
              <a:rPr sz="2400" b="0" dirty="0">
                <a:solidFill>
                  <a:srgbClr val="222222"/>
                </a:solidFill>
                <a:latin typeface="Tw Cen MT"/>
              </a:rPr>
              <a:t> </a:t>
            </a:r>
            <a:r>
              <a:rPr sz="2400" b="0" dirty="0" err="1">
                <a:solidFill>
                  <a:srgbClr val="222222"/>
                </a:solidFill>
                <a:latin typeface="Tw Cen MT"/>
              </a:rPr>
              <a:t>gira</a:t>
            </a:r>
            <a:r>
              <a:rPr sz="2400" b="0" dirty="0">
                <a:solidFill>
                  <a:srgbClr val="222222"/>
                </a:solidFill>
                <a:latin typeface="Tw Cen MT"/>
              </a:rPr>
              <a:t> </a:t>
            </a:r>
            <a:r>
              <a:rPr sz="2400" b="0" dirty="0" err="1">
                <a:solidFill>
                  <a:srgbClr val="222222"/>
                </a:solidFill>
                <a:latin typeface="Tw Cen MT"/>
              </a:rPr>
              <a:t>en</a:t>
            </a:r>
            <a:r>
              <a:rPr sz="2400" b="0" dirty="0">
                <a:solidFill>
                  <a:srgbClr val="222222"/>
                </a:solidFill>
                <a:latin typeface="Tw Cen MT"/>
              </a:rPr>
              <a:t> </a:t>
            </a:r>
            <a:r>
              <a:rPr sz="2400" b="0" dirty="0" err="1">
                <a:solidFill>
                  <a:srgbClr val="222222"/>
                </a:solidFill>
                <a:latin typeface="Tw Cen MT"/>
              </a:rPr>
              <a:t>torno</a:t>
            </a:r>
            <a:r>
              <a:rPr sz="2400" b="0" dirty="0">
                <a:solidFill>
                  <a:srgbClr val="222222"/>
                </a:solidFill>
                <a:latin typeface="Tw Cen MT"/>
              </a:rPr>
              <a:t> al </a:t>
            </a:r>
            <a:r>
              <a:rPr sz="2400" b="0" dirty="0" err="1">
                <a:solidFill>
                  <a:srgbClr val="222222"/>
                </a:solidFill>
                <a:latin typeface="Tw Cen MT"/>
              </a:rPr>
              <a:t>poder</a:t>
            </a:r>
            <a:r>
              <a:rPr sz="2400" b="0" dirty="0">
                <a:solidFill>
                  <a:srgbClr val="222222"/>
                </a:solidFill>
                <a:latin typeface="Tw Cen MT"/>
              </a:rPr>
              <a:t> formal </a:t>
            </a:r>
            <a:r>
              <a:rPr sz="2400" b="0" dirty="0" err="1">
                <a:solidFill>
                  <a:srgbClr val="222222"/>
                </a:solidFill>
                <a:latin typeface="Tw Cen MT"/>
              </a:rPr>
              <a:t>que</a:t>
            </a:r>
            <a:r>
              <a:rPr sz="2400" b="0" dirty="0">
                <a:solidFill>
                  <a:srgbClr val="222222"/>
                </a:solidFill>
                <a:latin typeface="Tw Cen MT"/>
              </a:rPr>
              <a:t> </a:t>
            </a:r>
            <a:r>
              <a:rPr sz="2400" b="0" dirty="0" err="1">
                <a:solidFill>
                  <a:srgbClr val="222222"/>
                </a:solidFill>
                <a:latin typeface="Tw Cen MT"/>
              </a:rPr>
              <a:t>tiene</a:t>
            </a:r>
            <a:r>
              <a:rPr sz="2400" b="0" dirty="0">
                <a:solidFill>
                  <a:srgbClr val="222222"/>
                </a:solidFill>
                <a:latin typeface="Tw Cen MT"/>
              </a:rPr>
              <a:t> un </a:t>
            </a:r>
            <a:r>
              <a:rPr sz="2400" b="0" dirty="0" err="1">
                <a:solidFill>
                  <a:srgbClr val="222222"/>
                </a:solidFill>
                <a:latin typeface="Tw Cen MT"/>
              </a:rPr>
              <a:t>individuo</a:t>
            </a:r>
            <a:r>
              <a:rPr sz="2400" b="0" dirty="0">
                <a:solidFill>
                  <a:srgbClr val="222222"/>
                </a:solidFill>
                <a:latin typeface="Tw Cen MT"/>
              </a:rPr>
              <a:t>, </a:t>
            </a:r>
            <a:r>
              <a:rPr sz="2400" b="0" dirty="0" err="1">
                <a:solidFill>
                  <a:srgbClr val="222222"/>
                </a:solidFill>
                <a:latin typeface="Tw Cen MT"/>
              </a:rPr>
              <a:t>una</a:t>
            </a:r>
            <a:r>
              <a:rPr sz="2400" b="0" dirty="0">
                <a:solidFill>
                  <a:srgbClr val="222222"/>
                </a:solidFill>
                <a:latin typeface="Tw Cen MT"/>
              </a:rPr>
              <a:t> </a:t>
            </a:r>
            <a:r>
              <a:rPr sz="2400" b="0" dirty="0" err="1">
                <a:solidFill>
                  <a:srgbClr val="222222"/>
                </a:solidFill>
                <a:latin typeface="Tw Cen MT"/>
              </a:rPr>
              <a:t>unidad</a:t>
            </a:r>
            <a:r>
              <a:rPr sz="2400" b="0" dirty="0">
                <a:solidFill>
                  <a:srgbClr val="222222"/>
                </a:solidFill>
                <a:latin typeface="Tw Cen MT"/>
              </a:rPr>
              <a:t> </a:t>
            </a:r>
            <a:r>
              <a:rPr sz="2400" b="0" dirty="0" err="1">
                <a:solidFill>
                  <a:srgbClr val="222222"/>
                </a:solidFill>
                <a:latin typeface="Tw Cen MT"/>
              </a:rPr>
              <a:t>organizativa</a:t>
            </a:r>
            <a:r>
              <a:rPr sz="2400" b="0" dirty="0">
                <a:solidFill>
                  <a:srgbClr val="222222"/>
                </a:solidFill>
                <a:latin typeface="Tw Cen MT"/>
              </a:rPr>
              <a:t> o </a:t>
            </a:r>
            <a:r>
              <a:rPr sz="2400" b="0" dirty="0" err="1">
                <a:solidFill>
                  <a:srgbClr val="222222"/>
                </a:solidFill>
                <a:latin typeface="Tw Cen MT"/>
              </a:rPr>
              <a:t>grupo</a:t>
            </a:r>
            <a:r>
              <a:rPr sz="2400" b="0" dirty="0">
                <a:solidFill>
                  <a:srgbClr val="222222"/>
                </a:solidFill>
                <a:latin typeface="Tw Cen MT"/>
              </a:rPr>
              <a:t> de </a:t>
            </a:r>
            <a:r>
              <a:rPr sz="2400" b="0" dirty="0" err="1">
                <a:solidFill>
                  <a:srgbClr val="222222"/>
                </a:solidFill>
                <a:latin typeface="Tw Cen MT"/>
              </a:rPr>
              <a:t>ellos</a:t>
            </a:r>
            <a:r>
              <a:rPr sz="2400" b="0" dirty="0">
                <a:solidFill>
                  <a:srgbClr val="222222"/>
                </a:solidFill>
                <a:latin typeface="Tw Cen MT"/>
              </a:rPr>
              <a:t> </a:t>
            </a:r>
            <a:r>
              <a:rPr sz="2400" b="0" dirty="0" err="1">
                <a:solidFill>
                  <a:srgbClr val="222222"/>
                </a:solidFill>
                <a:latin typeface="Tw Cen MT"/>
              </a:rPr>
              <a:t>que</a:t>
            </a:r>
            <a:r>
              <a:rPr sz="2400" b="0" dirty="0">
                <a:solidFill>
                  <a:srgbClr val="222222"/>
                </a:solidFill>
                <a:latin typeface="Tw Cen MT"/>
              </a:rPr>
              <a:t> </a:t>
            </a:r>
            <a:r>
              <a:rPr sz="2400" b="0" dirty="0" err="1">
                <a:solidFill>
                  <a:srgbClr val="222222"/>
                </a:solidFill>
                <a:latin typeface="Tw Cen MT"/>
              </a:rPr>
              <a:t>participan</a:t>
            </a:r>
            <a:r>
              <a:rPr sz="2400" b="0" dirty="0">
                <a:solidFill>
                  <a:srgbClr val="222222"/>
                </a:solidFill>
                <a:latin typeface="Tw Cen MT"/>
              </a:rPr>
              <a:t> </a:t>
            </a:r>
            <a:r>
              <a:rPr sz="2400" b="0" dirty="0" err="1">
                <a:solidFill>
                  <a:srgbClr val="222222"/>
                </a:solidFill>
                <a:latin typeface="Tw Cen MT"/>
              </a:rPr>
              <a:t>en</a:t>
            </a:r>
            <a:r>
              <a:rPr sz="2400" b="0" dirty="0">
                <a:solidFill>
                  <a:srgbClr val="222222"/>
                </a:solidFill>
                <a:latin typeface="Tw Cen MT"/>
              </a:rPr>
              <a:t> </a:t>
            </a:r>
            <a:r>
              <a:rPr sz="2400" b="0" dirty="0" err="1">
                <a:solidFill>
                  <a:srgbClr val="222222"/>
                </a:solidFill>
                <a:latin typeface="Tw Cen MT"/>
              </a:rPr>
              <a:t>determinadas</a:t>
            </a:r>
            <a:r>
              <a:rPr sz="2400" b="0" dirty="0">
                <a:solidFill>
                  <a:srgbClr val="222222"/>
                </a:solidFill>
                <a:latin typeface="Tw Cen MT"/>
              </a:rPr>
              <a:t> </a:t>
            </a:r>
            <a:r>
              <a:rPr sz="2400" b="0" dirty="0" err="1">
                <a:solidFill>
                  <a:srgbClr val="222222"/>
                </a:solidFill>
                <a:latin typeface="Tw Cen MT"/>
              </a:rPr>
              <a:t>decisiones</a:t>
            </a:r>
            <a:r>
              <a:rPr sz="2400" b="0" dirty="0">
                <a:solidFill>
                  <a:srgbClr val="222222"/>
                </a:solidFill>
                <a:latin typeface="Tw Cen MT"/>
              </a:rPr>
              <a:t> </a:t>
            </a:r>
            <a:r>
              <a:rPr sz="2400" b="0" dirty="0" err="1">
                <a:solidFill>
                  <a:srgbClr val="222222"/>
                </a:solidFill>
                <a:latin typeface="Tw Cen MT"/>
              </a:rPr>
              <a:t>estratégicas</a:t>
            </a:r>
            <a:r>
              <a:rPr sz="2400" b="0" dirty="0">
                <a:solidFill>
                  <a:srgbClr val="222222"/>
                </a:solidFill>
                <a:latin typeface="Tw Cen MT"/>
              </a:rPr>
              <a:t> u </a:t>
            </a:r>
            <a:r>
              <a:rPr sz="2400" b="0" dirty="0" err="1">
                <a:solidFill>
                  <a:srgbClr val="222222"/>
                </a:solidFill>
                <a:latin typeface="Tw Cen MT"/>
              </a:rPr>
              <a:t>operativas</a:t>
            </a:r>
            <a:r>
              <a:rPr sz="2400" b="0" dirty="0">
                <a:solidFill>
                  <a:srgbClr val="222222"/>
                </a:solidFill>
                <a:latin typeface="Tw Cen MT"/>
              </a:rPr>
              <a:t>.</a:t>
            </a:r>
            <a:endParaRPr lang="es-419" sz="2400" b="0" dirty="0">
              <a:solidFill>
                <a:srgbClr val="222222"/>
              </a:solidFill>
              <a:latin typeface="Tw Cen MT"/>
            </a:endParaRPr>
          </a:p>
          <a:p>
            <a:pPr algn="l">
              <a:spcBef>
                <a:spcPts val="400"/>
              </a:spcBef>
            </a:pPr>
            <a:endParaRPr sz="2400" b="0" dirty="0">
              <a:solidFill>
                <a:srgbClr val="222222"/>
              </a:solidFill>
              <a:latin typeface="Tw Cen MT"/>
            </a:endParaRPr>
          </a:p>
          <a:p>
            <a:pPr algn="l">
              <a:spcBef>
                <a:spcPts val="400"/>
              </a:spcBef>
              <a:buNone/>
            </a:pPr>
            <a:r>
              <a:rPr sz="2400" b="1" dirty="0">
                <a:solidFill>
                  <a:srgbClr val="8B0000"/>
                </a:solidFill>
                <a:latin typeface="Tw Cen MT"/>
              </a:rPr>
              <a:t>CENTRALIZADA</a:t>
            </a:r>
          </a:p>
          <a:p>
            <a:pPr algn="ctr">
              <a:spcBef>
                <a:spcPts val="400"/>
              </a:spcBef>
            </a:pPr>
            <a:r>
              <a:rPr sz="2400" b="1" dirty="0">
                <a:solidFill>
                  <a:srgbClr val="222222"/>
                </a:solidFill>
                <a:latin typeface="Tw Cen MT"/>
              </a:rPr>
              <a:t>Cuando </a:t>
            </a:r>
            <a:r>
              <a:rPr sz="2400" b="1" dirty="0" err="1">
                <a:solidFill>
                  <a:srgbClr val="222222"/>
                </a:solidFill>
                <a:latin typeface="Tw Cen MT"/>
              </a:rPr>
              <a:t>el</a:t>
            </a:r>
            <a:r>
              <a:rPr sz="2400" b="1" dirty="0">
                <a:solidFill>
                  <a:srgbClr val="222222"/>
                </a:solidFill>
                <a:latin typeface="Tw Cen MT"/>
              </a:rPr>
              <a:t> </a:t>
            </a:r>
            <a:r>
              <a:rPr sz="2400" b="1" dirty="0" err="1">
                <a:solidFill>
                  <a:srgbClr val="222222"/>
                </a:solidFill>
                <a:latin typeface="Tw Cen MT"/>
              </a:rPr>
              <a:t>poder</a:t>
            </a:r>
            <a:r>
              <a:rPr sz="2400" b="1" dirty="0">
                <a:solidFill>
                  <a:srgbClr val="222222"/>
                </a:solidFill>
                <a:latin typeface="Tw Cen MT"/>
              </a:rPr>
              <a:t> de </a:t>
            </a:r>
            <a:r>
              <a:rPr sz="2400" b="1" dirty="0" err="1">
                <a:solidFill>
                  <a:srgbClr val="222222"/>
                </a:solidFill>
                <a:latin typeface="Tw Cen MT"/>
              </a:rPr>
              <a:t>decisión</a:t>
            </a:r>
            <a:r>
              <a:rPr sz="2400" b="1" dirty="0">
                <a:solidFill>
                  <a:srgbClr val="222222"/>
                </a:solidFill>
                <a:latin typeface="Tw Cen MT"/>
              </a:rPr>
              <a:t> </a:t>
            </a:r>
            <a:r>
              <a:rPr sz="2400" b="1" dirty="0" err="1">
                <a:solidFill>
                  <a:srgbClr val="222222"/>
                </a:solidFill>
                <a:latin typeface="Tw Cen MT"/>
              </a:rPr>
              <a:t>recae</a:t>
            </a:r>
            <a:r>
              <a:rPr sz="2400" b="1" dirty="0">
                <a:solidFill>
                  <a:srgbClr val="222222"/>
                </a:solidFill>
                <a:latin typeface="Tw Cen MT"/>
              </a:rPr>
              <a:t> </a:t>
            </a:r>
            <a:r>
              <a:rPr sz="2400" b="1" dirty="0" err="1">
                <a:solidFill>
                  <a:srgbClr val="222222"/>
                </a:solidFill>
                <a:latin typeface="Tw Cen MT"/>
              </a:rPr>
              <a:t>en</a:t>
            </a:r>
            <a:r>
              <a:rPr sz="2400" b="1" dirty="0">
                <a:solidFill>
                  <a:srgbClr val="222222"/>
                </a:solidFill>
                <a:latin typeface="Tw Cen MT"/>
              </a:rPr>
              <a:t> la </a:t>
            </a:r>
            <a:r>
              <a:rPr sz="2400" b="1" dirty="0" err="1">
                <a:solidFill>
                  <a:srgbClr val="222222"/>
                </a:solidFill>
                <a:latin typeface="Tw Cen MT"/>
              </a:rPr>
              <a:t>alta</a:t>
            </a:r>
            <a:r>
              <a:rPr sz="2400" b="1" dirty="0">
                <a:solidFill>
                  <a:srgbClr val="222222"/>
                </a:solidFill>
                <a:latin typeface="Tw Cen MT"/>
              </a:rPr>
              <a:t> </a:t>
            </a:r>
            <a:r>
              <a:rPr sz="2400" b="1" dirty="0" err="1">
                <a:solidFill>
                  <a:srgbClr val="222222"/>
                </a:solidFill>
                <a:latin typeface="Tw Cen MT"/>
              </a:rPr>
              <a:t>dirección</a:t>
            </a:r>
            <a:r>
              <a:rPr sz="2400" b="1" dirty="0">
                <a:solidFill>
                  <a:srgbClr val="222222"/>
                </a:solidFill>
                <a:latin typeface="Tw Cen MT"/>
              </a:rPr>
              <a:t>.</a:t>
            </a:r>
            <a:endParaRPr lang="es-419" sz="2400" b="1" dirty="0">
              <a:solidFill>
                <a:srgbClr val="222222"/>
              </a:solidFill>
              <a:latin typeface="Tw Cen MT"/>
            </a:endParaRPr>
          </a:p>
          <a:p>
            <a:pPr algn="ctr">
              <a:spcBef>
                <a:spcPts val="400"/>
              </a:spcBef>
            </a:pPr>
            <a:endParaRPr sz="2400" b="1" dirty="0">
              <a:solidFill>
                <a:srgbClr val="222222"/>
              </a:solidFill>
              <a:latin typeface="Tw Cen MT"/>
            </a:endParaRPr>
          </a:p>
          <a:p>
            <a:pPr algn="l">
              <a:spcBef>
                <a:spcPts val="400"/>
              </a:spcBef>
              <a:buNone/>
            </a:pPr>
            <a:r>
              <a:rPr sz="2400" b="1" dirty="0">
                <a:solidFill>
                  <a:srgbClr val="8B0000"/>
                </a:solidFill>
                <a:latin typeface="Tw Cen MT"/>
              </a:rPr>
              <a:t>DESCENTRALIZADA</a:t>
            </a:r>
          </a:p>
          <a:p>
            <a:pPr algn="ctr">
              <a:spcBef>
                <a:spcPts val="400"/>
              </a:spcBef>
            </a:pPr>
            <a:r>
              <a:rPr sz="2400" b="1" dirty="0">
                <a:solidFill>
                  <a:srgbClr val="222222"/>
                </a:solidFill>
                <a:latin typeface="Tw Cen MT"/>
              </a:rPr>
              <a:t>Cuando </a:t>
            </a:r>
            <a:r>
              <a:rPr sz="2400" b="1" dirty="0" err="1">
                <a:solidFill>
                  <a:srgbClr val="222222"/>
                </a:solidFill>
                <a:latin typeface="Tw Cen MT"/>
              </a:rPr>
              <a:t>parte</a:t>
            </a:r>
            <a:r>
              <a:rPr sz="2400" b="1" dirty="0">
                <a:solidFill>
                  <a:srgbClr val="222222"/>
                </a:solidFill>
                <a:latin typeface="Tw Cen MT"/>
              </a:rPr>
              <a:t> de </a:t>
            </a:r>
            <a:r>
              <a:rPr sz="2400" b="1" dirty="0" err="1">
                <a:solidFill>
                  <a:srgbClr val="222222"/>
                </a:solidFill>
                <a:latin typeface="Tw Cen MT"/>
              </a:rPr>
              <a:t>esas</a:t>
            </a:r>
            <a:r>
              <a:rPr sz="2400" b="1" dirty="0">
                <a:solidFill>
                  <a:srgbClr val="222222"/>
                </a:solidFill>
                <a:latin typeface="Tw Cen MT"/>
              </a:rPr>
              <a:t> </a:t>
            </a:r>
            <a:r>
              <a:rPr sz="2400" b="1" dirty="0" err="1">
                <a:solidFill>
                  <a:srgbClr val="222222"/>
                </a:solidFill>
                <a:latin typeface="Tw Cen MT"/>
              </a:rPr>
              <a:t>decisiones</a:t>
            </a:r>
            <a:r>
              <a:rPr sz="2400" b="1" dirty="0">
                <a:solidFill>
                  <a:srgbClr val="222222"/>
                </a:solidFill>
                <a:latin typeface="Tw Cen MT"/>
              </a:rPr>
              <a:t> son </a:t>
            </a:r>
            <a:r>
              <a:rPr sz="2400" b="1" dirty="0" err="1">
                <a:solidFill>
                  <a:srgbClr val="222222"/>
                </a:solidFill>
                <a:latin typeface="Tw Cen MT"/>
              </a:rPr>
              <a:t>realizadas</a:t>
            </a:r>
            <a:r>
              <a:rPr sz="2400" b="1" dirty="0">
                <a:solidFill>
                  <a:srgbClr val="222222"/>
                </a:solidFill>
                <a:latin typeface="Tw Cen MT"/>
              </a:rPr>
              <a:t> </a:t>
            </a:r>
            <a:r>
              <a:rPr sz="2400" b="1" dirty="0" err="1">
                <a:solidFill>
                  <a:srgbClr val="222222"/>
                </a:solidFill>
                <a:latin typeface="Tw Cen MT"/>
              </a:rPr>
              <a:t>por</a:t>
            </a:r>
            <a:r>
              <a:rPr sz="2400" b="1" dirty="0">
                <a:solidFill>
                  <a:srgbClr val="222222"/>
                </a:solidFill>
                <a:latin typeface="Tw Cen MT"/>
              </a:rPr>
              <a:t> </a:t>
            </a:r>
            <a:r>
              <a:rPr sz="2400" b="1" dirty="0" err="1">
                <a:solidFill>
                  <a:srgbClr val="222222"/>
                </a:solidFill>
                <a:latin typeface="Tw Cen MT"/>
              </a:rPr>
              <a:t>los</a:t>
            </a:r>
            <a:r>
              <a:rPr sz="2400" b="1" dirty="0">
                <a:solidFill>
                  <a:srgbClr val="222222"/>
                </a:solidFill>
                <a:latin typeface="Tw Cen MT"/>
              </a:rPr>
              <a:t> </a:t>
            </a:r>
            <a:r>
              <a:rPr sz="2400" b="1" dirty="0" err="1">
                <a:solidFill>
                  <a:srgbClr val="222222"/>
                </a:solidFill>
                <a:latin typeface="Tw Cen MT"/>
              </a:rPr>
              <a:t>gerentes</a:t>
            </a:r>
            <a:r>
              <a:rPr sz="2400" b="1" dirty="0">
                <a:solidFill>
                  <a:srgbClr val="222222"/>
                </a:solidFill>
                <a:latin typeface="Tw Cen MT"/>
              </a:rPr>
              <a:t> o </a:t>
            </a:r>
            <a:r>
              <a:rPr sz="2400" b="1" dirty="0" err="1">
                <a:solidFill>
                  <a:srgbClr val="222222"/>
                </a:solidFill>
                <a:latin typeface="Tw Cen MT"/>
              </a:rPr>
              <a:t>empleados</a:t>
            </a:r>
            <a:r>
              <a:rPr sz="2400" b="1" dirty="0">
                <a:solidFill>
                  <a:srgbClr val="222222"/>
                </a:solidFill>
                <a:latin typeface="Tw Cen MT"/>
              </a:rPr>
              <a:t> de </a:t>
            </a:r>
            <a:r>
              <a:rPr sz="2400" b="1" dirty="0" err="1">
                <a:solidFill>
                  <a:srgbClr val="222222"/>
                </a:solidFill>
                <a:latin typeface="Tw Cen MT"/>
              </a:rPr>
              <a:t>niveles</a:t>
            </a:r>
            <a:r>
              <a:rPr sz="2400" b="1" dirty="0">
                <a:solidFill>
                  <a:srgbClr val="222222"/>
                </a:solidFill>
                <a:latin typeface="Tw Cen MT"/>
              </a:rPr>
              <a:t> </a:t>
            </a:r>
            <a:r>
              <a:rPr sz="2400" b="1" dirty="0" err="1">
                <a:solidFill>
                  <a:srgbClr val="222222"/>
                </a:solidFill>
                <a:latin typeface="Tw Cen MT"/>
              </a:rPr>
              <a:t>medios</a:t>
            </a:r>
            <a:r>
              <a:rPr sz="2400" b="1" dirty="0">
                <a:solidFill>
                  <a:srgbClr val="222222"/>
                </a:solidFill>
                <a:latin typeface="Tw Cen MT"/>
              </a:rPr>
              <a:t> o </a:t>
            </a:r>
            <a:r>
              <a:rPr sz="2400" b="1" dirty="0" err="1">
                <a:solidFill>
                  <a:srgbClr val="222222"/>
                </a:solidFill>
                <a:latin typeface="Tw Cen MT"/>
              </a:rPr>
              <a:t>inferiores</a:t>
            </a:r>
            <a:r>
              <a:rPr sz="2400" b="1" dirty="0">
                <a:solidFill>
                  <a:srgbClr val="222222"/>
                </a:solidFill>
                <a:latin typeface="Tw Cen MT"/>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515BA-A55E-CE51-0CC7-36CF013AAE2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9EE5577-8C88-6502-DD13-CE132BC0C973}"/>
              </a:ext>
            </a:extLst>
          </p:cNvPr>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E1DB524F-44B0-AF22-8631-DD70F20264EE}"/>
              </a:ext>
            </a:extLst>
          </p:cNvPr>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1C2400B-7620-7544-FD9A-9D8B54B24FE9}"/>
              </a:ext>
            </a:extLst>
          </p:cNvPr>
          <p:cNvSpPr txBox="1"/>
          <p:nvPr/>
        </p:nvSpPr>
        <p:spPr>
          <a:xfrm>
            <a:off x="304800" y="287179"/>
            <a:ext cx="8534400" cy="492443"/>
          </a:xfrm>
          <a:prstGeom prst="rect">
            <a:avLst/>
          </a:prstGeom>
          <a:noFill/>
        </p:spPr>
        <p:txBody>
          <a:bodyPr wrap="square" anchor="ctr">
            <a:spAutoFit/>
          </a:bodyPr>
          <a:lstStyle/>
          <a:p>
            <a:pPr algn="l"/>
            <a:r>
              <a:rPr sz="2600" b="1" i="0" dirty="0" err="1">
                <a:solidFill>
                  <a:srgbClr val="FFFFFF"/>
                </a:solidFill>
                <a:latin typeface="Tw Cen MT"/>
              </a:rPr>
              <a:t>Centralización</a:t>
            </a:r>
            <a:r>
              <a:rPr sz="2600" b="1" i="0" dirty="0">
                <a:solidFill>
                  <a:srgbClr val="FFFFFF"/>
                </a:solidFill>
                <a:latin typeface="Tw Cen MT"/>
              </a:rPr>
              <a:t> y </a:t>
            </a:r>
            <a:r>
              <a:rPr sz="2600" b="1" i="0" dirty="0" err="1">
                <a:solidFill>
                  <a:srgbClr val="FFFFFF"/>
                </a:solidFill>
                <a:latin typeface="Tw Cen MT"/>
              </a:rPr>
              <a:t>Descentralización</a:t>
            </a:r>
            <a:endParaRPr sz="2600" b="1" i="0" dirty="0">
              <a:solidFill>
                <a:srgbClr val="FFFFFF"/>
              </a:solidFill>
              <a:latin typeface="Tw Cen MT"/>
            </a:endParaRPr>
          </a:p>
        </p:txBody>
      </p:sp>
      <p:sp>
        <p:nvSpPr>
          <p:cNvPr id="6" name="Footer Placeholder 4">
            <a:extLst>
              <a:ext uri="{FF2B5EF4-FFF2-40B4-BE49-F238E27FC236}">
                <a16:creationId xmlns:a16="http://schemas.microsoft.com/office/drawing/2014/main" id="{C58DB627-C60E-9143-B1DD-7AE43878A855}"/>
              </a:ext>
            </a:extLst>
          </p:cNvPr>
          <p:cNvSpPr>
            <a:spLocks noGrp="1"/>
          </p:cNvSpPr>
          <p:nvPr>
            <p:ph type="ftr" sz="quarter" idx="11"/>
          </p:nvPr>
        </p:nvSpPr>
        <p:spPr>
          <a:xfrm>
            <a:off x="500743" y="6031601"/>
            <a:ext cx="3429000" cy="353323"/>
          </a:xfrm>
        </p:spPr>
        <p:txBody>
          <a:bodyPr/>
          <a:lstStyle/>
          <a:p>
            <a:pPr algn="l"/>
            <a:r>
              <a:rPr lang="en-US" dirty="0">
                <a:solidFill>
                  <a:srgbClr val="7030A0"/>
                </a:solidFill>
              </a:rPr>
              <a:t>Four Forms That Fit Most Organizations </a:t>
            </a:r>
          </a:p>
          <a:p>
            <a:pPr algn="l"/>
            <a:r>
              <a:rPr lang="en-US" dirty="0">
                <a:solidFill>
                  <a:srgbClr val="7030A0"/>
                </a:solidFill>
              </a:rPr>
              <a:t>Henry Mintzberg</a:t>
            </a:r>
            <a:endParaRPr lang="es-ES" dirty="0">
              <a:solidFill>
                <a:srgbClr val="7030A0"/>
              </a:solidFill>
            </a:endParaRPr>
          </a:p>
        </p:txBody>
      </p:sp>
      <p:pic>
        <p:nvPicPr>
          <p:cNvPr id="7" name="Picture 2">
            <a:extLst>
              <a:ext uri="{FF2B5EF4-FFF2-40B4-BE49-F238E27FC236}">
                <a16:creationId xmlns:a16="http://schemas.microsoft.com/office/drawing/2014/main" id="{AB6D648A-7A8C-B60F-8875-136789B9B7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710414"/>
            <a:ext cx="4305300" cy="3175692"/>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8B7FBC09-14C5-2261-210D-05F147FF5244}"/>
              </a:ext>
            </a:extLst>
          </p:cNvPr>
          <p:cNvSpPr txBox="1"/>
          <p:nvPr/>
        </p:nvSpPr>
        <p:spPr>
          <a:xfrm>
            <a:off x="5214259" y="1318397"/>
            <a:ext cx="3957470" cy="5632311"/>
          </a:xfrm>
          <a:prstGeom prst="rect">
            <a:avLst/>
          </a:prstGeom>
          <a:noFill/>
        </p:spPr>
        <p:txBody>
          <a:bodyPr wrap="square">
            <a:spAutoFit/>
          </a:bodyPr>
          <a:lstStyle/>
          <a:p>
            <a:pPr marL="285750" indent="-285750">
              <a:buFont typeface="Arial" panose="020B0604020202020204" pitchFamily="34" charset="0"/>
              <a:buChar char="•"/>
            </a:pPr>
            <a:r>
              <a:rPr lang="es-AR" sz="2000" b="0" i="0" dirty="0">
                <a:solidFill>
                  <a:srgbClr val="3C4043"/>
                </a:solidFill>
                <a:effectLst/>
                <a:latin typeface="Tw Cen MT" panose="020B0602020104020603" pitchFamily="34" charset="0"/>
              </a:rPr>
              <a:t>Si una organización no se ajusta a ninguna de las formas,  podemos comprenderla mejor como una combinación de las cuatro, es decir, como una estructura híbrida. </a:t>
            </a:r>
          </a:p>
          <a:p>
            <a:pPr marL="285750" indent="-285750">
              <a:buFont typeface="Arial" panose="020B0604020202020204" pitchFamily="34" charset="0"/>
              <a:buChar char="•"/>
            </a:pPr>
            <a:endParaRPr lang="es-AR" sz="2000" dirty="0">
              <a:solidFill>
                <a:srgbClr val="3C4043"/>
              </a:solidFill>
              <a:latin typeface="Tw Cen MT" panose="020B0602020104020603" pitchFamily="34" charset="0"/>
            </a:endParaRPr>
          </a:p>
          <a:p>
            <a:pPr marL="285750" indent="-285750">
              <a:buFont typeface="Arial" panose="020B0604020202020204" pitchFamily="34" charset="0"/>
              <a:buChar char="•"/>
            </a:pPr>
            <a:r>
              <a:rPr lang="es-AR" sz="2000" b="0" i="0" dirty="0">
                <a:solidFill>
                  <a:srgbClr val="3C4043"/>
                </a:solidFill>
                <a:effectLst/>
                <a:latin typeface="Tw Cen MT" panose="020B0602020104020603" pitchFamily="34" charset="0"/>
              </a:rPr>
              <a:t>Por ejemplo, una orquesta sinfónica combina el liderazgo personal del director con las habilidades profesionales de los músicos.</a:t>
            </a:r>
          </a:p>
          <a:p>
            <a:pPr marL="285750" indent="-285750">
              <a:buFont typeface="Arial" panose="020B0604020202020204" pitchFamily="34" charset="0"/>
              <a:buChar char="•"/>
            </a:pPr>
            <a:endParaRPr lang="es-AR" sz="2000" b="0" i="0" dirty="0">
              <a:solidFill>
                <a:srgbClr val="3C4043"/>
              </a:solidFill>
              <a:effectLst/>
              <a:latin typeface="Tw Cen MT" panose="020B0602020104020603" pitchFamily="34" charset="0"/>
            </a:endParaRPr>
          </a:p>
          <a:p>
            <a:pPr marL="285750" indent="-285750">
              <a:buFont typeface="Arial" panose="020B0604020202020204" pitchFamily="34" charset="0"/>
              <a:buChar char="•"/>
            </a:pPr>
            <a:r>
              <a:rPr lang="es-AR" sz="2000" dirty="0">
                <a:solidFill>
                  <a:srgbClr val="3C4043"/>
                </a:solidFill>
                <a:latin typeface="Tw Cen MT" panose="020B0602020104020603" pitchFamily="34" charset="0"/>
              </a:rPr>
              <a:t>U</a:t>
            </a:r>
            <a:r>
              <a:rPr lang="es-AR" sz="2000" b="0" i="0" dirty="0">
                <a:solidFill>
                  <a:srgbClr val="3C4043"/>
                </a:solidFill>
                <a:effectLst/>
                <a:latin typeface="Tw Cen MT" panose="020B0602020104020603" pitchFamily="34" charset="0"/>
              </a:rPr>
              <a:t>na empresa farmacéutica puede ser un proyecto en investigación, profesional en desarrollo y programada en fabricación.</a:t>
            </a:r>
          </a:p>
          <a:p>
            <a:pPr marL="285750" indent="-285750">
              <a:buFont typeface="Arial" panose="020B0604020202020204" pitchFamily="34" charset="0"/>
              <a:buChar char="•"/>
            </a:pPr>
            <a:endParaRPr lang="es-AR" sz="2000" b="0" i="0" dirty="0">
              <a:solidFill>
                <a:srgbClr val="3C4043"/>
              </a:solidFill>
              <a:effectLst/>
              <a:latin typeface="Tw Cen MT" panose="020B0602020104020603" pitchFamily="34" charset="0"/>
            </a:endParaRPr>
          </a:p>
          <a:p>
            <a:pPr marL="285750" indent="-285750">
              <a:buFont typeface="Arial" panose="020B0604020202020204" pitchFamily="34" charset="0"/>
              <a:buChar char="•"/>
            </a:pPr>
            <a:r>
              <a:rPr lang="es-AR" sz="2000" b="0" i="0" dirty="0">
                <a:solidFill>
                  <a:srgbClr val="3C4043"/>
                </a:solidFill>
                <a:effectLst/>
                <a:latin typeface="Tw Cen MT" panose="020B0602020104020603" pitchFamily="34" charset="0"/>
              </a:rPr>
              <a:t>Son tendencias no verdades.</a:t>
            </a:r>
            <a:endParaRPr lang="es-AR" sz="2000" dirty="0">
              <a:latin typeface="Tw Cen MT" panose="020B0602020104020603" pitchFamily="34" charset="0"/>
            </a:endParaRPr>
          </a:p>
        </p:txBody>
      </p:sp>
      <p:sp>
        <p:nvSpPr>
          <p:cNvPr id="9" name="CuadroTexto 8">
            <a:extLst>
              <a:ext uri="{FF2B5EF4-FFF2-40B4-BE49-F238E27FC236}">
                <a16:creationId xmlns:a16="http://schemas.microsoft.com/office/drawing/2014/main" id="{11742256-3552-9F1B-5CC9-EFA5293FF67F}"/>
              </a:ext>
            </a:extLst>
          </p:cNvPr>
          <p:cNvSpPr txBox="1"/>
          <p:nvPr/>
        </p:nvSpPr>
        <p:spPr>
          <a:xfrm>
            <a:off x="599127" y="1476186"/>
            <a:ext cx="4615132" cy="923330"/>
          </a:xfrm>
          <a:prstGeom prst="rect">
            <a:avLst/>
          </a:prstGeom>
          <a:noFill/>
        </p:spPr>
        <p:txBody>
          <a:bodyPr wrap="square">
            <a:spAutoFit/>
          </a:bodyPr>
          <a:lstStyle/>
          <a:p>
            <a:r>
              <a:rPr lang="es-419" dirty="0">
                <a:latin typeface="Tw Cen MT" panose="020B0602020104020603" pitchFamily="34" charset="0"/>
              </a:rPr>
              <a:t>La estructura se elige teniendo en cuenta donde reside el conocimiento específico de la organización (ver final clase1)</a:t>
            </a:r>
          </a:p>
        </p:txBody>
      </p:sp>
    </p:spTree>
    <p:extLst>
      <p:ext uri="{BB962C8B-B14F-4D97-AF65-F5344CB8AC3E}">
        <p14:creationId xmlns:p14="http://schemas.microsoft.com/office/powerpoint/2010/main" val="2220790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Forma 1: La Empresa Personal</a:t>
            </a:r>
          </a:p>
        </p:txBody>
      </p:sp>
      <p:sp>
        <p:nvSpPr>
          <p:cNvPr id="5" name="TextBox 4"/>
          <p:cNvSpPr txBox="1"/>
          <p:nvPr/>
        </p:nvSpPr>
        <p:spPr>
          <a:xfrm>
            <a:off x="197223" y="1091667"/>
            <a:ext cx="8534400" cy="4278094"/>
          </a:xfrm>
          <a:prstGeom prst="rect">
            <a:avLst/>
          </a:prstGeom>
          <a:noFill/>
        </p:spPr>
        <p:txBody>
          <a:bodyPr wrap="square">
            <a:spAutoFit/>
          </a:bodyPr>
          <a:lstStyle/>
          <a:p>
            <a:pPr algn="l">
              <a:spcBef>
                <a:spcPts val="400"/>
              </a:spcBef>
            </a:pPr>
            <a:r>
              <a:rPr sz="2200" b="1" dirty="0" err="1">
                <a:solidFill>
                  <a:srgbClr val="222222"/>
                </a:solidFill>
                <a:latin typeface="Tw Cen MT"/>
              </a:rPr>
              <a:t>Estructura</a:t>
            </a:r>
            <a:r>
              <a:rPr sz="2200" b="1" dirty="0">
                <a:solidFill>
                  <a:srgbClr val="222222"/>
                </a:solidFill>
                <a:latin typeface="Tw Cen MT"/>
              </a:rPr>
              <a:t> </a:t>
            </a:r>
            <a:r>
              <a:rPr sz="2200" b="1" dirty="0" err="1">
                <a:solidFill>
                  <a:srgbClr val="222222"/>
                </a:solidFill>
                <a:latin typeface="Tw Cen MT"/>
              </a:rPr>
              <a:t>mínima</a:t>
            </a:r>
            <a:r>
              <a:rPr sz="2200" b="1" dirty="0">
                <a:solidFill>
                  <a:srgbClr val="222222"/>
                </a:solidFill>
                <a:latin typeface="Tw Cen MT"/>
              </a:rPr>
              <a:t> con </a:t>
            </a:r>
            <a:r>
              <a:rPr sz="2200" b="1" dirty="0" err="1">
                <a:solidFill>
                  <a:srgbClr val="222222"/>
                </a:solidFill>
                <a:latin typeface="Tw Cen MT"/>
              </a:rPr>
              <a:t>el</a:t>
            </a:r>
            <a:r>
              <a:rPr sz="2200" b="1" dirty="0">
                <a:solidFill>
                  <a:srgbClr val="222222"/>
                </a:solidFill>
                <a:latin typeface="Tw Cen MT"/>
              </a:rPr>
              <a:t> jefe </a:t>
            </a:r>
            <a:r>
              <a:rPr sz="2200" b="1" dirty="0" err="1">
                <a:solidFill>
                  <a:srgbClr val="222222"/>
                </a:solidFill>
                <a:latin typeface="Tw Cen MT"/>
              </a:rPr>
              <a:t>en</a:t>
            </a:r>
            <a:r>
              <a:rPr sz="2200" b="1" dirty="0">
                <a:solidFill>
                  <a:srgbClr val="222222"/>
                </a:solidFill>
                <a:latin typeface="Tw Cen MT"/>
              </a:rPr>
              <a:t> </a:t>
            </a:r>
            <a:r>
              <a:rPr sz="2200" b="1" dirty="0" err="1">
                <a:solidFill>
                  <a:srgbClr val="222222"/>
                </a:solidFill>
                <a:latin typeface="Tw Cen MT"/>
              </a:rPr>
              <a:t>el</a:t>
            </a:r>
            <a:r>
              <a:rPr sz="2200" b="1" dirty="0">
                <a:solidFill>
                  <a:srgbClr val="222222"/>
                </a:solidFill>
                <a:latin typeface="Tw Cen MT"/>
              </a:rPr>
              <a:t> </a:t>
            </a:r>
            <a:r>
              <a:rPr sz="2200" b="1" dirty="0" err="1">
                <a:solidFill>
                  <a:srgbClr val="222222"/>
                </a:solidFill>
                <a:latin typeface="Tw Cen MT"/>
              </a:rPr>
              <a:t>centro</a:t>
            </a:r>
            <a:r>
              <a:rPr sz="2200" b="1" dirty="0">
                <a:solidFill>
                  <a:srgbClr val="222222"/>
                </a:solidFill>
                <a:latin typeface="Tw Cen MT"/>
              </a:rPr>
              <a:t>.</a:t>
            </a:r>
          </a:p>
          <a:p>
            <a:pPr algn="l">
              <a:spcBef>
                <a:spcPts val="400"/>
              </a:spcBef>
            </a:pPr>
            <a:r>
              <a:rPr sz="2200" b="0" dirty="0">
                <a:solidFill>
                  <a:srgbClr val="222222"/>
                </a:solidFill>
                <a:latin typeface="Tw Cen MT"/>
              </a:rPr>
              <a:t>Se </a:t>
            </a:r>
            <a:r>
              <a:rPr sz="2200" b="0" dirty="0" err="1">
                <a:solidFill>
                  <a:srgbClr val="222222"/>
                </a:solidFill>
                <a:latin typeface="Tw Cen MT"/>
              </a:rPr>
              <a:t>caracteriza</a:t>
            </a:r>
            <a:r>
              <a:rPr sz="2200" b="0" dirty="0">
                <a:solidFill>
                  <a:srgbClr val="222222"/>
                </a:solidFill>
                <a:latin typeface="Tw Cen MT"/>
              </a:rPr>
              <a:t> </a:t>
            </a:r>
            <a:r>
              <a:rPr sz="2200" b="0" dirty="0" err="1">
                <a:solidFill>
                  <a:srgbClr val="222222"/>
                </a:solidFill>
                <a:latin typeface="Tw Cen MT"/>
              </a:rPr>
              <a:t>por</a:t>
            </a:r>
            <a:r>
              <a:rPr sz="2200" b="0" dirty="0">
                <a:solidFill>
                  <a:srgbClr val="222222"/>
                </a:solidFill>
                <a:latin typeface="Tw Cen MT"/>
              </a:rPr>
              <a:t> lo </a:t>
            </a:r>
            <a:r>
              <a:rPr sz="2200" b="0" dirty="0" err="1">
                <a:solidFill>
                  <a:srgbClr val="222222"/>
                </a:solidFill>
                <a:latin typeface="Tw Cen MT"/>
              </a:rPr>
              <a:t>que</a:t>
            </a:r>
            <a:r>
              <a:rPr sz="2200" b="0" dirty="0">
                <a:solidFill>
                  <a:srgbClr val="222222"/>
                </a:solidFill>
                <a:latin typeface="Tw Cen MT"/>
              </a:rPr>
              <a:t> NO es: </a:t>
            </a:r>
            <a:r>
              <a:rPr sz="2200" b="0" dirty="0" err="1">
                <a:solidFill>
                  <a:srgbClr val="222222"/>
                </a:solidFill>
                <a:latin typeface="Tw Cen MT"/>
              </a:rPr>
              <a:t>elaborada</a:t>
            </a:r>
            <a:r>
              <a:rPr sz="2200" b="0" dirty="0">
                <a:solidFill>
                  <a:srgbClr val="222222"/>
                </a:solidFill>
                <a:latin typeface="Tw Cen MT"/>
              </a:rPr>
              <a:t>. Se </a:t>
            </a:r>
            <a:r>
              <a:rPr sz="2200" b="0" dirty="0" err="1">
                <a:solidFill>
                  <a:srgbClr val="222222"/>
                </a:solidFill>
                <a:latin typeface="Tw Cen MT"/>
              </a:rPr>
              <a:t>resiste</a:t>
            </a:r>
            <a:r>
              <a:rPr sz="2200" b="0" dirty="0">
                <a:solidFill>
                  <a:srgbClr val="222222"/>
                </a:solidFill>
                <a:latin typeface="Tw Cen MT"/>
              </a:rPr>
              <a:t> a la </a:t>
            </a:r>
            <a:r>
              <a:rPr sz="2200" b="0" dirty="0" err="1">
                <a:solidFill>
                  <a:srgbClr val="222222"/>
                </a:solidFill>
                <a:latin typeface="Tw Cen MT"/>
              </a:rPr>
              <a:t>estructura</a:t>
            </a:r>
            <a:r>
              <a:rPr sz="2200" b="0" dirty="0">
                <a:solidFill>
                  <a:srgbClr val="222222"/>
                </a:solidFill>
                <a:latin typeface="Tw Cen MT"/>
              </a:rPr>
              <a:t> formal, </a:t>
            </a:r>
            <a:r>
              <a:rPr sz="2200" b="0" dirty="0" err="1">
                <a:solidFill>
                  <a:srgbClr val="222222"/>
                </a:solidFill>
                <a:latin typeface="Tw Cen MT"/>
              </a:rPr>
              <a:t>especialmente</a:t>
            </a:r>
            <a:r>
              <a:rPr sz="2200" b="0" dirty="0">
                <a:solidFill>
                  <a:srgbClr val="222222"/>
                </a:solidFill>
                <a:latin typeface="Tw Cen MT"/>
              </a:rPr>
              <a:t> a </a:t>
            </a:r>
            <a:r>
              <a:rPr sz="2200" b="0" dirty="0" err="1">
                <a:solidFill>
                  <a:srgbClr val="222222"/>
                </a:solidFill>
                <a:latin typeface="Tw Cen MT"/>
              </a:rPr>
              <a:t>los</a:t>
            </a:r>
            <a:r>
              <a:rPr sz="2200" b="0" dirty="0">
                <a:solidFill>
                  <a:srgbClr val="222222"/>
                </a:solidFill>
                <a:latin typeface="Tw Cen MT"/>
              </a:rPr>
              <a:t> </a:t>
            </a:r>
            <a:r>
              <a:rPr sz="2200" b="0" dirty="0" err="1">
                <a:solidFill>
                  <a:srgbClr val="222222"/>
                </a:solidFill>
                <a:latin typeface="Tw Cen MT"/>
              </a:rPr>
              <a:t>sistemas</a:t>
            </a:r>
            <a:r>
              <a:rPr sz="2200" b="0" dirty="0">
                <a:solidFill>
                  <a:srgbClr val="222222"/>
                </a:solidFill>
                <a:latin typeface="Tw Cen MT"/>
              </a:rPr>
              <a:t> de </a:t>
            </a:r>
            <a:r>
              <a:rPr sz="2200" b="0" dirty="0" err="1">
                <a:solidFill>
                  <a:srgbClr val="222222"/>
                </a:solidFill>
                <a:latin typeface="Tw Cen MT"/>
              </a:rPr>
              <a:t>planificación</a:t>
            </a:r>
            <a:r>
              <a:rPr sz="2200" b="0" dirty="0">
                <a:solidFill>
                  <a:srgbClr val="222222"/>
                </a:solidFill>
                <a:latin typeface="Tw Cen MT"/>
              </a:rPr>
              <a:t> y control.</a:t>
            </a:r>
          </a:p>
          <a:p>
            <a:pPr algn="l">
              <a:spcBef>
                <a:spcPts val="400"/>
              </a:spcBef>
            </a:pPr>
            <a:r>
              <a:rPr sz="2200" b="0" dirty="0">
                <a:solidFill>
                  <a:srgbClr val="222222"/>
                </a:solidFill>
                <a:latin typeface="Tw Cen MT"/>
              </a:rPr>
              <a:t>El jefe </a:t>
            </a:r>
            <a:r>
              <a:rPr sz="2200" b="0" dirty="0" err="1">
                <a:solidFill>
                  <a:srgbClr val="222222"/>
                </a:solidFill>
                <a:latin typeface="Tw Cen MT"/>
              </a:rPr>
              <a:t>asume</a:t>
            </a:r>
            <a:r>
              <a:rPr sz="2200" b="0" dirty="0">
                <a:solidFill>
                  <a:srgbClr val="222222"/>
                </a:solidFill>
                <a:latin typeface="Tw Cen MT"/>
              </a:rPr>
              <a:t> la mayor </a:t>
            </a:r>
            <a:r>
              <a:rPr sz="2200" b="0" dirty="0" err="1">
                <a:solidFill>
                  <a:srgbClr val="222222"/>
                </a:solidFill>
                <a:latin typeface="Tw Cen MT"/>
              </a:rPr>
              <a:t>parte</a:t>
            </a:r>
            <a:r>
              <a:rPr sz="2200" b="0" dirty="0">
                <a:solidFill>
                  <a:srgbClr val="222222"/>
                </a:solidFill>
                <a:latin typeface="Tw Cen MT"/>
              </a:rPr>
              <a:t> del control </a:t>
            </a:r>
            <a:r>
              <a:rPr sz="2200" b="0" dirty="0" err="1">
                <a:solidFill>
                  <a:srgbClr val="222222"/>
                </a:solidFill>
                <a:latin typeface="Tw Cen MT"/>
              </a:rPr>
              <a:t>personalmente</a:t>
            </a:r>
            <a:r>
              <a:rPr sz="2200" b="0" dirty="0">
                <a:solidFill>
                  <a:srgbClr val="222222"/>
                </a:solidFill>
                <a:latin typeface="Tw Cen MT"/>
              </a:rPr>
              <a:t>.</a:t>
            </a:r>
          </a:p>
          <a:p>
            <a:pPr algn="l">
              <a:spcBef>
                <a:spcPts val="400"/>
              </a:spcBef>
              <a:buNone/>
            </a:pPr>
            <a:endParaRPr lang="es-419" sz="2200" b="1" dirty="0">
              <a:solidFill>
                <a:srgbClr val="8B0000"/>
              </a:solidFill>
              <a:latin typeface="Tw Cen MT"/>
            </a:endParaRPr>
          </a:p>
          <a:p>
            <a:pPr algn="l">
              <a:spcBef>
                <a:spcPts val="400"/>
              </a:spcBef>
              <a:buNone/>
            </a:pPr>
            <a:r>
              <a:rPr sz="2200" b="1" dirty="0">
                <a:solidFill>
                  <a:srgbClr val="8B0000"/>
                </a:solidFill>
                <a:latin typeface="Tw Cen MT"/>
              </a:rPr>
              <a:t>LIDERAZGO EMPRENDEDOR</a:t>
            </a:r>
          </a:p>
          <a:p>
            <a:pPr algn="l">
              <a:spcBef>
                <a:spcPts val="400"/>
              </a:spcBef>
            </a:pPr>
            <a:r>
              <a:rPr sz="2200" b="0" dirty="0">
                <a:solidFill>
                  <a:srgbClr val="222222"/>
                </a:solidFill>
                <a:latin typeface="Tw Cen MT"/>
              </a:rPr>
              <a:t>Mucho </a:t>
            </a:r>
            <a:r>
              <a:rPr sz="2200" b="0" dirty="0" err="1">
                <a:solidFill>
                  <a:srgbClr val="222222"/>
                </a:solidFill>
                <a:latin typeface="Tw Cen MT"/>
              </a:rPr>
              <a:t>poder</a:t>
            </a:r>
            <a:r>
              <a:rPr sz="2200" b="0" dirty="0">
                <a:solidFill>
                  <a:srgbClr val="222222"/>
                </a:solidFill>
                <a:latin typeface="Tw Cen MT"/>
              </a:rPr>
              <a:t> </a:t>
            </a:r>
            <a:r>
              <a:rPr sz="2200" b="0" dirty="0" err="1">
                <a:solidFill>
                  <a:srgbClr val="222222"/>
                </a:solidFill>
                <a:latin typeface="Tw Cen MT"/>
              </a:rPr>
              <a:t>concentrado</a:t>
            </a:r>
            <a:r>
              <a:rPr sz="2200" b="0" dirty="0">
                <a:solidFill>
                  <a:srgbClr val="222222"/>
                </a:solidFill>
                <a:latin typeface="Tw Cen MT"/>
              </a:rPr>
              <a:t> </a:t>
            </a:r>
            <a:r>
              <a:rPr sz="2200" b="0" dirty="0" err="1">
                <a:solidFill>
                  <a:srgbClr val="222222"/>
                </a:solidFill>
                <a:latin typeface="Tw Cen MT"/>
              </a:rPr>
              <a:t>en</a:t>
            </a:r>
            <a:r>
              <a:rPr sz="2200" b="0" dirty="0">
                <a:solidFill>
                  <a:srgbClr val="222222"/>
                </a:solidFill>
                <a:latin typeface="Tw Cen MT"/>
              </a:rPr>
              <a:t> </a:t>
            </a:r>
            <a:r>
              <a:rPr sz="2200" b="0" dirty="0" err="1">
                <a:solidFill>
                  <a:srgbClr val="222222"/>
                </a:solidFill>
                <a:latin typeface="Tw Cen MT"/>
              </a:rPr>
              <a:t>una</a:t>
            </a:r>
            <a:r>
              <a:rPr sz="2200" b="0" dirty="0">
                <a:solidFill>
                  <a:srgbClr val="222222"/>
                </a:solidFill>
                <a:latin typeface="Tw Cen MT"/>
              </a:rPr>
              <a:t> sola persona.</a:t>
            </a:r>
          </a:p>
          <a:p>
            <a:pPr algn="l">
              <a:spcBef>
                <a:spcPts val="400"/>
              </a:spcBef>
            </a:pPr>
            <a:r>
              <a:rPr sz="2200" b="0" dirty="0" err="1">
                <a:solidFill>
                  <a:srgbClr val="222222"/>
                </a:solidFill>
                <a:latin typeface="Tw Cen MT"/>
              </a:rPr>
              <a:t>Puede</a:t>
            </a:r>
            <a:r>
              <a:rPr sz="2200" b="0" dirty="0">
                <a:solidFill>
                  <a:srgbClr val="222222"/>
                </a:solidFill>
                <a:latin typeface="Tw Cen MT"/>
              </a:rPr>
              <a:t> </a:t>
            </a:r>
            <a:r>
              <a:rPr sz="2200" b="0" dirty="0" err="1">
                <a:solidFill>
                  <a:srgbClr val="222222"/>
                </a:solidFill>
                <a:latin typeface="Tw Cen MT"/>
              </a:rPr>
              <a:t>mantenerse</a:t>
            </a:r>
            <a:r>
              <a:rPr sz="2200" b="0" dirty="0">
                <a:solidFill>
                  <a:srgbClr val="222222"/>
                </a:solidFill>
                <a:latin typeface="Tw Cen MT"/>
              </a:rPr>
              <a:t> </a:t>
            </a:r>
            <a:r>
              <a:rPr sz="2200" b="0" dirty="0" err="1">
                <a:solidFill>
                  <a:srgbClr val="222222"/>
                </a:solidFill>
                <a:latin typeface="Tw Cen MT"/>
              </a:rPr>
              <a:t>mientras</a:t>
            </a:r>
            <a:r>
              <a:rPr sz="2200" b="0" dirty="0">
                <a:solidFill>
                  <a:srgbClr val="222222"/>
                </a:solidFill>
                <a:latin typeface="Tw Cen MT"/>
              </a:rPr>
              <a:t> </a:t>
            </a:r>
            <a:r>
              <a:rPr sz="2200" b="0" dirty="0" err="1">
                <a:solidFill>
                  <a:srgbClr val="222222"/>
                </a:solidFill>
                <a:latin typeface="Tw Cen MT"/>
              </a:rPr>
              <a:t>permanezca</a:t>
            </a:r>
            <a:r>
              <a:rPr sz="2200" b="0" dirty="0">
                <a:solidFill>
                  <a:srgbClr val="222222"/>
                </a:solidFill>
                <a:latin typeface="Tw Cen MT"/>
              </a:rPr>
              <a:t> al </a:t>
            </a:r>
            <a:r>
              <a:rPr sz="2200" b="0" dirty="0" err="1">
                <a:solidFill>
                  <a:srgbClr val="222222"/>
                </a:solidFill>
                <a:latin typeface="Tw Cen MT"/>
              </a:rPr>
              <a:t>mando</a:t>
            </a:r>
            <a:r>
              <a:rPr sz="2200" b="0" dirty="0">
                <a:solidFill>
                  <a:srgbClr val="222222"/>
                </a:solidFill>
                <a:latin typeface="Tw Cen MT"/>
              </a:rPr>
              <a:t>.</a:t>
            </a:r>
          </a:p>
          <a:p>
            <a:pPr lvl="1">
              <a:spcBef>
                <a:spcPts val="400"/>
              </a:spcBef>
            </a:pPr>
            <a:r>
              <a:rPr sz="2200" b="1" dirty="0">
                <a:solidFill>
                  <a:srgbClr val="8B0000"/>
                </a:solidFill>
                <a:latin typeface="Tw Cen MT"/>
              </a:rPr>
              <a:t>VENTAJA</a:t>
            </a:r>
          </a:p>
          <a:p>
            <a:pPr lvl="1">
              <a:spcBef>
                <a:spcPts val="400"/>
              </a:spcBef>
            </a:pPr>
            <a:r>
              <a:rPr sz="2200" b="0" dirty="0" err="1">
                <a:solidFill>
                  <a:srgbClr val="222222"/>
                </a:solidFill>
                <a:latin typeface="Tw Cen MT"/>
              </a:rPr>
              <a:t>Velocidad</a:t>
            </a:r>
            <a:r>
              <a:rPr sz="2200" b="0" dirty="0">
                <a:solidFill>
                  <a:srgbClr val="222222"/>
                </a:solidFill>
                <a:latin typeface="Tw Cen MT"/>
              </a:rPr>
              <a:t> y </a:t>
            </a:r>
            <a:r>
              <a:rPr sz="2200" b="0" dirty="0" err="1">
                <a:solidFill>
                  <a:srgbClr val="222222"/>
                </a:solidFill>
                <a:latin typeface="Tw Cen MT"/>
              </a:rPr>
              <a:t>flexibilidad</a:t>
            </a:r>
            <a:r>
              <a:rPr sz="2200" b="0" dirty="0">
                <a:solidFill>
                  <a:srgbClr val="222222"/>
                </a:solidFill>
                <a:latin typeface="Tw Cen MT"/>
              </a:rPr>
              <a:t> de </a:t>
            </a:r>
            <a:r>
              <a:rPr sz="2200" b="0" dirty="0" err="1">
                <a:solidFill>
                  <a:srgbClr val="222222"/>
                </a:solidFill>
                <a:latin typeface="Tw Cen MT"/>
              </a:rPr>
              <a:t>decisión</a:t>
            </a:r>
            <a:r>
              <a:rPr sz="2200" b="0" dirty="0">
                <a:solidFill>
                  <a:srgbClr val="222222"/>
                </a:solidFill>
                <a:latin typeface="Tw Cen MT"/>
              </a:rPr>
              <a:t>.</a:t>
            </a:r>
          </a:p>
          <a:p>
            <a:pPr lvl="1">
              <a:spcBef>
                <a:spcPts val="400"/>
              </a:spcBef>
            </a:pPr>
            <a:r>
              <a:rPr sz="2200" b="1" dirty="0">
                <a:solidFill>
                  <a:srgbClr val="8B0000"/>
                </a:solidFill>
                <a:latin typeface="Tw Cen MT"/>
              </a:rPr>
              <a:t>DESVENTAJA</a:t>
            </a:r>
          </a:p>
        </p:txBody>
      </p:sp>
      <p:sp>
        <p:nvSpPr>
          <p:cNvPr id="7" name="CuadroTexto 6">
            <a:extLst>
              <a:ext uri="{FF2B5EF4-FFF2-40B4-BE49-F238E27FC236}">
                <a16:creationId xmlns:a16="http://schemas.microsoft.com/office/drawing/2014/main" id="{303B9184-1777-F503-826A-961D47612B84}"/>
              </a:ext>
            </a:extLst>
          </p:cNvPr>
          <p:cNvSpPr txBox="1"/>
          <p:nvPr/>
        </p:nvSpPr>
        <p:spPr>
          <a:xfrm>
            <a:off x="197223" y="5406479"/>
            <a:ext cx="4616824" cy="769441"/>
          </a:xfrm>
          <a:prstGeom prst="rect">
            <a:avLst/>
          </a:prstGeom>
          <a:noFill/>
        </p:spPr>
        <p:txBody>
          <a:bodyPr wrap="square">
            <a:spAutoFit/>
          </a:bodyPr>
          <a:lstStyle/>
          <a:p>
            <a:pPr lvl="1">
              <a:spcBef>
                <a:spcPts val="400"/>
              </a:spcBef>
            </a:pPr>
            <a:r>
              <a:rPr lang="es-AR" sz="2200" b="0" dirty="0">
                <a:solidFill>
                  <a:srgbClr val="222222"/>
                </a:solidFill>
                <a:latin typeface="Tw Cen MT"/>
              </a:rPr>
              <a:t>Alta dependencia de una persona. Riesgo ante cambios de liderazgo.</a:t>
            </a:r>
          </a:p>
        </p:txBody>
      </p:sp>
      <p:pic>
        <p:nvPicPr>
          <p:cNvPr id="9" name="Imagen 8" descr="The image depicts a simple, abstract figure of a human silhouette with directional arrows indicating movement or flow around it.&#10;&#10;El contenido generado por IA puede ser incorrecto.">
            <a:extLst>
              <a:ext uri="{FF2B5EF4-FFF2-40B4-BE49-F238E27FC236}">
                <a16:creationId xmlns:a16="http://schemas.microsoft.com/office/drawing/2014/main" id="{D5BDF580-D6D4-880C-9DC8-322B4CCB9A59}"/>
              </a:ext>
            </a:extLst>
          </p:cNvPr>
          <p:cNvPicPr>
            <a:picLocks noChangeAspect="1"/>
          </p:cNvPicPr>
          <p:nvPr/>
        </p:nvPicPr>
        <p:blipFill>
          <a:blip r:embed="rId2"/>
          <a:stretch>
            <a:fillRect/>
          </a:stretch>
        </p:blipFill>
        <p:spPr>
          <a:xfrm>
            <a:off x="6337821" y="3149919"/>
            <a:ext cx="2591025" cy="1761897"/>
          </a:xfrm>
          <a:prstGeom prst="rect">
            <a:avLst/>
          </a:prstGeom>
        </p:spPr>
      </p:pic>
      <p:sp>
        <p:nvSpPr>
          <p:cNvPr id="8" name="CuadroTexto 7">
            <a:extLst>
              <a:ext uri="{FF2B5EF4-FFF2-40B4-BE49-F238E27FC236}">
                <a16:creationId xmlns:a16="http://schemas.microsoft.com/office/drawing/2014/main" id="{F4D01F32-261E-B5C1-AA43-956926BC9201}"/>
              </a:ext>
            </a:extLst>
          </p:cNvPr>
          <p:cNvSpPr txBox="1"/>
          <p:nvPr/>
        </p:nvSpPr>
        <p:spPr>
          <a:xfrm>
            <a:off x="508958" y="6165564"/>
            <a:ext cx="8419888" cy="646331"/>
          </a:xfrm>
          <a:prstGeom prst="rect">
            <a:avLst/>
          </a:prstGeom>
          <a:noFill/>
        </p:spPr>
        <p:txBody>
          <a:bodyPr wrap="square">
            <a:spAutoFit/>
          </a:bodyPr>
          <a:lstStyle/>
          <a:p>
            <a:r>
              <a:rPr lang="es-419" dirty="0">
                <a:latin typeface="Tw Cen MT" panose="020B0602020104020603" pitchFamily="34" charset="0"/>
              </a:rPr>
              <a:t>Cuando una sola persona concentra decisión, medición y recompensa, la organización gana velocidad y pierde posibilidad de expansión.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Forma 2: La Máquina Programada</a:t>
            </a:r>
          </a:p>
        </p:txBody>
      </p:sp>
      <p:sp>
        <p:nvSpPr>
          <p:cNvPr id="5" name="TextBox 4"/>
          <p:cNvSpPr txBox="1"/>
          <p:nvPr/>
        </p:nvSpPr>
        <p:spPr>
          <a:xfrm>
            <a:off x="304800" y="1097152"/>
            <a:ext cx="8534400" cy="3395801"/>
          </a:xfrm>
          <a:prstGeom prst="rect">
            <a:avLst/>
          </a:prstGeom>
          <a:noFill/>
        </p:spPr>
        <p:txBody>
          <a:bodyPr wrap="square">
            <a:spAutoFit/>
          </a:bodyPr>
          <a:lstStyle/>
          <a:p>
            <a:pPr algn="l">
              <a:spcBef>
                <a:spcPts val="400"/>
              </a:spcBef>
            </a:pPr>
            <a:r>
              <a:rPr sz="2200" b="0" dirty="0" err="1">
                <a:solidFill>
                  <a:srgbClr val="222222"/>
                </a:solidFill>
                <a:latin typeface="Tw Cen MT"/>
              </a:rPr>
              <a:t>Estructura</a:t>
            </a:r>
            <a:r>
              <a:rPr sz="2200" b="0" dirty="0">
                <a:solidFill>
                  <a:srgbClr val="222222"/>
                </a:solidFill>
                <a:latin typeface="Tw Cen MT"/>
              </a:rPr>
              <a:t> </a:t>
            </a:r>
            <a:r>
              <a:rPr sz="2200" b="0" dirty="0" err="1">
                <a:solidFill>
                  <a:srgbClr val="222222"/>
                </a:solidFill>
                <a:latin typeface="Tw Cen MT"/>
              </a:rPr>
              <a:t>como</a:t>
            </a:r>
            <a:r>
              <a:rPr sz="2200" b="0" dirty="0">
                <a:solidFill>
                  <a:srgbClr val="222222"/>
                </a:solidFill>
                <a:latin typeface="Tw Cen MT"/>
              </a:rPr>
              <a:t> </a:t>
            </a:r>
            <a:r>
              <a:rPr sz="2200" b="0" dirty="0" err="1">
                <a:solidFill>
                  <a:srgbClr val="222222"/>
                </a:solidFill>
                <a:latin typeface="Tw Cen MT"/>
              </a:rPr>
              <a:t>cadena</a:t>
            </a:r>
            <a:r>
              <a:rPr sz="2200" b="0" dirty="0">
                <a:solidFill>
                  <a:srgbClr val="222222"/>
                </a:solidFill>
                <a:latin typeface="Tw Cen MT"/>
              </a:rPr>
              <a:t> de </a:t>
            </a:r>
            <a:r>
              <a:rPr sz="2200" b="0" dirty="0" err="1">
                <a:solidFill>
                  <a:srgbClr val="222222"/>
                </a:solidFill>
                <a:latin typeface="Tw Cen MT"/>
              </a:rPr>
              <a:t>mando</a:t>
            </a:r>
            <a:r>
              <a:rPr sz="2200" b="0" dirty="0">
                <a:solidFill>
                  <a:srgbClr val="222222"/>
                </a:solidFill>
                <a:latin typeface="Tw Cen MT"/>
              </a:rPr>
              <a:t> vertical, </a:t>
            </a:r>
            <a:r>
              <a:rPr sz="2200" b="0" dirty="0" err="1">
                <a:solidFill>
                  <a:srgbClr val="222222"/>
                </a:solidFill>
                <a:latin typeface="Tw Cen MT"/>
              </a:rPr>
              <a:t>sobre</a:t>
            </a:r>
            <a:r>
              <a:rPr sz="2200" b="0" dirty="0">
                <a:solidFill>
                  <a:srgbClr val="222222"/>
                </a:solidFill>
                <a:latin typeface="Tw Cen MT"/>
              </a:rPr>
              <a:t> </a:t>
            </a:r>
            <a:r>
              <a:rPr sz="2200" b="0" dirty="0" err="1">
                <a:solidFill>
                  <a:srgbClr val="222222"/>
                </a:solidFill>
                <a:latin typeface="Tw Cen MT"/>
              </a:rPr>
              <a:t>una</a:t>
            </a:r>
            <a:r>
              <a:rPr sz="2200" b="0" dirty="0">
                <a:solidFill>
                  <a:srgbClr val="222222"/>
                </a:solidFill>
                <a:latin typeface="Tw Cen MT"/>
              </a:rPr>
              <a:t> </a:t>
            </a:r>
            <a:r>
              <a:rPr sz="2200" b="0" dirty="0" err="1">
                <a:solidFill>
                  <a:srgbClr val="222222"/>
                </a:solidFill>
                <a:latin typeface="Tw Cen MT"/>
              </a:rPr>
              <a:t>cadena</a:t>
            </a:r>
            <a:r>
              <a:rPr sz="2200" b="0" dirty="0">
                <a:solidFill>
                  <a:srgbClr val="222222"/>
                </a:solidFill>
                <a:latin typeface="Tw Cen MT"/>
              </a:rPr>
              <a:t> horizontal de </a:t>
            </a:r>
            <a:r>
              <a:rPr sz="2200" b="0" dirty="0" err="1">
                <a:solidFill>
                  <a:srgbClr val="222222"/>
                </a:solidFill>
                <a:latin typeface="Tw Cen MT"/>
              </a:rPr>
              <a:t>operaciones</a:t>
            </a:r>
            <a:r>
              <a:rPr sz="2200" b="0" dirty="0">
                <a:solidFill>
                  <a:srgbClr val="222222"/>
                </a:solidFill>
                <a:latin typeface="Tw Cen MT"/>
              </a:rPr>
              <a:t> </a:t>
            </a:r>
            <a:r>
              <a:rPr sz="2200" b="0" dirty="0" err="1">
                <a:solidFill>
                  <a:srgbClr val="222222"/>
                </a:solidFill>
                <a:latin typeface="Tw Cen MT"/>
              </a:rPr>
              <a:t>donde</a:t>
            </a:r>
            <a:r>
              <a:rPr sz="2200" b="0" dirty="0">
                <a:solidFill>
                  <a:srgbClr val="222222"/>
                </a:solidFill>
                <a:latin typeface="Tw Cen MT"/>
              </a:rPr>
              <a:t> </a:t>
            </a:r>
            <a:r>
              <a:rPr sz="2200" b="0" dirty="0" err="1">
                <a:solidFill>
                  <a:srgbClr val="222222"/>
                </a:solidFill>
                <a:latin typeface="Tw Cen MT"/>
              </a:rPr>
              <a:t>prácticamente</a:t>
            </a:r>
            <a:r>
              <a:rPr sz="2200" b="0" dirty="0">
                <a:solidFill>
                  <a:srgbClr val="222222"/>
                </a:solidFill>
                <a:latin typeface="Tw Cen MT"/>
              </a:rPr>
              <a:t> </a:t>
            </a:r>
            <a:r>
              <a:rPr sz="2200" b="0" dirty="0" err="1">
                <a:solidFill>
                  <a:srgbClr val="222222"/>
                </a:solidFill>
                <a:latin typeface="Tw Cen MT"/>
              </a:rPr>
              <a:t>todo</a:t>
            </a:r>
            <a:r>
              <a:rPr sz="2200" b="0" dirty="0">
                <a:solidFill>
                  <a:srgbClr val="222222"/>
                </a:solidFill>
                <a:latin typeface="Tw Cen MT"/>
              </a:rPr>
              <a:t> </a:t>
            </a:r>
            <a:r>
              <a:rPr sz="2200" b="0" dirty="0" err="1">
                <a:solidFill>
                  <a:srgbClr val="222222"/>
                </a:solidFill>
                <a:latin typeface="Tw Cen MT"/>
              </a:rPr>
              <a:t>está</a:t>
            </a:r>
            <a:r>
              <a:rPr sz="2200" b="0" dirty="0">
                <a:solidFill>
                  <a:srgbClr val="222222"/>
                </a:solidFill>
                <a:latin typeface="Tw Cen MT"/>
              </a:rPr>
              <a:t> </a:t>
            </a:r>
            <a:r>
              <a:rPr sz="2200" b="0" dirty="0" err="1">
                <a:solidFill>
                  <a:srgbClr val="222222"/>
                </a:solidFill>
                <a:latin typeface="Tw Cen MT"/>
              </a:rPr>
              <a:t>estrictamente</a:t>
            </a:r>
            <a:r>
              <a:rPr sz="2200" b="0" dirty="0">
                <a:solidFill>
                  <a:srgbClr val="222222"/>
                </a:solidFill>
                <a:latin typeface="Tw Cen MT"/>
              </a:rPr>
              <a:t> </a:t>
            </a:r>
            <a:r>
              <a:rPr sz="2200" b="0" dirty="0" err="1">
                <a:solidFill>
                  <a:srgbClr val="222222"/>
                </a:solidFill>
                <a:latin typeface="Tw Cen MT"/>
              </a:rPr>
              <a:t>controlado</a:t>
            </a:r>
            <a:r>
              <a:rPr sz="2200" b="0" dirty="0">
                <a:solidFill>
                  <a:srgbClr val="222222"/>
                </a:solidFill>
                <a:latin typeface="Tw Cen MT"/>
              </a:rPr>
              <a:t> </a:t>
            </a:r>
            <a:r>
              <a:rPr sz="2200" b="0" dirty="0" err="1">
                <a:solidFill>
                  <a:srgbClr val="222222"/>
                </a:solidFill>
                <a:latin typeface="Tw Cen MT"/>
              </a:rPr>
              <a:t>por</a:t>
            </a:r>
            <a:r>
              <a:rPr sz="2200" b="0" dirty="0">
                <a:solidFill>
                  <a:srgbClr val="222222"/>
                </a:solidFill>
                <a:latin typeface="Tw Cen MT"/>
              </a:rPr>
              <a:t> </a:t>
            </a:r>
            <a:r>
              <a:rPr sz="2200" b="0" dirty="0" err="1">
                <a:solidFill>
                  <a:srgbClr val="222222"/>
                </a:solidFill>
                <a:latin typeface="Tw Cen MT"/>
              </a:rPr>
              <a:t>sistemas</a:t>
            </a:r>
            <a:r>
              <a:rPr sz="2200" b="0" dirty="0">
                <a:solidFill>
                  <a:srgbClr val="222222"/>
                </a:solidFill>
                <a:latin typeface="Tw Cen MT"/>
              </a:rPr>
              <a:t> </a:t>
            </a:r>
            <a:r>
              <a:rPr sz="2200" b="0" dirty="0" err="1">
                <a:solidFill>
                  <a:srgbClr val="222222"/>
                </a:solidFill>
                <a:latin typeface="Tw Cen MT"/>
              </a:rPr>
              <a:t>formales</a:t>
            </a:r>
            <a:r>
              <a:rPr sz="2200" b="0" dirty="0">
                <a:solidFill>
                  <a:srgbClr val="222222"/>
                </a:solidFill>
                <a:latin typeface="Tw Cen MT"/>
              </a:rPr>
              <a:t>.</a:t>
            </a:r>
          </a:p>
          <a:p>
            <a:pPr algn="l">
              <a:spcBef>
                <a:spcPts val="400"/>
              </a:spcBef>
            </a:pPr>
            <a:r>
              <a:rPr sz="2200" b="0" dirty="0" err="1">
                <a:solidFill>
                  <a:srgbClr val="222222"/>
                </a:solidFill>
                <a:latin typeface="Tw Cen MT"/>
              </a:rPr>
              <a:t>Funcionan</a:t>
            </a:r>
            <a:r>
              <a:rPr sz="2200" b="0" dirty="0">
                <a:solidFill>
                  <a:srgbClr val="222222"/>
                </a:solidFill>
                <a:latin typeface="Tw Cen MT"/>
              </a:rPr>
              <a:t> </a:t>
            </a:r>
            <a:r>
              <a:rPr sz="2200" b="0" dirty="0" err="1">
                <a:solidFill>
                  <a:srgbClr val="222222"/>
                </a:solidFill>
                <a:latin typeface="Tw Cen MT"/>
              </a:rPr>
              <a:t>en</a:t>
            </a:r>
            <a:r>
              <a:rPr sz="2200" b="0" dirty="0">
                <a:solidFill>
                  <a:srgbClr val="222222"/>
                </a:solidFill>
                <a:latin typeface="Tw Cen MT"/>
              </a:rPr>
              <a:t> </a:t>
            </a:r>
            <a:r>
              <a:rPr sz="2200" b="0" dirty="0" err="1">
                <a:solidFill>
                  <a:srgbClr val="222222"/>
                </a:solidFill>
                <a:latin typeface="Tw Cen MT"/>
              </a:rPr>
              <a:t>entornos</a:t>
            </a:r>
            <a:r>
              <a:rPr sz="2200" b="0" dirty="0">
                <a:solidFill>
                  <a:srgbClr val="222222"/>
                </a:solidFill>
                <a:latin typeface="Tw Cen MT"/>
              </a:rPr>
              <a:t> </a:t>
            </a:r>
            <a:r>
              <a:rPr sz="2200" b="0" dirty="0" err="1">
                <a:solidFill>
                  <a:srgbClr val="222222"/>
                </a:solidFill>
                <a:latin typeface="Tw Cen MT"/>
              </a:rPr>
              <a:t>estables</a:t>
            </a:r>
            <a:r>
              <a:rPr sz="2200" b="0" dirty="0">
                <a:solidFill>
                  <a:srgbClr val="222222"/>
                </a:solidFill>
                <a:latin typeface="Tw Cen MT"/>
              </a:rPr>
              <a:t>, con </a:t>
            </a:r>
            <a:r>
              <a:rPr sz="2200" b="0" dirty="0" err="1">
                <a:solidFill>
                  <a:srgbClr val="222222"/>
                </a:solidFill>
                <a:latin typeface="Tw Cen MT"/>
              </a:rPr>
              <a:t>pocas</a:t>
            </a:r>
            <a:r>
              <a:rPr sz="2200" b="0" dirty="0">
                <a:solidFill>
                  <a:srgbClr val="222222"/>
                </a:solidFill>
                <a:latin typeface="Tw Cen MT"/>
              </a:rPr>
              <a:t> </a:t>
            </a:r>
            <a:r>
              <a:rPr sz="2200" b="0" dirty="0" err="1">
                <a:solidFill>
                  <a:srgbClr val="222222"/>
                </a:solidFill>
                <a:latin typeface="Tw Cen MT"/>
              </a:rPr>
              <a:t>incertidumbres</a:t>
            </a:r>
            <a:r>
              <a:rPr sz="2200" b="0" dirty="0">
                <a:solidFill>
                  <a:srgbClr val="222222"/>
                </a:solidFill>
                <a:latin typeface="Tw Cen MT"/>
              </a:rPr>
              <a:t>.</a:t>
            </a:r>
          </a:p>
          <a:p>
            <a:pPr algn="l">
              <a:spcBef>
                <a:spcPts val="400"/>
              </a:spcBef>
            </a:pPr>
            <a:r>
              <a:rPr sz="2200" b="1" dirty="0" err="1">
                <a:solidFill>
                  <a:srgbClr val="222222"/>
                </a:solidFill>
                <a:latin typeface="Tw Cen MT"/>
              </a:rPr>
              <a:t>Veneran</a:t>
            </a:r>
            <a:r>
              <a:rPr sz="2200" b="1" dirty="0">
                <a:solidFill>
                  <a:srgbClr val="222222"/>
                </a:solidFill>
                <a:latin typeface="Tw Cen MT"/>
              </a:rPr>
              <a:t> </a:t>
            </a:r>
            <a:r>
              <a:rPr sz="2200" b="1" dirty="0" err="1">
                <a:solidFill>
                  <a:srgbClr val="222222"/>
                </a:solidFill>
                <a:latin typeface="Tw Cen MT"/>
              </a:rPr>
              <a:t>el</a:t>
            </a:r>
            <a:r>
              <a:rPr sz="2200" b="1" dirty="0">
                <a:solidFill>
                  <a:srgbClr val="222222"/>
                </a:solidFill>
                <a:latin typeface="Tw Cen MT"/>
              </a:rPr>
              <a:t> </a:t>
            </a:r>
            <a:r>
              <a:rPr sz="2200" b="1" dirty="0" err="1">
                <a:solidFill>
                  <a:srgbClr val="222222"/>
                </a:solidFill>
                <a:latin typeface="Tw Cen MT"/>
              </a:rPr>
              <a:t>orden</a:t>
            </a:r>
            <a:r>
              <a:rPr sz="2200" b="1" dirty="0">
                <a:solidFill>
                  <a:srgbClr val="222222"/>
                </a:solidFill>
                <a:latin typeface="Tw Cen MT"/>
              </a:rPr>
              <a:t>, la </a:t>
            </a:r>
            <a:r>
              <a:rPr sz="2200" b="1" dirty="0" err="1">
                <a:solidFill>
                  <a:srgbClr val="222222"/>
                </a:solidFill>
                <a:latin typeface="Tw Cen MT"/>
              </a:rPr>
              <a:t>jerarquía</a:t>
            </a:r>
            <a:r>
              <a:rPr sz="2200" b="1" dirty="0">
                <a:solidFill>
                  <a:srgbClr val="222222"/>
                </a:solidFill>
                <a:latin typeface="Tw Cen MT"/>
              </a:rPr>
              <a:t>, </a:t>
            </a:r>
            <a:r>
              <a:rPr sz="2200" b="1" dirty="0" err="1">
                <a:solidFill>
                  <a:srgbClr val="222222"/>
                </a:solidFill>
                <a:latin typeface="Tw Cen MT"/>
              </a:rPr>
              <a:t>los</a:t>
            </a:r>
            <a:r>
              <a:rPr sz="2200" b="1" dirty="0">
                <a:solidFill>
                  <a:srgbClr val="222222"/>
                </a:solidFill>
                <a:latin typeface="Tw Cen MT"/>
              </a:rPr>
              <a:t> </a:t>
            </a:r>
            <a:r>
              <a:rPr sz="2200" b="1" dirty="0" err="1">
                <a:solidFill>
                  <a:srgbClr val="222222"/>
                </a:solidFill>
                <a:latin typeface="Tw Cen MT"/>
              </a:rPr>
              <a:t>sistemas</a:t>
            </a:r>
            <a:r>
              <a:rPr sz="2200" b="1" dirty="0">
                <a:solidFill>
                  <a:srgbClr val="222222"/>
                </a:solidFill>
                <a:latin typeface="Tw Cen MT"/>
              </a:rPr>
              <a:t> y las </a:t>
            </a:r>
            <a:r>
              <a:rPr sz="2200" b="1" dirty="0" err="1">
                <a:solidFill>
                  <a:srgbClr val="222222"/>
                </a:solidFill>
                <a:latin typeface="Tw Cen MT"/>
              </a:rPr>
              <a:t>reglas</a:t>
            </a:r>
            <a:r>
              <a:rPr sz="2200" b="1" dirty="0">
                <a:solidFill>
                  <a:srgbClr val="222222"/>
                </a:solidFill>
                <a:latin typeface="Tw Cen MT"/>
              </a:rPr>
              <a:t>. La </a:t>
            </a:r>
            <a:r>
              <a:rPr sz="2200" b="1" dirty="0" err="1">
                <a:solidFill>
                  <a:srgbClr val="222222"/>
                </a:solidFill>
                <a:latin typeface="Tw Cen MT"/>
              </a:rPr>
              <a:t>eficiencia</a:t>
            </a:r>
            <a:r>
              <a:rPr sz="2200" b="1" dirty="0">
                <a:solidFill>
                  <a:srgbClr val="222222"/>
                </a:solidFill>
                <a:latin typeface="Tw Cen MT"/>
              </a:rPr>
              <a:t> es lo </a:t>
            </a:r>
            <a:r>
              <a:rPr sz="2200" b="1" dirty="0" err="1">
                <a:solidFill>
                  <a:srgbClr val="222222"/>
                </a:solidFill>
                <a:latin typeface="Tw Cen MT"/>
              </a:rPr>
              <a:t>más</a:t>
            </a:r>
            <a:r>
              <a:rPr sz="2200" b="1" dirty="0">
                <a:solidFill>
                  <a:srgbClr val="222222"/>
                </a:solidFill>
                <a:latin typeface="Tw Cen MT"/>
              </a:rPr>
              <a:t> </a:t>
            </a:r>
            <a:r>
              <a:rPr sz="2200" b="1" dirty="0" err="1">
                <a:solidFill>
                  <a:srgbClr val="222222"/>
                </a:solidFill>
                <a:latin typeface="Tw Cen MT"/>
              </a:rPr>
              <a:t>importante</a:t>
            </a:r>
            <a:r>
              <a:rPr sz="2200" b="1" dirty="0">
                <a:solidFill>
                  <a:srgbClr val="222222"/>
                </a:solidFill>
                <a:latin typeface="Tw Cen MT"/>
              </a:rPr>
              <a:t>.</a:t>
            </a:r>
          </a:p>
          <a:p>
            <a:pPr algn="l">
              <a:spcBef>
                <a:spcPts val="400"/>
              </a:spcBef>
            </a:pPr>
            <a:r>
              <a:rPr sz="2200" b="0" dirty="0">
                <a:solidFill>
                  <a:srgbClr val="222222"/>
                </a:solidFill>
                <a:latin typeface="Tw Cen MT"/>
              </a:rPr>
              <a:t>Se </a:t>
            </a:r>
            <a:r>
              <a:rPr sz="2200" b="0" dirty="0" err="1">
                <a:solidFill>
                  <a:srgbClr val="222222"/>
                </a:solidFill>
                <a:latin typeface="Tw Cen MT"/>
              </a:rPr>
              <a:t>somete</a:t>
            </a:r>
            <a:r>
              <a:rPr sz="2200" b="0" dirty="0">
                <a:solidFill>
                  <a:srgbClr val="222222"/>
                </a:solidFill>
                <a:latin typeface="Tw Cen MT"/>
              </a:rPr>
              <a:t> a la </a:t>
            </a:r>
            <a:r>
              <a:rPr sz="2200" b="0" dirty="0" err="1">
                <a:solidFill>
                  <a:srgbClr val="222222"/>
                </a:solidFill>
                <a:latin typeface="Tw Cen MT"/>
              </a:rPr>
              <a:t>autoridad</a:t>
            </a:r>
            <a:r>
              <a:rPr sz="2200" b="0" dirty="0">
                <a:solidFill>
                  <a:srgbClr val="222222"/>
                </a:solidFill>
                <a:latin typeface="Tw Cen MT"/>
              </a:rPr>
              <a:t>.</a:t>
            </a:r>
          </a:p>
          <a:p>
            <a:pPr algn="l">
              <a:spcBef>
                <a:spcPts val="400"/>
              </a:spcBef>
              <a:buNone/>
            </a:pPr>
            <a:endParaRPr lang="es-419" sz="2200" b="1" dirty="0">
              <a:solidFill>
                <a:srgbClr val="8B0000"/>
              </a:solidFill>
              <a:latin typeface="Tw Cen MT"/>
            </a:endParaRPr>
          </a:p>
          <a:p>
            <a:pPr algn="l">
              <a:spcBef>
                <a:spcPts val="400"/>
              </a:spcBef>
              <a:buNone/>
            </a:pPr>
            <a:r>
              <a:rPr sz="2200" b="1" dirty="0">
                <a:solidFill>
                  <a:srgbClr val="8B0000"/>
                </a:solidFill>
                <a:latin typeface="Tw Cen MT"/>
              </a:rPr>
              <a:t>ROL DEL MANAGEMENT</a:t>
            </a:r>
          </a:p>
        </p:txBody>
      </p:sp>
      <p:pic>
        <p:nvPicPr>
          <p:cNvPr id="7" name="Imagen 6">
            <a:extLst>
              <a:ext uri="{FF2B5EF4-FFF2-40B4-BE49-F238E27FC236}">
                <a16:creationId xmlns:a16="http://schemas.microsoft.com/office/drawing/2014/main" id="{DEDBCC13-C245-7B0E-E7F2-9D20F2E351E1}"/>
              </a:ext>
            </a:extLst>
          </p:cNvPr>
          <p:cNvPicPr>
            <a:picLocks noChangeAspect="1"/>
          </p:cNvPicPr>
          <p:nvPr/>
        </p:nvPicPr>
        <p:blipFill>
          <a:blip r:embed="rId2"/>
          <a:stretch>
            <a:fillRect/>
          </a:stretch>
        </p:blipFill>
        <p:spPr>
          <a:xfrm>
            <a:off x="5621651" y="3106775"/>
            <a:ext cx="2651990" cy="2103302"/>
          </a:xfrm>
          <a:prstGeom prst="rect">
            <a:avLst/>
          </a:prstGeom>
        </p:spPr>
      </p:pic>
      <p:sp>
        <p:nvSpPr>
          <p:cNvPr id="9" name="CuadroTexto 8">
            <a:extLst>
              <a:ext uri="{FF2B5EF4-FFF2-40B4-BE49-F238E27FC236}">
                <a16:creationId xmlns:a16="http://schemas.microsoft.com/office/drawing/2014/main" id="{4D87EC79-3F41-5076-541C-617227199FB4}"/>
              </a:ext>
            </a:extLst>
          </p:cNvPr>
          <p:cNvSpPr txBox="1"/>
          <p:nvPr/>
        </p:nvSpPr>
        <p:spPr>
          <a:xfrm>
            <a:off x="304800" y="4480651"/>
            <a:ext cx="4616824" cy="1446550"/>
          </a:xfrm>
          <a:prstGeom prst="rect">
            <a:avLst/>
          </a:prstGeom>
          <a:noFill/>
        </p:spPr>
        <p:txBody>
          <a:bodyPr wrap="square">
            <a:spAutoFit/>
          </a:bodyPr>
          <a:lstStyle/>
          <a:p>
            <a:r>
              <a:rPr lang="es-AR" sz="2200" dirty="0">
                <a:latin typeface="Tw Cen MT" panose="020B0602020104020603" pitchFamily="34" charset="0"/>
              </a:rPr>
              <a:t>Gestionar significa perfeccionar toda la máquina y, cuando esto falla, volver a encaminarla mediante la gestión por excepción.</a:t>
            </a:r>
          </a:p>
        </p:txBody>
      </p:sp>
      <p:sp>
        <p:nvSpPr>
          <p:cNvPr id="8" name="CuadroTexto 7">
            <a:extLst>
              <a:ext uri="{FF2B5EF4-FFF2-40B4-BE49-F238E27FC236}">
                <a16:creationId xmlns:a16="http://schemas.microsoft.com/office/drawing/2014/main" id="{FE21EE44-44F7-24AF-72D9-9C95542112A7}"/>
              </a:ext>
            </a:extLst>
          </p:cNvPr>
          <p:cNvSpPr txBox="1"/>
          <p:nvPr/>
        </p:nvSpPr>
        <p:spPr>
          <a:xfrm>
            <a:off x="612475" y="6080320"/>
            <a:ext cx="8358997" cy="369332"/>
          </a:xfrm>
          <a:prstGeom prst="rect">
            <a:avLst/>
          </a:prstGeom>
          <a:noFill/>
        </p:spPr>
        <p:txBody>
          <a:bodyPr wrap="square">
            <a:spAutoFit/>
          </a:bodyPr>
          <a:lstStyle/>
          <a:p>
            <a:r>
              <a:rPr lang="es-419" dirty="0">
                <a:latin typeface="Tw Cen MT" panose="020B0602020104020603" pitchFamily="34" charset="0"/>
              </a:rPr>
              <a:t>Cuando la incertidumbre es baja, estructurar es más eficiente que descentralizar.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Forma 3: La Asamblea Profesional</a:t>
            </a:r>
          </a:p>
        </p:txBody>
      </p:sp>
      <p:sp>
        <p:nvSpPr>
          <p:cNvPr id="5" name="TextBox 4"/>
          <p:cNvSpPr txBox="1"/>
          <p:nvPr/>
        </p:nvSpPr>
        <p:spPr>
          <a:xfrm>
            <a:off x="304800" y="1220000"/>
            <a:ext cx="8534400" cy="3683060"/>
          </a:xfrm>
          <a:prstGeom prst="rect">
            <a:avLst/>
          </a:prstGeom>
          <a:noFill/>
        </p:spPr>
        <p:txBody>
          <a:bodyPr wrap="square">
            <a:spAutoFit/>
          </a:bodyPr>
          <a:lstStyle/>
          <a:p>
            <a:pPr algn="l">
              <a:spcBef>
                <a:spcPts val="400"/>
              </a:spcBef>
              <a:buFont typeface="Tw Cen MT"/>
              <a:buChar char="■"/>
            </a:pPr>
            <a:r>
              <a:rPr lang="es-AR" sz="2200" b="0" dirty="0">
                <a:solidFill>
                  <a:srgbClr val="222222"/>
                </a:solidFill>
                <a:latin typeface="Tw Cen MT"/>
              </a:rPr>
              <a:t>Estructura altamente profesional y descentralizada. Se somete a la autonomía de las habilidades.</a:t>
            </a:r>
          </a:p>
          <a:p>
            <a:pPr algn="l">
              <a:spcBef>
                <a:spcPts val="400"/>
              </a:spcBef>
              <a:buFont typeface="Tw Cen MT"/>
              <a:buChar char="■"/>
            </a:pPr>
            <a:r>
              <a:rPr lang="es-AR" sz="2200" b="1" dirty="0">
                <a:solidFill>
                  <a:srgbClr val="222222"/>
                </a:solidFill>
                <a:latin typeface="Tw Cen MT"/>
              </a:rPr>
              <a:t>Se trata de meritocracias más que burocracias: centradas en la competencia, no en la eficiencia.</a:t>
            </a:r>
          </a:p>
          <a:p>
            <a:pPr algn="l">
              <a:spcBef>
                <a:spcPts val="400"/>
              </a:spcBef>
              <a:buNone/>
            </a:pPr>
            <a:r>
              <a:rPr lang="es-AR" sz="2200" b="1" dirty="0">
                <a:solidFill>
                  <a:srgbClr val="8B0000"/>
                </a:solidFill>
                <a:latin typeface="Tw Cen MT"/>
              </a:rPr>
              <a:t>DOS JERARQUÍAS PARALELAS</a:t>
            </a:r>
          </a:p>
          <a:p>
            <a:pPr lvl="1" algn="l">
              <a:spcBef>
                <a:spcPts val="150"/>
              </a:spcBef>
              <a:buFont typeface="Tw Cen MT"/>
              <a:buChar char="▸"/>
            </a:pPr>
            <a:r>
              <a:rPr lang="es-AR" sz="2200" b="0" dirty="0">
                <a:solidFill>
                  <a:srgbClr val="222222"/>
                </a:solidFill>
                <a:latin typeface="Tw Cen MT"/>
              </a:rPr>
              <a:t>Los gerentes dirigen su jerarquía de autoridad hacia el personal de apoyo menos profesional.</a:t>
            </a:r>
          </a:p>
          <a:p>
            <a:pPr lvl="1" algn="l">
              <a:spcBef>
                <a:spcPts val="150"/>
              </a:spcBef>
              <a:buFont typeface="Tw Cen MT"/>
              <a:buChar char="▸"/>
            </a:pPr>
            <a:r>
              <a:rPr lang="es-AR" sz="2200" b="0" dirty="0">
                <a:solidFill>
                  <a:srgbClr val="222222"/>
                </a:solidFill>
                <a:latin typeface="Tw Cen MT"/>
              </a:rPr>
              <a:t>Los profesionales dirigen su propia jerarquía basada en la autonomía de su disciplina.</a:t>
            </a:r>
          </a:p>
          <a:p>
            <a:pPr algn="l">
              <a:spcBef>
                <a:spcPts val="400"/>
              </a:spcBef>
              <a:buNone/>
            </a:pPr>
            <a:r>
              <a:rPr lang="es-AR" sz="2200" b="1" dirty="0">
                <a:solidFill>
                  <a:srgbClr val="8B0000"/>
                </a:solidFill>
                <a:latin typeface="Tw Cen MT"/>
              </a:rPr>
              <a:t>RIESGO</a:t>
            </a:r>
          </a:p>
        </p:txBody>
      </p:sp>
      <p:pic>
        <p:nvPicPr>
          <p:cNvPr id="7" name="Imagen 6" descr="Support.&#10;&#10;El contenido generado por IA puede ser incorrecto.">
            <a:extLst>
              <a:ext uri="{FF2B5EF4-FFF2-40B4-BE49-F238E27FC236}">
                <a16:creationId xmlns:a16="http://schemas.microsoft.com/office/drawing/2014/main" id="{DA7213AA-987B-6691-55E9-A794B8C7ED45}"/>
              </a:ext>
            </a:extLst>
          </p:cNvPr>
          <p:cNvPicPr>
            <a:picLocks noChangeAspect="1"/>
          </p:cNvPicPr>
          <p:nvPr/>
        </p:nvPicPr>
        <p:blipFill>
          <a:blip r:embed="rId2"/>
          <a:stretch>
            <a:fillRect/>
          </a:stretch>
        </p:blipFill>
        <p:spPr>
          <a:xfrm>
            <a:off x="6293809" y="4170640"/>
            <a:ext cx="1656200" cy="1656200"/>
          </a:xfrm>
          <a:prstGeom prst="rect">
            <a:avLst/>
          </a:prstGeom>
        </p:spPr>
      </p:pic>
      <p:sp>
        <p:nvSpPr>
          <p:cNvPr id="9" name="CuadroTexto 8">
            <a:extLst>
              <a:ext uri="{FF2B5EF4-FFF2-40B4-BE49-F238E27FC236}">
                <a16:creationId xmlns:a16="http://schemas.microsoft.com/office/drawing/2014/main" id="{45CDD1EF-5A63-F1F9-F9BC-38422640217E}"/>
              </a:ext>
            </a:extLst>
          </p:cNvPr>
          <p:cNvSpPr txBox="1"/>
          <p:nvPr/>
        </p:nvSpPr>
        <p:spPr>
          <a:xfrm>
            <a:off x="416859" y="4831992"/>
            <a:ext cx="4616824" cy="1107996"/>
          </a:xfrm>
          <a:prstGeom prst="rect">
            <a:avLst/>
          </a:prstGeom>
          <a:noFill/>
        </p:spPr>
        <p:txBody>
          <a:bodyPr wrap="square">
            <a:spAutoFit/>
          </a:bodyPr>
          <a:lstStyle/>
          <a:p>
            <a:r>
              <a:rPr lang="es-AR" sz="2200" dirty="0"/>
              <a:t>Puede llevarse al extremo: "la operación fue todo un éxito, a pesar de que el paciente falleció."</a:t>
            </a:r>
          </a:p>
        </p:txBody>
      </p:sp>
      <p:sp>
        <p:nvSpPr>
          <p:cNvPr id="8" name="CuadroTexto 7">
            <a:extLst>
              <a:ext uri="{FF2B5EF4-FFF2-40B4-BE49-F238E27FC236}">
                <a16:creationId xmlns:a16="http://schemas.microsoft.com/office/drawing/2014/main" id="{BFFF8EF2-A7D7-E79E-D023-C181BB917D3F}"/>
              </a:ext>
            </a:extLst>
          </p:cNvPr>
          <p:cNvSpPr txBox="1"/>
          <p:nvPr/>
        </p:nvSpPr>
        <p:spPr>
          <a:xfrm>
            <a:off x="304800" y="6097369"/>
            <a:ext cx="8534400" cy="646331"/>
          </a:xfrm>
          <a:prstGeom prst="rect">
            <a:avLst/>
          </a:prstGeom>
          <a:noFill/>
        </p:spPr>
        <p:txBody>
          <a:bodyPr wrap="square">
            <a:spAutoFit/>
          </a:bodyPr>
          <a:lstStyle/>
          <a:p>
            <a:r>
              <a:rPr lang="es-419" b="1" dirty="0">
                <a:latin typeface="Tw Cen MT" panose="020B0602020104020603" pitchFamily="34" charset="0"/>
              </a:rPr>
              <a:t>Ejemplos típicos</a:t>
            </a:r>
            <a:r>
              <a:rPr lang="es-419" dirty="0">
                <a:latin typeface="Tw Cen MT" panose="020B0602020104020603" pitchFamily="34" charset="0"/>
              </a:rPr>
              <a:t>: hospitales (cuerpo médico /administración del hospital), universidades (cuerpo docente /rectorado/administración), estudios jurídicos, consultoras profesionales.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Forma 4: El Proyecto Pionero</a:t>
            </a:r>
          </a:p>
        </p:txBody>
      </p:sp>
      <p:sp>
        <p:nvSpPr>
          <p:cNvPr id="5" name="TextBox 4"/>
          <p:cNvSpPr txBox="1"/>
          <p:nvPr/>
        </p:nvSpPr>
        <p:spPr>
          <a:xfrm>
            <a:off x="304800" y="1027553"/>
            <a:ext cx="8534400" cy="4175502"/>
          </a:xfrm>
          <a:prstGeom prst="rect">
            <a:avLst/>
          </a:prstGeom>
          <a:noFill/>
        </p:spPr>
        <p:txBody>
          <a:bodyPr wrap="square">
            <a:spAutoFit/>
          </a:bodyPr>
          <a:lstStyle/>
          <a:p>
            <a:pPr algn="l">
              <a:spcBef>
                <a:spcPts val="400"/>
              </a:spcBef>
            </a:pPr>
            <a:r>
              <a:rPr sz="2200" b="1" dirty="0">
                <a:solidFill>
                  <a:srgbClr val="222222"/>
                </a:solidFill>
                <a:latin typeface="Tw Cen MT"/>
              </a:rPr>
              <a:t>Red de </a:t>
            </a:r>
            <a:r>
              <a:rPr sz="2200" b="1" dirty="0" err="1">
                <a:solidFill>
                  <a:srgbClr val="222222"/>
                </a:solidFill>
                <a:latin typeface="Tw Cen MT"/>
              </a:rPr>
              <a:t>proyectos</a:t>
            </a:r>
            <a:r>
              <a:rPr sz="2200" b="1" dirty="0">
                <a:solidFill>
                  <a:srgbClr val="222222"/>
                </a:solidFill>
                <a:latin typeface="Tw Cen MT"/>
              </a:rPr>
              <a:t> ad hoc para la </a:t>
            </a:r>
            <a:r>
              <a:rPr sz="2200" b="1" dirty="0" err="1">
                <a:solidFill>
                  <a:srgbClr val="222222"/>
                </a:solidFill>
                <a:latin typeface="Tw Cen MT"/>
              </a:rPr>
              <a:t>innovación</a:t>
            </a:r>
            <a:r>
              <a:rPr sz="2200" b="1" dirty="0">
                <a:solidFill>
                  <a:srgbClr val="222222"/>
                </a:solidFill>
                <a:latin typeface="Tw Cen MT"/>
              </a:rPr>
              <a:t> </a:t>
            </a:r>
            <a:r>
              <a:rPr sz="2200" b="1" dirty="0" err="1">
                <a:solidFill>
                  <a:srgbClr val="222222"/>
                </a:solidFill>
                <a:latin typeface="Tw Cen MT"/>
              </a:rPr>
              <a:t>colaborativa</a:t>
            </a:r>
            <a:r>
              <a:rPr sz="2200" b="1" dirty="0">
                <a:solidFill>
                  <a:srgbClr val="222222"/>
                </a:solidFill>
                <a:latin typeface="Tw Cen MT"/>
              </a:rPr>
              <a:t>.</a:t>
            </a:r>
          </a:p>
          <a:p>
            <a:pPr algn="l">
              <a:spcBef>
                <a:spcPts val="400"/>
              </a:spcBef>
            </a:pPr>
            <a:r>
              <a:rPr sz="2200" b="0" dirty="0" err="1">
                <a:solidFill>
                  <a:srgbClr val="222222"/>
                </a:solidFill>
                <a:latin typeface="Tw Cen MT"/>
              </a:rPr>
              <a:t>Adhocracia</a:t>
            </a:r>
            <a:r>
              <a:rPr sz="2200" b="0" dirty="0">
                <a:solidFill>
                  <a:srgbClr val="222222"/>
                </a:solidFill>
                <a:latin typeface="Tw Cen MT"/>
              </a:rPr>
              <a:t> </a:t>
            </a:r>
            <a:r>
              <a:rPr sz="2200" b="0" dirty="0" err="1">
                <a:solidFill>
                  <a:srgbClr val="222222"/>
                </a:solidFill>
                <a:latin typeface="Tw Cen MT"/>
              </a:rPr>
              <a:t>en</a:t>
            </a:r>
            <a:r>
              <a:rPr sz="2200" b="0" dirty="0">
                <a:solidFill>
                  <a:srgbClr val="222222"/>
                </a:solidFill>
                <a:latin typeface="Tw Cen MT"/>
              </a:rPr>
              <a:t> </a:t>
            </a:r>
            <a:r>
              <a:rPr sz="2200" b="0" dirty="0" err="1">
                <a:solidFill>
                  <a:srgbClr val="222222"/>
                </a:solidFill>
                <a:latin typeface="Tw Cen MT"/>
              </a:rPr>
              <a:t>lugar</a:t>
            </a:r>
            <a:r>
              <a:rPr sz="2200" b="0" dirty="0">
                <a:solidFill>
                  <a:srgbClr val="222222"/>
                </a:solidFill>
                <a:latin typeface="Tw Cen MT"/>
              </a:rPr>
              <a:t> de </a:t>
            </a:r>
            <a:r>
              <a:rPr sz="2200" b="0" dirty="0" err="1">
                <a:solidFill>
                  <a:srgbClr val="222222"/>
                </a:solidFill>
                <a:latin typeface="Tw Cen MT"/>
              </a:rPr>
              <a:t>burocracia</a:t>
            </a:r>
            <a:r>
              <a:rPr sz="2200" b="0" dirty="0">
                <a:solidFill>
                  <a:srgbClr val="222222"/>
                </a:solidFill>
                <a:latin typeface="Tw Cen MT"/>
              </a:rPr>
              <a:t>: </a:t>
            </a:r>
            <a:r>
              <a:rPr sz="2200" b="0" dirty="0" err="1">
                <a:solidFill>
                  <a:srgbClr val="222222"/>
                </a:solidFill>
                <a:latin typeface="Tw Cen MT"/>
              </a:rPr>
              <a:t>los</a:t>
            </a:r>
            <a:r>
              <a:rPr sz="2200" b="0" dirty="0">
                <a:solidFill>
                  <a:srgbClr val="222222"/>
                </a:solidFill>
                <a:latin typeface="Tw Cen MT"/>
              </a:rPr>
              <a:t> </a:t>
            </a:r>
            <a:r>
              <a:rPr sz="2200" b="0" dirty="0" err="1">
                <a:solidFill>
                  <a:srgbClr val="222222"/>
                </a:solidFill>
                <a:latin typeface="Tw Cen MT"/>
              </a:rPr>
              <a:t>expertos</a:t>
            </a:r>
            <a:r>
              <a:rPr sz="2200" b="0" dirty="0">
                <a:solidFill>
                  <a:srgbClr val="222222"/>
                </a:solidFill>
                <a:latin typeface="Tw Cen MT"/>
              </a:rPr>
              <a:t> se </a:t>
            </a:r>
            <a:r>
              <a:rPr sz="2200" b="0" dirty="0" err="1">
                <a:solidFill>
                  <a:srgbClr val="222222"/>
                </a:solidFill>
                <a:latin typeface="Tw Cen MT"/>
              </a:rPr>
              <a:t>agrupan</a:t>
            </a:r>
            <a:r>
              <a:rPr sz="2200" b="0" dirty="0">
                <a:solidFill>
                  <a:srgbClr val="222222"/>
                </a:solidFill>
                <a:latin typeface="Tw Cen MT"/>
              </a:rPr>
              <a:t> y </a:t>
            </a:r>
            <a:r>
              <a:rPr sz="2200" b="0" dirty="0" err="1">
                <a:solidFill>
                  <a:srgbClr val="222222"/>
                </a:solidFill>
                <a:latin typeface="Tw Cen MT"/>
              </a:rPr>
              <a:t>reagrupan</a:t>
            </a:r>
            <a:r>
              <a:rPr sz="2200" b="0" dirty="0">
                <a:solidFill>
                  <a:srgbClr val="222222"/>
                </a:solidFill>
                <a:latin typeface="Tw Cen MT"/>
              </a:rPr>
              <a:t> a </a:t>
            </a:r>
            <a:r>
              <a:rPr sz="2200" b="0" dirty="0" err="1">
                <a:solidFill>
                  <a:srgbClr val="222222"/>
                </a:solidFill>
                <a:latin typeface="Tw Cen MT"/>
              </a:rPr>
              <a:t>medida</a:t>
            </a:r>
            <a:r>
              <a:rPr sz="2200" b="0" dirty="0">
                <a:solidFill>
                  <a:srgbClr val="222222"/>
                </a:solidFill>
                <a:latin typeface="Tw Cen MT"/>
              </a:rPr>
              <a:t> </a:t>
            </a:r>
            <a:r>
              <a:rPr sz="2200" b="0" dirty="0" err="1">
                <a:solidFill>
                  <a:srgbClr val="222222"/>
                </a:solidFill>
                <a:latin typeface="Tw Cen MT"/>
              </a:rPr>
              <a:t>que</a:t>
            </a:r>
            <a:r>
              <a:rPr sz="2200" b="0" dirty="0">
                <a:solidFill>
                  <a:srgbClr val="222222"/>
                </a:solidFill>
                <a:latin typeface="Tw Cen MT"/>
              </a:rPr>
              <a:t> sus </a:t>
            </a:r>
            <a:r>
              <a:rPr sz="2200" b="0" dirty="0" err="1">
                <a:solidFill>
                  <a:srgbClr val="222222"/>
                </a:solidFill>
                <a:latin typeface="Tw Cen MT"/>
              </a:rPr>
              <a:t>proyectos</a:t>
            </a:r>
            <a:r>
              <a:rPr sz="2200" b="0" dirty="0">
                <a:solidFill>
                  <a:srgbClr val="222222"/>
                </a:solidFill>
                <a:latin typeface="Tw Cen MT"/>
              </a:rPr>
              <a:t> van y </a:t>
            </a:r>
            <a:r>
              <a:rPr sz="2200" b="0" dirty="0" err="1">
                <a:solidFill>
                  <a:srgbClr val="222222"/>
                </a:solidFill>
                <a:latin typeface="Tw Cen MT"/>
              </a:rPr>
              <a:t>vienen</a:t>
            </a:r>
            <a:r>
              <a:rPr sz="2200" b="0" dirty="0">
                <a:solidFill>
                  <a:srgbClr val="222222"/>
                </a:solidFill>
                <a:latin typeface="Tw Cen MT"/>
              </a:rPr>
              <a:t>.</a:t>
            </a:r>
            <a:endParaRPr lang="es-419" sz="2200" b="0" dirty="0">
              <a:solidFill>
                <a:srgbClr val="222222"/>
              </a:solidFill>
              <a:latin typeface="Tw Cen MT"/>
            </a:endParaRPr>
          </a:p>
          <a:p>
            <a:pPr algn="l">
              <a:spcBef>
                <a:spcPts val="400"/>
              </a:spcBef>
            </a:pPr>
            <a:endParaRPr sz="2200" b="0" dirty="0">
              <a:solidFill>
                <a:srgbClr val="222222"/>
              </a:solidFill>
              <a:latin typeface="Tw Cen MT"/>
            </a:endParaRPr>
          </a:p>
          <a:p>
            <a:pPr algn="l">
              <a:spcBef>
                <a:spcPts val="400"/>
              </a:spcBef>
              <a:buNone/>
            </a:pPr>
            <a:r>
              <a:rPr sz="2200" b="1" dirty="0">
                <a:solidFill>
                  <a:srgbClr val="8B0000"/>
                </a:solidFill>
                <a:latin typeface="Tw Cen MT"/>
              </a:rPr>
              <a:t>CARACTERÍSTICAS CLAVE</a:t>
            </a:r>
          </a:p>
          <a:p>
            <a:pPr algn="l">
              <a:spcBef>
                <a:spcPts val="400"/>
              </a:spcBef>
            </a:pPr>
            <a:r>
              <a:rPr sz="2200" b="0" dirty="0">
                <a:solidFill>
                  <a:srgbClr val="222222"/>
                </a:solidFill>
                <a:latin typeface="Tw Cen MT"/>
              </a:rPr>
              <a:t>Los </a:t>
            </a:r>
            <a:r>
              <a:rPr sz="2200" b="0" dirty="0" err="1">
                <a:solidFill>
                  <a:srgbClr val="222222"/>
                </a:solidFill>
                <a:latin typeface="Tw Cen MT"/>
              </a:rPr>
              <a:t>proyectos</a:t>
            </a:r>
            <a:r>
              <a:rPr sz="2200" b="0" dirty="0">
                <a:solidFill>
                  <a:srgbClr val="222222"/>
                </a:solidFill>
                <a:latin typeface="Tw Cen MT"/>
              </a:rPr>
              <a:t> son </a:t>
            </a:r>
            <a:r>
              <a:rPr sz="2200" b="0" dirty="0" err="1">
                <a:solidFill>
                  <a:srgbClr val="222222"/>
                </a:solidFill>
                <a:latin typeface="Tw Cen MT"/>
              </a:rPr>
              <a:t>el</a:t>
            </a:r>
            <a:r>
              <a:rPr sz="2200" b="0" dirty="0">
                <a:solidFill>
                  <a:srgbClr val="222222"/>
                </a:solidFill>
                <a:latin typeface="Tw Cen MT"/>
              </a:rPr>
              <a:t> </a:t>
            </a:r>
            <a:r>
              <a:rPr sz="2200" b="0" dirty="0" err="1">
                <a:solidFill>
                  <a:srgbClr val="222222"/>
                </a:solidFill>
                <a:latin typeface="Tw Cen MT"/>
              </a:rPr>
              <a:t>centro</a:t>
            </a:r>
            <a:r>
              <a:rPr sz="2200" b="0" dirty="0">
                <a:solidFill>
                  <a:srgbClr val="222222"/>
                </a:solidFill>
                <a:latin typeface="Tw Cen MT"/>
              </a:rPr>
              <a:t> de </a:t>
            </a:r>
            <a:r>
              <a:rPr sz="2200" b="0" dirty="0" err="1">
                <a:solidFill>
                  <a:srgbClr val="222222"/>
                </a:solidFill>
                <a:latin typeface="Tw Cen MT"/>
              </a:rPr>
              <a:t>atención</a:t>
            </a:r>
            <a:r>
              <a:rPr sz="2200" b="0" dirty="0">
                <a:solidFill>
                  <a:srgbClr val="222222"/>
                </a:solidFill>
                <a:latin typeface="Tw Cen MT"/>
              </a:rPr>
              <a:t>; </a:t>
            </a:r>
            <a:r>
              <a:rPr sz="2200" b="0" dirty="0" err="1">
                <a:solidFill>
                  <a:srgbClr val="222222"/>
                </a:solidFill>
                <a:latin typeface="Tw Cen MT"/>
              </a:rPr>
              <a:t>cualquiera</a:t>
            </a:r>
            <a:r>
              <a:rPr sz="2200" b="0" dirty="0">
                <a:solidFill>
                  <a:srgbClr val="222222"/>
                </a:solidFill>
                <a:latin typeface="Tw Cen MT"/>
              </a:rPr>
              <a:t> con la </a:t>
            </a:r>
            <a:r>
              <a:rPr sz="2200" b="0" dirty="0" err="1">
                <a:solidFill>
                  <a:srgbClr val="222222"/>
                </a:solidFill>
                <a:latin typeface="Tw Cen MT"/>
              </a:rPr>
              <a:t>experiencia</a:t>
            </a:r>
            <a:r>
              <a:rPr sz="2200" b="0" dirty="0">
                <a:solidFill>
                  <a:srgbClr val="222222"/>
                </a:solidFill>
                <a:latin typeface="Tw Cen MT"/>
              </a:rPr>
              <a:t> </a:t>
            </a:r>
            <a:r>
              <a:rPr sz="2200" b="0" dirty="0" err="1">
                <a:solidFill>
                  <a:srgbClr val="222222"/>
                </a:solidFill>
                <a:latin typeface="Tw Cen MT"/>
              </a:rPr>
              <a:t>necesaria</a:t>
            </a:r>
            <a:r>
              <a:rPr sz="2200" b="0" dirty="0">
                <a:solidFill>
                  <a:srgbClr val="222222"/>
                </a:solidFill>
                <a:latin typeface="Tw Cen MT"/>
              </a:rPr>
              <a:t> </a:t>
            </a:r>
            <a:r>
              <a:rPr sz="2200" b="0" dirty="0" err="1">
                <a:solidFill>
                  <a:srgbClr val="222222"/>
                </a:solidFill>
                <a:latin typeface="Tw Cen MT"/>
              </a:rPr>
              <a:t>puede</a:t>
            </a:r>
            <a:r>
              <a:rPr sz="2200" b="0" dirty="0">
                <a:solidFill>
                  <a:srgbClr val="222222"/>
                </a:solidFill>
                <a:latin typeface="Tw Cen MT"/>
              </a:rPr>
              <a:t> </a:t>
            </a:r>
            <a:r>
              <a:rPr sz="2200" b="0" dirty="0" err="1">
                <a:solidFill>
                  <a:srgbClr val="222222"/>
                </a:solidFill>
                <a:latin typeface="Tw Cen MT"/>
              </a:rPr>
              <a:t>unirse</a:t>
            </a:r>
            <a:r>
              <a:rPr sz="2200" b="0" dirty="0">
                <a:solidFill>
                  <a:srgbClr val="222222"/>
                </a:solidFill>
                <a:latin typeface="Tw Cen MT"/>
              </a:rPr>
              <a:t>, </a:t>
            </a:r>
            <a:r>
              <a:rPr sz="2200" b="0" dirty="0" err="1">
                <a:solidFill>
                  <a:srgbClr val="222222"/>
                </a:solidFill>
                <a:latin typeface="Tw Cen MT"/>
              </a:rPr>
              <a:t>incluso</a:t>
            </a:r>
            <a:r>
              <a:rPr sz="2200" b="0" dirty="0">
                <a:solidFill>
                  <a:srgbClr val="222222"/>
                </a:solidFill>
                <a:latin typeface="Tw Cen MT"/>
              </a:rPr>
              <a:t> </a:t>
            </a:r>
            <a:r>
              <a:rPr sz="2200" b="0" dirty="0" err="1">
                <a:solidFill>
                  <a:srgbClr val="222222"/>
                </a:solidFill>
                <a:latin typeface="Tw Cen MT"/>
              </a:rPr>
              <a:t>desde</a:t>
            </a:r>
            <a:r>
              <a:rPr sz="2200" b="0" dirty="0">
                <a:solidFill>
                  <a:srgbClr val="222222"/>
                </a:solidFill>
                <a:latin typeface="Tw Cen MT"/>
              </a:rPr>
              <a:t> fuera de la </a:t>
            </a:r>
            <a:r>
              <a:rPr sz="2200" b="0" dirty="0" err="1">
                <a:solidFill>
                  <a:srgbClr val="222222"/>
                </a:solidFill>
                <a:latin typeface="Tw Cen MT"/>
              </a:rPr>
              <a:t>organización</a:t>
            </a:r>
            <a:r>
              <a:rPr sz="2200" b="0" dirty="0">
                <a:solidFill>
                  <a:srgbClr val="222222"/>
                </a:solidFill>
                <a:latin typeface="Tw Cen MT"/>
              </a:rPr>
              <a:t>.</a:t>
            </a:r>
          </a:p>
          <a:p>
            <a:pPr algn="l">
              <a:spcBef>
                <a:spcPts val="400"/>
              </a:spcBef>
            </a:pPr>
            <a:r>
              <a:rPr sz="2200" b="0" dirty="0">
                <a:solidFill>
                  <a:srgbClr val="222222"/>
                </a:solidFill>
                <a:latin typeface="Tw Cen MT"/>
              </a:rPr>
              <a:t>Las </a:t>
            </a:r>
            <a:r>
              <a:rPr sz="2200" b="0" dirty="0" err="1">
                <a:solidFill>
                  <a:srgbClr val="222222"/>
                </a:solidFill>
                <a:latin typeface="Tw Cen MT"/>
              </a:rPr>
              <a:t>fronteras</a:t>
            </a:r>
            <a:r>
              <a:rPr sz="2200" b="0" dirty="0">
                <a:solidFill>
                  <a:srgbClr val="222222"/>
                </a:solidFill>
                <a:latin typeface="Tw Cen MT"/>
              </a:rPr>
              <a:t> del </a:t>
            </a:r>
            <a:r>
              <a:rPr sz="2200" b="0" dirty="0" err="1">
                <a:solidFill>
                  <a:srgbClr val="222222"/>
                </a:solidFill>
                <a:latin typeface="Tw Cen MT"/>
              </a:rPr>
              <a:t>pionero</a:t>
            </a:r>
            <a:r>
              <a:rPr sz="2200" b="0" dirty="0">
                <a:solidFill>
                  <a:srgbClr val="222222"/>
                </a:solidFill>
                <a:latin typeface="Tw Cen MT"/>
              </a:rPr>
              <a:t> de </a:t>
            </a:r>
            <a:r>
              <a:rPr sz="2200" b="0" dirty="0" err="1">
                <a:solidFill>
                  <a:srgbClr val="222222"/>
                </a:solidFill>
                <a:latin typeface="Tw Cen MT"/>
              </a:rPr>
              <a:t>proyectos</a:t>
            </a:r>
            <a:r>
              <a:rPr sz="2200" b="0" dirty="0">
                <a:solidFill>
                  <a:srgbClr val="222222"/>
                </a:solidFill>
                <a:latin typeface="Tw Cen MT"/>
              </a:rPr>
              <a:t> </a:t>
            </a:r>
            <a:r>
              <a:rPr sz="2200" b="0" dirty="0" err="1">
                <a:solidFill>
                  <a:srgbClr val="222222"/>
                </a:solidFill>
                <a:latin typeface="Tw Cen MT"/>
              </a:rPr>
              <a:t>tienden</a:t>
            </a:r>
            <a:r>
              <a:rPr sz="2200" b="0" dirty="0">
                <a:solidFill>
                  <a:srgbClr val="222222"/>
                </a:solidFill>
                <a:latin typeface="Tw Cen MT"/>
              </a:rPr>
              <a:t> a ser las </a:t>
            </a:r>
            <a:r>
              <a:rPr sz="2200" b="0" dirty="0" err="1">
                <a:solidFill>
                  <a:srgbClr val="222222"/>
                </a:solidFill>
                <a:latin typeface="Tw Cen MT"/>
              </a:rPr>
              <a:t>más</a:t>
            </a:r>
            <a:r>
              <a:rPr sz="2200" b="0" dirty="0">
                <a:solidFill>
                  <a:srgbClr val="222222"/>
                </a:solidFill>
                <a:latin typeface="Tw Cen MT"/>
              </a:rPr>
              <a:t> </a:t>
            </a:r>
            <a:r>
              <a:rPr sz="2200" b="0" dirty="0" err="1">
                <a:solidFill>
                  <a:srgbClr val="222222"/>
                </a:solidFill>
                <a:latin typeface="Tw Cen MT"/>
              </a:rPr>
              <a:t>permeables</a:t>
            </a:r>
            <a:r>
              <a:rPr sz="2200" b="0" dirty="0">
                <a:solidFill>
                  <a:srgbClr val="222222"/>
                </a:solidFill>
                <a:latin typeface="Tw Cen MT"/>
              </a:rPr>
              <a:t> de </a:t>
            </a:r>
            <a:r>
              <a:rPr sz="2200" b="0" dirty="0" err="1">
                <a:solidFill>
                  <a:srgbClr val="222222"/>
                </a:solidFill>
                <a:latin typeface="Tw Cen MT"/>
              </a:rPr>
              <a:t>todas</a:t>
            </a:r>
            <a:r>
              <a:rPr sz="2200" b="0" dirty="0">
                <a:solidFill>
                  <a:srgbClr val="222222"/>
                </a:solidFill>
                <a:latin typeface="Tw Cen MT"/>
              </a:rPr>
              <a:t>.</a:t>
            </a:r>
            <a:endParaRPr lang="es-419" sz="2200" b="0" dirty="0">
              <a:solidFill>
                <a:srgbClr val="222222"/>
              </a:solidFill>
              <a:latin typeface="Tw Cen MT"/>
            </a:endParaRPr>
          </a:p>
          <a:p>
            <a:pPr algn="l">
              <a:spcBef>
                <a:spcPts val="400"/>
              </a:spcBef>
            </a:pPr>
            <a:endParaRPr sz="2200" b="0" dirty="0">
              <a:solidFill>
                <a:srgbClr val="222222"/>
              </a:solidFill>
              <a:latin typeface="Tw Cen MT"/>
            </a:endParaRPr>
          </a:p>
          <a:p>
            <a:pPr algn="l">
              <a:spcBef>
                <a:spcPts val="400"/>
              </a:spcBef>
              <a:buNone/>
            </a:pPr>
            <a:r>
              <a:rPr sz="2200" b="1" dirty="0">
                <a:solidFill>
                  <a:srgbClr val="8B0000"/>
                </a:solidFill>
                <a:latin typeface="Tw Cen MT"/>
              </a:rPr>
              <a:t>AMBIGÜEDAD PRODUCTIVA</a:t>
            </a:r>
          </a:p>
        </p:txBody>
      </p:sp>
      <p:pic>
        <p:nvPicPr>
          <p:cNvPr id="7" name="Imagen 6" descr="The image depicts a cloud formation with various shades of blue, illustrating a weather system.&#10;&#10;El contenido generado por IA puede ser incorrecto.">
            <a:extLst>
              <a:ext uri="{FF2B5EF4-FFF2-40B4-BE49-F238E27FC236}">
                <a16:creationId xmlns:a16="http://schemas.microsoft.com/office/drawing/2014/main" id="{30AD81FD-1F5F-A862-56A9-442BDCF969A3}"/>
              </a:ext>
            </a:extLst>
          </p:cNvPr>
          <p:cNvPicPr>
            <a:picLocks noChangeAspect="1"/>
          </p:cNvPicPr>
          <p:nvPr/>
        </p:nvPicPr>
        <p:blipFill>
          <a:blip r:embed="rId2"/>
          <a:stretch>
            <a:fillRect/>
          </a:stretch>
        </p:blipFill>
        <p:spPr>
          <a:xfrm>
            <a:off x="5210510" y="4425782"/>
            <a:ext cx="3133616" cy="1993565"/>
          </a:xfrm>
          <a:prstGeom prst="rect">
            <a:avLst/>
          </a:prstGeom>
        </p:spPr>
      </p:pic>
      <p:sp>
        <p:nvSpPr>
          <p:cNvPr id="9" name="CuadroTexto 8">
            <a:extLst>
              <a:ext uri="{FF2B5EF4-FFF2-40B4-BE49-F238E27FC236}">
                <a16:creationId xmlns:a16="http://schemas.microsoft.com/office/drawing/2014/main" id="{5E97F7A0-F2C3-3F6A-B65E-75652EE78ACB}"/>
              </a:ext>
            </a:extLst>
          </p:cNvPr>
          <p:cNvSpPr txBox="1"/>
          <p:nvPr/>
        </p:nvSpPr>
        <p:spPr>
          <a:xfrm>
            <a:off x="304800" y="5202944"/>
            <a:ext cx="4616824" cy="1446550"/>
          </a:xfrm>
          <a:prstGeom prst="rect">
            <a:avLst/>
          </a:prstGeom>
          <a:noFill/>
        </p:spPr>
        <p:txBody>
          <a:bodyPr wrap="square">
            <a:spAutoFit/>
          </a:bodyPr>
          <a:lstStyle/>
          <a:p>
            <a:pPr algn="l">
              <a:spcBef>
                <a:spcPts val="400"/>
              </a:spcBef>
            </a:pPr>
            <a:r>
              <a:rPr lang="es-AR" sz="2200" b="0" dirty="0">
                <a:solidFill>
                  <a:srgbClr val="222222"/>
                </a:solidFill>
                <a:latin typeface="Tw Cen MT"/>
              </a:rPr>
              <a:t>Los gerentes participan frecuentemente en el trabajo del proyecto, mientras que los expertos participan frecuentemente en la gestión.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Asignación de Autoridad a un Grupo</a:t>
            </a:r>
          </a:p>
        </p:txBody>
      </p:sp>
      <p:sp>
        <p:nvSpPr>
          <p:cNvPr id="5" name="TextBox 4"/>
          <p:cNvSpPr txBox="1"/>
          <p:nvPr/>
        </p:nvSpPr>
        <p:spPr>
          <a:xfrm>
            <a:off x="304800" y="1220000"/>
            <a:ext cx="8534400" cy="5304016"/>
          </a:xfrm>
          <a:prstGeom prst="rect">
            <a:avLst/>
          </a:prstGeom>
          <a:noFill/>
        </p:spPr>
        <p:txBody>
          <a:bodyPr wrap="square">
            <a:spAutoFit/>
          </a:bodyPr>
          <a:lstStyle/>
          <a:p>
            <a:pPr algn="l">
              <a:spcBef>
                <a:spcPts val="400"/>
              </a:spcBef>
              <a:buNone/>
            </a:pPr>
            <a:r>
              <a:rPr sz="2400" b="1" dirty="0">
                <a:solidFill>
                  <a:srgbClr val="8B0000"/>
                </a:solidFill>
                <a:latin typeface="Tw Cen MT"/>
              </a:rPr>
              <a:t>TRES FINES BÁSICOS DE LOS GRUPOS</a:t>
            </a:r>
          </a:p>
          <a:p>
            <a:pPr lvl="1" algn="l">
              <a:spcBef>
                <a:spcPts val="150"/>
              </a:spcBef>
              <a:buFont typeface="Tw Cen MT"/>
              <a:buChar char="▸"/>
            </a:pPr>
            <a:r>
              <a:rPr sz="2400" b="0" dirty="0" err="1">
                <a:solidFill>
                  <a:srgbClr val="222222"/>
                </a:solidFill>
                <a:latin typeface="Tw Cen MT"/>
              </a:rPr>
              <a:t>Gestionar</a:t>
            </a:r>
            <a:r>
              <a:rPr sz="2400" b="0" dirty="0">
                <a:solidFill>
                  <a:srgbClr val="222222"/>
                </a:solidFill>
                <a:latin typeface="Tw Cen MT"/>
              </a:rPr>
              <a:t> </a:t>
            </a:r>
            <a:r>
              <a:rPr sz="2400" b="0" dirty="0" err="1">
                <a:solidFill>
                  <a:srgbClr val="222222"/>
                </a:solidFill>
                <a:latin typeface="Tw Cen MT"/>
              </a:rPr>
              <a:t>procesos</a:t>
            </a:r>
            <a:r>
              <a:rPr sz="2400" b="0" dirty="0">
                <a:solidFill>
                  <a:srgbClr val="222222"/>
                </a:solidFill>
                <a:latin typeface="Tw Cen MT"/>
              </a:rPr>
              <a:t>.</a:t>
            </a:r>
          </a:p>
          <a:p>
            <a:pPr lvl="1" algn="l">
              <a:spcBef>
                <a:spcPts val="150"/>
              </a:spcBef>
              <a:buFont typeface="Tw Cen MT"/>
              <a:buChar char="▸"/>
            </a:pPr>
            <a:r>
              <a:rPr sz="2400" b="0" dirty="0" err="1">
                <a:solidFill>
                  <a:srgbClr val="222222"/>
                </a:solidFill>
                <a:latin typeface="Tw Cen MT"/>
              </a:rPr>
              <a:t>Fabricar</a:t>
            </a:r>
            <a:r>
              <a:rPr sz="2400" b="0" dirty="0">
                <a:solidFill>
                  <a:srgbClr val="222222"/>
                </a:solidFill>
                <a:latin typeface="Tw Cen MT"/>
              </a:rPr>
              <a:t> </a:t>
            </a:r>
            <a:r>
              <a:rPr sz="2400" b="0" dirty="0" err="1">
                <a:solidFill>
                  <a:srgbClr val="222222"/>
                </a:solidFill>
                <a:latin typeface="Tw Cen MT"/>
              </a:rPr>
              <a:t>productos</a:t>
            </a:r>
            <a:r>
              <a:rPr sz="2400" b="0" dirty="0">
                <a:solidFill>
                  <a:srgbClr val="222222"/>
                </a:solidFill>
                <a:latin typeface="Tw Cen MT"/>
              </a:rPr>
              <a:t>.</a:t>
            </a:r>
          </a:p>
          <a:p>
            <a:pPr lvl="1" algn="l">
              <a:spcBef>
                <a:spcPts val="150"/>
              </a:spcBef>
              <a:buFont typeface="Tw Cen MT"/>
              <a:buChar char="▸"/>
            </a:pPr>
            <a:r>
              <a:rPr sz="2400" b="0" dirty="0" err="1">
                <a:solidFill>
                  <a:srgbClr val="222222"/>
                </a:solidFill>
                <a:latin typeface="Tw Cen MT"/>
              </a:rPr>
              <a:t>Recomendar</a:t>
            </a:r>
            <a:r>
              <a:rPr sz="2400" b="0" dirty="0">
                <a:solidFill>
                  <a:srgbClr val="222222"/>
                </a:solidFill>
                <a:latin typeface="Tw Cen MT"/>
              </a:rPr>
              <a:t> </a:t>
            </a:r>
            <a:r>
              <a:rPr sz="2400" b="0" dirty="0" err="1">
                <a:solidFill>
                  <a:srgbClr val="222222"/>
                </a:solidFill>
                <a:latin typeface="Tw Cen MT"/>
              </a:rPr>
              <a:t>actividades</a:t>
            </a:r>
            <a:r>
              <a:rPr sz="2400" b="0" dirty="0">
                <a:solidFill>
                  <a:srgbClr val="222222"/>
                </a:solidFill>
                <a:latin typeface="Tw Cen MT"/>
              </a:rPr>
              <a:t> </a:t>
            </a:r>
            <a:r>
              <a:rPr sz="2400" b="0" dirty="0" err="1">
                <a:solidFill>
                  <a:srgbClr val="222222"/>
                </a:solidFill>
                <a:latin typeface="Tw Cen MT"/>
              </a:rPr>
              <a:t>transversales</a:t>
            </a:r>
            <a:r>
              <a:rPr sz="2400" b="0" dirty="0">
                <a:solidFill>
                  <a:srgbClr val="222222"/>
                </a:solidFill>
                <a:latin typeface="Tw Cen MT"/>
              </a:rPr>
              <a:t>.</a:t>
            </a:r>
          </a:p>
          <a:p>
            <a:pPr algn="l">
              <a:spcBef>
                <a:spcPts val="400"/>
              </a:spcBef>
              <a:buNone/>
            </a:pPr>
            <a:endParaRPr lang="es-419" sz="2400" b="1" dirty="0">
              <a:solidFill>
                <a:srgbClr val="8B0000"/>
              </a:solidFill>
              <a:latin typeface="Tw Cen MT"/>
            </a:endParaRPr>
          </a:p>
          <a:p>
            <a:pPr algn="l">
              <a:spcBef>
                <a:spcPts val="400"/>
              </a:spcBef>
              <a:buNone/>
            </a:pPr>
            <a:r>
              <a:rPr sz="2400" b="1" dirty="0">
                <a:solidFill>
                  <a:srgbClr val="8B0000"/>
                </a:solidFill>
                <a:latin typeface="Tw Cen MT"/>
              </a:rPr>
              <a:t>BENEFICIOS DE LA DECISIÓN EN GRUPO</a:t>
            </a:r>
          </a:p>
          <a:p>
            <a:pPr lvl="1" algn="l">
              <a:spcBef>
                <a:spcPts val="150"/>
              </a:spcBef>
              <a:buFont typeface="Tw Cen MT"/>
              <a:buChar char="▸"/>
            </a:pPr>
            <a:r>
              <a:rPr sz="2400" b="0" dirty="0" err="1">
                <a:solidFill>
                  <a:srgbClr val="222222"/>
                </a:solidFill>
                <a:latin typeface="Tw Cen MT"/>
              </a:rPr>
              <a:t>Mejora</a:t>
            </a:r>
            <a:r>
              <a:rPr sz="2400" b="0" dirty="0">
                <a:solidFill>
                  <a:srgbClr val="222222"/>
                </a:solidFill>
                <a:latin typeface="Tw Cen MT"/>
              </a:rPr>
              <a:t> </a:t>
            </a:r>
            <a:r>
              <a:rPr sz="2400" b="0" dirty="0" err="1">
                <a:solidFill>
                  <a:srgbClr val="222222"/>
                </a:solidFill>
                <a:latin typeface="Tw Cen MT"/>
              </a:rPr>
              <a:t>el</a:t>
            </a:r>
            <a:r>
              <a:rPr sz="2400" b="0" dirty="0">
                <a:solidFill>
                  <a:srgbClr val="222222"/>
                </a:solidFill>
                <a:latin typeface="Tw Cen MT"/>
              </a:rPr>
              <a:t> </a:t>
            </a:r>
            <a:r>
              <a:rPr sz="2400" b="0" dirty="0" err="1">
                <a:solidFill>
                  <a:srgbClr val="222222"/>
                </a:solidFill>
                <a:latin typeface="Tw Cen MT"/>
              </a:rPr>
              <a:t>uso</a:t>
            </a:r>
            <a:r>
              <a:rPr sz="2400" b="0" dirty="0">
                <a:solidFill>
                  <a:srgbClr val="222222"/>
                </a:solidFill>
                <a:latin typeface="Tw Cen MT"/>
              </a:rPr>
              <a:t> del </a:t>
            </a:r>
            <a:r>
              <a:rPr sz="2400" b="0" dirty="0" err="1">
                <a:solidFill>
                  <a:srgbClr val="222222"/>
                </a:solidFill>
                <a:latin typeface="Tw Cen MT"/>
              </a:rPr>
              <a:t>conocimiento</a:t>
            </a:r>
            <a:r>
              <a:rPr sz="2400" b="0" dirty="0">
                <a:solidFill>
                  <a:srgbClr val="222222"/>
                </a:solidFill>
                <a:latin typeface="Tw Cen MT"/>
              </a:rPr>
              <a:t> </a:t>
            </a:r>
            <a:r>
              <a:rPr sz="2400" b="0" dirty="0" err="1">
                <a:solidFill>
                  <a:srgbClr val="222222"/>
                </a:solidFill>
                <a:latin typeface="Tw Cen MT"/>
              </a:rPr>
              <a:t>específico</a:t>
            </a:r>
            <a:r>
              <a:rPr sz="2400" b="0" dirty="0">
                <a:solidFill>
                  <a:srgbClr val="222222"/>
                </a:solidFill>
                <a:latin typeface="Tw Cen MT"/>
              </a:rPr>
              <a:t>.</a:t>
            </a:r>
          </a:p>
          <a:p>
            <a:pPr lvl="1" algn="l">
              <a:spcBef>
                <a:spcPts val="150"/>
              </a:spcBef>
              <a:buFont typeface="Tw Cen MT"/>
              <a:buChar char="▸"/>
            </a:pPr>
            <a:r>
              <a:rPr sz="2400" b="0" dirty="0" err="1">
                <a:solidFill>
                  <a:srgbClr val="222222"/>
                </a:solidFill>
                <a:latin typeface="Tw Cen MT"/>
              </a:rPr>
              <a:t>Compromete</a:t>
            </a:r>
            <a:r>
              <a:rPr sz="2400" b="0" dirty="0">
                <a:solidFill>
                  <a:srgbClr val="222222"/>
                </a:solidFill>
                <a:latin typeface="Tw Cen MT"/>
              </a:rPr>
              <a:t> a </a:t>
            </a:r>
            <a:r>
              <a:rPr sz="2400" b="0" dirty="0" err="1">
                <a:solidFill>
                  <a:srgbClr val="222222"/>
                </a:solidFill>
                <a:latin typeface="Tw Cen MT"/>
              </a:rPr>
              <a:t>los</a:t>
            </a:r>
            <a:r>
              <a:rPr sz="2400" b="0" dirty="0">
                <a:solidFill>
                  <a:srgbClr val="222222"/>
                </a:solidFill>
                <a:latin typeface="Tw Cen MT"/>
              </a:rPr>
              <a:t> </a:t>
            </a:r>
            <a:r>
              <a:rPr sz="2400" b="0" dirty="0" err="1">
                <a:solidFill>
                  <a:srgbClr val="222222"/>
                </a:solidFill>
                <a:latin typeface="Tw Cen MT"/>
              </a:rPr>
              <a:t>empleados</a:t>
            </a:r>
            <a:r>
              <a:rPr sz="2400" b="0" dirty="0">
                <a:solidFill>
                  <a:srgbClr val="222222"/>
                </a:solidFill>
                <a:latin typeface="Tw Cen MT"/>
              </a:rPr>
              <a:t>.</a:t>
            </a:r>
          </a:p>
          <a:p>
            <a:pPr lvl="1" algn="l">
              <a:spcBef>
                <a:spcPts val="150"/>
              </a:spcBef>
              <a:buFont typeface="Tw Cen MT"/>
              <a:buChar char="▸"/>
            </a:pPr>
            <a:r>
              <a:rPr sz="2400" b="0" dirty="0">
                <a:solidFill>
                  <a:srgbClr val="222222"/>
                </a:solidFill>
                <a:latin typeface="Tw Cen MT"/>
              </a:rPr>
              <a:t>Más </a:t>
            </a:r>
            <a:r>
              <a:rPr sz="2400" b="0" dirty="0" err="1">
                <a:solidFill>
                  <a:srgbClr val="222222"/>
                </a:solidFill>
                <a:latin typeface="Tw Cen MT"/>
              </a:rPr>
              <a:t>sinergia</a:t>
            </a:r>
            <a:r>
              <a:rPr sz="2400" b="0" dirty="0">
                <a:solidFill>
                  <a:srgbClr val="222222"/>
                </a:solidFill>
                <a:latin typeface="Tw Cen MT"/>
              </a:rPr>
              <a:t> y </a:t>
            </a:r>
            <a:r>
              <a:rPr sz="2400" b="0" dirty="0" err="1">
                <a:solidFill>
                  <a:srgbClr val="222222"/>
                </a:solidFill>
                <a:latin typeface="Tw Cen MT"/>
              </a:rPr>
              <a:t>creatividad</a:t>
            </a:r>
            <a:r>
              <a:rPr sz="2400" b="0" dirty="0">
                <a:solidFill>
                  <a:srgbClr val="222222"/>
                </a:solidFill>
                <a:latin typeface="Tw Cen MT"/>
              </a:rPr>
              <a:t>.</a:t>
            </a:r>
          </a:p>
          <a:p>
            <a:pPr algn="l">
              <a:spcBef>
                <a:spcPts val="400"/>
              </a:spcBef>
              <a:buNone/>
            </a:pPr>
            <a:endParaRPr lang="es-419" sz="2400" b="1" dirty="0">
              <a:solidFill>
                <a:srgbClr val="8B0000"/>
              </a:solidFill>
              <a:latin typeface="Tw Cen MT"/>
            </a:endParaRPr>
          </a:p>
          <a:p>
            <a:pPr algn="l">
              <a:spcBef>
                <a:spcPts val="400"/>
              </a:spcBef>
              <a:buNone/>
            </a:pPr>
            <a:r>
              <a:rPr sz="2400" b="1" dirty="0">
                <a:solidFill>
                  <a:srgbClr val="8B0000"/>
                </a:solidFill>
                <a:latin typeface="Tw Cen MT"/>
              </a:rPr>
              <a:t>COSTOS DE LA DECISIÓN EN GRUPO</a:t>
            </a:r>
          </a:p>
          <a:p>
            <a:pPr lvl="1" algn="l">
              <a:spcBef>
                <a:spcPts val="150"/>
              </a:spcBef>
              <a:buFont typeface="Tw Cen MT"/>
              <a:buChar char="▸"/>
            </a:pPr>
            <a:r>
              <a:rPr sz="2400" b="0" dirty="0" err="1">
                <a:solidFill>
                  <a:srgbClr val="222222"/>
                </a:solidFill>
                <a:latin typeface="Tw Cen MT"/>
              </a:rPr>
              <a:t>Decisiones</a:t>
            </a:r>
            <a:r>
              <a:rPr sz="2400" b="0" dirty="0">
                <a:solidFill>
                  <a:srgbClr val="222222"/>
                </a:solidFill>
                <a:latin typeface="Tw Cen MT"/>
              </a:rPr>
              <a:t> </a:t>
            </a:r>
            <a:r>
              <a:rPr sz="2400" b="0" dirty="0" err="1">
                <a:solidFill>
                  <a:srgbClr val="222222"/>
                </a:solidFill>
                <a:latin typeface="Tw Cen MT"/>
              </a:rPr>
              <a:t>más</a:t>
            </a:r>
            <a:r>
              <a:rPr sz="2400" b="0" dirty="0">
                <a:solidFill>
                  <a:srgbClr val="222222"/>
                </a:solidFill>
                <a:latin typeface="Tw Cen MT"/>
              </a:rPr>
              <a:t> </a:t>
            </a:r>
            <a:r>
              <a:rPr sz="2400" b="0" dirty="0" err="1">
                <a:solidFill>
                  <a:srgbClr val="222222"/>
                </a:solidFill>
                <a:latin typeface="Tw Cen MT"/>
              </a:rPr>
              <a:t>lentas</a:t>
            </a:r>
            <a:r>
              <a:rPr sz="2400" b="0" dirty="0">
                <a:solidFill>
                  <a:srgbClr val="222222"/>
                </a:solidFill>
                <a:latin typeface="Tw Cen MT"/>
              </a:rPr>
              <a:t>.</a:t>
            </a:r>
          </a:p>
          <a:p>
            <a:pPr lvl="1" algn="l">
              <a:spcBef>
                <a:spcPts val="150"/>
              </a:spcBef>
              <a:buFont typeface="Tw Cen MT"/>
              <a:buChar char="▸"/>
            </a:pPr>
            <a:r>
              <a:rPr sz="2400" b="0" dirty="0">
                <a:solidFill>
                  <a:srgbClr val="222222"/>
                </a:solidFill>
                <a:latin typeface="Tw Cen MT"/>
              </a:rPr>
              <a:t>Riesgo de free riding.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Pensamiento Grupal — Janis (1972)</a:t>
            </a:r>
          </a:p>
        </p:txBody>
      </p:sp>
      <p:sp>
        <p:nvSpPr>
          <p:cNvPr id="5" name="TextBox 4"/>
          <p:cNvSpPr txBox="1"/>
          <p:nvPr/>
        </p:nvSpPr>
        <p:spPr>
          <a:xfrm>
            <a:off x="304800" y="1220000"/>
            <a:ext cx="8534400" cy="5201424"/>
          </a:xfrm>
          <a:prstGeom prst="rect">
            <a:avLst/>
          </a:prstGeom>
          <a:noFill/>
        </p:spPr>
        <p:txBody>
          <a:bodyPr wrap="square">
            <a:spAutoFit/>
          </a:bodyPr>
          <a:lstStyle/>
          <a:p>
            <a:pPr algn="l">
              <a:spcBef>
                <a:spcPts val="400"/>
              </a:spcBef>
            </a:pPr>
            <a:r>
              <a:rPr lang="es-419" sz="2400" dirty="0">
                <a:solidFill>
                  <a:srgbClr val="222222"/>
                </a:solidFill>
                <a:latin typeface="Tw Cen MT"/>
              </a:rPr>
              <a:t>I</a:t>
            </a:r>
            <a:r>
              <a:rPr sz="2400" b="0" dirty="0" err="1">
                <a:solidFill>
                  <a:srgbClr val="222222"/>
                </a:solidFill>
                <a:latin typeface="Tw Cen MT"/>
              </a:rPr>
              <a:t>rving</a:t>
            </a:r>
            <a:r>
              <a:rPr sz="2400" b="0" dirty="0">
                <a:solidFill>
                  <a:srgbClr val="222222"/>
                </a:solidFill>
                <a:latin typeface="Tw Cen MT"/>
              </a:rPr>
              <a:t> Janis </a:t>
            </a:r>
            <a:r>
              <a:rPr sz="2400" b="0" dirty="0" err="1">
                <a:solidFill>
                  <a:srgbClr val="222222"/>
                </a:solidFill>
                <a:latin typeface="Tw Cen MT"/>
              </a:rPr>
              <a:t>observó</a:t>
            </a:r>
            <a:r>
              <a:rPr sz="2400" b="0" dirty="0">
                <a:solidFill>
                  <a:srgbClr val="222222"/>
                </a:solidFill>
                <a:latin typeface="Tw Cen MT"/>
              </a:rPr>
              <a:t> </a:t>
            </a:r>
            <a:r>
              <a:rPr sz="2400" b="0" dirty="0" err="1">
                <a:solidFill>
                  <a:srgbClr val="222222"/>
                </a:solidFill>
                <a:latin typeface="Tw Cen MT"/>
              </a:rPr>
              <a:t>que</a:t>
            </a:r>
            <a:r>
              <a:rPr sz="2400" b="0" dirty="0">
                <a:solidFill>
                  <a:srgbClr val="222222"/>
                </a:solidFill>
                <a:latin typeface="Tw Cen MT"/>
              </a:rPr>
              <a:t> </a:t>
            </a:r>
            <a:r>
              <a:rPr sz="2400" b="0" dirty="0" err="1">
                <a:solidFill>
                  <a:srgbClr val="222222"/>
                </a:solidFill>
                <a:latin typeface="Tw Cen MT"/>
              </a:rPr>
              <a:t>muchos</a:t>
            </a:r>
            <a:r>
              <a:rPr sz="2400" b="0" dirty="0">
                <a:solidFill>
                  <a:srgbClr val="222222"/>
                </a:solidFill>
                <a:latin typeface="Tw Cen MT"/>
              </a:rPr>
              <a:t> </a:t>
            </a:r>
            <a:r>
              <a:rPr sz="2400" b="0" dirty="0" err="1">
                <a:solidFill>
                  <a:srgbClr val="222222"/>
                </a:solidFill>
                <a:latin typeface="Tw Cen MT"/>
              </a:rPr>
              <a:t>grupos</a:t>
            </a:r>
            <a:r>
              <a:rPr sz="2400" b="0" dirty="0">
                <a:solidFill>
                  <a:srgbClr val="222222"/>
                </a:solidFill>
                <a:latin typeface="Tw Cen MT"/>
              </a:rPr>
              <a:t> </a:t>
            </a:r>
            <a:r>
              <a:rPr sz="2400" b="0" dirty="0" err="1">
                <a:solidFill>
                  <a:srgbClr val="222222"/>
                </a:solidFill>
                <a:latin typeface="Tw Cen MT"/>
              </a:rPr>
              <a:t>tomaban</a:t>
            </a:r>
            <a:r>
              <a:rPr sz="2400" b="0" dirty="0">
                <a:solidFill>
                  <a:srgbClr val="222222"/>
                </a:solidFill>
                <a:latin typeface="Tw Cen MT"/>
              </a:rPr>
              <a:t> </a:t>
            </a:r>
            <a:r>
              <a:rPr sz="2400" b="0" dirty="0" err="1">
                <a:solidFill>
                  <a:srgbClr val="222222"/>
                </a:solidFill>
                <a:latin typeface="Tw Cen MT"/>
              </a:rPr>
              <a:t>decisiones</a:t>
            </a:r>
            <a:r>
              <a:rPr sz="2400" b="0" dirty="0">
                <a:solidFill>
                  <a:srgbClr val="222222"/>
                </a:solidFill>
                <a:latin typeface="Tw Cen MT"/>
              </a:rPr>
              <a:t> </a:t>
            </a:r>
            <a:r>
              <a:rPr sz="2400" b="0" dirty="0" err="1">
                <a:solidFill>
                  <a:srgbClr val="222222"/>
                </a:solidFill>
                <a:latin typeface="Tw Cen MT"/>
              </a:rPr>
              <a:t>incorrectas</a:t>
            </a:r>
            <a:r>
              <a:rPr sz="2400" b="0" dirty="0">
                <a:solidFill>
                  <a:srgbClr val="222222"/>
                </a:solidFill>
                <a:latin typeface="Tw Cen MT"/>
              </a:rPr>
              <a:t> o </a:t>
            </a:r>
            <a:r>
              <a:rPr sz="2400" b="0" dirty="0" err="1">
                <a:solidFill>
                  <a:srgbClr val="222222"/>
                </a:solidFill>
                <a:latin typeface="Tw Cen MT"/>
              </a:rPr>
              <a:t>irracionales</a:t>
            </a:r>
            <a:r>
              <a:rPr sz="2400" b="0" dirty="0">
                <a:solidFill>
                  <a:srgbClr val="222222"/>
                </a:solidFill>
                <a:latin typeface="Tw Cen MT"/>
              </a:rPr>
              <a:t>.</a:t>
            </a:r>
          </a:p>
          <a:p>
            <a:pPr algn="l">
              <a:spcBef>
                <a:spcPts val="400"/>
              </a:spcBef>
            </a:pPr>
            <a:r>
              <a:rPr sz="2400" b="0" dirty="0">
                <a:solidFill>
                  <a:srgbClr val="222222"/>
                </a:solidFill>
                <a:latin typeface="Tw Cen MT"/>
              </a:rPr>
              <a:t>Los </a:t>
            </a:r>
            <a:r>
              <a:rPr sz="2400" b="0" dirty="0" err="1">
                <a:solidFill>
                  <a:srgbClr val="222222"/>
                </a:solidFill>
                <a:latin typeface="Tw Cen MT"/>
              </a:rPr>
              <a:t>integrantes</a:t>
            </a:r>
            <a:r>
              <a:rPr sz="2400" b="0" dirty="0">
                <a:solidFill>
                  <a:srgbClr val="222222"/>
                </a:solidFill>
                <a:latin typeface="Tw Cen MT"/>
              </a:rPr>
              <a:t> se </a:t>
            </a:r>
            <a:r>
              <a:rPr sz="2400" b="0" dirty="0" err="1">
                <a:solidFill>
                  <a:srgbClr val="222222"/>
                </a:solidFill>
                <a:latin typeface="Tw Cen MT"/>
              </a:rPr>
              <a:t>influían</a:t>
            </a:r>
            <a:r>
              <a:rPr sz="2400" b="0" dirty="0">
                <a:solidFill>
                  <a:srgbClr val="222222"/>
                </a:solidFill>
                <a:latin typeface="Tw Cen MT"/>
              </a:rPr>
              <a:t> de </a:t>
            </a:r>
            <a:r>
              <a:rPr sz="2400" b="0" dirty="0" err="1">
                <a:solidFill>
                  <a:srgbClr val="222222"/>
                </a:solidFill>
                <a:latin typeface="Tw Cen MT"/>
              </a:rPr>
              <a:t>tal</a:t>
            </a:r>
            <a:r>
              <a:rPr sz="2400" b="0" dirty="0">
                <a:solidFill>
                  <a:srgbClr val="222222"/>
                </a:solidFill>
                <a:latin typeface="Tw Cen MT"/>
              </a:rPr>
              <a:t> </a:t>
            </a:r>
            <a:r>
              <a:rPr sz="2400" b="0" dirty="0" err="1">
                <a:solidFill>
                  <a:srgbClr val="222222"/>
                </a:solidFill>
                <a:latin typeface="Tw Cen MT"/>
              </a:rPr>
              <a:t>manera</a:t>
            </a:r>
            <a:r>
              <a:rPr sz="2400" b="0" dirty="0">
                <a:solidFill>
                  <a:srgbClr val="222222"/>
                </a:solidFill>
                <a:latin typeface="Tw Cen MT"/>
              </a:rPr>
              <a:t> </a:t>
            </a:r>
            <a:r>
              <a:rPr sz="2400" b="0" dirty="0" err="1">
                <a:solidFill>
                  <a:srgbClr val="222222"/>
                </a:solidFill>
                <a:latin typeface="Tw Cen MT"/>
              </a:rPr>
              <a:t>que</a:t>
            </a:r>
            <a:r>
              <a:rPr sz="2400" b="0" dirty="0">
                <a:solidFill>
                  <a:srgbClr val="222222"/>
                </a:solidFill>
                <a:latin typeface="Tw Cen MT"/>
              </a:rPr>
              <a:t> </a:t>
            </a:r>
            <a:r>
              <a:rPr sz="2400" b="0" dirty="0" err="1">
                <a:solidFill>
                  <a:srgbClr val="222222"/>
                </a:solidFill>
                <a:latin typeface="Tw Cen MT"/>
              </a:rPr>
              <a:t>erraban</a:t>
            </a:r>
            <a:r>
              <a:rPr sz="2400" b="0" dirty="0">
                <a:solidFill>
                  <a:srgbClr val="222222"/>
                </a:solidFill>
                <a:latin typeface="Tw Cen MT"/>
              </a:rPr>
              <a:t> </a:t>
            </a:r>
            <a:r>
              <a:rPr sz="2400" b="0" dirty="0" err="1">
                <a:solidFill>
                  <a:srgbClr val="222222"/>
                </a:solidFill>
                <a:latin typeface="Tw Cen MT"/>
              </a:rPr>
              <a:t>en</a:t>
            </a:r>
            <a:r>
              <a:rPr sz="2400" b="0" dirty="0">
                <a:solidFill>
                  <a:srgbClr val="222222"/>
                </a:solidFill>
                <a:latin typeface="Tw Cen MT"/>
              </a:rPr>
              <a:t> sus </a:t>
            </a:r>
            <a:r>
              <a:rPr sz="2400" b="0" dirty="0" err="1">
                <a:solidFill>
                  <a:srgbClr val="222222"/>
                </a:solidFill>
                <a:latin typeface="Tw Cen MT"/>
              </a:rPr>
              <a:t>decisiones</a:t>
            </a:r>
            <a:r>
              <a:rPr sz="2400" b="0" dirty="0">
                <a:solidFill>
                  <a:srgbClr val="222222"/>
                </a:solidFill>
                <a:latin typeface="Tw Cen MT"/>
              </a:rPr>
              <a:t> </a:t>
            </a:r>
            <a:r>
              <a:rPr sz="2400" b="0" dirty="0" err="1">
                <a:solidFill>
                  <a:srgbClr val="222222"/>
                </a:solidFill>
                <a:latin typeface="Tw Cen MT"/>
              </a:rPr>
              <a:t>colectivas</a:t>
            </a:r>
            <a:r>
              <a:rPr sz="2400" b="0" dirty="0">
                <a:solidFill>
                  <a:srgbClr val="222222"/>
                </a:solidFill>
                <a:latin typeface="Tw Cen MT"/>
              </a:rPr>
              <a:t>.</a:t>
            </a:r>
            <a:endParaRPr lang="es-419" sz="2400" dirty="0">
              <a:solidFill>
                <a:srgbClr val="222222"/>
              </a:solidFill>
              <a:latin typeface="Tw Cen MT"/>
            </a:endParaRPr>
          </a:p>
          <a:p>
            <a:pPr algn="l">
              <a:spcBef>
                <a:spcPts val="400"/>
              </a:spcBef>
            </a:pPr>
            <a:endParaRPr sz="2400" b="0" dirty="0">
              <a:solidFill>
                <a:srgbClr val="222222"/>
              </a:solidFill>
              <a:latin typeface="Tw Cen MT"/>
            </a:endParaRPr>
          </a:p>
          <a:p>
            <a:pPr algn="l">
              <a:spcBef>
                <a:spcPts val="400"/>
              </a:spcBef>
              <a:buNone/>
            </a:pPr>
            <a:r>
              <a:rPr sz="2400" b="1" dirty="0">
                <a:solidFill>
                  <a:srgbClr val="8B0000"/>
                </a:solidFill>
                <a:latin typeface="Tw Cen MT"/>
              </a:rPr>
              <a:t>DEFINICIÓN</a:t>
            </a:r>
          </a:p>
          <a:p>
            <a:pPr algn="ctr">
              <a:spcBef>
                <a:spcPts val="400"/>
              </a:spcBef>
            </a:pPr>
            <a:r>
              <a:rPr sz="2400" b="1" dirty="0">
                <a:solidFill>
                  <a:srgbClr val="222222"/>
                </a:solidFill>
                <a:latin typeface="Tw Cen MT"/>
              </a:rPr>
              <a:t>El </a:t>
            </a:r>
            <a:r>
              <a:rPr sz="2400" b="1" dirty="0" err="1">
                <a:solidFill>
                  <a:srgbClr val="222222"/>
                </a:solidFill>
                <a:latin typeface="Tw Cen MT"/>
              </a:rPr>
              <a:t>pensamiento</a:t>
            </a:r>
            <a:r>
              <a:rPr sz="2400" b="1" dirty="0">
                <a:solidFill>
                  <a:srgbClr val="222222"/>
                </a:solidFill>
                <a:latin typeface="Tw Cen MT"/>
              </a:rPr>
              <a:t> </a:t>
            </a:r>
            <a:r>
              <a:rPr sz="2400" b="1" dirty="0" err="1">
                <a:solidFill>
                  <a:srgbClr val="222222"/>
                </a:solidFill>
                <a:latin typeface="Tw Cen MT"/>
              </a:rPr>
              <a:t>grupal</a:t>
            </a:r>
            <a:r>
              <a:rPr sz="2400" b="1" dirty="0">
                <a:solidFill>
                  <a:srgbClr val="222222"/>
                </a:solidFill>
                <a:latin typeface="Tw Cen MT"/>
              </a:rPr>
              <a:t> </a:t>
            </a:r>
            <a:r>
              <a:rPr sz="2400" b="1" dirty="0" err="1">
                <a:solidFill>
                  <a:srgbClr val="222222"/>
                </a:solidFill>
                <a:latin typeface="Tw Cen MT"/>
              </a:rPr>
              <a:t>aparece</a:t>
            </a:r>
            <a:r>
              <a:rPr sz="2400" b="1" dirty="0">
                <a:solidFill>
                  <a:srgbClr val="222222"/>
                </a:solidFill>
                <a:latin typeface="Tw Cen MT"/>
              </a:rPr>
              <a:t> </a:t>
            </a:r>
            <a:r>
              <a:rPr sz="2400" b="1" dirty="0" err="1">
                <a:solidFill>
                  <a:srgbClr val="222222"/>
                </a:solidFill>
                <a:latin typeface="Tw Cen MT"/>
              </a:rPr>
              <a:t>cuando</a:t>
            </a:r>
            <a:r>
              <a:rPr sz="2400" b="1" dirty="0">
                <a:solidFill>
                  <a:srgbClr val="222222"/>
                </a:solidFill>
                <a:latin typeface="Tw Cen MT"/>
              </a:rPr>
              <a:t>, </a:t>
            </a:r>
            <a:r>
              <a:rPr sz="2400" b="1" dirty="0" err="1">
                <a:solidFill>
                  <a:srgbClr val="222222"/>
                </a:solidFill>
                <a:latin typeface="Tw Cen MT"/>
              </a:rPr>
              <a:t>en</a:t>
            </a:r>
            <a:r>
              <a:rPr sz="2400" b="1" dirty="0">
                <a:solidFill>
                  <a:srgbClr val="222222"/>
                </a:solidFill>
                <a:latin typeface="Tw Cen MT"/>
              </a:rPr>
              <a:t> </a:t>
            </a:r>
            <a:r>
              <a:rPr sz="2400" b="1" dirty="0" err="1">
                <a:solidFill>
                  <a:srgbClr val="222222"/>
                </a:solidFill>
                <a:latin typeface="Tw Cen MT"/>
              </a:rPr>
              <a:t>el</a:t>
            </a:r>
            <a:r>
              <a:rPr sz="2400" b="1" dirty="0">
                <a:solidFill>
                  <a:srgbClr val="222222"/>
                </a:solidFill>
                <a:latin typeface="Tw Cen MT"/>
              </a:rPr>
              <a:t> </a:t>
            </a:r>
            <a:r>
              <a:rPr sz="2400" b="1" dirty="0" err="1">
                <a:solidFill>
                  <a:srgbClr val="222222"/>
                </a:solidFill>
                <a:latin typeface="Tw Cen MT"/>
              </a:rPr>
              <a:t>proceso</a:t>
            </a:r>
            <a:r>
              <a:rPr sz="2400" b="1" dirty="0">
                <a:solidFill>
                  <a:srgbClr val="222222"/>
                </a:solidFill>
                <a:latin typeface="Tw Cen MT"/>
              </a:rPr>
              <a:t> de </a:t>
            </a:r>
            <a:r>
              <a:rPr sz="2400" b="1" dirty="0" err="1">
                <a:solidFill>
                  <a:srgbClr val="222222"/>
                </a:solidFill>
                <a:latin typeface="Tw Cen MT"/>
              </a:rPr>
              <a:t>toma</a:t>
            </a:r>
            <a:r>
              <a:rPr sz="2400" b="1" dirty="0">
                <a:solidFill>
                  <a:srgbClr val="222222"/>
                </a:solidFill>
                <a:latin typeface="Tw Cen MT"/>
              </a:rPr>
              <a:t> de </a:t>
            </a:r>
            <a:r>
              <a:rPr sz="2400" b="1" dirty="0" err="1">
                <a:solidFill>
                  <a:srgbClr val="222222"/>
                </a:solidFill>
                <a:latin typeface="Tw Cen MT"/>
              </a:rPr>
              <a:t>decisiones</a:t>
            </a:r>
            <a:r>
              <a:rPr sz="2400" b="1" dirty="0">
                <a:solidFill>
                  <a:srgbClr val="222222"/>
                </a:solidFill>
                <a:latin typeface="Tw Cen MT"/>
              </a:rPr>
              <a:t>, un </a:t>
            </a:r>
            <a:r>
              <a:rPr sz="2400" b="1" dirty="0" err="1">
                <a:solidFill>
                  <a:srgbClr val="222222"/>
                </a:solidFill>
                <a:latin typeface="Tw Cen MT"/>
              </a:rPr>
              <a:t>grupo</a:t>
            </a:r>
            <a:r>
              <a:rPr sz="2400" b="1" dirty="0">
                <a:solidFill>
                  <a:srgbClr val="222222"/>
                </a:solidFill>
                <a:latin typeface="Tw Cen MT"/>
              </a:rPr>
              <a:t> </a:t>
            </a:r>
            <a:r>
              <a:rPr sz="2400" b="1" dirty="0" err="1">
                <a:solidFill>
                  <a:srgbClr val="222222"/>
                </a:solidFill>
                <a:latin typeface="Tw Cen MT"/>
              </a:rPr>
              <a:t>muy</a:t>
            </a:r>
            <a:r>
              <a:rPr sz="2400" b="1" dirty="0">
                <a:solidFill>
                  <a:srgbClr val="222222"/>
                </a:solidFill>
                <a:latin typeface="Tw Cen MT"/>
              </a:rPr>
              <a:t> </a:t>
            </a:r>
            <a:r>
              <a:rPr sz="2400" b="1" dirty="0" err="1">
                <a:solidFill>
                  <a:srgbClr val="222222"/>
                </a:solidFill>
                <a:latin typeface="Tw Cen MT"/>
              </a:rPr>
              <a:t>cohesivo</a:t>
            </a:r>
            <a:r>
              <a:rPr sz="2400" b="1" dirty="0">
                <a:solidFill>
                  <a:srgbClr val="222222"/>
                </a:solidFill>
                <a:latin typeface="Tw Cen MT"/>
              </a:rPr>
              <a:t> o de </a:t>
            </a:r>
            <a:r>
              <a:rPr sz="2400" b="1" dirty="0" err="1">
                <a:solidFill>
                  <a:srgbClr val="222222"/>
                </a:solidFill>
                <a:latin typeface="Tw Cen MT"/>
              </a:rPr>
              <a:t>mentalidad</a:t>
            </a:r>
            <a:r>
              <a:rPr sz="2400" b="1" dirty="0">
                <a:solidFill>
                  <a:srgbClr val="222222"/>
                </a:solidFill>
                <a:latin typeface="Tw Cen MT"/>
              </a:rPr>
              <a:t> </a:t>
            </a:r>
            <a:r>
              <a:rPr sz="2400" b="1" dirty="0" err="1">
                <a:solidFill>
                  <a:srgbClr val="222222"/>
                </a:solidFill>
                <a:latin typeface="Tw Cen MT"/>
              </a:rPr>
              <a:t>semejante</a:t>
            </a:r>
            <a:r>
              <a:rPr sz="2400" b="1" dirty="0">
                <a:solidFill>
                  <a:srgbClr val="222222"/>
                </a:solidFill>
                <a:latin typeface="Tw Cen MT"/>
              </a:rPr>
              <a:t> </a:t>
            </a:r>
            <a:r>
              <a:rPr sz="2400" b="1" dirty="0" err="1">
                <a:solidFill>
                  <a:srgbClr val="222222"/>
                </a:solidFill>
                <a:latin typeface="Tw Cen MT"/>
              </a:rPr>
              <a:t>está</a:t>
            </a:r>
            <a:r>
              <a:rPr sz="2400" b="1" dirty="0">
                <a:solidFill>
                  <a:srgbClr val="222222"/>
                </a:solidFill>
                <a:latin typeface="Tw Cen MT"/>
              </a:rPr>
              <a:t> tan </a:t>
            </a:r>
            <a:r>
              <a:rPr sz="2400" b="1" dirty="0" err="1">
                <a:solidFill>
                  <a:srgbClr val="222222"/>
                </a:solidFill>
                <a:latin typeface="Tw Cen MT"/>
              </a:rPr>
              <a:t>condicionado</a:t>
            </a:r>
            <a:r>
              <a:rPr sz="2400" b="1" dirty="0">
                <a:solidFill>
                  <a:srgbClr val="222222"/>
                </a:solidFill>
                <a:latin typeface="Tw Cen MT"/>
              </a:rPr>
              <a:t> </a:t>
            </a:r>
            <a:r>
              <a:rPr sz="2400" b="1" dirty="0" err="1">
                <a:solidFill>
                  <a:srgbClr val="222222"/>
                </a:solidFill>
                <a:latin typeface="Tw Cen MT"/>
              </a:rPr>
              <a:t>por</a:t>
            </a:r>
            <a:r>
              <a:rPr sz="2400" b="1" dirty="0">
                <a:solidFill>
                  <a:srgbClr val="222222"/>
                </a:solidFill>
                <a:latin typeface="Tw Cen MT"/>
              </a:rPr>
              <a:t> la </a:t>
            </a:r>
            <a:r>
              <a:rPr sz="2400" b="1" dirty="0" err="1">
                <a:solidFill>
                  <a:srgbClr val="222222"/>
                </a:solidFill>
                <a:latin typeface="Tw Cen MT"/>
              </a:rPr>
              <a:t>búsqueda</a:t>
            </a:r>
            <a:r>
              <a:rPr sz="2400" b="1" dirty="0">
                <a:solidFill>
                  <a:srgbClr val="222222"/>
                </a:solidFill>
                <a:latin typeface="Tw Cen MT"/>
              </a:rPr>
              <a:t> de </a:t>
            </a:r>
            <a:r>
              <a:rPr sz="2400" b="1" dirty="0" err="1">
                <a:solidFill>
                  <a:srgbClr val="222222"/>
                </a:solidFill>
                <a:latin typeface="Tw Cen MT"/>
              </a:rPr>
              <a:t>consenso</a:t>
            </a:r>
            <a:r>
              <a:rPr sz="2400" b="1" dirty="0">
                <a:solidFill>
                  <a:srgbClr val="222222"/>
                </a:solidFill>
                <a:latin typeface="Tw Cen MT"/>
              </a:rPr>
              <a:t> </a:t>
            </a:r>
            <a:r>
              <a:rPr sz="2400" b="1" dirty="0" err="1">
                <a:solidFill>
                  <a:srgbClr val="222222"/>
                </a:solidFill>
                <a:latin typeface="Tw Cen MT"/>
              </a:rPr>
              <a:t>que</a:t>
            </a:r>
            <a:r>
              <a:rPr sz="2400" b="1" dirty="0">
                <a:solidFill>
                  <a:srgbClr val="222222"/>
                </a:solidFill>
                <a:latin typeface="Tw Cen MT"/>
              </a:rPr>
              <a:t> se </a:t>
            </a:r>
            <a:r>
              <a:rPr sz="2400" b="1" dirty="0" err="1">
                <a:solidFill>
                  <a:srgbClr val="222222"/>
                </a:solidFill>
                <a:latin typeface="Tw Cen MT"/>
              </a:rPr>
              <a:t>deteriora</a:t>
            </a:r>
            <a:r>
              <a:rPr sz="2400" b="1" dirty="0">
                <a:solidFill>
                  <a:srgbClr val="222222"/>
                </a:solidFill>
                <a:latin typeface="Tw Cen MT"/>
              </a:rPr>
              <a:t> </a:t>
            </a:r>
            <a:r>
              <a:rPr sz="2400" b="1" dirty="0" err="1">
                <a:solidFill>
                  <a:srgbClr val="222222"/>
                </a:solidFill>
                <a:latin typeface="Tw Cen MT"/>
              </a:rPr>
              <a:t>su</a:t>
            </a:r>
            <a:r>
              <a:rPr sz="2400" b="1" dirty="0">
                <a:solidFill>
                  <a:srgbClr val="222222"/>
                </a:solidFill>
                <a:latin typeface="Tw Cen MT"/>
              </a:rPr>
              <a:t> </a:t>
            </a:r>
            <a:r>
              <a:rPr sz="2400" b="1" dirty="0" err="1">
                <a:solidFill>
                  <a:srgbClr val="222222"/>
                </a:solidFill>
                <a:latin typeface="Tw Cen MT"/>
              </a:rPr>
              <a:t>percepción</a:t>
            </a:r>
            <a:r>
              <a:rPr sz="2400" b="1" dirty="0">
                <a:solidFill>
                  <a:srgbClr val="222222"/>
                </a:solidFill>
                <a:latin typeface="Tw Cen MT"/>
              </a:rPr>
              <a:t> </a:t>
            </a:r>
            <a:r>
              <a:rPr sz="2400" b="1" dirty="0" err="1">
                <a:solidFill>
                  <a:srgbClr val="222222"/>
                </a:solidFill>
                <a:latin typeface="Tw Cen MT"/>
              </a:rPr>
              <a:t>sobre</a:t>
            </a:r>
            <a:r>
              <a:rPr sz="2400" b="1" dirty="0">
                <a:solidFill>
                  <a:srgbClr val="222222"/>
                </a:solidFill>
                <a:latin typeface="Tw Cen MT"/>
              </a:rPr>
              <a:t> la </a:t>
            </a:r>
            <a:r>
              <a:rPr sz="2400" b="1" dirty="0" err="1">
                <a:solidFill>
                  <a:srgbClr val="222222"/>
                </a:solidFill>
                <a:latin typeface="Tw Cen MT"/>
              </a:rPr>
              <a:t>realidad</a:t>
            </a:r>
            <a:r>
              <a:rPr sz="2400" b="1" dirty="0">
                <a:solidFill>
                  <a:srgbClr val="222222"/>
                </a:solidFill>
                <a:latin typeface="Tw Cen MT"/>
              </a:rPr>
              <a:t>.</a:t>
            </a:r>
          </a:p>
          <a:p>
            <a:pPr algn="l">
              <a:spcBef>
                <a:spcPts val="400"/>
              </a:spcBef>
            </a:pPr>
            <a:endParaRPr lang="es-419" sz="2400" b="0" dirty="0">
              <a:solidFill>
                <a:srgbClr val="222222"/>
              </a:solidFill>
              <a:latin typeface="Tw Cen MT"/>
            </a:endParaRPr>
          </a:p>
          <a:p>
            <a:pPr algn="l">
              <a:spcBef>
                <a:spcPts val="400"/>
              </a:spcBef>
            </a:pPr>
            <a:r>
              <a:rPr sz="2400" b="0" dirty="0">
                <a:solidFill>
                  <a:srgbClr val="222222"/>
                </a:solidFill>
                <a:latin typeface="Tw Cen MT"/>
              </a:rPr>
              <a:t>Lectura </a:t>
            </a:r>
            <a:r>
              <a:rPr sz="2400" b="0" dirty="0" err="1">
                <a:solidFill>
                  <a:srgbClr val="222222"/>
                </a:solidFill>
                <a:latin typeface="Tw Cen MT"/>
              </a:rPr>
              <a:t>complementaria</a:t>
            </a:r>
            <a:r>
              <a:rPr sz="2400" b="0" dirty="0">
                <a:solidFill>
                  <a:srgbClr val="222222"/>
                </a:solidFill>
                <a:latin typeface="Tw Cen MT"/>
              </a:rPr>
              <a:t>: PENSAMIENTO GRUPAL — Janis, Irving — Universidad de Yale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Pensamiento Grupal — Síntoma 1: Invulnerabilidad</a:t>
            </a:r>
          </a:p>
        </p:txBody>
      </p:sp>
      <p:sp>
        <p:nvSpPr>
          <p:cNvPr id="5" name="TextBox 4"/>
          <p:cNvSpPr txBox="1"/>
          <p:nvPr/>
        </p:nvSpPr>
        <p:spPr>
          <a:xfrm>
            <a:off x="304800" y="1220000"/>
            <a:ext cx="8534400" cy="2092881"/>
          </a:xfrm>
          <a:prstGeom prst="rect">
            <a:avLst/>
          </a:prstGeom>
          <a:noFill/>
        </p:spPr>
        <p:txBody>
          <a:bodyPr wrap="square">
            <a:spAutoFit/>
          </a:bodyPr>
          <a:lstStyle/>
          <a:p>
            <a:pPr algn="l">
              <a:spcBef>
                <a:spcPts val="400"/>
              </a:spcBef>
              <a:buNone/>
            </a:pPr>
            <a:r>
              <a:rPr sz="2000" b="1" dirty="0">
                <a:solidFill>
                  <a:srgbClr val="8B0000"/>
                </a:solidFill>
                <a:latin typeface="Tw Cen MT"/>
              </a:rPr>
              <a:t>1. ILUSIÓN DE INVULNERABILIDAD</a:t>
            </a:r>
          </a:p>
          <a:p>
            <a:pPr algn="l">
              <a:spcBef>
                <a:spcPts val="400"/>
              </a:spcBef>
            </a:pPr>
            <a:r>
              <a:rPr sz="2000" b="0" dirty="0" err="1">
                <a:solidFill>
                  <a:srgbClr val="222222"/>
                </a:solidFill>
                <a:latin typeface="Tw Cen MT"/>
              </a:rPr>
              <a:t>Creencia</a:t>
            </a:r>
            <a:r>
              <a:rPr sz="2000" b="0" dirty="0">
                <a:solidFill>
                  <a:srgbClr val="222222"/>
                </a:solidFill>
                <a:latin typeface="Tw Cen MT"/>
              </a:rPr>
              <a:t> </a:t>
            </a:r>
            <a:r>
              <a:rPr sz="2000" b="0" dirty="0" err="1">
                <a:solidFill>
                  <a:srgbClr val="222222"/>
                </a:solidFill>
                <a:latin typeface="Tw Cen MT"/>
              </a:rPr>
              <a:t>compartida</a:t>
            </a:r>
            <a:r>
              <a:rPr sz="2000" b="0" dirty="0">
                <a:solidFill>
                  <a:srgbClr val="222222"/>
                </a:solidFill>
                <a:latin typeface="Tw Cen MT"/>
              </a:rPr>
              <a:t> </a:t>
            </a:r>
            <a:r>
              <a:rPr sz="2000" b="0" dirty="0" err="1">
                <a:solidFill>
                  <a:srgbClr val="222222"/>
                </a:solidFill>
                <a:latin typeface="Tw Cen MT"/>
              </a:rPr>
              <a:t>por</a:t>
            </a:r>
            <a:r>
              <a:rPr sz="2000" b="0" dirty="0">
                <a:solidFill>
                  <a:srgbClr val="222222"/>
                </a:solidFill>
                <a:latin typeface="Tw Cen MT"/>
              </a:rPr>
              <a:t> </a:t>
            </a:r>
            <a:r>
              <a:rPr sz="2000" b="0" dirty="0" err="1">
                <a:solidFill>
                  <a:srgbClr val="222222"/>
                </a:solidFill>
                <a:latin typeface="Tw Cen MT"/>
              </a:rPr>
              <a:t>los</a:t>
            </a:r>
            <a:r>
              <a:rPr sz="2000" b="0" dirty="0">
                <a:solidFill>
                  <a:srgbClr val="222222"/>
                </a:solidFill>
                <a:latin typeface="Tw Cen MT"/>
              </a:rPr>
              <a:t> </a:t>
            </a:r>
            <a:r>
              <a:rPr sz="2000" b="0" dirty="0" err="1">
                <a:solidFill>
                  <a:srgbClr val="222222"/>
                </a:solidFill>
                <a:latin typeface="Tw Cen MT"/>
              </a:rPr>
              <a:t>miembros</a:t>
            </a:r>
            <a:r>
              <a:rPr sz="2000" b="0" dirty="0">
                <a:solidFill>
                  <a:srgbClr val="222222"/>
                </a:solidFill>
                <a:latin typeface="Tw Cen MT"/>
              </a:rPr>
              <a:t> del </a:t>
            </a:r>
            <a:r>
              <a:rPr sz="2000" b="0" dirty="0" err="1">
                <a:solidFill>
                  <a:srgbClr val="222222"/>
                </a:solidFill>
                <a:latin typeface="Tw Cen MT"/>
              </a:rPr>
              <a:t>grupo</a:t>
            </a:r>
            <a:r>
              <a:rPr sz="2000" b="0" dirty="0">
                <a:solidFill>
                  <a:srgbClr val="222222"/>
                </a:solidFill>
                <a:latin typeface="Tw Cen MT"/>
              </a:rPr>
              <a:t> de </a:t>
            </a:r>
            <a:r>
              <a:rPr sz="2000" b="0" dirty="0" err="1">
                <a:solidFill>
                  <a:srgbClr val="222222"/>
                </a:solidFill>
                <a:latin typeface="Tw Cen MT"/>
              </a:rPr>
              <a:t>que</a:t>
            </a:r>
            <a:r>
              <a:rPr sz="2000" b="0" dirty="0">
                <a:solidFill>
                  <a:srgbClr val="222222"/>
                </a:solidFill>
                <a:latin typeface="Tw Cen MT"/>
              </a:rPr>
              <a:t> nada </a:t>
            </a:r>
            <a:r>
              <a:rPr sz="2000" b="0" dirty="0" err="1">
                <a:solidFill>
                  <a:srgbClr val="222222"/>
                </a:solidFill>
                <a:latin typeface="Tw Cen MT"/>
              </a:rPr>
              <a:t>malo</a:t>
            </a:r>
            <a:r>
              <a:rPr sz="2000" b="0" dirty="0">
                <a:solidFill>
                  <a:srgbClr val="222222"/>
                </a:solidFill>
                <a:latin typeface="Tw Cen MT"/>
              </a:rPr>
              <a:t> </a:t>
            </a:r>
            <a:r>
              <a:rPr sz="2000" b="0" dirty="0" err="1">
                <a:solidFill>
                  <a:srgbClr val="222222"/>
                </a:solidFill>
                <a:latin typeface="Tw Cen MT"/>
              </a:rPr>
              <a:t>va</a:t>
            </a:r>
            <a:r>
              <a:rPr sz="2000" b="0" dirty="0">
                <a:solidFill>
                  <a:srgbClr val="222222"/>
                </a:solidFill>
                <a:latin typeface="Tw Cen MT"/>
              </a:rPr>
              <a:t> a </a:t>
            </a:r>
            <a:r>
              <a:rPr sz="2000" b="0" dirty="0" err="1">
                <a:solidFill>
                  <a:srgbClr val="222222"/>
                </a:solidFill>
                <a:latin typeface="Tw Cen MT"/>
              </a:rPr>
              <a:t>sucederles</a:t>
            </a:r>
            <a:r>
              <a:rPr sz="2000" b="0" dirty="0">
                <a:solidFill>
                  <a:srgbClr val="222222"/>
                </a:solidFill>
                <a:latin typeface="Tw Cen MT"/>
              </a:rPr>
              <a:t> </a:t>
            </a:r>
            <a:r>
              <a:rPr sz="2000" b="0" dirty="0" err="1">
                <a:solidFill>
                  <a:srgbClr val="222222"/>
                </a:solidFill>
                <a:latin typeface="Tw Cen MT"/>
              </a:rPr>
              <a:t>mientras</a:t>
            </a:r>
            <a:r>
              <a:rPr sz="2000" b="0" dirty="0">
                <a:solidFill>
                  <a:srgbClr val="222222"/>
                </a:solidFill>
                <a:latin typeface="Tw Cen MT"/>
              </a:rPr>
              <a:t> se </a:t>
            </a:r>
            <a:r>
              <a:rPr sz="2000" b="0" dirty="0" err="1">
                <a:solidFill>
                  <a:srgbClr val="222222"/>
                </a:solidFill>
                <a:latin typeface="Tw Cen MT"/>
              </a:rPr>
              <a:t>mantengan</a:t>
            </a:r>
            <a:r>
              <a:rPr sz="2000" b="0" dirty="0">
                <a:solidFill>
                  <a:srgbClr val="222222"/>
                </a:solidFill>
                <a:latin typeface="Tw Cen MT"/>
              </a:rPr>
              <a:t> </a:t>
            </a:r>
            <a:r>
              <a:rPr sz="2000" b="0" dirty="0" err="1">
                <a:solidFill>
                  <a:srgbClr val="222222"/>
                </a:solidFill>
                <a:latin typeface="Tw Cen MT"/>
              </a:rPr>
              <a:t>unidos</a:t>
            </a:r>
            <a:r>
              <a:rPr sz="2000" b="0" dirty="0">
                <a:solidFill>
                  <a:srgbClr val="222222"/>
                </a:solidFill>
                <a:latin typeface="Tw Cen MT"/>
              </a:rPr>
              <a:t>.</a:t>
            </a:r>
          </a:p>
          <a:p>
            <a:pPr algn="l">
              <a:spcBef>
                <a:spcPts val="400"/>
              </a:spcBef>
            </a:pPr>
            <a:r>
              <a:rPr sz="2000" b="0" dirty="0">
                <a:solidFill>
                  <a:srgbClr val="222222"/>
                </a:solidFill>
                <a:latin typeface="Tw Cen MT"/>
              </a:rPr>
              <a:t>Se </a:t>
            </a:r>
            <a:r>
              <a:rPr sz="2000" b="0" dirty="0" err="1">
                <a:solidFill>
                  <a:srgbClr val="222222"/>
                </a:solidFill>
                <a:latin typeface="Tw Cen MT"/>
              </a:rPr>
              <a:t>cree</a:t>
            </a:r>
            <a:r>
              <a:rPr sz="2000" b="0" dirty="0">
                <a:solidFill>
                  <a:srgbClr val="222222"/>
                </a:solidFill>
                <a:latin typeface="Tw Cen MT"/>
              </a:rPr>
              <a:t> </a:t>
            </a:r>
            <a:r>
              <a:rPr sz="2000" b="0" dirty="0" err="1">
                <a:solidFill>
                  <a:srgbClr val="222222"/>
                </a:solidFill>
                <a:latin typeface="Tw Cen MT"/>
              </a:rPr>
              <a:t>que</a:t>
            </a:r>
            <a:r>
              <a:rPr sz="2000" b="0" dirty="0">
                <a:solidFill>
                  <a:srgbClr val="222222"/>
                </a:solidFill>
                <a:latin typeface="Tw Cen MT"/>
              </a:rPr>
              <a:t> </a:t>
            </a:r>
            <a:r>
              <a:rPr sz="2000" b="0" dirty="0" err="1">
                <a:solidFill>
                  <a:srgbClr val="222222"/>
                </a:solidFill>
                <a:latin typeface="Tw Cen MT"/>
              </a:rPr>
              <a:t>el</a:t>
            </a:r>
            <a:r>
              <a:rPr sz="2000" b="0" dirty="0">
                <a:solidFill>
                  <a:srgbClr val="222222"/>
                </a:solidFill>
                <a:latin typeface="Tw Cen MT"/>
              </a:rPr>
              <a:t> </a:t>
            </a:r>
            <a:r>
              <a:rPr sz="2000" b="0" dirty="0" err="1">
                <a:solidFill>
                  <a:srgbClr val="222222"/>
                </a:solidFill>
                <a:latin typeface="Tw Cen MT"/>
              </a:rPr>
              <a:t>grupo</a:t>
            </a:r>
            <a:r>
              <a:rPr sz="2000" b="0" dirty="0">
                <a:solidFill>
                  <a:srgbClr val="222222"/>
                </a:solidFill>
                <a:latin typeface="Tw Cen MT"/>
              </a:rPr>
              <a:t> no </a:t>
            </a:r>
            <a:r>
              <a:rPr sz="2000" b="0" dirty="0" err="1">
                <a:solidFill>
                  <a:srgbClr val="222222"/>
                </a:solidFill>
                <a:latin typeface="Tw Cen MT"/>
              </a:rPr>
              <a:t>fracasará</a:t>
            </a:r>
            <a:r>
              <a:rPr sz="2000" b="0" dirty="0">
                <a:solidFill>
                  <a:srgbClr val="222222"/>
                </a:solidFill>
                <a:latin typeface="Tw Cen MT"/>
              </a:rPr>
              <a:t> </a:t>
            </a:r>
            <a:r>
              <a:rPr sz="2000" b="0" dirty="0" err="1">
                <a:solidFill>
                  <a:srgbClr val="222222"/>
                </a:solidFill>
                <a:latin typeface="Tw Cen MT"/>
              </a:rPr>
              <a:t>si</a:t>
            </a:r>
            <a:r>
              <a:rPr sz="2000" b="0" dirty="0">
                <a:solidFill>
                  <a:srgbClr val="222222"/>
                </a:solidFill>
                <a:latin typeface="Tw Cen MT"/>
              </a:rPr>
              <a:t> </a:t>
            </a:r>
            <a:r>
              <a:rPr sz="2000" b="0" dirty="0" err="1">
                <a:solidFill>
                  <a:srgbClr val="222222"/>
                </a:solidFill>
                <a:latin typeface="Tw Cen MT"/>
              </a:rPr>
              <a:t>actúa</a:t>
            </a:r>
            <a:r>
              <a:rPr sz="2000" b="0" dirty="0">
                <a:solidFill>
                  <a:srgbClr val="222222"/>
                </a:solidFill>
                <a:latin typeface="Tw Cen MT"/>
              </a:rPr>
              <a:t> de forma </a:t>
            </a:r>
            <a:r>
              <a:rPr sz="2000" b="0" dirty="0" err="1">
                <a:solidFill>
                  <a:srgbClr val="222222"/>
                </a:solidFill>
                <a:latin typeface="Tw Cen MT"/>
              </a:rPr>
              <a:t>conjunta</a:t>
            </a:r>
            <a:r>
              <a:rPr sz="2000" b="0" dirty="0">
                <a:solidFill>
                  <a:srgbClr val="222222"/>
                </a:solidFill>
                <a:latin typeface="Tw Cen MT"/>
              </a:rPr>
              <a:t>.</a:t>
            </a:r>
          </a:p>
          <a:p>
            <a:pPr algn="ctr">
              <a:spcBef>
                <a:spcPts val="400"/>
              </a:spcBef>
            </a:pPr>
            <a:r>
              <a:rPr sz="2000" b="1" dirty="0">
                <a:solidFill>
                  <a:srgbClr val="222222"/>
                </a:solidFill>
                <a:latin typeface="Tw Cen MT"/>
              </a:rPr>
              <a:t>Esta </a:t>
            </a:r>
            <a:r>
              <a:rPr sz="2000" b="1" dirty="0" err="1">
                <a:solidFill>
                  <a:srgbClr val="222222"/>
                </a:solidFill>
                <a:latin typeface="Tw Cen MT"/>
              </a:rPr>
              <a:t>ilusión</a:t>
            </a:r>
            <a:r>
              <a:rPr sz="2000" b="1" dirty="0">
                <a:solidFill>
                  <a:srgbClr val="222222"/>
                </a:solidFill>
                <a:latin typeface="Tw Cen MT"/>
              </a:rPr>
              <a:t> </a:t>
            </a:r>
            <a:r>
              <a:rPr sz="2000" b="1" dirty="0" err="1">
                <a:solidFill>
                  <a:srgbClr val="222222"/>
                </a:solidFill>
                <a:latin typeface="Tw Cen MT"/>
              </a:rPr>
              <a:t>lleva</a:t>
            </a:r>
            <a:r>
              <a:rPr sz="2000" b="1" dirty="0">
                <a:solidFill>
                  <a:srgbClr val="222222"/>
                </a:solidFill>
                <a:latin typeface="Tw Cen MT"/>
              </a:rPr>
              <a:t> al </a:t>
            </a:r>
            <a:r>
              <a:rPr sz="2000" b="1" dirty="0" err="1">
                <a:solidFill>
                  <a:srgbClr val="222222"/>
                </a:solidFill>
                <a:latin typeface="Tw Cen MT"/>
              </a:rPr>
              <a:t>grupo</a:t>
            </a:r>
            <a:r>
              <a:rPr sz="2000" b="1" dirty="0">
                <a:solidFill>
                  <a:srgbClr val="222222"/>
                </a:solidFill>
                <a:latin typeface="Tw Cen MT"/>
              </a:rPr>
              <a:t> a </a:t>
            </a:r>
            <a:r>
              <a:rPr sz="2000" b="1" dirty="0" err="1">
                <a:solidFill>
                  <a:srgbClr val="222222"/>
                </a:solidFill>
                <a:latin typeface="Tw Cen MT"/>
              </a:rPr>
              <a:t>ignorar</a:t>
            </a:r>
            <a:r>
              <a:rPr sz="2000" b="1" dirty="0">
                <a:solidFill>
                  <a:srgbClr val="222222"/>
                </a:solidFill>
                <a:latin typeface="Tw Cen MT"/>
              </a:rPr>
              <a:t> </a:t>
            </a:r>
            <a:r>
              <a:rPr sz="2000" b="1" dirty="0" err="1">
                <a:solidFill>
                  <a:srgbClr val="222222"/>
                </a:solidFill>
                <a:latin typeface="Tw Cen MT"/>
              </a:rPr>
              <a:t>señales</a:t>
            </a:r>
            <a:r>
              <a:rPr sz="2000" b="1" dirty="0">
                <a:solidFill>
                  <a:srgbClr val="222222"/>
                </a:solidFill>
                <a:latin typeface="Tw Cen MT"/>
              </a:rPr>
              <a:t> de </a:t>
            </a:r>
            <a:r>
              <a:rPr sz="2000" b="1" dirty="0" err="1">
                <a:solidFill>
                  <a:srgbClr val="222222"/>
                </a:solidFill>
                <a:latin typeface="Tw Cen MT"/>
              </a:rPr>
              <a:t>alerta</a:t>
            </a:r>
            <a:r>
              <a:rPr sz="2000" b="1" dirty="0">
                <a:solidFill>
                  <a:srgbClr val="222222"/>
                </a:solidFill>
                <a:latin typeface="Tw Cen MT"/>
              </a:rPr>
              <a:t> y a </a:t>
            </a:r>
            <a:r>
              <a:rPr sz="2000" b="1" dirty="0" err="1">
                <a:solidFill>
                  <a:srgbClr val="222222"/>
                </a:solidFill>
                <a:latin typeface="Tw Cen MT"/>
              </a:rPr>
              <a:t>asumir</a:t>
            </a:r>
            <a:r>
              <a:rPr sz="2000" b="1" dirty="0">
                <a:solidFill>
                  <a:srgbClr val="222222"/>
                </a:solidFill>
                <a:latin typeface="Tw Cen MT"/>
              </a:rPr>
              <a:t> </a:t>
            </a:r>
            <a:r>
              <a:rPr sz="2000" b="1" dirty="0" err="1">
                <a:solidFill>
                  <a:srgbClr val="222222"/>
                </a:solidFill>
                <a:latin typeface="Tw Cen MT"/>
              </a:rPr>
              <a:t>riesgos</a:t>
            </a:r>
            <a:r>
              <a:rPr sz="2000" b="1" dirty="0">
                <a:solidFill>
                  <a:srgbClr val="222222"/>
                </a:solidFill>
                <a:latin typeface="Tw Cen MT"/>
              </a:rPr>
              <a:t> </a:t>
            </a:r>
            <a:r>
              <a:rPr sz="2000" b="1" dirty="0" err="1">
                <a:solidFill>
                  <a:srgbClr val="222222"/>
                </a:solidFill>
                <a:latin typeface="Tw Cen MT"/>
              </a:rPr>
              <a:t>excesivos</a:t>
            </a:r>
            <a:r>
              <a:rPr sz="2000" b="1" dirty="0">
                <a:solidFill>
                  <a:srgbClr val="222222"/>
                </a:solidFill>
                <a:latin typeface="Tw Cen MT"/>
              </a:rPr>
              <a:t> </a:t>
            </a:r>
            <a:r>
              <a:rPr sz="2000" b="1" dirty="0" err="1">
                <a:solidFill>
                  <a:srgbClr val="222222"/>
                </a:solidFill>
                <a:latin typeface="Tw Cen MT"/>
              </a:rPr>
              <a:t>que</a:t>
            </a:r>
            <a:r>
              <a:rPr sz="2000" b="1" dirty="0">
                <a:solidFill>
                  <a:srgbClr val="222222"/>
                </a:solidFill>
                <a:latin typeface="Tw Cen MT"/>
              </a:rPr>
              <a:t> </a:t>
            </a:r>
            <a:r>
              <a:rPr sz="2000" b="1" dirty="0" err="1">
                <a:solidFill>
                  <a:srgbClr val="222222"/>
                </a:solidFill>
                <a:latin typeface="Tw Cen MT"/>
              </a:rPr>
              <a:t>individualmente</a:t>
            </a:r>
            <a:r>
              <a:rPr sz="2000" b="1" dirty="0">
                <a:solidFill>
                  <a:srgbClr val="222222"/>
                </a:solidFill>
                <a:latin typeface="Tw Cen MT"/>
              </a:rPr>
              <a:t> </a:t>
            </a:r>
            <a:r>
              <a:rPr sz="2000" b="1" dirty="0" err="1">
                <a:solidFill>
                  <a:srgbClr val="222222"/>
                </a:solidFill>
                <a:latin typeface="Tw Cen MT"/>
              </a:rPr>
              <a:t>nunca</a:t>
            </a:r>
            <a:r>
              <a:rPr sz="2000" b="1" dirty="0">
                <a:solidFill>
                  <a:srgbClr val="222222"/>
                </a:solidFill>
                <a:latin typeface="Tw Cen MT"/>
              </a:rPr>
              <a:t> </a:t>
            </a:r>
            <a:r>
              <a:rPr sz="2000" b="1" dirty="0" err="1">
                <a:solidFill>
                  <a:srgbClr val="222222"/>
                </a:solidFill>
                <a:latin typeface="Tw Cen MT"/>
              </a:rPr>
              <a:t>tomarían</a:t>
            </a:r>
            <a:r>
              <a:rPr sz="2000" b="1" dirty="0">
                <a:solidFill>
                  <a:srgbClr val="222222"/>
                </a:solidFill>
                <a:latin typeface="Tw Cen MT"/>
              </a:rPr>
              <a:t>.</a:t>
            </a:r>
          </a:p>
        </p:txBody>
      </p:sp>
      <p:sp>
        <p:nvSpPr>
          <p:cNvPr id="6" name="TextBox 4"/>
          <p:cNvSpPr txBox="1"/>
          <p:nvPr/>
        </p:nvSpPr>
        <p:spPr>
          <a:xfrm>
            <a:off x="215153" y="3491239"/>
            <a:ext cx="8534400" cy="3272691"/>
          </a:xfrm>
          <a:prstGeom prst="rect">
            <a:avLst/>
          </a:prstGeom>
          <a:noFill/>
        </p:spPr>
        <p:txBody>
          <a:bodyPr wrap="square">
            <a:spAutoFit/>
          </a:bodyPr>
          <a:lstStyle/>
          <a:p>
            <a:pPr algn="l">
              <a:spcBef>
                <a:spcPts val="400"/>
              </a:spcBef>
            </a:pPr>
            <a:r>
              <a:rPr sz="2000" b="1" dirty="0">
                <a:solidFill>
                  <a:srgbClr val="222222"/>
                </a:solidFill>
                <a:latin typeface="Tw Cen MT"/>
              </a:rPr>
              <a:t>2</a:t>
            </a:r>
            <a:r>
              <a:rPr sz="2000" b="1" dirty="0">
                <a:solidFill>
                  <a:srgbClr val="8B0000"/>
                </a:solidFill>
                <a:latin typeface="Tw Cen MT"/>
              </a:rPr>
              <a:t>. PRESIÓN DE UNIFORMIDAD: </a:t>
            </a:r>
            <a:r>
              <a:rPr sz="2000" b="1" dirty="0" err="1">
                <a:solidFill>
                  <a:srgbClr val="222222"/>
                </a:solidFill>
                <a:latin typeface="Tw Cen MT"/>
              </a:rPr>
              <a:t>presión</a:t>
            </a:r>
            <a:r>
              <a:rPr sz="2000" b="1" dirty="0">
                <a:solidFill>
                  <a:srgbClr val="222222"/>
                </a:solidFill>
                <a:latin typeface="Tw Cen MT"/>
              </a:rPr>
              <a:t> a "ser </a:t>
            </a:r>
            <a:r>
              <a:rPr sz="2000" b="1" dirty="0" err="1">
                <a:solidFill>
                  <a:srgbClr val="222222"/>
                </a:solidFill>
                <a:latin typeface="Tw Cen MT"/>
              </a:rPr>
              <a:t>todos</a:t>
            </a:r>
            <a:r>
              <a:rPr sz="2000" b="1" dirty="0">
                <a:solidFill>
                  <a:srgbClr val="222222"/>
                </a:solidFill>
                <a:latin typeface="Tw Cen MT"/>
              </a:rPr>
              <a:t> </a:t>
            </a:r>
            <a:r>
              <a:rPr sz="2000" b="1" dirty="0" err="1">
                <a:solidFill>
                  <a:srgbClr val="222222"/>
                </a:solidFill>
                <a:latin typeface="Tw Cen MT"/>
              </a:rPr>
              <a:t>iguales</a:t>
            </a:r>
            <a:r>
              <a:rPr sz="2000" b="1" dirty="0">
                <a:solidFill>
                  <a:srgbClr val="222222"/>
                </a:solidFill>
                <a:latin typeface="Tw Cen MT"/>
              </a:rPr>
              <a:t>". Genera cuatro </a:t>
            </a:r>
            <a:r>
              <a:rPr sz="2000" b="1" dirty="0" err="1">
                <a:solidFill>
                  <a:srgbClr val="222222"/>
                </a:solidFill>
                <a:latin typeface="Tw Cen MT"/>
              </a:rPr>
              <a:t>síntomas</a:t>
            </a:r>
            <a:r>
              <a:rPr sz="2000" b="1" dirty="0">
                <a:solidFill>
                  <a:srgbClr val="222222"/>
                </a:solidFill>
                <a:latin typeface="Tw Cen MT"/>
              </a:rPr>
              <a:t> </a:t>
            </a:r>
            <a:r>
              <a:rPr sz="2000" b="1" dirty="0" err="1">
                <a:solidFill>
                  <a:srgbClr val="222222"/>
                </a:solidFill>
                <a:latin typeface="Tw Cen MT"/>
              </a:rPr>
              <a:t>adicionales</a:t>
            </a:r>
            <a:r>
              <a:rPr sz="2000" b="1" dirty="0">
                <a:solidFill>
                  <a:srgbClr val="222222"/>
                </a:solidFill>
                <a:latin typeface="Tw Cen MT"/>
              </a:rPr>
              <a:t>:</a:t>
            </a:r>
          </a:p>
          <a:p>
            <a:pPr lvl="1" algn="l">
              <a:spcBef>
                <a:spcPts val="150"/>
              </a:spcBef>
              <a:buFont typeface="Tw Cen MT"/>
              <a:buChar char="▸"/>
            </a:pPr>
            <a:r>
              <a:rPr sz="2000" b="0" dirty="0">
                <a:solidFill>
                  <a:srgbClr val="222222"/>
                </a:solidFill>
                <a:latin typeface="Tw Cen MT"/>
              </a:rPr>
              <a:t>2.1. </a:t>
            </a:r>
            <a:r>
              <a:rPr sz="2000" b="0" dirty="0" err="1">
                <a:solidFill>
                  <a:srgbClr val="222222"/>
                </a:solidFill>
                <a:latin typeface="Tw Cen MT"/>
              </a:rPr>
              <a:t>Presión</a:t>
            </a:r>
            <a:r>
              <a:rPr sz="2000" b="0" dirty="0">
                <a:solidFill>
                  <a:srgbClr val="222222"/>
                </a:solidFill>
                <a:latin typeface="Tw Cen MT"/>
              </a:rPr>
              <a:t> </a:t>
            </a:r>
            <a:r>
              <a:rPr sz="2000" b="0" dirty="0" err="1">
                <a:solidFill>
                  <a:srgbClr val="222222"/>
                </a:solidFill>
                <a:latin typeface="Tw Cen MT"/>
              </a:rPr>
              <a:t>sobre</a:t>
            </a:r>
            <a:r>
              <a:rPr sz="2000" b="0" dirty="0">
                <a:solidFill>
                  <a:srgbClr val="222222"/>
                </a:solidFill>
                <a:latin typeface="Tw Cen MT"/>
              </a:rPr>
              <a:t> </a:t>
            </a:r>
            <a:r>
              <a:rPr sz="2000" b="0" dirty="0" err="1">
                <a:solidFill>
                  <a:srgbClr val="222222"/>
                </a:solidFill>
                <a:latin typeface="Tw Cen MT"/>
              </a:rPr>
              <a:t>los</a:t>
            </a:r>
            <a:r>
              <a:rPr sz="2000" b="0" dirty="0">
                <a:solidFill>
                  <a:srgbClr val="222222"/>
                </a:solidFill>
                <a:latin typeface="Tw Cen MT"/>
              </a:rPr>
              <a:t> </a:t>
            </a:r>
            <a:r>
              <a:rPr sz="2000" b="0" dirty="0" err="1">
                <a:solidFill>
                  <a:srgbClr val="222222"/>
                </a:solidFill>
                <a:latin typeface="Tw Cen MT"/>
              </a:rPr>
              <a:t>disidentes</a:t>
            </a:r>
            <a:r>
              <a:rPr sz="2000" b="0" dirty="0">
                <a:solidFill>
                  <a:srgbClr val="222222"/>
                </a:solidFill>
                <a:latin typeface="Tw Cen MT"/>
              </a:rPr>
              <a:t>: </a:t>
            </a:r>
            <a:r>
              <a:rPr sz="2000" b="0" dirty="0" err="1">
                <a:solidFill>
                  <a:srgbClr val="222222"/>
                </a:solidFill>
                <a:latin typeface="Tw Cen MT"/>
              </a:rPr>
              <a:t>quienes</a:t>
            </a:r>
            <a:r>
              <a:rPr sz="2000" b="0" dirty="0">
                <a:solidFill>
                  <a:srgbClr val="222222"/>
                </a:solidFill>
                <a:latin typeface="Tw Cen MT"/>
              </a:rPr>
              <a:t> no </a:t>
            </a:r>
            <a:r>
              <a:rPr sz="2000" b="0" dirty="0" err="1">
                <a:solidFill>
                  <a:srgbClr val="222222"/>
                </a:solidFill>
                <a:latin typeface="Tw Cen MT"/>
              </a:rPr>
              <a:t>están</a:t>
            </a:r>
            <a:r>
              <a:rPr sz="2000" b="0" dirty="0">
                <a:solidFill>
                  <a:srgbClr val="222222"/>
                </a:solidFill>
                <a:latin typeface="Tw Cen MT"/>
              </a:rPr>
              <a:t> de </a:t>
            </a:r>
            <a:r>
              <a:rPr sz="2000" b="0" dirty="0" err="1">
                <a:solidFill>
                  <a:srgbClr val="222222"/>
                </a:solidFill>
                <a:latin typeface="Tw Cen MT"/>
              </a:rPr>
              <a:t>acuerdo</a:t>
            </a:r>
            <a:r>
              <a:rPr sz="2000" b="0" dirty="0">
                <a:solidFill>
                  <a:srgbClr val="222222"/>
                </a:solidFill>
                <a:latin typeface="Tw Cen MT"/>
              </a:rPr>
              <a:t> son </a:t>
            </a:r>
            <a:r>
              <a:rPr sz="2000" b="0" dirty="0" err="1">
                <a:solidFill>
                  <a:srgbClr val="222222"/>
                </a:solidFill>
                <a:latin typeface="Tw Cen MT"/>
              </a:rPr>
              <a:t>presionados</a:t>
            </a:r>
            <a:r>
              <a:rPr sz="2000" b="0" dirty="0">
                <a:solidFill>
                  <a:srgbClr val="222222"/>
                </a:solidFill>
                <a:latin typeface="Tw Cen MT"/>
              </a:rPr>
              <a:t> para </a:t>
            </a:r>
            <a:r>
              <a:rPr sz="2000" b="0" dirty="0" err="1">
                <a:solidFill>
                  <a:srgbClr val="222222"/>
                </a:solidFill>
                <a:latin typeface="Tw Cen MT"/>
              </a:rPr>
              <a:t>conformarse</a:t>
            </a:r>
            <a:r>
              <a:rPr sz="2000" b="0" dirty="0">
                <a:solidFill>
                  <a:srgbClr val="222222"/>
                </a:solidFill>
                <a:latin typeface="Tw Cen MT"/>
              </a:rPr>
              <a:t>.</a:t>
            </a:r>
          </a:p>
          <a:p>
            <a:pPr lvl="1" algn="l">
              <a:spcBef>
                <a:spcPts val="150"/>
              </a:spcBef>
              <a:buFont typeface="Tw Cen MT"/>
              <a:buChar char="▸"/>
            </a:pPr>
            <a:r>
              <a:rPr sz="2000" b="0" dirty="0">
                <a:solidFill>
                  <a:srgbClr val="222222"/>
                </a:solidFill>
                <a:latin typeface="Tw Cen MT"/>
              </a:rPr>
              <a:t>2.2. </a:t>
            </a:r>
            <a:r>
              <a:rPr sz="2000" b="0" dirty="0" err="1">
                <a:solidFill>
                  <a:srgbClr val="222222"/>
                </a:solidFill>
                <a:latin typeface="Tw Cen MT"/>
              </a:rPr>
              <a:t>Autocensura</a:t>
            </a:r>
            <a:r>
              <a:rPr sz="2000" b="0" dirty="0">
                <a:solidFill>
                  <a:srgbClr val="222222"/>
                </a:solidFill>
                <a:latin typeface="Tw Cen MT"/>
              </a:rPr>
              <a:t>: </a:t>
            </a:r>
            <a:r>
              <a:rPr sz="2000" b="0" dirty="0" err="1">
                <a:solidFill>
                  <a:srgbClr val="222222"/>
                </a:solidFill>
                <a:latin typeface="Tw Cen MT"/>
              </a:rPr>
              <a:t>los</a:t>
            </a:r>
            <a:r>
              <a:rPr sz="2000" b="0" dirty="0">
                <a:solidFill>
                  <a:srgbClr val="222222"/>
                </a:solidFill>
                <a:latin typeface="Tw Cen MT"/>
              </a:rPr>
              <a:t> </a:t>
            </a:r>
            <a:r>
              <a:rPr sz="2000" b="0" dirty="0" err="1">
                <a:solidFill>
                  <a:srgbClr val="222222"/>
                </a:solidFill>
                <a:latin typeface="Tw Cen MT"/>
              </a:rPr>
              <a:t>miembros</a:t>
            </a:r>
            <a:r>
              <a:rPr sz="2000" b="0" dirty="0">
                <a:solidFill>
                  <a:srgbClr val="222222"/>
                </a:solidFill>
                <a:latin typeface="Tw Cen MT"/>
              </a:rPr>
              <a:t> </a:t>
            </a:r>
            <a:r>
              <a:rPr sz="2000" b="0" dirty="0" err="1">
                <a:solidFill>
                  <a:srgbClr val="222222"/>
                </a:solidFill>
                <a:latin typeface="Tw Cen MT"/>
              </a:rPr>
              <a:t>evitan</a:t>
            </a:r>
            <a:r>
              <a:rPr sz="2000" b="0" dirty="0">
                <a:solidFill>
                  <a:srgbClr val="222222"/>
                </a:solidFill>
                <a:latin typeface="Tw Cen MT"/>
              </a:rPr>
              <a:t> </a:t>
            </a:r>
            <a:r>
              <a:rPr sz="2000" b="0" dirty="0" err="1">
                <a:solidFill>
                  <a:srgbClr val="222222"/>
                </a:solidFill>
                <a:latin typeface="Tw Cen MT"/>
              </a:rPr>
              <a:t>expresar</a:t>
            </a:r>
            <a:r>
              <a:rPr sz="2000" b="0" dirty="0">
                <a:solidFill>
                  <a:srgbClr val="222222"/>
                </a:solidFill>
                <a:latin typeface="Tw Cen MT"/>
              </a:rPr>
              <a:t> </a:t>
            </a:r>
            <a:r>
              <a:rPr sz="2000" b="0" dirty="0" err="1">
                <a:solidFill>
                  <a:srgbClr val="222222"/>
                </a:solidFill>
                <a:latin typeface="Tw Cen MT"/>
              </a:rPr>
              <a:t>dudas</a:t>
            </a:r>
            <a:r>
              <a:rPr sz="2000" b="0" dirty="0">
                <a:solidFill>
                  <a:srgbClr val="222222"/>
                </a:solidFill>
                <a:latin typeface="Tw Cen MT"/>
              </a:rPr>
              <a:t> o </a:t>
            </a:r>
            <a:r>
              <a:rPr sz="2000" b="0" dirty="0" err="1">
                <a:solidFill>
                  <a:srgbClr val="222222"/>
                </a:solidFill>
                <a:latin typeface="Tw Cen MT"/>
              </a:rPr>
              <a:t>posiciones</a:t>
            </a:r>
            <a:r>
              <a:rPr sz="2000" b="0" dirty="0">
                <a:solidFill>
                  <a:srgbClr val="222222"/>
                </a:solidFill>
                <a:latin typeface="Tw Cen MT"/>
              </a:rPr>
              <a:t> </a:t>
            </a:r>
            <a:r>
              <a:rPr sz="2000" b="0" dirty="0" err="1">
                <a:solidFill>
                  <a:srgbClr val="222222"/>
                </a:solidFill>
                <a:latin typeface="Tw Cen MT"/>
              </a:rPr>
              <a:t>contrarias</a:t>
            </a:r>
            <a:r>
              <a:rPr sz="2000" b="0" dirty="0">
                <a:solidFill>
                  <a:srgbClr val="222222"/>
                </a:solidFill>
                <a:latin typeface="Tw Cen MT"/>
              </a:rPr>
              <a:t> al </a:t>
            </a:r>
            <a:r>
              <a:rPr sz="2000" b="0" dirty="0" err="1">
                <a:solidFill>
                  <a:srgbClr val="222222"/>
                </a:solidFill>
                <a:latin typeface="Tw Cen MT"/>
              </a:rPr>
              <a:t>grupo</a:t>
            </a:r>
            <a:r>
              <a:rPr sz="2000" b="0" dirty="0">
                <a:solidFill>
                  <a:srgbClr val="222222"/>
                </a:solidFill>
                <a:latin typeface="Tw Cen MT"/>
              </a:rPr>
              <a:t>.</a:t>
            </a:r>
          </a:p>
          <a:p>
            <a:pPr lvl="1" algn="l">
              <a:spcBef>
                <a:spcPts val="150"/>
              </a:spcBef>
              <a:buFont typeface="Tw Cen MT"/>
              <a:buChar char="▸"/>
            </a:pPr>
            <a:r>
              <a:rPr sz="2000" b="0" dirty="0">
                <a:solidFill>
                  <a:srgbClr val="222222"/>
                </a:solidFill>
                <a:latin typeface="Tw Cen MT"/>
              </a:rPr>
              <a:t>2.3. </a:t>
            </a:r>
            <a:r>
              <a:rPr sz="2000" b="0" dirty="0" err="1">
                <a:solidFill>
                  <a:srgbClr val="222222"/>
                </a:solidFill>
                <a:latin typeface="Tw Cen MT"/>
              </a:rPr>
              <a:t>Ilusión</a:t>
            </a:r>
            <a:r>
              <a:rPr sz="2000" b="0" dirty="0">
                <a:solidFill>
                  <a:srgbClr val="222222"/>
                </a:solidFill>
                <a:latin typeface="Tw Cen MT"/>
              </a:rPr>
              <a:t> de </a:t>
            </a:r>
            <a:r>
              <a:rPr sz="2000" b="0" dirty="0" err="1">
                <a:solidFill>
                  <a:srgbClr val="222222"/>
                </a:solidFill>
                <a:latin typeface="Tw Cen MT"/>
              </a:rPr>
              <a:t>unanimidad</a:t>
            </a:r>
            <a:r>
              <a:rPr sz="2000" b="0" dirty="0">
                <a:solidFill>
                  <a:srgbClr val="222222"/>
                </a:solidFill>
                <a:latin typeface="Tw Cen MT"/>
              </a:rPr>
              <a:t>: se </a:t>
            </a:r>
            <a:r>
              <a:rPr sz="2000" b="0" dirty="0" err="1">
                <a:solidFill>
                  <a:srgbClr val="222222"/>
                </a:solidFill>
                <a:latin typeface="Tw Cen MT"/>
              </a:rPr>
              <a:t>sobreestima</a:t>
            </a:r>
            <a:r>
              <a:rPr sz="2000" b="0" dirty="0">
                <a:solidFill>
                  <a:srgbClr val="222222"/>
                </a:solidFill>
                <a:latin typeface="Tw Cen MT"/>
              </a:rPr>
              <a:t> </a:t>
            </a:r>
            <a:r>
              <a:rPr sz="2000" b="0" dirty="0" err="1">
                <a:solidFill>
                  <a:srgbClr val="222222"/>
                </a:solidFill>
                <a:latin typeface="Tw Cen MT"/>
              </a:rPr>
              <a:t>el</a:t>
            </a:r>
            <a:r>
              <a:rPr sz="2000" b="0" dirty="0">
                <a:solidFill>
                  <a:srgbClr val="222222"/>
                </a:solidFill>
                <a:latin typeface="Tw Cen MT"/>
              </a:rPr>
              <a:t> </a:t>
            </a:r>
            <a:r>
              <a:rPr sz="2000" b="0" dirty="0" err="1">
                <a:solidFill>
                  <a:srgbClr val="222222"/>
                </a:solidFill>
                <a:latin typeface="Tw Cen MT"/>
              </a:rPr>
              <a:t>grado</a:t>
            </a:r>
            <a:r>
              <a:rPr sz="2000" b="0" dirty="0">
                <a:solidFill>
                  <a:srgbClr val="222222"/>
                </a:solidFill>
                <a:latin typeface="Tw Cen MT"/>
              </a:rPr>
              <a:t> de </a:t>
            </a:r>
            <a:r>
              <a:rPr sz="2000" b="0" dirty="0" err="1">
                <a:solidFill>
                  <a:srgbClr val="222222"/>
                </a:solidFill>
                <a:latin typeface="Tw Cen MT"/>
              </a:rPr>
              <a:t>acuerdo</a:t>
            </a:r>
            <a:r>
              <a:rPr sz="2000" b="0" dirty="0">
                <a:solidFill>
                  <a:srgbClr val="222222"/>
                </a:solidFill>
                <a:latin typeface="Tw Cen MT"/>
              </a:rPr>
              <a:t> </a:t>
            </a:r>
            <a:r>
              <a:rPr sz="2000" b="0" dirty="0" err="1">
                <a:solidFill>
                  <a:srgbClr val="222222"/>
                </a:solidFill>
                <a:latin typeface="Tw Cen MT"/>
              </a:rPr>
              <a:t>que</a:t>
            </a:r>
            <a:r>
              <a:rPr sz="2000" b="0" dirty="0">
                <a:solidFill>
                  <a:srgbClr val="222222"/>
                </a:solidFill>
                <a:latin typeface="Tw Cen MT"/>
              </a:rPr>
              <a:t> </a:t>
            </a:r>
            <a:r>
              <a:rPr sz="2000" b="0" dirty="0" err="1">
                <a:solidFill>
                  <a:srgbClr val="222222"/>
                </a:solidFill>
                <a:latin typeface="Tw Cen MT"/>
              </a:rPr>
              <a:t>existe</a:t>
            </a:r>
            <a:r>
              <a:rPr sz="2000" b="0" dirty="0">
                <a:solidFill>
                  <a:srgbClr val="222222"/>
                </a:solidFill>
                <a:latin typeface="Tw Cen MT"/>
              </a:rPr>
              <a:t> entre </a:t>
            </a:r>
            <a:r>
              <a:rPr sz="2000" b="0" dirty="0" err="1">
                <a:solidFill>
                  <a:srgbClr val="222222"/>
                </a:solidFill>
                <a:latin typeface="Tw Cen MT"/>
              </a:rPr>
              <a:t>los</a:t>
            </a:r>
            <a:r>
              <a:rPr sz="2000" b="0" dirty="0">
                <a:solidFill>
                  <a:srgbClr val="222222"/>
                </a:solidFill>
                <a:latin typeface="Tw Cen MT"/>
              </a:rPr>
              <a:t> </a:t>
            </a:r>
            <a:r>
              <a:rPr sz="2000" b="0" dirty="0" err="1">
                <a:solidFill>
                  <a:srgbClr val="222222"/>
                </a:solidFill>
                <a:latin typeface="Tw Cen MT"/>
              </a:rPr>
              <a:t>miembros</a:t>
            </a:r>
            <a:r>
              <a:rPr sz="2000" b="0" dirty="0">
                <a:solidFill>
                  <a:srgbClr val="222222"/>
                </a:solidFill>
                <a:latin typeface="Tw Cen MT"/>
              </a:rPr>
              <a:t>.</a:t>
            </a:r>
          </a:p>
          <a:p>
            <a:pPr lvl="1" algn="l">
              <a:spcBef>
                <a:spcPts val="150"/>
              </a:spcBef>
              <a:buFont typeface="Tw Cen MT"/>
              <a:buChar char="▸"/>
            </a:pPr>
            <a:r>
              <a:rPr sz="2000" b="0" dirty="0">
                <a:solidFill>
                  <a:srgbClr val="222222"/>
                </a:solidFill>
                <a:latin typeface="Tw Cen MT"/>
              </a:rPr>
              <a:t>2.4. </a:t>
            </a:r>
            <a:r>
              <a:rPr sz="2000" b="0" dirty="0" err="1">
                <a:solidFill>
                  <a:srgbClr val="222222"/>
                </a:solidFill>
                <a:latin typeface="Tw Cen MT"/>
              </a:rPr>
              <a:t>Aparición</a:t>
            </a:r>
            <a:r>
              <a:rPr sz="2000" b="0" dirty="0">
                <a:solidFill>
                  <a:srgbClr val="222222"/>
                </a:solidFill>
                <a:latin typeface="Tw Cen MT"/>
              </a:rPr>
              <a:t> de </a:t>
            </a:r>
            <a:r>
              <a:rPr sz="2000" b="0" dirty="0" err="1">
                <a:solidFill>
                  <a:srgbClr val="222222"/>
                </a:solidFill>
                <a:latin typeface="Tw Cen MT"/>
              </a:rPr>
              <a:t>guardianes</a:t>
            </a:r>
            <a:r>
              <a:rPr sz="2000" b="0" dirty="0">
                <a:solidFill>
                  <a:srgbClr val="222222"/>
                </a:solidFill>
                <a:latin typeface="Tw Cen MT"/>
              </a:rPr>
              <a:t> de la </a:t>
            </a:r>
            <a:r>
              <a:rPr sz="2000" b="0" dirty="0" err="1">
                <a:solidFill>
                  <a:srgbClr val="222222"/>
                </a:solidFill>
                <a:latin typeface="Tw Cen MT"/>
              </a:rPr>
              <a:t>mente</a:t>
            </a:r>
            <a:r>
              <a:rPr sz="2000" b="0" dirty="0">
                <a:solidFill>
                  <a:srgbClr val="222222"/>
                </a:solidFill>
                <a:latin typeface="Tw Cen MT"/>
              </a:rPr>
              <a:t>: </a:t>
            </a:r>
            <a:r>
              <a:rPr sz="2000" b="0" dirty="0" err="1">
                <a:solidFill>
                  <a:srgbClr val="222222"/>
                </a:solidFill>
                <a:latin typeface="Tw Cen MT"/>
              </a:rPr>
              <a:t>miembros</a:t>
            </a:r>
            <a:r>
              <a:rPr sz="2000" b="0" dirty="0">
                <a:solidFill>
                  <a:srgbClr val="222222"/>
                </a:solidFill>
                <a:latin typeface="Tw Cen MT"/>
              </a:rPr>
              <a:t> </a:t>
            </a:r>
            <a:r>
              <a:rPr sz="2000" b="0" dirty="0" err="1">
                <a:solidFill>
                  <a:srgbClr val="222222"/>
                </a:solidFill>
                <a:latin typeface="Tw Cen MT"/>
              </a:rPr>
              <a:t>que</a:t>
            </a:r>
            <a:r>
              <a:rPr sz="2000" b="0" dirty="0">
                <a:solidFill>
                  <a:srgbClr val="222222"/>
                </a:solidFill>
                <a:latin typeface="Tw Cen MT"/>
              </a:rPr>
              <a:t> </a:t>
            </a:r>
            <a:r>
              <a:rPr sz="2000" b="0" dirty="0" err="1">
                <a:solidFill>
                  <a:srgbClr val="222222"/>
                </a:solidFill>
                <a:latin typeface="Tw Cen MT"/>
              </a:rPr>
              <a:t>intentan</a:t>
            </a:r>
            <a:r>
              <a:rPr sz="2000" b="0" dirty="0">
                <a:solidFill>
                  <a:srgbClr val="222222"/>
                </a:solidFill>
                <a:latin typeface="Tw Cen MT"/>
              </a:rPr>
              <a:t> </a:t>
            </a:r>
            <a:r>
              <a:rPr sz="2000" b="0" dirty="0" err="1">
                <a:solidFill>
                  <a:srgbClr val="222222"/>
                </a:solidFill>
                <a:latin typeface="Tw Cen MT"/>
              </a:rPr>
              <a:t>mantener</a:t>
            </a:r>
            <a:r>
              <a:rPr sz="2000" b="0" dirty="0">
                <a:solidFill>
                  <a:srgbClr val="222222"/>
                </a:solidFill>
                <a:latin typeface="Tw Cen MT"/>
              </a:rPr>
              <a:t> la </a:t>
            </a:r>
            <a:r>
              <a:rPr sz="2000" b="0" dirty="0" err="1">
                <a:solidFill>
                  <a:srgbClr val="222222"/>
                </a:solidFill>
                <a:latin typeface="Tw Cen MT"/>
              </a:rPr>
              <a:t>ortodoxia</a:t>
            </a:r>
            <a:r>
              <a:rPr sz="2000" b="0" dirty="0">
                <a:solidFill>
                  <a:srgbClr val="222222"/>
                </a:solidFill>
                <a:latin typeface="Tw Cen MT"/>
              </a:rPr>
              <a:t> </a:t>
            </a:r>
            <a:r>
              <a:rPr sz="2000" b="0" dirty="0" err="1">
                <a:solidFill>
                  <a:srgbClr val="222222"/>
                </a:solidFill>
                <a:latin typeface="Tw Cen MT"/>
              </a:rPr>
              <a:t>grupal</a:t>
            </a:r>
            <a:r>
              <a:rPr sz="2000" b="0" dirty="0">
                <a:solidFill>
                  <a:srgbClr val="222222"/>
                </a:solidFill>
                <a:latin typeface="Tw Cen MT"/>
              </a:rPr>
              <a:t> y </a:t>
            </a:r>
            <a:r>
              <a:rPr sz="2000" b="0" dirty="0" err="1">
                <a:solidFill>
                  <a:srgbClr val="222222"/>
                </a:solidFill>
                <a:latin typeface="Tw Cen MT"/>
              </a:rPr>
              <a:t>denuncian</a:t>
            </a:r>
            <a:r>
              <a:rPr sz="2000" b="0" dirty="0">
                <a:solidFill>
                  <a:srgbClr val="222222"/>
                </a:solidFill>
                <a:latin typeface="Tw Cen MT"/>
              </a:rPr>
              <a:t> </a:t>
            </a:r>
            <a:r>
              <a:rPr sz="2000" b="0" dirty="0" err="1">
                <a:solidFill>
                  <a:srgbClr val="222222"/>
                </a:solidFill>
                <a:latin typeface="Tw Cen MT"/>
              </a:rPr>
              <a:t>posibles</a:t>
            </a:r>
            <a:r>
              <a:rPr sz="2000" b="0" dirty="0">
                <a:solidFill>
                  <a:srgbClr val="222222"/>
                </a:solidFill>
                <a:latin typeface="Tw Cen MT"/>
              </a:rPr>
              <a:t> </a:t>
            </a:r>
            <a:r>
              <a:rPr sz="2000" b="0" dirty="0" err="1">
                <a:solidFill>
                  <a:srgbClr val="222222"/>
                </a:solidFill>
                <a:latin typeface="Tw Cen MT"/>
              </a:rPr>
              <a:t>desviaciones</a:t>
            </a:r>
            <a:r>
              <a:rPr sz="2000" b="0" dirty="0">
                <a:solidFill>
                  <a:srgbClr val="222222"/>
                </a:solidFill>
                <a:latin typeface="Tw Cen MT"/>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Pensamiento Grupal — Síntomas 3, 4 y 5</a:t>
            </a:r>
          </a:p>
        </p:txBody>
      </p:sp>
      <p:sp>
        <p:nvSpPr>
          <p:cNvPr id="5" name="TextBox 4"/>
          <p:cNvSpPr txBox="1"/>
          <p:nvPr/>
        </p:nvSpPr>
        <p:spPr>
          <a:xfrm>
            <a:off x="304800" y="1220000"/>
            <a:ext cx="8534400" cy="3836948"/>
          </a:xfrm>
          <a:prstGeom prst="rect">
            <a:avLst/>
          </a:prstGeom>
          <a:noFill/>
        </p:spPr>
        <p:txBody>
          <a:bodyPr wrap="square">
            <a:spAutoFit/>
          </a:bodyPr>
          <a:lstStyle/>
          <a:p>
            <a:pPr algn="l">
              <a:spcBef>
                <a:spcPts val="400"/>
              </a:spcBef>
              <a:buNone/>
            </a:pPr>
            <a:r>
              <a:rPr sz="2000" b="1" dirty="0">
                <a:solidFill>
                  <a:srgbClr val="8B0000"/>
                </a:solidFill>
                <a:latin typeface="Tw Cen MT"/>
              </a:rPr>
              <a:t>3. RACIONALIZACIÓN</a:t>
            </a:r>
          </a:p>
          <a:p>
            <a:pPr algn="l">
              <a:spcBef>
                <a:spcPts val="400"/>
              </a:spcBef>
            </a:pPr>
            <a:r>
              <a:rPr sz="2000" b="0" dirty="0" err="1">
                <a:solidFill>
                  <a:srgbClr val="222222"/>
                </a:solidFill>
                <a:latin typeface="Tw Cen MT"/>
              </a:rPr>
              <a:t>Justificaciones</a:t>
            </a:r>
            <a:r>
              <a:rPr sz="2000" b="0" dirty="0">
                <a:solidFill>
                  <a:srgbClr val="222222"/>
                </a:solidFill>
                <a:latin typeface="Tw Cen MT"/>
              </a:rPr>
              <a:t> a posteriori (</a:t>
            </a:r>
            <a:r>
              <a:rPr sz="2000" b="0" dirty="0" err="1">
                <a:solidFill>
                  <a:srgbClr val="222222"/>
                </a:solidFill>
                <a:latin typeface="Tw Cen MT"/>
              </a:rPr>
              <a:t>cuando</a:t>
            </a:r>
            <a:r>
              <a:rPr sz="2000" b="0" dirty="0">
                <a:solidFill>
                  <a:srgbClr val="222222"/>
                </a:solidFill>
                <a:latin typeface="Tw Cen MT"/>
              </a:rPr>
              <a:t> </a:t>
            </a:r>
            <a:r>
              <a:rPr sz="2000" b="0" dirty="0" err="1">
                <a:solidFill>
                  <a:srgbClr val="222222"/>
                </a:solidFill>
                <a:latin typeface="Tw Cen MT"/>
              </a:rPr>
              <a:t>ya</a:t>
            </a:r>
            <a:r>
              <a:rPr sz="2000" b="0" dirty="0">
                <a:solidFill>
                  <a:srgbClr val="222222"/>
                </a:solidFill>
                <a:latin typeface="Tw Cen MT"/>
              </a:rPr>
              <a:t> se ha </a:t>
            </a:r>
            <a:r>
              <a:rPr sz="2000" b="0" dirty="0" err="1">
                <a:solidFill>
                  <a:srgbClr val="222222"/>
                </a:solidFill>
                <a:latin typeface="Tw Cen MT"/>
              </a:rPr>
              <a:t>decidido</a:t>
            </a:r>
            <a:r>
              <a:rPr sz="2000" b="0" dirty="0">
                <a:solidFill>
                  <a:srgbClr val="222222"/>
                </a:solidFill>
                <a:latin typeface="Tw Cen MT"/>
              </a:rPr>
              <a:t>) </a:t>
            </a:r>
            <a:r>
              <a:rPr sz="2000" b="0" dirty="0" err="1">
                <a:solidFill>
                  <a:srgbClr val="222222"/>
                </a:solidFill>
                <a:latin typeface="Tw Cen MT"/>
              </a:rPr>
              <a:t>en</a:t>
            </a:r>
            <a:r>
              <a:rPr sz="2000" b="0" dirty="0">
                <a:solidFill>
                  <a:srgbClr val="222222"/>
                </a:solidFill>
                <a:latin typeface="Tw Cen MT"/>
              </a:rPr>
              <a:t> </a:t>
            </a:r>
            <a:r>
              <a:rPr sz="2000" b="0" dirty="0" err="1">
                <a:solidFill>
                  <a:srgbClr val="222222"/>
                </a:solidFill>
                <a:latin typeface="Tw Cen MT"/>
              </a:rPr>
              <a:t>lugar</a:t>
            </a:r>
            <a:r>
              <a:rPr sz="2000" b="0" dirty="0">
                <a:solidFill>
                  <a:srgbClr val="222222"/>
                </a:solidFill>
                <a:latin typeface="Tw Cen MT"/>
              </a:rPr>
              <a:t> de un </a:t>
            </a:r>
            <a:r>
              <a:rPr sz="2000" b="0" dirty="0" err="1">
                <a:solidFill>
                  <a:srgbClr val="222222"/>
                </a:solidFill>
                <a:latin typeface="Tw Cen MT"/>
              </a:rPr>
              <a:t>análisis</a:t>
            </a:r>
            <a:r>
              <a:rPr sz="2000" b="0" dirty="0">
                <a:solidFill>
                  <a:srgbClr val="222222"/>
                </a:solidFill>
                <a:latin typeface="Tw Cen MT"/>
              </a:rPr>
              <a:t> </a:t>
            </a:r>
            <a:r>
              <a:rPr sz="2000" b="0" dirty="0" err="1">
                <a:solidFill>
                  <a:srgbClr val="222222"/>
                </a:solidFill>
                <a:latin typeface="Tw Cen MT"/>
              </a:rPr>
              <a:t>previo</a:t>
            </a:r>
            <a:r>
              <a:rPr sz="2000" b="0" dirty="0">
                <a:solidFill>
                  <a:srgbClr val="222222"/>
                </a:solidFill>
                <a:latin typeface="Tw Cen MT"/>
              </a:rPr>
              <a:t>, </a:t>
            </a:r>
            <a:r>
              <a:rPr sz="2000" b="0" dirty="0" err="1">
                <a:solidFill>
                  <a:srgbClr val="222222"/>
                </a:solidFill>
                <a:latin typeface="Tw Cen MT"/>
              </a:rPr>
              <a:t>detenido</a:t>
            </a:r>
            <a:r>
              <a:rPr sz="2000" b="0" dirty="0">
                <a:solidFill>
                  <a:srgbClr val="222222"/>
                </a:solidFill>
                <a:latin typeface="Tw Cen MT"/>
              </a:rPr>
              <a:t> y </a:t>
            </a:r>
            <a:r>
              <a:rPr sz="2000" b="0" dirty="0" err="1">
                <a:solidFill>
                  <a:srgbClr val="222222"/>
                </a:solidFill>
                <a:latin typeface="Tw Cen MT"/>
              </a:rPr>
              <a:t>cuidadoso</a:t>
            </a:r>
            <a:r>
              <a:rPr sz="2000" b="0" dirty="0">
                <a:solidFill>
                  <a:srgbClr val="222222"/>
                </a:solidFill>
                <a:latin typeface="Tw Cen MT"/>
              </a:rPr>
              <a:t>.</a:t>
            </a:r>
            <a:endParaRPr lang="es-419" sz="2000" dirty="0">
              <a:solidFill>
                <a:srgbClr val="222222"/>
              </a:solidFill>
              <a:latin typeface="Tw Cen MT"/>
            </a:endParaRPr>
          </a:p>
          <a:p>
            <a:pPr algn="l">
              <a:spcBef>
                <a:spcPts val="400"/>
              </a:spcBef>
            </a:pPr>
            <a:endParaRPr sz="2000" b="0" dirty="0">
              <a:solidFill>
                <a:srgbClr val="222222"/>
              </a:solidFill>
              <a:latin typeface="Tw Cen MT"/>
            </a:endParaRPr>
          </a:p>
          <a:p>
            <a:pPr algn="l">
              <a:spcBef>
                <a:spcPts val="400"/>
              </a:spcBef>
              <a:buNone/>
            </a:pPr>
            <a:r>
              <a:rPr sz="2000" b="1" dirty="0">
                <a:solidFill>
                  <a:srgbClr val="8B0000"/>
                </a:solidFill>
                <a:latin typeface="Tw Cen MT"/>
              </a:rPr>
              <a:t>4. CREENCIA EN LA MORALIDAD INHERENTE DEL GRUPO</a:t>
            </a:r>
          </a:p>
          <a:p>
            <a:pPr algn="l">
              <a:spcBef>
                <a:spcPts val="400"/>
              </a:spcBef>
            </a:pPr>
            <a:r>
              <a:rPr sz="2000" b="0" dirty="0">
                <a:solidFill>
                  <a:srgbClr val="222222"/>
                </a:solidFill>
                <a:latin typeface="Tw Cen MT"/>
              </a:rPr>
              <a:t>Los </a:t>
            </a:r>
            <a:r>
              <a:rPr sz="2000" b="0" dirty="0" err="1">
                <a:solidFill>
                  <a:srgbClr val="222222"/>
                </a:solidFill>
                <a:latin typeface="Tw Cen MT"/>
              </a:rPr>
              <a:t>miembros</a:t>
            </a:r>
            <a:r>
              <a:rPr sz="2000" b="0" dirty="0">
                <a:solidFill>
                  <a:srgbClr val="222222"/>
                </a:solidFill>
                <a:latin typeface="Tw Cen MT"/>
              </a:rPr>
              <a:t> </a:t>
            </a:r>
            <a:r>
              <a:rPr sz="2000" b="0" dirty="0" err="1">
                <a:solidFill>
                  <a:srgbClr val="222222"/>
                </a:solidFill>
                <a:latin typeface="Tw Cen MT"/>
              </a:rPr>
              <a:t>perciben</a:t>
            </a:r>
            <a:r>
              <a:rPr sz="2000" b="0" dirty="0">
                <a:solidFill>
                  <a:srgbClr val="222222"/>
                </a:solidFill>
                <a:latin typeface="Tw Cen MT"/>
              </a:rPr>
              <a:t> de forma </a:t>
            </a:r>
            <a:r>
              <a:rPr sz="2000" b="0" dirty="0" err="1">
                <a:solidFill>
                  <a:srgbClr val="222222"/>
                </a:solidFill>
                <a:latin typeface="Tw Cen MT"/>
              </a:rPr>
              <a:t>exagerada</a:t>
            </a:r>
            <a:r>
              <a:rPr sz="2000" b="0" dirty="0">
                <a:solidFill>
                  <a:srgbClr val="222222"/>
                </a:solidFill>
                <a:latin typeface="Tw Cen MT"/>
              </a:rPr>
              <a:t> </a:t>
            </a:r>
            <a:r>
              <a:rPr sz="2000" b="0" dirty="0" err="1">
                <a:solidFill>
                  <a:srgbClr val="222222"/>
                </a:solidFill>
                <a:latin typeface="Tw Cen MT"/>
              </a:rPr>
              <a:t>que</a:t>
            </a:r>
            <a:r>
              <a:rPr sz="2000" b="0" dirty="0">
                <a:solidFill>
                  <a:srgbClr val="222222"/>
                </a:solidFill>
                <a:latin typeface="Tw Cen MT"/>
              </a:rPr>
              <a:t> sus </a:t>
            </a:r>
            <a:r>
              <a:rPr sz="2000" b="0" dirty="0" err="1">
                <a:solidFill>
                  <a:srgbClr val="222222"/>
                </a:solidFill>
                <a:latin typeface="Tw Cen MT"/>
              </a:rPr>
              <a:t>planteamientos</a:t>
            </a:r>
            <a:r>
              <a:rPr sz="2000" b="0" dirty="0">
                <a:solidFill>
                  <a:srgbClr val="222222"/>
                </a:solidFill>
                <a:latin typeface="Tw Cen MT"/>
              </a:rPr>
              <a:t> </a:t>
            </a:r>
            <a:r>
              <a:rPr sz="2000" b="0" dirty="0" err="1">
                <a:solidFill>
                  <a:srgbClr val="222222"/>
                </a:solidFill>
                <a:latin typeface="Tw Cen MT"/>
              </a:rPr>
              <a:t>como</a:t>
            </a:r>
            <a:r>
              <a:rPr sz="2000" b="0" dirty="0">
                <a:solidFill>
                  <a:srgbClr val="222222"/>
                </a:solidFill>
                <a:latin typeface="Tw Cen MT"/>
              </a:rPr>
              <a:t> </a:t>
            </a:r>
            <a:r>
              <a:rPr sz="2000" b="0" dirty="0" err="1">
                <a:solidFill>
                  <a:srgbClr val="222222"/>
                </a:solidFill>
                <a:latin typeface="Tw Cen MT"/>
              </a:rPr>
              <a:t>grupo</a:t>
            </a:r>
            <a:r>
              <a:rPr sz="2000" b="0" dirty="0">
                <a:solidFill>
                  <a:srgbClr val="222222"/>
                </a:solidFill>
                <a:latin typeface="Tw Cen MT"/>
              </a:rPr>
              <a:t> son morales y rectos.</a:t>
            </a:r>
            <a:endParaRPr lang="es-419" sz="2000" b="0" dirty="0">
              <a:solidFill>
                <a:srgbClr val="222222"/>
              </a:solidFill>
              <a:latin typeface="Tw Cen MT"/>
            </a:endParaRPr>
          </a:p>
          <a:p>
            <a:pPr algn="l">
              <a:spcBef>
                <a:spcPts val="400"/>
              </a:spcBef>
            </a:pPr>
            <a:endParaRPr sz="2000" b="0" dirty="0">
              <a:solidFill>
                <a:srgbClr val="222222"/>
              </a:solidFill>
              <a:latin typeface="Tw Cen MT"/>
            </a:endParaRPr>
          </a:p>
          <a:p>
            <a:pPr algn="l">
              <a:spcBef>
                <a:spcPts val="400"/>
              </a:spcBef>
              <a:buNone/>
            </a:pPr>
            <a:r>
              <a:rPr sz="2000" b="1" dirty="0">
                <a:solidFill>
                  <a:srgbClr val="8B0000"/>
                </a:solidFill>
                <a:latin typeface="Tw Cen MT"/>
              </a:rPr>
              <a:t>5. ESTEREOTIPACIÓN DE LOS EXOGRUPOS</a:t>
            </a:r>
          </a:p>
          <a:p>
            <a:pPr algn="l">
              <a:spcBef>
                <a:spcPts val="400"/>
              </a:spcBef>
            </a:pPr>
            <a:r>
              <a:rPr sz="2000" b="0" dirty="0">
                <a:solidFill>
                  <a:srgbClr val="222222"/>
                </a:solidFill>
                <a:latin typeface="Tw Cen MT"/>
              </a:rPr>
              <a:t>Se </a:t>
            </a:r>
            <a:r>
              <a:rPr sz="2000" b="0" dirty="0" err="1">
                <a:solidFill>
                  <a:srgbClr val="222222"/>
                </a:solidFill>
                <a:latin typeface="Tw Cen MT"/>
              </a:rPr>
              <a:t>tiene</a:t>
            </a:r>
            <a:r>
              <a:rPr sz="2000" b="0" dirty="0">
                <a:solidFill>
                  <a:srgbClr val="222222"/>
                </a:solidFill>
                <a:latin typeface="Tw Cen MT"/>
              </a:rPr>
              <a:t> </a:t>
            </a:r>
            <a:r>
              <a:rPr sz="2000" b="0" dirty="0" err="1">
                <a:solidFill>
                  <a:srgbClr val="222222"/>
                </a:solidFill>
                <a:latin typeface="Tw Cen MT"/>
              </a:rPr>
              <a:t>una</a:t>
            </a:r>
            <a:r>
              <a:rPr sz="2000" b="0" dirty="0">
                <a:solidFill>
                  <a:srgbClr val="222222"/>
                </a:solidFill>
                <a:latin typeface="Tw Cen MT"/>
              </a:rPr>
              <a:t> imagen </a:t>
            </a:r>
            <a:r>
              <a:rPr sz="2000" b="0" dirty="0" err="1">
                <a:solidFill>
                  <a:srgbClr val="222222"/>
                </a:solidFill>
                <a:latin typeface="Tw Cen MT"/>
              </a:rPr>
              <a:t>homogénea</a:t>
            </a:r>
            <a:r>
              <a:rPr sz="2000" b="0" dirty="0">
                <a:solidFill>
                  <a:srgbClr val="222222"/>
                </a:solidFill>
                <a:latin typeface="Tw Cen MT"/>
              </a:rPr>
              <a:t>, </a:t>
            </a:r>
            <a:r>
              <a:rPr sz="2000" b="0" dirty="0" err="1">
                <a:solidFill>
                  <a:srgbClr val="222222"/>
                </a:solidFill>
                <a:latin typeface="Tw Cen MT"/>
              </a:rPr>
              <a:t>uniforme</a:t>
            </a:r>
            <a:r>
              <a:rPr sz="2000" b="0" dirty="0">
                <a:solidFill>
                  <a:srgbClr val="222222"/>
                </a:solidFill>
                <a:latin typeface="Tw Cen MT"/>
              </a:rPr>
              <a:t> y </a:t>
            </a:r>
            <a:r>
              <a:rPr sz="2000" b="0" dirty="0" err="1">
                <a:solidFill>
                  <a:srgbClr val="222222"/>
                </a:solidFill>
                <a:latin typeface="Tw Cen MT"/>
              </a:rPr>
              <a:t>generalmente</a:t>
            </a:r>
            <a:r>
              <a:rPr sz="2000" b="0" dirty="0">
                <a:solidFill>
                  <a:srgbClr val="222222"/>
                </a:solidFill>
                <a:latin typeface="Tw Cen MT"/>
              </a:rPr>
              <a:t> </a:t>
            </a:r>
            <a:r>
              <a:rPr sz="2000" b="0" dirty="0" err="1">
                <a:solidFill>
                  <a:srgbClr val="222222"/>
                </a:solidFill>
                <a:latin typeface="Tw Cen MT"/>
              </a:rPr>
              <a:t>peyorativa</a:t>
            </a:r>
            <a:r>
              <a:rPr sz="2000" b="0" dirty="0">
                <a:solidFill>
                  <a:srgbClr val="222222"/>
                </a:solidFill>
                <a:latin typeface="Tw Cen MT"/>
              </a:rPr>
              <a:t> de </a:t>
            </a:r>
            <a:r>
              <a:rPr sz="2000" b="0" dirty="0" err="1">
                <a:solidFill>
                  <a:srgbClr val="222222"/>
                </a:solidFill>
                <a:latin typeface="Tw Cen MT"/>
              </a:rPr>
              <a:t>los</a:t>
            </a:r>
            <a:r>
              <a:rPr sz="2000" b="0" dirty="0">
                <a:solidFill>
                  <a:srgbClr val="222222"/>
                </a:solidFill>
                <a:latin typeface="Tw Cen MT"/>
              </a:rPr>
              <a:t> </a:t>
            </a:r>
            <a:r>
              <a:rPr sz="2000" b="0" dirty="0" err="1">
                <a:solidFill>
                  <a:srgbClr val="222222"/>
                </a:solidFill>
                <a:latin typeface="Tw Cen MT"/>
              </a:rPr>
              <a:t>miembros</a:t>
            </a:r>
            <a:r>
              <a:rPr sz="2000" b="0" dirty="0">
                <a:solidFill>
                  <a:srgbClr val="222222"/>
                </a:solidFill>
                <a:latin typeface="Tw Cen MT"/>
              </a:rPr>
              <a:t> de </a:t>
            </a:r>
            <a:r>
              <a:rPr sz="2000" b="0" dirty="0" err="1">
                <a:solidFill>
                  <a:srgbClr val="222222"/>
                </a:solidFill>
                <a:latin typeface="Tw Cen MT"/>
              </a:rPr>
              <a:t>otros</a:t>
            </a:r>
            <a:r>
              <a:rPr sz="2000" b="0" dirty="0">
                <a:solidFill>
                  <a:srgbClr val="222222"/>
                </a:solidFill>
                <a:latin typeface="Tw Cen MT"/>
              </a:rPr>
              <a:t> </a:t>
            </a:r>
            <a:r>
              <a:rPr sz="2000" b="0" dirty="0" err="1">
                <a:solidFill>
                  <a:srgbClr val="222222"/>
                </a:solidFill>
                <a:latin typeface="Tw Cen MT"/>
              </a:rPr>
              <a:t>grupos</a:t>
            </a:r>
            <a:r>
              <a:rPr sz="2000" b="0" dirty="0">
                <a:solidFill>
                  <a:srgbClr val="222222"/>
                </a:solidFill>
                <a:latin typeface="Tw Cen MT"/>
              </a:rPr>
              <a:t> (</a:t>
            </a:r>
            <a:r>
              <a:rPr sz="2000" b="0" dirty="0" err="1">
                <a:solidFill>
                  <a:srgbClr val="222222"/>
                </a:solidFill>
                <a:latin typeface="Tw Cen MT"/>
              </a:rPr>
              <a:t>los</a:t>
            </a:r>
            <a:r>
              <a:rPr sz="2000" b="0" dirty="0">
                <a:solidFill>
                  <a:srgbClr val="222222"/>
                </a:solidFill>
                <a:latin typeface="Tw Cen MT"/>
              </a:rPr>
              <a:t> "</a:t>
            </a:r>
            <a:r>
              <a:rPr sz="2000" b="0" dirty="0" err="1">
                <a:solidFill>
                  <a:srgbClr val="222222"/>
                </a:solidFill>
                <a:latin typeface="Tw Cen MT"/>
              </a:rPr>
              <a:t>otros</a:t>
            </a:r>
            <a:r>
              <a:rPr sz="2000" b="0" dirty="0">
                <a:solidFill>
                  <a:srgbClr val="222222"/>
                </a:solidFill>
                <a:latin typeface="Tw Cen MT"/>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El Proceso de Toma de Decisiones</a:t>
            </a:r>
          </a:p>
        </p:txBody>
      </p:sp>
      <p:sp>
        <p:nvSpPr>
          <p:cNvPr id="5" name="TextBox 4"/>
          <p:cNvSpPr txBox="1"/>
          <p:nvPr/>
        </p:nvSpPr>
        <p:spPr>
          <a:xfrm>
            <a:off x="304800" y="1220000"/>
            <a:ext cx="8534400" cy="5006499"/>
          </a:xfrm>
          <a:prstGeom prst="rect">
            <a:avLst/>
          </a:prstGeom>
          <a:noFill/>
        </p:spPr>
        <p:txBody>
          <a:bodyPr wrap="square">
            <a:spAutoFit/>
          </a:bodyPr>
          <a:lstStyle/>
          <a:p>
            <a:pPr algn="l">
              <a:spcBef>
                <a:spcPts val="400"/>
              </a:spcBef>
            </a:pPr>
            <a:r>
              <a:rPr sz="2200" b="0" dirty="0">
                <a:solidFill>
                  <a:srgbClr val="222222"/>
                </a:solidFill>
                <a:latin typeface="Tw Cen MT"/>
              </a:rPr>
              <a:t>El </a:t>
            </a:r>
            <a:r>
              <a:rPr sz="2200" b="0" dirty="0" err="1">
                <a:solidFill>
                  <a:srgbClr val="222222"/>
                </a:solidFill>
                <a:latin typeface="Tw Cen MT"/>
              </a:rPr>
              <a:t>proceso</a:t>
            </a:r>
            <a:r>
              <a:rPr sz="2200" b="0" dirty="0">
                <a:solidFill>
                  <a:srgbClr val="222222"/>
                </a:solidFill>
                <a:latin typeface="Tw Cen MT"/>
              </a:rPr>
              <a:t> de </a:t>
            </a:r>
            <a:r>
              <a:rPr sz="2200" b="0" dirty="0" err="1">
                <a:solidFill>
                  <a:srgbClr val="222222"/>
                </a:solidFill>
                <a:latin typeface="Tw Cen MT"/>
              </a:rPr>
              <a:t>toma</a:t>
            </a:r>
            <a:r>
              <a:rPr sz="2200" b="0" dirty="0">
                <a:solidFill>
                  <a:srgbClr val="222222"/>
                </a:solidFill>
                <a:latin typeface="Tw Cen MT"/>
              </a:rPr>
              <a:t> de </a:t>
            </a:r>
            <a:r>
              <a:rPr sz="2200" b="0" dirty="0" err="1">
                <a:solidFill>
                  <a:srgbClr val="222222"/>
                </a:solidFill>
                <a:latin typeface="Tw Cen MT"/>
              </a:rPr>
              <a:t>decisiones</a:t>
            </a:r>
            <a:r>
              <a:rPr sz="2200" b="0" dirty="0">
                <a:solidFill>
                  <a:srgbClr val="222222"/>
                </a:solidFill>
                <a:latin typeface="Tw Cen MT"/>
              </a:rPr>
              <a:t> </a:t>
            </a:r>
            <a:r>
              <a:rPr sz="2200" b="0" dirty="0" err="1">
                <a:solidFill>
                  <a:srgbClr val="222222"/>
                </a:solidFill>
                <a:latin typeface="Tw Cen MT"/>
              </a:rPr>
              <a:t>consta</a:t>
            </a:r>
            <a:r>
              <a:rPr sz="2200" b="0" dirty="0">
                <a:solidFill>
                  <a:srgbClr val="222222"/>
                </a:solidFill>
                <a:latin typeface="Tw Cen MT"/>
              </a:rPr>
              <a:t> de cuatro pasos:</a:t>
            </a:r>
          </a:p>
          <a:p>
            <a:pPr algn="l">
              <a:spcBef>
                <a:spcPts val="400"/>
              </a:spcBef>
            </a:pPr>
            <a:r>
              <a:rPr sz="2200" b="1" dirty="0">
                <a:solidFill>
                  <a:srgbClr val="222222"/>
                </a:solidFill>
                <a:latin typeface="Tw Cen MT"/>
              </a:rPr>
              <a:t>INICIACIÓN — RATIFICACIÓN — IMPLEMENTACIÓN — EVALUACIÓN</a:t>
            </a:r>
          </a:p>
          <a:p>
            <a:pPr algn="l">
              <a:spcBef>
                <a:spcPts val="400"/>
              </a:spcBef>
              <a:buNone/>
            </a:pPr>
            <a:endParaRPr lang="es-419" sz="2200" b="1" dirty="0">
              <a:solidFill>
                <a:srgbClr val="8B0000"/>
              </a:solidFill>
              <a:latin typeface="Tw Cen MT"/>
            </a:endParaRPr>
          </a:p>
          <a:p>
            <a:pPr algn="l">
              <a:spcBef>
                <a:spcPts val="400"/>
              </a:spcBef>
              <a:buNone/>
            </a:pPr>
            <a:r>
              <a:rPr sz="2200" b="1" dirty="0">
                <a:solidFill>
                  <a:srgbClr val="8B0000"/>
                </a:solidFill>
                <a:latin typeface="Tw Cen MT"/>
              </a:rPr>
              <a:t>DECISIONES DE MANAGEMENT</a:t>
            </a:r>
          </a:p>
          <a:p>
            <a:pPr algn="l">
              <a:spcBef>
                <a:spcPts val="400"/>
              </a:spcBef>
            </a:pPr>
            <a:r>
              <a:rPr sz="2200" b="0" dirty="0">
                <a:solidFill>
                  <a:srgbClr val="222222"/>
                </a:solidFill>
                <a:latin typeface="Tw Cen MT"/>
              </a:rPr>
              <a:t>La </a:t>
            </a:r>
            <a:r>
              <a:rPr sz="2200" b="0" dirty="0" err="1">
                <a:solidFill>
                  <a:srgbClr val="222222"/>
                </a:solidFill>
                <a:latin typeface="Tw Cen MT"/>
              </a:rPr>
              <a:t>responsabilidad</a:t>
            </a:r>
            <a:r>
              <a:rPr sz="2200" b="0" dirty="0">
                <a:solidFill>
                  <a:srgbClr val="222222"/>
                </a:solidFill>
                <a:latin typeface="Tw Cen MT"/>
              </a:rPr>
              <a:t> de la </a:t>
            </a:r>
            <a:r>
              <a:rPr sz="2200" b="0" dirty="0" err="1">
                <a:solidFill>
                  <a:srgbClr val="222222"/>
                </a:solidFill>
                <a:latin typeface="Tw Cen MT"/>
              </a:rPr>
              <a:t>iniciación</a:t>
            </a:r>
            <a:r>
              <a:rPr sz="2200" b="0" dirty="0">
                <a:solidFill>
                  <a:srgbClr val="222222"/>
                </a:solidFill>
                <a:latin typeface="Tw Cen MT"/>
              </a:rPr>
              <a:t> y la </a:t>
            </a:r>
            <a:r>
              <a:rPr sz="2200" b="0" dirty="0" err="1">
                <a:solidFill>
                  <a:srgbClr val="222222"/>
                </a:solidFill>
                <a:latin typeface="Tw Cen MT"/>
              </a:rPr>
              <a:t>implementación</a:t>
            </a:r>
            <a:r>
              <a:rPr sz="2200" b="0" dirty="0">
                <a:solidFill>
                  <a:srgbClr val="222222"/>
                </a:solidFill>
                <a:latin typeface="Tw Cen MT"/>
              </a:rPr>
              <a:t> </a:t>
            </a:r>
            <a:r>
              <a:rPr sz="2200" b="0" dirty="0" err="1">
                <a:solidFill>
                  <a:srgbClr val="222222"/>
                </a:solidFill>
                <a:latin typeface="Tw Cen MT"/>
              </a:rPr>
              <a:t>generalmente</a:t>
            </a:r>
            <a:r>
              <a:rPr sz="2200" b="0" dirty="0">
                <a:solidFill>
                  <a:srgbClr val="222222"/>
                </a:solidFill>
                <a:latin typeface="Tw Cen MT"/>
              </a:rPr>
              <a:t> se </a:t>
            </a:r>
            <a:r>
              <a:rPr sz="2200" b="0" dirty="0" err="1">
                <a:solidFill>
                  <a:srgbClr val="222222"/>
                </a:solidFill>
                <a:latin typeface="Tw Cen MT"/>
              </a:rPr>
              <a:t>asigna</a:t>
            </a:r>
            <a:r>
              <a:rPr sz="2200" b="0" dirty="0">
                <a:solidFill>
                  <a:srgbClr val="222222"/>
                </a:solidFill>
                <a:latin typeface="Tw Cen MT"/>
              </a:rPr>
              <a:t> a </a:t>
            </a:r>
            <a:r>
              <a:rPr sz="2200" b="0" dirty="0" err="1">
                <a:solidFill>
                  <a:srgbClr val="222222"/>
                </a:solidFill>
                <a:latin typeface="Tw Cen MT"/>
              </a:rPr>
              <a:t>los</a:t>
            </a:r>
            <a:r>
              <a:rPr sz="2200" b="0" dirty="0">
                <a:solidFill>
                  <a:srgbClr val="222222"/>
                </a:solidFill>
                <a:latin typeface="Tw Cen MT"/>
              </a:rPr>
              <a:t> </a:t>
            </a:r>
            <a:r>
              <a:rPr sz="2200" b="0" dirty="0" err="1">
                <a:solidFill>
                  <a:srgbClr val="222222"/>
                </a:solidFill>
                <a:latin typeface="Tw Cen MT"/>
              </a:rPr>
              <a:t>mismos</a:t>
            </a:r>
            <a:r>
              <a:rPr sz="2200" b="0" dirty="0">
                <a:solidFill>
                  <a:srgbClr val="222222"/>
                </a:solidFill>
                <a:latin typeface="Tw Cen MT"/>
              </a:rPr>
              <a:t> </a:t>
            </a:r>
            <a:r>
              <a:rPr sz="2200" b="0" dirty="0" err="1">
                <a:solidFill>
                  <a:srgbClr val="222222"/>
                </a:solidFill>
                <a:latin typeface="Tw Cen MT"/>
              </a:rPr>
              <a:t>agentes</a:t>
            </a:r>
            <a:r>
              <a:rPr sz="2200" b="0" dirty="0">
                <a:solidFill>
                  <a:srgbClr val="222222"/>
                </a:solidFill>
                <a:latin typeface="Tw Cen MT"/>
              </a:rPr>
              <a:t>.</a:t>
            </a:r>
            <a:endParaRPr lang="es-419" sz="2200" b="0" dirty="0">
              <a:solidFill>
                <a:srgbClr val="222222"/>
              </a:solidFill>
              <a:latin typeface="Tw Cen MT"/>
            </a:endParaRPr>
          </a:p>
          <a:p>
            <a:pPr algn="l">
              <a:spcBef>
                <a:spcPts val="400"/>
              </a:spcBef>
            </a:pPr>
            <a:endParaRPr sz="2200" b="0" dirty="0">
              <a:solidFill>
                <a:srgbClr val="222222"/>
              </a:solidFill>
              <a:latin typeface="Tw Cen MT"/>
            </a:endParaRPr>
          </a:p>
          <a:p>
            <a:pPr algn="l">
              <a:spcBef>
                <a:spcPts val="400"/>
              </a:spcBef>
              <a:buNone/>
            </a:pPr>
            <a:r>
              <a:rPr sz="2200" b="1" dirty="0">
                <a:solidFill>
                  <a:srgbClr val="8B0000"/>
                </a:solidFill>
                <a:latin typeface="Tw Cen MT"/>
              </a:rPr>
              <a:t>DECISIONES DE CONTROL</a:t>
            </a:r>
          </a:p>
          <a:p>
            <a:pPr algn="l">
              <a:spcBef>
                <a:spcPts val="400"/>
              </a:spcBef>
            </a:pPr>
            <a:r>
              <a:rPr sz="2200" b="0" dirty="0">
                <a:solidFill>
                  <a:srgbClr val="222222"/>
                </a:solidFill>
                <a:latin typeface="Tw Cen MT"/>
              </a:rPr>
              <a:t>La </a:t>
            </a:r>
            <a:r>
              <a:rPr sz="2200" b="0" dirty="0" err="1">
                <a:solidFill>
                  <a:srgbClr val="222222"/>
                </a:solidFill>
                <a:latin typeface="Tw Cen MT"/>
              </a:rPr>
              <a:t>ratificación</a:t>
            </a:r>
            <a:r>
              <a:rPr sz="2200" b="0" dirty="0">
                <a:solidFill>
                  <a:srgbClr val="222222"/>
                </a:solidFill>
                <a:latin typeface="Tw Cen MT"/>
              </a:rPr>
              <a:t> y la </a:t>
            </a:r>
            <a:r>
              <a:rPr sz="2200" b="0" dirty="0" err="1">
                <a:solidFill>
                  <a:srgbClr val="222222"/>
                </a:solidFill>
                <a:latin typeface="Tw Cen MT"/>
              </a:rPr>
              <a:t>evaluación</a:t>
            </a:r>
            <a:r>
              <a:rPr sz="2200" b="0" dirty="0">
                <a:solidFill>
                  <a:srgbClr val="222222"/>
                </a:solidFill>
                <a:latin typeface="Tw Cen MT"/>
              </a:rPr>
              <a:t> </a:t>
            </a:r>
            <a:r>
              <a:rPr sz="2200" b="0" dirty="0" err="1">
                <a:solidFill>
                  <a:srgbClr val="222222"/>
                </a:solidFill>
                <a:latin typeface="Tw Cen MT"/>
              </a:rPr>
              <a:t>constituyen</a:t>
            </a:r>
            <a:r>
              <a:rPr sz="2200" b="0" dirty="0">
                <a:solidFill>
                  <a:srgbClr val="222222"/>
                </a:solidFill>
                <a:latin typeface="Tw Cen MT"/>
              </a:rPr>
              <a:t> las </a:t>
            </a:r>
            <a:r>
              <a:rPr sz="2200" b="0" dirty="0" err="1">
                <a:solidFill>
                  <a:srgbClr val="222222"/>
                </a:solidFill>
                <a:latin typeface="Tw Cen MT"/>
              </a:rPr>
              <a:t>decisiones</a:t>
            </a:r>
            <a:r>
              <a:rPr sz="2200" b="0" dirty="0">
                <a:solidFill>
                  <a:srgbClr val="222222"/>
                </a:solidFill>
                <a:latin typeface="Tw Cen MT"/>
              </a:rPr>
              <a:t> de control.</a:t>
            </a:r>
          </a:p>
          <a:p>
            <a:pPr algn="l">
              <a:spcBef>
                <a:spcPts val="400"/>
              </a:spcBef>
              <a:buNone/>
            </a:pPr>
            <a:endParaRPr lang="es-419" sz="2200" b="1" dirty="0">
              <a:solidFill>
                <a:srgbClr val="8B0000"/>
              </a:solidFill>
              <a:latin typeface="Tw Cen MT"/>
            </a:endParaRPr>
          </a:p>
          <a:p>
            <a:pPr algn="l">
              <a:spcBef>
                <a:spcPts val="400"/>
              </a:spcBef>
              <a:buNone/>
            </a:pPr>
            <a:r>
              <a:rPr sz="2200" b="1" dirty="0">
                <a:solidFill>
                  <a:srgbClr val="8B0000"/>
                </a:solidFill>
                <a:latin typeface="Tw Cen MT"/>
              </a:rPr>
              <a:t>PRINCIPIO CLAVE</a:t>
            </a:r>
          </a:p>
          <a:p>
            <a:pPr algn="ctr">
              <a:spcBef>
                <a:spcPts val="400"/>
              </a:spcBef>
            </a:pPr>
            <a:r>
              <a:rPr sz="2200" b="1" dirty="0" err="1">
                <a:solidFill>
                  <a:srgbClr val="222222"/>
                </a:solidFill>
                <a:latin typeface="Tw Cen MT"/>
              </a:rPr>
              <a:t>Separar</a:t>
            </a:r>
            <a:r>
              <a:rPr sz="2200" b="1" dirty="0">
                <a:solidFill>
                  <a:srgbClr val="222222"/>
                </a:solidFill>
                <a:latin typeface="Tw Cen MT"/>
              </a:rPr>
              <a:t> las </a:t>
            </a:r>
            <a:r>
              <a:rPr sz="2200" b="1" dirty="0" err="1">
                <a:solidFill>
                  <a:srgbClr val="222222"/>
                </a:solidFill>
                <a:latin typeface="Tw Cen MT"/>
              </a:rPr>
              <a:t>decisiones</a:t>
            </a:r>
            <a:r>
              <a:rPr sz="2200" b="1" dirty="0">
                <a:solidFill>
                  <a:srgbClr val="222222"/>
                </a:solidFill>
                <a:latin typeface="Tw Cen MT"/>
              </a:rPr>
              <a:t> de management de las de control genera </a:t>
            </a:r>
            <a:r>
              <a:rPr sz="2200" b="1" dirty="0" err="1">
                <a:solidFill>
                  <a:srgbClr val="222222"/>
                </a:solidFill>
                <a:latin typeface="Tw Cen MT"/>
              </a:rPr>
              <a:t>mejores</a:t>
            </a:r>
            <a:r>
              <a:rPr sz="2200" b="1" dirty="0">
                <a:solidFill>
                  <a:srgbClr val="222222"/>
                </a:solidFill>
                <a:latin typeface="Tw Cen MT"/>
              </a:rPr>
              <a:t> </a:t>
            </a:r>
            <a:r>
              <a:rPr sz="2200" b="1" dirty="0" err="1">
                <a:solidFill>
                  <a:srgbClr val="222222"/>
                </a:solidFill>
                <a:latin typeface="Tw Cen MT"/>
              </a:rPr>
              <a:t>incentivos</a:t>
            </a:r>
            <a:r>
              <a:rPr sz="2200" b="1" dirty="0">
                <a:solidFill>
                  <a:srgbClr val="222222"/>
                </a:solidFill>
                <a:latin typeface="Tw Cen MT"/>
              </a:rPr>
              <a:t> y reduce </a:t>
            </a:r>
            <a:r>
              <a:rPr sz="2200" b="1" dirty="0" err="1">
                <a:solidFill>
                  <a:srgbClr val="222222"/>
                </a:solidFill>
                <a:latin typeface="Tw Cen MT"/>
              </a:rPr>
              <a:t>el</a:t>
            </a:r>
            <a:r>
              <a:rPr sz="2200" b="1" dirty="0">
                <a:solidFill>
                  <a:srgbClr val="222222"/>
                </a:solidFill>
                <a:latin typeface="Tw Cen MT"/>
              </a:rPr>
              <a:t> </a:t>
            </a:r>
            <a:r>
              <a:rPr sz="2200" b="1" dirty="0" err="1">
                <a:solidFill>
                  <a:srgbClr val="222222"/>
                </a:solidFill>
                <a:latin typeface="Tw Cen MT"/>
              </a:rPr>
              <a:t>riesgo</a:t>
            </a:r>
            <a:r>
              <a:rPr sz="2200" b="1" dirty="0">
                <a:solidFill>
                  <a:srgbClr val="222222"/>
                </a:solidFill>
                <a:latin typeface="Tw Cen MT"/>
              </a:rPr>
              <a:t> de </a:t>
            </a:r>
            <a:r>
              <a:rPr sz="2200" b="1" dirty="0" err="1">
                <a:solidFill>
                  <a:srgbClr val="222222"/>
                </a:solidFill>
                <a:latin typeface="Tw Cen MT"/>
              </a:rPr>
              <a:t>abusos</a:t>
            </a:r>
            <a:r>
              <a:rPr sz="2200" b="1" dirty="0">
                <a:solidFill>
                  <a:srgbClr val="222222"/>
                </a:solidFill>
                <a:latin typeface="Tw Cen MT"/>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1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87125"/>
            <a:ext cx="8534400" cy="892552"/>
          </a:xfrm>
          <a:prstGeom prst="rect">
            <a:avLst/>
          </a:prstGeom>
          <a:noFill/>
        </p:spPr>
        <p:txBody>
          <a:bodyPr wrap="square" anchor="ctr">
            <a:spAutoFit/>
          </a:bodyPr>
          <a:lstStyle/>
          <a:p>
            <a:pPr algn="l"/>
            <a:r>
              <a:rPr sz="2600" b="1" i="0" dirty="0">
                <a:solidFill>
                  <a:srgbClr val="FFFFFF"/>
                </a:solidFill>
                <a:latin typeface="Tw Cen MT"/>
              </a:rPr>
              <a:t>Caso: JP Morgan </a:t>
            </a:r>
            <a:r>
              <a:rPr lang="es-419" sz="2600" b="1" dirty="0">
                <a:solidFill>
                  <a:srgbClr val="FFFFFF"/>
                </a:solidFill>
                <a:latin typeface="Tw Cen MT"/>
              </a:rPr>
              <a:t>- </a:t>
            </a:r>
            <a:r>
              <a:rPr sz="2600" b="1" i="0" dirty="0">
                <a:solidFill>
                  <a:srgbClr val="FFFFFF"/>
                </a:solidFill>
                <a:latin typeface="Tw Cen MT"/>
              </a:rPr>
              <a:t>El London Whale</a:t>
            </a:r>
            <a:r>
              <a:rPr lang="es-419" sz="2600" b="1" i="0" dirty="0">
                <a:solidFill>
                  <a:srgbClr val="FFFFFF"/>
                </a:solidFill>
                <a:latin typeface="Tw Cen MT"/>
              </a:rPr>
              <a:t> – el </a:t>
            </a:r>
            <a:r>
              <a:rPr lang="es-419" sz="2600" b="1" i="0" dirty="0" err="1">
                <a:solidFill>
                  <a:srgbClr val="FFFFFF"/>
                </a:solidFill>
                <a:latin typeface="Tw Cen MT"/>
              </a:rPr>
              <a:t>fracasode</a:t>
            </a:r>
            <a:r>
              <a:rPr lang="es-419" sz="2600" b="1" i="0" dirty="0">
                <a:solidFill>
                  <a:srgbClr val="FFFFFF"/>
                </a:solidFill>
                <a:latin typeface="Tw Cen MT"/>
              </a:rPr>
              <a:t> la separación entre gestión y control</a:t>
            </a:r>
            <a:endParaRPr sz="2600" b="1" i="0" dirty="0">
              <a:solidFill>
                <a:srgbClr val="FFFFFF"/>
              </a:solidFill>
              <a:latin typeface="Tw Cen MT"/>
            </a:endParaRPr>
          </a:p>
        </p:txBody>
      </p:sp>
      <p:sp>
        <p:nvSpPr>
          <p:cNvPr id="5" name="TextBox 4"/>
          <p:cNvSpPr txBox="1"/>
          <p:nvPr/>
        </p:nvSpPr>
        <p:spPr>
          <a:xfrm>
            <a:off x="304800" y="1220000"/>
            <a:ext cx="8534400" cy="5488682"/>
          </a:xfrm>
          <a:prstGeom prst="rect">
            <a:avLst/>
          </a:prstGeom>
          <a:noFill/>
        </p:spPr>
        <p:txBody>
          <a:bodyPr wrap="square">
            <a:spAutoFit/>
          </a:bodyPr>
          <a:lstStyle/>
          <a:p>
            <a:pPr algn="l">
              <a:spcBef>
                <a:spcPts val="400"/>
              </a:spcBef>
            </a:pPr>
            <a:r>
              <a:rPr b="0" dirty="0">
                <a:solidFill>
                  <a:srgbClr val="FFFFFF"/>
                </a:solidFill>
                <a:latin typeface="Tw Cen MT"/>
              </a:rPr>
              <a:t>En </a:t>
            </a:r>
            <a:r>
              <a:rPr b="0" dirty="0" err="1">
                <a:solidFill>
                  <a:srgbClr val="FFFFFF"/>
                </a:solidFill>
                <a:latin typeface="Tw Cen MT"/>
              </a:rPr>
              <a:t>abril</a:t>
            </a:r>
            <a:r>
              <a:rPr b="0" dirty="0">
                <a:solidFill>
                  <a:srgbClr val="FFFFFF"/>
                </a:solidFill>
                <a:latin typeface="Tw Cen MT"/>
              </a:rPr>
              <a:t> de 2012, un trader de JP Morgan ("London Whale") </a:t>
            </a:r>
            <a:r>
              <a:rPr b="0" dirty="0" err="1">
                <a:solidFill>
                  <a:srgbClr val="FFFFFF"/>
                </a:solidFill>
                <a:latin typeface="Tw Cen MT"/>
              </a:rPr>
              <a:t>tomó</a:t>
            </a:r>
            <a:r>
              <a:rPr b="0" dirty="0">
                <a:solidFill>
                  <a:srgbClr val="FFFFFF"/>
                </a:solidFill>
                <a:latin typeface="Tw Cen MT"/>
              </a:rPr>
              <a:t> </a:t>
            </a:r>
            <a:r>
              <a:rPr b="0" dirty="0" err="1">
                <a:solidFill>
                  <a:srgbClr val="FFFFFF"/>
                </a:solidFill>
                <a:latin typeface="Tw Cen MT"/>
              </a:rPr>
              <a:t>posiciones</a:t>
            </a:r>
            <a:r>
              <a:rPr b="0" dirty="0">
                <a:solidFill>
                  <a:srgbClr val="FFFFFF"/>
                </a:solidFill>
                <a:latin typeface="Tw Cen MT"/>
              </a:rPr>
              <a:t> </a:t>
            </a:r>
            <a:r>
              <a:rPr b="0" dirty="0" err="1">
                <a:solidFill>
                  <a:srgbClr val="FFFFFF"/>
                </a:solidFill>
                <a:latin typeface="Tw Cen MT"/>
              </a:rPr>
              <a:t>muy</a:t>
            </a:r>
            <a:r>
              <a:rPr b="0" dirty="0">
                <a:solidFill>
                  <a:srgbClr val="FFFFFF"/>
                </a:solidFill>
                <a:latin typeface="Tw Cen MT"/>
              </a:rPr>
              <a:t> </a:t>
            </a:r>
            <a:r>
              <a:rPr b="0" dirty="0" err="1">
                <a:solidFill>
                  <a:srgbClr val="FFFFFF"/>
                </a:solidFill>
                <a:latin typeface="Tw Cen MT"/>
              </a:rPr>
              <a:t>grandes</a:t>
            </a:r>
            <a:r>
              <a:rPr b="0" dirty="0">
                <a:solidFill>
                  <a:srgbClr val="FFFFFF"/>
                </a:solidFill>
                <a:latin typeface="Tw Cen MT"/>
              </a:rPr>
              <a:t> y </a:t>
            </a:r>
            <a:r>
              <a:rPr b="0" dirty="0" err="1">
                <a:solidFill>
                  <a:srgbClr val="FFFFFF"/>
                </a:solidFill>
                <a:latin typeface="Tw Cen MT"/>
              </a:rPr>
              <a:t>riesgosas</a:t>
            </a:r>
            <a:r>
              <a:rPr b="0" dirty="0">
                <a:solidFill>
                  <a:srgbClr val="FFFFFF"/>
                </a:solidFill>
                <a:latin typeface="Tw Cen MT"/>
              </a:rPr>
              <a:t> </a:t>
            </a:r>
            <a:r>
              <a:rPr b="0" dirty="0" err="1">
                <a:solidFill>
                  <a:srgbClr val="FFFFFF"/>
                </a:solidFill>
                <a:latin typeface="Tw Cen MT"/>
              </a:rPr>
              <a:t>en</a:t>
            </a:r>
            <a:r>
              <a:rPr b="0" dirty="0">
                <a:solidFill>
                  <a:srgbClr val="FFFFFF"/>
                </a:solidFill>
                <a:latin typeface="Tw Cen MT"/>
              </a:rPr>
              <a:t> </a:t>
            </a:r>
            <a:r>
              <a:rPr b="0" dirty="0" err="1">
                <a:solidFill>
                  <a:srgbClr val="FFFFFF"/>
                </a:solidFill>
                <a:latin typeface="Tw Cen MT"/>
              </a:rPr>
              <a:t>deuda</a:t>
            </a:r>
            <a:r>
              <a:rPr b="0" dirty="0">
                <a:solidFill>
                  <a:srgbClr val="FFFFFF"/>
                </a:solidFill>
                <a:latin typeface="Tw Cen MT"/>
              </a:rPr>
              <a:t> </a:t>
            </a:r>
            <a:r>
              <a:rPr b="0" dirty="0" err="1">
                <a:solidFill>
                  <a:srgbClr val="FFFFFF"/>
                </a:solidFill>
                <a:latin typeface="Tw Cen MT"/>
              </a:rPr>
              <a:t>colateralizada</a:t>
            </a:r>
            <a:r>
              <a:rPr b="0" dirty="0">
                <a:solidFill>
                  <a:srgbClr val="FFFFFF"/>
                </a:solidFill>
                <a:latin typeface="Tw Cen MT"/>
              </a:rPr>
              <a:t>.</a:t>
            </a:r>
          </a:p>
          <a:p>
            <a:pPr algn="l">
              <a:spcBef>
                <a:spcPts val="400"/>
              </a:spcBef>
            </a:pPr>
            <a:r>
              <a:rPr b="0" dirty="0">
                <a:solidFill>
                  <a:srgbClr val="FFFFFF"/>
                </a:solidFill>
                <a:latin typeface="Tw Cen MT"/>
              </a:rPr>
              <a:t>El CEO Dimon </a:t>
            </a:r>
            <a:r>
              <a:rPr b="0" dirty="0" err="1">
                <a:solidFill>
                  <a:srgbClr val="FFFFFF"/>
                </a:solidFill>
                <a:latin typeface="Tw Cen MT"/>
              </a:rPr>
              <a:t>minimizó</a:t>
            </a:r>
            <a:r>
              <a:rPr b="0" dirty="0">
                <a:solidFill>
                  <a:srgbClr val="FFFFFF"/>
                </a:solidFill>
                <a:latin typeface="Tw Cen MT"/>
              </a:rPr>
              <a:t> </a:t>
            </a:r>
            <a:r>
              <a:rPr b="0" dirty="0" err="1">
                <a:solidFill>
                  <a:srgbClr val="FFFFFF"/>
                </a:solidFill>
                <a:latin typeface="Tw Cen MT"/>
              </a:rPr>
              <a:t>inicialmente</a:t>
            </a:r>
            <a:r>
              <a:rPr b="0" dirty="0">
                <a:solidFill>
                  <a:srgbClr val="FFFFFF"/>
                </a:solidFill>
                <a:latin typeface="Tw Cen MT"/>
              </a:rPr>
              <a:t> </a:t>
            </a:r>
            <a:r>
              <a:rPr b="0" dirty="0" err="1">
                <a:solidFill>
                  <a:srgbClr val="FFFFFF"/>
                </a:solidFill>
                <a:latin typeface="Tw Cen MT"/>
              </a:rPr>
              <a:t>el</a:t>
            </a:r>
            <a:r>
              <a:rPr b="0" dirty="0">
                <a:solidFill>
                  <a:srgbClr val="FFFFFF"/>
                </a:solidFill>
                <a:latin typeface="Tw Cen MT"/>
              </a:rPr>
              <a:t> </a:t>
            </a:r>
            <a:r>
              <a:rPr b="0" dirty="0" err="1">
                <a:solidFill>
                  <a:srgbClr val="FFFFFF"/>
                </a:solidFill>
                <a:latin typeface="Tw Cen MT"/>
              </a:rPr>
              <a:t>problema</a:t>
            </a:r>
            <a:r>
              <a:rPr b="0" dirty="0">
                <a:solidFill>
                  <a:srgbClr val="FFFFFF"/>
                </a:solidFill>
                <a:latin typeface="Tw Cen MT"/>
              </a:rPr>
              <a:t> </a:t>
            </a:r>
            <a:r>
              <a:rPr b="0" dirty="0" err="1">
                <a:solidFill>
                  <a:srgbClr val="FFFFFF"/>
                </a:solidFill>
                <a:latin typeface="Tw Cen MT"/>
              </a:rPr>
              <a:t>llamándolo</a:t>
            </a:r>
            <a:r>
              <a:rPr b="0" dirty="0">
                <a:solidFill>
                  <a:srgbClr val="FFFFFF"/>
                </a:solidFill>
                <a:latin typeface="Tw Cen MT"/>
              </a:rPr>
              <a:t> "</a:t>
            </a:r>
            <a:r>
              <a:rPr b="0" dirty="0" err="1">
                <a:solidFill>
                  <a:srgbClr val="FFFFFF"/>
                </a:solidFill>
                <a:latin typeface="Tw Cen MT"/>
              </a:rPr>
              <a:t>una</a:t>
            </a:r>
            <a:r>
              <a:rPr b="0" dirty="0">
                <a:solidFill>
                  <a:srgbClr val="FFFFFF"/>
                </a:solidFill>
                <a:latin typeface="Tw Cen MT"/>
              </a:rPr>
              <a:t> </a:t>
            </a:r>
            <a:r>
              <a:rPr b="0" dirty="0" err="1">
                <a:solidFill>
                  <a:srgbClr val="FFFFFF"/>
                </a:solidFill>
                <a:latin typeface="Tw Cen MT"/>
              </a:rPr>
              <a:t>tormenta</a:t>
            </a:r>
            <a:r>
              <a:rPr b="0" dirty="0">
                <a:solidFill>
                  <a:srgbClr val="FFFFFF"/>
                </a:solidFill>
                <a:latin typeface="Tw Cen MT"/>
              </a:rPr>
              <a:t> </a:t>
            </a:r>
            <a:r>
              <a:rPr b="0" dirty="0" err="1">
                <a:solidFill>
                  <a:srgbClr val="FFFFFF"/>
                </a:solidFill>
                <a:latin typeface="Tw Cen MT"/>
              </a:rPr>
              <a:t>en</a:t>
            </a:r>
            <a:r>
              <a:rPr b="0" dirty="0">
                <a:solidFill>
                  <a:srgbClr val="FFFFFF"/>
                </a:solidFill>
                <a:latin typeface="Tw Cen MT"/>
              </a:rPr>
              <a:t> un </a:t>
            </a:r>
            <a:r>
              <a:rPr b="0" dirty="0" err="1">
                <a:solidFill>
                  <a:srgbClr val="FFFFFF"/>
                </a:solidFill>
                <a:latin typeface="Tw Cen MT"/>
              </a:rPr>
              <a:t>vaso</a:t>
            </a:r>
            <a:r>
              <a:rPr b="0" dirty="0">
                <a:solidFill>
                  <a:srgbClr val="FFFFFF"/>
                </a:solidFill>
                <a:latin typeface="Tw Cen MT"/>
              </a:rPr>
              <a:t> de </a:t>
            </a:r>
            <a:r>
              <a:rPr b="0" dirty="0" err="1">
                <a:solidFill>
                  <a:srgbClr val="FFFFFF"/>
                </a:solidFill>
                <a:latin typeface="Tw Cen MT"/>
              </a:rPr>
              <a:t>agua</a:t>
            </a:r>
            <a:r>
              <a:rPr b="0" dirty="0">
                <a:solidFill>
                  <a:srgbClr val="FFFFFF"/>
                </a:solidFill>
                <a:latin typeface="Tw Cen MT"/>
              </a:rPr>
              <a:t>".</a:t>
            </a:r>
            <a:r>
              <a:rPr lang="es-419" b="0" dirty="0">
                <a:solidFill>
                  <a:srgbClr val="FFFFFF"/>
                </a:solidFill>
                <a:latin typeface="Tw Cen MT"/>
              </a:rPr>
              <a:t> Pronto se arrepintió.</a:t>
            </a:r>
            <a:endParaRPr b="0" dirty="0">
              <a:solidFill>
                <a:srgbClr val="FFFFFF"/>
              </a:solidFill>
              <a:latin typeface="Tw Cen MT"/>
            </a:endParaRPr>
          </a:p>
          <a:p>
            <a:pPr algn="ctr">
              <a:spcBef>
                <a:spcPts val="400"/>
              </a:spcBef>
            </a:pPr>
            <a:r>
              <a:rPr b="1" dirty="0">
                <a:solidFill>
                  <a:srgbClr val="FFFFFF"/>
                </a:solidFill>
                <a:latin typeface="Tw Cen MT"/>
              </a:rPr>
              <a:t>El 10 de mayo de 2012, JP Morgan </a:t>
            </a:r>
            <a:r>
              <a:rPr b="1" dirty="0" err="1">
                <a:solidFill>
                  <a:srgbClr val="FFFFFF"/>
                </a:solidFill>
                <a:latin typeface="Tw Cen MT"/>
              </a:rPr>
              <a:t>anunció</a:t>
            </a:r>
            <a:r>
              <a:rPr b="1" dirty="0">
                <a:solidFill>
                  <a:srgbClr val="FFFFFF"/>
                </a:solidFill>
                <a:latin typeface="Tw Cen MT"/>
              </a:rPr>
              <a:t> </a:t>
            </a:r>
            <a:r>
              <a:rPr b="1" dirty="0" err="1">
                <a:solidFill>
                  <a:srgbClr val="FFFFFF"/>
                </a:solidFill>
                <a:latin typeface="Tw Cen MT"/>
              </a:rPr>
              <a:t>pérdidas</a:t>
            </a:r>
            <a:r>
              <a:rPr b="1" dirty="0">
                <a:solidFill>
                  <a:srgbClr val="FFFFFF"/>
                </a:solidFill>
                <a:latin typeface="Tw Cen MT"/>
              </a:rPr>
              <a:t> de ~U$S 2 mil </a:t>
            </a:r>
            <a:r>
              <a:rPr b="1" dirty="0" err="1">
                <a:solidFill>
                  <a:srgbClr val="FFFFFF"/>
                </a:solidFill>
                <a:latin typeface="Tw Cen MT"/>
              </a:rPr>
              <a:t>millones</a:t>
            </a:r>
            <a:r>
              <a:rPr b="1" dirty="0">
                <a:solidFill>
                  <a:srgbClr val="FFFFFF"/>
                </a:solidFill>
                <a:latin typeface="Tw Cen MT"/>
              </a:rPr>
              <a:t> (</a:t>
            </a:r>
            <a:r>
              <a:rPr b="1" dirty="0" err="1">
                <a:solidFill>
                  <a:srgbClr val="FFFFFF"/>
                </a:solidFill>
                <a:latin typeface="Tw Cen MT"/>
              </a:rPr>
              <a:t>que</a:t>
            </a:r>
            <a:r>
              <a:rPr b="1" dirty="0">
                <a:solidFill>
                  <a:srgbClr val="FFFFFF"/>
                </a:solidFill>
                <a:latin typeface="Tw Cen MT"/>
              </a:rPr>
              <a:t> luego </a:t>
            </a:r>
            <a:r>
              <a:rPr b="1" dirty="0" err="1">
                <a:solidFill>
                  <a:srgbClr val="FFFFFF"/>
                </a:solidFill>
                <a:latin typeface="Tw Cen MT"/>
              </a:rPr>
              <a:t>crecieron</a:t>
            </a:r>
            <a:r>
              <a:rPr b="1" dirty="0">
                <a:solidFill>
                  <a:srgbClr val="FFFFFF"/>
                </a:solidFill>
                <a:latin typeface="Tw Cen MT"/>
              </a:rPr>
              <a:t> a </a:t>
            </a:r>
            <a:r>
              <a:rPr b="1" dirty="0" err="1">
                <a:solidFill>
                  <a:srgbClr val="FFFFFF"/>
                </a:solidFill>
                <a:latin typeface="Tw Cen MT"/>
              </a:rPr>
              <a:t>más</a:t>
            </a:r>
            <a:r>
              <a:rPr b="1" dirty="0">
                <a:solidFill>
                  <a:srgbClr val="FFFFFF"/>
                </a:solidFill>
                <a:latin typeface="Tw Cen MT"/>
              </a:rPr>
              <a:t> de U$S 4 mil </a:t>
            </a:r>
            <a:r>
              <a:rPr b="1" dirty="0" err="1">
                <a:solidFill>
                  <a:srgbClr val="FFFFFF"/>
                </a:solidFill>
                <a:latin typeface="Tw Cen MT"/>
              </a:rPr>
              <a:t>millones</a:t>
            </a:r>
            <a:r>
              <a:rPr b="1" dirty="0">
                <a:solidFill>
                  <a:srgbClr val="FFFFFF"/>
                </a:solidFill>
                <a:latin typeface="Tw Cen MT"/>
              </a:rPr>
              <a:t>).</a:t>
            </a:r>
          </a:p>
          <a:p>
            <a:pPr algn="l">
              <a:spcBef>
                <a:spcPts val="400"/>
              </a:spcBef>
              <a:buNone/>
            </a:pPr>
            <a:endParaRPr lang="es-419" b="1" dirty="0">
              <a:solidFill>
                <a:srgbClr val="D4A017"/>
              </a:solidFill>
              <a:latin typeface="Tw Cen MT"/>
            </a:endParaRPr>
          </a:p>
          <a:p>
            <a:pPr algn="l">
              <a:spcBef>
                <a:spcPts val="400"/>
              </a:spcBef>
              <a:buNone/>
            </a:pPr>
            <a:r>
              <a:rPr b="1" dirty="0">
                <a:solidFill>
                  <a:srgbClr val="D4A017"/>
                </a:solidFill>
                <a:latin typeface="Tw Cen MT"/>
              </a:rPr>
              <a:t>EL DIAGNÓSTICO DE DIMON</a:t>
            </a:r>
          </a:p>
          <a:p>
            <a:pPr>
              <a:spcBef>
                <a:spcPts val="400"/>
              </a:spcBef>
              <a:buFont typeface="Tw Cen MT"/>
              <a:buChar char="■"/>
            </a:pPr>
            <a:r>
              <a:rPr lang="es-AR" dirty="0" err="1">
                <a:solidFill>
                  <a:srgbClr val="FFFFFF"/>
                </a:solidFill>
                <a:latin typeface="Tw Cen MT"/>
              </a:rPr>
              <a:t>Dimon</a:t>
            </a:r>
            <a:r>
              <a:rPr lang="es-AR" dirty="0">
                <a:solidFill>
                  <a:srgbClr val="FFFFFF"/>
                </a:solidFill>
                <a:latin typeface="Tw Cen MT"/>
              </a:rPr>
              <a:t> se dio cuenta de que las pérdidas y el daño a la reputación de JPM eran enormes. Afirmó que el problema era consecuencia de "los propios errores del banco". Al describir estos errores, utilizó términos contundentes como "defectuoso", "complejo", "mal revisado", "mal ejecutado", "mal supervisado" y "autoinfligido". </a:t>
            </a:r>
          </a:p>
          <a:p>
            <a:pPr>
              <a:spcBef>
                <a:spcPts val="400"/>
              </a:spcBef>
              <a:buFont typeface="Tw Cen MT"/>
              <a:buChar char="■"/>
            </a:pPr>
            <a:endParaRPr b="0" dirty="0">
              <a:solidFill>
                <a:srgbClr val="FFFFFF"/>
              </a:solidFill>
              <a:latin typeface="Tw Cen MT"/>
            </a:endParaRPr>
          </a:p>
          <a:p>
            <a:pPr algn="l">
              <a:spcBef>
                <a:spcPts val="400"/>
              </a:spcBef>
              <a:buNone/>
            </a:pPr>
            <a:r>
              <a:rPr b="1" dirty="0">
                <a:solidFill>
                  <a:srgbClr val="D4A017"/>
                </a:solidFill>
                <a:latin typeface="Tw Cen MT"/>
              </a:rPr>
              <a:t>LA SOLUCIÓN ADOPTADA</a:t>
            </a:r>
          </a:p>
          <a:p>
            <a:pPr>
              <a:spcBef>
                <a:spcPts val="400"/>
              </a:spcBef>
            </a:pPr>
            <a:r>
              <a:rPr b="0" dirty="0">
                <a:solidFill>
                  <a:srgbClr val="FFFFFF"/>
                </a:solidFill>
                <a:latin typeface="Tw Cen MT"/>
              </a:rPr>
              <a:t>JP Morgan </a:t>
            </a:r>
            <a:r>
              <a:rPr b="0" dirty="0" err="1">
                <a:solidFill>
                  <a:srgbClr val="FFFFFF"/>
                </a:solidFill>
                <a:latin typeface="Tw Cen MT"/>
              </a:rPr>
              <a:t>presupuestó</a:t>
            </a:r>
            <a:r>
              <a:rPr b="0" dirty="0">
                <a:solidFill>
                  <a:srgbClr val="FFFFFF"/>
                </a:solidFill>
                <a:latin typeface="Tw Cen MT"/>
              </a:rPr>
              <a:t> U$S 4 mil </a:t>
            </a:r>
            <a:r>
              <a:rPr b="0" dirty="0" err="1">
                <a:solidFill>
                  <a:srgbClr val="FFFFFF"/>
                </a:solidFill>
                <a:latin typeface="Tw Cen MT"/>
              </a:rPr>
              <a:t>millones</a:t>
            </a:r>
            <a:r>
              <a:rPr b="0" dirty="0">
                <a:solidFill>
                  <a:srgbClr val="FFFFFF"/>
                </a:solidFill>
                <a:latin typeface="Tw Cen MT"/>
              </a:rPr>
              <a:t> </a:t>
            </a:r>
            <a:r>
              <a:rPr b="0" dirty="0" err="1">
                <a:solidFill>
                  <a:srgbClr val="FFFFFF"/>
                </a:solidFill>
                <a:latin typeface="Tw Cen MT"/>
              </a:rPr>
              <a:t>adicionales</a:t>
            </a:r>
            <a:r>
              <a:rPr b="0" dirty="0">
                <a:solidFill>
                  <a:srgbClr val="FFFFFF"/>
                </a:solidFill>
                <a:latin typeface="Tw Cen MT"/>
              </a:rPr>
              <a:t> y 5.000 </a:t>
            </a:r>
            <a:r>
              <a:rPr b="0" dirty="0" err="1">
                <a:solidFill>
                  <a:srgbClr val="FFFFFF"/>
                </a:solidFill>
                <a:latin typeface="Tw Cen MT"/>
              </a:rPr>
              <a:t>empleados</a:t>
            </a:r>
            <a:r>
              <a:rPr b="0" dirty="0">
                <a:solidFill>
                  <a:srgbClr val="FFFFFF"/>
                </a:solidFill>
                <a:latin typeface="Tw Cen MT"/>
              </a:rPr>
              <a:t> extra para </a:t>
            </a:r>
            <a:r>
              <a:rPr b="0" dirty="0" err="1">
                <a:solidFill>
                  <a:srgbClr val="FFFFFF"/>
                </a:solidFill>
                <a:latin typeface="Tw Cen MT"/>
              </a:rPr>
              <a:t>fortalecer</a:t>
            </a:r>
            <a:r>
              <a:rPr b="0" dirty="0">
                <a:solidFill>
                  <a:srgbClr val="FFFFFF"/>
                </a:solidFill>
                <a:latin typeface="Tw Cen MT"/>
              </a:rPr>
              <a:t> </a:t>
            </a:r>
            <a:r>
              <a:rPr b="0" dirty="0" err="1">
                <a:solidFill>
                  <a:srgbClr val="FFFFFF"/>
                </a:solidFill>
                <a:latin typeface="Tw Cen MT"/>
              </a:rPr>
              <a:t>los</a:t>
            </a:r>
            <a:r>
              <a:rPr b="0" dirty="0">
                <a:solidFill>
                  <a:srgbClr val="FFFFFF"/>
                </a:solidFill>
                <a:latin typeface="Tw Cen MT"/>
              </a:rPr>
              <a:t> </a:t>
            </a:r>
            <a:r>
              <a:rPr b="0" dirty="0" err="1">
                <a:solidFill>
                  <a:srgbClr val="FFFFFF"/>
                </a:solidFill>
                <a:latin typeface="Tw Cen MT"/>
              </a:rPr>
              <a:t>controles</a:t>
            </a:r>
            <a:r>
              <a:rPr b="0" dirty="0">
                <a:solidFill>
                  <a:srgbClr val="FFFFFF"/>
                </a:solidFill>
                <a:latin typeface="Tw Cen MT"/>
              </a:rPr>
              <a:t> de trading. Se </a:t>
            </a:r>
            <a:r>
              <a:rPr b="0" dirty="0" err="1">
                <a:solidFill>
                  <a:srgbClr val="FFFFFF"/>
                </a:solidFill>
                <a:latin typeface="Tw Cen MT"/>
              </a:rPr>
              <a:t>otorgó</a:t>
            </a:r>
            <a:r>
              <a:rPr b="0" dirty="0">
                <a:solidFill>
                  <a:srgbClr val="FFFFFF"/>
                </a:solidFill>
                <a:latin typeface="Tw Cen MT"/>
              </a:rPr>
              <a:t> mayor </a:t>
            </a:r>
            <a:r>
              <a:rPr b="0" dirty="0" err="1">
                <a:solidFill>
                  <a:srgbClr val="FFFFFF"/>
                </a:solidFill>
                <a:latin typeface="Tw Cen MT"/>
              </a:rPr>
              <a:t>autoridad</a:t>
            </a:r>
            <a:r>
              <a:rPr b="0" dirty="0">
                <a:solidFill>
                  <a:srgbClr val="FFFFFF"/>
                </a:solidFill>
                <a:latin typeface="Tw Cen MT"/>
              </a:rPr>
              <a:t> a </a:t>
            </a:r>
            <a:r>
              <a:rPr b="0" dirty="0" err="1">
                <a:solidFill>
                  <a:srgbClr val="FFFFFF"/>
                </a:solidFill>
                <a:latin typeface="Tw Cen MT"/>
              </a:rPr>
              <a:t>ejecutivos</a:t>
            </a:r>
            <a:r>
              <a:rPr lang="es-419" b="0" dirty="0">
                <a:solidFill>
                  <a:srgbClr val="FFFFFF"/>
                </a:solidFill>
                <a:latin typeface="Tw Cen MT"/>
              </a:rPr>
              <a:t> a </a:t>
            </a:r>
            <a:r>
              <a:rPr lang="es-AR" dirty="0">
                <a:solidFill>
                  <a:schemeClr val="bg1"/>
                </a:solidFill>
                <a:latin typeface="Tw Cen MT"/>
              </a:rPr>
              <a:t>cargo de riesgos, asuntos legales y cumplimiento normativo, lo que significa que ya no podían ser anulados por los directores de negocios.</a:t>
            </a:r>
            <a:endParaRPr b="0" dirty="0">
              <a:solidFill>
                <a:schemeClr val="bg1"/>
              </a:solidFill>
              <a:latin typeface="Tw Cen M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TALLER — Decisiones de Management y Control</a:t>
            </a:r>
          </a:p>
        </p:txBody>
      </p:sp>
      <p:sp>
        <p:nvSpPr>
          <p:cNvPr id="5" name="TextBox 4"/>
          <p:cNvSpPr txBox="1"/>
          <p:nvPr/>
        </p:nvSpPr>
        <p:spPr>
          <a:xfrm>
            <a:off x="304800" y="1220000"/>
            <a:ext cx="8534400" cy="5252720"/>
          </a:xfrm>
          <a:prstGeom prst="rect">
            <a:avLst/>
          </a:prstGeom>
          <a:noFill/>
        </p:spPr>
        <p:txBody>
          <a:bodyPr wrap="square">
            <a:spAutoFit/>
          </a:bodyPr>
          <a:lstStyle/>
          <a:p>
            <a:pPr marL="342900" indent="-342900" algn="l">
              <a:spcBef>
                <a:spcPts val="400"/>
              </a:spcBef>
              <a:buFont typeface="Arial" panose="020B0604020202020204" pitchFamily="34" charset="0"/>
              <a:buChar char="•"/>
            </a:pPr>
            <a:r>
              <a:rPr sz="2400" b="0" dirty="0">
                <a:solidFill>
                  <a:srgbClr val="FFFFFF"/>
                </a:solidFill>
                <a:latin typeface="Tw Cen MT"/>
              </a:rPr>
              <a:t>¿</a:t>
            </a:r>
            <a:r>
              <a:rPr sz="2400" b="0" dirty="0" err="1">
                <a:solidFill>
                  <a:srgbClr val="FFFFFF"/>
                </a:solidFill>
                <a:latin typeface="Tw Cen MT"/>
              </a:rPr>
              <a:t>Cómo</a:t>
            </a:r>
            <a:r>
              <a:rPr sz="2400" b="0" dirty="0">
                <a:solidFill>
                  <a:srgbClr val="FFFFFF"/>
                </a:solidFill>
                <a:latin typeface="Tw Cen MT"/>
              </a:rPr>
              <a:t> </a:t>
            </a:r>
            <a:r>
              <a:rPr sz="2400" b="0" dirty="0" err="1">
                <a:solidFill>
                  <a:srgbClr val="FFFFFF"/>
                </a:solidFill>
                <a:latin typeface="Tw Cen MT"/>
              </a:rPr>
              <a:t>debe</a:t>
            </a:r>
            <a:r>
              <a:rPr sz="2400" b="0" dirty="0">
                <a:solidFill>
                  <a:srgbClr val="FFFFFF"/>
                </a:solidFill>
                <a:latin typeface="Tw Cen MT"/>
              </a:rPr>
              <a:t> </a:t>
            </a:r>
            <a:r>
              <a:rPr sz="2400" b="0" dirty="0" err="1">
                <a:solidFill>
                  <a:srgbClr val="FFFFFF"/>
                </a:solidFill>
                <a:latin typeface="Tw Cen MT"/>
              </a:rPr>
              <a:t>estar</a:t>
            </a:r>
            <a:r>
              <a:rPr sz="2400" b="0" dirty="0">
                <a:solidFill>
                  <a:srgbClr val="FFFFFF"/>
                </a:solidFill>
                <a:latin typeface="Tw Cen MT"/>
              </a:rPr>
              <a:t> </a:t>
            </a:r>
            <a:r>
              <a:rPr sz="2400" b="0" dirty="0" err="1">
                <a:solidFill>
                  <a:srgbClr val="FFFFFF"/>
                </a:solidFill>
                <a:latin typeface="Tw Cen MT"/>
              </a:rPr>
              <a:t>distribuido</a:t>
            </a:r>
            <a:r>
              <a:rPr sz="2400" b="0" dirty="0">
                <a:solidFill>
                  <a:srgbClr val="FFFFFF"/>
                </a:solidFill>
                <a:latin typeface="Tw Cen MT"/>
              </a:rPr>
              <a:t> </a:t>
            </a:r>
            <a:r>
              <a:rPr sz="2400" b="0" dirty="0" err="1">
                <a:solidFill>
                  <a:srgbClr val="FFFFFF"/>
                </a:solidFill>
                <a:latin typeface="Tw Cen MT"/>
              </a:rPr>
              <a:t>el</a:t>
            </a:r>
            <a:r>
              <a:rPr sz="2400" b="0" dirty="0">
                <a:solidFill>
                  <a:srgbClr val="FFFFFF"/>
                </a:solidFill>
                <a:latin typeface="Tw Cen MT"/>
              </a:rPr>
              <a:t> </a:t>
            </a:r>
            <a:r>
              <a:rPr sz="2400" b="0" dirty="0" err="1">
                <a:solidFill>
                  <a:srgbClr val="FFFFFF"/>
                </a:solidFill>
                <a:latin typeface="Tw Cen MT"/>
              </a:rPr>
              <a:t>poder</a:t>
            </a:r>
            <a:r>
              <a:rPr sz="2400" b="0" dirty="0">
                <a:solidFill>
                  <a:srgbClr val="FFFFFF"/>
                </a:solidFill>
                <a:latin typeface="Tw Cen MT"/>
              </a:rPr>
              <a:t> </a:t>
            </a:r>
            <a:r>
              <a:rPr sz="2400" b="0" dirty="0" err="1">
                <a:solidFill>
                  <a:srgbClr val="FFFFFF"/>
                </a:solidFill>
                <a:latin typeface="Tw Cen MT"/>
              </a:rPr>
              <a:t>en</a:t>
            </a:r>
            <a:r>
              <a:rPr sz="2400" b="0" dirty="0">
                <a:solidFill>
                  <a:srgbClr val="FFFFFF"/>
                </a:solidFill>
                <a:latin typeface="Tw Cen MT"/>
              </a:rPr>
              <a:t> las </a:t>
            </a:r>
            <a:r>
              <a:rPr sz="2400" b="0" dirty="0" err="1">
                <a:solidFill>
                  <a:srgbClr val="FFFFFF"/>
                </a:solidFill>
                <a:latin typeface="Tw Cen MT"/>
              </a:rPr>
              <a:t>decisiones</a:t>
            </a:r>
            <a:r>
              <a:rPr sz="2400" b="0" dirty="0">
                <a:solidFill>
                  <a:srgbClr val="FFFFFF"/>
                </a:solidFill>
                <a:latin typeface="Tw Cen MT"/>
              </a:rPr>
              <a:t> de management y de control? ¿Por </a:t>
            </a:r>
            <a:r>
              <a:rPr sz="2400" b="0" dirty="0" err="1">
                <a:solidFill>
                  <a:srgbClr val="FFFFFF"/>
                </a:solidFill>
                <a:latin typeface="Tw Cen MT"/>
              </a:rPr>
              <a:t>qué</a:t>
            </a:r>
            <a:r>
              <a:rPr sz="2400" b="0" dirty="0">
                <a:solidFill>
                  <a:srgbClr val="FFFFFF"/>
                </a:solidFill>
                <a:latin typeface="Tw Cen MT"/>
              </a:rPr>
              <a:t>?</a:t>
            </a:r>
          </a:p>
          <a:p>
            <a:pPr marL="342900" indent="-342900" algn="l">
              <a:spcBef>
                <a:spcPts val="400"/>
              </a:spcBef>
              <a:buFont typeface="Arial" panose="020B0604020202020204" pitchFamily="34" charset="0"/>
              <a:buChar char="•"/>
            </a:pPr>
            <a:r>
              <a:rPr sz="2400" b="0" dirty="0">
                <a:solidFill>
                  <a:srgbClr val="FFFFFF"/>
                </a:solidFill>
                <a:latin typeface="Tw Cen MT"/>
              </a:rPr>
              <a:t>¿Los </a:t>
            </a:r>
            <a:r>
              <a:rPr sz="2400" b="0" dirty="0" err="1">
                <a:solidFill>
                  <a:srgbClr val="FFFFFF"/>
                </a:solidFill>
                <a:latin typeface="Tw Cen MT"/>
              </a:rPr>
              <a:t>tomadores</a:t>
            </a:r>
            <a:r>
              <a:rPr sz="2400" b="0" dirty="0">
                <a:solidFill>
                  <a:srgbClr val="FFFFFF"/>
                </a:solidFill>
                <a:latin typeface="Tw Cen MT"/>
              </a:rPr>
              <a:t> de </a:t>
            </a:r>
            <a:r>
              <a:rPr sz="2400" b="0" dirty="0" err="1">
                <a:solidFill>
                  <a:srgbClr val="FFFFFF"/>
                </a:solidFill>
                <a:latin typeface="Tw Cen MT"/>
              </a:rPr>
              <a:t>qué</a:t>
            </a:r>
            <a:r>
              <a:rPr sz="2400" b="0" dirty="0">
                <a:solidFill>
                  <a:srgbClr val="FFFFFF"/>
                </a:solidFill>
                <a:latin typeface="Tw Cen MT"/>
              </a:rPr>
              <a:t> </a:t>
            </a:r>
            <a:r>
              <a:rPr sz="2400" b="0" dirty="0" err="1">
                <a:solidFill>
                  <a:srgbClr val="FFFFFF"/>
                </a:solidFill>
                <a:latin typeface="Tw Cen MT"/>
              </a:rPr>
              <a:t>tipo</a:t>
            </a:r>
            <a:r>
              <a:rPr sz="2400" b="0" dirty="0">
                <a:solidFill>
                  <a:srgbClr val="FFFFFF"/>
                </a:solidFill>
                <a:latin typeface="Tw Cen MT"/>
              </a:rPr>
              <a:t> de </a:t>
            </a:r>
            <a:r>
              <a:rPr sz="2400" b="0" dirty="0" err="1">
                <a:solidFill>
                  <a:srgbClr val="FFFFFF"/>
                </a:solidFill>
                <a:latin typeface="Tw Cen MT"/>
              </a:rPr>
              <a:t>decisiones</a:t>
            </a:r>
            <a:r>
              <a:rPr sz="2400" b="0" dirty="0">
                <a:solidFill>
                  <a:srgbClr val="FFFFFF"/>
                </a:solidFill>
                <a:latin typeface="Tw Cen MT"/>
              </a:rPr>
              <a:t> van a </a:t>
            </a:r>
            <a:r>
              <a:rPr sz="2400" b="0" dirty="0" err="1">
                <a:solidFill>
                  <a:srgbClr val="FFFFFF"/>
                </a:solidFill>
                <a:latin typeface="Tw Cen MT"/>
              </a:rPr>
              <a:t>estar</a:t>
            </a:r>
            <a:r>
              <a:rPr sz="2400" b="0" dirty="0">
                <a:solidFill>
                  <a:srgbClr val="FFFFFF"/>
                </a:solidFill>
                <a:latin typeface="Tw Cen MT"/>
              </a:rPr>
              <a:t> </a:t>
            </a:r>
            <a:r>
              <a:rPr sz="2400" b="0" dirty="0" err="1">
                <a:solidFill>
                  <a:srgbClr val="FFFFFF"/>
                </a:solidFill>
                <a:latin typeface="Tw Cen MT"/>
              </a:rPr>
              <a:t>típicamente</a:t>
            </a:r>
            <a:r>
              <a:rPr sz="2400" b="0" dirty="0">
                <a:solidFill>
                  <a:srgbClr val="FFFFFF"/>
                </a:solidFill>
                <a:latin typeface="Tw Cen MT"/>
              </a:rPr>
              <a:t> </a:t>
            </a:r>
            <a:r>
              <a:rPr sz="2400" b="0" dirty="0" err="1">
                <a:solidFill>
                  <a:srgbClr val="FFFFFF"/>
                </a:solidFill>
                <a:latin typeface="Tw Cen MT"/>
              </a:rPr>
              <a:t>más</a:t>
            </a:r>
            <a:r>
              <a:rPr sz="2400" b="0" dirty="0">
                <a:solidFill>
                  <a:srgbClr val="FFFFFF"/>
                </a:solidFill>
                <a:latin typeface="Tw Cen MT"/>
              </a:rPr>
              <a:t> alto </a:t>
            </a:r>
            <a:r>
              <a:rPr sz="2400" b="0" dirty="0" err="1">
                <a:solidFill>
                  <a:srgbClr val="FFFFFF"/>
                </a:solidFill>
                <a:latin typeface="Tw Cen MT"/>
              </a:rPr>
              <a:t>en</a:t>
            </a:r>
            <a:r>
              <a:rPr sz="2400" b="0" dirty="0">
                <a:solidFill>
                  <a:srgbClr val="FFFFFF"/>
                </a:solidFill>
                <a:latin typeface="Tw Cen MT"/>
              </a:rPr>
              <a:t> la </a:t>
            </a:r>
            <a:r>
              <a:rPr sz="2400" b="0" dirty="0" err="1">
                <a:solidFill>
                  <a:srgbClr val="FFFFFF"/>
                </a:solidFill>
                <a:latin typeface="Tw Cen MT"/>
              </a:rPr>
              <a:t>estructura</a:t>
            </a:r>
            <a:r>
              <a:rPr sz="2400" b="0" dirty="0">
                <a:solidFill>
                  <a:srgbClr val="FFFFFF"/>
                </a:solidFill>
                <a:latin typeface="Tw Cen MT"/>
              </a:rPr>
              <a:t> de la </a:t>
            </a:r>
            <a:r>
              <a:rPr sz="2400" b="0" dirty="0" err="1">
                <a:solidFill>
                  <a:srgbClr val="FFFFFF"/>
                </a:solidFill>
                <a:latin typeface="Tw Cen MT"/>
              </a:rPr>
              <a:t>empresa</a:t>
            </a:r>
            <a:r>
              <a:rPr sz="2400" b="0" dirty="0">
                <a:solidFill>
                  <a:srgbClr val="FFFFFF"/>
                </a:solidFill>
                <a:latin typeface="Tw Cen MT"/>
              </a:rPr>
              <a:t>?</a:t>
            </a:r>
          </a:p>
          <a:p>
            <a:pPr algn="l">
              <a:spcBef>
                <a:spcPts val="400"/>
              </a:spcBef>
              <a:buNone/>
            </a:pPr>
            <a:endParaRPr lang="es-419" sz="2400" b="1" dirty="0">
              <a:solidFill>
                <a:srgbClr val="52B788"/>
              </a:solidFill>
              <a:latin typeface="Tw Cen MT"/>
            </a:endParaRPr>
          </a:p>
          <a:p>
            <a:pPr algn="l">
              <a:spcBef>
                <a:spcPts val="400"/>
              </a:spcBef>
              <a:buNone/>
            </a:pPr>
            <a:r>
              <a:rPr sz="2400" b="1" dirty="0">
                <a:solidFill>
                  <a:srgbClr val="52B788"/>
                </a:solidFill>
                <a:latin typeface="Tw Cen MT"/>
              </a:rPr>
              <a:t>SOBRE EL EMPOWERMENT</a:t>
            </a:r>
          </a:p>
          <a:p>
            <a:pPr algn="l">
              <a:spcBef>
                <a:spcPts val="400"/>
              </a:spcBef>
            </a:pPr>
            <a:r>
              <a:rPr sz="2400" b="0" dirty="0">
                <a:solidFill>
                  <a:srgbClr val="FFFFFF"/>
                </a:solidFill>
                <a:latin typeface="Tw Cen MT"/>
              </a:rPr>
              <a:t>Se dice </a:t>
            </a:r>
            <a:r>
              <a:rPr sz="2400" b="0" dirty="0" err="1">
                <a:solidFill>
                  <a:srgbClr val="FFFFFF"/>
                </a:solidFill>
                <a:latin typeface="Tw Cen MT"/>
              </a:rPr>
              <a:t>frecuentemente</a:t>
            </a:r>
            <a:r>
              <a:rPr sz="2400" b="0" dirty="0">
                <a:solidFill>
                  <a:srgbClr val="FFFFFF"/>
                </a:solidFill>
                <a:latin typeface="Tw Cen MT"/>
              </a:rPr>
              <a:t> </a:t>
            </a:r>
            <a:r>
              <a:rPr sz="2400" b="0" dirty="0" err="1">
                <a:solidFill>
                  <a:srgbClr val="FFFFFF"/>
                </a:solidFill>
                <a:latin typeface="Tw Cen MT"/>
              </a:rPr>
              <a:t>que</a:t>
            </a:r>
            <a:r>
              <a:rPr sz="2400" b="0" dirty="0">
                <a:solidFill>
                  <a:srgbClr val="FFFFFF"/>
                </a:solidFill>
                <a:latin typeface="Tw Cen MT"/>
              </a:rPr>
              <a:t> para </a:t>
            </a:r>
            <a:r>
              <a:rPr sz="2400" b="0" dirty="0" err="1">
                <a:solidFill>
                  <a:srgbClr val="FFFFFF"/>
                </a:solidFill>
                <a:latin typeface="Tw Cen MT"/>
              </a:rPr>
              <a:t>que</a:t>
            </a:r>
            <a:r>
              <a:rPr sz="2400" b="0" dirty="0">
                <a:solidFill>
                  <a:srgbClr val="FFFFFF"/>
                </a:solidFill>
                <a:latin typeface="Tw Cen MT"/>
              </a:rPr>
              <a:t> </a:t>
            </a:r>
            <a:r>
              <a:rPr sz="2400" b="0" dirty="0" err="1">
                <a:solidFill>
                  <a:srgbClr val="FFFFFF"/>
                </a:solidFill>
                <a:latin typeface="Tw Cen MT"/>
              </a:rPr>
              <a:t>el</a:t>
            </a:r>
            <a:r>
              <a:rPr sz="2400" b="0" dirty="0">
                <a:solidFill>
                  <a:srgbClr val="FFFFFF"/>
                </a:solidFill>
                <a:latin typeface="Tw Cen MT"/>
              </a:rPr>
              <a:t> empowerment </a:t>
            </a:r>
            <a:r>
              <a:rPr sz="2400" b="0" dirty="0" err="1">
                <a:solidFill>
                  <a:srgbClr val="FFFFFF"/>
                </a:solidFill>
                <a:latin typeface="Tw Cen MT"/>
              </a:rPr>
              <a:t>funcione</a:t>
            </a:r>
            <a:r>
              <a:rPr sz="2400" b="0" dirty="0">
                <a:solidFill>
                  <a:srgbClr val="FFFFFF"/>
                </a:solidFill>
                <a:latin typeface="Tw Cen MT"/>
              </a:rPr>
              <a:t>, </a:t>
            </a:r>
            <a:r>
              <a:rPr sz="2400" b="0" dirty="0" err="1">
                <a:solidFill>
                  <a:srgbClr val="FFFFFF"/>
                </a:solidFill>
                <a:latin typeface="Tw Cen MT"/>
              </a:rPr>
              <a:t>los</a:t>
            </a:r>
            <a:r>
              <a:rPr sz="2400" b="0" dirty="0">
                <a:solidFill>
                  <a:srgbClr val="FFFFFF"/>
                </a:solidFill>
                <a:latin typeface="Tw Cen MT"/>
              </a:rPr>
              <a:t> </a:t>
            </a:r>
            <a:r>
              <a:rPr sz="2400" b="0" dirty="0" err="1">
                <a:solidFill>
                  <a:srgbClr val="FFFFFF"/>
                </a:solidFill>
                <a:latin typeface="Tw Cen MT"/>
              </a:rPr>
              <a:t>gerentes</a:t>
            </a:r>
            <a:r>
              <a:rPr sz="2400" b="0" dirty="0">
                <a:solidFill>
                  <a:srgbClr val="FFFFFF"/>
                </a:solidFill>
                <a:latin typeface="Tw Cen MT"/>
              </a:rPr>
              <a:t> </a:t>
            </a:r>
            <a:r>
              <a:rPr sz="2400" b="0" dirty="0" err="1">
                <a:solidFill>
                  <a:srgbClr val="FFFFFF"/>
                </a:solidFill>
                <a:latin typeface="Tw Cen MT"/>
              </a:rPr>
              <a:t>deben</a:t>
            </a:r>
            <a:r>
              <a:rPr sz="2400" b="0" dirty="0">
                <a:solidFill>
                  <a:srgbClr val="FFFFFF"/>
                </a:solidFill>
                <a:latin typeface="Tw Cen MT"/>
              </a:rPr>
              <a:t> "</a:t>
            </a:r>
            <a:r>
              <a:rPr sz="2400" b="0" dirty="0" err="1">
                <a:solidFill>
                  <a:srgbClr val="FFFFFF"/>
                </a:solidFill>
                <a:latin typeface="Tw Cen MT"/>
              </a:rPr>
              <a:t>aflojar</a:t>
            </a:r>
            <a:r>
              <a:rPr sz="2400" b="0" dirty="0">
                <a:solidFill>
                  <a:srgbClr val="FFFFFF"/>
                </a:solidFill>
                <a:latin typeface="Tw Cen MT"/>
              </a:rPr>
              <a:t> </a:t>
            </a:r>
            <a:r>
              <a:rPr sz="2400" b="0" dirty="0" err="1">
                <a:solidFill>
                  <a:srgbClr val="FFFFFF"/>
                </a:solidFill>
                <a:latin typeface="Tw Cen MT"/>
              </a:rPr>
              <a:t>el</a:t>
            </a:r>
            <a:r>
              <a:rPr sz="2400" b="0" dirty="0">
                <a:solidFill>
                  <a:srgbClr val="FFFFFF"/>
                </a:solidFill>
                <a:latin typeface="Tw Cen MT"/>
              </a:rPr>
              <a:t> control" y </a:t>
            </a:r>
            <a:r>
              <a:rPr sz="2400" b="0" dirty="0" err="1">
                <a:solidFill>
                  <a:srgbClr val="FFFFFF"/>
                </a:solidFill>
                <a:latin typeface="Tw Cen MT"/>
              </a:rPr>
              <a:t>aprender</a:t>
            </a:r>
            <a:r>
              <a:rPr sz="2400" b="0" dirty="0">
                <a:solidFill>
                  <a:srgbClr val="FFFFFF"/>
                </a:solidFill>
                <a:latin typeface="Tw Cen MT"/>
              </a:rPr>
              <a:t> a </a:t>
            </a:r>
            <a:r>
              <a:rPr sz="2400" b="0" dirty="0" err="1">
                <a:solidFill>
                  <a:srgbClr val="FFFFFF"/>
                </a:solidFill>
                <a:latin typeface="Tw Cen MT"/>
              </a:rPr>
              <a:t>convivir</a:t>
            </a:r>
            <a:r>
              <a:rPr sz="2400" b="0" dirty="0">
                <a:solidFill>
                  <a:srgbClr val="FFFFFF"/>
                </a:solidFill>
                <a:latin typeface="Tw Cen MT"/>
              </a:rPr>
              <a:t> con </a:t>
            </a:r>
            <a:r>
              <a:rPr sz="2400" b="0" dirty="0" err="1">
                <a:solidFill>
                  <a:srgbClr val="FFFFFF"/>
                </a:solidFill>
                <a:latin typeface="Tw Cen MT"/>
              </a:rPr>
              <a:t>decisiones</a:t>
            </a:r>
            <a:r>
              <a:rPr sz="2400" b="0" dirty="0">
                <a:solidFill>
                  <a:srgbClr val="FFFFFF"/>
                </a:solidFill>
                <a:latin typeface="Tw Cen MT"/>
              </a:rPr>
              <a:t> </a:t>
            </a:r>
            <a:r>
              <a:rPr sz="2400" b="0" dirty="0" err="1">
                <a:solidFill>
                  <a:srgbClr val="FFFFFF"/>
                </a:solidFill>
                <a:latin typeface="Tw Cen MT"/>
              </a:rPr>
              <a:t>tomadas</a:t>
            </a:r>
            <a:r>
              <a:rPr sz="2400" b="0" dirty="0">
                <a:solidFill>
                  <a:srgbClr val="FFFFFF"/>
                </a:solidFill>
                <a:latin typeface="Tw Cen MT"/>
              </a:rPr>
              <a:t> </a:t>
            </a:r>
            <a:r>
              <a:rPr sz="2400" b="0" dirty="0" err="1">
                <a:solidFill>
                  <a:srgbClr val="FFFFFF"/>
                </a:solidFill>
                <a:latin typeface="Tw Cen MT"/>
              </a:rPr>
              <a:t>por</a:t>
            </a:r>
            <a:r>
              <a:rPr sz="2400" b="0" dirty="0">
                <a:solidFill>
                  <a:srgbClr val="FFFFFF"/>
                </a:solidFill>
                <a:latin typeface="Tw Cen MT"/>
              </a:rPr>
              <a:t> sus </a:t>
            </a:r>
            <a:r>
              <a:rPr sz="2400" b="0" dirty="0" err="1">
                <a:solidFill>
                  <a:srgbClr val="FFFFFF"/>
                </a:solidFill>
                <a:latin typeface="Tw Cen MT"/>
              </a:rPr>
              <a:t>subordinados</a:t>
            </a:r>
            <a:r>
              <a:rPr sz="2400" b="0" dirty="0">
                <a:solidFill>
                  <a:srgbClr val="FFFFFF"/>
                </a:solidFill>
                <a:latin typeface="Tw Cen MT"/>
              </a:rPr>
              <a:t>. ¿</a:t>
            </a:r>
            <a:r>
              <a:rPr sz="2400" b="0" dirty="0" err="1">
                <a:solidFill>
                  <a:srgbClr val="FFFFFF"/>
                </a:solidFill>
                <a:latin typeface="Tw Cen MT"/>
              </a:rPr>
              <a:t>Qué</a:t>
            </a:r>
            <a:r>
              <a:rPr sz="2400" b="0" dirty="0">
                <a:solidFill>
                  <a:srgbClr val="FFFFFF"/>
                </a:solidFill>
                <a:latin typeface="Tw Cen MT"/>
              </a:rPr>
              <a:t> </a:t>
            </a:r>
            <a:r>
              <a:rPr sz="2400" b="0" dirty="0" err="1">
                <a:solidFill>
                  <a:srgbClr val="FFFFFF"/>
                </a:solidFill>
                <a:latin typeface="Tw Cen MT"/>
              </a:rPr>
              <a:t>opinan</a:t>
            </a:r>
            <a:r>
              <a:rPr sz="2400" b="0" dirty="0">
                <a:solidFill>
                  <a:srgbClr val="FFFFFF"/>
                </a:solidFill>
                <a:latin typeface="Tw Cen MT"/>
              </a:rPr>
              <a:t>?</a:t>
            </a:r>
          </a:p>
          <a:p>
            <a:pPr algn="l">
              <a:spcBef>
                <a:spcPts val="400"/>
              </a:spcBef>
              <a:buNone/>
            </a:pPr>
            <a:endParaRPr lang="es-419" sz="2400" b="1" dirty="0">
              <a:solidFill>
                <a:srgbClr val="52B788"/>
              </a:solidFill>
              <a:latin typeface="Tw Cen MT"/>
            </a:endParaRPr>
          </a:p>
          <a:p>
            <a:pPr algn="l">
              <a:spcBef>
                <a:spcPts val="400"/>
              </a:spcBef>
              <a:buNone/>
            </a:pPr>
            <a:r>
              <a:rPr sz="2400" b="1" dirty="0">
                <a:solidFill>
                  <a:srgbClr val="52B788"/>
                </a:solidFill>
                <a:latin typeface="Tw Cen MT"/>
              </a:rPr>
              <a:t>SOBRE SU EMPRESA</a:t>
            </a:r>
          </a:p>
          <a:p>
            <a:pPr algn="l">
              <a:spcBef>
                <a:spcPts val="400"/>
              </a:spcBef>
            </a:pPr>
            <a:r>
              <a:rPr sz="2400" b="0" dirty="0" err="1">
                <a:solidFill>
                  <a:srgbClr val="FFFFFF"/>
                </a:solidFill>
                <a:latin typeface="Tw Cen MT"/>
              </a:rPr>
              <a:t>Analicen</a:t>
            </a:r>
            <a:r>
              <a:rPr sz="2400" b="0" dirty="0">
                <a:solidFill>
                  <a:srgbClr val="FFFFFF"/>
                </a:solidFill>
                <a:latin typeface="Tw Cen MT"/>
              </a:rPr>
              <a:t> la </a:t>
            </a:r>
            <a:r>
              <a:rPr sz="2400" b="0" dirty="0" err="1">
                <a:solidFill>
                  <a:srgbClr val="FFFFFF"/>
                </a:solidFill>
                <a:latin typeface="Tw Cen MT"/>
              </a:rPr>
              <a:t>toma</a:t>
            </a:r>
            <a:r>
              <a:rPr sz="2400" b="0" dirty="0">
                <a:solidFill>
                  <a:srgbClr val="FFFFFF"/>
                </a:solidFill>
                <a:latin typeface="Tw Cen MT"/>
              </a:rPr>
              <a:t> de </a:t>
            </a:r>
            <a:r>
              <a:rPr sz="2400" b="0" dirty="0" err="1">
                <a:solidFill>
                  <a:srgbClr val="FFFFFF"/>
                </a:solidFill>
                <a:latin typeface="Tw Cen MT"/>
              </a:rPr>
              <a:t>decisiones</a:t>
            </a:r>
            <a:r>
              <a:rPr sz="2400" b="0" dirty="0">
                <a:solidFill>
                  <a:srgbClr val="FFFFFF"/>
                </a:solidFill>
                <a:latin typeface="Tw Cen MT"/>
              </a:rPr>
              <a:t> </a:t>
            </a:r>
            <a:r>
              <a:rPr sz="2400" b="0" dirty="0" err="1">
                <a:solidFill>
                  <a:srgbClr val="FFFFFF"/>
                </a:solidFill>
                <a:latin typeface="Tw Cen MT"/>
              </a:rPr>
              <a:t>en</a:t>
            </a:r>
            <a:r>
              <a:rPr sz="2400" b="0" dirty="0">
                <a:solidFill>
                  <a:srgbClr val="FFFFFF"/>
                </a:solidFill>
                <a:latin typeface="Tw Cen MT"/>
              </a:rPr>
              <a:t> </a:t>
            </a:r>
            <a:r>
              <a:rPr sz="2400" b="0" dirty="0" err="1">
                <a:solidFill>
                  <a:srgbClr val="FFFFFF"/>
                </a:solidFill>
                <a:latin typeface="Tw Cen MT"/>
              </a:rPr>
              <a:t>su</a:t>
            </a:r>
            <a:r>
              <a:rPr sz="2400" b="0" dirty="0">
                <a:solidFill>
                  <a:srgbClr val="FFFFFF"/>
                </a:solidFill>
                <a:latin typeface="Tw Cen MT"/>
              </a:rPr>
              <a:t> </a:t>
            </a:r>
            <a:r>
              <a:rPr sz="2400" b="0" dirty="0" err="1">
                <a:solidFill>
                  <a:srgbClr val="FFFFFF"/>
                </a:solidFill>
                <a:latin typeface="Tw Cen MT"/>
              </a:rPr>
              <a:t>empresa</a:t>
            </a:r>
            <a:r>
              <a:rPr sz="2400" b="0" dirty="0">
                <a:solidFill>
                  <a:srgbClr val="FFFFFF"/>
                </a:solidFill>
                <a:latin typeface="Tw Cen MT"/>
              </a:rPr>
              <a:t>. ¿Se </a:t>
            </a:r>
            <a:r>
              <a:rPr sz="2400" b="0" dirty="0" err="1">
                <a:solidFill>
                  <a:srgbClr val="FFFFFF"/>
                </a:solidFill>
                <a:latin typeface="Tw Cen MT"/>
              </a:rPr>
              <a:t>cumple</a:t>
            </a:r>
            <a:r>
              <a:rPr sz="2400" b="0" dirty="0">
                <a:solidFill>
                  <a:srgbClr val="FFFFFF"/>
                </a:solidFill>
                <a:latin typeface="Tw Cen MT"/>
              </a:rPr>
              <a:t> la </a:t>
            </a:r>
            <a:r>
              <a:rPr sz="2400" b="0" dirty="0" err="1">
                <a:solidFill>
                  <a:srgbClr val="FFFFFF"/>
                </a:solidFill>
                <a:latin typeface="Tw Cen MT"/>
              </a:rPr>
              <a:t>división</a:t>
            </a:r>
            <a:r>
              <a:rPr sz="2400" b="0" dirty="0">
                <a:solidFill>
                  <a:srgbClr val="FFFFFF"/>
                </a:solidFill>
                <a:latin typeface="Tw Cen MT"/>
              </a:rPr>
              <a:t> entre </a:t>
            </a:r>
            <a:r>
              <a:rPr sz="2400" b="0" dirty="0" err="1">
                <a:solidFill>
                  <a:srgbClr val="FFFFFF"/>
                </a:solidFill>
                <a:latin typeface="Tw Cen MT"/>
              </a:rPr>
              <a:t>decisiones</a:t>
            </a:r>
            <a:r>
              <a:rPr sz="2400" b="0" dirty="0">
                <a:solidFill>
                  <a:srgbClr val="FFFFFF"/>
                </a:solidFill>
                <a:latin typeface="Tw Cen MT"/>
              </a:rPr>
              <a:t> de management y de control?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TALLER — Juan Zimmerman y el Estudio Contable</a:t>
            </a:r>
          </a:p>
        </p:txBody>
      </p:sp>
      <p:sp>
        <p:nvSpPr>
          <p:cNvPr id="5" name="TextBox 4"/>
          <p:cNvSpPr txBox="1"/>
          <p:nvPr/>
        </p:nvSpPr>
        <p:spPr>
          <a:xfrm>
            <a:off x="304800" y="1220000"/>
            <a:ext cx="8534400" cy="5201424"/>
          </a:xfrm>
          <a:prstGeom prst="rect">
            <a:avLst/>
          </a:prstGeom>
          <a:noFill/>
        </p:spPr>
        <p:txBody>
          <a:bodyPr wrap="square">
            <a:spAutoFit/>
          </a:bodyPr>
          <a:lstStyle/>
          <a:p>
            <a:pPr marL="342900" indent="-342900" algn="l">
              <a:spcBef>
                <a:spcPts val="400"/>
              </a:spcBef>
              <a:buFont typeface="Arial" panose="020B0604020202020204" pitchFamily="34" charset="0"/>
              <a:buChar char="•"/>
            </a:pPr>
            <a:r>
              <a:rPr sz="2400" b="1" dirty="0">
                <a:solidFill>
                  <a:srgbClr val="FFFFFF"/>
                </a:solidFill>
                <a:latin typeface="Tw Cen MT"/>
              </a:rPr>
              <a:t>¿Bajo </a:t>
            </a:r>
            <a:r>
              <a:rPr sz="2400" b="1" dirty="0" err="1">
                <a:solidFill>
                  <a:srgbClr val="FFFFFF"/>
                </a:solidFill>
                <a:latin typeface="Tw Cen MT"/>
              </a:rPr>
              <a:t>qué</a:t>
            </a:r>
            <a:r>
              <a:rPr sz="2400" b="1" dirty="0">
                <a:solidFill>
                  <a:srgbClr val="FFFFFF"/>
                </a:solidFill>
                <a:latin typeface="Tw Cen MT"/>
              </a:rPr>
              <a:t> </a:t>
            </a:r>
            <a:r>
              <a:rPr sz="2400" b="1" dirty="0" err="1">
                <a:solidFill>
                  <a:srgbClr val="FFFFFF"/>
                </a:solidFill>
                <a:latin typeface="Tw Cen MT"/>
              </a:rPr>
              <a:t>circunstancias</a:t>
            </a:r>
            <a:r>
              <a:rPr sz="2400" b="1" dirty="0">
                <a:solidFill>
                  <a:srgbClr val="FFFFFF"/>
                </a:solidFill>
                <a:latin typeface="Tw Cen MT"/>
              </a:rPr>
              <a:t> </a:t>
            </a:r>
            <a:r>
              <a:rPr sz="2400" b="1" dirty="0" err="1">
                <a:solidFill>
                  <a:srgbClr val="FFFFFF"/>
                </a:solidFill>
                <a:latin typeface="Tw Cen MT"/>
              </a:rPr>
              <a:t>podría</a:t>
            </a:r>
            <a:r>
              <a:rPr sz="2400" b="1" dirty="0">
                <a:solidFill>
                  <a:srgbClr val="FFFFFF"/>
                </a:solidFill>
                <a:latin typeface="Tw Cen MT"/>
              </a:rPr>
              <a:t> ser </a:t>
            </a:r>
            <a:r>
              <a:rPr sz="2400" b="1" dirty="0" err="1">
                <a:solidFill>
                  <a:srgbClr val="FFFFFF"/>
                </a:solidFill>
                <a:latin typeface="Tw Cen MT"/>
              </a:rPr>
              <a:t>óptimo</a:t>
            </a:r>
            <a:r>
              <a:rPr sz="2400" b="1" dirty="0">
                <a:solidFill>
                  <a:srgbClr val="FFFFFF"/>
                </a:solidFill>
                <a:latin typeface="Tw Cen MT"/>
              </a:rPr>
              <a:t> </a:t>
            </a:r>
            <a:r>
              <a:rPr sz="2400" b="1" dirty="0" err="1">
                <a:solidFill>
                  <a:srgbClr val="FFFFFF"/>
                </a:solidFill>
                <a:latin typeface="Tw Cen MT"/>
              </a:rPr>
              <a:t>responsabilizar</a:t>
            </a:r>
            <a:r>
              <a:rPr sz="2400" b="1" dirty="0">
                <a:solidFill>
                  <a:srgbClr val="FFFFFF"/>
                </a:solidFill>
                <a:latin typeface="Tw Cen MT"/>
              </a:rPr>
              <a:t> a un </a:t>
            </a:r>
            <a:r>
              <a:rPr sz="2400" b="1" dirty="0" err="1">
                <a:solidFill>
                  <a:srgbClr val="FFFFFF"/>
                </a:solidFill>
                <a:latin typeface="Tw Cen MT"/>
              </a:rPr>
              <a:t>individuo</a:t>
            </a:r>
            <a:r>
              <a:rPr sz="2400" b="1" dirty="0">
                <a:solidFill>
                  <a:srgbClr val="FFFFFF"/>
                </a:solidFill>
                <a:latin typeface="Tw Cen MT"/>
              </a:rPr>
              <a:t> tanto </a:t>
            </a:r>
            <a:r>
              <a:rPr sz="2400" b="1" dirty="0" err="1">
                <a:solidFill>
                  <a:srgbClr val="FFFFFF"/>
                </a:solidFill>
                <a:latin typeface="Tw Cen MT"/>
              </a:rPr>
              <a:t>por</a:t>
            </a:r>
            <a:r>
              <a:rPr sz="2400" b="1" dirty="0">
                <a:solidFill>
                  <a:srgbClr val="FFFFFF"/>
                </a:solidFill>
                <a:latin typeface="Tw Cen MT"/>
              </a:rPr>
              <a:t> las </a:t>
            </a:r>
            <a:r>
              <a:rPr sz="2400" b="1" dirty="0" err="1">
                <a:solidFill>
                  <a:srgbClr val="FFFFFF"/>
                </a:solidFill>
                <a:latin typeface="Tw Cen MT"/>
              </a:rPr>
              <a:t>decisiones</a:t>
            </a:r>
            <a:r>
              <a:rPr sz="2400" b="1" dirty="0">
                <a:solidFill>
                  <a:srgbClr val="FFFFFF"/>
                </a:solidFill>
                <a:latin typeface="Tw Cen MT"/>
              </a:rPr>
              <a:t> de management </a:t>
            </a:r>
            <a:r>
              <a:rPr sz="2400" b="1" dirty="0" err="1">
                <a:solidFill>
                  <a:srgbClr val="FFFFFF"/>
                </a:solidFill>
                <a:latin typeface="Tw Cen MT"/>
              </a:rPr>
              <a:t>como</a:t>
            </a:r>
            <a:r>
              <a:rPr sz="2400" b="1" dirty="0">
                <a:solidFill>
                  <a:srgbClr val="FFFFFF"/>
                </a:solidFill>
                <a:latin typeface="Tw Cen MT"/>
              </a:rPr>
              <a:t> </a:t>
            </a:r>
            <a:r>
              <a:rPr sz="2400" b="1" dirty="0" err="1">
                <a:solidFill>
                  <a:srgbClr val="FFFFFF"/>
                </a:solidFill>
                <a:latin typeface="Tw Cen MT"/>
              </a:rPr>
              <a:t>por</a:t>
            </a:r>
            <a:r>
              <a:rPr sz="2400" b="1" dirty="0">
                <a:solidFill>
                  <a:srgbClr val="FFFFFF"/>
                </a:solidFill>
                <a:latin typeface="Tw Cen MT"/>
              </a:rPr>
              <a:t> las de control?</a:t>
            </a:r>
          </a:p>
          <a:p>
            <a:pPr marL="342900" indent="-342900" algn="l">
              <a:spcBef>
                <a:spcPts val="400"/>
              </a:spcBef>
              <a:buFont typeface="Arial" panose="020B0604020202020204" pitchFamily="34" charset="0"/>
              <a:buChar char="•"/>
            </a:pPr>
            <a:r>
              <a:rPr sz="2400" b="1" dirty="0">
                <a:solidFill>
                  <a:srgbClr val="FFFFFF"/>
                </a:solidFill>
                <a:latin typeface="Tw Cen MT"/>
              </a:rPr>
              <a:t>¿</a:t>
            </a:r>
            <a:r>
              <a:rPr sz="2400" b="1" dirty="0" err="1">
                <a:solidFill>
                  <a:srgbClr val="FFFFFF"/>
                </a:solidFill>
                <a:latin typeface="Tw Cen MT"/>
              </a:rPr>
              <a:t>Cómo</a:t>
            </a:r>
            <a:r>
              <a:rPr sz="2400" b="1" dirty="0">
                <a:solidFill>
                  <a:srgbClr val="FFFFFF"/>
                </a:solidFill>
                <a:latin typeface="Tw Cen MT"/>
              </a:rPr>
              <a:t> </a:t>
            </a:r>
            <a:r>
              <a:rPr sz="2400" b="1" dirty="0" err="1">
                <a:solidFill>
                  <a:srgbClr val="FFFFFF"/>
                </a:solidFill>
                <a:latin typeface="Tw Cen MT"/>
              </a:rPr>
              <a:t>esperarías</a:t>
            </a:r>
            <a:r>
              <a:rPr sz="2400" b="1" dirty="0">
                <a:solidFill>
                  <a:srgbClr val="FFFFFF"/>
                </a:solidFill>
                <a:latin typeface="Tw Cen MT"/>
              </a:rPr>
              <a:t> </a:t>
            </a:r>
            <a:r>
              <a:rPr sz="2400" b="1" dirty="0" err="1">
                <a:solidFill>
                  <a:srgbClr val="FFFFFF"/>
                </a:solidFill>
                <a:latin typeface="Tw Cen MT"/>
              </a:rPr>
              <a:t>que</a:t>
            </a:r>
            <a:r>
              <a:rPr sz="2400" b="1" dirty="0">
                <a:solidFill>
                  <a:srgbClr val="FFFFFF"/>
                </a:solidFill>
                <a:latin typeface="Tw Cen MT"/>
              </a:rPr>
              <a:t> </a:t>
            </a:r>
            <a:r>
              <a:rPr sz="2400" b="1" dirty="0" err="1">
                <a:solidFill>
                  <a:srgbClr val="FFFFFF"/>
                </a:solidFill>
                <a:latin typeface="Tw Cen MT"/>
              </a:rPr>
              <a:t>fuese</a:t>
            </a:r>
            <a:r>
              <a:rPr sz="2400" b="1" dirty="0">
                <a:solidFill>
                  <a:srgbClr val="FFFFFF"/>
                </a:solidFill>
                <a:latin typeface="Tw Cen MT"/>
              </a:rPr>
              <a:t> la </a:t>
            </a:r>
            <a:r>
              <a:rPr sz="2400" b="1" dirty="0" err="1">
                <a:solidFill>
                  <a:srgbClr val="FFFFFF"/>
                </a:solidFill>
                <a:latin typeface="Tw Cen MT"/>
              </a:rPr>
              <a:t>propiedad</a:t>
            </a:r>
            <a:r>
              <a:rPr sz="2400" b="1" dirty="0">
                <a:solidFill>
                  <a:srgbClr val="FFFFFF"/>
                </a:solidFill>
                <a:latin typeface="Tw Cen MT"/>
              </a:rPr>
              <a:t> </a:t>
            </a:r>
            <a:r>
              <a:rPr sz="2400" b="1" dirty="0" err="1">
                <a:solidFill>
                  <a:srgbClr val="FFFFFF"/>
                </a:solidFill>
                <a:latin typeface="Tw Cen MT"/>
              </a:rPr>
              <a:t>en</a:t>
            </a:r>
            <a:r>
              <a:rPr sz="2400" b="1" dirty="0">
                <a:solidFill>
                  <a:srgbClr val="FFFFFF"/>
                </a:solidFill>
                <a:latin typeface="Tw Cen MT"/>
              </a:rPr>
              <a:t> </a:t>
            </a:r>
            <a:r>
              <a:rPr sz="2400" b="1" dirty="0" err="1">
                <a:solidFill>
                  <a:srgbClr val="FFFFFF"/>
                </a:solidFill>
                <a:latin typeface="Tw Cen MT"/>
              </a:rPr>
              <a:t>dicha</a:t>
            </a:r>
            <a:r>
              <a:rPr sz="2400" b="1" dirty="0">
                <a:solidFill>
                  <a:srgbClr val="FFFFFF"/>
                </a:solidFill>
                <a:latin typeface="Tw Cen MT"/>
              </a:rPr>
              <a:t> </a:t>
            </a:r>
            <a:r>
              <a:rPr sz="2400" b="1" dirty="0" err="1">
                <a:solidFill>
                  <a:srgbClr val="FFFFFF"/>
                </a:solidFill>
                <a:latin typeface="Tw Cen MT"/>
              </a:rPr>
              <a:t>compañía</a:t>
            </a:r>
            <a:r>
              <a:rPr sz="2400" b="1" dirty="0">
                <a:solidFill>
                  <a:srgbClr val="FFFFFF"/>
                </a:solidFill>
                <a:latin typeface="Tw Cen MT"/>
              </a:rPr>
              <a:t>?</a:t>
            </a:r>
          </a:p>
          <a:p>
            <a:pPr algn="l">
              <a:spcBef>
                <a:spcPts val="400"/>
              </a:spcBef>
              <a:buNone/>
            </a:pPr>
            <a:endParaRPr lang="es-419" sz="2400" b="1" dirty="0">
              <a:solidFill>
                <a:srgbClr val="52B788"/>
              </a:solidFill>
              <a:latin typeface="Tw Cen MT"/>
            </a:endParaRPr>
          </a:p>
          <a:p>
            <a:pPr algn="l">
              <a:spcBef>
                <a:spcPts val="400"/>
              </a:spcBef>
              <a:buNone/>
            </a:pPr>
            <a:r>
              <a:rPr lang="es-AR" sz="2400" b="1" dirty="0">
                <a:solidFill>
                  <a:srgbClr val="52B788"/>
                </a:solidFill>
                <a:latin typeface="Tw Cen MT"/>
              </a:rPr>
              <a:t>EL CASO</a:t>
            </a:r>
          </a:p>
          <a:p>
            <a:pPr algn="l">
              <a:spcBef>
                <a:spcPts val="400"/>
              </a:spcBef>
            </a:pPr>
            <a:r>
              <a:rPr lang="es-AR" sz="2400" b="0" dirty="0">
                <a:solidFill>
                  <a:srgbClr val="FFFFFF"/>
                </a:solidFill>
                <a:latin typeface="Tw Cen MT"/>
              </a:rPr>
              <a:t>Juan Zimmerman es dueño de un estudio contable local con 10 contadores. Fija su propio sueldo, toma la mayoría de las decisiones, inicia nuevas ideas y las implementa. No cuenta con directorio ni nadie monitorea sus acciones.</a:t>
            </a:r>
          </a:p>
          <a:p>
            <a:pPr algn="l">
              <a:spcBef>
                <a:spcPts val="400"/>
              </a:spcBef>
            </a:pPr>
            <a:endParaRPr lang="es-AR" sz="2400" b="0" dirty="0">
              <a:solidFill>
                <a:srgbClr val="FFFFFF"/>
              </a:solidFill>
              <a:latin typeface="Tw Cen MT"/>
            </a:endParaRPr>
          </a:p>
          <a:p>
            <a:pPr algn="ctr">
              <a:spcBef>
                <a:spcPts val="400"/>
              </a:spcBef>
            </a:pPr>
            <a:r>
              <a:rPr lang="es-AR" sz="2400" b="1" dirty="0">
                <a:solidFill>
                  <a:srgbClr val="FFFFFF"/>
                </a:solidFill>
                <a:latin typeface="Tw Cen MT"/>
              </a:rPr>
              <a:t>¿Este criterio de organización contradice el principio básico de separar las decisiones de </a:t>
            </a:r>
            <a:r>
              <a:rPr lang="es-AR" sz="2400" b="1" dirty="0" err="1">
                <a:solidFill>
                  <a:srgbClr val="FFFFFF"/>
                </a:solidFill>
                <a:latin typeface="Tw Cen MT"/>
              </a:rPr>
              <a:t>management</a:t>
            </a:r>
            <a:r>
              <a:rPr lang="es-AR" sz="2400" b="1" dirty="0">
                <a:solidFill>
                  <a:srgbClr val="FFFFFF"/>
                </a:solidFill>
                <a:latin typeface="Tw Cen MT"/>
              </a:rPr>
              <a:t> y control?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TALLER — United Airlines: Asignación de Vuelos</a:t>
            </a:r>
          </a:p>
        </p:txBody>
      </p:sp>
      <p:sp>
        <p:nvSpPr>
          <p:cNvPr id="5" name="TextBox 4"/>
          <p:cNvSpPr txBox="1"/>
          <p:nvPr/>
        </p:nvSpPr>
        <p:spPr>
          <a:xfrm>
            <a:off x="304800" y="1829600"/>
            <a:ext cx="8534400" cy="3621504"/>
          </a:xfrm>
          <a:prstGeom prst="rect">
            <a:avLst/>
          </a:prstGeom>
          <a:noFill/>
        </p:spPr>
        <p:txBody>
          <a:bodyPr wrap="square">
            <a:spAutoFit/>
          </a:bodyPr>
          <a:lstStyle/>
          <a:p>
            <a:pPr algn="l">
              <a:spcBef>
                <a:spcPts val="400"/>
              </a:spcBef>
            </a:pPr>
            <a:r>
              <a:rPr sz="2400" b="0" dirty="0">
                <a:solidFill>
                  <a:srgbClr val="FFFFFF"/>
                </a:solidFill>
                <a:latin typeface="Tw Cen MT"/>
              </a:rPr>
              <a:t>United Airlines </a:t>
            </a:r>
            <a:r>
              <a:rPr sz="2400" b="0" dirty="0" err="1">
                <a:solidFill>
                  <a:srgbClr val="FFFFFF"/>
                </a:solidFill>
                <a:latin typeface="Tw Cen MT"/>
              </a:rPr>
              <a:t>asigna</a:t>
            </a:r>
            <a:r>
              <a:rPr sz="2400" b="0" dirty="0">
                <a:solidFill>
                  <a:srgbClr val="FFFFFF"/>
                </a:solidFill>
                <a:latin typeface="Tw Cen MT"/>
              </a:rPr>
              <a:t> </a:t>
            </a:r>
            <a:r>
              <a:rPr sz="2400" b="0" dirty="0" err="1">
                <a:solidFill>
                  <a:srgbClr val="FFFFFF"/>
                </a:solidFill>
                <a:latin typeface="Tw Cen MT"/>
              </a:rPr>
              <a:t>azafatas</a:t>
            </a:r>
            <a:r>
              <a:rPr sz="2400" b="0" dirty="0">
                <a:solidFill>
                  <a:srgbClr val="FFFFFF"/>
                </a:solidFill>
                <a:latin typeface="Tw Cen MT"/>
              </a:rPr>
              <a:t> para </a:t>
            </a:r>
            <a:r>
              <a:rPr sz="2400" b="0" dirty="0" err="1">
                <a:solidFill>
                  <a:srgbClr val="FFFFFF"/>
                </a:solidFill>
                <a:latin typeface="Tw Cen MT"/>
              </a:rPr>
              <a:t>los</a:t>
            </a:r>
            <a:r>
              <a:rPr sz="2400" b="0" dirty="0">
                <a:solidFill>
                  <a:srgbClr val="FFFFFF"/>
                </a:solidFill>
                <a:latin typeface="Tw Cen MT"/>
              </a:rPr>
              <a:t> </a:t>
            </a:r>
            <a:r>
              <a:rPr sz="2400" b="0" dirty="0" err="1">
                <a:solidFill>
                  <a:srgbClr val="FFFFFF"/>
                </a:solidFill>
                <a:latin typeface="Tw Cen MT"/>
              </a:rPr>
              <a:t>distintos</a:t>
            </a:r>
            <a:r>
              <a:rPr sz="2400" b="0" dirty="0">
                <a:solidFill>
                  <a:srgbClr val="FFFFFF"/>
                </a:solidFill>
                <a:latin typeface="Tw Cen MT"/>
              </a:rPr>
              <a:t> </a:t>
            </a:r>
            <a:r>
              <a:rPr sz="2400" b="0" dirty="0" err="1">
                <a:solidFill>
                  <a:srgbClr val="FFFFFF"/>
                </a:solidFill>
                <a:latin typeface="Tw Cen MT"/>
              </a:rPr>
              <a:t>vuelos</a:t>
            </a:r>
            <a:r>
              <a:rPr sz="2400" b="0" dirty="0">
                <a:solidFill>
                  <a:srgbClr val="FFFFFF"/>
                </a:solidFill>
                <a:latin typeface="Tw Cen MT"/>
              </a:rPr>
              <a:t> de </a:t>
            </a:r>
            <a:r>
              <a:rPr sz="2400" b="0" dirty="0" err="1">
                <a:solidFill>
                  <a:srgbClr val="FFFFFF"/>
                </a:solidFill>
                <a:latin typeface="Tw Cen MT"/>
              </a:rPr>
              <a:t>acuerdo</a:t>
            </a:r>
            <a:r>
              <a:rPr sz="2400" b="0" dirty="0">
                <a:solidFill>
                  <a:srgbClr val="FFFFFF"/>
                </a:solidFill>
                <a:latin typeface="Tw Cen MT"/>
              </a:rPr>
              <a:t> al </a:t>
            </a:r>
            <a:r>
              <a:rPr sz="2400" b="0" dirty="0" err="1">
                <a:solidFill>
                  <a:srgbClr val="FFFFFF"/>
                </a:solidFill>
                <a:latin typeface="Tw Cen MT"/>
              </a:rPr>
              <a:t>siguiente</a:t>
            </a:r>
            <a:r>
              <a:rPr sz="2400" b="0" dirty="0">
                <a:solidFill>
                  <a:srgbClr val="FFFFFF"/>
                </a:solidFill>
                <a:latin typeface="Tw Cen MT"/>
              </a:rPr>
              <a:t> </a:t>
            </a:r>
            <a:r>
              <a:rPr sz="2400" b="0" dirty="0" err="1">
                <a:solidFill>
                  <a:srgbClr val="FFFFFF"/>
                </a:solidFill>
                <a:latin typeface="Tw Cen MT"/>
              </a:rPr>
              <a:t>procedimiento</a:t>
            </a:r>
            <a:r>
              <a:rPr sz="2400" b="0" dirty="0">
                <a:solidFill>
                  <a:srgbClr val="FFFFFF"/>
                </a:solidFill>
                <a:latin typeface="Tw Cen MT"/>
              </a:rPr>
              <a:t>:</a:t>
            </a:r>
          </a:p>
          <a:p>
            <a:pPr algn="l">
              <a:spcBef>
                <a:spcPts val="400"/>
              </a:spcBef>
            </a:pPr>
            <a:r>
              <a:rPr sz="2400" b="1" dirty="0">
                <a:solidFill>
                  <a:srgbClr val="FFFFFF"/>
                </a:solidFill>
                <a:latin typeface="Tw Cen MT"/>
              </a:rPr>
              <a:t>Una </a:t>
            </a:r>
            <a:r>
              <a:rPr sz="2400" b="1" dirty="0" err="1">
                <a:solidFill>
                  <a:srgbClr val="FFFFFF"/>
                </a:solidFill>
                <a:latin typeface="Tw Cen MT"/>
              </a:rPr>
              <a:t>vez</a:t>
            </a:r>
            <a:r>
              <a:rPr sz="2400" b="1" dirty="0">
                <a:solidFill>
                  <a:srgbClr val="FFFFFF"/>
                </a:solidFill>
                <a:latin typeface="Tw Cen MT"/>
              </a:rPr>
              <a:t> al </a:t>
            </a:r>
            <a:r>
              <a:rPr sz="2400" b="1" dirty="0" err="1">
                <a:solidFill>
                  <a:srgbClr val="FFFFFF"/>
                </a:solidFill>
                <a:latin typeface="Tw Cen MT"/>
              </a:rPr>
              <a:t>mes</a:t>
            </a:r>
            <a:r>
              <a:rPr sz="2400" b="1" dirty="0">
                <a:solidFill>
                  <a:srgbClr val="FFFFFF"/>
                </a:solidFill>
                <a:latin typeface="Tw Cen MT"/>
              </a:rPr>
              <a:t>, las </a:t>
            </a:r>
            <a:r>
              <a:rPr sz="2400" b="1" dirty="0" err="1">
                <a:solidFill>
                  <a:srgbClr val="FFFFFF"/>
                </a:solidFill>
                <a:latin typeface="Tw Cen MT"/>
              </a:rPr>
              <a:t>azafatas</a:t>
            </a:r>
            <a:r>
              <a:rPr sz="2400" b="1" dirty="0">
                <a:solidFill>
                  <a:srgbClr val="FFFFFF"/>
                </a:solidFill>
                <a:latin typeface="Tw Cen MT"/>
              </a:rPr>
              <a:t> </a:t>
            </a:r>
            <a:r>
              <a:rPr sz="2400" b="1" dirty="0" err="1">
                <a:solidFill>
                  <a:srgbClr val="FFFFFF"/>
                </a:solidFill>
                <a:latin typeface="Tw Cen MT"/>
              </a:rPr>
              <a:t>piden</a:t>
            </a:r>
            <a:r>
              <a:rPr sz="2400" b="1" dirty="0">
                <a:solidFill>
                  <a:srgbClr val="FFFFFF"/>
                </a:solidFill>
                <a:latin typeface="Tw Cen MT"/>
              </a:rPr>
              <a:t> las </a:t>
            </a:r>
            <a:r>
              <a:rPr sz="2400" b="1" dirty="0" err="1">
                <a:solidFill>
                  <a:srgbClr val="FFFFFF"/>
                </a:solidFill>
                <a:latin typeface="Tw Cen MT"/>
              </a:rPr>
              <a:t>rutas</a:t>
            </a:r>
            <a:r>
              <a:rPr sz="2400" b="1" dirty="0">
                <a:solidFill>
                  <a:srgbClr val="FFFFFF"/>
                </a:solidFill>
                <a:latin typeface="Tw Cen MT"/>
              </a:rPr>
              <a:t> </a:t>
            </a:r>
            <a:r>
              <a:rPr sz="2400" b="1" dirty="0" err="1">
                <a:solidFill>
                  <a:srgbClr val="FFFFFF"/>
                </a:solidFill>
                <a:latin typeface="Tw Cen MT"/>
              </a:rPr>
              <a:t>que</a:t>
            </a:r>
            <a:r>
              <a:rPr sz="2400" b="1" dirty="0">
                <a:solidFill>
                  <a:srgbClr val="FFFFFF"/>
                </a:solidFill>
                <a:latin typeface="Tw Cen MT"/>
              </a:rPr>
              <a:t> </a:t>
            </a:r>
            <a:r>
              <a:rPr sz="2400" b="1" dirty="0" err="1">
                <a:solidFill>
                  <a:srgbClr val="FFFFFF"/>
                </a:solidFill>
                <a:latin typeface="Tw Cen MT"/>
              </a:rPr>
              <a:t>prefieren</a:t>
            </a:r>
            <a:r>
              <a:rPr sz="2400" b="1" dirty="0">
                <a:solidFill>
                  <a:srgbClr val="FFFFFF"/>
                </a:solidFill>
                <a:latin typeface="Tw Cen MT"/>
              </a:rPr>
              <a:t>. Los </a:t>
            </a:r>
            <a:r>
              <a:rPr sz="2400" b="1" dirty="0" err="1">
                <a:solidFill>
                  <a:srgbClr val="FFFFFF"/>
                </a:solidFill>
                <a:latin typeface="Tw Cen MT"/>
              </a:rPr>
              <a:t>conflictos</a:t>
            </a:r>
            <a:r>
              <a:rPr sz="2400" b="1" dirty="0">
                <a:solidFill>
                  <a:srgbClr val="FFFFFF"/>
                </a:solidFill>
                <a:latin typeface="Tw Cen MT"/>
              </a:rPr>
              <a:t> se </a:t>
            </a:r>
            <a:r>
              <a:rPr sz="2400" b="1" dirty="0" err="1">
                <a:solidFill>
                  <a:srgbClr val="FFFFFF"/>
                </a:solidFill>
                <a:latin typeface="Tw Cen MT"/>
              </a:rPr>
              <a:t>resuelven</a:t>
            </a:r>
            <a:r>
              <a:rPr sz="2400" b="1" dirty="0">
                <a:solidFill>
                  <a:srgbClr val="FFFFFF"/>
                </a:solidFill>
                <a:latin typeface="Tw Cen MT"/>
              </a:rPr>
              <a:t> </a:t>
            </a:r>
            <a:r>
              <a:rPr sz="2400" b="1" dirty="0" err="1">
                <a:solidFill>
                  <a:srgbClr val="FFFFFF"/>
                </a:solidFill>
                <a:latin typeface="Tw Cen MT"/>
              </a:rPr>
              <a:t>estrictamente</a:t>
            </a:r>
            <a:r>
              <a:rPr sz="2400" b="1" dirty="0">
                <a:solidFill>
                  <a:srgbClr val="FFFFFF"/>
                </a:solidFill>
                <a:latin typeface="Tw Cen MT"/>
              </a:rPr>
              <a:t> </a:t>
            </a:r>
            <a:r>
              <a:rPr sz="2400" b="1" dirty="0" err="1">
                <a:solidFill>
                  <a:srgbClr val="FFFFFF"/>
                </a:solidFill>
                <a:latin typeface="Tw Cen MT"/>
              </a:rPr>
              <a:t>en</a:t>
            </a:r>
            <a:r>
              <a:rPr sz="2400" b="1" dirty="0">
                <a:solidFill>
                  <a:srgbClr val="FFFFFF"/>
                </a:solidFill>
                <a:latin typeface="Tw Cen MT"/>
              </a:rPr>
              <a:t> base a </a:t>
            </a:r>
            <a:r>
              <a:rPr sz="2400" b="1" dirty="0" err="1">
                <a:solidFill>
                  <a:srgbClr val="FFFFFF"/>
                </a:solidFill>
                <a:latin typeface="Tw Cen MT"/>
              </a:rPr>
              <a:t>antigüedad</a:t>
            </a:r>
            <a:r>
              <a:rPr lang="es-419" sz="2400" b="1" dirty="0">
                <a:solidFill>
                  <a:srgbClr val="FFFFFF"/>
                </a:solidFill>
                <a:latin typeface="Tw Cen MT"/>
              </a:rPr>
              <a:t>en la compañía.</a:t>
            </a:r>
          </a:p>
          <a:p>
            <a:pPr algn="l">
              <a:spcBef>
                <a:spcPts val="400"/>
              </a:spcBef>
            </a:pPr>
            <a:endParaRPr sz="2400" b="1" dirty="0">
              <a:solidFill>
                <a:srgbClr val="FFFFFF"/>
              </a:solidFill>
              <a:latin typeface="Tw Cen MT"/>
            </a:endParaRPr>
          </a:p>
          <a:p>
            <a:pPr algn="l">
              <a:spcBef>
                <a:spcPts val="400"/>
              </a:spcBef>
              <a:buNone/>
            </a:pPr>
            <a:r>
              <a:rPr sz="2400" b="1" dirty="0">
                <a:solidFill>
                  <a:srgbClr val="52B788"/>
                </a:solidFill>
                <a:latin typeface="Tw Cen MT"/>
              </a:rPr>
              <a:t>LA PREGUNTA</a:t>
            </a:r>
          </a:p>
          <a:p>
            <a:pPr algn="l">
              <a:spcBef>
                <a:spcPts val="400"/>
              </a:spcBef>
            </a:pPr>
            <a:r>
              <a:rPr sz="2400" b="1" dirty="0">
                <a:solidFill>
                  <a:srgbClr val="FFFFFF"/>
                </a:solidFill>
                <a:latin typeface="Tw Cen MT"/>
              </a:rPr>
              <a:t>¿Por </a:t>
            </a:r>
            <a:r>
              <a:rPr sz="2400" b="1" dirty="0" err="1">
                <a:solidFill>
                  <a:srgbClr val="FFFFFF"/>
                </a:solidFill>
                <a:latin typeface="Tw Cen MT"/>
              </a:rPr>
              <a:t>qué</a:t>
            </a:r>
            <a:r>
              <a:rPr sz="2400" b="1" dirty="0">
                <a:solidFill>
                  <a:srgbClr val="FFFFFF"/>
                </a:solidFill>
                <a:latin typeface="Tw Cen MT"/>
              </a:rPr>
              <a:t> United </a:t>
            </a:r>
            <a:r>
              <a:rPr sz="2400" b="1" dirty="0" err="1">
                <a:solidFill>
                  <a:srgbClr val="FFFFFF"/>
                </a:solidFill>
                <a:latin typeface="Tw Cen MT"/>
              </a:rPr>
              <a:t>usa</a:t>
            </a:r>
            <a:r>
              <a:rPr sz="2400" b="1" dirty="0">
                <a:solidFill>
                  <a:srgbClr val="FFFFFF"/>
                </a:solidFill>
                <a:latin typeface="Tw Cen MT"/>
              </a:rPr>
              <a:t> </a:t>
            </a:r>
            <a:r>
              <a:rPr sz="2400" b="1" dirty="0" err="1">
                <a:solidFill>
                  <a:srgbClr val="FFFFFF"/>
                </a:solidFill>
                <a:latin typeface="Tw Cen MT"/>
              </a:rPr>
              <a:t>este</a:t>
            </a:r>
            <a:r>
              <a:rPr sz="2400" b="1" dirty="0">
                <a:solidFill>
                  <a:srgbClr val="FFFFFF"/>
                </a:solidFill>
                <a:latin typeface="Tw Cen MT"/>
              </a:rPr>
              <a:t> </a:t>
            </a:r>
            <a:r>
              <a:rPr sz="2400" b="1" dirty="0" err="1">
                <a:solidFill>
                  <a:srgbClr val="FFFFFF"/>
                </a:solidFill>
                <a:latin typeface="Tw Cen MT"/>
              </a:rPr>
              <a:t>procedimiento</a:t>
            </a:r>
            <a:r>
              <a:rPr sz="2400" b="1" dirty="0">
                <a:solidFill>
                  <a:srgbClr val="FFFFFF"/>
                </a:solidFill>
                <a:latin typeface="Tw Cen MT"/>
              </a:rPr>
              <a:t> </a:t>
            </a:r>
            <a:r>
              <a:rPr sz="2400" b="1" dirty="0" err="1">
                <a:solidFill>
                  <a:srgbClr val="FFFFFF"/>
                </a:solidFill>
                <a:latin typeface="Tw Cen MT"/>
              </a:rPr>
              <a:t>en</a:t>
            </a:r>
            <a:r>
              <a:rPr sz="2400" b="1" dirty="0">
                <a:solidFill>
                  <a:srgbClr val="FFFFFF"/>
                </a:solidFill>
                <a:latin typeface="Tw Cen MT"/>
              </a:rPr>
              <a:t> </a:t>
            </a:r>
            <a:r>
              <a:rPr sz="2400" b="1" dirty="0" err="1">
                <a:solidFill>
                  <a:srgbClr val="FFFFFF"/>
                </a:solidFill>
                <a:latin typeface="Tw Cen MT"/>
              </a:rPr>
              <a:t>vez</a:t>
            </a:r>
            <a:r>
              <a:rPr sz="2400" b="1" dirty="0">
                <a:solidFill>
                  <a:srgbClr val="FFFFFF"/>
                </a:solidFill>
                <a:latin typeface="Tw Cen MT"/>
              </a:rPr>
              <a:t> de </a:t>
            </a:r>
            <a:r>
              <a:rPr sz="2400" b="1" dirty="0" err="1">
                <a:solidFill>
                  <a:srgbClr val="FFFFFF"/>
                </a:solidFill>
                <a:latin typeface="Tw Cen MT"/>
              </a:rPr>
              <a:t>tener</a:t>
            </a:r>
            <a:r>
              <a:rPr sz="2400" b="1" dirty="0">
                <a:solidFill>
                  <a:srgbClr val="FFFFFF"/>
                </a:solidFill>
                <a:latin typeface="Tw Cen MT"/>
              </a:rPr>
              <a:t> un supervisor </a:t>
            </a:r>
            <a:r>
              <a:rPr sz="2400" b="1" dirty="0" err="1">
                <a:solidFill>
                  <a:srgbClr val="FFFFFF"/>
                </a:solidFill>
                <a:latin typeface="Tw Cen MT"/>
              </a:rPr>
              <a:t>que</a:t>
            </a:r>
            <a:r>
              <a:rPr sz="2400" b="1" dirty="0">
                <a:solidFill>
                  <a:srgbClr val="FFFFFF"/>
                </a:solidFill>
                <a:latin typeface="Tw Cen MT"/>
              </a:rPr>
              <a:t> </a:t>
            </a:r>
            <a:r>
              <a:rPr sz="2400" b="1" dirty="0" err="1">
                <a:solidFill>
                  <a:srgbClr val="FFFFFF"/>
                </a:solidFill>
                <a:latin typeface="Tw Cen MT"/>
              </a:rPr>
              <a:t>asigne</a:t>
            </a:r>
            <a:r>
              <a:rPr sz="2400" b="1" dirty="0">
                <a:solidFill>
                  <a:srgbClr val="FFFFFF"/>
                </a:solidFill>
                <a:latin typeface="Tw Cen MT"/>
              </a:rPr>
              <a:t> </a:t>
            </a:r>
            <a:r>
              <a:rPr sz="2400" b="1" dirty="0" err="1">
                <a:solidFill>
                  <a:srgbClr val="FFFFFF"/>
                </a:solidFill>
                <a:latin typeface="Tw Cen MT"/>
              </a:rPr>
              <a:t>los</a:t>
            </a:r>
            <a:r>
              <a:rPr sz="2400" b="1" dirty="0">
                <a:solidFill>
                  <a:srgbClr val="FFFFFF"/>
                </a:solidFill>
                <a:latin typeface="Tw Cen MT"/>
              </a:rPr>
              <a:t> </a:t>
            </a:r>
            <a:r>
              <a:rPr sz="2400" b="1" dirty="0" err="1">
                <a:solidFill>
                  <a:srgbClr val="FFFFFF"/>
                </a:solidFill>
                <a:latin typeface="Tw Cen MT"/>
              </a:rPr>
              <a:t>vuelos</a:t>
            </a:r>
            <a:r>
              <a:rPr sz="2400" b="1" dirty="0">
                <a:solidFill>
                  <a:srgbClr val="FFFFFF"/>
                </a:solidFill>
                <a:latin typeface="Tw Cen MT"/>
              </a:rPr>
              <a:t> a las </a:t>
            </a:r>
            <a:r>
              <a:rPr sz="2400" b="1" dirty="0" err="1">
                <a:solidFill>
                  <a:srgbClr val="FFFFFF"/>
                </a:solidFill>
                <a:latin typeface="Tw Cen MT"/>
              </a:rPr>
              <a:t>azafatas</a:t>
            </a:r>
            <a:r>
              <a:rPr sz="2400" b="1" dirty="0">
                <a:solidFill>
                  <a:srgbClr val="FFFFFF"/>
                </a:solidFill>
                <a:latin typeface="Tw Cen MT"/>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Costos de Influencia</a:t>
            </a:r>
          </a:p>
        </p:txBody>
      </p:sp>
      <p:sp>
        <p:nvSpPr>
          <p:cNvPr id="5" name="TextBox 4"/>
          <p:cNvSpPr txBox="1"/>
          <p:nvPr/>
        </p:nvSpPr>
        <p:spPr>
          <a:xfrm>
            <a:off x="304800" y="1220000"/>
            <a:ext cx="8534400" cy="5304016"/>
          </a:xfrm>
          <a:prstGeom prst="rect">
            <a:avLst/>
          </a:prstGeom>
          <a:noFill/>
        </p:spPr>
        <p:txBody>
          <a:bodyPr wrap="square">
            <a:spAutoFit/>
          </a:bodyPr>
          <a:lstStyle/>
          <a:p>
            <a:pPr algn="l">
              <a:spcBef>
                <a:spcPts val="400"/>
              </a:spcBef>
            </a:pPr>
            <a:r>
              <a:rPr sz="2400" b="0" dirty="0">
                <a:solidFill>
                  <a:srgbClr val="222222"/>
                </a:solidFill>
                <a:latin typeface="Tw Cen MT"/>
              </a:rPr>
              <a:t>Las </a:t>
            </a:r>
            <a:r>
              <a:rPr sz="2400" b="0" dirty="0" err="1">
                <a:solidFill>
                  <a:srgbClr val="222222"/>
                </a:solidFill>
                <a:latin typeface="Tw Cen MT"/>
              </a:rPr>
              <a:t>organizaciones</a:t>
            </a:r>
            <a:r>
              <a:rPr sz="2400" b="0" dirty="0">
                <a:solidFill>
                  <a:srgbClr val="222222"/>
                </a:solidFill>
                <a:latin typeface="Tw Cen MT"/>
              </a:rPr>
              <a:t> </a:t>
            </a:r>
            <a:r>
              <a:rPr sz="2400" b="0" dirty="0" err="1">
                <a:solidFill>
                  <a:srgbClr val="222222"/>
                </a:solidFill>
                <a:latin typeface="Tw Cen MT"/>
              </a:rPr>
              <a:t>establecen</a:t>
            </a:r>
            <a:r>
              <a:rPr sz="2400" b="0" dirty="0">
                <a:solidFill>
                  <a:srgbClr val="222222"/>
                </a:solidFill>
                <a:latin typeface="Tw Cen MT"/>
              </a:rPr>
              <a:t> </a:t>
            </a:r>
            <a:r>
              <a:rPr sz="2400" b="0" dirty="0" err="1">
                <a:solidFill>
                  <a:srgbClr val="222222"/>
                </a:solidFill>
                <a:latin typeface="Tw Cen MT"/>
              </a:rPr>
              <a:t>normas</a:t>
            </a:r>
            <a:r>
              <a:rPr sz="2400" b="0" dirty="0">
                <a:solidFill>
                  <a:srgbClr val="222222"/>
                </a:solidFill>
                <a:latin typeface="Tw Cen MT"/>
              </a:rPr>
              <a:t> </a:t>
            </a:r>
            <a:r>
              <a:rPr sz="2400" b="0" dirty="0" err="1">
                <a:solidFill>
                  <a:srgbClr val="222222"/>
                </a:solidFill>
                <a:latin typeface="Tw Cen MT"/>
              </a:rPr>
              <a:t>burocráticas</a:t>
            </a:r>
            <a:r>
              <a:rPr sz="2400" b="0" dirty="0">
                <a:solidFill>
                  <a:srgbClr val="222222"/>
                </a:solidFill>
                <a:latin typeface="Tw Cen MT"/>
              </a:rPr>
              <a:t> para </a:t>
            </a:r>
            <a:r>
              <a:rPr sz="2400" b="0" dirty="0" err="1">
                <a:solidFill>
                  <a:srgbClr val="222222"/>
                </a:solidFill>
                <a:latin typeface="Tw Cen MT"/>
              </a:rPr>
              <a:t>limitar</a:t>
            </a:r>
            <a:r>
              <a:rPr sz="2400" b="0" dirty="0">
                <a:solidFill>
                  <a:srgbClr val="222222"/>
                </a:solidFill>
                <a:latin typeface="Tw Cen MT"/>
              </a:rPr>
              <a:t> </a:t>
            </a:r>
            <a:r>
              <a:rPr sz="2400" b="0" dirty="0" err="1">
                <a:solidFill>
                  <a:srgbClr val="222222"/>
                </a:solidFill>
                <a:latin typeface="Tw Cen MT"/>
              </a:rPr>
              <a:t>deliberadamente</a:t>
            </a:r>
            <a:r>
              <a:rPr sz="2400" b="0" dirty="0">
                <a:solidFill>
                  <a:srgbClr val="222222"/>
                </a:solidFill>
                <a:latin typeface="Tw Cen MT"/>
              </a:rPr>
              <a:t> la </a:t>
            </a:r>
            <a:r>
              <a:rPr sz="2400" b="0" dirty="0" err="1">
                <a:solidFill>
                  <a:srgbClr val="222222"/>
                </a:solidFill>
                <a:latin typeface="Tw Cen MT"/>
              </a:rPr>
              <a:t>toma</a:t>
            </a:r>
            <a:r>
              <a:rPr sz="2400" b="0" dirty="0">
                <a:solidFill>
                  <a:srgbClr val="222222"/>
                </a:solidFill>
                <a:latin typeface="Tw Cen MT"/>
              </a:rPr>
              <a:t> de </a:t>
            </a:r>
            <a:r>
              <a:rPr sz="2400" b="0" dirty="0" err="1">
                <a:solidFill>
                  <a:srgbClr val="222222"/>
                </a:solidFill>
                <a:latin typeface="Tw Cen MT"/>
              </a:rPr>
              <a:t>decisiones</a:t>
            </a:r>
            <a:r>
              <a:rPr sz="2400" b="0" dirty="0">
                <a:solidFill>
                  <a:srgbClr val="222222"/>
                </a:solidFill>
                <a:latin typeface="Tw Cen MT"/>
              </a:rPr>
              <a:t>.</a:t>
            </a:r>
          </a:p>
          <a:p>
            <a:pPr algn="l">
              <a:spcBef>
                <a:spcPts val="400"/>
              </a:spcBef>
              <a:buNone/>
            </a:pPr>
            <a:endParaRPr lang="es-419" sz="2400" b="1" dirty="0">
              <a:solidFill>
                <a:srgbClr val="8B0000"/>
              </a:solidFill>
              <a:latin typeface="Tw Cen MT"/>
            </a:endParaRPr>
          </a:p>
          <a:p>
            <a:pPr algn="l">
              <a:spcBef>
                <a:spcPts val="400"/>
              </a:spcBef>
              <a:buNone/>
            </a:pPr>
            <a:r>
              <a:rPr sz="2400" b="1" dirty="0">
                <a:solidFill>
                  <a:srgbClr val="8B0000"/>
                </a:solidFill>
                <a:latin typeface="Tw Cen MT"/>
              </a:rPr>
              <a:t>CARACTERÍSTICAS</a:t>
            </a:r>
          </a:p>
          <a:p>
            <a:pPr marL="342900" indent="-342900" algn="l">
              <a:spcBef>
                <a:spcPts val="400"/>
              </a:spcBef>
              <a:buFont typeface="Arial" panose="020B0604020202020204" pitchFamily="34" charset="0"/>
              <a:buChar char="•"/>
            </a:pPr>
            <a:r>
              <a:rPr sz="2400" b="0" dirty="0">
                <a:solidFill>
                  <a:srgbClr val="222222"/>
                </a:solidFill>
                <a:latin typeface="Tw Cen MT"/>
              </a:rPr>
              <a:t>Le </a:t>
            </a:r>
            <a:r>
              <a:rPr sz="2400" b="0" dirty="0" err="1">
                <a:solidFill>
                  <a:srgbClr val="222222"/>
                </a:solidFill>
                <a:latin typeface="Tw Cen MT"/>
              </a:rPr>
              <a:t>importan</a:t>
            </a:r>
            <a:r>
              <a:rPr sz="2400" b="0" dirty="0">
                <a:solidFill>
                  <a:srgbClr val="222222"/>
                </a:solidFill>
                <a:latin typeface="Tw Cen MT"/>
              </a:rPr>
              <a:t> </a:t>
            </a:r>
            <a:r>
              <a:rPr sz="2400" b="0" dirty="0" err="1">
                <a:solidFill>
                  <a:srgbClr val="222222"/>
                </a:solidFill>
                <a:latin typeface="Tw Cen MT"/>
              </a:rPr>
              <a:t>mucho</a:t>
            </a:r>
            <a:r>
              <a:rPr sz="2400" b="0" dirty="0">
                <a:solidFill>
                  <a:srgbClr val="222222"/>
                </a:solidFill>
                <a:latin typeface="Tw Cen MT"/>
              </a:rPr>
              <a:t> al </a:t>
            </a:r>
            <a:r>
              <a:rPr sz="2400" b="0" dirty="0" err="1">
                <a:solidFill>
                  <a:srgbClr val="222222"/>
                </a:solidFill>
                <a:latin typeface="Tw Cen MT"/>
              </a:rPr>
              <a:t>empleado</a:t>
            </a:r>
            <a:r>
              <a:rPr sz="2400" b="0" dirty="0">
                <a:solidFill>
                  <a:srgbClr val="222222"/>
                </a:solidFill>
                <a:latin typeface="Tw Cen MT"/>
              </a:rPr>
              <a:t> </a:t>
            </a:r>
            <a:r>
              <a:rPr sz="2400" b="0" dirty="0" err="1">
                <a:solidFill>
                  <a:srgbClr val="222222"/>
                </a:solidFill>
                <a:latin typeface="Tw Cen MT"/>
              </a:rPr>
              <a:t>pero</a:t>
            </a:r>
            <a:r>
              <a:rPr sz="2400" b="0" dirty="0">
                <a:solidFill>
                  <a:srgbClr val="222222"/>
                </a:solidFill>
                <a:latin typeface="Tw Cen MT"/>
              </a:rPr>
              <a:t> no son </a:t>
            </a:r>
            <a:r>
              <a:rPr sz="2400" b="0" dirty="0" err="1">
                <a:solidFill>
                  <a:srgbClr val="222222"/>
                </a:solidFill>
                <a:latin typeface="Tw Cen MT"/>
              </a:rPr>
              <a:t>sustanciales</a:t>
            </a:r>
            <a:r>
              <a:rPr sz="2400" b="0" dirty="0">
                <a:solidFill>
                  <a:srgbClr val="222222"/>
                </a:solidFill>
                <a:latin typeface="Tw Cen MT"/>
              </a:rPr>
              <a:t> para la </a:t>
            </a:r>
            <a:r>
              <a:rPr sz="2400" b="0" dirty="0" err="1">
                <a:solidFill>
                  <a:srgbClr val="222222"/>
                </a:solidFill>
                <a:latin typeface="Tw Cen MT"/>
              </a:rPr>
              <a:t>empresa</a:t>
            </a:r>
            <a:r>
              <a:rPr sz="2400" b="0" dirty="0">
                <a:solidFill>
                  <a:srgbClr val="222222"/>
                </a:solidFill>
                <a:latin typeface="Tw Cen MT"/>
              </a:rPr>
              <a:t>.</a:t>
            </a:r>
          </a:p>
          <a:p>
            <a:pPr marL="342900" indent="-342900" algn="l">
              <a:spcBef>
                <a:spcPts val="400"/>
              </a:spcBef>
              <a:buFont typeface="Arial" panose="020B0604020202020204" pitchFamily="34" charset="0"/>
              <a:buChar char="•"/>
            </a:pPr>
            <a:r>
              <a:rPr sz="2400" b="0" dirty="0" err="1">
                <a:solidFill>
                  <a:srgbClr val="222222"/>
                </a:solidFill>
                <a:latin typeface="Tw Cen MT"/>
              </a:rPr>
              <a:t>Surgen</a:t>
            </a:r>
            <a:r>
              <a:rPr sz="2400" b="0" dirty="0">
                <a:solidFill>
                  <a:srgbClr val="222222"/>
                </a:solidFill>
                <a:latin typeface="Tw Cen MT"/>
              </a:rPr>
              <a:t> </a:t>
            </a:r>
            <a:r>
              <a:rPr sz="2400" b="0" dirty="0" err="1">
                <a:solidFill>
                  <a:srgbClr val="222222"/>
                </a:solidFill>
                <a:latin typeface="Tw Cen MT"/>
              </a:rPr>
              <a:t>cuando</a:t>
            </a:r>
            <a:r>
              <a:rPr sz="2400" b="0" dirty="0">
                <a:solidFill>
                  <a:srgbClr val="222222"/>
                </a:solidFill>
                <a:latin typeface="Tw Cen MT"/>
              </a:rPr>
              <a:t> </a:t>
            </a:r>
            <a:r>
              <a:rPr sz="2400" b="0" dirty="0" err="1">
                <a:solidFill>
                  <a:srgbClr val="222222"/>
                </a:solidFill>
                <a:latin typeface="Tw Cen MT"/>
              </a:rPr>
              <a:t>los</a:t>
            </a:r>
            <a:r>
              <a:rPr sz="2400" b="0" dirty="0">
                <a:solidFill>
                  <a:srgbClr val="222222"/>
                </a:solidFill>
                <a:latin typeface="Tw Cen MT"/>
              </a:rPr>
              <a:t> </a:t>
            </a:r>
            <a:r>
              <a:rPr sz="2400" b="0" dirty="0" err="1">
                <a:solidFill>
                  <a:srgbClr val="222222"/>
                </a:solidFill>
                <a:latin typeface="Tw Cen MT"/>
              </a:rPr>
              <a:t>empleados</a:t>
            </a:r>
            <a:r>
              <a:rPr sz="2400" b="0" dirty="0">
                <a:solidFill>
                  <a:srgbClr val="222222"/>
                </a:solidFill>
                <a:latin typeface="Tw Cen MT"/>
              </a:rPr>
              <a:t> </a:t>
            </a:r>
            <a:r>
              <a:rPr sz="2400" b="0" dirty="0" err="1">
                <a:solidFill>
                  <a:srgbClr val="222222"/>
                </a:solidFill>
                <a:latin typeface="Tw Cen MT"/>
              </a:rPr>
              <a:t>intentan</a:t>
            </a:r>
            <a:r>
              <a:rPr sz="2400" b="0" dirty="0">
                <a:solidFill>
                  <a:srgbClr val="222222"/>
                </a:solidFill>
                <a:latin typeface="Tw Cen MT"/>
              </a:rPr>
              <a:t> </a:t>
            </a:r>
            <a:r>
              <a:rPr sz="2400" b="0" dirty="0" err="1">
                <a:solidFill>
                  <a:srgbClr val="222222"/>
                </a:solidFill>
                <a:latin typeface="Tw Cen MT"/>
              </a:rPr>
              <a:t>influir</a:t>
            </a:r>
            <a:r>
              <a:rPr sz="2400" b="0" dirty="0">
                <a:solidFill>
                  <a:srgbClr val="222222"/>
                </a:solidFill>
                <a:latin typeface="Tw Cen MT"/>
              </a:rPr>
              <a:t> </a:t>
            </a:r>
            <a:r>
              <a:rPr sz="2400" b="0" dirty="0" err="1">
                <a:solidFill>
                  <a:srgbClr val="222222"/>
                </a:solidFill>
                <a:latin typeface="Tw Cen MT"/>
              </a:rPr>
              <a:t>en</a:t>
            </a:r>
            <a:r>
              <a:rPr sz="2400" b="0" dirty="0">
                <a:solidFill>
                  <a:srgbClr val="222222"/>
                </a:solidFill>
                <a:latin typeface="Tw Cen MT"/>
              </a:rPr>
              <a:t> las </a:t>
            </a:r>
            <a:r>
              <a:rPr sz="2400" b="0" dirty="0" err="1">
                <a:solidFill>
                  <a:srgbClr val="222222"/>
                </a:solidFill>
                <a:latin typeface="Tw Cen MT"/>
              </a:rPr>
              <a:t>decisiones</a:t>
            </a:r>
            <a:r>
              <a:rPr sz="2400" b="0" dirty="0">
                <a:solidFill>
                  <a:srgbClr val="222222"/>
                </a:solidFill>
                <a:latin typeface="Tw Cen MT"/>
              </a:rPr>
              <a:t> </a:t>
            </a:r>
            <a:r>
              <a:rPr sz="2400" b="0" dirty="0" err="1">
                <a:solidFill>
                  <a:srgbClr val="222222"/>
                </a:solidFill>
                <a:latin typeface="Tw Cen MT"/>
              </a:rPr>
              <a:t>que</a:t>
            </a:r>
            <a:r>
              <a:rPr sz="2400" b="0" dirty="0">
                <a:solidFill>
                  <a:srgbClr val="222222"/>
                </a:solidFill>
                <a:latin typeface="Tw Cen MT"/>
              </a:rPr>
              <a:t> </a:t>
            </a:r>
            <a:r>
              <a:rPr sz="2400" b="0" dirty="0" err="1">
                <a:solidFill>
                  <a:srgbClr val="222222"/>
                </a:solidFill>
                <a:latin typeface="Tw Cen MT"/>
              </a:rPr>
              <a:t>los</a:t>
            </a:r>
            <a:r>
              <a:rPr sz="2400" b="0" dirty="0">
                <a:solidFill>
                  <a:srgbClr val="222222"/>
                </a:solidFill>
                <a:latin typeface="Tw Cen MT"/>
              </a:rPr>
              <a:t> </a:t>
            </a:r>
            <a:r>
              <a:rPr sz="2400" b="0" dirty="0" err="1">
                <a:solidFill>
                  <a:srgbClr val="222222"/>
                </a:solidFill>
                <a:latin typeface="Tw Cen MT"/>
              </a:rPr>
              <a:t>afectan</a:t>
            </a:r>
            <a:r>
              <a:rPr sz="2400" b="0" dirty="0">
                <a:solidFill>
                  <a:srgbClr val="222222"/>
                </a:solidFill>
                <a:latin typeface="Tw Cen MT"/>
              </a:rPr>
              <a:t> </a:t>
            </a:r>
            <a:r>
              <a:rPr sz="2400" b="0" dirty="0" err="1">
                <a:solidFill>
                  <a:srgbClr val="222222"/>
                </a:solidFill>
                <a:latin typeface="Tw Cen MT"/>
              </a:rPr>
              <a:t>directamente</a:t>
            </a:r>
            <a:r>
              <a:rPr sz="2400" b="0" dirty="0">
                <a:solidFill>
                  <a:srgbClr val="222222"/>
                </a:solidFill>
                <a:latin typeface="Tw Cen MT"/>
              </a:rPr>
              <a:t>.</a:t>
            </a:r>
          </a:p>
          <a:p>
            <a:pPr algn="l">
              <a:spcBef>
                <a:spcPts val="400"/>
              </a:spcBef>
              <a:buNone/>
            </a:pPr>
            <a:endParaRPr lang="es-419" sz="2400" b="1" dirty="0">
              <a:solidFill>
                <a:srgbClr val="8B0000"/>
              </a:solidFill>
              <a:latin typeface="Tw Cen MT"/>
            </a:endParaRPr>
          </a:p>
          <a:p>
            <a:pPr algn="l">
              <a:spcBef>
                <a:spcPts val="400"/>
              </a:spcBef>
              <a:buNone/>
            </a:pPr>
            <a:r>
              <a:rPr sz="2400" b="1" dirty="0">
                <a:solidFill>
                  <a:srgbClr val="8B0000"/>
                </a:solidFill>
                <a:latin typeface="Tw Cen MT"/>
              </a:rPr>
              <a:t>EJEMPLOS</a:t>
            </a:r>
            <a:r>
              <a:rPr lang="es-419" sz="2400" b="1" dirty="0">
                <a:solidFill>
                  <a:srgbClr val="8B0000"/>
                </a:solidFill>
                <a:latin typeface="Tw Cen MT"/>
              </a:rPr>
              <a:t>???</a:t>
            </a:r>
          </a:p>
          <a:p>
            <a:pPr algn="l">
              <a:spcBef>
                <a:spcPts val="400"/>
              </a:spcBef>
              <a:buNone/>
            </a:pPr>
            <a:endParaRPr sz="2400" b="1" dirty="0">
              <a:solidFill>
                <a:srgbClr val="8B0000"/>
              </a:solidFill>
              <a:latin typeface="Tw Cen MT"/>
            </a:endParaRPr>
          </a:p>
          <a:p>
            <a:pPr algn="ctr">
              <a:spcBef>
                <a:spcPts val="400"/>
              </a:spcBef>
            </a:pPr>
            <a:r>
              <a:rPr sz="2400" b="1" dirty="0">
                <a:solidFill>
                  <a:srgbClr val="222222"/>
                </a:solidFill>
                <a:latin typeface="Tw Cen MT"/>
              </a:rPr>
              <a:t>Las </a:t>
            </a:r>
            <a:r>
              <a:rPr sz="2400" b="1" dirty="0" err="1">
                <a:solidFill>
                  <a:srgbClr val="222222"/>
                </a:solidFill>
                <a:latin typeface="Tw Cen MT"/>
              </a:rPr>
              <a:t>normas</a:t>
            </a:r>
            <a:r>
              <a:rPr sz="2400" b="1" dirty="0">
                <a:solidFill>
                  <a:srgbClr val="222222"/>
                </a:solidFill>
                <a:latin typeface="Tw Cen MT"/>
              </a:rPr>
              <a:t> </a:t>
            </a:r>
            <a:r>
              <a:rPr sz="2400" b="1" dirty="0" err="1">
                <a:solidFill>
                  <a:srgbClr val="222222"/>
                </a:solidFill>
                <a:latin typeface="Tw Cen MT"/>
              </a:rPr>
              <a:t>burocráticas</a:t>
            </a:r>
            <a:r>
              <a:rPr sz="2400" b="1" dirty="0">
                <a:solidFill>
                  <a:srgbClr val="222222"/>
                </a:solidFill>
                <a:latin typeface="Tw Cen MT"/>
              </a:rPr>
              <a:t> </a:t>
            </a:r>
            <a:r>
              <a:rPr sz="2400" b="1" dirty="0" err="1">
                <a:solidFill>
                  <a:srgbClr val="222222"/>
                </a:solidFill>
                <a:latin typeface="Tw Cen MT"/>
              </a:rPr>
              <a:t>limitan</a:t>
            </a:r>
            <a:r>
              <a:rPr sz="2400" b="1" dirty="0">
                <a:solidFill>
                  <a:srgbClr val="222222"/>
                </a:solidFill>
                <a:latin typeface="Tw Cen MT"/>
              </a:rPr>
              <a:t> </a:t>
            </a:r>
            <a:r>
              <a:rPr sz="2400" b="1" dirty="0" err="1">
                <a:solidFill>
                  <a:srgbClr val="222222"/>
                </a:solidFill>
                <a:latin typeface="Tw Cen MT"/>
              </a:rPr>
              <a:t>el</a:t>
            </a:r>
            <a:r>
              <a:rPr sz="2400" b="1" dirty="0">
                <a:solidFill>
                  <a:srgbClr val="222222"/>
                </a:solidFill>
                <a:latin typeface="Tw Cen MT"/>
              </a:rPr>
              <a:t> </a:t>
            </a:r>
            <a:r>
              <a:rPr sz="2400" b="1" dirty="0" err="1">
                <a:solidFill>
                  <a:srgbClr val="222222"/>
                </a:solidFill>
                <a:latin typeface="Tw Cen MT"/>
              </a:rPr>
              <a:t>tiempo</a:t>
            </a:r>
            <a:r>
              <a:rPr sz="2400" b="1" dirty="0">
                <a:solidFill>
                  <a:srgbClr val="222222"/>
                </a:solidFill>
                <a:latin typeface="Tw Cen MT"/>
              </a:rPr>
              <a:t> y </a:t>
            </a:r>
            <a:r>
              <a:rPr sz="2400" b="1" dirty="0" err="1">
                <a:solidFill>
                  <a:srgbClr val="222222"/>
                </a:solidFill>
                <a:latin typeface="Tw Cen MT"/>
              </a:rPr>
              <a:t>los</a:t>
            </a:r>
            <a:r>
              <a:rPr sz="2400" b="1" dirty="0">
                <a:solidFill>
                  <a:srgbClr val="222222"/>
                </a:solidFill>
                <a:latin typeface="Tw Cen MT"/>
              </a:rPr>
              <a:t> </a:t>
            </a:r>
            <a:r>
              <a:rPr sz="2400" b="1" dirty="0" err="1">
                <a:solidFill>
                  <a:srgbClr val="222222"/>
                </a:solidFill>
                <a:latin typeface="Tw Cen MT"/>
              </a:rPr>
              <a:t>recursos</a:t>
            </a:r>
            <a:r>
              <a:rPr sz="2400" b="1" dirty="0">
                <a:solidFill>
                  <a:srgbClr val="222222"/>
                </a:solidFill>
                <a:latin typeface="Tw Cen MT"/>
              </a:rPr>
              <a:t> </a:t>
            </a:r>
            <a:r>
              <a:rPr sz="2400" b="1" dirty="0" err="1">
                <a:solidFill>
                  <a:srgbClr val="222222"/>
                </a:solidFill>
                <a:latin typeface="Tw Cen MT"/>
              </a:rPr>
              <a:t>que</a:t>
            </a:r>
            <a:r>
              <a:rPr sz="2400" b="1" dirty="0">
                <a:solidFill>
                  <a:srgbClr val="222222"/>
                </a:solidFill>
                <a:latin typeface="Tw Cen MT"/>
              </a:rPr>
              <a:t> </a:t>
            </a:r>
            <a:r>
              <a:rPr sz="2400" b="1" dirty="0" err="1">
                <a:solidFill>
                  <a:srgbClr val="222222"/>
                </a:solidFill>
                <a:latin typeface="Tw Cen MT"/>
              </a:rPr>
              <a:t>los</a:t>
            </a:r>
            <a:r>
              <a:rPr sz="2400" b="1" dirty="0">
                <a:solidFill>
                  <a:srgbClr val="222222"/>
                </a:solidFill>
                <a:latin typeface="Tw Cen MT"/>
              </a:rPr>
              <a:t> </a:t>
            </a:r>
            <a:r>
              <a:rPr sz="2400" b="1" dirty="0" err="1">
                <a:solidFill>
                  <a:srgbClr val="222222"/>
                </a:solidFill>
                <a:latin typeface="Tw Cen MT"/>
              </a:rPr>
              <a:t>empleados</a:t>
            </a:r>
            <a:r>
              <a:rPr sz="2400" b="1" dirty="0">
                <a:solidFill>
                  <a:srgbClr val="222222"/>
                </a:solidFill>
                <a:latin typeface="Tw Cen MT"/>
              </a:rPr>
              <a:t> </a:t>
            </a:r>
            <a:r>
              <a:rPr sz="2400" b="1" dirty="0" err="1">
                <a:solidFill>
                  <a:srgbClr val="222222"/>
                </a:solidFill>
                <a:latin typeface="Tw Cen MT"/>
              </a:rPr>
              <a:t>pueden</a:t>
            </a:r>
            <a:r>
              <a:rPr sz="2400" b="1" dirty="0">
                <a:solidFill>
                  <a:srgbClr val="222222"/>
                </a:solidFill>
                <a:latin typeface="Tw Cen MT"/>
              </a:rPr>
              <a:t> </a:t>
            </a:r>
            <a:r>
              <a:rPr sz="2400" b="1" dirty="0" err="1">
                <a:solidFill>
                  <a:srgbClr val="222222"/>
                </a:solidFill>
                <a:latin typeface="Tw Cen MT"/>
              </a:rPr>
              <a:t>dedicar</a:t>
            </a:r>
            <a:r>
              <a:rPr sz="2400" b="1" dirty="0">
                <a:solidFill>
                  <a:srgbClr val="222222"/>
                </a:solidFill>
                <a:latin typeface="Tw Cen MT"/>
              </a:rPr>
              <a:t> a </a:t>
            </a:r>
            <a:r>
              <a:rPr sz="2400" b="1" dirty="0" err="1">
                <a:solidFill>
                  <a:srgbClr val="222222"/>
                </a:solidFill>
                <a:latin typeface="Tw Cen MT"/>
              </a:rPr>
              <a:t>actividades</a:t>
            </a:r>
            <a:r>
              <a:rPr sz="2400" b="1" dirty="0">
                <a:solidFill>
                  <a:srgbClr val="222222"/>
                </a:solidFill>
                <a:latin typeface="Tw Cen MT"/>
              </a:rPr>
              <a:t> de </a:t>
            </a:r>
            <a:r>
              <a:rPr sz="2400" b="1" dirty="0" err="1">
                <a:solidFill>
                  <a:srgbClr val="222222"/>
                </a:solidFill>
                <a:latin typeface="Tw Cen MT"/>
              </a:rPr>
              <a:t>influencia</a:t>
            </a:r>
            <a:r>
              <a:rPr sz="2400" b="1" dirty="0">
                <a:solidFill>
                  <a:srgbClr val="222222"/>
                </a:solidFill>
                <a:latin typeface="Tw Cen MT"/>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TALLER — Start-up XYZ: Diagnóstico de AO</a:t>
            </a:r>
          </a:p>
        </p:txBody>
      </p:sp>
      <p:sp>
        <p:nvSpPr>
          <p:cNvPr id="5" name="TextBox 4"/>
          <p:cNvSpPr txBox="1"/>
          <p:nvPr/>
        </p:nvSpPr>
        <p:spPr>
          <a:xfrm>
            <a:off x="304800" y="1220000"/>
            <a:ext cx="8534400" cy="5427127"/>
          </a:xfrm>
          <a:prstGeom prst="rect">
            <a:avLst/>
          </a:prstGeom>
          <a:noFill/>
        </p:spPr>
        <p:txBody>
          <a:bodyPr wrap="square">
            <a:spAutoFit/>
          </a:bodyPr>
          <a:lstStyle/>
          <a:p>
            <a:pPr algn="l">
              <a:spcBef>
                <a:spcPts val="400"/>
              </a:spcBef>
            </a:pPr>
            <a:r>
              <a:rPr sz="2000" b="1" dirty="0">
                <a:solidFill>
                  <a:srgbClr val="FFFFFF"/>
                </a:solidFill>
                <a:latin typeface="Tw Cen MT"/>
              </a:rPr>
              <a:t>CONTEXTO</a:t>
            </a:r>
            <a:r>
              <a:rPr sz="2000" dirty="0">
                <a:solidFill>
                  <a:srgbClr val="FFFFFF"/>
                </a:solidFill>
                <a:latin typeface="Tw Cen MT"/>
              </a:rPr>
              <a:t>: Start-up de </a:t>
            </a:r>
            <a:r>
              <a:rPr sz="2000" dirty="0" err="1">
                <a:solidFill>
                  <a:srgbClr val="FFFFFF"/>
                </a:solidFill>
                <a:latin typeface="Tw Cen MT"/>
              </a:rPr>
              <a:t>desarrollo</a:t>
            </a:r>
            <a:r>
              <a:rPr sz="2000" dirty="0">
                <a:solidFill>
                  <a:srgbClr val="FFFFFF"/>
                </a:solidFill>
                <a:latin typeface="Tw Cen MT"/>
              </a:rPr>
              <a:t> de software para </a:t>
            </a:r>
            <a:r>
              <a:rPr sz="2000" dirty="0" err="1">
                <a:solidFill>
                  <a:srgbClr val="FFFFFF"/>
                </a:solidFill>
                <a:latin typeface="Tw Cen MT"/>
              </a:rPr>
              <a:t>clientes</a:t>
            </a:r>
            <a:r>
              <a:rPr sz="2000" dirty="0">
                <a:solidFill>
                  <a:srgbClr val="FFFFFF"/>
                </a:solidFill>
                <a:latin typeface="Tw Cen MT"/>
              </a:rPr>
              <a:t> de EE.UU., 2 </a:t>
            </a:r>
            <a:r>
              <a:rPr sz="2000" dirty="0" err="1">
                <a:solidFill>
                  <a:srgbClr val="FFFFFF"/>
                </a:solidFill>
                <a:latin typeface="Tw Cen MT"/>
              </a:rPr>
              <a:t>años</a:t>
            </a:r>
            <a:r>
              <a:rPr sz="2000" dirty="0">
                <a:solidFill>
                  <a:srgbClr val="FFFFFF"/>
                </a:solidFill>
                <a:latin typeface="Tw Cen MT"/>
              </a:rPr>
              <a:t> de </a:t>
            </a:r>
            <a:r>
              <a:rPr sz="2000" dirty="0" err="1">
                <a:solidFill>
                  <a:srgbClr val="FFFFFF"/>
                </a:solidFill>
                <a:latin typeface="Tw Cen MT"/>
              </a:rPr>
              <a:t>vida</a:t>
            </a:r>
            <a:r>
              <a:rPr sz="2000" dirty="0">
                <a:solidFill>
                  <a:srgbClr val="FFFFFF"/>
                </a:solidFill>
                <a:latin typeface="Tw Cen MT"/>
              </a:rPr>
              <a:t>, 35 personas. CEO </a:t>
            </a:r>
            <a:r>
              <a:rPr sz="2000" dirty="0" err="1">
                <a:solidFill>
                  <a:srgbClr val="FFFFFF"/>
                </a:solidFill>
                <a:latin typeface="Tw Cen MT"/>
              </a:rPr>
              <a:t>en</a:t>
            </a:r>
            <a:r>
              <a:rPr sz="2000" dirty="0">
                <a:solidFill>
                  <a:srgbClr val="FFFFFF"/>
                </a:solidFill>
                <a:latin typeface="Tw Cen MT"/>
              </a:rPr>
              <a:t> Uruguay, </a:t>
            </a:r>
            <a:r>
              <a:rPr sz="2000" dirty="0" err="1">
                <a:solidFill>
                  <a:srgbClr val="FFFFFF"/>
                </a:solidFill>
                <a:latin typeface="Tw Cen MT"/>
              </a:rPr>
              <a:t>equipos</a:t>
            </a:r>
            <a:r>
              <a:rPr sz="2000" dirty="0">
                <a:solidFill>
                  <a:srgbClr val="FFFFFF"/>
                </a:solidFill>
                <a:latin typeface="Tw Cen MT"/>
              </a:rPr>
              <a:t> staff </a:t>
            </a:r>
            <a:r>
              <a:rPr sz="2000" dirty="0" err="1">
                <a:solidFill>
                  <a:srgbClr val="FFFFFF"/>
                </a:solidFill>
                <a:latin typeface="Tw Cen MT"/>
              </a:rPr>
              <a:t>en</a:t>
            </a:r>
            <a:r>
              <a:rPr sz="2000" dirty="0">
                <a:solidFill>
                  <a:srgbClr val="FFFFFF"/>
                </a:solidFill>
                <a:latin typeface="Tw Cen MT"/>
              </a:rPr>
              <a:t> Argentina y EE.UU., </a:t>
            </a:r>
            <a:r>
              <a:rPr sz="2000" dirty="0" err="1">
                <a:solidFill>
                  <a:srgbClr val="FFFFFF"/>
                </a:solidFill>
                <a:latin typeface="Tw Cen MT"/>
              </a:rPr>
              <a:t>desarrolladores</a:t>
            </a:r>
            <a:r>
              <a:rPr sz="2000" dirty="0">
                <a:solidFill>
                  <a:srgbClr val="FFFFFF"/>
                </a:solidFill>
                <a:latin typeface="Tw Cen MT"/>
              </a:rPr>
              <a:t> </a:t>
            </a:r>
            <a:r>
              <a:rPr sz="2000" dirty="0" err="1">
                <a:solidFill>
                  <a:srgbClr val="FFFFFF"/>
                </a:solidFill>
                <a:latin typeface="Tw Cen MT"/>
              </a:rPr>
              <a:t>en</a:t>
            </a:r>
            <a:r>
              <a:rPr sz="2000" dirty="0">
                <a:solidFill>
                  <a:srgbClr val="FFFFFF"/>
                </a:solidFill>
                <a:latin typeface="Tw Cen MT"/>
              </a:rPr>
              <a:t> </a:t>
            </a:r>
            <a:r>
              <a:rPr sz="2000" dirty="0" err="1">
                <a:solidFill>
                  <a:srgbClr val="FFFFFF"/>
                </a:solidFill>
                <a:latin typeface="Tw Cen MT"/>
              </a:rPr>
              <a:t>toda</a:t>
            </a:r>
            <a:r>
              <a:rPr sz="2000" dirty="0">
                <a:solidFill>
                  <a:srgbClr val="FFFFFF"/>
                </a:solidFill>
                <a:latin typeface="Tw Cen MT"/>
              </a:rPr>
              <a:t> </a:t>
            </a:r>
            <a:r>
              <a:rPr sz="2000" dirty="0" err="1">
                <a:solidFill>
                  <a:srgbClr val="FFFFFF"/>
                </a:solidFill>
                <a:latin typeface="Tw Cen MT"/>
              </a:rPr>
              <a:t>Latinoamérica</a:t>
            </a:r>
            <a:r>
              <a:rPr sz="2000" dirty="0">
                <a:solidFill>
                  <a:srgbClr val="FFFFFF"/>
                </a:solidFill>
                <a:latin typeface="Tw Cen MT"/>
              </a:rPr>
              <a:t>.</a:t>
            </a:r>
            <a:endParaRPr lang="es-419" sz="2000" dirty="0">
              <a:solidFill>
                <a:srgbClr val="FFFFFF"/>
              </a:solidFill>
              <a:latin typeface="Tw Cen MT"/>
            </a:endParaRPr>
          </a:p>
          <a:p>
            <a:pPr algn="l">
              <a:spcBef>
                <a:spcPts val="400"/>
              </a:spcBef>
            </a:pPr>
            <a:endParaRPr sz="2000" dirty="0">
              <a:solidFill>
                <a:srgbClr val="FFFFFF"/>
              </a:solidFill>
              <a:latin typeface="Tw Cen MT"/>
            </a:endParaRPr>
          </a:p>
          <a:p>
            <a:pPr algn="l">
              <a:spcBef>
                <a:spcPts val="400"/>
              </a:spcBef>
            </a:pPr>
            <a:r>
              <a:rPr sz="2000" b="1" dirty="0">
                <a:solidFill>
                  <a:srgbClr val="FFFFFF"/>
                </a:solidFill>
                <a:latin typeface="Tw Cen MT"/>
              </a:rPr>
              <a:t>PROBLEMA: </a:t>
            </a:r>
            <a:r>
              <a:rPr sz="2000" dirty="0">
                <a:solidFill>
                  <a:srgbClr val="FFFFFF"/>
                </a:solidFill>
                <a:latin typeface="Tw Cen MT"/>
              </a:rPr>
              <a:t>El CEO también es </a:t>
            </a:r>
            <a:r>
              <a:rPr sz="2000" dirty="0" err="1">
                <a:solidFill>
                  <a:srgbClr val="FFFFFF"/>
                </a:solidFill>
                <a:latin typeface="Tw Cen MT"/>
              </a:rPr>
              <a:t>Gerente</a:t>
            </a:r>
            <a:r>
              <a:rPr sz="2000" dirty="0">
                <a:solidFill>
                  <a:srgbClr val="FFFFFF"/>
                </a:solidFill>
                <a:latin typeface="Tw Cen MT"/>
              </a:rPr>
              <a:t> </a:t>
            </a:r>
            <a:r>
              <a:rPr sz="2000" dirty="0" err="1">
                <a:solidFill>
                  <a:srgbClr val="FFFFFF"/>
                </a:solidFill>
                <a:latin typeface="Tw Cen MT"/>
              </a:rPr>
              <a:t>Comercial</a:t>
            </a:r>
            <a:r>
              <a:rPr sz="2000" dirty="0">
                <a:solidFill>
                  <a:srgbClr val="FFFFFF"/>
                </a:solidFill>
                <a:latin typeface="Tw Cen MT"/>
              </a:rPr>
              <a:t>. No hay </a:t>
            </a:r>
            <a:r>
              <a:rPr sz="2000" dirty="0" err="1">
                <a:solidFill>
                  <a:srgbClr val="FFFFFF"/>
                </a:solidFill>
                <a:latin typeface="Tw Cen MT"/>
              </a:rPr>
              <a:t>planificación</a:t>
            </a:r>
            <a:r>
              <a:rPr sz="2000" dirty="0">
                <a:solidFill>
                  <a:srgbClr val="FFFFFF"/>
                </a:solidFill>
                <a:latin typeface="Tw Cen MT"/>
              </a:rPr>
              <a:t> </a:t>
            </a:r>
            <a:r>
              <a:rPr sz="2000" dirty="0" err="1">
                <a:solidFill>
                  <a:srgbClr val="FFFFFF"/>
                </a:solidFill>
                <a:latin typeface="Tw Cen MT"/>
              </a:rPr>
              <a:t>corporativa</a:t>
            </a:r>
            <a:r>
              <a:rPr sz="2000" dirty="0">
                <a:solidFill>
                  <a:srgbClr val="FFFFFF"/>
                </a:solidFill>
                <a:latin typeface="Tw Cen MT"/>
              </a:rPr>
              <a:t>. Las </a:t>
            </a:r>
            <a:r>
              <a:rPr sz="2000" dirty="0" err="1">
                <a:solidFill>
                  <a:srgbClr val="FFFFFF"/>
                </a:solidFill>
                <a:latin typeface="Tw Cen MT"/>
              </a:rPr>
              <a:t>decisiones</a:t>
            </a:r>
            <a:r>
              <a:rPr sz="2000" dirty="0">
                <a:solidFill>
                  <a:srgbClr val="FFFFFF"/>
                </a:solidFill>
                <a:latin typeface="Tw Cen MT"/>
              </a:rPr>
              <a:t> se toman "</a:t>
            </a:r>
            <a:r>
              <a:rPr sz="2000" dirty="0" err="1">
                <a:solidFill>
                  <a:srgbClr val="FFFFFF"/>
                </a:solidFill>
                <a:latin typeface="Tw Cen MT"/>
              </a:rPr>
              <a:t>sobre</a:t>
            </a:r>
            <a:r>
              <a:rPr sz="2000" dirty="0">
                <a:solidFill>
                  <a:srgbClr val="FFFFFF"/>
                </a:solidFill>
                <a:latin typeface="Tw Cen MT"/>
              </a:rPr>
              <a:t> la </a:t>
            </a:r>
            <a:r>
              <a:rPr sz="2000" dirty="0" err="1">
                <a:solidFill>
                  <a:srgbClr val="FFFFFF"/>
                </a:solidFill>
                <a:latin typeface="Tw Cen MT"/>
              </a:rPr>
              <a:t>marcha</a:t>
            </a:r>
            <a:r>
              <a:rPr sz="2000" dirty="0">
                <a:solidFill>
                  <a:srgbClr val="FFFFFF"/>
                </a:solidFill>
                <a:latin typeface="Tw Cen MT"/>
              </a:rPr>
              <a:t>".</a:t>
            </a:r>
            <a:r>
              <a:rPr lang="es-419" sz="2000" dirty="0">
                <a:solidFill>
                  <a:srgbClr val="FFFFFF"/>
                </a:solidFill>
                <a:latin typeface="Tw Cen MT"/>
              </a:rPr>
              <a:t> Ejemplo: e</a:t>
            </a:r>
            <a:r>
              <a:rPr sz="2000" dirty="0">
                <a:solidFill>
                  <a:srgbClr val="FFFFFF"/>
                </a:solidFill>
                <a:latin typeface="Tw Cen MT"/>
              </a:rPr>
              <a:t>n un </a:t>
            </a:r>
            <a:r>
              <a:rPr sz="2000" dirty="0" err="1">
                <a:solidFill>
                  <a:srgbClr val="FFFFFF"/>
                </a:solidFill>
                <a:latin typeface="Tw Cen MT"/>
              </a:rPr>
              <a:t>mes</a:t>
            </a:r>
            <a:r>
              <a:rPr sz="2000" dirty="0">
                <a:solidFill>
                  <a:srgbClr val="FFFFFF"/>
                </a:solidFill>
                <a:latin typeface="Tw Cen MT"/>
              </a:rPr>
              <a:t> se </a:t>
            </a:r>
            <a:r>
              <a:rPr sz="2000" dirty="0" err="1">
                <a:solidFill>
                  <a:srgbClr val="FFFFFF"/>
                </a:solidFill>
                <a:latin typeface="Tw Cen MT"/>
              </a:rPr>
              <a:t>perdieron</a:t>
            </a:r>
            <a:r>
              <a:rPr sz="2000" dirty="0">
                <a:solidFill>
                  <a:srgbClr val="FFFFFF"/>
                </a:solidFill>
                <a:latin typeface="Tw Cen MT"/>
              </a:rPr>
              <a:t> 4 personas del staff </a:t>
            </a:r>
            <a:r>
              <a:rPr sz="2000" dirty="0" err="1">
                <a:solidFill>
                  <a:srgbClr val="FFFFFF"/>
                </a:solidFill>
                <a:latin typeface="Tw Cen MT"/>
              </a:rPr>
              <a:t>por</a:t>
            </a:r>
            <a:r>
              <a:rPr sz="2000" dirty="0">
                <a:solidFill>
                  <a:srgbClr val="FFFFFF"/>
                </a:solidFill>
                <a:latin typeface="Tw Cen MT"/>
              </a:rPr>
              <a:t> </a:t>
            </a:r>
            <a:r>
              <a:rPr sz="2000" dirty="0" err="1">
                <a:solidFill>
                  <a:srgbClr val="FFFFFF"/>
                </a:solidFill>
                <a:latin typeface="Tw Cen MT"/>
              </a:rPr>
              <a:t>el</a:t>
            </a:r>
            <a:r>
              <a:rPr sz="2000" dirty="0">
                <a:solidFill>
                  <a:srgbClr val="FFFFFF"/>
                </a:solidFill>
                <a:latin typeface="Tw Cen MT"/>
              </a:rPr>
              <a:t> </a:t>
            </a:r>
            <a:r>
              <a:rPr sz="2000" dirty="0" err="1">
                <a:solidFill>
                  <a:srgbClr val="FFFFFF"/>
                </a:solidFill>
                <a:latin typeface="Tw Cen MT"/>
              </a:rPr>
              <a:t>cambio</a:t>
            </a:r>
            <a:r>
              <a:rPr sz="2000" dirty="0">
                <a:solidFill>
                  <a:srgbClr val="FFFFFF"/>
                </a:solidFill>
                <a:latin typeface="Tw Cen MT"/>
              </a:rPr>
              <a:t> de </a:t>
            </a:r>
            <a:r>
              <a:rPr sz="2000" dirty="0" err="1">
                <a:solidFill>
                  <a:srgbClr val="FFFFFF"/>
                </a:solidFill>
                <a:latin typeface="Tw Cen MT"/>
              </a:rPr>
              <a:t>trabajo</a:t>
            </a:r>
            <a:r>
              <a:rPr sz="2000" dirty="0">
                <a:solidFill>
                  <a:srgbClr val="FFFFFF"/>
                </a:solidFill>
                <a:latin typeface="Tw Cen MT"/>
              </a:rPr>
              <a:t> </a:t>
            </a:r>
            <a:r>
              <a:rPr sz="2000" dirty="0" err="1">
                <a:solidFill>
                  <a:srgbClr val="FFFFFF"/>
                </a:solidFill>
                <a:latin typeface="Tw Cen MT"/>
              </a:rPr>
              <a:t>remoto</a:t>
            </a:r>
            <a:r>
              <a:rPr sz="2000" dirty="0">
                <a:solidFill>
                  <a:srgbClr val="FFFFFF"/>
                </a:solidFill>
                <a:latin typeface="Tw Cen MT"/>
              </a:rPr>
              <a:t> a </a:t>
            </a:r>
            <a:r>
              <a:rPr sz="2000" dirty="0" err="1">
                <a:solidFill>
                  <a:srgbClr val="FFFFFF"/>
                </a:solidFill>
                <a:latin typeface="Tw Cen MT"/>
              </a:rPr>
              <a:t>híbrido</a:t>
            </a:r>
            <a:r>
              <a:rPr sz="2000" dirty="0">
                <a:solidFill>
                  <a:srgbClr val="FFFFFF"/>
                </a:solidFill>
                <a:latin typeface="Tw Cen MT"/>
              </a:rPr>
              <a:t>.</a:t>
            </a:r>
            <a:endParaRPr lang="es-419" sz="2000" dirty="0">
              <a:solidFill>
                <a:srgbClr val="FFFFFF"/>
              </a:solidFill>
              <a:latin typeface="Tw Cen MT"/>
            </a:endParaRPr>
          </a:p>
          <a:p>
            <a:pPr algn="l">
              <a:spcBef>
                <a:spcPts val="400"/>
              </a:spcBef>
            </a:pPr>
            <a:endParaRPr sz="2000" dirty="0">
              <a:solidFill>
                <a:srgbClr val="FFFFFF"/>
              </a:solidFill>
              <a:latin typeface="Tw Cen MT"/>
            </a:endParaRPr>
          </a:p>
          <a:p>
            <a:pPr algn="l">
              <a:spcBef>
                <a:spcPts val="400"/>
              </a:spcBef>
            </a:pPr>
            <a:r>
              <a:rPr sz="2000" b="1" dirty="0">
                <a:solidFill>
                  <a:srgbClr val="FFFFFF"/>
                </a:solidFill>
                <a:latin typeface="Tw Cen MT"/>
              </a:rPr>
              <a:t>ENTORNO</a:t>
            </a:r>
            <a:r>
              <a:rPr sz="2000" dirty="0">
                <a:solidFill>
                  <a:srgbClr val="FFFFFF"/>
                </a:solidFill>
                <a:latin typeface="Tw Cen MT"/>
              </a:rPr>
              <a:t>: Alta </a:t>
            </a:r>
            <a:r>
              <a:rPr sz="2000" dirty="0" err="1">
                <a:solidFill>
                  <a:srgbClr val="FFFFFF"/>
                </a:solidFill>
                <a:latin typeface="Tw Cen MT"/>
              </a:rPr>
              <a:t>competencia</a:t>
            </a:r>
            <a:r>
              <a:rPr sz="2000" dirty="0">
                <a:solidFill>
                  <a:srgbClr val="FFFFFF"/>
                </a:solidFill>
                <a:latin typeface="Tw Cen MT"/>
              </a:rPr>
              <a:t>, </a:t>
            </a:r>
            <a:r>
              <a:rPr sz="2000" dirty="0" err="1">
                <a:solidFill>
                  <a:srgbClr val="FFFFFF"/>
                </a:solidFill>
                <a:latin typeface="Tw Cen MT"/>
              </a:rPr>
              <a:t>nuevos</a:t>
            </a:r>
            <a:r>
              <a:rPr sz="2000" dirty="0">
                <a:solidFill>
                  <a:srgbClr val="FFFFFF"/>
                </a:solidFill>
                <a:latin typeface="Tw Cen MT"/>
              </a:rPr>
              <a:t> </a:t>
            </a:r>
            <a:r>
              <a:rPr sz="2000" dirty="0" err="1">
                <a:solidFill>
                  <a:srgbClr val="FFFFFF"/>
                </a:solidFill>
                <a:latin typeface="Tw Cen MT"/>
              </a:rPr>
              <a:t>jugadores</a:t>
            </a:r>
            <a:r>
              <a:rPr sz="2000" dirty="0">
                <a:solidFill>
                  <a:srgbClr val="FFFFFF"/>
                </a:solidFill>
                <a:latin typeface="Tw Cen MT"/>
              </a:rPr>
              <a:t> </a:t>
            </a:r>
            <a:r>
              <a:rPr sz="2000" dirty="0" err="1">
                <a:solidFill>
                  <a:srgbClr val="FFFFFF"/>
                </a:solidFill>
                <a:latin typeface="Tw Cen MT"/>
              </a:rPr>
              <a:t>permanentes</a:t>
            </a:r>
            <a:r>
              <a:rPr sz="2000" dirty="0">
                <a:solidFill>
                  <a:srgbClr val="FFFFFF"/>
                </a:solidFill>
                <a:latin typeface="Tw Cen MT"/>
              </a:rPr>
              <a:t>, </a:t>
            </a:r>
            <a:r>
              <a:rPr sz="2000" dirty="0" err="1">
                <a:solidFill>
                  <a:srgbClr val="FFFFFF"/>
                </a:solidFill>
                <a:latin typeface="Tw Cen MT"/>
              </a:rPr>
              <a:t>tecnología</a:t>
            </a:r>
            <a:r>
              <a:rPr sz="2000" dirty="0">
                <a:solidFill>
                  <a:srgbClr val="FFFFFF"/>
                </a:solidFill>
                <a:latin typeface="Tw Cen MT"/>
              </a:rPr>
              <a:t> </a:t>
            </a:r>
            <a:r>
              <a:rPr sz="2000" dirty="0" err="1">
                <a:solidFill>
                  <a:srgbClr val="FFFFFF"/>
                </a:solidFill>
                <a:latin typeface="Tw Cen MT"/>
              </a:rPr>
              <a:t>en</a:t>
            </a:r>
            <a:r>
              <a:rPr sz="2000" dirty="0">
                <a:solidFill>
                  <a:srgbClr val="FFFFFF"/>
                </a:solidFill>
                <a:latin typeface="Tw Cen MT"/>
              </a:rPr>
              <a:t> </a:t>
            </a:r>
            <a:r>
              <a:rPr sz="2000" dirty="0" err="1">
                <a:solidFill>
                  <a:srgbClr val="FFFFFF"/>
                </a:solidFill>
                <a:latin typeface="Tw Cen MT"/>
              </a:rPr>
              <a:t>evolución</a:t>
            </a:r>
            <a:r>
              <a:rPr sz="2000" dirty="0">
                <a:solidFill>
                  <a:srgbClr val="FFFFFF"/>
                </a:solidFill>
                <a:latin typeface="Tw Cen MT"/>
              </a:rPr>
              <a:t> </a:t>
            </a:r>
            <a:r>
              <a:rPr sz="2000" dirty="0" err="1">
                <a:solidFill>
                  <a:srgbClr val="FFFFFF"/>
                </a:solidFill>
                <a:latin typeface="Tw Cen MT"/>
              </a:rPr>
              <a:t>constante</a:t>
            </a:r>
            <a:r>
              <a:rPr sz="2000" dirty="0">
                <a:solidFill>
                  <a:srgbClr val="FFFFFF"/>
                </a:solidFill>
                <a:latin typeface="Tw Cen MT"/>
              </a:rPr>
              <a:t>, </a:t>
            </a:r>
            <a:r>
              <a:rPr sz="2000" dirty="0" err="1">
                <a:solidFill>
                  <a:srgbClr val="FFFFFF"/>
                </a:solidFill>
                <a:latin typeface="Tw Cen MT"/>
              </a:rPr>
              <a:t>demandas</a:t>
            </a:r>
            <a:r>
              <a:rPr sz="2000" dirty="0">
                <a:solidFill>
                  <a:srgbClr val="FFFFFF"/>
                </a:solidFill>
                <a:latin typeface="Tw Cen MT"/>
              </a:rPr>
              <a:t> </a:t>
            </a:r>
            <a:r>
              <a:rPr lang="es-419" sz="2000" dirty="0">
                <a:solidFill>
                  <a:srgbClr val="FFFFFF"/>
                </a:solidFill>
                <a:latin typeface="Tw Cen MT"/>
              </a:rPr>
              <a:t>cambiantes</a:t>
            </a:r>
            <a:r>
              <a:rPr sz="2000" dirty="0">
                <a:solidFill>
                  <a:srgbClr val="FFFFFF"/>
                </a:solidFill>
                <a:latin typeface="Tw Cen MT"/>
              </a:rPr>
              <a:t> de </a:t>
            </a:r>
            <a:r>
              <a:rPr sz="2000" dirty="0" err="1">
                <a:solidFill>
                  <a:srgbClr val="FFFFFF"/>
                </a:solidFill>
                <a:latin typeface="Tw Cen MT"/>
              </a:rPr>
              <a:t>clientes</a:t>
            </a:r>
            <a:r>
              <a:rPr sz="2000" dirty="0">
                <a:solidFill>
                  <a:srgbClr val="FFFFFF"/>
                </a:solidFill>
                <a:latin typeface="Tw Cen MT"/>
              </a:rPr>
              <a:t>.</a:t>
            </a:r>
            <a:endParaRPr lang="es-419" sz="2000" dirty="0">
              <a:solidFill>
                <a:srgbClr val="FFFFFF"/>
              </a:solidFill>
              <a:latin typeface="Tw Cen MT"/>
            </a:endParaRPr>
          </a:p>
          <a:p>
            <a:pPr algn="l">
              <a:spcBef>
                <a:spcPts val="400"/>
              </a:spcBef>
            </a:pPr>
            <a:endParaRPr sz="2000" dirty="0">
              <a:solidFill>
                <a:srgbClr val="FFFFFF"/>
              </a:solidFill>
              <a:latin typeface="Tw Cen MT"/>
            </a:endParaRPr>
          </a:p>
          <a:p>
            <a:pPr algn="l">
              <a:spcBef>
                <a:spcPts val="400"/>
              </a:spcBef>
              <a:buNone/>
            </a:pPr>
            <a:r>
              <a:rPr sz="2000" dirty="0">
                <a:solidFill>
                  <a:srgbClr val="52B788"/>
                </a:solidFill>
                <a:latin typeface="Tw Cen MT"/>
              </a:rPr>
              <a:t>CONSIGNA</a:t>
            </a:r>
          </a:p>
          <a:p>
            <a:pPr algn="l">
              <a:spcBef>
                <a:spcPts val="400"/>
              </a:spcBef>
            </a:pPr>
            <a:r>
              <a:rPr sz="2000" dirty="0">
                <a:solidFill>
                  <a:srgbClr val="FFFFFF"/>
                </a:solidFill>
                <a:latin typeface="Tw Cen MT"/>
              </a:rPr>
              <a:t>1. </a:t>
            </a:r>
            <a:r>
              <a:rPr sz="2000" dirty="0" err="1">
                <a:solidFill>
                  <a:srgbClr val="FFFFFF"/>
                </a:solidFill>
                <a:latin typeface="Tw Cen MT"/>
              </a:rPr>
              <a:t>Realizar</a:t>
            </a:r>
            <a:r>
              <a:rPr sz="2000" dirty="0">
                <a:solidFill>
                  <a:srgbClr val="FFFFFF"/>
                </a:solidFill>
                <a:latin typeface="Tw Cen MT"/>
              </a:rPr>
              <a:t> un </a:t>
            </a:r>
            <a:r>
              <a:rPr sz="2000" dirty="0" err="1">
                <a:solidFill>
                  <a:srgbClr val="FFFFFF"/>
                </a:solidFill>
                <a:latin typeface="Tw Cen MT"/>
              </a:rPr>
              <a:t>diagnóstico</a:t>
            </a:r>
            <a:r>
              <a:rPr sz="2000" dirty="0">
                <a:solidFill>
                  <a:srgbClr val="FFFFFF"/>
                </a:solidFill>
                <a:latin typeface="Tw Cen MT"/>
              </a:rPr>
              <a:t> de la </a:t>
            </a:r>
            <a:r>
              <a:rPr sz="2000" dirty="0" err="1">
                <a:solidFill>
                  <a:srgbClr val="FFFFFF"/>
                </a:solidFill>
                <a:latin typeface="Tw Cen MT"/>
              </a:rPr>
              <a:t>situación</a:t>
            </a:r>
            <a:r>
              <a:rPr sz="2000" dirty="0">
                <a:solidFill>
                  <a:srgbClr val="FFFFFF"/>
                </a:solidFill>
                <a:latin typeface="Tw Cen MT"/>
              </a:rPr>
              <a:t> actual </a:t>
            </a:r>
            <a:r>
              <a:rPr sz="2000" dirty="0" err="1">
                <a:solidFill>
                  <a:srgbClr val="FFFFFF"/>
                </a:solidFill>
                <a:latin typeface="Tw Cen MT"/>
              </a:rPr>
              <a:t>en</a:t>
            </a:r>
            <a:r>
              <a:rPr sz="2000" dirty="0">
                <a:solidFill>
                  <a:srgbClr val="FFFFFF"/>
                </a:solidFill>
                <a:latin typeface="Tw Cen MT"/>
              </a:rPr>
              <a:t> </a:t>
            </a:r>
            <a:r>
              <a:rPr sz="2000" dirty="0" err="1">
                <a:solidFill>
                  <a:srgbClr val="FFFFFF"/>
                </a:solidFill>
                <a:latin typeface="Tw Cen MT"/>
              </a:rPr>
              <a:t>términos</a:t>
            </a:r>
            <a:r>
              <a:rPr sz="2000" dirty="0">
                <a:solidFill>
                  <a:srgbClr val="FFFFFF"/>
                </a:solidFill>
                <a:latin typeface="Tw Cen MT"/>
              </a:rPr>
              <a:t> de </a:t>
            </a:r>
            <a:r>
              <a:rPr sz="2000" dirty="0" err="1">
                <a:solidFill>
                  <a:srgbClr val="FFFFFF"/>
                </a:solidFill>
                <a:latin typeface="Tw Cen MT"/>
              </a:rPr>
              <a:t>asignación</a:t>
            </a:r>
            <a:r>
              <a:rPr sz="2000" dirty="0">
                <a:solidFill>
                  <a:srgbClr val="FFFFFF"/>
                </a:solidFill>
                <a:latin typeface="Tw Cen MT"/>
              </a:rPr>
              <a:t> de </a:t>
            </a:r>
            <a:r>
              <a:rPr sz="2000" dirty="0" err="1">
                <a:solidFill>
                  <a:srgbClr val="FFFFFF"/>
                </a:solidFill>
                <a:latin typeface="Tw Cen MT"/>
              </a:rPr>
              <a:t>autoridad</a:t>
            </a:r>
            <a:r>
              <a:rPr sz="2000" dirty="0">
                <a:solidFill>
                  <a:srgbClr val="FFFFFF"/>
                </a:solidFill>
                <a:latin typeface="Tw Cen MT"/>
              </a:rPr>
              <a:t>.</a:t>
            </a:r>
          </a:p>
          <a:p>
            <a:pPr algn="l">
              <a:spcBef>
                <a:spcPts val="400"/>
              </a:spcBef>
            </a:pPr>
            <a:r>
              <a:rPr sz="2000" dirty="0">
                <a:solidFill>
                  <a:srgbClr val="FFFFFF"/>
                </a:solidFill>
                <a:latin typeface="Tw Cen MT"/>
              </a:rPr>
              <a:t>2. </a:t>
            </a:r>
            <a:r>
              <a:rPr sz="2000" dirty="0" err="1">
                <a:solidFill>
                  <a:srgbClr val="FFFFFF"/>
                </a:solidFill>
                <a:latin typeface="Tw Cen MT"/>
              </a:rPr>
              <a:t>Establecer</a:t>
            </a:r>
            <a:r>
              <a:rPr sz="2000" dirty="0">
                <a:solidFill>
                  <a:srgbClr val="FFFFFF"/>
                </a:solidFill>
                <a:latin typeface="Tw Cen MT"/>
              </a:rPr>
              <a:t> </a:t>
            </a:r>
            <a:r>
              <a:rPr sz="2000" dirty="0" err="1">
                <a:solidFill>
                  <a:srgbClr val="FFFFFF"/>
                </a:solidFill>
                <a:latin typeface="Tw Cen MT"/>
              </a:rPr>
              <a:t>los</a:t>
            </a:r>
            <a:r>
              <a:rPr sz="2000" dirty="0">
                <a:solidFill>
                  <a:srgbClr val="FFFFFF"/>
                </a:solidFill>
                <a:latin typeface="Tw Cen MT"/>
              </a:rPr>
              <a:t> </a:t>
            </a:r>
            <a:r>
              <a:rPr sz="2000" dirty="0" err="1">
                <a:solidFill>
                  <a:srgbClr val="FFFFFF"/>
                </a:solidFill>
                <a:latin typeface="Tw Cen MT"/>
              </a:rPr>
              <a:t>conceptos</a:t>
            </a:r>
            <a:r>
              <a:rPr sz="2000" dirty="0">
                <a:solidFill>
                  <a:srgbClr val="FFFFFF"/>
                </a:solidFill>
                <a:latin typeface="Tw Cen MT"/>
              </a:rPr>
              <a:t> de la AO </a:t>
            </a:r>
            <a:r>
              <a:rPr sz="2000" dirty="0" err="1">
                <a:solidFill>
                  <a:srgbClr val="FFFFFF"/>
                </a:solidFill>
                <a:latin typeface="Tw Cen MT"/>
              </a:rPr>
              <a:t>que</a:t>
            </a:r>
            <a:r>
              <a:rPr sz="2000" dirty="0">
                <a:solidFill>
                  <a:srgbClr val="FFFFFF"/>
                </a:solidFill>
                <a:latin typeface="Tw Cen MT"/>
              </a:rPr>
              <a:t> </a:t>
            </a:r>
            <a:r>
              <a:rPr sz="2000" dirty="0" err="1">
                <a:solidFill>
                  <a:srgbClr val="FFFFFF"/>
                </a:solidFill>
                <a:latin typeface="Tw Cen MT"/>
              </a:rPr>
              <a:t>permitirían</a:t>
            </a:r>
            <a:r>
              <a:rPr sz="2000" dirty="0">
                <a:solidFill>
                  <a:srgbClr val="FFFFFF"/>
                </a:solidFill>
                <a:latin typeface="Tw Cen MT"/>
              </a:rPr>
              <a:t> </a:t>
            </a:r>
            <a:r>
              <a:rPr sz="2000" dirty="0" err="1">
                <a:solidFill>
                  <a:srgbClr val="FFFFFF"/>
                </a:solidFill>
                <a:latin typeface="Tw Cen MT"/>
              </a:rPr>
              <a:t>cumplir</a:t>
            </a:r>
            <a:r>
              <a:rPr sz="2000" dirty="0">
                <a:solidFill>
                  <a:srgbClr val="FFFFFF"/>
                </a:solidFill>
                <a:latin typeface="Tw Cen MT"/>
              </a:rPr>
              <a:t> con la </a:t>
            </a:r>
            <a:r>
              <a:rPr sz="2000" dirty="0" err="1">
                <a:solidFill>
                  <a:srgbClr val="FFFFFF"/>
                </a:solidFill>
                <a:latin typeface="Tw Cen MT"/>
              </a:rPr>
              <a:t>estrategia</a:t>
            </a:r>
            <a:r>
              <a:rPr sz="2000" dirty="0">
                <a:solidFill>
                  <a:srgbClr val="FFFFFF"/>
                </a:solidFill>
                <a:latin typeface="Tw Cen MT"/>
              </a:rPr>
              <a:t> de </a:t>
            </a:r>
            <a:r>
              <a:rPr sz="2000" dirty="0" err="1">
                <a:solidFill>
                  <a:srgbClr val="FFFFFF"/>
                </a:solidFill>
                <a:latin typeface="Tw Cen MT"/>
              </a:rPr>
              <a:t>crecimiento</a:t>
            </a:r>
            <a:r>
              <a:rPr sz="2000" dirty="0">
                <a:solidFill>
                  <a:srgbClr val="FFFFFF"/>
                </a:solidFill>
                <a:latin typeface="Tw Cen MT"/>
              </a:rPr>
              <a:t> </a:t>
            </a:r>
            <a:r>
              <a:rPr sz="2000" dirty="0" err="1">
                <a:solidFill>
                  <a:srgbClr val="FFFFFF"/>
                </a:solidFill>
                <a:latin typeface="Tw Cen MT"/>
              </a:rPr>
              <a:t>sostenido</a:t>
            </a:r>
            <a:r>
              <a:rPr sz="2000" dirty="0">
                <a:solidFill>
                  <a:srgbClr val="FFFFFF"/>
                </a:solidFill>
                <a:latin typeface="Tw Cen MT"/>
              </a:rPr>
              <a:t>. </a:t>
            </a:r>
            <a:r>
              <a:rPr sz="2000" dirty="0" err="1">
                <a:solidFill>
                  <a:srgbClr val="FFFFFF"/>
                </a:solidFill>
                <a:latin typeface="Tw Cen MT"/>
              </a:rPr>
              <a:t>Desarrollar</a:t>
            </a:r>
            <a:r>
              <a:rPr sz="2000" dirty="0">
                <a:solidFill>
                  <a:srgbClr val="FFFFFF"/>
                </a:solidFill>
                <a:latin typeface="Tw Cen MT"/>
              </a:rPr>
              <a:t> </a:t>
            </a:r>
            <a:r>
              <a:rPr sz="2000" dirty="0" err="1">
                <a:solidFill>
                  <a:srgbClr val="FFFFFF"/>
                </a:solidFill>
                <a:latin typeface="Tw Cen MT"/>
              </a:rPr>
              <a:t>el</a:t>
            </a:r>
            <a:r>
              <a:rPr sz="2000" dirty="0">
                <a:solidFill>
                  <a:srgbClr val="FFFFFF"/>
                </a:solidFill>
                <a:latin typeface="Tw Cen MT"/>
              </a:rPr>
              <a:t> </a:t>
            </a:r>
            <a:r>
              <a:rPr sz="2000" dirty="0" err="1">
                <a:solidFill>
                  <a:srgbClr val="FFFFFF"/>
                </a:solidFill>
                <a:latin typeface="Tw Cen MT"/>
              </a:rPr>
              <a:t>mapa</a:t>
            </a:r>
            <a:r>
              <a:rPr sz="2000" dirty="0">
                <a:solidFill>
                  <a:srgbClr val="FFFFFF"/>
                </a:solidFill>
                <a:latin typeface="Tw Cen MT"/>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Agrupación de Tareas</a:t>
            </a:r>
          </a:p>
        </p:txBody>
      </p:sp>
      <p:sp>
        <p:nvSpPr>
          <p:cNvPr id="5" name="TextBox 4"/>
          <p:cNvSpPr txBox="1"/>
          <p:nvPr/>
        </p:nvSpPr>
        <p:spPr>
          <a:xfrm>
            <a:off x="304800" y="1220000"/>
            <a:ext cx="8534400" cy="2564805"/>
          </a:xfrm>
          <a:prstGeom prst="rect">
            <a:avLst/>
          </a:prstGeom>
          <a:noFill/>
        </p:spPr>
        <p:txBody>
          <a:bodyPr wrap="square">
            <a:spAutoFit/>
          </a:bodyPr>
          <a:lstStyle/>
          <a:p>
            <a:pPr algn="l">
              <a:spcBef>
                <a:spcPts val="400"/>
              </a:spcBef>
            </a:pPr>
            <a:r>
              <a:rPr sz="2200" b="0" dirty="0">
                <a:solidFill>
                  <a:srgbClr val="222222"/>
                </a:solidFill>
                <a:latin typeface="Tw Cen MT"/>
              </a:rPr>
              <a:t>La </a:t>
            </a:r>
            <a:r>
              <a:rPr sz="2200" b="0" dirty="0" err="1">
                <a:solidFill>
                  <a:srgbClr val="222222"/>
                </a:solidFill>
                <a:latin typeface="Tw Cen MT"/>
              </a:rPr>
              <a:t>agrupación</a:t>
            </a:r>
            <a:r>
              <a:rPr sz="2200" b="0" dirty="0">
                <a:solidFill>
                  <a:srgbClr val="222222"/>
                </a:solidFill>
                <a:latin typeface="Tw Cen MT"/>
              </a:rPr>
              <a:t> </a:t>
            </a:r>
            <a:r>
              <a:rPr sz="2200" b="0" dirty="0" err="1">
                <a:solidFill>
                  <a:srgbClr val="222222"/>
                </a:solidFill>
                <a:latin typeface="Tw Cen MT"/>
              </a:rPr>
              <a:t>en</a:t>
            </a:r>
            <a:r>
              <a:rPr sz="2200" b="0" dirty="0">
                <a:solidFill>
                  <a:srgbClr val="222222"/>
                </a:solidFill>
                <a:latin typeface="Tw Cen MT"/>
              </a:rPr>
              <a:t> </a:t>
            </a:r>
            <a:r>
              <a:rPr sz="2200" b="0" dirty="0" err="1">
                <a:solidFill>
                  <a:srgbClr val="222222"/>
                </a:solidFill>
                <a:latin typeface="Tw Cen MT"/>
              </a:rPr>
              <a:t>puestos</a:t>
            </a:r>
            <a:r>
              <a:rPr sz="2200" b="0" dirty="0">
                <a:solidFill>
                  <a:srgbClr val="222222"/>
                </a:solidFill>
                <a:latin typeface="Tw Cen MT"/>
              </a:rPr>
              <a:t> de </a:t>
            </a:r>
            <a:r>
              <a:rPr sz="2200" b="0" dirty="0" err="1">
                <a:solidFill>
                  <a:srgbClr val="222222"/>
                </a:solidFill>
                <a:latin typeface="Tw Cen MT"/>
              </a:rPr>
              <a:t>trabajo</a:t>
            </a:r>
            <a:r>
              <a:rPr sz="2200" b="0" dirty="0">
                <a:solidFill>
                  <a:srgbClr val="222222"/>
                </a:solidFill>
                <a:latin typeface="Tw Cen MT"/>
              </a:rPr>
              <a:t> y </a:t>
            </a:r>
            <a:r>
              <a:rPr sz="2200" b="0" dirty="0" err="1">
                <a:solidFill>
                  <a:srgbClr val="222222"/>
                </a:solidFill>
                <a:latin typeface="Tw Cen MT"/>
              </a:rPr>
              <a:t>subunidades</a:t>
            </a:r>
            <a:r>
              <a:rPr sz="2200" b="0" dirty="0">
                <a:solidFill>
                  <a:srgbClr val="222222"/>
                </a:solidFill>
                <a:latin typeface="Tw Cen MT"/>
              </a:rPr>
              <a:t> es </a:t>
            </a:r>
            <a:r>
              <a:rPr sz="2200" b="0" dirty="0" err="1">
                <a:solidFill>
                  <a:srgbClr val="222222"/>
                </a:solidFill>
                <a:latin typeface="Tw Cen MT"/>
              </a:rPr>
              <a:t>una</a:t>
            </a:r>
            <a:r>
              <a:rPr sz="2200" b="0" dirty="0">
                <a:solidFill>
                  <a:srgbClr val="222222"/>
                </a:solidFill>
                <a:latin typeface="Tw Cen MT"/>
              </a:rPr>
              <a:t> </a:t>
            </a:r>
            <a:r>
              <a:rPr sz="2200" b="0" dirty="0" err="1">
                <a:solidFill>
                  <a:srgbClr val="222222"/>
                </a:solidFill>
                <a:latin typeface="Tw Cen MT"/>
              </a:rPr>
              <a:t>decisión</a:t>
            </a:r>
            <a:r>
              <a:rPr sz="2200" b="0" dirty="0">
                <a:solidFill>
                  <a:srgbClr val="222222"/>
                </a:solidFill>
                <a:latin typeface="Tw Cen MT"/>
              </a:rPr>
              <a:t> </a:t>
            </a:r>
            <a:r>
              <a:rPr sz="2200" b="0" dirty="0" err="1">
                <a:solidFill>
                  <a:srgbClr val="222222"/>
                </a:solidFill>
                <a:latin typeface="Tw Cen MT"/>
              </a:rPr>
              <a:t>que</a:t>
            </a:r>
            <a:r>
              <a:rPr sz="2200" b="0" dirty="0">
                <a:solidFill>
                  <a:srgbClr val="222222"/>
                </a:solidFill>
                <a:latin typeface="Tw Cen MT"/>
              </a:rPr>
              <a:t> </a:t>
            </a:r>
            <a:r>
              <a:rPr sz="2200" b="0" dirty="0" err="1">
                <a:solidFill>
                  <a:srgbClr val="222222"/>
                </a:solidFill>
                <a:latin typeface="Tw Cen MT"/>
              </a:rPr>
              <a:t>puede</a:t>
            </a:r>
            <a:r>
              <a:rPr sz="2200" b="0" dirty="0">
                <a:solidFill>
                  <a:srgbClr val="222222"/>
                </a:solidFill>
                <a:latin typeface="Tw Cen MT"/>
              </a:rPr>
              <a:t> </a:t>
            </a:r>
            <a:r>
              <a:rPr sz="2200" b="0" dirty="0" err="1">
                <a:solidFill>
                  <a:srgbClr val="222222"/>
                </a:solidFill>
                <a:latin typeface="Tw Cen MT"/>
              </a:rPr>
              <a:t>afectar</a:t>
            </a:r>
            <a:r>
              <a:rPr sz="2200" b="0" dirty="0">
                <a:solidFill>
                  <a:srgbClr val="222222"/>
                </a:solidFill>
                <a:latin typeface="Tw Cen MT"/>
              </a:rPr>
              <a:t> </a:t>
            </a:r>
            <a:r>
              <a:rPr sz="2200" b="0" dirty="0" err="1">
                <a:solidFill>
                  <a:srgbClr val="222222"/>
                </a:solidFill>
                <a:latin typeface="Tw Cen MT"/>
              </a:rPr>
              <a:t>directamente</a:t>
            </a:r>
            <a:r>
              <a:rPr sz="2200" b="0" dirty="0">
                <a:solidFill>
                  <a:srgbClr val="222222"/>
                </a:solidFill>
                <a:latin typeface="Tw Cen MT"/>
              </a:rPr>
              <a:t> la </a:t>
            </a:r>
            <a:r>
              <a:rPr sz="2200" b="0" dirty="0" err="1">
                <a:solidFill>
                  <a:srgbClr val="222222"/>
                </a:solidFill>
                <a:latin typeface="Tw Cen MT"/>
              </a:rPr>
              <a:t>productividad</a:t>
            </a:r>
            <a:r>
              <a:rPr sz="2200" b="0" dirty="0">
                <a:solidFill>
                  <a:srgbClr val="222222"/>
                </a:solidFill>
                <a:latin typeface="Tw Cen MT"/>
              </a:rPr>
              <a:t>.</a:t>
            </a:r>
          </a:p>
          <a:p>
            <a:pPr algn="l">
              <a:spcBef>
                <a:spcPts val="400"/>
              </a:spcBef>
              <a:buNone/>
            </a:pPr>
            <a:r>
              <a:rPr sz="2200" b="1" dirty="0">
                <a:solidFill>
                  <a:srgbClr val="8B0000"/>
                </a:solidFill>
                <a:latin typeface="Tw Cen MT"/>
              </a:rPr>
              <a:t>DOS OPCIONES BÁSICAS</a:t>
            </a:r>
          </a:p>
          <a:p>
            <a:pPr lvl="1" algn="l">
              <a:spcBef>
                <a:spcPts val="150"/>
              </a:spcBef>
              <a:buFont typeface="Tw Cen MT"/>
              <a:buChar char="▸"/>
            </a:pPr>
            <a:r>
              <a:rPr sz="2200" b="0" dirty="0" err="1">
                <a:solidFill>
                  <a:srgbClr val="222222"/>
                </a:solidFill>
                <a:latin typeface="Tw Cen MT"/>
              </a:rPr>
              <a:t>Asignación</a:t>
            </a:r>
            <a:r>
              <a:rPr sz="2200" b="0" dirty="0">
                <a:solidFill>
                  <a:srgbClr val="222222"/>
                </a:solidFill>
                <a:latin typeface="Tw Cen MT"/>
              </a:rPr>
              <a:t> de </a:t>
            </a:r>
            <a:r>
              <a:rPr sz="2200" b="0" dirty="0" err="1">
                <a:solidFill>
                  <a:srgbClr val="222222"/>
                </a:solidFill>
                <a:latin typeface="Tw Cen MT"/>
              </a:rPr>
              <a:t>tareas</a:t>
            </a:r>
            <a:r>
              <a:rPr sz="2200" b="0" dirty="0">
                <a:solidFill>
                  <a:srgbClr val="222222"/>
                </a:solidFill>
                <a:latin typeface="Tw Cen MT"/>
              </a:rPr>
              <a:t> </a:t>
            </a:r>
            <a:r>
              <a:rPr sz="2200" b="0" dirty="0" err="1">
                <a:solidFill>
                  <a:srgbClr val="222222"/>
                </a:solidFill>
                <a:latin typeface="Tw Cen MT"/>
              </a:rPr>
              <a:t>especializadas</a:t>
            </a:r>
            <a:r>
              <a:rPr sz="2200" b="0" dirty="0">
                <a:solidFill>
                  <a:srgbClr val="222222"/>
                </a:solidFill>
                <a:latin typeface="Tw Cen MT"/>
              </a:rPr>
              <a:t>: </a:t>
            </a:r>
            <a:r>
              <a:rPr sz="2200" b="0" dirty="0" err="1">
                <a:solidFill>
                  <a:srgbClr val="222222"/>
                </a:solidFill>
                <a:latin typeface="Tw Cen MT"/>
              </a:rPr>
              <a:t>cada</a:t>
            </a:r>
            <a:r>
              <a:rPr sz="2200" b="0" dirty="0">
                <a:solidFill>
                  <a:srgbClr val="222222"/>
                </a:solidFill>
                <a:latin typeface="Tw Cen MT"/>
              </a:rPr>
              <a:t> </a:t>
            </a:r>
            <a:r>
              <a:rPr sz="2200" b="0" dirty="0" err="1">
                <a:solidFill>
                  <a:srgbClr val="222222"/>
                </a:solidFill>
                <a:latin typeface="Tw Cen MT"/>
              </a:rPr>
              <a:t>empleado</a:t>
            </a:r>
            <a:r>
              <a:rPr sz="2200" b="0" dirty="0">
                <a:solidFill>
                  <a:srgbClr val="222222"/>
                </a:solidFill>
                <a:latin typeface="Tw Cen MT"/>
              </a:rPr>
              <a:t> </a:t>
            </a:r>
            <a:r>
              <a:rPr sz="2200" b="0" dirty="0" err="1">
                <a:solidFill>
                  <a:srgbClr val="222222"/>
                </a:solidFill>
                <a:latin typeface="Tw Cen MT"/>
              </a:rPr>
              <a:t>realiza</a:t>
            </a:r>
            <a:r>
              <a:rPr sz="2200" b="0" dirty="0">
                <a:solidFill>
                  <a:srgbClr val="222222"/>
                </a:solidFill>
                <a:latin typeface="Tw Cen MT"/>
              </a:rPr>
              <a:t> </a:t>
            </a:r>
            <a:r>
              <a:rPr sz="2200" b="0" dirty="0" err="1">
                <a:solidFill>
                  <a:srgbClr val="222222"/>
                </a:solidFill>
                <a:latin typeface="Tw Cen MT"/>
              </a:rPr>
              <a:t>una</a:t>
            </a:r>
            <a:r>
              <a:rPr sz="2200" b="0" dirty="0">
                <a:solidFill>
                  <a:srgbClr val="222222"/>
                </a:solidFill>
                <a:latin typeface="Tw Cen MT"/>
              </a:rPr>
              <a:t> </a:t>
            </a:r>
            <a:r>
              <a:rPr sz="2200" b="0" dirty="0" err="1">
                <a:solidFill>
                  <a:srgbClr val="222222"/>
                </a:solidFill>
                <a:latin typeface="Tw Cen MT"/>
              </a:rPr>
              <a:t>tarea</a:t>
            </a:r>
            <a:r>
              <a:rPr sz="2200" b="0" dirty="0">
                <a:solidFill>
                  <a:srgbClr val="222222"/>
                </a:solidFill>
                <a:latin typeface="Tw Cen MT"/>
              </a:rPr>
              <a:t> </a:t>
            </a:r>
            <a:r>
              <a:rPr sz="2200" b="0" dirty="0" err="1">
                <a:solidFill>
                  <a:srgbClr val="222222"/>
                </a:solidFill>
                <a:latin typeface="Tw Cen MT"/>
              </a:rPr>
              <a:t>específica</a:t>
            </a:r>
            <a:r>
              <a:rPr sz="2200" b="0" dirty="0">
                <a:solidFill>
                  <a:srgbClr val="222222"/>
                </a:solidFill>
                <a:latin typeface="Tw Cen MT"/>
              </a:rPr>
              <a:t> y </a:t>
            </a:r>
            <a:r>
              <a:rPr sz="2200" b="0" dirty="0" err="1">
                <a:solidFill>
                  <a:srgbClr val="222222"/>
                </a:solidFill>
                <a:latin typeface="Tw Cen MT"/>
              </a:rPr>
              <a:t>acotada</a:t>
            </a:r>
            <a:r>
              <a:rPr sz="2200" b="0" dirty="0">
                <a:solidFill>
                  <a:srgbClr val="222222"/>
                </a:solidFill>
                <a:latin typeface="Tw Cen MT"/>
              </a:rPr>
              <a:t>.</a:t>
            </a:r>
          </a:p>
          <a:p>
            <a:pPr lvl="1" algn="l">
              <a:spcBef>
                <a:spcPts val="150"/>
              </a:spcBef>
              <a:buFont typeface="Tw Cen MT"/>
              <a:buChar char="▸"/>
            </a:pPr>
            <a:r>
              <a:rPr sz="2200" b="0" dirty="0" err="1">
                <a:solidFill>
                  <a:srgbClr val="222222"/>
                </a:solidFill>
                <a:latin typeface="Tw Cen MT"/>
              </a:rPr>
              <a:t>Asignación</a:t>
            </a:r>
            <a:r>
              <a:rPr sz="2200" b="0" dirty="0">
                <a:solidFill>
                  <a:srgbClr val="222222"/>
                </a:solidFill>
                <a:latin typeface="Tw Cen MT"/>
              </a:rPr>
              <a:t> de un </a:t>
            </a:r>
            <a:r>
              <a:rPr sz="2200" b="0" dirty="0" err="1">
                <a:solidFill>
                  <a:srgbClr val="222222"/>
                </a:solidFill>
                <a:latin typeface="Tw Cen MT"/>
              </a:rPr>
              <a:t>amplio</a:t>
            </a:r>
            <a:r>
              <a:rPr sz="2200" b="0" dirty="0">
                <a:solidFill>
                  <a:srgbClr val="222222"/>
                </a:solidFill>
                <a:latin typeface="Tw Cen MT"/>
              </a:rPr>
              <a:t> conjunto de </a:t>
            </a:r>
            <a:r>
              <a:rPr sz="2200" b="0" dirty="0" err="1">
                <a:solidFill>
                  <a:srgbClr val="222222"/>
                </a:solidFill>
                <a:latin typeface="Tw Cen MT"/>
              </a:rPr>
              <a:t>tareas</a:t>
            </a:r>
            <a:r>
              <a:rPr sz="2200" b="0" dirty="0">
                <a:solidFill>
                  <a:srgbClr val="222222"/>
                </a:solidFill>
                <a:latin typeface="Tw Cen MT"/>
              </a:rPr>
              <a:t>: </a:t>
            </a:r>
            <a:r>
              <a:rPr sz="2200" b="0" dirty="0" err="1">
                <a:solidFill>
                  <a:srgbClr val="222222"/>
                </a:solidFill>
                <a:latin typeface="Tw Cen MT"/>
              </a:rPr>
              <a:t>cada</a:t>
            </a:r>
            <a:r>
              <a:rPr sz="2200" b="0" dirty="0">
                <a:solidFill>
                  <a:srgbClr val="222222"/>
                </a:solidFill>
                <a:latin typeface="Tw Cen MT"/>
              </a:rPr>
              <a:t> </a:t>
            </a:r>
            <a:r>
              <a:rPr sz="2200" b="0" dirty="0" err="1">
                <a:solidFill>
                  <a:srgbClr val="222222"/>
                </a:solidFill>
                <a:latin typeface="Tw Cen MT"/>
              </a:rPr>
              <a:t>empleado</a:t>
            </a:r>
            <a:r>
              <a:rPr sz="2200" b="0" dirty="0">
                <a:solidFill>
                  <a:srgbClr val="222222"/>
                </a:solidFill>
                <a:latin typeface="Tw Cen MT"/>
              </a:rPr>
              <a:t> </a:t>
            </a:r>
            <a:r>
              <a:rPr sz="2200" b="0" dirty="0" err="1">
                <a:solidFill>
                  <a:srgbClr val="222222"/>
                </a:solidFill>
                <a:latin typeface="Tw Cen MT"/>
              </a:rPr>
              <a:t>realiza</a:t>
            </a:r>
            <a:r>
              <a:rPr sz="2200" b="0" dirty="0">
                <a:solidFill>
                  <a:srgbClr val="222222"/>
                </a:solidFill>
                <a:latin typeface="Tw Cen MT"/>
              </a:rPr>
              <a:t> </a:t>
            </a:r>
            <a:r>
              <a:rPr sz="2200" b="0" dirty="0" err="1">
                <a:solidFill>
                  <a:srgbClr val="222222"/>
                </a:solidFill>
                <a:latin typeface="Tw Cen MT"/>
              </a:rPr>
              <a:t>múltiples</a:t>
            </a:r>
            <a:r>
              <a:rPr sz="2200" b="0" dirty="0">
                <a:solidFill>
                  <a:srgbClr val="222222"/>
                </a:solidFill>
                <a:latin typeface="Tw Cen MT"/>
              </a:rPr>
              <a:t> </a:t>
            </a:r>
            <a:r>
              <a:rPr sz="2200" b="0" dirty="0" err="1">
                <a:solidFill>
                  <a:srgbClr val="222222"/>
                </a:solidFill>
                <a:latin typeface="Tw Cen MT"/>
              </a:rPr>
              <a:t>tareas</a:t>
            </a:r>
            <a:r>
              <a:rPr sz="2200" b="0" dirty="0">
                <a:solidFill>
                  <a:srgbClr val="222222"/>
                </a:solidFill>
                <a:latin typeface="Tw Cen MT"/>
              </a:rPr>
              <a:t> </a:t>
            </a:r>
            <a:r>
              <a:rPr sz="2200" b="0" dirty="0" err="1">
                <a:solidFill>
                  <a:srgbClr val="222222"/>
                </a:solidFill>
                <a:latin typeface="Tw Cen MT"/>
              </a:rPr>
              <a:t>relacionadas</a:t>
            </a:r>
            <a:r>
              <a:rPr sz="2200" b="0" dirty="0">
                <a:solidFill>
                  <a:srgbClr val="222222"/>
                </a:solidFill>
                <a:latin typeface="Tw Cen MT"/>
              </a:rPr>
              <a:t>.</a:t>
            </a:r>
          </a:p>
        </p:txBody>
      </p:sp>
      <p:pic>
        <p:nvPicPr>
          <p:cNvPr id="7" name="Imagen 6" descr="ESPECIALIZADAS&#10;&#10;El contenido generado por IA puede ser incorrecto.">
            <a:extLst>
              <a:ext uri="{FF2B5EF4-FFF2-40B4-BE49-F238E27FC236}">
                <a16:creationId xmlns:a16="http://schemas.microsoft.com/office/drawing/2014/main" id="{551DB192-025D-14E3-FF75-504D65ADA38C}"/>
              </a:ext>
            </a:extLst>
          </p:cNvPr>
          <p:cNvPicPr>
            <a:picLocks noChangeAspect="1"/>
          </p:cNvPicPr>
          <p:nvPr/>
        </p:nvPicPr>
        <p:blipFill>
          <a:blip r:embed="rId2"/>
          <a:stretch>
            <a:fillRect/>
          </a:stretch>
        </p:blipFill>
        <p:spPr>
          <a:xfrm>
            <a:off x="1796959" y="4183090"/>
            <a:ext cx="6572058" cy="254834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Asignación de Tareas Especializadas</a:t>
            </a:r>
          </a:p>
        </p:txBody>
      </p:sp>
      <p:sp>
        <p:nvSpPr>
          <p:cNvPr id="5" name="TextBox 4"/>
          <p:cNvSpPr txBox="1"/>
          <p:nvPr/>
        </p:nvSpPr>
        <p:spPr>
          <a:xfrm>
            <a:off x="304800" y="1220000"/>
            <a:ext cx="8534400" cy="3760004"/>
          </a:xfrm>
          <a:prstGeom prst="rect">
            <a:avLst/>
          </a:prstGeom>
          <a:noFill/>
        </p:spPr>
        <p:txBody>
          <a:bodyPr wrap="square">
            <a:spAutoFit/>
          </a:bodyPr>
          <a:lstStyle/>
          <a:p>
            <a:pPr algn="l">
              <a:spcBef>
                <a:spcPts val="400"/>
              </a:spcBef>
              <a:buNone/>
            </a:pPr>
            <a:r>
              <a:rPr sz="2000" dirty="0">
                <a:solidFill>
                  <a:srgbClr val="8B0000"/>
                </a:solidFill>
                <a:latin typeface="Tw Cen MT"/>
              </a:rPr>
              <a:t>BENEFICIOS</a:t>
            </a:r>
          </a:p>
          <a:p>
            <a:pPr lvl="1" algn="l">
              <a:spcBef>
                <a:spcPts val="150"/>
              </a:spcBef>
              <a:buFont typeface="Tw Cen MT"/>
              <a:buChar char="▸"/>
            </a:pPr>
            <a:r>
              <a:rPr sz="2000" dirty="0" err="1">
                <a:solidFill>
                  <a:srgbClr val="222222"/>
                </a:solidFill>
                <a:latin typeface="Tw Cen MT"/>
              </a:rPr>
              <a:t>Explotación</a:t>
            </a:r>
            <a:r>
              <a:rPr sz="2000" dirty="0">
                <a:solidFill>
                  <a:srgbClr val="222222"/>
                </a:solidFill>
                <a:latin typeface="Tw Cen MT"/>
              </a:rPr>
              <a:t> de la </a:t>
            </a:r>
            <a:r>
              <a:rPr sz="2000" dirty="0" err="1">
                <a:solidFill>
                  <a:srgbClr val="222222"/>
                </a:solidFill>
                <a:latin typeface="Tw Cen MT"/>
              </a:rPr>
              <a:t>ventaja</a:t>
            </a:r>
            <a:r>
              <a:rPr sz="2000" dirty="0">
                <a:solidFill>
                  <a:srgbClr val="222222"/>
                </a:solidFill>
                <a:latin typeface="Tw Cen MT"/>
              </a:rPr>
              <a:t> </a:t>
            </a:r>
            <a:r>
              <a:rPr sz="2000" dirty="0" err="1">
                <a:solidFill>
                  <a:srgbClr val="222222"/>
                </a:solidFill>
                <a:latin typeface="Tw Cen MT"/>
              </a:rPr>
              <a:t>comparativa</a:t>
            </a:r>
            <a:r>
              <a:rPr sz="2000" dirty="0">
                <a:solidFill>
                  <a:srgbClr val="222222"/>
                </a:solidFill>
                <a:latin typeface="Tw Cen MT"/>
              </a:rPr>
              <a:t>: </a:t>
            </a:r>
            <a:r>
              <a:rPr sz="2000" dirty="0" err="1">
                <a:solidFill>
                  <a:srgbClr val="222222"/>
                </a:solidFill>
                <a:latin typeface="Tw Cen MT"/>
              </a:rPr>
              <a:t>los</a:t>
            </a:r>
            <a:r>
              <a:rPr sz="2000" dirty="0">
                <a:solidFill>
                  <a:srgbClr val="222222"/>
                </a:solidFill>
                <a:latin typeface="Tw Cen MT"/>
              </a:rPr>
              <a:t> </a:t>
            </a:r>
            <a:r>
              <a:rPr sz="2000" dirty="0" err="1">
                <a:solidFill>
                  <a:srgbClr val="222222"/>
                </a:solidFill>
                <a:latin typeface="Tw Cen MT"/>
              </a:rPr>
              <a:t>empleados</a:t>
            </a:r>
            <a:r>
              <a:rPr sz="2000" dirty="0">
                <a:solidFill>
                  <a:srgbClr val="222222"/>
                </a:solidFill>
                <a:latin typeface="Tw Cen MT"/>
              </a:rPr>
              <a:t> se </a:t>
            </a:r>
            <a:r>
              <a:rPr sz="2000" dirty="0" err="1">
                <a:solidFill>
                  <a:srgbClr val="222222"/>
                </a:solidFill>
                <a:latin typeface="Tw Cen MT"/>
              </a:rPr>
              <a:t>asignan</a:t>
            </a:r>
            <a:r>
              <a:rPr sz="2000" dirty="0">
                <a:solidFill>
                  <a:srgbClr val="222222"/>
                </a:solidFill>
                <a:latin typeface="Tw Cen MT"/>
              </a:rPr>
              <a:t> </a:t>
            </a:r>
            <a:r>
              <a:rPr sz="2000" dirty="0" err="1">
                <a:solidFill>
                  <a:srgbClr val="222222"/>
                </a:solidFill>
                <a:latin typeface="Tw Cen MT"/>
              </a:rPr>
              <a:t>según</a:t>
            </a:r>
            <a:r>
              <a:rPr sz="2000" dirty="0">
                <a:solidFill>
                  <a:srgbClr val="222222"/>
                </a:solidFill>
                <a:latin typeface="Tw Cen MT"/>
              </a:rPr>
              <a:t> </a:t>
            </a:r>
            <a:r>
              <a:rPr sz="2000" dirty="0" err="1">
                <a:solidFill>
                  <a:srgbClr val="222222"/>
                </a:solidFill>
                <a:latin typeface="Tw Cen MT"/>
              </a:rPr>
              <a:t>su</a:t>
            </a:r>
            <a:r>
              <a:rPr sz="2000" dirty="0">
                <a:solidFill>
                  <a:srgbClr val="222222"/>
                </a:solidFill>
                <a:latin typeface="Tw Cen MT"/>
              </a:rPr>
              <a:t> </a:t>
            </a:r>
            <a:r>
              <a:rPr sz="2000" dirty="0" err="1">
                <a:solidFill>
                  <a:srgbClr val="222222"/>
                </a:solidFill>
                <a:latin typeface="Tw Cen MT"/>
              </a:rPr>
              <a:t>formación</a:t>
            </a:r>
            <a:r>
              <a:rPr sz="2000" dirty="0">
                <a:solidFill>
                  <a:srgbClr val="222222"/>
                </a:solidFill>
                <a:latin typeface="Tw Cen MT"/>
              </a:rPr>
              <a:t> y </a:t>
            </a:r>
            <a:r>
              <a:rPr sz="2000" dirty="0" err="1">
                <a:solidFill>
                  <a:srgbClr val="222222"/>
                </a:solidFill>
                <a:latin typeface="Tw Cen MT"/>
              </a:rPr>
              <a:t>competencias</a:t>
            </a:r>
            <a:r>
              <a:rPr sz="2000" dirty="0">
                <a:solidFill>
                  <a:srgbClr val="222222"/>
                </a:solidFill>
                <a:latin typeface="Tw Cen MT"/>
              </a:rPr>
              <a:t>.</a:t>
            </a:r>
          </a:p>
          <a:p>
            <a:pPr lvl="1" algn="l">
              <a:spcBef>
                <a:spcPts val="150"/>
              </a:spcBef>
              <a:buFont typeface="Tw Cen MT"/>
              <a:buChar char="▸"/>
            </a:pPr>
            <a:r>
              <a:rPr sz="2000" dirty="0" err="1">
                <a:solidFill>
                  <a:srgbClr val="222222"/>
                </a:solidFill>
                <a:latin typeface="Tw Cen MT"/>
              </a:rPr>
              <a:t>Puede</a:t>
            </a:r>
            <a:r>
              <a:rPr sz="2000" dirty="0">
                <a:solidFill>
                  <a:srgbClr val="222222"/>
                </a:solidFill>
                <a:latin typeface="Tw Cen MT"/>
              </a:rPr>
              <a:t> </a:t>
            </a:r>
            <a:r>
              <a:rPr sz="2000" dirty="0" err="1">
                <a:solidFill>
                  <a:srgbClr val="222222"/>
                </a:solidFill>
                <a:latin typeface="Tw Cen MT"/>
              </a:rPr>
              <a:t>crear</a:t>
            </a:r>
            <a:r>
              <a:rPr sz="2000" dirty="0">
                <a:solidFill>
                  <a:srgbClr val="222222"/>
                </a:solidFill>
                <a:latin typeface="Tw Cen MT"/>
              </a:rPr>
              <a:t> </a:t>
            </a:r>
            <a:r>
              <a:rPr sz="2000" dirty="0" err="1">
                <a:solidFill>
                  <a:srgbClr val="222222"/>
                </a:solidFill>
                <a:latin typeface="Tw Cen MT"/>
              </a:rPr>
              <a:t>economías</a:t>
            </a:r>
            <a:r>
              <a:rPr sz="2000" dirty="0">
                <a:solidFill>
                  <a:srgbClr val="222222"/>
                </a:solidFill>
                <a:latin typeface="Tw Cen MT"/>
              </a:rPr>
              <a:t> de </a:t>
            </a:r>
            <a:r>
              <a:rPr sz="2000" dirty="0" err="1">
                <a:solidFill>
                  <a:srgbClr val="222222"/>
                </a:solidFill>
                <a:latin typeface="Tw Cen MT"/>
              </a:rPr>
              <a:t>escala</a:t>
            </a:r>
            <a:r>
              <a:rPr sz="2000" dirty="0">
                <a:solidFill>
                  <a:srgbClr val="222222"/>
                </a:solidFill>
                <a:latin typeface="Tw Cen MT"/>
              </a:rPr>
              <a:t>.</a:t>
            </a:r>
          </a:p>
          <a:p>
            <a:pPr lvl="1" algn="l">
              <a:spcBef>
                <a:spcPts val="150"/>
              </a:spcBef>
              <a:buFont typeface="Tw Cen MT"/>
              <a:buChar char="▸"/>
            </a:pPr>
            <a:r>
              <a:rPr sz="2000" dirty="0" err="1">
                <a:solidFill>
                  <a:srgbClr val="222222"/>
                </a:solidFill>
                <a:latin typeface="Tw Cen MT"/>
              </a:rPr>
              <a:t>Menores</a:t>
            </a:r>
            <a:r>
              <a:rPr sz="2000" dirty="0">
                <a:solidFill>
                  <a:srgbClr val="222222"/>
                </a:solidFill>
                <a:latin typeface="Tw Cen MT"/>
              </a:rPr>
              <a:t> </a:t>
            </a:r>
            <a:r>
              <a:rPr sz="2000" dirty="0" err="1">
                <a:solidFill>
                  <a:srgbClr val="222222"/>
                </a:solidFill>
                <a:latin typeface="Tw Cen MT"/>
              </a:rPr>
              <a:t>gastos</a:t>
            </a:r>
            <a:r>
              <a:rPr sz="2000" dirty="0">
                <a:solidFill>
                  <a:srgbClr val="222222"/>
                </a:solidFill>
                <a:latin typeface="Tw Cen MT"/>
              </a:rPr>
              <a:t> </a:t>
            </a:r>
            <a:r>
              <a:rPr sz="2000" dirty="0" err="1">
                <a:solidFill>
                  <a:srgbClr val="222222"/>
                </a:solidFill>
                <a:latin typeface="Tw Cen MT"/>
              </a:rPr>
              <a:t>en</a:t>
            </a:r>
            <a:r>
              <a:rPr sz="2000" dirty="0">
                <a:solidFill>
                  <a:srgbClr val="222222"/>
                </a:solidFill>
                <a:latin typeface="Tw Cen MT"/>
              </a:rPr>
              <a:t> </a:t>
            </a:r>
            <a:r>
              <a:rPr sz="2000" dirty="0" err="1">
                <a:solidFill>
                  <a:srgbClr val="222222"/>
                </a:solidFill>
                <a:latin typeface="Tw Cen MT"/>
              </a:rPr>
              <a:t>formación</a:t>
            </a:r>
            <a:r>
              <a:rPr sz="2000" dirty="0">
                <a:solidFill>
                  <a:srgbClr val="222222"/>
                </a:solidFill>
                <a:latin typeface="Tw Cen MT"/>
              </a:rPr>
              <a:t> </a:t>
            </a:r>
            <a:r>
              <a:rPr sz="2000" dirty="0" err="1">
                <a:solidFill>
                  <a:srgbClr val="222222"/>
                </a:solidFill>
                <a:latin typeface="Tw Cen MT"/>
              </a:rPr>
              <a:t>polivalente</a:t>
            </a:r>
            <a:r>
              <a:rPr sz="2000" dirty="0">
                <a:solidFill>
                  <a:srgbClr val="222222"/>
                </a:solidFill>
                <a:latin typeface="Tw Cen MT"/>
              </a:rPr>
              <a:t>.</a:t>
            </a:r>
          </a:p>
          <a:p>
            <a:pPr algn="l">
              <a:spcBef>
                <a:spcPts val="400"/>
              </a:spcBef>
              <a:buNone/>
            </a:pPr>
            <a:endParaRPr lang="es-419" sz="2000" dirty="0">
              <a:solidFill>
                <a:srgbClr val="8B0000"/>
              </a:solidFill>
              <a:latin typeface="Tw Cen MT"/>
            </a:endParaRPr>
          </a:p>
          <a:p>
            <a:pPr algn="l">
              <a:spcBef>
                <a:spcPts val="400"/>
              </a:spcBef>
              <a:buNone/>
            </a:pPr>
            <a:r>
              <a:rPr sz="2000" dirty="0">
                <a:solidFill>
                  <a:srgbClr val="8B0000"/>
                </a:solidFill>
                <a:latin typeface="Tw Cen MT"/>
              </a:rPr>
              <a:t>COSTOS</a:t>
            </a:r>
          </a:p>
          <a:p>
            <a:pPr lvl="1" algn="l">
              <a:spcBef>
                <a:spcPts val="150"/>
              </a:spcBef>
              <a:buFont typeface="Tw Cen MT"/>
              <a:buChar char="▸"/>
            </a:pPr>
            <a:r>
              <a:rPr sz="2000" dirty="0" err="1">
                <a:solidFill>
                  <a:srgbClr val="222222"/>
                </a:solidFill>
                <a:latin typeface="Tw Cen MT"/>
              </a:rPr>
              <a:t>Pérdida</a:t>
            </a:r>
            <a:r>
              <a:rPr sz="2000" dirty="0">
                <a:solidFill>
                  <a:srgbClr val="222222"/>
                </a:solidFill>
                <a:latin typeface="Tw Cen MT"/>
              </a:rPr>
              <a:t> de </a:t>
            </a:r>
            <a:r>
              <a:rPr sz="2000" dirty="0" err="1">
                <a:solidFill>
                  <a:srgbClr val="222222"/>
                </a:solidFill>
                <a:latin typeface="Tw Cen MT"/>
              </a:rPr>
              <a:t>complementariedad</a:t>
            </a:r>
            <a:r>
              <a:rPr sz="2000" dirty="0">
                <a:solidFill>
                  <a:srgbClr val="222222"/>
                </a:solidFill>
                <a:latin typeface="Tw Cen MT"/>
              </a:rPr>
              <a:t> entre </a:t>
            </a:r>
            <a:r>
              <a:rPr sz="2000" dirty="0" err="1">
                <a:solidFill>
                  <a:srgbClr val="222222"/>
                </a:solidFill>
                <a:latin typeface="Tw Cen MT"/>
              </a:rPr>
              <a:t>tareas</a:t>
            </a:r>
            <a:r>
              <a:rPr sz="2000" dirty="0">
                <a:solidFill>
                  <a:srgbClr val="222222"/>
                </a:solidFill>
                <a:latin typeface="Tw Cen MT"/>
              </a:rPr>
              <a:t>.</a:t>
            </a:r>
          </a:p>
          <a:p>
            <a:pPr lvl="1" algn="l">
              <a:spcBef>
                <a:spcPts val="150"/>
              </a:spcBef>
              <a:buFont typeface="Tw Cen MT"/>
              <a:buChar char="▸"/>
            </a:pPr>
            <a:r>
              <a:rPr sz="2000" dirty="0">
                <a:solidFill>
                  <a:srgbClr val="222222"/>
                </a:solidFill>
                <a:latin typeface="Tw Cen MT"/>
              </a:rPr>
              <a:t>Costos de </a:t>
            </a:r>
            <a:r>
              <a:rPr sz="2000" dirty="0" err="1">
                <a:solidFill>
                  <a:srgbClr val="222222"/>
                </a:solidFill>
                <a:latin typeface="Tw Cen MT"/>
              </a:rPr>
              <a:t>coordinación</a:t>
            </a:r>
            <a:r>
              <a:rPr sz="2000" dirty="0">
                <a:solidFill>
                  <a:srgbClr val="222222"/>
                </a:solidFill>
                <a:latin typeface="Tw Cen MT"/>
              </a:rPr>
              <a:t> entre </a:t>
            </a:r>
            <a:r>
              <a:rPr sz="2000" dirty="0" err="1">
                <a:solidFill>
                  <a:srgbClr val="222222"/>
                </a:solidFill>
                <a:latin typeface="Tw Cen MT"/>
              </a:rPr>
              <a:t>especialistas</a:t>
            </a:r>
            <a:r>
              <a:rPr sz="2000" dirty="0">
                <a:solidFill>
                  <a:srgbClr val="222222"/>
                </a:solidFill>
                <a:latin typeface="Tw Cen MT"/>
              </a:rPr>
              <a:t>.</a:t>
            </a:r>
          </a:p>
          <a:p>
            <a:pPr lvl="1" algn="l">
              <a:spcBef>
                <a:spcPts val="150"/>
              </a:spcBef>
              <a:buFont typeface="Tw Cen MT"/>
              <a:buChar char="▸"/>
            </a:pPr>
            <a:r>
              <a:rPr sz="2000" dirty="0" err="1">
                <a:solidFill>
                  <a:srgbClr val="222222"/>
                </a:solidFill>
                <a:latin typeface="Tw Cen MT"/>
              </a:rPr>
              <a:t>Miopía</a:t>
            </a:r>
            <a:r>
              <a:rPr sz="2000" dirty="0">
                <a:solidFill>
                  <a:srgbClr val="222222"/>
                </a:solidFill>
                <a:latin typeface="Tw Cen MT"/>
              </a:rPr>
              <a:t> </a:t>
            </a:r>
            <a:r>
              <a:rPr sz="2000" dirty="0" err="1">
                <a:solidFill>
                  <a:srgbClr val="222222"/>
                </a:solidFill>
                <a:latin typeface="Tw Cen MT"/>
              </a:rPr>
              <a:t>funcional</a:t>
            </a:r>
            <a:r>
              <a:rPr sz="2000" dirty="0">
                <a:solidFill>
                  <a:srgbClr val="222222"/>
                </a:solidFill>
                <a:latin typeface="Tw Cen MT"/>
              </a:rPr>
              <a:t>: </a:t>
            </a:r>
            <a:r>
              <a:rPr sz="2000" dirty="0" err="1">
                <a:solidFill>
                  <a:srgbClr val="222222"/>
                </a:solidFill>
                <a:latin typeface="Tw Cen MT"/>
              </a:rPr>
              <a:t>el</a:t>
            </a:r>
            <a:r>
              <a:rPr sz="2000" dirty="0">
                <a:solidFill>
                  <a:srgbClr val="222222"/>
                </a:solidFill>
                <a:latin typeface="Tw Cen MT"/>
              </a:rPr>
              <a:t> </a:t>
            </a:r>
            <a:r>
              <a:rPr sz="2000" dirty="0" err="1">
                <a:solidFill>
                  <a:srgbClr val="222222"/>
                </a:solidFill>
                <a:latin typeface="Tw Cen MT"/>
              </a:rPr>
              <a:t>especialista</a:t>
            </a:r>
            <a:r>
              <a:rPr sz="2000" dirty="0">
                <a:solidFill>
                  <a:srgbClr val="222222"/>
                </a:solidFill>
                <a:latin typeface="Tw Cen MT"/>
              </a:rPr>
              <a:t> </a:t>
            </a:r>
            <a:r>
              <a:rPr sz="2000" dirty="0" err="1">
                <a:solidFill>
                  <a:srgbClr val="222222"/>
                </a:solidFill>
                <a:latin typeface="Tw Cen MT"/>
              </a:rPr>
              <a:t>pierde</a:t>
            </a:r>
            <a:r>
              <a:rPr sz="2000" dirty="0">
                <a:solidFill>
                  <a:srgbClr val="222222"/>
                </a:solidFill>
                <a:latin typeface="Tw Cen MT"/>
              </a:rPr>
              <a:t> </a:t>
            </a:r>
            <a:r>
              <a:rPr sz="2000" dirty="0" err="1">
                <a:solidFill>
                  <a:srgbClr val="222222"/>
                </a:solidFill>
                <a:latin typeface="Tw Cen MT"/>
              </a:rPr>
              <a:t>visión</a:t>
            </a:r>
            <a:r>
              <a:rPr sz="2000" dirty="0">
                <a:solidFill>
                  <a:srgbClr val="222222"/>
                </a:solidFill>
                <a:latin typeface="Tw Cen MT"/>
              </a:rPr>
              <a:t> del conjunto.</a:t>
            </a:r>
          </a:p>
          <a:p>
            <a:pPr lvl="1" algn="l">
              <a:spcBef>
                <a:spcPts val="150"/>
              </a:spcBef>
              <a:buFont typeface="Tw Cen MT"/>
              <a:buChar char="▸"/>
            </a:pPr>
            <a:r>
              <a:rPr sz="2000" dirty="0" err="1">
                <a:solidFill>
                  <a:srgbClr val="222222"/>
                </a:solidFill>
                <a:latin typeface="Tw Cen MT"/>
              </a:rPr>
              <a:t>Disminución</a:t>
            </a:r>
            <a:r>
              <a:rPr sz="2000" dirty="0">
                <a:solidFill>
                  <a:srgbClr val="222222"/>
                </a:solidFill>
                <a:latin typeface="Tw Cen MT"/>
              </a:rPr>
              <a:t> de la </a:t>
            </a:r>
            <a:r>
              <a:rPr sz="2000" dirty="0" err="1">
                <a:solidFill>
                  <a:srgbClr val="222222"/>
                </a:solidFill>
                <a:latin typeface="Tw Cen MT"/>
              </a:rPr>
              <a:t>flexibilidad</a:t>
            </a:r>
            <a:r>
              <a:rPr sz="2000" dirty="0">
                <a:solidFill>
                  <a:srgbClr val="222222"/>
                </a:solidFill>
                <a:latin typeface="Tw Cen MT"/>
              </a:rPr>
              <a:t> </a:t>
            </a:r>
            <a:r>
              <a:rPr sz="2000" dirty="0" err="1">
                <a:solidFill>
                  <a:srgbClr val="222222"/>
                </a:solidFill>
                <a:latin typeface="Tw Cen MT"/>
              </a:rPr>
              <a:t>organizacional</a:t>
            </a:r>
            <a:r>
              <a:rPr sz="2000" dirty="0">
                <a:solidFill>
                  <a:srgbClr val="222222"/>
                </a:solidFill>
                <a:latin typeface="Tw Cen MT"/>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A3050"/>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1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Caso: Delta Airlines vs. China Eastern Airlines</a:t>
            </a:r>
          </a:p>
        </p:txBody>
      </p:sp>
      <p:sp>
        <p:nvSpPr>
          <p:cNvPr id="5" name="TextBox 4"/>
          <p:cNvSpPr txBox="1"/>
          <p:nvPr/>
        </p:nvSpPr>
        <p:spPr>
          <a:xfrm>
            <a:off x="304800" y="1220000"/>
            <a:ext cx="8534400" cy="4852610"/>
          </a:xfrm>
          <a:prstGeom prst="rect">
            <a:avLst/>
          </a:prstGeom>
          <a:noFill/>
        </p:spPr>
        <p:txBody>
          <a:bodyPr wrap="square">
            <a:spAutoFit/>
          </a:bodyPr>
          <a:lstStyle/>
          <a:p>
            <a:pPr algn="l">
              <a:spcBef>
                <a:spcPts val="400"/>
              </a:spcBef>
              <a:buNone/>
            </a:pPr>
            <a:r>
              <a:rPr sz="2200" b="1" dirty="0">
                <a:solidFill>
                  <a:srgbClr val="D4A017"/>
                </a:solidFill>
                <a:latin typeface="Tw Cen MT"/>
              </a:rPr>
              <a:t>CHINA EASTERN AIRLINES — TAREAS ESPECIALIZADAS</a:t>
            </a:r>
          </a:p>
          <a:p>
            <a:pPr algn="l">
              <a:spcBef>
                <a:spcPts val="400"/>
              </a:spcBef>
            </a:pPr>
            <a:r>
              <a:rPr sz="2200" b="0" dirty="0">
                <a:solidFill>
                  <a:srgbClr val="FFFFFF"/>
                </a:solidFill>
                <a:latin typeface="Tw Cen MT"/>
              </a:rPr>
              <a:t>Centro de </a:t>
            </a:r>
            <a:r>
              <a:rPr sz="2200" b="0" dirty="0" err="1">
                <a:solidFill>
                  <a:srgbClr val="FFFFFF"/>
                </a:solidFill>
                <a:latin typeface="Tw Cen MT"/>
              </a:rPr>
              <a:t>llamadas</a:t>
            </a:r>
            <a:r>
              <a:rPr sz="2200" b="0" dirty="0">
                <a:solidFill>
                  <a:srgbClr val="FFFFFF"/>
                </a:solidFill>
                <a:latin typeface="Tw Cen MT"/>
              </a:rPr>
              <a:t> </a:t>
            </a:r>
            <a:r>
              <a:rPr sz="2200" b="0" dirty="0" err="1">
                <a:solidFill>
                  <a:srgbClr val="FFFFFF"/>
                </a:solidFill>
                <a:latin typeface="Tw Cen MT"/>
              </a:rPr>
              <a:t>en</a:t>
            </a:r>
            <a:r>
              <a:rPr sz="2200" b="0" dirty="0">
                <a:solidFill>
                  <a:srgbClr val="FFFFFF"/>
                </a:solidFill>
                <a:latin typeface="Tw Cen MT"/>
              </a:rPr>
              <a:t> Shanghai con </a:t>
            </a:r>
            <a:r>
              <a:rPr sz="2200" b="0" dirty="0" err="1">
                <a:solidFill>
                  <a:srgbClr val="FFFFFF"/>
                </a:solidFill>
                <a:latin typeface="Tw Cen MT"/>
              </a:rPr>
              <a:t>más</a:t>
            </a:r>
            <a:r>
              <a:rPr sz="2200" b="0" dirty="0">
                <a:solidFill>
                  <a:srgbClr val="FFFFFF"/>
                </a:solidFill>
                <a:latin typeface="Tw Cen MT"/>
              </a:rPr>
              <a:t> de 1.200 </a:t>
            </a:r>
            <a:r>
              <a:rPr sz="2200" b="0" dirty="0" err="1">
                <a:solidFill>
                  <a:srgbClr val="FFFFFF"/>
                </a:solidFill>
                <a:latin typeface="Tw Cen MT"/>
              </a:rPr>
              <a:t>empleados</a:t>
            </a:r>
            <a:r>
              <a:rPr sz="2200" b="0" dirty="0">
                <a:solidFill>
                  <a:srgbClr val="FFFFFF"/>
                </a:solidFill>
                <a:latin typeface="Tw Cen MT"/>
              </a:rPr>
              <a:t> </a:t>
            </a:r>
            <a:r>
              <a:rPr sz="2200" b="0" dirty="0" err="1">
                <a:solidFill>
                  <a:srgbClr val="FFFFFF"/>
                </a:solidFill>
                <a:latin typeface="Tw Cen MT"/>
              </a:rPr>
              <a:t>que</a:t>
            </a:r>
            <a:r>
              <a:rPr sz="2200" b="0" dirty="0">
                <a:solidFill>
                  <a:srgbClr val="FFFFFF"/>
                </a:solidFill>
                <a:latin typeface="Tw Cen MT"/>
              </a:rPr>
              <a:t> SOLO </a:t>
            </a:r>
            <a:r>
              <a:rPr sz="2200" b="0" dirty="0" err="1">
                <a:solidFill>
                  <a:srgbClr val="FFFFFF"/>
                </a:solidFill>
                <a:latin typeface="Tw Cen MT"/>
              </a:rPr>
              <a:t>maneja</a:t>
            </a:r>
            <a:r>
              <a:rPr sz="2200" b="0" dirty="0">
                <a:solidFill>
                  <a:srgbClr val="FFFFFF"/>
                </a:solidFill>
                <a:latin typeface="Tw Cen MT"/>
              </a:rPr>
              <a:t> </a:t>
            </a:r>
            <a:r>
              <a:rPr sz="2200" b="0" dirty="0" err="1">
                <a:solidFill>
                  <a:srgbClr val="FFFFFF"/>
                </a:solidFill>
                <a:latin typeface="Tw Cen MT"/>
              </a:rPr>
              <a:t>boletos</a:t>
            </a:r>
            <a:r>
              <a:rPr sz="2200" b="0" dirty="0">
                <a:solidFill>
                  <a:srgbClr val="FFFFFF"/>
                </a:solidFill>
                <a:latin typeface="Tw Cen MT"/>
              </a:rPr>
              <a:t>. Si un </a:t>
            </a:r>
            <a:r>
              <a:rPr sz="2200" b="0" dirty="0" err="1">
                <a:solidFill>
                  <a:srgbClr val="FFFFFF"/>
                </a:solidFill>
                <a:latin typeface="Tw Cen MT"/>
              </a:rPr>
              <a:t>cliente</a:t>
            </a:r>
            <a:r>
              <a:rPr sz="2200" b="0" dirty="0">
                <a:solidFill>
                  <a:srgbClr val="FFFFFF"/>
                </a:solidFill>
                <a:latin typeface="Tw Cen MT"/>
              </a:rPr>
              <a:t> llama </a:t>
            </a:r>
            <a:r>
              <a:rPr sz="2200" b="0" dirty="0" err="1">
                <a:solidFill>
                  <a:srgbClr val="FFFFFF"/>
                </a:solidFill>
                <a:latin typeface="Tw Cen MT"/>
              </a:rPr>
              <a:t>por</a:t>
            </a:r>
            <a:r>
              <a:rPr sz="2200" b="0" dirty="0">
                <a:solidFill>
                  <a:srgbClr val="FFFFFF"/>
                </a:solidFill>
                <a:latin typeface="Tw Cen MT"/>
              </a:rPr>
              <a:t> </a:t>
            </a:r>
            <a:r>
              <a:rPr sz="2200" b="0" dirty="0" err="1">
                <a:solidFill>
                  <a:srgbClr val="FFFFFF"/>
                </a:solidFill>
                <a:latin typeface="Tw Cen MT"/>
              </a:rPr>
              <a:t>cualquier</a:t>
            </a:r>
            <a:r>
              <a:rPr sz="2200" b="0" dirty="0">
                <a:solidFill>
                  <a:srgbClr val="FFFFFF"/>
                </a:solidFill>
                <a:latin typeface="Tw Cen MT"/>
              </a:rPr>
              <a:t> </a:t>
            </a:r>
            <a:r>
              <a:rPr sz="2200" b="0" dirty="0" err="1">
                <a:solidFill>
                  <a:srgbClr val="FFFFFF"/>
                </a:solidFill>
                <a:latin typeface="Tw Cen MT"/>
              </a:rPr>
              <a:t>otro</a:t>
            </a:r>
            <a:r>
              <a:rPr sz="2200" b="0" dirty="0">
                <a:solidFill>
                  <a:srgbClr val="FFFFFF"/>
                </a:solidFill>
                <a:latin typeface="Tw Cen MT"/>
              </a:rPr>
              <a:t> </a:t>
            </a:r>
            <a:r>
              <a:rPr sz="2200" b="0" dirty="0" err="1">
                <a:solidFill>
                  <a:srgbClr val="FFFFFF"/>
                </a:solidFill>
                <a:latin typeface="Tw Cen MT"/>
              </a:rPr>
              <a:t>problema</a:t>
            </a:r>
            <a:r>
              <a:rPr sz="2200" b="0" dirty="0">
                <a:solidFill>
                  <a:srgbClr val="FFFFFF"/>
                </a:solidFill>
                <a:latin typeface="Tw Cen MT"/>
              </a:rPr>
              <a:t>, la </a:t>
            </a:r>
            <a:r>
              <a:rPr sz="2200" b="0" dirty="0" err="1">
                <a:solidFill>
                  <a:srgbClr val="FFFFFF"/>
                </a:solidFill>
                <a:latin typeface="Tw Cen MT"/>
              </a:rPr>
              <a:t>llamada</a:t>
            </a:r>
            <a:r>
              <a:rPr sz="2200" b="0" dirty="0">
                <a:solidFill>
                  <a:srgbClr val="FFFFFF"/>
                </a:solidFill>
                <a:latin typeface="Tw Cen MT"/>
              </a:rPr>
              <a:t> se </a:t>
            </a:r>
            <a:r>
              <a:rPr sz="2200" b="0" dirty="0" err="1">
                <a:solidFill>
                  <a:srgbClr val="FFFFFF"/>
                </a:solidFill>
                <a:latin typeface="Tw Cen MT"/>
              </a:rPr>
              <a:t>deriva</a:t>
            </a:r>
            <a:r>
              <a:rPr sz="2200" b="0" dirty="0">
                <a:solidFill>
                  <a:srgbClr val="FFFFFF"/>
                </a:solidFill>
                <a:latin typeface="Tw Cen MT"/>
              </a:rPr>
              <a:t> a </a:t>
            </a:r>
            <a:r>
              <a:rPr sz="2200" b="0" dirty="0" err="1">
                <a:solidFill>
                  <a:srgbClr val="FFFFFF"/>
                </a:solidFill>
                <a:latin typeface="Tw Cen MT"/>
              </a:rPr>
              <a:t>otros</a:t>
            </a:r>
            <a:r>
              <a:rPr sz="2200" b="0" dirty="0">
                <a:solidFill>
                  <a:srgbClr val="FFFFFF"/>
                </a:solidFill>
                <a:latin typeface="Tw Cen MT"/>
              </a:rPr>
              <a:t> </a:t>
            </a:r>
            <a:r>
              <a:rPr sz="2200" b="0" dirty="0" err="1">
                <a:solidFill>
                  <a:srgbClr val="FFFFFF"/>
                </a:solidFill>
                <a:latin typeface="Tw Cen MT"/>
              </a:rPr>
              <a:t>departamentos</a:t>
            </a:r>
            <a:r>
              <a:rPr sz="2200" b="0" dirty="0">
                <a:solidFill>
                  <a:srgbClr val="FFFFFF"/>
                </a:solidFill>
                <a:latin typeface="Tw Cen MT"/>
              </a:rPr>
              <a:t>.</a:t>
            </a:r>
          </a:p>
          <a:p>
            <a:pPr algn="ctr">
              <a:spcBef>
                <a:spcPts val="400"/>
              </a:spcBef>
            </a:pPr>
            <a:r>
              <a:rPr sz="2200" b="1" dirty="0" err="1">
                <a:solidFill>
                  <a:srgbClr val="FFFFFF"/>
                </a:solidFill>
                <a:latin typeface="Tw Cen MT"/>
              </a:rPr>
              <a:t>Resultado</a:t>
            </a:r>
            <a:r>
              <a:rPr sz="2200" b="1" dirty="0">
                <a:solidFill>
                  <a:srgbClr val="FFFFFF"/>
                </a:solidFill>
                <a:latin typeface="Tw Cen MT"/>
              </a:rPr>
              <a:t>: </a:t>
            </a:r>
            <a:r>
              <a:rPr sz="2200" b="1" dirty="0" err="1">
                <a:solidFill>
                  <a:srgbClr val="FFFFFF"/>
                </a:solidFill>
                <a:latin typeface="Tw Cen MT"/>
              </a:rPr>
              <a:t>largas</a:t>
            </a:r>
            <a:r>
              <a:rPr sz="2200" b="1" dirty="0">
                <a:solidFill>
                  <a:srgbClr val="FFFFFF"/>
                </a:solidFill>
                <a:latin typeface="Tw Cen MT"/>
              </a:rPr>
              <a:t> </a:t>
            </a:r>
            <a:r>
              <a:rPr sz="2200" b="1" dirty="0" err="1">
                <a:solidFill>
                  <a:srgbClr val="FFFFFF"/>
                </a:solidFill>
                <a:latin typeface="Tw Cen MT"/>
              </a:rPr>
              <a:t>demoras</a:t>
            </a:r>
            <a:r>
              <a:rPr sz="2200" b="1" dirty="0">
                <a:solidFill>
                  <a:srgbClr val="FFFFFF"/>
                </a:solidFill>
                <a:latin typeface="Tw Cen MT"/>
              </a:rPr>
              <a:t> para resolver </a:t>
            </a:r>
            <a:r>
              <a:rPr sz="2200" b="1" dirty="0" err="1">
                <a:solidFill>
                  <a:srgbClr val="FFFFFF"/>
                </a:solidFill>
                <a:latin typeface="Tw Cen MT"/>
              </a:rPr>
              <a:t>el</a:t>
            </a:r>
            <a:r>
              <a:rPr sz="2200" b="1" dirty="0">
                <a:solidFill>
                  <a:srgbClr val="FFFFFF"/>
                </a:solidFill>
                <a:latin typeface="Tw Cen MT"/>
              </a:rPr>
              <a:t> </a:t>
            </a:r>
            <a:r>
              <a:rPr sz="2200" b="1" dirty="0" err="1">
                <a:solidFill>
                  <a:srgbClr val="FFFFFF"/>
                </a:solidFill>
                <a:latin typeface="Tw Cen MT"/>
              </a:rPr>
              <a:t>problema</a:t>
            </a:r>
            <a:r>
              <a:rPr sz="2200" b="1" dirty="0">
                <a:solidFill>
                  <a:srgbClr val="FFFFFF"/>
                </a:solidFill>
                <a:latin typeface="Tw Cen MT"/>
              </a:rPr>
              <a:t> y </a:t>
            </a:r>
            <a:r>
              <a:rPr sz="2200" b="1" dirty="0" err="1">
                <a:solidFill>
                  <a:srgbClr val="FFFFFF"/>
                </a:solidFill>
                <a:latin typeface="Tw Cen MT"/>
              </a:rPr>
              <a:t>pasajeros</a:t>
            </a:r>
            <a:r>
              <a:rPr sz="2200" b="1" dirty="0">
                <a:solidFill>
                  <a:srgbClr val="FFFFFF"/>
                </a:solidFill>
                <a:latin typeface="Tw Cen MT"/>
              </a:rPr>
              <a:t> </a:t>
            </a:r>
            <a:r>
              <a:rPr sz="2200" b="1" dirty="0" err="1">
                <a:solidFill>
                  <a:srgbClr val="FFFFFF"/>
                </a:solidFill>
                <a:latin typeface="Tw Cen MT"/>
              </a:rPr>
              <a:t>descontentos</a:t>
            </a:r>
            <a:r>
              <a:rPr sz="2200" b="1" dirty="0">
                <a:solidFill>
                  <a:srgbClr val="FFFFFF"/>
                </a:solidFill>
                <a:latin typeface="Tw Cen MT"/>
              </a:rPr>
              <a:t>.</a:t>
            </a:r>
          </a:p>
          <a:p>
            <a:pPr algn="l">
              <a:spcBef>
                <a:spcPts val="400"/>
              </a:spcBef>
              <a:buNone/>
            </a:pPr>
            <a:endParaRPr lang="es-419" sz="2200" b="1" dirty="0">
              <a:solidFill>
                <a:srgbClr val="D4A017"/>
              </a:solidFill>
              <a:latin typeface="Tw Cen MT"/>
            </a:endParaRPr>
          </a:p>
          <a:p>
            <a:pPr algn="l">
              <a:spcBef>
                <a:spcPts val="400"/>
              </a:spcBef>
              <a:buNone/>
            </a:pPr>
            <a:endParaRPr lang="es-419" sz="2200" b="1" dirty="0">
              <a:solidFill>
                <a:srgbClr val="D4A017"/>
              </a:solidFill>
              <a:latin typeface="Tw Cen MT"/>
            </a:endParaRPr>
          </a:p>
          <a:p>
            <a:pPr algn="l">
              <a:spcBef>
                <a:spcPts val="400"/>
              </a:spcBef>
              <a:buNone/>
            </a:pPr>
            <a:r>
              <a:rPr sz="2200" b="1" dirty="0">
                <a:solidFill>
                  <a:srgbClr val="D4A017"/>
                </a:solidFill>
                <a:latin typeface="Tw Cen MT"/>
              </a:rPr>
              <a:t>DELTA AIRLINES — CONJUNTO AMPLIO DE TAREAS</a:t>
            </a:r>
          </a:p>
          <a:p>
            <a:pPr algn="l">
              <a:spcBef>
                <a:spcPts val="400"/>
              </a:spcBef>
            </a:pPr>
            <a:r>
              <a:rPr sz="2200" b="0" dirty="0">
                <a:solidFill>
                  <a:srgbClr val="FFFFFF"/>
                </a:solidFill>
                <a:latin typeface="Tw Cen MT"/>
              </a:rPr>
              <a:t>El </a:t>
            </a:r>
            <a:r>
              <a:rPr sz="2200" b="0" dirty="0" err="1">
                <a:solidFill>
                  <a:srgbClr val="FFFFFF"/>
                </a:solidFill>
                <a:latin typeface="Tw Cen MT"/>
              </a:rPr>
              <a:t>centro</a:t>
            </a:r>
            <a:r>
              <a:rPr sz="2200" b="0" dirty="0">
                <a:solidFill>
                  <a:srgbClr val="FFFFFF"/>
                </a:solidFill>
                <a:latin typeface="Tw Cen MT"/>
              </a:rPr>
              <a:t> de </a:t>
            </a:r>
            <a:r>
              <a:rPr sz="2200" b="0" dirty="0" err="1">
                <a:solidFill>
                  <a:srgbClr val="FFFFFF"/>
                </a:solidFill>
                <a:latin typeface="Tw Cen MT"/>
              </a:rPr>
              <a:t>atención</a:t>
            </a:r>
            <a:r>
              <a:rPr sz="2200" b="0" dirty="0">
                <a:solidFill>
                  <a:srgbClr val="FFFFFF"/>
                </a:solidFill>
                <a:latin typeface="Tw Cen MT"/>
              </a:rPr>
              <a:t> al </a:t>
            </a:r>
            <a:r>
              <a:rPr sz="2200" b="0" dirty="0" err="1">
                <a:solidFill>
                  <a:srgbClr val="FFFFFF"/>
                </a:solidFill>
                <a:latin typeface="Tw Cen MT"/>
              </a:rPr>
              <a:t>cliente</a:t>
            </a:r>
            <a:r>
              <a:rPr sz="2200" b="0" dirty="0">
                <a:solidFill>
                  <a:srgbClr val="FFFFFF"/>
                </a:solidFill>
                <a:latin typeface="Tw Cen MT"/>
              </a:rPr>
              <a:t> </a:t>
            </a:r>
            <a:r>
              <a:rPr sz="2200" b="0" dirty="0" err="1">
                <a:solidFill>
                  <a:srgbClr val="FFFFFF"/>
                </a:solidFill>
                <a:latin typeface="Tw Cen MT"/>
              </a:rPr>
              <a:t>maneja</a:t>
            </a:r>
            <a:r>
              <a:rPr sz="2200" b="0" dirty="0">
                <a:solidFill>
                  <a:srgbClr val="FFFFFF"/>
                </a:solidFill>
                <a:latin typeface="Tw Cen MT"/>
              </a:rPr>
              <a:t> </a:t>
            </a:r>
            <a:r>
              <a:rPr sz="2200" b="0" dirty="0" err="1">
                <a:solidFill>
                  <a:srgbClr val="FFFFFF"/>
                </a:solidFill>
                <a:latin typeface="Tw Cen MT"/>
              </a:rPr>
              <a:t>una</a:t>
            </a:r>
            <a:r>
              <a:rPr sz="2200" b="0" dirty="0">
                <a:solidFill>
                  <a:srgbClr val="FFFFFF"/>
                </a:solidFill>
                <a:latin typeface="Tw Cen MT"/>
              </a:rPr>
              <a:t> </a:t>
            </a:r>
            <a:r>
              <a:rPr sz="2200" b="0" dirty="0" err="1">
                <a:solidFill>
                  <a:srgbClr val="FFFFFF"/>
                </a:solidFill>
                <a:latin typeface="Tw Cen MT"/>
              </a:rPr>
              <a:t>amplia</a:t>
            </a:r>
            <a:r>
              <a:rPr sz="2200" b="0" dirty="0">
                <a:solidFill>
                  <a:srgbClr val="FFFFFF"/>
                </a:solidFill>
                <a:latin typeface="Tw Cen MT"/>
              </a:rPr>
              <a:t> </a:t>
            </a:r>
            <a:r>
              <a:rPr sz="2200" b="0" dirty="0" err="1">
                <a:solidFill>
                  <a:srgbClr val="FFFFFF"/>
                </a:solidFill>
                <a:latin typeface="Tw Cen MT"/>
              </a:rPr>
              <a:t>gama</a:t>
            </a:r>
            <a:r>
              <a:rPr sz="2200" b="0" dirty="0">
                <a:solidFill>
                  <a:srgbClr val="FFFFFF"/>
                </a:solidFill>
                <a:latin typeface="Tw Cen MT"/>
              </a:rPr>
              <a:t> de </a:t>
            </a:r>
            <a:r>
              <a:rPr sz="2200" b="0" dirty="0" err="1">
                <a:solidFill>
                  <a:srgbClr val="FFFFFF"/>
                </a:solidFill>
                <a:latin typeface="Tw Cen MT"/>
              </a:rPr>
              <a:t>problemas</a:t>
            </a:r>
            <a:r>
              <a:rPr sz="2200" b="0" dirty="0">
                <a:solidFill>
                  <a:srgbClr val="FFFFFF"/>
                </a:solidFill>
                <a:latin typeface="Tw Cen MT"/>
              </a:rPr>
              <a:t>: </a:t>
            </a:r>
            <a:r>
              <a:rPr sz="2200" b="0" dirty="0" err="1">
                <a:solidFill>
                  <a:srgbClr val="FFFFFF"/>
                </a:solidFill>
                <a:latin typeface="Tw Cen MT"/>
              </a:rPr>
              <a:t>pérdida</a:t>
            </a:r>
            <a:r>
              <a:rPr sz="2200" b="0" dirty="0">
                <a:solidFill>
                  <a:srgbClr val="FFFFFF"/>
                </a:solidFill>
                <a:latin typeface="Tw Cen MT"/>
              </a:rPr>
              <a:t> de </a:t>
            </a:r>
            <a:r>
              <a:rPr sz="2200" b="0" dirty="0" err="1">
                <a:solidFill>
                  <a:srgbClr val="FFFFFF"/>
                </a:solidFill>
                <a:latin typeface="Tw Cen MT"/>
              </a:rPr>
              <a:t>equipajes</a:t>
            </a:r>
            <a:r>
              <a:rPr sz="2200" b="0" dirty="0">
                <a:solidFill>
                  <a:srgbClr val="FFFFFF"/>
                </a:solidFill>
                <a:latin typeface="Tw Cen MT"/>
              </a:rPr>
              <a:t>, </a:t>
            </a:r>
            <a:r>
              <a:rPr sz="2200" b="0" dirty="0" err="1">
                <a:solidFill>
                  <a:srgbClr val="FFFFFF"/>
                </a:solidFill>
                <a:latin typeface="Tw Cen MT"/>
              </a:rPr>
              <a:t>conexiones</a:t>
            </a:r>
            <a:r>
              <a:rPr sz="2200" b="0" dirty="0">
                <a:solidFill>
                  <a:srgbClr val="FFFFFF"/>
                </a:solidFill>
                <a:latin typeface="Tw Cen MT"/>
              </a:rPr>
              <a:t> </a:t>
            </a:r>
            <a:r>
              <a:rPr sz="2200" b="0" dirty="0" err="1">
                <a:solidFill>
                  <a:srgbClr val="FFFFFF"/>
                </a:solidFill>
                <a:latin typeface="Tw Cen MT"/>
              </a:rPr>
              <a:t>perdidas</a:t>
            </a:r>
            <a:r>
              <a:rPr sz="2200" b="0" dirty="0">
                <a:solidFill>
                  <a:srgbClr val="FFFFFF"/>
                </a:solidFill>
                <a:latin typeface="Tw Cen MT"/>
              </a:rPr>
              <a:t> y </a:t>
            </a:r>
            <a:r>
              <a:rPr sz="2200" b="0" dirty="0" err="1">
                <a:solidFill>
                  <a:srgbClr val="FFFFFF"/>
                </a:solidFill>
                <a:latin typeface="Tw Cen MT"/>
              </a:rPr>
              <a:t>venta</a:t>
            </a:r>
            <a:r>
              <a:rPr sz="2200" b="0" dirty="0">
                <a:solidFill>
                  <a:srgbClr val="FFFFFF"/>
                </a:solidFill>
                <a:latin typeface="Tw Cen MT"/>
              </a:rPr>
              <a:t> de </a:t>
            </a:r>
            <a:r>
              <a:rPr sz="2200" b="0" dirty="0" err="1">
                <a:solidFill>
                  <a:srgbClr val="FFFFFF"/>
                </a:solidFill>
                <a:latin typeface="Tw Cen MT"/>
              </a:rPr>
              <a:t>boletos</a:t>
            </a:r>
            <a:r>
              <a:rPr sz="2200" b="0" dirty="0">
                <a:solidFill>
                  <a:srgbClr val="FFFFFF"/>
                </a:solidFill>
                <a:latin typeface="Tw Cen MT"/>
              </a:rPr>
              <a:t>.</a:t>
            </a:r>
          </a:p>
          <a:p>
            <a:pPr algn="ctr">
              <a:spcBef>
                <a:spcPts val="400"/>
              </a:spcBef>
            </a:pPr>
            <a:r>
              <a:rPr lang="es-419" sz="2200" b="1" dirty="0">
                <a:solidFill>
                  <a:srgbClr val="FFFFFF"/>
                </a:solidFill>
                <a:latin typeface="Tw Cen MT"/>
              </a:rPr>
              <a:t>Resultado: </a:t>
            </a:r>
            <a:r>
              <a:rPr sz="2200" b="1" dirty="0">
                <a:solidFill>
                  <a:srgbClr val="FFFFFF"/>
                </a:solidFill>
                <a:latin typeface="Tw Cen MT"/>
              </a:rPr>
              <a:t>Delta se </a:t>
            </a:r>
            <a:r>
              <a:rPr sz="2200" b="1" dirty="0" err="1">
                <a:solidFill>
                  <a:srgbClr val="FFFFFF"/>
                </a:solidFill>
                <a:latin typeface="Tw Cen MT"/>
              </a:rPr>
              <a:t>esfuerza</a:t>
            </a:r>
            <a:r>
              <a:rPr sz="2200" b="1" dirty="0">
                <a:solidFill>
                  <a:srgbClr val="FFFFFF"/>
                </a:solidFill>
                <a:latin typeface="Tw Cen MT"/>
              </a:rPr>
              <a:t> </a:t>
            </a:r>
            <a:r>
              <a:rPr sz="2200" b="1" dirty="0" err="1">
                <a:solidFill>
                  <a:srgbClr val="FFFFFF"/>
                </a:solidFill>
                <a:latin typeface="Tw Cen MT"/>
              </a:rPr>
              <a:t>por</a:t>
            </a:r>
            <a:r>
              <a:rPr sz="2200" b="1" dirty="0">
                <a:solidFill>
                  <a:srgbClr val="FFFFFF"/>
                </a:solidFill>
                <a:latin typeface="Tw Cen MT"/>
              </a:rPr>
              <a:t> resolver las </a:t>
            </a:r>
            <a:r>
              <a:rPr sz="2200" b="1" dirty="0" err="1">
                <a:solidFill>
                  <a:srgbClr val="FFFFFF"/>
                </a:solidFill>
                <a:latin typeface="Tw Cen MT"/>
              </a:rPr>
              <a:t>quejas</a:t>
            </a:r>
            <a:r>
              <a:rPr sz="2200" b="1" dirty="0">
                <a:solidFill>
                  <a:srgbClr val="FFFFFF"/>
                </a:solidFill>
                <a:latin typeface="Tw Cen MT"/>
              </a:rPr>
              <a:t> de </a:t>
            </a:r>
            <a:r>
              <a:rPr sz="2200" b="1" dirty="0" err="1">
                <a:solidFill>
                  <a:srgbClr val="FFFFFF"/>
                </a:solidFill>
                <a:latin typeface="Tw Cen MT"/>
              </a:rPr>
              <a:t>los</a:t>
            </a:r>
            <a:r>
              <a:rPr sz="2200" b="1" dirty="0">
                <a:solidFill>
                  <a:srgbClr val="FFFFFF"/>
                </a:solidFill>
                <a:latin typeface="Tw Cen MT"/>
              </a:rPr>
              <a:t> </a:t>
            </a:r>
            <a:r>
              <a:rPr sz="2200" b="1" dirty="0" err="1">
                <a:solidFill>
                  <a:srgbClr val="FFFFFF"/>
                </a:solidFill>
                <a:latin typeface="Tw Cen MT"/>
              </a:rPr>
              <a:t>pasajeros</a:t>
            </a:r>
            <a:r>
              <a:rPr sz="2200" b="1" dirty="0">
                <a:solidFill>
                  <a:srgbClr val="FFFFFF"/>
                </a:solidFill>
                <a:latin typeface="Tw Cen MT"/>
              </a:rPr>
              <a:t> </a:t>
            </a:r>
            <a:r>
              <a:rPr sz="2200" b="1" dirty="0" err="1">
                <a:solidFill>
                  <a:srgbClr val="FFFFFF"/>
                </a:solidFill>
                <a:latin typeface="Tw Cen MT"/>
              </a:rPr>
              <a:t>dentro</a:t>
            </a:r>
            <a:r>
              <a:rPr sz="2200" b="1" dirty="0">
                <a:solidFill>
                  <a:srgbClr val="FFFFFF"/>
                </a:solidFill>
                <a:latin typeface="Tw Cen MT"/>
              </a:rPr>
              <a:t> de </a:t>
            </a:r>
            <a:r>
              <a:rPr sz="2200" b="1" dirty="0" err="1">
                <a:solidFill>
                  <a:srgbClr val="FFFFFF"/>
                </a:solidFill>
                <a:latin typeface="Tw Cen MT"/>
              </a:rPr>
              <a:t>los</a:t>
            </a:r>
            <a:r>
              <a:rPr sz="2200" b="1" dirty="0">
                <a:solidFill>
                  <a:srgbClr val="FFFFFF"/>
                </a:solidFill>
                <a:latin typeface="Tw Cen MT"/>
              </a:rPr>
              <a:t> 18 </a:t>
            </a:r>
            <a:r>
              <a:rPr sz="2200" b="1" dirty="0" err="1">
                <a:solidFill>
                  <a:srgbClr val="FFFFFF"/>
                </a:solidFill>
                <a:latin typeface="Tw Cen MT"/>
              </a:rPr>
              <a:t>minutos</a:t>
            </a:r>
            <a:r>
              <a:rPr sz="2200" b="1" dirty="0">
                <a:solidFill>
                  <a:srgbClr val="FFFFFF"/>
                </a:solidFill>
                <a:latin typeface="Tw Cen MT"/>
              </a:rPr>
              <a:t> </a:t>
            </a:r>
            <a:r>
              <a:rPr sz="2200" b="1" dirty="0" err="1">
                <a:solidFill>
                  <a:srgbClr val="FFFFFF"/>
                </a:solidFill>
                <a:latin typeface="Tw Cen MT"/>
              </a:rPr>
              <a:t>en</a:t>
            </a:r>
            <a:r>
              <a:rPr sz="2200" b="1" dirty="0">
                <a:solidFill>
                  <a:srgbClr val="FFFFFF"/>
                </a:solidFill>
                <a:latin typeface="Tw Cen MT"/>
              </a:rPr>
              <a:t> </a:t>
            </a:r>
            <a:r>
              <a:rPr sz="2200" b="1" dirty="0" err="1">
                <a:solidFill>
                  <a:srgbClr val="FFFFFF"/>
                </a:solidFill>
                <a:latin typeface="Tw Cen MT"/>
              </a:rPr>
              <a:t>promedio</a:t>
            </a:r>
            <a:r>
              <a:rPr sz="2200" b="1" dirty="0">
                <a:solidFill>
                  <a:srgbClr val="FFFFFF"/>
                </a:solidFill>
                <a:latin typeface="Tw Cen MT"/>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9144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114300"/>
            <a:ext cx="8534400" cy="838200"/>
          </a:xfrm>
          <a:prstGeom prst="rect">
            <a:avLst/>
          </a:prstGeom>
          <a:noFill/>
        </p:spPr>
        <p:txBody>
          <a:bodyPr wrap="square" anchor="ctr">
            <a:spAutoFit/>
          </a:bodyPr>
          <a:lstStyle/>
          <a:p>
            <a:pPr algn="l"/>
            <a:r>
              <a:rPr sz="2600" b="1" i="0">
                <a:solidFill>
                  <a:srgbClr val="FFFFFF"/>
                </a:solidFill>
                <a:latin typeface="Tw Cen MT"/>
              </a:rPr>
              <a:t>TALLER — Centrales Eléctricas y Carbón</a:t>
            </a:r>
          </a:p>
        </p:txBody>
      </p:sp>
      <p:sp>
        <p:nvSpPr>
          <p:cNvPr id="5" name="TextBox 4"/>
          <p:cNvSpPr txBox="1"/>
          <p:nvPr/>
        </p:nvSpPr>
        <p:spPr>
          <a:xfrm>
            <a:off x="304800" y="1220000"/>
            <a:ext cx="8534400" cy="4514056"/>
          </a:xfrm>
          <a:prstGeom prst="rect">
            <a:avLst/>
          </a:prstGeom>
          <a:noFill/>
        </p:spPr>
        <p:txBody>
          <a:bodyPr wrap="square">
            <a:spAutoFit/>
          </a:bodyPr>
          <a:lstStyle/>
          <a:p>
            <a:pPr algn="l">
              <a:spcBef>
                <a:spcPts val="400"/>
              </a:spcBef>
            </a:pPr>
            <a:r>
              <a:rPr sz="2200" b="1" dirty="0">
                <a:solidFill>
                  <a:srgbClr val="FFFFFF"/>
                </a:solidFill>
                <a:latin typeface="Tw Cen MT"/>
              </a:rPr>
              <a:t>SITUACIÓN: </a:t>
            </a:r>
            <a:r>
              <a:rPr sz="2200" dirty="0" err="1">
                <a:solidFill>
                  <a:srgbClr val="FFFFFF"/>
                </a:solidFill>
                <a:latin typeface="Tw Cen MT"/>
              </a:rPr>
              <a:t>Algunas</a:t>
            </a:r>
            <a:r>
              <a:rPr sz="2200" dirty="0">
                <a:solidFill>
                  <a:srgbClr val="FFFFFF"/>
                </a:solidFill>
                <a:latin typeface="Tw Cen MT"/>
              </a:rPr>
              <a:t> </a:t>
            </a:r>
            <a:r>
              <a:rPr sz="2200" dirty="0" err="1">
                <a:solidFill>
                  <a:srgbClr val="FFFFFF"/>
                </a:solidFill>
                <a:latin typeface="Tw Cen MT"/>
              </a:rPr>
              <a:t>centrales</a:t>
            </a:r>
            <a:r>
              <a:rPr sz="2200" dirty="0">
                <a:solidFill>
                  <a:srgbClr val="FFFFFF"/>
                </a:solidFill>
                <a:latin typeface="Tw Cen MT"/>
              </a:rPr>
              <a:t> </a:t>
            </a:r>
            <a:r>
              <a:rPr sz="2200" dirty="0" err="1">
                <a:solidFill>
                  <a:srgbClr val="FFFFFF"/>
                </a:solidFill>
                <a:latin typeface="Tw Cen MT"/>
              </a:rPr>
              <a:t>eléctricas</a:t>
            </a:r>
            <a:r>
              <a:rPr sz="2200" dirty="0">
                <a:solidFill>
                  <a:srgbClr val="FFFFFF"/>
                </a:solidFill>
                <a:latin typeface="Tw Cen MT"/>
              </a:rPr>
              <a:t> son de </a:t>
            </a:r>
            <a:r>
              <a:rPr sz="2200" dirty="0" err="1">
                <a:solidFill>
                  <a:srgbClr val="FFFFFF"/>
                </a:solidFill>
                <a:latin typeface="Tw Cen MT"/>
              </a:rPr>
              <a:t>carbón</a:t>
            </a:r>
            <a:r>
              <a:rPr sz="2200" dirty="0">
                <a:solidFill>
                  <a:srgbClr val="FFFFFF"/>
                </a:solidFill>
                <a:latin typeface="Tw Cen MT"/>
              </a:rPr>
              <a:t>. El </a:t>
            </a:r>
            <a:r>
              <a:rPr sz="2200" dirty="0" err="1">
                <a:solidFill>
                  <a:srgbClr val="FFFFFF"/>
                </a:solidFill>
                <a:latin typeface="Tw Cen MT"/>
              </a:rPr>
              <a:t>carbón</a:t>
            </a:r>
            <a:r>
              <a:rPr sz="2200" dirty="0">
                <a:solidFill>
                  <a:srgbClr val="FFFFFF"/>
                </a:solidFill>
                <a:latin typeface="Tw Cen MT"/>
              </a:rPr>
              <a:t> es </a:t>
            </a:r>
            <a:r>
              <a:rPr sz="2200" dirty="0" err="1">
                <a:solidFill>
                  <a:srgbClr val="FFFFFF"/>
                </a:solidFill>
                <a:latin typeface="Tw Cen MT"/>
              </a:rPr>
              <a:t>comprado</a:t>
            </a:r>
            <a:r>
              <a:rPr sz="2200" dirty="0">
                <a:solidFill>
                  <a:srgbClr val="FFFFFF"/>
                </a:solidFill>
                <a:latin typeface="Tw Cen MT"/>
              </a:rPr>
              <a:t> </a:t>
            </a:r>
            <a:r>
              <a:rPr sz="2200" dirty="0" err="1">
                <a:solidFill>
                  <a:srgbClr val="FFFFFF"/>
                </a:solidFill>
                <a:latin typeface="Tw Cen MT"/>
              </a:rPr>
              <a:t>por</a:t>
            </a:r>
            <a:r>
              <a:rPr sz="2200" dirty="0">
                <a:solidFill>
                  <a:srgbClr val="FFFFFF"/>
                </a:solidFill>
                <a:latin typeface="Tw Cen MT"/>
              </a:rPr>
              <a:t> la División de </a:t>
            </a:r>
            <a:r>
              <a:rPr sz="2200" dirty="0" err="1">
                <a:solidFill>
                  <a:srgbClr val="FFFFFF"/>
                </a:solidFill>
                <a:latin typeface="Tw Cen MT"/>
              </a:rPr>
              <a:t>Compras</a:t>
            </a:r>
            <a:r>
              <a:rPr sz="2200" dirty="0">
                <a:solidFill>
                  <a:srgbClr val="FFFFFF"/>
                </a:solidFill>
                <a:latin typeface="Tw Cen MT"/>
              </a:rPr>
              <a:t> y </a:t>
            </a:r>
            <a:r>
              <a:rPr sz="2200" dirty="0" err="1">
                <a:solidFill>
                  <a:srgbClr val="FFFFFF"/>
                </a:solidFill>
                <a:latin typeface="Tw Cen MT"/>
              </a:rPr>
              <a:t>transferido</a:t>
            </a:r>
            <a:r>
              <a:rPr sz="2200" dirty="0">
                <a:solidFill>
                  <a:srgbClr val="FFFFFF"/>
                </a:solidFill>
                <a:latin typeface="Tw Cen MT"/>
              </a:rPr>
              <a:t> a las </a:t>
            </a:r>
            <a:r>
              <a:rPr sz="2200" dirty="0" err="1">
                <a:solidFill>
                  <a:srgbClr val="FFFFFF"/>
                </a:solidFill>
                <a:latin typeface="Tw Cen MT"/>
              </a:rPr>
              <a:t>centrales</a:t>
            </a:r>
            <a:r>
              <a:rPr sz="2200" dirty="0">
                <a:solidFill>
                  <a:srgbClr val="FFFFFF"/>
                </a:solidFill>
                <a:latin typeface="Tw Cen MT"/>
              </a:rPr>
              <a:t> para </a:t>
            </a:r>
            <a:r>
              <a:rPr sz="2200" dirty="0" err="1">
                <a:solidFill>
                  <a:srgbClr val="FFFFFF"/>
                </a:solidFill>
                <a:latin typeface="Tw Cen MT"/>
              </a:rPr>
              <a:t>su</a:t>
            </a:r>
            <a:r>
              <a:rPr sz="2200" dirty="0">
                <a:solidFill>
                  <a:srgbClr val="FFFFFF"/>
                </a:solidFill>
                <a:latin typeface="Tw Cen MT"/>
              </a:rPr>
              <a:t> </a:t>
            </a:r>
            <a:r>
              <a:rPr sz="2200" dirty="0" err="1">
                <a:solidFill>
                  <a:srgbClr val="FFFFFF"/>
                </a:solidFill>
                <a:latin typeface="Tw Cen MT"/>
              </a:rPr>
              <a:t>uso</a:t>
            </a:r>
            <a:r>
              <a:rPr sz="2200" dirty="0">
                <a:solidFill>
                  <a:srgbClr val="FFFFFF"/>
                </a:solidFill>
                <a:latin typeface="Tw Cen MT"/>
              </a:rPr>
              <a:t>.</a:t>
            </a:r>
          </a:p>
          <a:p>
            <a:pPr algn="l">
              <a:spcBef>
                <a:spcPts val="400"/>
              </a:spcBef>
            </a:pPr>
            <a:r>
              <a:rPr sz="2200" dirty="0">
                <a:solidFill>
                  <a:srgbClr val="FFFFFF"/>
                </a:solidFill>
                <a:latin typeface="Tw Cen MT"/>
              </a:rPr>
              <a:t>Los </a:t>
            </a:r>
            <a:r>
              <a:rPr sz="2200" dirty="0" err="1">
                <a:solidFill>
                  <a:srgbClr val="FFFFFF"/>
                </a:solidFill>
                <a:latin typeface="Tw Cen MT"/>
              </a:rPr>
              <a:t>directivos</a:t>
            </a:r>
            <a:r>
              <a:rPr sz="2200" dirty="0">
                <a:solidFill>
                  <a:srgbClr val="FFFFFF"/>
                </a:solidFill>
                <a:latin typeface="Tw Cen MT"/>
              </a:rPr>
              <a:t> de las </a:t>
            </a:r>
            <a:r>
              <a:rPr sz="2200" dirty="0" err="1">
                <a:solidFill>
                  <a:srgbClr val="FFFFFF"/>
                </a:solidFill>
                <a:latin typeface="Tw Cen MT"/>
              </a:rPr>
              <a:t>centrales</a:t>
            </a:r>
            <a:r>
              <a:rPr sz="2200" dirty="0">
                <a:solidFill>
                  <a:srgbClr val="FFFFFF"/>
                </a:solidFill>
                <a:latin typeface="Tw Cen MT"/>
              </a:rPr>
              <a:t> se </a:t>
            </a:r>
            <a:r>
              <a:rPr sz="2200" dirty="0" err="1">
                <a:solidFill>
                  <a:srgbClr val="FFFFFF"/>
                </a:solidFill>
                <a:latin typeface="Tw Cen MT"/>
              </a:rPr>
              <a:t>quejan</a:t>
            </a:r>
            <a:r>
              <a:rPr sz="2200" dirty="0">
                <a:solidFill>
                  <a:srgbClr val="FFFFFF"/>
                </a:solidFill>
                <a:latin typeface="Tw Cen MT"/>
              </a:rPr>
              <a:t> de la </a:t>
            </a:r>
            <a:r>
              <a:rPr sz="2200" dirty="0" err="1">
                <a:solidFill>
                  <a:srgbClr val="FFFFFF"/>
                </a:solidFill>
                <a:latin typeface="Tw Cen MT"/>
              </a:rPr>
              <a:t>calidad</a:t>
            </a:r>
            <a:r>
              <a:rPr sz="2200" dirty="0">
                <a:solidFill>
                  <a:srgbClr val="FFFFFF"/>
                </a:solidFill>
                <a:latin typeface="Tw Cen MT"/>
              </a:rPr>
              <a:t> del </a:t>
            </a:r>
            <a:r>
              <a:rPr sz="2200" dirty="0" err="1">
                <a:solidFill>
                  <a:srgbClr val="FFFFFF"/>
                </a:solidFill>
                <a:latin typeface="Tw Cen MT"/>
              </a:rPr>
              <a:t>carbón</a:t>
            </a:r>
            <a:r>
              <a:rPr sz="2200" dirty="0">
                <a:solidFill>
                  <a:srgbClr val="FFFFFF"/>
                </a:solidFill>
                <a:latin typeface="Tw Cen MT"/>
              </a:rPr>
              <a:t> y </a:t>
            </a:r>
            <a:r>
              <a:rPr sz="2200" dirty="0" err="1">
                <a:solidFill>
                  <a:srgbClr val="FFFFFF"/>
                </a:solidFill>
                <a:latin typeface="Tw Cen MT"/>
              </a:rPr>
              <a:t>plantean</a:t>
            </a:r>
            <a:r>
              <a:rPr sz="2200" dirty="0">
                <a:solidFill>
                  <a:srgbClr val="FFFFFF"/>
                </a:solidFill>
                <a:latin typeface="Tw Cen MT"/>
              </a:rPr>
              <a:t> </a:t>
            </a:r>
            <a:r>
              <a:rPr sz="2200" dirty="0" err="1">
                <a:solidFill>
                  <a:srgbClr val="FFFFFF"/>
                </a:solidFill>
                <a:latin typeface="Tw Cen MT"/>
              </a:rPr>
              <a:t>problemas</a:t>
            </a:r>
            <a:r>
              <a:rPr sz="2200" dirty="0">
                <a:solidFill>
                  <a:srgbClr val="FFFFFF"/>
                </a:solidFill>
                <a:latin typeface="Tw Cen MT"/>
              </a:rPr>
              <a:t> </a:t>
            </a:r>
            <a:r>
              <a:rPr sz="2200" dirty="0" err="1">
                <a:solidFill>
                  <a:srgbClr val="FFFFFF"/>
                </a:solidFill>
                <a:latin typeface="Tw Cen MT"/>
              </a:rPr>
              <a:t>en</a:t>
            </a:r>
            <a:r>
              <a:rPr sz="2200" dirty="0">
                <a:solidFill>
                  <a:srgbClr val="FFFFFF"/>
                </a:solidFill>
                <a:latin typeface="Tw Cen MT"/>
              </a:rPr>
              <a:t> </a:t>
            </a:r>
            <a:r>
              <a:rPr sz="2200" dirty="0" err="1">
                <a:solidFill>
                  <a:srgbClr val="FFFFFF"/>
                </a:solidFill>
                <a:latin typeface="Tw Cen MT"/>
              </a:rPr>
              <a:t>el</a:t>
            </a:r>
            <a:r>
              <a:rPr sz="2200" dirty="0">
                <a:solidFill>
                  <a:srgbClr val="FFFFFF"/>
                </a:solidFill>
                <a:latin typeface="Tw Cen MT"/>
              </a:rPr>
              <a:t> </a:t>
            </a:r>
            <a:r>
              <a:rPr sz="2200" dirty="0" err="1">
                <a:solidFill>
                  <a:srgbClr val="FFFFFF"/>
                </a:solidFill>
                <a:latin typeface="Tw Cen MT"/>
              </a:rPr>
              <a:t>mantenimiento</a:t>
            </a:r>
            <a:r>
              <a:rPr sz="2200" dirty="0">
                <a:solidFill>
                  <a:srgbClr val="FFFFFF"/>
                </a:solidFill>
                <a:latin typeface="Tw Cen MT"/>
              </a:rPr>
              <a:t> de las </a:t>
            </a:r>
            <a:r>
              <a:rPr sz="2200" dirty="0" err="1">
                <a:solidFill>
                  <a:srgbClr val="FFFFFF"/>
                </a:solidFill>
                <a:latin typeface="Tw Cen MT"/>
              </a:rPr>
              <a:t>plantas</a:t>
            </a:r>
            <a:r>
              <a:rPr sz="2200" dirty="0">
                <a:solidFill>
                  <a:srgbClr val="FFFFFF"/>
                </a:solidFill>
                <a:latin typeface="Tw Cen MT"/>
              </a:rPr>
              <a:t>.</a:t>
            </a:r>
            <a:endParaRPr lang="es-419" sz="2200" dirty="0">
              <a:solidFill>
                <a:srgbClr val="FFFFFF"/>
              </a:solidFill>
              <a:latin typeface="Tw Cen MT"/>
            </a:endParaRPr>
          </a:p>
          <a:p>
            <a:pPr algn="l">
              <a:spcBef>
                <a:spcPts val="400"/>
              </a:spcBef>
            </a:pPr>
            <a:endParaRPr lang="es-419" sz="2200" b="1" dirty="0">
              <a:solidFill>
                <a:srgbClr val="FFFFFF"/>
              </a:solidFill>
              <a:latin typeface="Tw Cen MT"/>
            </a:endParaRPr>
          </a:p>
          <a:p>
            <a:pPr algn="l">
              <a:spcBef>
                <a:spcPts val="400"/>
              </a:spcBef>
            </a:pPr>
            <a:endParaRPr sz="2200" b="1" dirty="0">
              <a:solidFill>
                <a:srgbClr val="FFFFFF"/>
              </a:solidFill>
              <a:latin typeface="Tw Cen MT"/>
            </a:endParaRPr>
          </a:p>
          <a:p>
            <a:pPr algn="l">
              <a:spcBef>
                <a:spcPts val="400"/>
              </a:spcBef>
              <a:buNone/>
            </a:pPr>
            <a:r>
              <a:rPr sz="2200" b="1" dirty="0">
                <a:solidFill>
                  <a:srgbClr val="52B788"/>
                </a:solidFill>
                <a:latin typeface="Tw Cen MT"/>
              </a:rPr>
              <a:t>PREGUNTAS</a:t>
            </a:r>
          </a:p>
          <a:p>
            <a:pPr marL="457200" indent="-457200" algn="l">
              <a:spcBef>
                <a:spcPts val="400"/>
              </a:spcBef>
              <a:buFont typeface="+mj-lt"/>
              <a:buAutoNum type="arabicPeriod"/>
            </a:pPr>
            <a:r>
              <a:rPr sz="2200" b="0" dirty="0">
                <a:solidFill>
                  <a:srgbClr val="FFFFFF"/>
                </a:solidFill>
                <a:latin typeface="Tw Cen MT"/>
              </a:rPr>
              <a:t>¿</a:t>
            </a:r>
            <a:r>
              <a:rPr sz="2200" b="0" dirty="0" err="1">
                <a:solidFill>
                  <a:srgbClr val="FFFFFF"/>
                </a:solidFill>
                <a:latin typeface="Tw Cen MT"/>
              </a:rPr>
              <a:t>Cómo</a:t>
            </a:r>
            <a:r>
              <a:rPr sz="2200" b="0" dirty="0">
                <a:solidFill>
                  <a:srgbClr val="FFFFFF"/>
                </a:solidFill>
                <a:latin typeface="Tw Cen MT"/>
              </a:rPr>
              <a:t> </a:t>
            </a:r>
            <a:r>
              <a:rPr sz="2200" b="0" dirty="0" err="1">
                <a:solidFill>
                  <a:srgbClr val="FFFFFF"/>
                </a:solidFill>
                <a:latin typeface="Tw Cen MT"/>
              </a:rPr>
              <a:t>estiman</a:t>
            </a:r>
            <a:r>
              <a:rPr sz="2200" b="0" dirty="0">
                <a:solidFill>
                  <a:srgbClr val="FFFFFF"/>
                </a:solidFill>
                <a:latin typeface="Tw Cen MT"/>
              </a:rPr>
              <a:t> </a:t>
            </a:r>
            <a:r>
              <a:rPr sz="2200" b="0" dirty="0" err="1">
                <a:solidFill>
                  <a:srgbClr val="FFFFFF"/>
                </a:solidFill>
                <a:latin typeface="Tw Cen MT"/>
              </a:rPr>
              <a:t>que</a:t>
            </a:r>
            <a:r>
              <a:rPr sz="2200" b="0" dirty="0">
                <a:solidFill>
                  <a:srgbClr val="FFFFFF"/>
                </a:solidFill>
                <a:latin typeface="Tw Cen MT"/>
              </a:rPr>
              <a:t> son </a:t>
            </a:r>
            <a:r>
              <a:rPr sz="2200" b="0" dirty="0" err="1">
                <a:solidFill>
                  <a:srgbClr val="FFFFFF"/>
                </a:solidFill>
                <a:latin typeface="Tw Cen MT"/>
              </a:rPr>
              <a:t>los</a:t>
            </a:r>
            <a:r>
              <a:rPr sz="2200" b="0" dirty="0">
                <a:solidFill>
                  <a:srgbClr val="FFFFFF"/>
                </a:solidFill>
                <a:latin typeface="Tw Cen MT"/>
              </a:rPr>
              <a:t> </a:t>
            </a:r>
            <a:r>
              <a:rPr sz="2200" b="0" dirty="0" err="1">
                <a:solidFill>
                  <a:srgbClr val="FFFFFF"/>
                </a:solidFill>
                <a:latin typeface="Tw Cen MT"/>
              </a:rPr>
              <a:t>contratos</a:t>
            </a:r>
            <a:r>
              <a:rPr sz="2200" b="0" dirty="0">
                <a:solidFill>
                  <a:srgbClr val="FFFFFF"/>
                </a:solidFill>
                <a:latin typeface="Tw Cen MT"/>
              </a:rPr>
              <a:t> de </a:t>
            </a:r>
            <a:r>
              <a:rPr sz="2200" b="0" dirty="0" err="1">
                <a:solidFill>
                  <a:srgbClr val="FFFFFF"/>
                </a:solidFill>
                <a:latin typeface="Tw Cen MT"/>
              </a:rPr>
              <a:t>los</a:t>
            </a:r>
            <a:r>
              <a:rPr sz="2200" b="0" dirty="0">
                <a:solidFill>
                  <a:srgbClr val="FFFFFF"/>
                </a:solidFill>
                <a:latin typeface="Tw Cen MT"/>
              </a:rPr>
              <a:t> </a:t>
            </a:r>
            <a:r>
              <a:rPr sz="2200" b="0" dirty="0" err="1">
                <a:solidFill>
                  <a:srgbClr val="FFFFFF"/>
                </a:solidFill>
                <a:latin typeface="Tw Cen MT"/>
              </a:rPr>
              <a:t>Directores</a:t>
            </a:r>
            <a:r>
              <a:rPr sz="2200" b="0" dirty="0">
                <a:solidFill>
                  <a:srgbClr val="FFFFFF"/>
                </a:solidFill>
                <a:latin typeface="Tw Cen MT"/>
              </a:rPr>
              <a:t> de </a:t>
            </a:r>
            <a:r>
              <a:rPr sz="2200" b="0" dirty="0" err="1">
                <a:solidFill>
                  <a:srgbClr val="FFFFFF"/>
                </a:solidFill>
                <a:latin typeface="Tw Cen MT"/>
              </a:rPr>
              <a:t>Compras</a:t>
            </a:r>
            <a:r>
              <a:rPr sz="2200" b="0" dirty="0">
                <a:solidFill>
                  <a:srgbClr val="FFFFFF"/>
                </a:solidFill>
                <a:latin typeface="Tw Cen MT"/>
              </a:rPr>
              <a:t> y de </a:t>
            </a:r>
            <a:r>
              <a:rPr sz="2200" b="0" dirty="0" err="1">
                <a:solidFill>
                  <a:srgbClr val="FFFFFF"/>
                </a:solidFill>
                <a:latin typeface="Tw Cen MT"/>
              </a:rPr>
              <a:t>Producción</a:t>
            </a:r>
            <a:r>
              <a:rPr sz="2200" b="0" dirty="0">
                <a:solidFill>
                  <a:srgbClr val="FFFFFF"/>
                </a:solidFill>
                <a:latin typeface="Tw Cen MT"/>
              </a:rPr>
              <a:t>?</a:t>
            </a:r>
          </a:p>
          <a:p>
            <a:pPr marL="457200" indent="-457200" algn="l">
              <a:spcBef>
                <a:spcPts val="400"/>
              </a:spcBef>
              <a:buFont typeface="+mj-lt"/>
              <a:buAutoNum type="arabicPeriod"/>
            </a:pPr>
            <a:r>
              <a:rPr sz="2200" b="0" dirty="0">
                <a:solidFill>
                  <a:srgbClr val="FFFFFF"/>
                </a:solidFill>
                <a:latin typeface="Tw Cen MT"/>
              </a:rPr>
              <a:t>¿</a:t>
            </a:r>
            <a:r>
              <a:rPr sz="2200" b="0" dirty="0" err="1">
                <a:solidFill>
                  <a:srgbClr val="FFFFFF"/>
                </a:solidFill>
                <a:latin typeface="Tw Cen MT"/>
              </a:rPr>
              <a:t>Individualmente</a:t>
            </a:r>
            <a:r>
              <a:rPr sz="2200" b="0" dirty="0">
                <a:solidFill>
                  <a:srgbClr val="FFFFFF"/>
                </a:solidFill>
                <a:latin typeface="Tw Cen MT"/>
              </a:rPr>
              <a:t>, </a:t>
            </a:r>
            <a:r>
              <a:rPr sz="2200" b="0" dirty="0" err="1">
                <a:solidFill>
                  <a:srgbClr val="FFFFFF"/>
                </a:solidFill>
                <a:latin typeface="Tw Cen MT"/>
              </a:rPr>
              <a:t>están</a:t>
            </a:r>
            <a:r>
              <a:rPr sz="2200" b="0" dirty="0">
                <a:solidFill>
                  <a:srgbClr val="FFFFFF"/>
                </a:solidFill>
                <a:latin typeface="Tw Cen MT"/>
              </a:rPr>
              <a:t> </a:t>
            </a:r>
            <a:r>
              <a:rPr sz="2200" b="0" dirty="0" err="1">
                <a:solidFill>
                  <a:srgbClr val="FFFFFF"/>
                </a:solidFill>
                <a:latin typeface="Tw Cen MT"/>
              </a:rPr>
              <a:t>equilibrados</a:t>
            </a:r>
            <a:r>
              <a:rPr sz="2200" b="0" dirty="0">
                <a:solidFill>
                  <a:srgbClr val="FFFFFF"/>
                </a:solidFill>
                <a:latin typeface="Tw Cen MT"/>
              </a:rPr>
              <a:t>?</a:t>
            </a:r>
          </a:p>
          <a:p>
            <a:pPr marL="457200" indent="-457200" algn="l">
              <a:spcBef>
                <a:spcPts val="400"/>
              </a:spcBef>
              <a:buFont typeface="+mj-lt"/>
              <a:buAutoNum type="arabicPeriod"/>
            </a:pPr>
            <a:r>
              <a:rPr sz="2200" b="0" dirty="0">
                <a:solidFill>
                  <a:srgbClr val="FFFFFF"/>
                </a:solidFill>
                <a:latin typeface="Tw Cen MT"/>
              </a:rPr>
              <a:t>¿</a:t>
            </a:r>
            <a:r>
              <a:rPr sz="2200" b="0" dirty="0" err="1">
                <a:solidFill>
                  <a:srgbClr val="FFFFFF"/>
                </a:solidFill>
                <a:latin typeface="Tw Cen MT"/>
              </a:rPr>
              <a:t>Estos</a:t>
            </a:r>
            <a:r>
              <a:rPr sz="2200" b="0" dirty="0">
                <a:solidFill>
                  <a:srgbClr val="FFFFFF"/>
                </a:solidFill>
                <a:latin typeface="Tw Cen MT"/>
              </a:rPr>
              <a:t> </a:t>
            </a:r>
            <a:r>
              <a:rPr sz="2200" b="0" dirty="0" err="1">
                <a:solidFill>
                  <a:srgbClr val="FFFFFF"/>
                </a:solidFill>
                <a:latin typeface="Tw Cen MT"/>
              </a:rPr>
              <a:t>contratos</a:t>
            </a:r>
            <a:r>
              <a:rPr sz="2200" b="0" dirty="0">
                <a:solidFill>
                  <a:srgbClr val="FFFFFF"/>
                </a:solidFill>
                <a:latin typeface="Tw Cen MT"/>
              </a:rPr>
              <a:t> </a:t>
            </a:r>
            <a:r>
              <a:rPr sz="2200" b="0" dirty="0" err="1">
                <a:solidFill>
                  <a:srgbClr val="FFFFFF"/>
                </a:solidFill>
                <a:latin typeface="Tw Cen MT"/>
              </a:rPr>
              <a:t>generan</a:t>
            </a:r>
            <a:r>
              <a:rPr sz="2200" b="0" dirty="0">
                <a:solidFill>
                  <a:srgbClr val="FFFFFF"/>
                </a:solidFill>
                <a:latin typeface="Tw Cen MT"/>
              </a:rPr>
              <a:t> valor para la </a:t>
            </a:r>
            <a:r>
              <a:rPr sz="2200" b="0" dirty="0" err="1">
                <a:solidFill>
                  <a:srgbClr val="FFFFFF"/>
                </a:solidFill>
                <a:latin typeface="Tw Cen MT"/>
              </a:rPr>
              <a:t>compañía</a:t>
            </a:r>
            <a:r>
              <a:rPr sz="2200" b="0" dirty="0">
                <a:solidFill>
                  <a:srgbClr val="FFFFFF"/>
                </a:solidFill>
                <a:latin typeface="Tw Cen MT"/>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A2744"/>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2286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9144000" cy="2286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04800" y="457200"/>
            <a:ext cx="8534400" cy="457200"/>
          </a:xfrm>
          <a:prstGeom prst="rect">
            <a:avLst/>
          </a:prstGeom>
          <a:noFill/>
        </p:spPr>
        <p:txBody>
          <a:bodyPr wrap="square" anchor="ctr">
            <a:spAutoFit/>
          </a:bodyPr>
          <a:lstStyle/>
          <a:p>
            <a:pPr algn="ctr"/>
            <a:r>
              <a:rPr sz="1600" b="1" i="1">
                <a:solidFill>
                  <a:srgbClr val="D4A017"/>
                </a:solidFill>
                <a:latin typeface="Tw Cen MT"/>
              </a:rPr>
              <a:t>RESUMEN DE LA CLASE</a:t>
            </a:r>
          </a:p>
        </p:txBody>
      </p:sp>
      <p:sp>
        <p:nvSpPr>
          <p:cNvPr id="5" name="Rectangle 4"/>
          <p:cNvSpPr/>
          <p:nvPr/>
        </p:nvSpPr>
        <p:spPr>
          <a:xfrm>
            <a:off x="457200" y="1066800"/>
            <a:ext cx="2743200" cy="5486400"/>
          </a:xfrm>
          <a:prstGeom prst="rect">
            <a:avLst/>
          </a:prstGeom>
          <a:solidFill>
            <a:srgbClr val="1E3060"/>
          </a:solidFill>
          <a:ln w="9525">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3400" y="1086035"/>
            <a:ext cx="2590800" cy="646331"/>
          </a:xfrm>
          <a:prstGeom prst="rect">
            <a:avLst/>
          </a:prstGeom>
          <a:noFill/>
        </p:spPr>
        <p:txBody>
          <a:bodyPr wrap="square" anchor="ctr">
            <a:spAutoFit/>
          </a:bodyPr>
          <a:lstStyle/>
          <a:p>
            <a:pPr algn="ctr"/>
            <a:r>
              <a:rPr b="1" i="0" dirty="0">
                <a:solidFill>
                  <a:srgbClr val="D4A017"/>
                </a:solidFill>
                <a:latin typeface="Tw Cen MT"/>
              </a:rPr>
              <a:t>ASIGNACIÓN DE AUTORIDAD</a:t>
            </a:r>
          </a:p>
        </p:txBody>
      </p:sp>
      <p:sp>
        <p:nvSpPr>
          <p:cNvPr id="7" name="TextBox 6"/>
          <p:cNvSpPr txBox="1"/>
          <p:nvPr/>
        </p:nvSpPr>
        <p:spPr>
          <a:xfrm>
            <a:off x="533400" y="1676400"/>
            <a:ext cx="2590800" cy="3046988"/>
          </a:xfrm>
          <a:prstGeom prst="rect">
            <a:avLst/>
          </a:prstGeom>
          <a:noFill/>
        </p:spPr>
        <p:txBody>
          <a:bodyPr wrap="square">
            <a:spAutoFit/>
          </a:bodyPr>
          <a:lstStyle/>
          <a:p>
            <a:pPr algn="l"/>
            <a:r>
              <a:rPr sz="1600" b="0" i="0" dirty="0" err="1">
                <a:solidFill>
                  <a:srgbClr val="C8D8F0"/>
                </a:solidFill>
                <a:latin typeface="Tw Cen MT"/>
              </a:rPr>
              <a:t>Descentralizar</a:t>
            </a:r>
            <a:r>
              <a:rPr sz="1600" b="0" i="0" dirty="0">
                <a:solidFill>
                  <a:srgbClr val="C8D8F0"/>
                </a:solidFill>
                <a:latin typeface="Tw Cen MT"/>
              </a:rPr>
              <a:t>: </a:t>
            </a:r>
            <a:r>
              <a:rPr sz="1600" b="0" i="0" dirty="0" err="1">
                <a:solidFill>
                  <a:srgbClr val="C8D8F0"/>
                </a:solidFill>
                <a:latin typeface="Tw Cen MT"/>
              </a:rPr>
              <a:t>uso</a:t>
            </a:r>
            <a:r>
              <a:rPr sz="1600" b="0" i="0" dirty="0">
                <a:solidFill>
                  <a:srgbClr val="C8D8F0"/>
                </a:solidFill>
                <a:latin typeface="Tw Cen MT"/>
              </a:rPr>
              <a:t> del </a:t>
            </a:r>
            <a:r>
              <a:rPr sz="1600" b="0" i="0" dirty="0" err="1">
                <a:solidFill>
                  <a:srgbClr val="C8D8F0"/>
                </a:solidFill>
                <a:latin typeface="Tw Cen MT"/>
              </a:rPr>
              <a:t>conocimiento</a:t>
            </a:r>
            <a:r>
              <a:rPr sz="1600" b="0" i="0" dirty="0">
                <a:solidFill>
                  <a:srgbClr val="C8D8F0"/>
                </a:solidFill>
                <a:latin typeface="Tw Cen MT"/>
              </a:rPr>
              <a:t> local, </a:t>
            </a:r>
            <a:r>
              <a:rPr sz="1600" b="0" i="0" dirty="0" err="1">
                <a:solidFill>
                  <a:srgbClr val="C8D8F0"/>
                </a:solidFill>
                <a:latin typeface="Tw Cen MT"/>
              </a:rPr>
              <a:t>rapidez</a:t>
            </a:r>
            <a:r>
              <a:rPr sz="1600" b="0" i="0" dirty="0">
                <a:solidFill>
                  <a:srgbClr val="C8D8F0"/>
                </a:solidFill>
                <a:latin typeface="Tw Cen MT"/>
              </a:rPr>
              <a:t>, </a:t>
            </a:r>
            <a:r>
              <a:rPr sz="1600" b="0" i="0" dirty="0" err="1">
                <a:solidFill>
                  <a:srgbClr val="C8D8F0"/>
                </a:solidFill>
                <a:latin typeface="Tw Cen MT"/>
              </a:rPr>
              <a:t>motivación</a:t>
            </a:r>
            <a:r>
              <a:rPr sz="1600" b="0" i="0" dirty="0">
                <a:solidFill>
                  <a:srgbClr val="C8D8F0"/>
                </a:solidFill>
                <a:latin typeface="Tw Cen MT"/>
              </a:rPr>
              <a:t> </a:t>
            </a:r>
            <a:r>
              <a:rPr sz="1600" b="0" i="0" dirty="0" err="1">
                <a:solidFill>
                  <a:srgbClr val="C8D8F0"/>
                </a:solidFill>
                <a:latin typeface="Tw Cen MT"/>
              </a:rPr>
              <a:t>gerencial</a:t>
            </a:r>
            <a:r>
              <a:rPr sz="1600" b="0" i="0" dirty="0">
                <a:solidFill>
                  <a:srgbClr val="C8D8F0"/>
                </a:solidFill>
                <a:latin typeface="Tw Cen MT"/>
              </a:rPr>
              <a:t>.
</a:t>
            </a:r>
            <a:r>
              <a:rPr sz="1600" b="0" i="0" dirty="0" err="1">
                <a:solidFill>
                  <a:srgbClr val="C8D8F0"/>
                </a:solidFill>
                <a:latin typeface="Tw Cen MT"/>
              </a:rPr>
              <a:t>Centralizar</a:t>
            </a:r>
            <a:r>
              <a:rPr sz="1600" b="0" i="0" dirty="0">
                <a:solidFill>
                  <a:srgbClr val="C8D8F0"/>
                </a:solidFill>
                <a:latin typeface="Tw Cen MT"/>
              </a:rPr>
              <a:t>: </a:t>
            </a:r>
            <a:r>
              <a:rPr sz="1600" b="0" i="0" dirty="0" err="1">
                <a:solidFill>
                  <a:srgbClr val="C8D8F0"/>
                </a:solidFill>
                <a:latin typeface="Tw Cen MT"/>
              </a:rPr>
              <a:t>coordinación</a:t>
            </a:r>
            <a:r>
              <a:rPr sz="1600" b="0" i="0" dirty="0">
                <a:solidFill>
                  <a:srgbClr val="C8D8F0"/>
                </a:solidFill>
                <a:latin typeface="Tw Cen MT"/>
              </a:rPr>
              <a:t>, control, </a:t>
            </a:r>
            <a:r>
              <a:rPr sz="1600" b="0" i="0" dirty="0" err="1">
                <a:solidFill>
                  <a:srgbClr val="C8D8F0"/>
                </a:solidFill>
                <a:latin typeface="Tw Cen MT"/>
              </a:rPr>
              <a:t>uso</a:t>
            </a:r>
            <a:r>
              <a:rPr sz="1600" b="0" i="0" dirty="0">
                <a:solidFill>
                  <a:srgbClr val="C8D8F0"/>
                </a:solidFill>
                <a:latin typeface="Tw Cen MT"/>
              </a:rPr>
              <a:t> de </a:t>
            </a:r>
            <a:r>
              <a:rPr sz="1600" b="0" i="0" dirty="0" err="1">
                <a:solidFill>
                  <a:srgbClr val="C8D8F0"/>
                </a:solidFill>
                <a:latin typeface="Tw Cen MT"/>
              </a:rPr>
              <a:t>información</a:t>
            </a:r>
            <a:r>
              <a:rPr sz="1600" b="0" i="0" dirty="0">
                <a:solidFill>
                  <a:srgbClr val="C8D8F0"/>
                </a:solidFill>
                <a:latin typeface="Tw Cen MT"/>
              </a:rPr>
              <a:t> central.
No hay un </a:t>
            </a:r>
            <a:r>
              <a:rPr sz="1600" b="0" i="0" dirty="0" err="1">
                <a:solidFill>
                  <a:srgbClr val="C8D8F0"/>
                </a:solidFill>
                <a:latin typeface="Tw Cen MT"/>
              </a:rPr>
              <a:t>nivel</a:t>
            </a:r>
            <a:r>
              <a:rPr sz="1600" b="0" i="0" dirty="0">
                <a:solidFill>
                  <a:srgbClr val="C8D8F0"/>
                </a:solidFill>
                <a:latin typeface="Tw Cen MT"/>
              </a:rPr>
              <a:t> </a:t>
            </a:r>
            <a:r>
              <a:rPr sz="1600" b="0" i="0" dirty="0" err="1">
                <a:solidFill>
                  <a:srgbClr val="C8D8F0"/>
                </a:solidFill>
                <a:latin typeface="Tw Cen MT"/>
              </a:rPr>
              <a:t>óptimo</a:t>
            </a:r>
            <a:r>
              <a:rPr sz="1600" b="0" i="0" dirty="0">
                <a:solidFill>
                  <a:srgbClr val="C8D8F0"/>
                </a:solidFill>
                <a:latin typeface="Tw Cen MT"/>
              </a:rPr>
              <a:t> </a:t>
            </a:r>
            <a:r>
              <a:rPr sz="1600" b="0" i="0" dirty="0" err="1">
                <a:solidFill>
                  <a:srgbClr val="C8D8F0"/>
                </a:solidFill>
                <a:latin typeface="Tw Cen MT"/>
              </a:rPr>
              <a:t>único</a:t>
            </a:r>
            <a:r>
              <a:rPr sz="1600" b="0" i="0" dirty="0">
                <a:solidFill>
                  <a:srgbClr val="C8D8F0"/>
                </a:solidFill>
                <a:latin typeface="Tw Cen MT"/>
              </a:rPr>
              <a:t>: </a:t>
            </a:r>
            <a:r>
              <a:rPr sz="1600" b="0" i="0" dirty="0" err="1">
                <a:solidFill>
                  <a:srgbClr val="C8D8F0"/>
                </a:solidFill>
                <a:latin typeface="Tw Cen MT"/>
              </a:rPr>
              <a:t>depende</a:t>
            </a:r>
            <a:r>
              <a:rPr sz="1600" b="0" i="0" dirty="0">
                <a:solidFill>
                  <a:srgbClr val="C8D8F0"/>
                </a:solidFill>
                <a:latin typeface="Tw Cen MT"/>
              </a:rPr>
              <a:t> del </a:t>
            </a:r>
            <a:r>
              <a:rPr sz="1600" b="0" i="0" dirty="0" err="1">
                <a:solidFill>
                  <a:srgbClr val="C8D8F0"/>
                </a:solidFill>
                <a:latin typeface="Tw Cen MT"/>
              </a:rPr>
              <a:t>entorno</a:t>
            </a:r>
            <a:r>
              <a:rPr sz="1600" b="0" i="0" dirty="0">
                <a:solidFill>
                  <a:srgbClr val="C8D8F0"/>
                </a:solidFill>
                <a:latin typeface="Tw Cen MT"/>
              </a:rPr>
              <a:t>, la </a:t>
            </a:r>
            <a:r>
              <a:rPr sz="1600" b="0" i="0" dirty="0" err="1">
                <a:solidFill>
                  <a:srgbClr val="C8D8F0"/>
                </a:solidFill>
                <a:latin typeface="Tw Cen MT"/>
              </a:rPr>
              <a:t>tecnología</a:t>
            </a:r>
            <a:r>
              <a:rPr sz="1600" b="0" i="0" dirty="0">
                <a:solidFill>
                  <a:srgbClr val="C8D8F0"/>
                </a:solidFill>
                <a:latin typeface="Tw Cen MT"/>
              </a:rPr>
              <a:t>, la </a:t>
            </a:r>
            <a:r>
              <a:rPr sz="1600" b="0" i="0" dirty="0" err="1">
                <a:solidFill>
                  <a:srgbClr val="C8D8F0"/>
                </a:solidFill>
                <a:latin typeface="Tw Cen MT"/>
              </a:rPr>
              <a:t>regulación</a:t>
            </a:r>
            <a:r>
              <a:rPr sz="1600" b="0" i="0" dirty="0">
                <a:solidFill>
                  <a:srgbClr val="C8D8F0"/>
                </a:solidFill>
                <a:latin typeface="Tw Cen MT"/>
              </a:rPr>
              <a:t> y la </a:t>
            </a:r>
            <a:r>
              <a:rPr sz="1600" b="0" i="0" dirty="0" err="1">
                <a:solidFill>
                  <a:srgbClr val="C8D8F0"/>
                </a:solidFill>
                <a:latin typeface="Tw Cen MT"/>
              </a:rPr>
              <a:t>estrategia</a:t>
            </a:r>
            <a:r>
              <a:rPr sz="1600" b="0" i="0" dirty="0">
                <a:solidFill>
                  <a:srgbClr val="C8D8F0"/>
                </a:solidFill>
                <a:latin typeface="Tw Cen MT"/>
              </a:rPr>
              <a:t>.</a:t>
            </a:r>
          </a:p>
        </p:txBody>
      </p:sp>
      <p:sp>
        <p:nvSpPr>
          <p:cNvPr id="8" name="Rectangle 7"/>
          <p:cNvSpPr/>
          <p:nvPr/>
        </p:nvSpPr>
        <p:spPr>
          <a:xfrm>
            <a:off x="3314700" y="1066800"/>
            <a:ext cx="2743200" cy="5486400"/>
          </a:xfrm>
          <a:prstGeom prst="rect">
            <a:avLst/>
          </a:prstGeom>
          <a:solidFill>
            <a:srgbClr val="1E3060"/>
          </a:solidFill>
          <a:ln w="9525">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90900" y="1219200"/>
            <a:ext cx="2590800" cy="380000"/>
          </a:xfrm>
          <a:prstGeom prst="rect">
            <a:avLst/>
          </a:prstGeom>
          <a:noFill/>
        </p:spPr>
        <p:txBody>
          <a:bodyPr wrap="square" anchor="ctr">
            <a:spAutoFit/>
          </a:bodyPr>
          <a:lstStyle>
            <a:defPPr>
              <a:defRPr lang="en-US"/>
            </a:defPPr>
            <a:lvl1pPr algn="ctr">
              <a:defRPr b="1" i="0">
                <a:solidFill>
                  <a:srgbClr val="D4A017"/>
                </a:solidFill>
                <a:latin typeface="Tw Cen MT"/>
              </a:defRPr>
            </a:lvl1pPr>
          </a:lstStyle>
          <a:p>
            <a:r>
              <a:rPr dirty="0"/>
              <a:t>FORMAS DE ORGANIZACIÓN</a:t>
            </a:r>
          </a:p>
        </p:txBody>
      </p:sp>
      <p:sp>
        <p:nvSpPr>
          <p:cNvPr id="10" name="TextBox 9"/>
          <p:cNvSpPr txBox="1"/>
          <p:nvPr/>
        </p:nvSpPr>
        <p:spPr>
          <a:xfrm>
            <a:off x="3390900" y="1676400"/>
            <a:ext cx="2590800" cy="4758000"/>
          </a:xfrm>
          <a:prstGeom prst="rect">
            <a:avLst/>
          </a:prstGeom>
          <a:noFill/>
        </p:spPr>
        <p:txBody>
          <a:bodyPr wrap="square">
            <a:spAutoFit/>
          </a:bodyPr>
          <a:lstStyle>
            <a:defPPr>
              <a:defRPr lang="en-US"/>
            </a:defPPr>
            <a:lvl1pPr>
              <a:defRPr sz="1600" b="0" i="0">
                <a:solidFill>
                  <a:srgbClr val="C8D8F0"/>
                </a:solidFill>
                <a:latin typeface="Tw Cen MT"/>
              </a:defRPr>
            </a:lvl1pPr>
          </a:lstStyle>
          <a:p>
            <a:r>
              <a:rPr dirty="0"/>
              <a:t>Empresa personal ▸ </a:t>
            </a:r>
            <a:r>
              <a:rPr dirty="0" err="1"/>
              <a:t>Máquina</a:t>
            </a:r>
            <a:r>
              <a:rPr dirty="0"/>
              <a:t> </a:t>
            </a:r>
            <a:r>
              <a:rPr dirty="0" err="1"/>
              <a:t>Programada</a:t>
            </a:r>
            <a:r>
              <a:rPr dirty="0"/>
              <a:t> ▸ </a:t>
            </a:r>
            <a:r>
              <a:rPr dirty="0" err="1"/>
              <a:t>Asamblea</a:t>
            </a:r>
            <a:r>
              <a:rPr dirty="0"/>
              <a:t> </a:t>
            </a:r>
            <a:r>
              <a:rPr dirty="0" err="1"/>
              <a:t>Profesional</a:t>
            </a:r>
            <a:r>
              <a:rPr dirty="0"/>
              <a:t> ▸ Proyecto </a:t>
            </a:r>
            <a:r>
              <a:rPr dirty="0" err="1"/>
              <a:t>Pionero</a:t>
            </a:r>
            <a:r>
              <a:rPr dirty="0"/>
              <a:t>.
La </a:t>
            </a:r>
            <a:r>
              <a:rPr dirty="0" err="1"/>
              <a:t>mayoría</a:t>
            </a:r>
            <a:r>
              <a:rPr dirty="0"/>
              <a:t> son </a:t>
            </a:r>
            <a:r>
              <a:rPr dirty="0" err="1"/>
              <a:t>estructuras</a:t>
            </a:r>
            <a:r>
              <a:rPr dirty="0"/>
              <a:t> </a:t>
            </a:r>
            <a:r>
              <a:rPr dirty="0" err="1"/>
              <a:t>híbridas</a:t>
            </a:r>
            <a:r>
              <a:rPr dirty="0"/>
              <a:t>.
</a:t>
            </a:r>
            <a:r>
              <a:rPr dirty="0" err="1"/>
              <a:t>Separar</a:t>
            </a:r>
            <a:r>
              <a:rPr dirty="0"/>
              <a:t> </a:t>
            </a:r>
            <a:r>
              <a:rPr dirty="0" err="1"/>
              <a:t>decisiones</a:t>
            </a:r>
            <a:r>
              <a:rPr dirty="0"/>
              <a:t> de management de </a:t>
            </a:r>
            <a:r>
              <a:rPr dirty="0" err="1"/>
              <a:t>decisiones</a:t>
            </a:r>
            <a:r>
              <a:rPr dirty="0"/>
              <a:t> de control genera </a:t>
            </a:r>
            <a:r>
              <a:rPr dirty="0" err="1"/>
              <a:t>mejores</a:t>
            </a:r>
            <a:r>
              <a:rPr dirty="0"/>
              <a:t> </a:t>
            </a:r>
            <a:r>
              <a:rPr dirty="0" err="1"/>
              <a:t>incentivos</a:t>
            </a:r>
            <a:r>
              <a:rPr dirty="0"/>
              <a:t>.</a:t>
            </a:r>
          </a:p>
        </p:txBody>
      </p:sp>
      <p:sp>
        <p:nvSpPr>
          <p:cNvPr id="11" name="Rectangle 10"/>
          <p:cNvSpPr/>
          <p:nvPr/>
        </p:nvSpPr>
        <p:spPr>
          <a:xfrm>
            <a:off x="6172200" y="1066800"/>
            <a:ext cx="2743200" cy="5486400"/>
          </a:xfrm>
          <a:prstGeom prst="rect">
            <a:avLst/>
          </a:prstGeom>
          <a:solidFill>
            <a:srgbClr val="1E3060"/>
          </a:solidFill>
          <a:ln w="9525">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48400" y="1219200"/>
            <a:ext cx="2590800" cy="380000"/>
          </a:xfrm>
          <a:prstGeom prst="rect">
            <a:avLst/>
          </a:prstGeom>
          <a:noFill/>
        </p:spPr>
        <p:txBody>
          <a:bodyPr wrap="square" anchor="ctr">
            <a:spAutoFit/>
          </a:bodyPr>
          <a:lstStyle>
            <a:defPPr>
              <a:defRPr lang="en-US"/>
            </a:defPPr>
            <a:lvl1pPr algn="ctr">
              <a:defRPr b="1" i="0">
                <a:solidFill>
                  <a:srgbClr val="D4A017"/>
                </a:solidFill>
                <a:latin typeface="Tw Cen MT"/>
              </a:defRPr>
            </a:lvl1pPr>
          </a:lstStyle>
          <a:p>
            <a:r>
              <a:rPr dirty="0"/>
              <a:t>AGRUPACIÓN DE TAREAS</a:t>
            </a:r>
          </a:p>
        </p:txBody>
      </p:sp>
      <p:sp>
        <p:nvSpPr>
          <p:cNvPr id="13" name="TextBox 12"/>
          <p:cNvSpPr txBox="1"/>
          <p:nvPr/>
        </p:nvSpPr>
        <p:spPr>
          <a:xfrm>
            <a:off x="6248400" y="1676400"/>
            <a:ext cx="2590800" cy="4758000"/>
          </a:xfrm>
          <a:prstGeom prst="rect">
            <a:avLst/>
          </a:prstGeom>
          <a:noFill/>
        </p:spPr>
        <p:txBody>
          <a:bodyPr wrap="square">
            <a:spAutoFit/>
          </a:bodyPr>
          <a:lstStyle>
            <a:defPPr>
              <a:defRPr lang="en-US"/>
            </a:defPPr>
            <a:lvl1pPr>
              <a:defRPr sz="1600" b="0" i="0">
                <a:solidFill>
                  <a:srgbClr val="C8D8F0"/>
                </a:solidFill>
                <a:latin typeface="Tw Cen MT"/>
              </a:defRPr>
            </a:lvl1pPr>
          </a:lstStyle>
          <a:p>
            <a:r>
              <a:t>Tareas especializadas vs. conjunto amplio: la elección depende de la tecnología, los incentivos y la complementariedad.
Riesgo de miopía funcional en la especialización excesiva.
→ Clase 4: Evaluación del Desempeño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195</TotalTime>
  <Words>4373</Words>
  <Application>Microsoft Office PowerPoint</Application>
  <PresentationFormat>Presentación en pantalla (4:3)</PresentationFormat>
  <Paragraphs>453</Paragraphs>
  <Slides>40</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40</vt:i4>
      </vt:variant>
    </vt:vector>
  </HeadingPairs>
  <TitlesOfParts>
    <vt:vector size="45" baseType="lpstr">
      <vt:lpstr>Aptos</vt:lpstr>
      <vt:lpstr>Arial</vt:lpstr>
      <vt:lpstr>Calibri</vt:lpstr>
      <vt:lpstr>Tw Cen MT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adriana delle donne</dc:creator>
  <cp:keywords/>
  <dc:description>generated using python-pptx</dc:description>
  <cp:lastModifiedBy>adriana delle donne</cp:lastModifiedBy>
  <cp:revision>2</cp:revision>
  <dcterms:created xsi:type="dcterms:W3CDTF">2013-01-27T09:14:16Z</dcterms:created>
  <dcterms:modified xsi:type="dcterms:W3CDTF">2026-08-19T19:44:22Z</dcterms:modified>
  <cp:category/>
</cp:coreProperties>
</file>