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8" r:id="rId3"/>
    <p:sldId id="259" r:id="rId4"/>
    <p:sldId id="286" r:id="rId5"/>
    <p:sldId id="260" r:id="rId6"/>
    <p:sldId id="289" r:id="rId7"/>
    <p:sldId id="257" r:id="rId8"/>
    <p:sldId id="292" r:id="rId9"/>
    <p:sldId id="398" r:id="rId10"/>
    <p:sldId id="261" r:id="rId11"/>
    <p:sldId id="264" r:id="rId12"/>
    <p:sldId id="403" r:id="rId13"/>
    <p:sldId id="405" r:id="rId14"/>
    <p:sldId id="265" r:id="rId15"/>
    <p:sldId id="407" r:id="rId16"/>
    <p:sldId id="408" r:id="rId17"/>
    <p:sldId id="410" r:id="rId18"/>
    <p:sldId id="411" r:id="rId19"/>
    <p:sldId id="267" r:id="rId20"/>
    <p:sldId id="266" r:id="rId21"/>
    <p:sldId id="295" r:id="rId22"/>
    <p:sldId id="296" r:id="rId23"/>
    <p:sldId id="270" r:id="rId24"/>
    <p:sldId id="412" r:id="rId25"/>
    <p:sldId id="271" r:id="rId26"/>
    <p:sldId id="297" r:id="rId27"/>
    <p:sldId id="273" r:id="rId28"/>
    <p:sldId id="272" r:id="rId29"/>
    <p:sldId id="274" r:id="rId30"/>
    <p:sldId id="275" r:id="rId31"/>
    <p:sldId id="276" r:id="rId32"/>
    <p:sldId id="391" r:id="rId33"/>
    <p:sldId id="277" r:id="rId34"/>
    <p:sldId id="392" r:id="rId35"/>
    <p:sldId id="393" r:id="rId36"/>
    <p:sldId id="394" r:id="rId37"/>
    <p:sldId id="395" r:id="rId38"/>
    <p:sldId id="279" r:id="rId39"/>
    <p:sldId id="400" r:id="rId40"/>
    <p:sldId id="413" r:id="rId41"/>
    <p:sldId id="293" r:id="rId42"/>
    <p:sldId id="280" r:id="rId43"/>
    <p:sldId id="397" r:id="rId44"/>
    <p:sldId id="282" r:id="rId45"/>
    <p:sldId id="287" r:id="rId46"/>
    <p:sldId id="283" r:id="rId47"/>
    <p:sldId id="294" r:id="rId48"/>
    <p:sldId id="284" r:id="rId49"/>
    <p:sldId id="285"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96CD12-7E7F-4B25-B67C-63C2E8BCC088}" v="55" dt="2026-08-24T12:01:26.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1363" autoAdjust="0"/>
  </p:normalViewPr>
  <p:slideViewPr>
    <p:cSldViewPr snapToGrid="0" snapToObjects="1">
      <p:cViewPr>
        <p:scale>
          <a:sx n="57" d="100"/>
          <a:sy n="57" d="100"/>
        </p:scale>
        <p:origin x="1540" y="272"/>
      </p:cViewPr>
      <p:guideLst>
        <p:guide orient="horz" pos="2160"/>
        <p:guide pos="2880"/>
      </p:guideLst>
    </p:cSldViewPr>
  </p:slideViewPr>
  <p:notesTextViewPr>
    <p:cViewPr>
      <p:scale>
        <a:sx n="100" d="100"/>
        <a:sy n="100" d="100"/>
      </p:scale>
      <p:origin x="0" y="0"/>
    </p:cViewPr>
  </p:notesTextViewPr>
  <p:sorterViewPr>
    <p:cViewPr>
      <p:scale>
        <a:sx n="148" d="100"/>
        <a:sy n="148" d="100"/>
      </p:scale>
      <p:origin x="0" y="-2751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a delle donne" userId="bccfde87c812eabf" providerId="LiveId" clId="{63C4EB39-52B5-4101-B6B9-27F9C95430F6}"/>
    <pc:docChg chg="undo custSel addSld delSld modSld sldOrd">
      <pc:chgData name="adriana delle donne" userId="bccfde87c812eabf" providerId="LiveId" clId="{63C4EB39-52B5-4101-B6B9-27F9C95430F6}" dt="2026-08-24T12:01:26.850" v="4441"/>
      <pc:docMkLst>
        <pc:docMk/>
      </pc:docMkLst>
      <pc:sldChg chg="addSp delSp modSp add mod setBg">
        <pc:chgData name="adriana delle donne" userId="bccfde87c812eabf" providerId="LiveId" clId="{63C4EB39-52B5-4101-B6B9-27F9C95430F6}" dt="2026-08-24T11:42:10.351" v="4356" actId="1076"/>
        <pc:sldMkLst>
          <pc:docMk/>
          <pc:sldMk cId="0" sldId="257"/>
        </pc:sldMkLst>
        <pc:spChg chg="mod">
          <ac:chgData name="adriana delle donne" userId="bccfde87c812eabf" providerId="LiveId" clId="{63C4EB39-52B5-4101-B6B9-27F9C95430F6}" dt="2026-08-24T11:41:33.414" v="4352" actId="2711"/>
          <ac:spMkLst>
            <pc:docMk/>
            <pc:sldMk cId="0" sldId="257"/>
            <ac:spMk id="2" creationId="{00000000-0000-0000-0000-000000000000}"/>
          </ac:spMkLst>
        </pc:spChg>
        <pc:spChg chg="del">
          <ac:chgData name="adriana delle donne" userId="bccfde87c812eabf" providerId="LiveId" clId="{63C4EB39-52B5-4101-B6B9-27F9C95430F6}" dt="2026-08-23T19:56:39.655" v="104" actId="478"/>
          <ac:spMkLst>
            <pc:docMk/>
            <pc:sldMk cId="0" sldId="257"/>
            <ac:spMk id="3" creationId="{00000000-0000-0000-0000-000000000000}"/>
          </ac:spMkLst>
        </pc:spChg>
        <pc:spChg chg="del mod">
          <ac:chgData name="adriana delle donne" userId="bccfde87c812eabf" providerId="LiveId" clId="{63C4EB39-52B5-4101-B6B9-27F9C95430F6}" dt="2026-08-23T19:56:36.931" v="103" actId="478"/>
          <ac:spMkLst>
            <pc:docMk/>
            <pc:sldMk cId="0" sldId="257"/>
            <ac:spMk id="4" creationId="{00000000-0000-0000-0000-000000000000}"/>
          </ac:spMkLst>
        </pc:spChg>
        <pc:spChg chg="mod">
          <ac:chgData name="adriana delle donne" userId="bccfde87c812eabf" providerId="LiveId" clId="{63C4EB39-52B5-4101-B6B9-27F9C95430F6}" dt="2026-08-24T11:41:33.414" v="4352" actId="2711"/>
          <ac:spMkLst>
            <pc:docMk/>
            <pc:sldMk cId="0" sldId="257"/>
            <ac:spMk id="5" creationId="{00000000-0000-0000-0000-000000000000}"/>
          </ac:spMkLst>
        </pc:spChg>
        <pc:spChg chg="mod">
          <ac:chgData name="adriana delle donne" userId="bccfde87c812eabf" providerId="LiveId" clId="{63C4EB39-52B5-4101-B6B9-27F9C95430F6}" dt="2026-08-24T11:41:33.414" v="4352" actId="2711"/>
          <ac:spMkLst>
            <pc:docMk/>
            <pc:sldMk cId="0" sldId="257"/>
            <ac:spMk id="6" creationId="{00000000-0000-0000-0000-000000000000}"/>
          </ac:spMkLst>
        </pc:spChg>
        <pc:spChg chg="mod">
          <ac:chgData name="adriana delle donne" userId="bccfde87c812eabf" providerId="LiveId" clId="{63C4EB39-52B5-4101-B6B9-27F9C95430F6}" dt="2026-08-24T11:41:33.414" v="4352" actId="2711"/>
          <ac:spMkLst>
            <pc:docMk/>
            <pc:sldMk cId="0" sldId="257"/>
            <ac:spMk id="7" creationId="{00000000-0000-0000-0000-000000000000}"/>
          </ac:spMkLst>
        </pc:spChg>
        <pc:spChg chg="mod">
          <ac:chgData name="adriana delle donne" userId="bccfde87c812eabf" providerId="LiveId" clId="{63C4EB39-52B5-4101-B6B9-27F9C95430F6}" dt="2026-08-24T11:41:33.414" v="4352" actId="2711"/>
          <ac:spMkLst>
            <pc:docMk/>
            <pc:sldMk cId="0" sldId="257"/>
            <ac:spMk id="8" creationId="{00000000-0000-0000-0000-000000000000}"/>
          </ac:spMkLst>
        </pc:spChg>
        <pc:spChg chg="mod">
          <ac:chgData name="adriana delle donne" userId="bccfde87c812eabf" providerId="LiveId" clId="{63C4EB39-52B5-4101-B6B9-27F9C95430F6}" dt="2026-08-24T11:41:33.414" v="4352" actId="2711"/>
          <ac:spMkLst>
            <pc:docMk/>
            <pc:sldMk cId="0" sldId="257"/>
            <ac:spMk id="9" creationId="{00000000-0000-0000-0000-000000000000}"/>
          </ac:spMkLst>
        </pc:spChg>
        <pc:spChg chg="mod">
          <ac:chgData name="adriana delle donne" userId="bccfde87c812eabf" providerId="LiveId" clId="{63C4EB39-52B5-4101-B6B9-27F9C95430F6}" dt="2026-08-24T11:41:50.335" v="4354" actId="20577"/>
          <ac:spMkLst>
            <pc:docMk/>
            <pc:sldMk cId="0" sldId="257"/>
            <ac:spMk id="10" creationId="{00000000-0000-0000-0000-000000000000}"/>
          </ac:spMkLst>
        </pc:spChg>
        <pc:spChg chg="mod">
          <ac:chgData name="adriana delle donne" userId="bccfde87c812eabf" providerId="LiveId" clId="{63C4EB39-52B5-4101-B6B9-27F9C95430F6}" dt="2026-08-24T11:42:10.351" v="4356" actId="1076"/>
          <ac:spMkLst>
            <pc:docMk/>
            <pc:sldMk cId="0" sldId="257"/>
            <ac:spMk id="11" creationId="{00000000-0000-0000-0000-000000000000}"/>
          </ac:spMkLst>
        </pc:spChg>
        <pc:spChg chg="mod">
          <ac:chgData name="adriana delle donne" userId="bccfde87c812eabf" providerId="LiveId" clId="{63C4EB39-52B5-4101-B6B9-27F9C95430F6}" dt="2026-08-24T11:42:00.502" v="4355" actId="1076"/>
          <ac:spMkLst>
            <pc:docMk/>
            <pc:sldMk cId="0" sldId="257"/>
            <ac:spMk id="12" creationId="{00000000-0000-0000-0000-000000000000}"/>
          </ac:spMkLst>
        </pc:spChg>
        <pc:spChg chg="del mod">
          <ac:chgData name="adriana delle donne" userId="bccfde87c812eabf" providerId="LiveId" clId="{63C4EB39-52B5-4101-B6B9-27F9C95430F6}" dt="2026-08-23T19:59:08.751" v="160" actId="478"/>
          <ac:spMkLst>
            <pc:docMk/>
            <pc:sldMk cId="0" sldId="257"/>
            <ac:spMk id="13" creationId="{00000000-0000-0000-0000-000000000000}"/>
          </ac:spMkLst>
        </pc:spChg>
        <pc:spChg chg="del">
          <ac:chgData name="adriana delle donne" userId="bccfde87c812eabf" providerId="LiveId" clId="{63C4EB39-52B5-4101-B6B9-27F9C95430F6}" dt="2026-08-23T20:00:45.098" v="174" actId="478"/>
          <ac:spMkLst>
            <pc:docMk/>
            <pc:sldMk cId="0" sldId="257"/>
            <ac:spMk id="14" creationId="{00000000-0000-0000-0000-000000000000}"/>
          </ac:spMkLst>
        </pc:spChg>
        <pc:spChg chg="del mod">
          <ac:chgData name="adriana delle donne" userId="bccfde87c812eabf" providerId="LiveId" clId="{63C4EB39-52B5-4101-B6B9-27F9C95430F6}" dt="2026-08-23T20:00:49.428" v="175" actId="478"/>
          <ac:spMkLst>
            <pc:docMk/>
            <pc:sldMk cId="0" sldId="257"/>
            <ac:spMk id="16" creationId="{00000000-0000-0000-0000-000000000000}"/>
          </ac:spMkLst>
        </pc:spChg>
        <pc:spChg chg="del mod">
          <ac:chgData name="adriana delle donne" userId="bccfde87c812eabf" providerId="LiveId" clId="{63C4EB39-52B5-4101-B6B9-27F9C95430F6}" dt="2026-08-23T19:58:42.575" v="155" actId="478"/>
          <ac:spMkLst>
            <pc:docMk/>
            <pc:sldMk cId="0" sldId="257"/>
            <ac:spMk id="17" creationId="{00000000-0000-0000-0000-000000000000}"/>
          </ac:spMkLst>
        </pc:spChg>
        <pc:spChg chg="add del mod">
          <ac:chgData name="adriana delle donne" userId="bccfde87c812eabf" providerId="LiveId" clId="{63C4EB39-52B5-4101-B6B9-27F9C95430F6}" dt="2026-08-23T19:58:39.507" v="154" actId="478"/>
          <ac:spMkLst>
            <pc:docMk/>
            <pc:sldMk cId="0" sldId="257"/>
            <ac:spMk id="18" creationId="{00000000-0000-0000-0000-000000000000}"/>
          </ac:spMkLst>
        </pc:spChg>
        <pc:graphicFrameChg chg="add del mod">
          <ac:chgData name="adriana delle donne" userId="bccfde87c812eabf" providerId="LiveId" clId="{63C4EB39-52B5-4101-B6B9-27F9C95430F6}" dt="2026-08-23T20:00:01.063" v="171" actId="478"/>
          <ac:graphicFrameMkLst>
            <pc:docMk/>
            <pc:sldMk cId="0" sldId="257"/>
            <ac:graphicFrameMk id="15" creationId="{00000000-0000-0000-0000-000000000000}"/>
          </ac:graphicFrameMkLst>
        </pc:graphicFrameChg>
        <pc:picChg chg="add mod">
          <ac:chgData name="adriana delle donne" userId="bccfde87c812eabf" providerId="LiveId" clId="{63C4EB39-52B5-4101-B6B9-27F9C95430F6}" dt="2026-08-23T20:00:54.433" v="177" actId="14100"/>
          <ac:picMkLst>
            <pc:docMk/>
            <pc:sldMk cId="0" sldId="257"/>
            <ac:picMk id="20" creationId="{34454C64-5AE3-8028-CFBC-12C0066C6D04}"/>
          </ac:picMkLst>
        </pc:picChg>
      </pc:sldChg>
      <pc:sldChg chg="modSp mod">
        <pc:chgData name="adriana delle donne" userId="bccfde87c812eabf" providerId="LiveId" clId="{63C4EB39-52B5-4101-B6B9-27F9C95430F6}" dt="2026-08-24T11:39:47.052" v="4343" actId="2711"/>
        <pc:sldMkLst>
          <pc:docMk/>
          <pc:sldMk cId="0" sldId="258"/>
        </pc:sldMkLst>
        <pc:spChg chg="mod">
          <ac:chgData name="adriana delle donne" userId="bccfde87c812eabf" providerId="LiveId" clId="{63C4EB39-52B5-4101-B6B9-27F9C95430F6}" dt="2026-08-24T11:39:47.052" v="4343" actId="2711"/>
          <ac:spMkLst>
            <pc:docMk/>
            <pc:sldMk cId="0" sldId="258"/>
            <ac:spMk id="3" creationId="{00000000-0000-0000-0000-000000000000}"/>
          </ac:spMkLst>
        </pc:spChg>
        <pc:spChg chg="mod">
          <ac:chgData name="adriana delle donne" userId="bccfde87c812eabf" providerId="LiveId" clId="{63C4EB39-52B5-4101-B6B9-27F9C95430F6}" dt="2026-08-24T11:39:47.052" v="4343" actId="2711"/>
          <ac:spMkLst>
            <pc:docMk/>
            <pc:sldMk cId="0" sldId="258"/>
            <ac:spMk id="4" creationId="{00000000-0000-0000-0000-000000000000}"/>
          </ac:spMkLst>
        </pc:spChg>
        <pc:spChg chg="mod">
          <ac:chgData name="adriana delle donne" userId="bccfde87c812eabf" providerId="LiveId" clId="{63C4EB39-52B5-4101-B6B9-27F9C95430F6}" dt="2026-08-24T11:39:47.052" v="4343" actId="2711"/>
          <ac:spMkLst>
            <pc:docMk/>
            <pc:sldMk cId="0" sldId="258"/>
            <ac:spMk id="5" creationId="{00000000-0000-0000-0000-000000000000}"/>
          </ac:spMkLst>
        </pc:spChg>
        <pc:spChg chg="mod">
          <ac:chgData name="adriana delle donne" userId="bccfde87c812eabf" providerId="LiveId" clId="{63C4EB39-52B5-4101-B6B9-27F9C95430F6}" dt="2026-08-24T11:39:47.052" v="4343" actId="2711"/>
          <ac:spMkLst>
            <pc:docMk/>
            <pc:sldMk cId="0" sldId="258"/>
            <ac:spMk id="7" creationId="{00000000-0000-0000-0000-000000000000}"/>
          </ac:spMkLst>
        </pc:spChg>
        <pc:spChg chg="mod">
          <ac:chgData name="adriana delle donne" userId="bccfde87c812eabf" providerId="LiveId" clId="{63C4EB39-52B5-4101-B6B9-27F9C95430F6}" dt="2026-08-24T11:39:47.052" v="4343" actId="2711"/>
          <ac:spMkLst>
            <pc:docMk/>
            <pc:sldMk cId="0" sldId="258"/>
            <ac:spMk id="8" creationId="{00000000-0000-0000-0000-000000000000}"/>
          </ac:spMkLst>
        </pc:spChg>
      </pc:sldChg>
      <pc:sldChg chg="modSp mod">
        <pc:chgData name="adriana delle donne" userId="bccfde87c812eabf" providerId="LiveId" clId="{63C4EB39-52B5-4101-B6B9-27F9C95430F6}" dt="2026-08-24T11:40:31.543" v="4345" actId="2711"/>
        <pc:sldMkLst>
          <pc:docMk/>
          <pc:sldMk cId="0" sldId="259"/>
        </pc:sldMkLst>
        <pc:spChg chg="mod">
          <ac:chgData name="adriana delle donne" userId="bccfde87c812eabf" providerId="LiveId" clId="{63C4EB39-52B5-4101-B6B9-27F9C95430F6}" dt="2026-08-24T11:40:31.543" v="4345" actId="2711"/>
          <ac:spMkLst>
            <pc:docMk/>
            <pc:sldMk cId="0" sldId="259"/>
            <ac:spMk id="2" creationId="{00000000-0000-0000-0000-000000000000}"/>
          </ac:spMkLst>
        </pc:spChg>
        <pc:spChg chg="mod">
          <ac:chgData name="adriana delle donne" userId="bccfde87c812eabf" providerId="LiveId" clId="{63C4EB39-52B5-4101-B6B9-27F9C95430F6}" dt="2026-08-24T11:40:31.543" v="4345" actId="2711"/>
          <ac:spMkLst>
            <pc:docMk/>
            <pc:sldMk cId="0" sldId="259"/>
            <ac:spMk id="3" creationId="{00000000-0000-0000-0000-000000000000}"/>
          </ac:spMkLst>
        </pc:spChg>
        <pc:spChg chg="mod">
          <ac:chgData name="adriana delle donne" userId="bccfde87c812eabf" providerId="LiveId" clId="{63C4EB39-52B5-4101-B6B9-27F9C95430F6}" dt="2026-08-24T11:40:31.543" v="4345" actId="2711"/>
          <ac:spMkLst>
            <pc:docMk/>
            <pc:sldMk cId="0" sldId="259"/>
            <ac:spMk id="4" creationId="{00000000-0000-0000-0000-000000000000}"/>
          </ac:spMkLst>
        </pc:spChg>
        <pc:spChg chg="mod">
          <ac:chgData name="adriana delle donne" userId="bccfde87c812eabf" providerId="LiveId" clId="{63C4EB39-52B5-4101-B6B9-27F9C95430F6}" dt="2026-08-24T11:40:31.543" v="4345" actId="2711"/>
          <ac:spMkLst>
            <pc:docMk/>
            <pc:sldMk cId="0" sldId="259"/>
            <ac:spMk id="5" creationId="{00000000-0000-0000-0000-000000000000}"/>
          </ac:spMkLst>
        </pc:spChg>
      </pc:sldChg>
      <pc:sldChg chg="modSp mod">
        <pc:chgData name="adriana delle donne" userId="bccfde87c812eabf" providerId="LiveId" clId="{63C4EB39-52B5-4101-B6B9-27F9C95430F6}" dt="2026-08-24T11:41:04.166" v="4349" actId="113"/>
        <pc:sldMkLst>
          <pc:docMk/>
          <pc:sldMk cId="0" sldId="260"/>
        </pc:sldMkLst>
        <pc:spChg chg="mod">
          <ac:chgData name="adriana delle donne" userId="bccfde87c812eabf" providerId="LiveId" clId="{63C4EB39-52B5-4101-B6B9-27F9C95430F6}" dt="2026-08-24T11:40:56.896" v="4348" actId="113"/>
          <ac:spMkLst>
            <pc:docMk/>
            <pc:sldMk cId="0" sldId="260"/>
            <ac:spMk id="2" creationId="{00000000-0000-0000-0000-000000000000}"/>
          </ac:spMkLst>
        </pc:spChg>
        <pc:spChg chg="mod">
          <ac:chgData name="adriana delle donne" userId="bccfde87c812eabf" providerId="LiveId" clId="{63C4EB39-52B5-4101-B6B9-27F9C95430F6}" dt="2026-08-24T11:40:51.401" v="4347" actId="2711"/>
          <ac:spMkLst>
            <pc:docMk/>
            <pc:sldMk cId="0" sldId="260"/>
            <ac:spMk id="3" creationId="{00000000-0000-0000-0000-000000000000}"/>
          </ac:spMkLst>
        </pc:spChg>
        <pc:spChg chg="mod">
          <ac:chgData name="adriana delle donne" userId="bccfde87c812eabf" providerId="LiveId" clId="{63C4EB39-52B5-4101-B6B9-27F9C95430F6}" dt="2026-08-24T11:41:04.166" v="4349" actId="113"/>
          <ac:spMkLst>
            <pc:docMk/>
            <pc:sldMk cId="0" sldId="260"/>
            <ac:spMk id="4" creationId="{00000000-0000-0000-0000-000000000000}"/>
          </ac:spMkLst>
        </pc:spChg>
      </pc:sldChg>
      <pc:sldChg chg="modSp mod">
        <pc:chgData name="adriana delle donne" userId="bccfde87c812eabf" providerId="LiveId" clId="{63C4EB39-52B5-4101-B6B9-27F9C95430F6}" dt="2026-08-24T11:42:50.110" v="4360" actId="2711"/>
        <pc:sldMkLst>
          <pc:docMk/>
          <pc:sldMk cId="0" sldId="261"/>
        </pc:sldMkLst>
        <pc:spChg chg="mod">
          <ac:chgData name="adriana delle donne" userId="bccfde87c812eabf" providerId="LiveId" clId="{63C4EB39-52B5-4101-B6B9-27F9C95430F6}" dt="2026-08-24T11:42:50.110" v="4360" actId="2711"/>
          <ac:spMkLst>
            <pc:docMk/>
            <pc:sldMk cId="0" sldId="261"/>
            <ac:spMk id="2" creationId="{00000000-0000-0000-0000-000000000000}"/>
          </ac:spMkLst>
        </pc:spChg>
        <pc:spChg chg="mod">
          <ac:chgData name="adriana delle donne" userId="bccfde87c812eabf" providerId="LiveId" clId="{63C4EB39-52B5-4101-B6B9-27F9C95430F6}" dt="2026-08-24T11:42:50.110" v="4360" actId="2711"/>
          <ac:spMkLst>
            <pc:docMk/>
            <pc:sldMk cId="0" sldId="261"/>
            <ac:spMk id="3" creationId="{00000000-0000-0000-0000-000000000000}"/>
          </ac:spMkLst>
        </pc:spChg>
        <pc:spChg chg="mod">
          <ac:chgData name="adriana delle donne" userId="bccfde87c812eabf" providerId="LiveId" clId="{63C4EB39-52B5-4101-B6B9-27F9C95430F6}" dt="2026-08-24T11:42:50.110" v="4360" actId="2711"/>
          <ac:spMkLst>
            <pc:docMk/>
            <pc:sldMk cId="0" sldId="261"/>
            <ac:spMk id="4" creationId="{00000000-0000-0000-0000-000000000000}"/>
          </ac:spMkLst>
        </pc:spChg>
        <pc:spChg chg="mod">
          <ac:chgData name="adriana delle donne" userId="bccfde87c812eabf" providerId="LiveId" clId="{63C4EB39-52B5-4101-B6B9-27F9C95430F6}" dt="2026-08-24T11:42:50.110" v="4360" actId="2711"/>
          <ac:spMkLst>
            <pc:docMk/>
            <pc:sldMk cId="0" sldId="261"/>
            <ac:spMk id="5" creationId="{00000000-0000-0000-0000-000000000000}"/>
          </ac:spMkLst>
        </pc:spChg>
      </pc:sldChg>
      <pc:sldChg chg="del">
        <pc:chgData name="adriana delle donne" userId="bccfde87c812eabf" providerId="LiveId" clId="{63C4EB39-52B5-4101-B6B9-27F9C95430F6}" dt="2026-08-23T20:19:55.674" v="263" actId="2696"/>
        <pc:sldMkLst>
          <pc:docMk/>
          <pc:sldMk cId="0" sldId="262"/>
        </pc:sldMkLst>
      </pc:sldChg>
      <pc:sldChg chg="del">
        <pc:chgData name="adriana delle donne" userId="bccfde87c812eabf" providerId="LiveId" clId="{63C4EB39-52B5-4101-B6B9-27F9C95430F6}" dt="2026-08-23T20:02:42.328" v="178" actId="2696"/>
        <pc:sldMkLst>
          <pc:docMk/>
          <pc:sldMk cId="0" sldId="263"/>
        </pc:sldMkLst>
      </pc:sldChg>
      <pc:sldChg chg="modSp mod">
        <pc:chgData name="adriana delle donne" userId="bccfde87c812eabf" providerId="LiveId" clId="{63C4EB39-52B5-4101-B6B9-27F9C95430F6}" dt="2026-08-24T11:43:00.048" v="4361" actId="2711"/>
        <pc:sldMkLst>
          <pc:docMk/>
          <pc:sldMk cId="0" sldId="264"/>
        </pc:sldMkLst>
        <pc:spChg chg="mod">
          <ac:chgData name="adriana delle donne" userId="bccfde87c812eabf" providerId="LiveId" clId="{63C4EB39-52B5-4101-B6B9-27F9C95430F6}" dt="2026-08-24T11:43:00.048" v="4361" actId="2711"/>
          <ac:spMkLst>
            <pc:docMk/>
            <pc:sldMk cId="0" sldId="264"/>
            <ac:spMk id="2" creationId="{00000000-0000-0000-0000-000000000000}"/>
          </ac:spMkLst>
        </pc:spChg>
        <pc:spChg chg="mod">
          <ac:chgData name="adriana delle donne" userId="bccfde87c812eabf" providerId="LiveId" clId="{63C4EB39-52B5-4101-B6B9-27F9C95430F6}" dt="2026-08-24T11:43:00.048" v="4361" actId="2711"/>
          <ac:spMkLst>
            <pc:docMk/>
            <pc:sldMk cId="0" sldId="264"/>
            <ac:spMk id="3" creationId="{00000000-0000-0000-0000-000000000000}"/>
          </ac:spMkLst>
        </pc:spChg>
        <pc:spChg chg="mod">
          <ac:chgData name="adriana delle donne" userId="bccfde87c812eabf" providerId="LiveId" clId="{63C4EB39-52B5-4101-B6B9-27F9C95430F6}" dt="2026-08-24T11:43:00.048" v="4361" actId="2711"/>
          <ac:spMkLst>
            <pc:docMk/>
            <pc:sldMk cId="0" sldId="264"/>
            <ac:spMk id="4" creationId="{00000000-0000-0000-0000-000000000000}"/>
          </ac:spMkLst>
        </pc:spChg>
        <pc:spChg chg="mod">
          <ac:chgData name="adriana delle donne" userId="bccfde87c812eabf" providerId="LiveId" clId="{63C4EB39-52B5-4101-B6B9-27F9C95430F6}" dt="2026-08-24T11:43:00.048" v="4361" actId="2711"/>
          <ac:spMkLst>
            <pc:docMk/>
            <pc:sldMk cId="0" sldId="264"/>
            <ac:spMk id="5" creationId="{00000000-0000-0000-0000-000000000000}"/>
          </ac:spMkLst>
        </pc:spChg>
      </pc:sldChg>
      <pc:sldChg chg="modSp mod">
        <pc:chgData name="adriana delle donne" userId="bccfde87c812eabf" providerId="LiveId" clId="{63C4EB39-52B5-4101-B6B9-27F9C95430F6}" dt="2026-08-23T20:40:34.734" v="267" actId="1076"/>
        <pc:sldMkLst>
          <pc:docMk/>
          <pc:sldMk cId="0" sldId="265"/>
        </pc:sldMkLst>
        <pc:spChg chg="mod">
          <ac:chgData name="adriana delle donne" userId="bccfde87c812eabf" providerId="LiveId" clId="{63C4EB39-52B5-4101-B6B9-27F9C95430F6}" dt="2026-08-23T20:40:34.734" v="267" actId="1076"/>
          <ac:spMkLst>
            <pc:docMk/>
            <pc:sldMk cId="0" sldId="265"/>
            <ac:spMk id="5" creationId="{00000000-0000-0000-0000-000000000000}"/>
          </ac:spMkLst>
        </pc:spChg>
      </pc:sldChg>
      <pc:sldChg chg="modSp mod">
        <pc:chgData name="adriana delle donne" userId="bccfde87c812eabf" providerId="LiveId" clId="{63C4EB39-52B5-4101-B6B9-27F9C95430F6}" dt="2026-08-24T11:57:21.349" v="4428" actId="2711"/>
        <pc:sldMkLst>
          <pc:docMk/>
          <pc:sldMk cId="0" sldId="266"/>
        </pc:sldMkLst>
        <pc:spChg chg="mod">
          <ac:chgData name="adriana delle donne" userId="bccfde87c812eabf" providerId="LiveId" clId="{63C4EB39-52B5-4101-B6B9-27F9C95430F6}" dt="2026-08-24T11:57:21.349" v="4428" actId="2711"/>
          <ac:spMkLst>
            <pc:docMk/>
            <pc:sldMk cId="0" sldId="266"/>
            <ac:spMk id="2" creationId="{00000000-0000-0000-0000-000000000000}"/>
          </ac:spMkLst>
        </pc:spChg>
        <pc:spChg chg="mod">
          <ac:chgData name="adriana delle donne" userId="bccfde87c812eabf" providerId="LiveId" clId="{63C4EB39-52B5-4101-B6B9-27F9C95430F6}" dt="2026-08-24T11:57:21.349" v="4428" actId="2711"/>
          <ac:spMkLst>
            <pc:docMk/>
            <pc:sldMk cId="0" sldId="266"/>
            <ac:spMk id="3" creationId="{00000000-0000-0000-0000-000000000000}"/>
          </ac:spMkLst>
        </pc:spChg>
        <pc:spChg chg="mod">
          <ac:chgData name="adriana delle donne" userId="bccfde87c812eabf" providerId="LiveId" clId="{63C4EB39-52B5-4101-B6B9-27F9C95430F6}" dt="2026-08-24T11:57:21.349" v="4428" actId="2711"/>
          <ac:spMkLst>
            <pc:docMk/>
            <pc:sldMk cId="0" sldId="266"/>
            <ac:spMk id="4" creationId="{00000000-0000-0000-0000-000000000000}"/>
          </ac:spMkLst>
        </pc:spChg>
        <pc:spChg chg="mod">
          <ac:chgData name="adriana delle donne" userId="bccfde87c812eabf" providerId="LiveId" clId="{63C4EB39-52B5-4101-B6B9-27F9C95430F6}" dt="2026-08-24T11:57:21.349" v="4428" actId="2711"/>
          <ac:spMkLst>
            <pc:docMk/>
            <pc:sldMk cId="0" sldId="266"/>
            <ac:spMk id="5" creationId="{00000000-0000-0000-0000-000000000000}"/>
          </ac:spMkLst>
        </pc:spChg>
      </pc:sldChg>
      <pc:sldChg chg="modSp mod">
        <pc:chgData name="adriana delle donne" userId="bccfde87c812eabf" providerId="LiveId" clId="{63C4EB39-52B5-4101-B6B9-27F9C95430F6}" dt="2026-08-24T11:56:10.739" v="4422" actId="2711"/>
        <pc:sldMkLst>
          <pc:docMk/>
          <pc:sldMk cId="0" sldId="267"/>
        </pc:sldMkLst>
        <pc:spChg chg="mod">
          <ac:chgData name="adriana delle donne" userId="bccfde87c812eabf" providerId="LiveId" clId="{63C4EB39-52B5-4101-B6B9-27F9C95430F6}" dt="2026-08-24T11:56:10.739" v="4422" actId="2711"/>
          <ac:spMkLst>
            <pc:docMk/>
            <pc:sldMk cId="0" sldId="267"/>
            <ac:spMk id="2" creationId="{00000000-0000-0000-0000-000000000000}"/>
          </ac:spMkLst>
        </pc:spChg>
        <pc:spChg chg="mod">
          <ac:chgData name="adriana delle donne" userId="bccfde87c812eabf" providerId="LiveId" clId="{63C4EB39-52B5-4101-B6B9-27F9C95430F6}" dt="2026-08-24T11:56:10.739" v="4422" actId="2711"/>
          <ac:spMkLst>
            <pc:docMk/>
            <pc:sldMk cId="0" sldId="267"/>
            <ac:spMk id="3" creationId="{00000000-0000-0000-0000-000000000000}"/>
          </ac:spMkLst>
        </pc:spChg>
        <pc:spChg chg="mod">
          <ac:chgData name="adriana delle donne" userId="bccfde87c812eabf" providerId="LiveId" clId="{63C4EB39-52B5-4101-B6B9-27F9C95430F6}" dt="2026-08-24T11:56:10.739" v="4422" actId="2711"/>
          <ac:spMkLst>
            <pc:docMk/>
            <pc:sldMk cId="0" sldId="267"/>
            <ac:spMk id="4" creationId="{00000000-0000-0000-0000-000000000000}"/>
          </ac:spMkLst>
        </pc:spChg>
        <pc:spChg chg="mod">
          <ac:chgData name="adriana delle donne" userId="bccfde87c812eabf" providerId="LiveId" clId="{63C4EB39-52B5-4101-B6B9-27F9C95430F6}" dt="2026-08-24T11:56:10.739" v="4422" actId="2711"/>
          <ac:spMkLst>
            <pc:docMk/>
            <pc:sldMk cId="0" sldId="267"/>
            <ac:spMk id="5" creationId="{00000000-0000-0000-0000-000000000000}"/>
          </ac:spMkLst>
        </pc:spChg>
      </pc:sldChg>
      <pc:sldChg chg="del">
        <pc:chgData name="adriana delle donne" userId="bccfde87c812eabf" providerId="LiveId" clId="{63C4EB39-52B5-4101-B6B9-27F9C95430F6}" dt="2026-08-23T22:51:46.360" v="2787" actId="2696"/>
        <pc:sldMkLst>
          <pc:docMk/>
          <pc:sldMk cId="0" sldId="268"/>
        </pc:sldMkLst>
      </pc:sldChg>
      <pc:sldChg chg="del">
        <pc:chgData name="adriana delle donne" userId="bccfde87c812eabf" providerId="LiveId" clId="{63C4EB39-52B5-4101-B6B9-27F9C95430F6}" dt="2026-08-23T22:51:56.205" v="2789" actId="2696"/>
        <pc:sldMkLst>
          <pc:docMk/>
          <pc:sldMk cId="0" sldId="269"/>
        </pc:sldMkLst>
      </pc:sldChg>
      <pc:sldChg chg="modSp mod">
        <pc:chgData name="adriana delle donne" userId="bccfde87c812eabf" providerId="LiveId" clId="{63C4EB39-52B5-4101-B6B9-27F9C95430F6}" dt="2026-08-24T11:58:08.520" v="4431" actId="2711"/>
        <pc:sldMkLst>
          <pc:docMk/>
          <pc:sldMk cId="0" sldId="270"/>
        </pc:sldMkLst>
        <pc:spChg chg="mod">
          <ac:chgData name="adriana delle donne" userId="bccfde87c812eabf" providerId="LiveId" clId="{63C4EB39-52B5-4101-B6B9-27F9C95430F6}" dt="2026-08-24T11:58:08.520" v="4431" actId="2711"/>
          <ac:spMkLst>
            <pc:docMk/>
            <pc:sldMk cId="0" sldId="270"/>
            <ac:spMk id="2" creationId="{00000000-0000-0000-0000-000000000000}"/>
          </ac:spMkLst>
        </pc:spChg>
        <pc:spChg chg="mod">
          <ac:chgData name="adriana delle donne" userId="bccfde87c812eabf" providerId="LiveId" clId="{63C4EB39-52B5-4101-B6B9-27F9C95430F6}" dt="2026-08-24T11:58:08.520" v="4431" actId="2711"/>
          <ac:spMkLst>
            <pc:docMk/>
            <pc:sldMk cId="0" sldId="270"/>
            <ac:spMk id="3" creationId="{00000000-0000-0000-0000-000000000000}"/>
          </ac:spMkLst>
        </pc:spChg>
        <pc:spChg chg="mod">
          <ac:chgData name="adriana delle donne" userId="bccfde87c812eabf" providerId="LiveId" clId="{63C4EB39-52B5-4101-B6B9-27F9C95430F6}" dt="2026-08-24T11:58:08.520" v="4431" actId="2711"/>
          <ac:spMkLst>
            <pc:docMk/>
            <pc:sldMk cId="0" sldId="270"/>
            <ac:spMk id="4" creationId="{00000000-0000-0000-0000-000000000000}"/>
          </ac:spMkLst>
        </pc:spChg>
        <pc:spChg chg="mod">
          <ac:chgData name="adriana delle donne" userId="bccfde87c812eabf" providerId="LiveId" clId="{63C4EB39-52B5-4101-B6B9-27F9C95430F6}" dt="2026-08-24T11:58:08.520" v="4431" actId="2711"/>
          <ac:spMkLst>
            <pc:docMk/>
            <pc:sldMk cId="0" sldId="270"/>
            <ac:spMk id="5" creationId="{00000000-0000-0000-0000-000000000000}"/>
          </ac:spMkLst>
        </pc:spChg>
      </pc:sldChg>
      <pc:sldChg chg="modSp mod">
        <pc:chgData name="adriana delle donne" userId="bccfde87c812eabf" providerId="LiveId" clId="{63C4EB39-52B5-4101-B6B9-27F9C95430F6}" dt="2026-08-24T11:58:47.871" v="4434" actId="2711"/>
        <pc:sldMkLst>
          <pc:docMk/>
          <pc:sldMk cId="0" sldId="271"/>
        </pc:sldMkLst>
        <pc:spChg chg="mod">
          <ac:chgData name="adriana delle donne" userId="bccfde87c812eabf" providerId="LiveId" clId="{63C4EB39-52B5-4101-B6B9-27F9C95430F6}" dt="2026-08-24T11:58:47.871" v="4434" actId="2711"/>
          <ac:spMkLst>
            <pc:docMk/>
            <pc:sldMk cId="0" sldId="271"/>
            <ac:spMk id="2" creationId="{00000000-0000-0000-0000-000000000000}"/>
          </ac:spMkLst>
        </pc:spChg>
        <pc:spChg chg="mod">
          <ac:chgData name="adriana delle donne" userId="bccfde87c812eabf" providerId="LiveId" clId="{63C4EB39-52B5-4101-B6B9-27F9C95430F6}" dt="2026-08-24T11:58:47.871" v="4434" actId="2711"/>
          <ac:spMkLst>
            <pc:docMk/>
            <pc:sldMk cId="0" sldId="271"/>
            <ac:spMk id="3" creationId="{00000000-0000-0000-0000-000000000000}"/>
          </ac:spMkLst>
        </pc:spChg>
        <pc:spChg chg="mod">
          <ac:chgData name="adriana delle donne" userId="bccfde87c812eabf" providerId="LiveId" clId="{63C4EB39-52B5-4101-B6B9-27F9C95430F6}" dt="2026-08-24T11:58:47.871" v="4434" actId="2711"/>
          <ac:spMkLst>
            <pc:docMk/>
            <pc:sldMk cId="0" sldId="271"/>
            <ac:spMk id="4" creationId="{00000000-0000-0000-0000-000000000000}"/>
          </ac:spMkLst>
        </pc:spChg>
        <pc:spChg chg="mod">
          <ac:chgData name="adriana delle donne" userId="bccfde87c812eabf" providerId="LiveId" clId="{63C4EB39-52B5-4101-B6B9-27F9C95430F6}" dt="2026-08-24T11:58:47.871" v="4434" actId="2711"/>
          <ac:spMkLst>
            <pc:docMk/>
            <pc:sldMk cId="0" sldId="271"/>
            <ac:spMk id="5" creationId="{00000000-0000-0000-0000-000000000000}"/>
          </ac:spMkLst>
        </pc:spChg>
      </pc:sldChg>
      <pc:sldChg chg="modSp mod">
        <pc:chgData name="adriana delle donne" userId="bccfde87c812eabf" providerId="LiveId" clId="{63C4EB39-52B5-4101-B6B9-27F9C95430F6}" dt="2026-08-24T11:59:28.496" v="4437" actId="2711"/>
        <pc:sldMkLst>
          <pc:docMk/>
          <pc:sldMk cId="0" sldId="272"/>
        </pc:sldMkLst>
        <pc:spChg chg="mod">
          <ac:chgData name="adriana delle donne" userId="bccfde87c812eabf" providerId="LiveId" clId="{63C4EB39-52B5-4101-B6B9-27F9C95430F6}" dt="2026-08-24T11:59:28.496" v="4437" actId="2711"/>
          <ac:spMkLst>
            <pc:docMk/>
            <pc:sldMk cId="0" sldId="272"/>
            <ac:spMk id="2" creationId="{00000000-0000-0000-0000-000000000000}"/>
          </ac:spMkLst>
        </pc:spChg>
        <pc:spChg chg="mod">
          <ac:chgData name="adriana delle donne" userId="bccfde87c812eabf" providerId="LiveId" clId="{63C4EB39-52B5-4101-B6B9-27F9C95430F6}" dt="2026-08-24T11:59:28.496" v="4437" actId="2711"/>
          <ac:spMkLst>
            <pc:docMk/>
            <pc:sldMk cId="0" sldId="272"/>
            <ac:spMk id="3" creationId="{00000000-0000-0000-0000-000000000000}"/>
          </ac:spMkLst>
        </pc:spChg>
        <pc:spChg chg="mod">
          <ac:chgData name="adriana delle donne" userId="bccfde87c812eabf" providerId="LiveId" clId="{63C4EB39-52B5-4101-B6B9-27F9C95430F6}" dt="2026-08-24T11:59:28.496" v="4437" actId="2711"/>
          <ac:spMkLst>
            <pc:docMk/>
            <pc:sldMk cId="0" sldId="272"/>
            <ac:spMk id="4" creationId="{00000000-0000-0000-0000-000000000000}"/>
          </ac:spMkLst>
        </pc:spChg>
        <pc:spChg chg="mod">
          <ac:chgData name="adriana delle donne" userId="bccfde87c812eabf" providerId="LiveId" clId="{63C4EB39-52B5-4101-B6B9-27F9C95430F6}" dt="2026-08-24T11:59:28.496" v="4437" actId="2711"/>
          <ac:spMkLst>
            <pc:docMk/>
            <pc:sldMk cId="0" sldId="272"/>
            <ac:spMk id="5" creationId="{00000000-0000-0000-0000-000000000000}"/>
          </ac:spMkLst>
        </pc:spChg>
      </pc:sldChg>
      <pc:sldChg chg="modSp mod">
        <pc:chgData name="adriana delle donne" userId="bccfde87c812eabf" providerId="LiveId" clId="{63C4EB39-52B5-4101-B6B9-27F9C95430F6}" dt="2026-08-24T11:59:13.241" v="4436" actId="2711"/>
        <pc:sldMkLst>
          <pc:docMk/>
          <pc:sldMk cId="0" sldId="273"/>
        </pc:sldMkLst>
        <pc:spChg chg="mod">
          <ac:chgData name="adriana delle donne" userId="bccfde87c812eabf" providerId="LiveId" clId="{63C4EB39-52B5-4101-B6B9-27F9C95430F6}" dt="2026-08-24T11:59:13.241" v="4436" actId="2711"/>
          <ac:spMkLst>
            <pc:docMk/>
            <pc:sldMk cId="0" sldId="273"/>
            <ac:spMk id="2" creationId="{00000000-0000-0000-0000-000000000000}"/>
          </ac:spMkLst>
        </pc:spChg>
        <pc:spChg chg="mod">
          <ac:chgData name="adriana delle donne" userId="bccfde87c812eabf" providerId="LiveId" clId="{63C4EB39-52B5-4101-B6B9-27F9C95430F6}" dt="2026-08-24T11:59:13.241" v="4436" actId="2711"/>
          <ac:spMkLst>
            <pc:docMk/>
            <pc:sldMk cId="0" sldId="273"/>
            <ac:spMk id="3" creationId="{00000000-0000-0000-0000-000000000000}"/>
          </ac:spMkLst>
        </pc:spChg>
        <pc:spChg chg="mod">
          <ac:chgData name="adriana delle donne" userId="bccfde87c812eabf" providerId="LiveId" clId="{63C4EB39-52B5-4101-B6B9-27F9C95430F6}" dt="2026-08-24T11:59:13.241" v="4436" actId="2711"/>
          <ac:spMkLst>
            <pc:docMk/>
            <pc:sldMk cId="0" sldId="273"/>
            <ac:spMk id="4" creationId="{00000000-0000-0000-0000-000000000000}"/>
          </ac:spMkLst>
        </pc:spChg>
        <pc:spChg chg="mod">
          <ac:chgData name="adriana delle donne" userId="bccfde87c812eabf" providerId="LiveId" clId="{63C4EB39-52B5-4101-B6B9-27F9C95430F6}" dt="2026-08-24T11:59:13.241" v="4436" actId="2711"/>
          <ac:spMkLst>
            <pc:docMk/>
            <pc:sldMk cId="0" sldId="273"/>
            <ac:spMk id="5" creationId="{00000000-0000-0000-0000-000000000000}"/>
          </ac:spMkLst>
        </pc:spChg>
      </pc:sldChg>
      <pc:sldChg chg="modSp mod">
        <pc:chgData name="adriana delle donne" userId="bccfde87c812eabf" providerId="LiveId" clId="{63C4EB39-52B5-4101-B6B9-27F9C95430F6}" dt="2026-08-24T11:59:47.328" v="4438" actId="2711"/>
        <pc:sldMkLst>
          <pc:docMk/>
          <pc:sldMk cId="0" sldId="275"/>
        </pc:sldMkLst>
        <pc:spChg chg="mod">
          <ac:chgData name="adriana delle donne" userId="bccfde87c812eabf" providerId="LiveId" clId="{63C4EB39-52B5-4101-B6B9-27F9C95430F6}" dt="2026-08-24T11:59:47.328" v="4438" actId="2711"/>
          <ac:spMkLst>
            <pc:docMk/>
            <pc:sldMk cId="0" sldId="275"/>
            <ac:spMk id="2" creationId="{00000000-0000-0000-0000-000000000000}"/>
          </ac:spMkLst>
        </pc:spChg>
        <pc:spChg chg="mod">
          <ac:chgData name="adriana delle donne" userId="bccfde87c812eabf" providerId="LiveId" clId="{63C4EB39-52B5-4101-B6B9-27F9C95430F6}" dt="2026-08-24T11:59:47.328" v="4438" actId="2711"/>
          <ac:spMkLst>
            <pc:docMk/>
            <pc:sldMk cId="0" sldId="275"/>
            <ac:spMk id="3" creationId="{00000000-0000-0000-0000-000000000000}"/>
          </ac:spMkLst>
        </pc:spChg>
        <pc:spChg chg="mod">
          <ac:chgData name="adriana delle donne" userId="bccfde87c812eabf" providerId="LiveId" clId="{63C4EB39-52B5-4101-B6B9-27F9C95430F6}" dt="2026-08-24T11:59:47.328" v="4438" actId="2711"/>
          <ac:spMkLst>
            <pc:docMk/>
            <pc:sldMk cId="0" sldId="275"/>
            <ac:spMk id="4" creationId="{00000000-0000-0000-0000-000000000000}"/>
          </ac:spMkLst>
        </pc:spChg>
        <pc:spChg chg="mod">
          <ac:chgData name="adriana delle donne" userId="bccfde87c812eabf" providerId="LiveId" clId="{63C4EB39-52B5-4101-B6B9-27F9C95430F6}" dt="2026-08-24T11:59:47.328" v="4438" actId="2711"/>
          <ac:spMkLst>
            <pc:docMk/>
            <pc:sldMk cId="0" sldId="275"/>
            <ac:spMk id="5" creationId="{00000000-0000-0000-0000-000000000000}"/>
          </ac:spMkLst>
        </pc:spChg>
      </pc:sldChg>
      <pc:sldChg chg="modSp mod">
        <pc:chgData name="adriana delle donne" userId="bccfde87c812eabf" providerId="LiveId" clId="{63C4EB39-52B5-4101-B6B9-27F9C95430F6}" dt="2026-08-23T23:13:45.819" v="2872" actId="20577"/>
        <pc:sldMkLst>
          <pc:docMk/>
          <pc:sldMk cId="0" sldId="276"/>
        </pc:sldMkLst>
        <pc:spChg chg="mod">
          <ac:chgData name="adriana delle donne" userId="bccfde87c812eabf" providerId="LiveId" clId="{63C4EB39-52B5-4101-B6B9-27F9C95430F6}" dt="2026-08-23T23:13:45.819" v="2872" actId="20577"/>
          <ac:spMkLst>
            <pc:docMk/>
            <pc:sldMk cId="0" sldId="276"/>
            <ac:spMk id="4" creationId="{00000000-0000-0000-0000-000000000000}"/>
          </ac:spMkLst>
        </pc:spChg>
      </pc:sldChg>
      <pc:sldChg chg="modSp mod">
        <pc:chgData name="adriana delle donne" userId="bccfde87c812eabf" providerId="LiveId" clId="{63C4EB39-52B5-4101-B6B9-27F9C95430F6}" dt="2026-08-23T23:36:43.144" v="3575" actId="20577"/>
        <pc:sldMkLst>
          <pc:docMk/>
          <pc:sldMk cId="0" sldId="280"/>
        </pc:sldMkLst>
        <pc:spChg chg="mod">
          <ac:chgData name="adriana delle donne" userId="bccfde87c812eabf" providerId="LiveId" clId="{63C4EB39-52B5-4101-B6B9-27F9C95430F6}" dt="2026-08-23T23:36:43.144" v="3575" actId="20577"/>
          <ac:spMkLst>
            <pc:docMk/>
            <pc:sldMk cId="0" sldId="280"/>
            <ac:spMk id="4" creationId="{00000000-0000-0000-0000-000000000000}"/>
          </ac:spMkLst>
        </pc:spChg>
      </pc:sldChg>
      <pc:sldChg chg="modSp mod">
        <pc:chgData name="adriana delle donne" userId="bccfde87c812eabf" providerId="LiveId" clId="{63C4EB39-52B5-4101-B6B9-27F9C95430F6}" dt="2026-08-24T11:40:39.538" v="4346" actId="2711"/>
        <pc:sldMkLst>
          <pc:docMk/>
          <pc:sldMk cId="1036265415" sldId="286"/>
        </pc:sldMkLst>
        <pc:spChg chg="mod">
          <ac:chgData name="adriana delle donne" userId="bccfde87c812eabf" providerId="LiveId" clId="{63C4EB39-52B5-4101-B6B9-27F9C95430F6}" dt="2026-08-24T11:40:39.538" v="4346" actId="2711"/>
          <ac:spMkLst>
            <pc:docMk/>
            <pc:sldMk cId="1036265415" sldId="286"/>
            <ac:spMk id="2" creationId="{5598DF0F-C8E9-1744-6825-EDA7E5C012CA}"/>
          </ac:spMkLst>
        </pc:spChg>
        <pc:spChg chg="mod">
          <ac:chgData name="adriana delle donne" userId="bccfde87c812eabf" providerId="LiveId" clId="{63C4EB39-52B5-4101-B6B9-27F9C95430F6}" dt="2026-08-24T11:40:39.538" v="4346" actId="2711"/>
          <ac:spMkLst>
            <pc:docMk/>
            <pc:sldMk cId="1036265415" sldId="286"/>
            <ac:spMk id="3" creationId="{5472E082-606F-783F-8EE5-3431FCE664B0}"/>
          </ac:spMkLst>
        </pc:spChg>
        <pc:spChg chg="mod">
          <ac:chgData name="adriana delle donne" userId="bccfde87c812eabf" providerId="LiveId" clId="{63C4EB39-52B5-4101-B6B9-27F9C95430F6}" dt="2026-08-24T11:40:39.538" v="4346" actId="2711"/>
          <ac:spMkLst>
            <pc:docMk/>
            <pc:sldMk cId="1036265415" sldId="286"/>
            <ac:spMk id="4" creationId="{A90DD0DF-F560-4FC5-7AA2-21F37EEA7152}"/>
          </ac:spMkLst>
        </pc:spChg>
        <pc:spChg chg="mod">
          <ac:chgData name="adriana delle donne" userId="bccfde87c812eabf" providerId="LiveId" clId="{63C4EB39-52B5-4101-B6B9-27F9C95430F6}" dt="2026-08-24T11:40:39.538" v="4346" actId="2711"/>
          <ac:spMkLst>
            <pc:docMk/>
            <pc:sldMk cId="1036265415" sldId="286"/>
            <ac:spMk id="5" creationId="{E8796834-4A1E-6CE6-6C18-ABFB7D86874E}"/>
          </ac:spMkLst>
        </pc:spChg>
      </pc:sldChg>
      <pc:sldChg chg="del">
        <pc:chgData name="adriana delle donne" userId="bccfde87c812eabf" providerId="LiveId" clId="{63C4EB39-52B5-4101-B6B9-27F9C95430F6}" dt="2026-08-24T11:37:53.079" v="4341" actId="2696"/>
        <pc:sldMkLst>
          <pc:docMk/>
          <pc:sldMk cId="1260926277" sldId="287"/>
        </pc:sldMkLst>
      </pc:sldChg>
      <pc:sldChg chg="add">
        <pc:chgData name="adriana delle donne" userId="bccfde87c812eabf" providerId="LiveId" clId="{63C4EB39-52B5-4101-B6B9-27F9C95430F6}" dt="2026-08-24T11:38:04.293" v="4342"/>
        <pc:sldMkLst>
          <pc:docMk/>
          <pc:sldMk cId="2639565703" sldId="287"/>
        </pc:sldMkLst>
      </pc:sldChg>
      <pc:sldChg chg="modSp mod ord">
        <pc:chgData name="adriana delle donne" userId="bccfde87c812eabf" providerId="LiveId" clId="{63C4EB39-52B5-4101-B6B9-27F9C95430F6}" dt="2026-08-24T11:41:23.527" v="4351" actId="113"/>
        <pc:sldMkLst>
          <pc:docMk/>
          <pc:sldMk cId="398607892" sldId="289"/>
        </pc:sldMkLst>
        <pc:spChg chg="mod">
          <ac:chgData name="adriana delle donne" userId="bccfde87c812eabf" providerId="LiveId" clId="{63C4EB39-52B5-4101-B6B9-27F9C95430F6}" dt="2026-08-24T11:41:16.763" v="4350" actId="2711"/>
          <ac:spMkLst>
            <pc:docMk/>
            <pc:sldMk cId="398607892" sldId="289"/>
            <ac:spMk id="2" creationId="{9DDB8832-7AEB-CD95-F82D-714746788CEE}"/>
          </ac:spMkLst>
        </pc:spChg>
        <pc:spChg chg="mod">
          <ac:chgData name="adriana delle donne" userId="bccfde87c812eabf" providerId="LiveId" clId="{63C4EB39-52B5-4101-B6B9-27F9C95430F6}" dt="2026-08-24T11:41:16.763" v="4350" actId="2711"/>
          <ac:spMkLst>
            <pc:docMk/>
            <pc:sldMk cId="398607892" sldId="289"/>
            <ac:spMk id="3" creationId="{DBEC1953-7D2A-6152-EFCF-6C73EA7EEC65}"/>
          </ac:spMkLst>
        </pc:spChg>
        <pc:spChg chg="mod">
          <ac:chgData name="adriana delle donne" userId="bccfde87c812eabf" providerId="LiveId" clId="{63C4EB39-52B5-4101-B6B9-27F9C95430F6}" dt="2026-08-24T11:41:23.527" v="4351" actId="113"/>
          <ac:spMkLst>
            <pc:docMk/>
            <pc:sldMk cId="398607892" sldId="289"/>
            <ac:spMk id="4" creationId="{03C16BC8-C671-8D30-CB75-E9C20704EEC6}"/>
          </ac:spMkLst>
        </pc:spChg>
      </pc:sldChg>
      <pc:sldChg chg="delSp del mod">
        <pc:chgData name="adriana delle donne" userId="bccfde87c812eabf" providerId="LiveId" clId="{63C4EB39-52B5-4101-B6B9-27F9C95430F6}" dt="2026-08-23T19:53:52.903" v="96" actId="2696"/>
        <pc:sldMkLst>
          <pc:docMk/>
          <pc:sldMk cId="3069250989" sldId="290"/>
        </pc:sldMkLst>
        <pc:spChg chg="del">
          <ac:chgData name="adriana delle donne" userId="bccfde87c812eabf" providerId="LiveId" clId="{63C4EB39-52B5-4101-B6B9-27F9C95430F6}" dt="2026-08-23T19:51:50.933" v="1" actId="21"/>
          <ac:spMkLst>
            <pc:docMk/>
            <pc:sldMk cId="3069250989" sldId="290"/>
            <ac:spMk id="4" creationId="{33BE8378-F0C3-8FFA-F075-625D94DC8348}"/>
          </ac:spMkLst>
        </pc:spChg>
      </pc:sldChg>
      <pc:sldChg chg="modSp mod">
        <pc:chgData name="adriana delle donne" userId="bccfde87c812eabf" providerId="LiveId" clId="{63C4EB39-52B5-4101-B6B9-27F9C95430F6}" dt="2026-08-24T11:42:20.973" v="4357" actId="2711"/>
        <pc:sldMkLst>
          <pc:docMk/>
          <pc:sldMk cId="2300511699" sldId="292"/>
        </pc:sldMkLst>
        <pc:spChg chg="mod">
          <ac:chgData name="adriana delle donne" userId="bccfde87c812eabf" providerId="LiveId" clId="{63C4EB39-52B5-4101-B6B9-27F9C95430F6}" dt="2026-08-24T11:42:20.973" v="4357" actId="2711"/>
          <ac:spMkLst>
            <pc:docMk/>
            <pc:sldMk cId="2300511699" sldId="292"/>
            <ac:spMk id="2" creationId="{630D0D2F-F83D-0210-FCEE-D83C9220D76F}"/>
          </ac:spMkLst>
        </pc:spChg>
        <pc:spChg chg="mod">
          <ac:chgData name="adriana delle donne" userId="bccfde87c812eabf" providerId="LiveId" clId="{63C4EB39-52B5-4101-B6B9-27F9C95430F6}" dt="2026-08-24T11:42:20.973" v="4357" actId="2711"/>
          <ac:spMkLst>
            <pc:docMk/>
            <pc:sldMk cId="2300511699" sldId="292"/>
            <ac:spMk id="3" creationId="{350FEBCB-51CF-6DDE-EE76-785ECA9FD224}"/>
          </ac:spMkLst>
        </pc:spChg>
        <pc:spChg chg="mod">
          <ac:chgData name="adriana delle donne" userId="bccfde87c812eabf" providerId="LiveId" clId="{63C4EB39-52B5-4101-B6B9-27F9C95430F6}" dt="2026-08-24T11:42:20.973" v="4357" actId="2711"/>
          <ac:spMkLst>
            <pc:docMk/>
            <pc:sldMk cId="2300511699" sldId="292"/>
            <ac:spMk id="4" creationId="{2E965F42-91DF-CB02-ADA6-AA28D02AFBCC}"/>
          </ac:spMkLst>
        </pc:spChg>
        <pc:spChg chg="mod">
          <ac:chgData name="adriana delle donne" userId="bccfde87c812eabf" providerId="LiveId" clId="{63C4EB39-52B5-4101-B6B9-27F9C95430F6}" dt="2026-08-24T11:42:20.973" v="4357" actId="2711"/>
          <ac:spMkLst>
            <pc:docMk/>
            <pc:sldMk cId="2300511699" sldId="292"/>
            <ac:spMk id="6" creationId="{84B3A7D0-A45F-424B-D369-9D42951A8BB7}"/>
          </ac:spMkLst>
        </pc:spChg>
      </pc:sldChg>
      <pc:sldChg chg="del">
        <pc:chgData name="adriana delle donne" userId="bccfde87c812eabf" providerId="LiveId" clId="{63C4EB39-52B5-4101-B6B9-27F9C95430F6}" dt="2026-08-23T20:19:08.520" v="261" actId="2696"/>
        <pc:sldMkLst>
          <pc:docMk/>
          <pc:sldMk cId="2549918592" sldId="293"/>
        </pc:sldMkLst>
      </pc:sldChg>
      <pc:sldChg chg="modSp add mod">
        <pc:chgData name="adriana delle donne" userId="bccfde87c812eabf" providerId="LiveId" clId="{63C4EB39-52B5-4101-B6B9-27F9C95430F6}" dt="2026-08-24T00:08:50.045" v="4340" actId="20577"/>
        <pc:sldMkLst>
          <pc:docMk/>
          <pc:sldMk cId="3891898406" sldId="293"/>
        </pc:sldMkLst>
        <pc:spChg chg="mod">
          <ac:chgData name="adriana delle donne" userId="bccfde87c812eabf" providerId="LiveId" clId="{63C4EB39-52B5-4101-B6B9-27F9C95430F6}" dt="2026-08-24T00:08:50.045" v="4340" actId="20577"/>
          <ac:spMkLst>
            <pc:docMk/>
            <pc:sldMk cId="3891898406" sldId="293"/>
            <ac:spMk id="9" creationId="{F0D8BA90-6D13-DCC7-3041-2AEE512A2D7F}"/>
          </ac:spMkLst>
        </pc:spChg>
      </pc:sldChg>
      <pc:sldChg chg="del">
        <pc:chgData name="adriana delle donne" userId="bccfde87c812eabf" providerId="LiveId" clId="{63C4EB39-52B5-4101-B6B9-27F9C95430F6}" dt="2026-08-23T20:19:08.520" v="261" actId="2696"/>
        <pc:sldMkLst>
          <pc:docMk/>
          <pc:sldMk cId="2458673833" sldId="294"/>
        </pc:sldMkLst>
      </pc:sldChg>
      <pc:sldChg chg="add del">
        <pc:chgData name="adriana delle donne" userId="bccfde87c812eabf" providerId="LiveId" clId="{63C4EB39-52B5-4101-B6B9-27F9C95430F6}" dt="2026-08-24T12:01:16.206" v="4440" actId="2696"/>
        <pc:sldMkLst>
          <pc:docMk/>
          <pc:sldMk cId="4115246430" sldId="294"/>
        </pc:sldMkLst>
      </pc:sldChg>
      <pc:sldChg chg="add">
        <pc:chgData name="adriana delle donne" userId="bccfde87c812eabf" providerId="LiveId" clId="{63C4EB39-52B5-4101-B6B9-27F9C95430F6}" dt="2026-08-24T12:01:26.850" v="4441"/>
        <pc:sldMkLst>
          <pc:docMk/>
          <pc:sldMk cId="4205033570" sldId="294"/>
        </pc:sldMkLst>
      </pc:sldChg>
      <pc:sldChg chg="modSp mod">
        <pc:chgData name="adriana delle donne" userId="bccfde87c812eabf" providerId="LiveId" clId="{63C4EB39-52B5-4101-B6B9-27F9C95430F6}" dt="2026-08-24T11:57:36.257" v="4429" actId="2711"/>
        <pc:sldMkLst>
          <pc:docMk/>
          <pc:sldMk cId="3358621745" sldId="295"/>
        </pc:sldMkLst>
        <pc:spChg chg="mod">
          <ac:chgData name="adriana delle donne" userId="bccfde87c812eabf" providerId="LiveId" clId="{63C4EB39-52B5-4101-B6B9-27F9C95430F6}" dt="2026-08-24T11:57:36.257" v="4429" actId="2711"/>
          <ac:spMkLst>
            <pc:docMk/>
            <pc:sldMk cId="3358621745" sldId="295"/>
            <ac:spMk id="3" creationId="{6209684D-1DCD-0273-2281-1918FD89684D}"/>
          </ac:spMkLst>
        </pc:spChg>
        <pc:spChg chg="mod">
          <ac:chgData name="adriana delle donne" userId="bccfde87c812eabf" providerId="LiveId" clId="{63C4EB39-52B5-4101-B6B9-27F9C95430F6}" dt="2026-08-24T11:57:36.257" v="4429" actId="2711"/>
          <ac:spMkLst>
            <pc:docMk/>
            <pc:sldMk cId="3358621745" sldId="295"/>
            <ac:spMk id="4" creationId="{773A793B-7431-A44E-39D4-3460D1EA6E10}"/>
          </ac:spMkLst>
        </pc:spChg>
        <pc:spChg chg="mod">
          <ac:chgData name="adriana delle donne" userId="bccfde87c812eabf" providerId="LiveId" clId="{63C4EB39-52B5-4101-B6B9-27F9C95430F6}" dt="2026-08-24T11:57:36.257" v="4429" actId="2711"/>
          <ac:spMkLst>
            <pc:docMk/>
            <pc:sldMk cId="3358621745" sldId="295"/>
            <ac:spMk id="5" creationId="{000DC795-74DF-6246-48CA-FA55BB35AF7D}"/>
          </ac:spMkLst>
        </pc:spChg>
      </pc:sldChg>
      <pc:sldChg chg="modSp mod">
        <pc:chgData name="adriana delle donne" userId="bccfde87c812eabf" providerId="LiveId" clId="{63C4EB39-52B5-4101-B6B9-27F9C95430F6}" dt="2026-08-24T11:57:56.751" v="4430" actId="2711"/>
        <pc:sldMkLst>
          <pc:docMk/>
          <pc:sldMk cId="1434791531" sldId="296"/>
        </pc:sldMkLst>
        <pc:spChg chg="mod">
          <ac:chgData name="adriana delle donne" userId="bccfde87c812eabf" providerId="LiveId" clId="{63C4EB39-52B5-4101-B6B9-27F9C95430F6}" dt="2026-08-24T11:57:56.751" v="4430" actId="2711"/>
          <ac:spMkLst>
            <pc:docMk/>
            <pc:sldMk cId="1434791531" sldId="296"/>
            <ac:spMk id="2" creationId="{FF120CE4-9D32-E012-D3FE-C8EBA6C7548C}"/>
          </ac:spMkLst>
        </pc:spChg>
        <pc:spChg chg="mod">
          <ac:chgData name="adriana delle donne" userId="bccfde87c812eabf" providerId="LiveId" clId="{63C4EB39-52B5-4101-B6B9-27F9C95430F6}" dt="2026-08-24T11:57:56.751" v="4430" actId="2711"/>
          <ac:spMkLst>
            <pc:docMk/>
            <pc:sldMk cId="1434791531" sldId="296"/>
            <ac:spMk id="3" creationId="{3DD55453-0D89-97CF-D459-DEF5F47D1F1F}"/>
          </ac:spMkLst>
        </pc:spChg>
        <pc:spChg chg="mod">
          <ac:chgData name="adriana delle donne" userId="bccfde87c812eabf" providerId="LiveId" clId="{63C4EB39-52B5-4101-B6B9-27F9C95430F6}" dt="2026-08-24T11:57:56.751" v="4430" actId="2711"/>
          <ac:spMkLst>
            <pc:docMk/>
            <pc:sldMk cId="1434791531" sldId="296"/>
            <ac:spMk id="4" creationId="{B5282727-25C5-5511-F816-D54F9C151ED3}"/>
          </ac:spMkLst>
        </pc:spChg>
        <pc:spChg chg="mod">
          <ac:chgData name="adriana delle donne" userId="bccfde87c812eabf" providerId="LiveId" clId="{63C4EB39-52B5-4101-B6B9-27F9C95430F6}" dt="2026-08-24T11:57:56.751" v="4430" actId="2711"/>
          <ac:spMkLst>
            <pc:docMk/>
            <pc:sldMk cId="1434791531" sldId="296"/>
            <ac:spMk id="5" creationId="{2244D451-01E1-3A8A-75AB-72CC08C0A754}"/>
          </ac:spMkLst>
        </pc:spChg>
      </pc:sldChg>
      <pc:sldChg chg="modSp mod">
        <pc:chgData name="adriana delle donne" userId="bccfde87c812eabf" providerId="LiveId" clId="{63C4EB39-52B5-4101-B6B9-27F9C95430F6}" dt="2026-08-24T11:59:02.974" v="4435" actId="2711"/>
        <pc:sldMkLst>
          <pc:docMk/>
          <pc:sldMk cId="2329416219" sldId="297"/>
        </pc:sldMkLst>
        <pc:spChg chg="mod">
          <ac:chgData name="adriana delle donne" userId="bccfde87c812eabf" providerId="LiveId" clId="{63C4EB39-52B5-4101-B6B9-27F9C95430F6}" dt="2026-08-24T11:59:02.974" v="4435" actId="2711"/>
          <ac:spMkLst>
            <pc:docMk/>
            <pc:sldMk cId="2329416219" sldId="297"/>
            <ac:spMk id="2" creationId="{941C5516-FAFC-51D9-A59B-F00E4DE4E6DC}"/>
          </ac:spMkLst>
        </pc:spChg>
        <pc:spChg chg="mod">
          <ac:chgData name="adriana delle donne" userId="bccfde87c812eabf" providerId="LiveId" clId="{63C4EB39-52B5-4101-B6B9-27F9C95430F6}" dt="2026-08-24T11:59:02.974" v="4435" actId="2711"/>
          <ac:spMkLst>
            <pc:docMk/>
            <pc:sldMk cId="2329416219" sldId="297"/>
            <ac:spMk id="3" creationId="{37C90D59-99AB-2544-2AC6-43D8BAFAF0E3}"/>
          </ac:spMkLst>
        </pc:spChg>
        <pc:spChg chg="mod">
          <ac:chgData name="adriana delle donne" userId="bccfde87c812eabf" providerId="LiveId" clId="{63C4EB39-52B5-4101-B6B9-27F9C95430F6}" dt="2026-08-24T11:59:02.974" v="4435" actId="2711"/>
          <ac:spMkLst>
            <pc:docMk/>
            <pc:sldMk cId="2329416219" sldId="297"/>
            <ac:spMk id="4" creationId="{F7706EE8-1C3B-7F45-7471-FEC9A13CC5EC}"/>
          </ac:spMkLst>
        </pc:spChg>
        <pc:spChg chg="mod">
          <ac:chgData name="adriana delle donne" userId="bccfde87c812eabf" providerId="LiveId" clId="{63C4EB39-52B5-4101-B6B9-27F9C95430F6}" dt="2026-08-24T11:59:02.974" v="4435" actId="2711"/>
          <ac:spMkLst>
            <pc:docMk/>
            <pc:sldMk cId="2329416219" sldId="297"/>
            <ac:spMk id="6" creationId="{457A493D-5EE8-2F57-9BE9-390BC4555F20}"/>
          </ac:spMkLst>
        </pc:spChg>
        <pc:picChg chg="mod">
          <ac:chgData name="adriana delle donne" userId="bccfde87c812eabf" providerId="LiveId" clId="{63C4EB39-52B5-4101-B6B9-27F9C95430F6}" dt="2026-08-23T23:12:26.299" v="2870" actId="1076"/>
          <ac:picMkLst>
            <pc:docMk/>
            <pc:sldMk cId="2329416219" sldId="297"/>
            <ac:picMk id="7" creationId="{E0983271-5F5C-A09E-3C81-BCE539A59995}"/>
          </ac:picMkLst>
        </pc:picChg>
        <pc:picChg chg="mod">
          <ac:chgData name="adriana delle donne" userId="bccfde87c812eabf" providerId="LiveId" clId="{63C4EB39-52B5-4101-B6B9-27F9C95430F6}" dt="2026-08-23T23:12:28.885" v="2871" actId="1076"/>
          <ac:picMkLst>
            <pc:docMk/>
            <pc:sldMk cId="2329416219" sldId="297"/>
            <ac:picMk id="8" creationId="{0CCBA5D4-DF52-8479-F274-74D2B0F61813}"/>
          </ac:picMkLst>
        </pc:picChg>
      </pc:sldChg>
      <pc:sldChg chg="addSp delSp modSp add mod setBg">
        <pc:chgData name="adriana delle donne" userId="bccfde87c812eabf" providerId="LiveId" clId="{63C4EB39-52B5-4101-B6B9-27F9C95430F6}" dt="2026-08-24T11:42:40.137" v="4359" actId="113"/>
        <pc:sldMkLst>
          <pc:docMk/>
          <pc:sldMk cId="0" sldId="398"/>
        </pc:sldMkLst>
        <pc:spChg chg="mod">
          <ac:chgData name="adriana delle donne" userId="bccfde87c812eabf" providerId="LiveId" clId="{63C4EB39-52B5-4101-B6B9-27F9C95430F6}" dt="2026-08-24T11:42:33.385" v="4358" actId="2711"/>
          <ac:spMkLst>
            <pc:docMk/>
            <pc:sldMk cId="0" sldId="398"/>
            <ac:spMk id="2" creationId="{00000000-0000-0000-0000-000000000000}"/>
          </ac:spMkLst>
        </pc:spChg>
        <pc:spChg chg="del">
          <ac:chgData name="adriana delle donne" userId="bccfde87c812eabf" providerId="LiveId" clId="{63C4EB39-52B5-4101-B6B9-27F9C95430F6}" dt="2026-08-23T19:52:20.889" v="7" actId="478"/>
          <ac:spMkLst>
            <pc:docMk/>
            <pc:sldMk cId="0" sldId="398"/>
            <ac:spMk id="3" creationId="{00000000-0000-0000-0000-000000000000}"/>
          </ac:spMkLst>
        </pc:spChg>
        <pc:spChg chg="del">
          <ac:chgData name="adriana delle donne" userId="bccfde87c812eabf" providerId="LiveId" clId="{63C4EB39-52B5-4101-B6B9-27F9C95430F6}" dt="2026-08-23T19:52:08.848" v="5" actId="478"/>
          <ac:spMkLst>
            <pc:docMk/>
            <pc:sldMk cId="0" sldId="398"/>
            <ac:spMk id="4" creationId="{00000000-0000-0000-0000-000000000000}"/>
          </ac:spMkLst>
        </pc:spChg>
        <pc:spChg chg="del">
          <ac:chgData name="adriana delle donne" userId="bccfde87c812eabf" providerId="LiveId" clId="{63C4EB39-52B5-4101-B6B9-27F9C95430F6}" dt="2026-08-23T19:52:05.516" v="4" actId="478"/>
          <ac:spMkLst>
            <pc:docMk/>
            <pc:sldMk cId="0" sldId="398"/>
            <ac:spMk id="5" creationId="{00000000-0000-0000-0000-000000000000}"/>
          </ac:spMkLst>
        </pc:spChg>
        <pc:spChg chg="mod">
          <ac:chgData name="adriana delle donne" userId="bccfde87c812eabf" providerId="LiveId" clId="{63C4EB39-52B5-4101-B6B9-27F9C95430F6}" dt="2026-08-24T11:42:33.385" v="4358" actId="2711"/>
          <ac:spMkLst>
            <pc:docMk/>
            <pc:sldMk cId="0" sldId="398"/>
            <ac:spMk id="6" creationId="{00000000-0000-0000-0000-000000000000}"/>
          </ac:spMkLst>
        </pc:spChg>
        <pc:spChg chg="del mod">
          <ac:chgData name="adriana delle donne" userId="bccfde87c812eabf" providerId="LiveId" clId="{63C4EB39-52B5-4101-B6B9-27F9C95430F6}" dt="2026-08-23T19:52:57.976" v="10" actId="478"/>
          <ac:spMkLst>
            <pc:docMk/>
            <pc:sldMk cId="0" sldId="398"/>
            <ac:spMk id="7" creationId="{00000000-0000-0000-0000-000000000000}"/>
          </ac:spMkLst>
        </pc:spChg>
        <pc:spChg chg="mod">
          <ac:chgData name="adriana delle donne" userId="bccfde87c812eabf" providerId="LiveId" clId="{63C4EB39-52B5-4101-B6B9-27F9C95430F6}" dt="2026-08-24T11:42:33.385" v="4358" actId="2711"/>
          <ac:spMkLst>
            <pc:docMk/>
            <pc:sldMk cId="0" sldId="398"/>
            <ac:spMk id="9" creationId="{00000000-0000-0000-0000-000000000000}"/>
          </ac:spMkLst>
        </pc:spChg>
        <pc:spChg chg="mod">
          <ac:chgData name="adriana delle donne" userId="bccfde87c812eabf" providerId="LiveId" clId="{63C4EB39-52B5-4101-B6B9-27F9C95430F6}" dt="2026-08-24T11:42:33.385" v="4358" actId="2711"/>
          <ac:spMkLst>
            <pc:docMk/>
            <pc:sldMk cId="0" sldId="398"/>
            <ac:spMk id="10" creationId="{00000000-0000-0000-0000-000000000000}"/>
          </ac:spMkLst>
        </pc:spChg>
        <pc:spChg chg="mod">
          <ac:chgData name="adriana delle donne" userId="bccfde87c812eabf" providerId="LiveId" clId="{63C4EB39-52B5-4101-B6B9-27F9C95430F6}" dt="2026-08-24T11:42:33.385" v="4358" actId="2711"/>
          <ac:spMkLst>
            <pc:docMk/>
            <pc:sldMk cId="0" sldId="398"/>
            <ac:spMk id="11" creationId="{00000000-0000-0000-0000-000000000000}"/>
          </ac:spMkLst>
        </pc:spChg>
        <pc:spChg chg="mod">
          <ac:chgData name="adriana delle donne" userId="bccfde87c812eabf" providerId="LiveId" clId="{63C4EB39-52B5-4101-B6B9-27F9C95430F6}" dt="2026-08-24T11:42:33.385" v="4358" actId="2711"/>
          <ac:spMkLst>
            <pc:docMk/>
            <pc:sldMk cId="0" sldId="398"/>
            <ac:spMk id="12" creationId="{00000000-0000-0000-0000-000000000000}"/>
          </ac:spMkLst>
        </pc:spChg>
        <pc:spChg chg="add mod">
          <ac:chgData name="adriana delle donne" userId="bccfde87c812eabf" providerId="LiveId" clId="{63C4EB39-52B5-4101-B6B9-27F9C95430F6}" dt="2026-08-24T11:42:40.137" v="4359" actId="113"/>
          <ac:spMkLst>
            <pc:docMk/>
            <pc:sldMk cId="0" sldId="398"/>
            <ac:spMk id="14" creationId="{AD76C070-0B08-1694-D834-0E0D2C6790DD}"/>
          </ac:spMkLst>
        </pc:spChg>
        <pc:graphicFrameChg chg="mod">
          <ac:chgData name="adriana delle donne" userId="bccfde87c812eabf" providerId="LiveId" clId="{63C4EB39-52B5-4101-B6B9-27F9C95430F6}" dt="2026-08-24T11:42:33.385" v="4358" actId="2711"/>
          <ac:graphicFrameMkLst>
            <pc:docMk/>
            <pc:sldMk cId="0" sldId="398"/>
            <ac:graphicFrameMk id="8" creationId="{00000000-0000-0000-0000-000000000000}"/>
          </ac:graphicFrameMkLst>
        </pc:graphicFrameChg>
      </pc:sldChg>
      <pc:sldChg chg="addSp delSp modSp add del mod setBg">
        <pc:chgData name="adriana delle donne" userId="bccfde87c812eabf" providerId="LiveId" clId="{63C4EB39-52B5-4101-B6B9-27F9C95430F6}" dt="2026-08-23T23:35:00.095" v="3573" actId="2696"/>
        <pc:sldMkLst>
          <pc:docMk/>
          <pc:sldMk cId="0" sldId="399"/>
        </pc:sldMkLst>
        <pc:spChg chg="del">
          <ac:chgData name="adriana delle donne" userId="bccfde87c812eabf" providerId="LiveId" clId="{63C4EB39-52B5-4101-B6B9-27F9C95430F6}" dt="2026-08-23T23:16:00.323" v="2934" actId="478"/>
          <ac:spMkLst>
            <pc:docMk/>
            <pc:sldMk cId="0" sldId="399"/>
            <ac:spMk id="2" creationId="{00000000-0000-0000-0000-000000000000}"/>
          </ac:spMkLst>
        </pc:spChg>
        <pc:spChg chg="del">
          <ac:chgData name="adriana delle donne" userId="bccfde87c812eabf" providerId="LiveId" clId="{63C4EB39-52B5-4101-B6B9-27F9C95430F6}" dt="2026-08-23T23:14:28.715" v="2874" actId="478"/>
          <ac:spMkLst>
            <pc:docMk/>
            <pc:sldMk cId="0" sldId="399"/>
            <ac:spMk id="3" creationId="{00000000-0000-0000-0000-000000000000}"/>
          </ac:spMkLst>
        </pc:spChg>
        <pc:spChg chg="del">
          <ac:chgData name="adriana delle donne" userId="bccfde87c812eabf" providerId="LiveId" clId="{63C4EB39-52B5-4101-B6B9-27F9C95430F6}" dt="2026-08-23T23:14:27.581" v="2873" actId="478"/>
          <ac:spMkLst>
            <pc:docMk/>
            <pc:sldMk cId="0" sldId="399"/>
            <ac:spMk id="4" creationId="{00000000-0000-0000-0000-000000000000}"/>
          </ac:spMkLst>
        </pc:spChg>
        <pc:spChg chg="mod">
          <ac:chgData name="adriana delle donne" userId="bccfde87c812eabf" providerId="LiveId" clId="{63C4EB39-52B5-4101-B6B9-27F9C95430F6}" dt="2026-08-23T23:16:08.669" v="2935" actId="1076"/>
          <ac:spMkLst>
            <pc:docMk/>
            <pc:sldMk cId="0" sldId="399"/>
            <ac:spMk id="6" creationId="{00000000-0000-0000-0000-000000000000}"/>
          </ac:spMkLst>
        </pc:spChg>
        <pc:spChg chg="mod">
          <ac:chgData name="adriana delle donne" userId="bccfde87c812eabf" providerId="LiveId" clId="{63C4EB39-52B5-4101-B6B9-27F9C95430F6}" dt="2026-08-23T23:20:46.417" v="3195" actId="1076"/>
          <ac:spMkLst>
            <pc:docMk/>
            <pc:sldMk cId="0" sldId="399"/>
            <ac:spMk id="7" creationId="{00000000-0000-0000-0000-000000000000}"/>
          </ac:spMkLst>
        </pc:spChg>
        <pc:spChg chg="mod">
          <ac:chgData name="adriana delle donne" userId="bccfde87c812eabf" providerId="LiveId" clId="{63C4EB39-52B5-4101-B6B9-27F9C95430F6}" dt="2026-08-23T23:20:33.920" v="3192" actId="255"/>
          <ac:spMkLst>
            <pc:docMk/>
            <pc:sldMk cId="0" sldId="399"/>
            <ac:spMk id="8" creationId="{00000000-0000-0000-0000-000000000000}"/>
          </ac:spMkLst>
        </pc:spChg>
        <pc:spChg chg="mod">
          <ac:chgData name="adriana delle donne" userId="bccfde87c812eabf" providerId="LiveId" clId="{63C4EB39-52B5-4101-B6B9-27F9C95430F6}" dt="2026-08-23T23:20:33.920" v="3192" actId="255"/>
          <ac:spMkLst>
            <pc:docMk/>
            <pc:sldMk cId="0" sldId="399"/>
            <ac:spMk id="9" creationId="{00000000-0000-0000-0000-000000000000}"/>
          </ac:spMkLst>
        </pc:spChg>
        <pc:spChg chg="mod">
          <ac:chgData name="adriana delle donne" userId="bccfde87c812eabf" providerId="LiveId" clId="{63C4EB39-52B5-4101-B6B9-27F9C95430F6}" dt="2026-08-23T23:20:53.067" v="3196" actId="1076"/>
          <ac:spMkLst>
            <pc:docMk/>
            <pc:sldMk cId="0" sldId="399"/>
            <ac:spMk id="10" creationId="{00000000-0000-0000-0000-000000000000}"/>
          </ac:spMkLst>
        </pc:spChg>
        <pc:spChg chg="mod">
          <ac:chgData name="adriana delle donne" userId="bccfde87c812eabf" providerId="LiveId" clId="{63C4EB39-52B5-4101-B6B9-27F9C95430F6}" dt="2026-08-23T23:20:33.920" v="3192" actId="255"/>
          <ac:spMkLst>
            <pc:docMk/>
            <pc:sldMk cId="0" sldId="399"/>
            <ac:spMk id="11" creationId="{00000000-0000-0000-0000-000000000000}"/>
          </ac:spMkLst>
        </pc:spChg>
        <pc:spChg chg="add del mod">
          <ac:chgData name="adriana delle donne" userId="bccfde87c812eabf" providerId="LiveId" clId="{63C4EB39-52B5-4101-B6B9-27F9C95430F6}" dt="2026-08-23T23:28:06.767" v="3412" actId="478"/>
          <ac:spMkLst>
            <pc:docMk/>
            <pc:sldMk cId="0" sldId="399"/>
            <ac:spMk id="12" creationId="{00000000-0000-0000-0000-000000000000}"/>
          </ac:spMkLst>
        </pc:spChg>
        <pc:spChg chg="mod">
          <ac:chgData name="adriana delle donne" userId="bccfde87c812eabf" providerId="LiveId" clId="{63C4EB39-52B5-4101-B6B9-27F9C95430F6}" dt="2026-08-23T23:28:15.924" v="3413" actId="1076"/>
          <ac:spMkLst>
            <pc:docMk/>
            <pc:sldMk cId="0" sldId="399"/>
            <ac:spMk id="13" creationId="{00000000-0000-0000-0000-000000000000}"/>
          </ac:spMkLst>
        </pc:spChg>
        <pc:spChg chg="mod">
          <ac:chgData name="adriana delle donne" userId="bccfde87c812eabf" providerId="LiveId" clId="{63C4EB39-52B5-4101-B6B9-27F9C95430F6}" dt="2026-08-23T23:21:05.771" v="3197" actId="255"/>
          <ac:spMkLst>
            <pc:docMk/>
            <pc:sldMk cId="0" sldId="399"/>
            <ac:spMk id="14" creationId="{00000000-0000-0000-0000-000000000000}"/>
          </ac:spMkLst>
        </pc:spChg>
        <pc:spChg chg="mod">
          <ac:chgData name="adriana delle donne" userId="bccfde87c812eabf" providerId="LiveId" clId="{63C4EB39-52B5-4101-B6B9-27F9C95430F6}" dt="2026-08-23T23:27:43.068" v="3407" actId="6549"/>
          <ac:spMkLst>
            <pc:docMk/>
            <pc:sldMk cId="0" sldId="399"/>
            <ac:spMk id="15" creationId="{00000000-0000-0000-0000-000000000000}"/>
          </ac:spMkLst>
        </pc:spChg>
        <pc:spChg chg="mod">
          <ac:chgData name="adriana delle donne" userId="bccfde87c812eabf" providerId="LiveId" clId="{63C4EB39-52B5-4101-B6B9-27F9C95430F6}" dt="2026-08-23T23:27:49.408" v="3408" actId="1076"/>
          <ac:spMkLst>
            <pc:docMk/>
            <pc:sldMk cId="0" sldId="399"/>
            <ac:spMk id="16" creationId="{00000000-0000-0000-0000-000000000000}"/>
          </ac:spMkLst>
        </pc:spChg>
        <pc:spChg chg="mod">
          <ac:chgData name="adriana delle donne" userId="bccfde87c812eabf" providerId="LiveId" clId="{63C4EB39-52B5-4101-B6B9-27F9C95430F6}" dt="2026-08-23T23:27:52.986" v="3409" actId="1076"/>
          <ac:spMkLst>
            <pc:docMk/>
            <pc:sldMk cId="0" sldId="399"/>
            <ac:spMk id="17" creationId="{00000000-0000-0000-0000-000000000000}"/>
          </ac:spMkLst>
        </pc:spChg>
        <pc:spChg chg="mod">
          <ac:chgData name="adriana delle donne" userId="bccfde87c812eabf" providerId="LiveId" clId="{63C4EB39-52B5-4101-B6B9-27F9C95430F6}" dt="2026-08-23T23:17:10.572" v="2945" actId="1076"/>
          <ac:spMkLst>
            <pc:docMk/>
            <pc:sldMk cId="0" sldId="399"/>
            <ac:spMk id="18" creationId="{00000000-0000-0000-0000-000000000000}"/>
          </ac:spMkLst>
        </pc:spChg>
        <pc:spChg chg="mod">
          <ac:chgData name="adriana delle donne" userId="bccfde87c812eabf" providerId="LiveId" clId="{63C4EB39-52B5-4101-B6B9-27F9C95430F6}" dt="2026-08-23T23:17:22.275" v="2946" actId="1076"/>
          <ac:spMkLst>
            <pc:docMk/>
            <pc:sldMk cId="0" sldId="399"/>
            <ac:spMk id="19" creationId="{00000000-0000-0000-0000-000000000000}"/>
          </ac:spMkLst>
        </pc:spChg>
        <pc:spChg chg="mod">
          <ac:chgData name="adriana delle donne" userId="bccfde87c812eabf" providerId="LiveId" clId="{63C4EB39-52B5-4101-B6B9-27F9C95430F6}" dt="2026-08-23T23:17:22.275" v="2946" actId="1076"/>
          <ac:spMkLst>
            <pc:docMk/>
            <pc:sldMk cId="0" sldId="399"/>
            <ac:spMk id="20" creationId="{00000000-0000-0000-0000-000000000000}"/>
          </ac:spMkLst>
        </pc:spChg>
        <pc:spChg chg="mod">
          <ac:chgData name="adriana delle donne" userId="bccfde87c812eabf" providerId="LiveId" clId="{63C4EB39-52B5-4101-B6B9-27F9C95430F6}" dt="2026-08-23T23:34:10.077" v="3478" actId="20577"/>
          <ac:spMkLst>
            <pc:docMk/>
            <pc:sldMk cId="0" sldId="399"/>
            <ac:spMk id="21" creationId="{00000000-0000-0000-0000-000000000000}"/>
          </ac:spMkLst>
        </pc:spChg>
        <pc:spChg chg="mod">
          <ac:chgData name="adriana delle donne" userId="bccfde87c812eabf" providerId="LiveId" clId="{63C4EB39-52B5-4101-B6B9-27F9C95430F6}" dt="2026-08-23T23:17:22.275" v="2946" actId="1076"/>
          <ac:spMkLst>
            <pc:docMk/>
            <pc:sldMk cId="0" sldId="399"/>
            <ac:spMk id="22" creationId="{00000000-0000-0000-0000-000000000000}"/>
          </ac:spMkLst>
        </pc:spChg>
        <pc:spChg chg="mod">
          <ac:chgData name="adriana delle donne" userId="bccfde87c812eabf" providerId="LiveId" clId="{63C4EB39-52B5-4101-B6B9-27F9C95430F6}" dt="2026-08-23T23:34:58.605" v="3572" actId="20577"/>
          <ac:spMkLst>
            <pc:docMk/>
            <pc:sldMk cId="0" sldId="399"/>
            <ac:spMk id="23" creationId="{00000000-0000-0000-0000-000000000000}"/>
          </ac:spMkLst>
        </pc:spChg>
        <pc:spChg chg="mod">
          <ac:chgData name="adriana delle donne" userId="bccfde87c812eabf" providerId="LiveId" clId="{63C4EB39-52B5-4101-B6B9-27F9C95430F6}" dt="2026-08-23T23:15:47.029" v="2933" actId="255"/>
          <ac:spMkLst>
            <pc:docMk/>
            <pc:sldMk cId="0" sldId="399"/>
            <ac:spMk id="24" creationId="{00000000-0000-0000-0000-000000000000}"/>
          </ac:spMkLst>
        </pc:spChg>
        <pc:spChg chg="add">
          <ac:chgData name="adriana delle donne" userId="bccfde87c812eabf" providerId="LiveId" clId="{63C4EB39-52B5-4101-B6B9-27F9C95430F6}" dt="2026-08-23T23:15:16.599" v="2875" actId="22"/>
          <ac:spMkLst>
            <pc:docMk/>
            <pc:sldMk cId="0" sldId="399"/>
            <ac:spMk id="27" creationId="{9D4E6A32-1F67-5C23-4888-56B580CDE808}"/>
          </ac:spMkLst>
        </pc:spChg>
        <pc:spChg chg="add">
          <ac:chgData name="adriana delle donne" userId="bccfde87c812eabf" providerId="LiveId" clId="{63C4EB39-52B5-4101-B6B9-27F9C95430F6}" dt="2026-08-23T23:15:16.599" v="2875" actId="22"/>
          <ac:spMkLst>
            <pc:docMk/>
            <pc:sldMk cId="0" sldId="399"/>
            <ac:spMk id="29" creationId="{DAF5C769-6BD3-46EB-B016-D96CE170726C}"/>
          </ac:spMkLst>
        </pc:spChg>
        <pc:spChg chg="add mod">
          <ac:chgData name="adriana delle donne" userId="bccfde87c812eabf" providerId="LiveId" clId="{63C4EB39-52B5-4101-B6B9-27F9C95430F6}" dt="2026-08-23T23:15:30.406" v="2931" actId="6549"/>
          <ac:spMkLst>
            <pc:docMk/>
            <pc:sldMk cId="0" sldId="399"/>
            <ac:spMk id="31" creationId="{4806EE9C-35C5-77AB-036D-B8A17B61B853}"/>
          </ac:spMkLst>
        </pc:spChg>
      </pc:sldChg>
      <pc:sldChg chg="addSp delSp modSp add mod setBg">
        <pc:chgData name="adriana delle donne" userId="bccfde87c812eabf" providerId="LiveId" clId="{63C4EB39-52B5-4101-B6B9-27F9C95430F6}" dt="2026-08-24T12:00:41.468" v="4439" actId="2711"/>
        <pc:sldMkLst>
          <pc:docMk/>
          <pc:sldMk cId="0" sldId="400"/>
        </pc:sldMkLst>
        <pc:spChg chg="del">
          <ac:chgData name="adriana delle donne" userId="bccfde87c812eabf" providerId="LiveId" clId="{63C4EB39-52B5-4101-B6B9-27F9C95430F6}" dt="2026-08-23T23:40:42.693" v="3580" actId="478"/>
          <ac:spMkLst>
            <pc:docMk/>
            <pc:sldMk cId="0" sldId="400"/>
            <ac:spMk id="3" creationId="{00000000-0000-0000-0000-000000000000}"/>
          </ac:spMkLst>
        </pc:spChg>
        <pc:spChg chg="del">
          <ac:chgData name="adriana delle donne" userId="bccfde87c812eabf" providerId="LiveId" clId="{63C4EB39-52B5-4101-B6B9-27F9C95430F6}" dt="2026-08-23T23:40:40.386" v="3579" actId="478"/>
          <ac:spMkLst>
            <pc:docMk/>
            <pc:sldMk cId="0" sldId="400"/>
            <ac:spMk id="4" creationId="{00000000-0000-0000-0000-000000000000}"/>
          </ac:spMkLst>
        </pc:spChg>
        <pc:spChg chg="mod">
          <ac:chgData name="adriana delle donne" userId="bccfde87c812eabf" providerId="LiveId" clId="{63C4EB39-52B5-4101-B6B9-27F9C95430F6}" dt="2026-08-24T12:00:41.468" v="4439" actId="2711"/>
          <ac:spMkLst>
            <pc:docMk/>
            <pc:sldMk cId="0" sldId="400"/>
            <ac:spMk id="5" creationId="{00000000-0000-0000-0000-000000000000}"/>
          </ac:spMkLst>
        </pc:spChg>
        <pc:spChg chg="mod">
          <ac:chgData name="adriana delle donne" userId="bccfde87c812eabf" providerId="LiveId" clId="{63C4EB39-52B5-4101-B6B9-27F9C95430F6}" dt="2026-08-24T12:00:41.468" v="4439" actId="2711"/>
          <ac:spMkLst>
            <pc:docMk/>
            <pc:sldMk cId="0" sldId="400"/>
            <ac:spMk id="6" creationId="{00000000-0000-0000-0000-000000000000}"/>
          </ac:spMkLst>
        </pc:spChg>
        <pc:spChg chg="mod">
          <ac:chgData name="adriana delle donne" userId="bccfde87c812eabf" providerId="LiveId" clId="{63C4EB39-52B5-4101-B6B9-27F9C95430F6}" dt="2026-08-23T23:55:19.151" v="3956" actId="255"/>
          <ac:spMkLst>
            <pc:docMk/>
            <pc:sldMk cId="0" sldId="400"/>
            <ac:spMk id="7" creationId="{00000000-0000-0000-0000-000000000000}"/>
          </ac:spMkLst>
        </pc:spChg>
        <pc:spChg chg="mod">
          <ac:chgData name="adriana delle donne" userId="bccfde87c812eabf" providerId="LiveId" clId="{63C4EB39-52B5-4101-B6B9-27F9C95430F6}" dt="2026-08-24T12:00:41.468" v="4439" actId="2711"/>
          <ac:spMkLst>
            <pc:docMk/>
            <pc:sldMk cId="0" sldId="400"/>
            <ac:spMk id="8" creationId="{00000000-0000-0000-0000-000000000000}"/>
          </ac:spMkLst>
        </pc:spChg>
        <pc:spChg chg="mod">
          <ac:chgData name="adriana delle donne" userId="bccfde87c812eabf" providerId="LiveId" clId="{63C4EB39-52B5-4101-B6B9-27F9C95430F6}" dt="2026-08-23T23:55:19.151" v="3956" actId="255"/>
          <ac:spMkLst>
            <pc:docMk/>
            <pc:sldMk cId="0" sldId="400"/>
            <ac:spMk id="9" creationId="{00000000-0000-0000-0000-000000000000}"/>
          </ac:spMkLst>
        </pc:spChg>
        <pc:spChg chg="mod">
          <ac:chgData name="adriana delle donne" userId="bccfde87c812eabf" providerId="LiveId" clId="{63C4EB39-52B5-4101-B6B9-27F9C95430F6}" dt="2026-08-23T23:55:19.151" v="3956" actId="255"/>
          <ac:spMkLst>
            <pc:docMk/>
            <pc:sldMk cId="0" sldId="400"/>
            <ac:spMk id="10" creationId="{00000000-0000-0000-0000-000000000000}"/>
          </ac:spMkLst>
        </pc:spChg>
        <pc:spChg chg="mod">
          <ac:chgData name="adriana delle donne" userId="bccfde87c812eabf" providerId="LiveId" clId="{63C4EB39-52B5-4101-B6B9-27F9C95430F6}" dt="2026-08-24T12:00:41.468" v="4439" actId="2711"/>
          <ac:spMkLst>
            <pc:docMk/>
            <pc:sldMk cId="0" sldId="400"/>
            <ac:spMk id="11" creationId="{00000000-0000-0000-0000-000000000000}"/>
          </ac:spMkLst>
        </pc:spChg>
        <pc:spChg chg="add del mod">
          <ac:chgData name="adriana delle donne" userId="bccfde87c812eabf" providerId="LiveId" clId="{63C4EB39-52B5-4101-B6B9-27F9C95430F6}" dt="2026-08-24T12:00:41.468" v="4439" actId="2711"/>
          <ac:spMkLst>
            <pc:docMk/>
            <pc:sldMk cId="0" sldId="400"/>
            <ac:spMk id="12" creationId="{00000000-0000-0000-0000-000000000000}"/>
          </ac:spMkLst>
        </pc:spChg>
        <pc:spChg chg="del mod">
          <ac:chgData name="adriana delle donne" userId="bccfde87c812eabf" providerId="LiveId" clId="{63C4EB39-52B5-4101-B6B9-27F9C95430F6}" dt="2026-08-23T23:47:18.925" v="3804" actId="478"/>
          <ac:spMkLst>
            <pc:docMk/>
            <pc:sldMk cId="0" sldId="400"/>
            <ac:spMk id="13" creationId="{00000000-0000-0000-0000-000000000000}"/>
          </ac:spMkLst>
        </pc:spChg>
        <pc:spChg chg="mod">
          <ac:chgData name="adriana delle donne" userId="bccfde87c812eabf" providerId="LiveId" clId="{63C4EB39-52B5-4101-B6B9-27F9C95430F6}" dt="2026-08-24T12:00:41.468" v="4439" actId="2711"/>
          <ac:spMkLst>
            <pc:docMk/>
            <pc:sldMk cId="0" sldId="400"/>
            <ac:spMk id="14" creationId="{00000000-0000-0000-0000-000000000000}"/>
          </ac:spMkLst>
        </pc:spChg>
        <pc:spChg chg="mod">
          <ac:chgData name="adriana delle donne" userId="bccfde87c812eabf" providerId="LiveId" clId="{63C4EB39-52B5-4101-B6B9-27F9C95430F6}" dt="2026-08-24T12:00:41.468" v="4439" actId="2711"/>
          <ac:spMkLst>
            <pc:docMk/>
            <pc:sldMk cId="0" sldId="400"/>
            <ac:spMk id="15" creationId="{00000000-0000-0000-0000-000000000000}"/>
          </ac:spMkLst>
        </pc:spChg>
        <pc:spChg chg="mod">
          <ac:chgData name="adriana delle donne" userId="bccfde87c812eabf" providerId="LiveId" clId="{63C4EB39-52B5-4101-B6B9-27F9C95430F6}" dt="2026-08-23T23:55:32.488" v="3959" actId="14100"/>
          <ac:spMkLst>
            <pc:docMk/>
            <pc:sldMk cId="0" sldId="400"/>
            <ac:spMk id="16" creationId="{00000000-0000-0000-0000-000000000000}"/>
          </ac:spMkLst>
        </pc:spChg>
        <pc:spChg chg="mod">
          <ac:chgData name="adriana delle donne" userId="bccfde87c812eabf" providerId="LiveId" clId="{63C4EB39-52B5-4101-B6B9-27F9C95430F6}" dt="2026-08-24T12:00:41.468" v="4439" actId="2711"/>
          <ac:spMkLst>
            <pc:docMk/>
            <pc:sldMk cId="0" sldId="400"/>
            <ac:spMk id="17" creationId="{00000000-0000-0000-0000-000000000000}"/>
          </ac:spMkLst>
        </pc:spChg>
        <pc:spChg chg="del">
          <ac:chgData name="adriana delle donne" userId="bccfde87c812eabf" providerId="LiveId" clId="{63C4EB39-52B5-4101-B6B9-27F9C95430F6}" dt="2026-08-23T23:41:35.751" v="3634" actId="478"/>
          <ac:spMkLst>
            <pc:docMk/>
            <pc:sldMk cId="0" sldId="400"/>
            <ac:spMk id="18" creationId="{00000000-0000-0000-0000-000000000000}"/>
          </ac:spMkLst>
        </pc:spChg>
        <pc:spChg chg="del">
          <ac:chgData name="adriana delle donne" userId="bccfde87c812eabf" providerId="LiveId" clId="{63C4EB39-52B5-4101-B6B9-27F9C95430F6}" dt="2026-08-23T23:41:40.425" v="3635" actId="478"/>
          <ac:spMkLst>
            <pc:docMk/>
            <pc:sldMk cId="0" sldId="400"/>
            <ac:spMk id="19" creationId="{00000000-0000-0000-0000-000000000000}"/>
          </ac:spMkLst>
        </pc:spChg>
        <pc:spChg chg="add">
          <ac:chgData name="adriana delle donne" userId="bccfde87c812eabf" providerId="LiveId" clId="{63C4EB39-52B5-4101-B6B9-27F9C95430F6}" dt="2026-08-23T23:41:09.858" v="3581" actId="22"/>
          <ac:spMkLst>
            <pc:docMk/>
            <pc:sldMk cId="0" sldId="400"/>
            <ac:spMk id="21" creationId="{F5F240DA-1EDB-0987-075F-C6536195B061}"/>
          </ac:spMkLst>
        </pc:spChg>
        <pc:spChg chg="add mod">
          <ac:chgData name="adriana delle donne" userId="bccfde87c812eabf" providerId="LiveId" clId="{63C4EB39-52B5-4101-B6B9-27F9C95430F6}" dt="2026-08-24T12:00:41.468" v="4439" actId="2711"/>
          <ac:spMkLst>
            <pc:docMk/>
            <pc:sldMk cId="0" sldId="400"/>
            <ac:spMk id="23" creationId="{13D6A624-6AF0-C588-46E0-5786BAE180F3}"/>
          </ac:spMkLst>
        </pc:spChg>
        <pc:spChg chg="add mod">
          <ac:chgData name="adriana delle donne" userId="bccfde87c812eabf" providerId="LiveId" clId="{63C4EB39-52B5-4101-B6B9-27F9C95430F6}" dt="2026-08-24T12:00:41.468" v="4439" actId="2711"/>
          <ac:spMkLst>
            <pc:docMk/>
            <pc:sldMk cId="0" sldId="400"/>
            <ac:spMk id="25" creationId="{8A512124-69E8-8DF4-E134-4DAE273D1DF5}"/>
          </ac:spMkLst>
        </pc:spChg>
        <pc:spChg chg="add del">
          <ac:chgData name="adriana delle donne" userId="bccfde87c812eabf" providerId="LiveId" clId="{63C4EB39-52B5-4101-B6B9-27F9C95430F6}" dt="2026-08-24T00:00:12.170" v="3985" actId="22"/>
          <ac:spMkLst>
            <pc:docMk/>
            <pc:sldMk cId="0" sldId="400"/>
            <ac:spMk id="27" creationId="{A31E70D1-789F-0C6F-7602-70192F371CC9}"/>
          </ac:spMkLst>
        </pc:spChg>
        <pc:spChg chg="add del">
          <ac:chgData name="adriana delle donne" userId="bccfde87c812eabf" providerId="LiveId" clId="{63C4EB39-52B5-4101-B6B9-27F9C95430F6}" dt="2026-08-24T00:00:12.170" v="3985" actId="22"/>
          <ac:spMkLst>
            <pc:docMk/>
            <pc:sldMk cId="0" sldId="400"/>
            <ac:spMk id="29" creationId="{ECC791C1-AFD9-EF44-13F9-5D32D6B5B35A}"/>
          </ac:spMkLst>
        </pc:spChg>
        <pc:spChg chg="add del">
          <ac:chgData name="adriana delle donne" userId="bccfde87c812eabf" providerId="LiveId" clId="{63C4EB39-52B5-4101-B6B9-27F9C95430F6}" dt="2026-08-24T00:00:12.170" v="3985" actId="22"/>
          <ac:spMkLst>
            <pc:docMk/>
            <pc:sldMk cId="0" sldId="400"/>
            <ac:spMk id="31" creationId="{032CF095-19C4-A572-FED8-BAAC0EB7958D}"/>
          </ac:spMkLst>
        </pc:spChg>
        <pc:spChg chg="add del">
          <ac:chgData name="adriana delle donne" userId="bccfde87c812eabf" providerId="LiveId" clId="{63C4EB39-52B5-4101-B6B9-27F9C95430F6}" dt="2026-08-24T00:00:12.170" v="3985" actId="22"/>
          <ac:spMkLst>
            <pc:docMk/>
            <pc:sldMk cId="0" sldId="400"/>
            <ac:spMk id="33" creationId="{050DE061-6C98-CF15-1805-27248C10D089}"/>
          </ac:spMkLst>
        </pc:spChg>
        <pc:spChg chg="add del">
          <ac:chgData name="adriana delle donne" userId="bccfde87c812eabf" providerId="LiveId" clId="{63C4EB39-52B5-4101-B6B9-27F9C95430F6}" dt="2026-08-24T00:00:12.170" v="3985" actId="22"/>
          <ac:spMkLst>
            <pc:docMk/>
            <pc:sldMk cId="0" sldId="400"/>
            <ac:spMk id="35" creationId="{221A7941-33BB-DD3F-4DF3-BAD5A21C5AD8}"/>
          </ac:spMkLst>
        </pc:spChg>
        <pc:spChg chg="add del">
          <ac:chgData name="adriana delle donne" userId="bccfde87c812eabf" providerId="LiveId" clId="{63C4EB39-52B5-4101-B6B9-27F9C95430F6}" dt="2026-08-24T00:00:12.170" v="3985" actId="22"/>
          <ac:spMkLst>
            <pc:docMk/>
            <pc:sldMk cId="0" sldId="400"/>
            <ac:spMk id="37" creationId="{5790D68B-8FAB-E9EC-7078-CF700390C759}"/>
          </ac:spMkLst>
        </pc:spChg>
        <pc:spChg chg="add del">
          <ac:chgData name="adriana delle donne" userId="bccfde87c812eabf" providerId="LiveId" clId="{63C4EB39-52B5-4101-B6B9-27F9C95430F6}" dt="2026-08-24T00:00:12.170" v="3985" actId="22"/>
          <ac:spMkLst>
            <pc:docMk/>
            <pc:sldMk cId="0" sldId="400"/>
            <ac:spMk id="39" creationId="{62E7287E-9C03-1780-83B2-AEBBF81C8846}"/>
          </ac:spMkLst>
        </pc:spChg>
        <pc:spChg chg="add del">
          <ac:chgData name="adriana delle donne" userId="bccfde87c812eabf" providerId="LiveId" clId="{63C4EB39-52B5-4101-B6B9-27F9C95430F6}" dt="2026-08-24T00:00:12.170" v="3985" actId="22"/>
          <ac:spMkLst>
            <pc:docMk/>
            <pc:sldMk cId="0" sldId="400"/>
            <ac:spMk id="41" creationId="{667E492D-01B8-6746-7889-463BFB0DA26B}"/>
          </ac:spMkLst>
        </pc:spChg>
        <pc:spChg chg="add del">
          <ac:chgData name="adriana delle donne" userId="bccfde87c812eabf" providerId="LiveId" clId="{63C4EB39-52B5-4101-B6B9-27F9C95430F6}" dt="2026-08-24T00:00:12.170" v="3985" actId="22"/>
          <ac:spMkLst>
            <pc:docMk/>
            <pc:sldMk cId="0" sldId="400"/>
            <ac:spMk id="43" creationId="{C2F6E037-68CF-0AA8-B820-FA41B65797B1}"/>
          </ac:spMkLst>
        </pc:spChg>
        <pc:spChg chg="add del">
          <ac:chgData name="adriana delle donne" userId="bccfde87c812eabf" providerId="LiveId" clId="{63C4EB39-52B5-4101-B6B9-27F9C95430F6}" dt="2026-08-24T00:00:12.170" v="3985" actId="22"/>
          <ac:spMkLst>
            <pc:docMk/>
            <pc:sldMk cId="0" sldId="400"/>
            <ac:spMk id="45" creationId="{BDB6331C-1BF4-9D42-8BB9-92CAB2779109}"/>
          </ac:spMkLst>
        </pc:spChg>
      </pc:sldChg>
      <pc:sldChg chg="delSp modSp add del mod setBg">
        <pc:chgData name="adriana delle donne" userId="bccfde87c812eabf" providerId="LiveId" clId="{63C4EB39-52B5-4101-B6B9-27F9C95430F6}" dt="2026-08-23T23:57:15.797" v="3970" actId="2696"/>
        <pc:sldMkLst>
          <pc:docMk/>
          <pc:sldMk cId="0" sldId="401"/>
        </pc:sldMkLst>
        <pc:spChg chg="mod">
          <ac:chgData name="adriana delle donne" userId="bccfde87c812eabf" providerId="LiveId" clId="{63C4EB39-52B5-4101-B6B9-27F9C95430F6}" dt="2026-08-23T23:56:03.745" v="3963" actId="2711"/>
          <ac:spMkLst>
            <pc:docMk/>
            <pc:sldMk cId="0" sldId="401"/>
            <ac:spMk id="2" creationId="{00000000-0000-0000-0000-000000000000}"/>
          </ac:spMkLst>
        </pc:spChg>
        <pc:spChg chg="del">
          <ac:chgData name="adriana delle donne" userId="bccfde87c812eabf" providerId="LiveId" clId="{63C4EB39-52B5-4101-B6B9-27F9C95430F6}" dt="2026-08-23T23:55:55.277" v="3962" actId="478"/>
          <ac:spMkLst>
            <pc:docMk/>
            <pc:sldMk cId="0" sldId="401"/>
            <ac:spMk id="3" creationId="{00000000-0000-0000-0000-000000000000}"/>
          </ac:spMkLst>
        </pc:spChg>
        <pc:spChg chg="del">
          <ac:chgData name="adriana delle donne" userId="bccfde87c812eabf" providerId="LiveId" clId="{63C4EB39-52B5-4101-B6B9-27F9C95430F6}" dt="2026-08-23T23:55:53.047" v="3961" actId="478"/>
          <ac:spMkLst>
            <pc:docMk/>
            <pc:sldMk cId="0" sldId="401"/>
            <ac:spMk id="4" creationId="{00000000-0000-0000-0000-000000000000}"/>
          </ac:spMkLst>
        </pc:spChg>
        <pc:spChg chg="mod">
          <ac:chgData name="adriana delle donne" userId="bccfde87c812eabf" providerId="LiveId" clId="{63C4EB39-52B5-4101-B6B9-27F9C95430F6}" dt="2026-08-23T23:56:19.594" v="3964" actId="1076"/>
          <ac:spMkLst>
            <pc:docMk/>
            <pc:sldMk cId="0" sldId="401"/>
            <ac:spMk id="5" creationId="{00000000-0000-0000-0000-000000000000}"/>
          </ac:spMkLst>
        </pc:spChg>
        <pc:spChg chg="mod">
          <ac:chgData name="adriana delle donne" userId="bccfde87c812eabf" providerId="LiveId" clId="{63C4EB39-52B5-4101-B6B9-27F9C95430F6}" dt="2026-08-23T23:56:03.745" v="3963" actId="2711"/>
          <ac:spMkLst>
            <pc:docMk/>
            <pc:sldMk cId="0" sldId="401"/>
            <ac:spMk id="7" creationId="{00000000-0000-0000-0000-000000000000}"/>
          </ac:spMkLst>
        </pc:spChg>
        <pc:spChg chg="mod">
          <ac:chgData name="adriana delle donne" userId="bccfde87c812eabf" providerId="LiveId" clId="{63C4EB39-52B5-4101-B6B9-27F9C95430F6}" dt="2026-08-23T23:56:03.745" v="3963" actId="2711"/>
          <ac:spMkLst>
            <pc:docMk/>
            <pc:sldMk cId="0" sldId="401"/>
            <ac:spMk id="8" creationId="{00000000-0000-0000-0000-000000000000}"/>
          </ac:spMkLst>
        </pc:spChg>
        <pc:graphicFrameChg chg="modGraphic">
          <ac:chgData name="adriana delle donne" userId="bccfde87c812eabf" providerId="LiveId" clId="{63C4EB39-52B5-4101-B6B9-27F9C95430F6}" dt="2026-08-23T23:56:54.877" v="3969" actId="255"/>
          <ac:graphicFrameMkLst>
            <pc:docMk/>
            <pc:sldMk cId="0" sldId="401"/>
            <ac:graphicFrameMk id="6" creationId="{00000000-0000-0000-0000-000000000000}"/>
          </ac:graphicFrameMkLst>
        </pc:graphicFrameChg>
      </pc:sldChg>
      <pc:sldChg chg="delSp modSp add del mod setBg">
        <pc:chgData name="adriana delle donne" userId="bccfde87c812eabf" providerId="LiveId" clId="{63C4EB39-52B5-4101-B6B9-27F9C95430F6}" dt="2026-08-24T00:00:00.260" v="3983" actId="2696"/>
        <pc:sldMkLst>
          <pc:docMk/>
          <pc:sldMk cId="0" sldId="402"/>
        </pc:sldMkLst>
        <pc:spChg chg="del">
          <ac:chgData name="adriana delle donne" userId="bccfde87c812eabf" providerId="LiveId" clId="{63C4EB39-52B5-4101-B6B9-27F9C95430F6}" dt="2026-08-23T23:57:26.572" v="3972" actId="478"/>
          <ac:spMkLst>
            <pc:docMk/>
            <pc:sldMk cId="0" sldId="402"/>
            <ac:spMk id="3" creationId="{00000000-0000-0000-0000-000000000000}"/>
          </ac:spMkLst>
        </pc:spChg>
        <pc:spChg chg="del">
          <ac:chgData name="adriana delle donne" userId="bccfde87c812eabf" providerId="LiveId" clId="{63C4EB39-52B5-4101-B6B9-27F9C95430F6}" dt="2026-08-23T23:57:23.848" v="3971" actId="478"/>
          <ac:spMkLst>
            <pc:docMk/>
            <pc:sldMk cId="0" sldId="402"/>
            <ac:spMk id="4" creationId="{00000000-0000-0000-0000-000000000000}"/>
          </ac:spMkLst>
        </pc:spChg>
        <pc:spChg chg="mod">
          <ac:chgData name="adriana delle donne" userId="bccfde87c812eabf" providerId="LiveId" clId="{63C4EB39-52B5-4101-B6B9-27F9C95430F6}" dt="2026-08-23T23:57:40.413" v="3974" actId="1076"/>
          <ac:spMkLst>
            <pc:docMk/>
            <pc:sldMk cId="0" sldId="402"/>
            <ac:spMk id="5" creationId="{00000000-0000-0000-0000-000000000000}"/>
          </ac:spMkLst>
        </pc:spChg>
        <pc:spChg chg="mod">
          <ac:chgData name="adriana delle donne" userId="bccfde87c812eabf" providerId="LiveId" clId="{63C4EB39-52B5-4101-B6B9-27F9C95430F6}" dt="2026-08-23T23:57:57.811" v="3976" actId="255"/>
          <ac:spMkLst>
            <pc:docMk/>
            <pc:sldMk cId="0" sldId="402"/>
            <ac:spMk id="6" creationId="{00000000-0000-0000-0000-000000000000}"/>
          </ac:spMkLst>
        </pc:spChg>
        <pc:spChg chg="mod">
          <ac:chgData name="adriana delle donne" userId="bccfde87c812eabf" providerId="LiveId" clId="{63C4EB39-52B5-4101-B6B9-27F9C95430F6}" dt="2026-08-23T23:57:57.811" v="3976" actId="255"/>
          <ac:spMkLst>
            <pc:docMk/>
            <pc:sldMk cId="0" sldId="402"/>
            <ac:spMk id="7" creationId="{00000000-0000-0000-0000-000000000000}"/>
          </ac:spMkLst>
        </pc:spChg>
        <pc:spChg chg="mod">
          <ac:chgData name="adriana delle donne" userId="bccfde87c812eabf" providerId="LiveId" clId="{63C4EB39-52B5-4101-B6B9-27F9C95430F6}" dt="2026-08-23T23:59:11.661" v="3979" actId="1076"/>
          <ac:spMkLst>
            <pc:docMk/>
            <pc:sldMk cId="0" sldId="402"/>
            <ac:spMk id="10" creationId="{00000000-0000-0000-0000-000000000000}"/>
          </ac:spMkLst>
        </pc:spChg>
        <pc:spChg chg="mod">
          <ac:chgData name="adriana delle donne" userId="bccfde87c812eabf" providerId="LiveId" clId="{63C4EB39-52B5-4101-B6B9-27F9C95430F6}" dt="2026-08-23T23:57:57.811" v="3976" actId="255"/>
          <ac:spMkLst>
            <pc:docMk/>
            <pc:sldMk cId="0" sldId="402"/>
            <ac:spMk id="14" creationId="{00000000-0000-0000-0000-000000000000}"/>
          </ac:spMkLst>
        </pc:spChg>
        <pc:spChg chg="mod">
          <ac:chgData name="adriana delle donne" userId="bccfde87c812eabf" providerId="LiveId" clId="{63C4EB39-52B5-4101-B6B9-27F9C95430F6}" dt="2026-08-23T23:57:57.811" v="3976" actId="255"/>
          <ac:spMkLst>
            <pc:docMk/>
            <pc:sldMk cId="0" sldId="402"/>
            <ac:spMk id="15" creationId="{00000000-0000-0000-0000-000000000000}"/>
          </ac:spMkLst>
        </pc:spChg>
        <pc:spChg chg="mod">
          <ac:chgData name="adriana delle donne" userId="bccfde87c812eabf" providerId="LiveId" clId="{63C4EB39-52B5-4101-B6B9-27F9C95430F6}" dt="2026-08-23T23:57:57.811" v="3976" actId="255"/>
          <ac:spMkLst>
            <pc:docMk/>
            <pc:sldMk cId="0" sldId="402"/>
            <ac:spMk id="17" creationId="{00000000-0000-0000-0000-000000000000}"/>
          </ac:spMkLst>
        </pc:spChg>
        <pc:spChg chg="del mod">
          <ac:chgData name="adriana delle donne" userId="bccfde87c812eabf" providerId="LiveId" clId="{63C4EB39-52B5-4101-B6B9-27F9C95430F6}" dt="2026-08-23T23:59:54.891" v="3982" actId="21"/>
          <ac:spMkLst>
            <pc:docMk/>
            <pc:sldMk cId="0" sldId="402"/>
            <ac:spMk id="21" creationId="{00000000-0000-0000-0000-000000000000}"/>
          </ac:spMkLst>
        </pc:spChg>
        <pc:spChg chg="del mod">
          <ac:chgData name="adriana delle donne" userId="bccfde87c812eabf" providerId="LiveId" clId="{63C4EB39-52B5-4101-B6B9-27F9C95430F6}" dt="2026-08-23T23:59:54.891" v="3982" actId="21"/>
          <ac:spMkLst>
            <pc:docMk/>
            <pc:sldMk cId="0" sldId="402"/>
            <ac:spMk id="22" creationId="{00000000-0000-0000-0000-000000000000}"/>
          </ac:spMkLst>
        </pc:spChg>
        <pc:spChg chg="del mod">
          <ac:chgData name="adriana delle donne" userId="bccfde87c812eabf" providerId="LiveId" clId="{63C4EB39-52B5-4101-B6B9-27F9C95430F6}" dt="2026-08-23T23:59:54.891" v="3982" actId="21"/>
          <ac:spMkLst>
            <pc:docMk/>
            <pc:sldMk cId="0" sldId="402"/>
            <ac:spMk id="23" creationId="{00000000-0000-0000-0000-000000000000}"/>
          </ac:spMkLst>
        </pc:spChg>
        <pc:spChg chg="del mod">
          <ac:chgData name="adriana delle donne" userId="bccfde87c812eabf" providerId="LiveId" clId="{63C4EB39-52B5-4101-B6B9-27F9C95430F6}" dt="2026-08-23T23:59:54.891" v="3982" actId="21"/>
          <ac:spMkLst>
            <pc:docMk/>
            <pc:sldMk cId="0" sldId="402"/>
            <ac:spMk id="24" creationId="{00000000-0000-0000-0000-000000000000}"/>
          </ac:spMkLst>
        </pc:spChg>
        <pc:spChg chg="del mod">
          <ac:chgData name="adriana delle donne" userId="bccfde87c812eabf" providerId="LiveId" clId="{63C4EB39-52B5-4101-B6B9-27F9C95430F6}" dt="2026-08-23T23:59:54.891" v="3982" actId="21"/>
          <ac:spMkLst>
            <pc:docMk/>
            <pc:sldMk cId="0" sldId="402"/>
            <ac:spMk id="25" creationId="{00000000-0000-0000-0000-000000000000}"/>
          </ac:spMkLst>
        </pc:spChg>
        <pc:spChg chg="del mod">
          <ac:chgData name="adriana delle donne" userId="bccfde87c812eabf" providerId="LiveId" clId="{63C4EB39-52B5-4101-B6B9-27F9C95430F6}" dt="2026-08-23T23:59:54.891" v="3982" actId="21"/>
          <ac:spMkLst>
            <pc:docMk/>
            <pc:sldMk cId="0" sldId="402"/>
            <ac:spMk id="26" creationId="{00000000-0000-0000-0000-000000000000}"/>
          </ac:spMkLst>
        </pc:spChg>
        <pc:spChg chg="del mod">
          <ac:chgData name="adriana delle donne" userId="bccfde87c812eabf" providerId="LiveId" clId="{63C4EB39-52B5-4101-B6B9-27F9C95430F6}" dt="2026-08-23T23:59:54.891" v="3982" actId="21"/>
          <ac:spMkLst>
            <pc:docMk/>
            <pc:sldMk cId="0" sldId="402"/>
            <ac:spMk id="27" creationId="{00000000-0000-0000-0000-000000000000}"/>
          </ac:spMkLst>
        </pc:spChg>
        <pc:spChg chg="del mod">
          <ac:chgData name="adriana delle donne" userId="bccfde87c812eabf" providerId="LiveId" clId="{63C4EB39-52B5-4101-B6B9-27F9C95430F6}" dt="2026-08-23T23:59:54.891" v="3982" actId="21"/>
          <ac:spMkLst>
            <pc:docMk/>
            <pc:sldMk cId="0" sldId="402"/>
            <ac:spMk id="28" creationId="{00000000-0000-0000-0000-000000000000}"/>
          </ac:spMkLst>
        </pc:spChg>
        <pc:spChg chg="del mod">
          <ac:chgData name="adriana delle donne" userId="bccfde87c812eabf" providerId="LiveId" clId="{63C4EB39-52B5-4101-B6B9-27F9C95430F6}" dt="2026-08-23T23:59:54.891" v="3982" actId="21"/>
          <ac:spMkLst>
            <pc:docMk/>
            <pc:sldMk cId="0" sldId="402"/>
            <ac:spMk id="29" creationId="{00000000-0000-0000-0000-000000000000}"/>
          </ac:spMkLst>
        </pc:spChg>
        <pc:spChg chg="del mod">
          <ac:chgData name="adriana delle donne" userId="bccfde87c812eabf" providerId="LiveId" clId="{63C4EB39-52B5-4101-B6B9-27F9C95430F6}" dt="2026-08-23T23:59:54.891" v="3982" actId="21"/>
          <ac:spMkLst>
            <pc:docMk/>
            <pc:sldMk cId="0" sldId="402"/>
            <ac:spMk id="30" creationId="{00000000-0000-0000-0000-000000000000}"/>
          </ac:spMkLst>
        </pc:spChg>
      </pc:sldChg>
      <pc:sldChg chg="modSp add mod">
        <pc:chgData name="adriana delle donne" userId="bccfde87c812eabf" providerId="LiveId" clId="{63C4EB39-52B5-4101-B6B9-27F9C95430F6}" dt="2026-08-24T11:44:57.741" v="4382" actId="255"/>
        <pc:sldMkLst>
          <pc:docMk/>
          <pc:sldMk cId="1882348924" sldId="403"/>
        </pc:sldMkLst>
        <pc:spChg chg="mod">
          <ac:chgData name="adriana delle donne" userId="bccfde87c812eabf" providerId="LiveId" clId="{63C4EB39-52B5-4101-B6B9-27F9C95430F6}" dt="2026-08-24T11:44:57.741" v="4382" actId="255"/>
          <ac:spMkLst>
            <pc:docMk/>
            <pc:sldMk cId="1882348924" sldId="403"/>
            <ac:spMk id="5" creationId="{7917F168-9D54-B493-A3E1-CE29EF813FDD}"/>
          </ac:spMkLst>
        </pc:spChg>
      </pc:sldChg>
      <pc:sldChg chg="modSp add del mod">
        <pc:chgData name="adriana delle donne" userId="bccfde87c812eabf" providerId="LiveId" clId="{63C4EB39-52B5-4101-B6B9-27F9C95430F6}" dt="2026-08-23T21:09:30.248" v="832" actId="2696"/>
        <pc:sldMkLst>
          <pc:docMk/>
          <pc:sldMk cId="1440074135" sldId="404"/>
        </pc:sldMkLst>
        <pc:spChg chg="mod">
          <ac:chgData name="adriana delle donne" userId="bccfde87c812eabf" providerId="LiveId" clId="{63C4EB39-52B5-4101-B6B9-27F9C95430F6}" dt="2026-08-23T21:00:27.450" v="486" actId="6549"/>
          <ac:spMkLst>
            <pc:docMk/>
            <pc:sldMk cId="1440074135" sldId="404"/>
            <ac:spMk id="5" creationId="{3C071E83-3BCD-AFB4-CD33-5D601F70ACDD}"/>
          </ac:spMkLst>
        </pc:spChg>
      </pc:sldChg>
      <pc:sldChg chg="addSp delSp modSp add mod">
        <pc:chgData name="adriana delle donne" userId="bccfde87c812eabf" providerId="LiveId" clId="{63C4EB39-52B5-4101-B6B9-27F9C95430F6}" dt="2026-08-24T11:45:22.295" v="4383" actId="2711"/>
        <pc:sldMkLst>
          <pc:docMk/>
          <pc:sldMk cId="730399354" sldId="405"/>
        </pc:sldMkLst>
        <pc:spChg chg="mod">
          <ac:chgData name="adriana delle donne" userId="bccfde87c812eabf" providerId="LiveId" clId="{63C4EB39-52B5-4101-B6B9-27F9C95430F6}" dt="2026-08-24T11:45:22.295" v="4383" actId="2711"/>
          <ac:spMkLst>
            <pc:docMk/>
            <pc:sldMk cId="730399354" sldId="405"/>
            <ac:spMk id="3" creationId="{12790519-D29D-C421-8BFA-0F9BE39A9E69}"/>
          </ac:spMkLst>
        </pc:spChg>
        <pc:spChg chg="del mod">
          <ac:chgData name="adriana delle donne" userId="bccfde87c812eabf" providerId="LiveId" clId="{63C4EB39-52B5-4101-B6B9-27F9C95430F6}" dt="2026-08-23T21:09:35.178" v="833" actId="478"/>
          <ac:spMkLst>
            <pc:docMk/>
            <pc:sldMk cId="730399354" sldId="405"/>
            <ac:spMk id="5" creationId="{AE538E8E-0ACB-2F1D-DD31-16C8EB9DE7C4}"/>
          </ac:spMkLst>
        </pc:spChg>
        <pc:spChg chg="mod">
          <ac:chgData name="adriana delle donne" userId="bccfde87c812eabf" providerId="LiveId" clId="{63C4EB39-52B5-4101-B6B9-27F9C95430F6}" dt="2026-08-24T11:45:22.295" v="4383" actId="2711"/>
          <ac:spMkLst>
            <pc:docMk/>
            <pc:sldMk cId="730399354" sldId="405"/>
            <ac:spMk id="7" creationId="{F35E7F6C-975F-17BA-2227-359ED33104CD}"/>
          </ac:spMkLst>
        </pc:spChg>
        <pc:spChg chg="mod">
          <ac:chgData name="adriana delle donne" userId="bccfde87c812eabf" providerId="LiveId" clId="{63C4EB39-52B5-4101-B6B9-27F9C95430F6}" dt="2026-08-24T11:45:22.295" v="4383" actId="2711"/>
          <ac:spMkLst>
            <pc:docMk/>
            <pc:sldMk cId="730399354" sldId="405"/>
            <ac:spMk id="9" creationId="{4142DC74-CF39-5ABC-E096-B39AF0664A56}"/>
          </ac:spMkLst>
        </pc:spChg>
        <pc:spChg chg="add mod">
          <ac:chgData name="adriana delle donne" userId="bccfde87c812eabf" providerId="LiveId" clId="{63C4EB39-52B5-4101-B6B9-27F9C95430F6}" dt="2026-08-23T21:10:56.185" v="839" actId="255"/>
          <ac:spMkLst>
            <pc:docMk/>
            <pc:sldMk cId="730399354" sldId="405"/>
            <ac:spMk id="11" creationId="{C257DB68-ABC9-AC8C-DF55-AEF0AC3C1BCC}"/>
          </ac:spMkLst>
        </pc:spChg>
        <pc:spChg chg="add mod">
          <ac:chgData name="adriana delle donne" userId="bccfde87c812eabf" providerId="LiveId" clId="{63C4EB39-52B5-4101-B6B9-27F9C95430F6}" dt="2026-08-23T21:10:56.185" v="839" actId="255"/>
          <ac:spMkLst>
            <pc:docMk/>
            <pc:sldMk cId="730399354" sldId="405"/>
            <ac:spMk id="13" creationId="{FAAC9492-6969-3502-34C7-A609C4F2C628}"/>
          </ac:spMkLst>
        </pc:spChg>
        <pc:spChg chg="mod">
          <ac:chgData name="adriana delle donne" userId="bccfde87c812eabf" providerId="LiveId" clId="{63C4EB39-52B5-4101-B6B9-27F9C95430F6}" dt="2026-08-23T21:10:56.185" v="839" actId="255"/>
          <ac:spMkLst>
            <pc:docMk/>
            <pc:sldMk cId="730399354" sldId="405"/>
            <ac:spMk id="17" creationId="{0E8C5328-99E6-117A-40D5-D6A8A988BB1D}"/>
          </ac:spMkLst>
        </pc:spChg>
        <pc:spChg chg="mod">
          <ac:chgData name="adriana delle donne" userId="bccfde87c812eabf" providerId="LiveId" clId="{63C4EB39-52B5-4101-B6B9-27F9C95430F6}" dt="2026-08-24T11:45:22.295" v="4383" actId="2711"/>
          <ac:spMkLst>
            <pc:docMk/>
            <pc:sldMk cId="730399354" sldId="405"/>
            <ac:spMk id="19" creationId="{AB5F73B4-7190-D296-D6D2-6CAB656EDDCA}"/>
          </ac:spMkLst>
        </pc:spChg>
        <pc:spChg chg="add mod">
          <ac:chgData name="adriana delle donne" userId="bccfde87c812eabf" providerId="LiveId" clId="{63C4EB39-52B5-4101-B6B9-27F9C95430F6}" dt="2026-08-24T11:45:22.295" v="4383" actId="2711"/>
          <ac:spMkLst>
            <pc:docMk/>
            <pc:sldMk cId="730399354" sldId="405"/>
            <ac:spMk id="21" creationId="{B06E09F1-36C9-AC64-C182-2981BE62C4F7}"/>
          </ac:spMkLst>
        </pc:spChg>
        <pc:spChg chg="mod">
          <ac:chgData name="adriana delle donne" userId="bccfde87c812eabf" providerId="LiveId" clId="{63C4EB39-52B5-4101-B6B9-27F9C95430F6}" dt="2026-08-24T11:45:22.295" v="4383" actId="2711"/>
          <ac:spMkLst>
            <pc:docMk/>
            <pc:sldMk cId="730399354" sldId="405"/>
            <ac:spMk id="25" creationId="{2A941697-0BE8-FC2A-D7B1-7885ABE5CDF9}"/>
          </ac:spMkLst>
        </pc:spChg>
        <pc:spChg chg="mod">
          <ac:chgData name="adriana delle donne" userId="bccfde87c812eabf" providerId="LiveId" clId="{63C4EB39-52B5-4101-B6B9-27F9C95430F6}" dt="2026-08-24T11:45:22.295" v="4383" actId="2711"/>
          <ac:spMkLst>
            <pc:docMk/>
            <pc:sldMk cId="730399354" sldId="405"/>
            <ac:spMk id="27" creationId="{869A35BB-B83D-ED99-EBEA-25A1178E852A}"/>
          </ac:spMkLst>
        </pc:spChg>
        <pc:spChg chg="add mod">
          <ac:chgData name="adriana delle donne" userId="bccfde87c812eabf" providerId="LiveId" clId="{63C4EB39-52B5-4101-B6B9-27F9C95430F6}" dt="2026-08-23T21:14:18.165" v="1080" actId="6549"/>
          <ac:spMkLst>
            <pc:docMk/>
            <pc:sldMk cId="730399354" sldId="405"/>
            <ac:spMk id="29" creationId="{BCA339F2-2CE0-036B-53C8-B9053F50A916}"/>
          </ac:spMkLst>
        </pc:spChg>
        <pc:spChg chg="add mod">
          <ac:chgData name="adriana delle donne" userId="bccfde87c812eabf" providerId="LiveId" clId="{63C4EB39-52B5-4101-B6B9-27F9C95430F6}" dt="2026-08-23T21:10:56.185" v="839" actId="255"/>
          <ac:spMkLst>
            <pc:docMk/>
            <pc:sldMk cId="730399354" sldId="405"/>
            <ac:spMk id="31" creationId="{FB131DFE-FAB3-1F23-1BC1-F3F29271C7A7}"/>
          </ac:spMkLst>
        </pc:spChg>
        <pc:spChg chg="add mod">
          <ac:chgData name="adriana delle donne" userId="bccfde87c812eabf" providerId="LiveId" clId="{63C4EB39-52B5-4101-B6B9-27F9C95430F6}" dt="2026-08-23T21:10:56.185" v="839" actId="255"/>
          <ac:spMkLst>
            <pc:docMk/>
            <pc:sldMk cId="730399354" sldId="405"/>
            <ac:spMk id="35" creationId="{9ACCF373-85EA-739F-973C-1A340B4F9D5C}"/>
          </ac:spMkLst>
        </pc:spChg>
        <pc:spChg chg="add mod">
          <ac:chgData name="adriana delle donne" userId="bccfde87c812eabf" providerId="LiveId" clId="{63C4EB39-52B5-4101-B6B9-27F9C95430F6}" dt="2026-08-24T11:45:22.295" v="4383" actId="2711"/>
          <ac:spMkLst>
            <pc:docMk/>
            <pc:sldMk cId="730399354" sldId="405"/>
            <ac:spMk id="37" creationId="{64237405-B6D2-F422-F9EB-2F985916B504}"/>
          </ac:spMkLst>
        </pc:spChg>
        <pc:spChg chg="del mod">
          <ac:chgData name="adriana delle donne" userId="bccfde87c812eabf" providerId="LiveId" clId="{63C4EB39-52B5-4101-B6B9-27F9C95430F6}" dt="2026-08-23T21:21:35.599" v="1457" actId="478"/>
          <ac:spMkLst>
            <pc:docMk/>
            <pc:sldMk cId="730399354" sldId="405"/>
            <ac:spMk id="39" creationId="{C7575842-7409-1A88-02CF-6F44D1A4EA51}"/>
          </ac:spMkLst>
        </pc:spChg>
        <pc:spChg chg="add mod">
          <ac:chgData name="adriana delle donne" userId="bccfde87c812eabf" providerId="LiveId" clId="{63C4EB39-52B5-4101-B6B9-27F9C95430F6}" dt="2026-08-24T11:45:22.295" v="4383" actId="2711"/>
          <ac:spMkLst>
            <pc:docMk/>
            <pc:sldMk cId="730399354" sldId="405"/>
            <ac:spMk id="41" creationId="{FF11C6E1-F46D-D621-A766-FB8F9D346D82}"/>
          </ac:spMkLst>
        </pc:spChg>
        <pc:spChg chg="mod">
          <ac:chgData name="adriana delle donne" userId="bccfde87c812eabf" providerId="LiveId" clId="{63C4EB39-52B5-4101-B6B9-27F9C95430F6}" dt="2026-08-24T11:45:22.295" v="4383" actId="2711"/>
          <ac:spMkLst>
            <pc:docMk/>
            <pc:sldMk cId="730399354" sldId="405"/>
            <ac:spMk id="43" creationId="{9751DA2F-1CB7-AA22-8A65-582D635E87B0}"/>
          </ac:spMkLst>
        </pc:spChg>
        <pc:spChg chg="mod">
          <ac:chgData name="adriana delle donne" userId="bccfde87c812eabf" providerId="LiveId" clId="{63C4EB39-52B5-4101-B6B9-27F9C95430F6}" dt="2026-08-23T22:00:00.638" v="1471" actId="1076"/>
          <ac:spMkLst>
            <pc:docMk/>
            <pc:sldMk cId="730399354" sldId="405"/>
            <ac:spMk id="45" creationId="{9036476A-DE1D-4628-4294-966BEF0D7ACE}"/>
          </ac:spMkLst>
        </pc:spChg>
        <pc:spChg chg="add mod">
          <ac:chgData name="adriana delle donne" userId="bccfde87c812eabf" providerId="LiveId" clId="{63C4EB39-52B5-4101-B6B9-27F9C95430F6}" dt="2026-08-23T22:00:12.664" v="1472" actId="255"/>
          <ac:spMkLst>
            <pc:docMk/>
            <pc:sldMk cId="730399354" sldId="405"/>
            <ac:spMk id="47" creationId="{40730824-9274-E046-A4E0-32CB6DA049CA}"/>
          </ac:spMkLst>
        </pc:spChg>
        <pc:spChg chg="add mod">
          <ac:chgData name="adriana delle donne" userId="bccfde87c812eabf" providerId="LiveId" clId="{63C4EB39-52B5-4101-B6B9-27F9C95430F6}" dt="2026-08-23T22:41:34.081" v="2420" actId="6549"/>
          <ac:spMkLst>
            <pc:docMk/>
            <pc:sldMk cId="730399354" sldId="405"/>
            <ac:spMk id="49" creationId="{49A50EFE-CD21-70B9-C8D2-81488E1146AA}"/>
          </ac:spMkLst>
        </pc:spChg>
      </pc:sldChg>
      <pc:sldChg chg="modSp add del mod setBg">
        <pc:chgData name="adriana delle donne" userId="bccfde87c812eabf" providerId="LiveId" clId="{63C4EB39-52B5-4101-B6B9-27F9C95430F6}" dt="2026-08-23T21:22:44.338" v="1461" actId="2696"/>
        <pc:sldMkLst>
          <pc:docMk/>
          <pc:sldMk cId="0" sldId="406"/>
        </pc:sldMkLst>
        <pc:spChg chg="mod">
          <ac:chgData name="adriana delle donne" userId="bccfde87c812eabf" providerId="LiveId" clId="{63C4EB39-52B5-4101-B6B9-27F9C95430F6}" dt="2026-08-23T21:09:53.076" v="835" actId="2711"/>
          <ac:spMkLst>
            <pc:docMk/>
            <pc:sldMk cId="0" sldId="406"/>
            <ac:spMk id="3" creationId="{00000000-0000-0000-0000-000000000000}"/>
          </ac:spMkLst>
        </pc:spChg>
        <pc:spChg chg="mod">
          <ac:chgData name="adriana delle donne" userId="bccfde87c812eabf" providerId="LiveId" clId="{63C4EB39-52B5-4101-B6B9-27F9C95430F6}" dt="2026-08-23T21:09:53.076" v="835" actId="2711"/>
          <ac:spMkLst>
            <pc:docMk/>
            <pc:sldMk cId="0" sldId="406"/>
            <ac:spMk id="5" creationId="{00000000-0000-0000-0000-000000000000}"/>
          </ac:spMkLst>
        </pc:spChg>
        <pc:spChg chg="mod">
          <ac:chgData name="adriana delle donne" userId="bccfde87c812eabf" providerId="LiveId" clId="{63C4EB39-52B5-4101-B6B9-27F9C95430F6}" dt="2026-08-23T21:09:53.076" v="835" actId="2711"/>
          <ac:spMkLst>
            <pc:docMk/>
            <pc:sldMk cId="0" sldId="406"/>
            <ac:spMk id="6" creationId="{00000000-0000-0000-0000-000000000000}"/>
          </ac:spMkLst>
        </pc:spChg>
        <pc:spChg chg="mod">
          <ac:chgData name="adriana delle donne" userId="bccfde87c812eabf" providerId="LiveId" clId="{63C4EB39-52B5-4101-B6B9-27F9C95430F6}" dt="2026-08-23T21:09:53.076" v="835" actId="2711"/>
          <ac:spMkLst>
            <pc:docMk/>
            <pc:sldMk cId="0" sldId="406"/>
            <ac:spMk id="7" creationId="{00000000-0000-0000-0000-000000000000}"/>
          </ac:spMkLst>
        </pc:spChg>
        <pc:spChg chg="mod">
          <ac:chgData name="adriana delle donne" userId="bccfde87c812eabf" providerId="LiveId" clId="{63C4EB39-52B5-4101-B6B9-27F9C95430F6}" dt="2026-08-23T21:09:53.076" v="835" actId="2711"/>
          <ac:spMkLst>
            <pc:docMk/>
            <pc:sldMk cId="0" sldId="406"/>
            <ac:spMk id="12" creationId="{00000000-0000-0000-0000-000000000000}"/>
          </ac:spMkLst>
        </pc:spChg>
        <pc:spChg chg="mod">
          <ac:chgData name="adriana delle donne" userId="bccfde87c812eabf" providerId="LiveId" clId="{63C4EB39-52B5-4101-B6B9-27F9C95430F6}" dt="2026-08-23T21:09:53.076" v="835" actId="2711"/>
          <ac:spMkLst>
            <pc:docMk/>
            <pc:sldMk cId="0" sldId="406"/>
            <ac:spMk id="18" creationId="{00000000-0000-0000-0000-000000000000}"/>
          </ac:spMkLst>
        </pc:spChg>
        <pc:spChg chg="mod">
          <ac:chgData name="adriana delle donne" userId="bccfde87c812eabf" providerId="LiveId" clId="{63C4EB39-52B5-4101-B6B9-27F9C95430F6}" dt="2026-08-23T21:09:53.076" v="835" actId="2711"/>
          <ac:spMkLst>
            <pc:docMk/>
            <pc:sldMk cId="0" sldId="406"/>
            <ac:spMk id="19" creationId="{00000000-0000-0000-0000-000000000000}"/>
          </ac:spMkLst>
        </pc:spChg>
        <pc:spChg chg="mod">
          <ac:chgData name="adriana delle donne" userId="bccfde87c812eabf" providerId="LiveId" clId="{63C4EB39-52B5-4101-B6B9-27F9C95430F6}" dt="2026-08-23T21:09:53.076" v="835" actId="2711"/>
          <ac:spMkLst>
            <pc:docMk/>
            <pc:sldMk cId="0" sldId="406"/>
            <ac:spMk id="20" creationId="{00000000-0000-0000-0000-000000000000}"/>
          </ac:spMkLst>
        </pc:spChg>
        <pc:spChg chg="mod">
          <ac:chgData name="adriana delle donne" userId="bccfde87c812eabf" providerId="LiveId" clId="{63C4EB39-52B5-4101-B6B9-27F9C95430F6}" dt="2026-08-23T21:09:53.076" v="835" actId="2711"/>
          <ac:spMkLst>
            <pc:docMk/>
            <pc:sldMk cId="0" sldId="406"/>
            <ac:spMk id="22" creationId="{00000000-0000-0000-0000-000000000000}"/>
          </ac:spMkLst>
        </pc:spChg>
        <pc:spChg chg="mod">
          <ac:chgData name="adriana delle donne" userId="bccfde87c812eabf" providerId="LiveId" clId="{63C4EB39-52B5-4101-B6B9-27F9C95430F6}" dt="2026-08-23T21:09:53.076" v="835" actId="2711"/>
          <ac:spMkLst>
            <pc:docMk/>
            <pc:sldMk cId="0" sldId="406"/>
            <ac:spMk id="23" creationId="{00000000-0000-0000-0000-000000000000}"/>
          </ac:spMkLst>
        </pc:spChg>
      </pc:sldChg>
      <pc:sldChg chg="new del">
        <pc:chgData name="adriana delle donne" userId="bccfde87c812eabf" providerId="LiveId" clId="{63C4EB39-52B5-4101-B6B9-27F9C95430F6}" dt="2026-08-23T22:51:49.586" v="2788" actId="2696"/>
        <pc:sldMkLst>
          <pc:docMk/>
          <pc:sldMk cId="273038741" sldId="406"/>
        </pc:sldMkLst>
      </pc:sldChg>
      <pc:sldChg chg="addSp delSp modSp add mod">
        <pc:chgData name="adriana delle donne" userId="bccfde87c812eabf" providerId="LiveId" clId="{63C4EB39-52B5-4101-B6B9-27F9C95430F6}" dt="2026-08-24T11:52:31.798" v="4415" actId="1076"/>
        <pc:sldMkLst>
          <pc:docMk/>
          <pc:sldMk cId="2545572373" sldId="407"/>
        </pc:sldMkLst>
        <pc:spChg chg="mod">
          <ac:chgData name="adriana delle donne" userId="bccfde87c812eabf" providerId="LiveId" clId="{63C4EB39-52B5-4101-B6B9-27F9C95430F6}" dt="2026-08-23T22:03:05.709" v="1557" actId="20577"/>
          <ac:spMkLst>
            <pc:docMk/>
            <pc:sldMk cId="2545572373" sldId="407"/>
            <ac:spMk id="4" creationId="{92104642-04BF-65D0-31DE-9D210D4C0D8F}"/>
          </ac:spMkLst>
        </pc:spChg>
        <pc:spChg chg="del mod">
          <ac:chgData name="adriana delle donne" userId="bccfde87c812eabf" providerId="LiveId" clId="{63C4EB39-52B5-4101-B6B9-27F9C95430F6}" dt="2026-08-23T22:12:48.234" v="2004"/>
          <ac:spMkLst>
            <pc:docMk/>
            <pc:sldMk cId="2545572373" sldId="407"/>
            <ac:spMk id="5" creationId="{28EE8EB0-9931-1CAC-D345-F30BBFADC49E}"/>
          </ac:spMkLst>
        </pc:spChg>
        <pc:spChg chg="add del mod">
          <ac:chgData name="adriana delle donne" userId="bccfde87c812eabf" providerId="LiveId" clId="{63C4EB39-52B5-4101-B6B9-27F9C95430F6}" dt="2026-08-23T22:13:10.262" v="2007" actId="21"/>
          <ac:spMkLst>
            <pc:docMk/>
            <pc:sldMk cId="2545572373" sldId="407"/>
            <ac:spMk id="8" creationId="{7BC8FFB2-8906-B2A4-1D89-1CE6C9C1E124}"/>
          </ac:spMkLst>
        </pc:spChg>
        <pc:spChg chg="add mod">
          <ac:chgData name="adriana delle donne" userId="bccfde87c812eabf" providerId="LiveId" clId="{63C4EB39-52B5-4101-B6B9-27F9C95430F6}" dt="2026-08-24T11:52:31.798" v="4415" actId="1076"/>
          <ac:spMkLst>
            <pc:docMk/>
            <pc:sldMk cId="2545572373" sldId="407"/>
            <ac:spMk id="10" creationId="{9E0B91CC-0EF4-1755-3231-7009F9E66634}"/>
          </ac:spMkLst>
        </pc:spChg>
        <pc:graphicFrameChg chg="add del mod modGraphic">
          <ac:chgData name="adriana delle donne" userId="bccfde87c812eabf" providerId="LiveId" clId="{63C4EB39-52B5-4101-B6B9-27F9C95430F6}" dt="2026-08-23T22:12:59.635" v="2006" actId="478"/>
          <ac:graphicFrameMkLst>
            <pc:docMk/>
            <pc:sldMk cId="2545572373" sldId="407"/>
            <ac:graphicFrameMk id="6" creationId="{C4DFEAB8-5631-BDE7-E5D1-3D2E83C831AE}"/>
          </ac:graphicFrameMkLst>
        </pc:graphicFrameChg>
      </pc:sldChg>
      <pc:sldChg chg="modSp add mod">
        <pc:chgData name="adriana delle donne" userId="bccfde87c812eabf" providerId="LiveId" clId="{63C4EB39-52B5-4101-B6B9-27F9C95430F6}" dt="2026-08-24T11:57:05.172" v="4427" actId="2711"/>
        <pc:sldMkLst>
          <pc:docMk/>
          <pc:sldMk cId="3075273031" sldId="408"/>
        </pc:sldMkLst>
        <pc:spChg chg="mod">
          <ac:chgData name="adriana delle donne" userId="bccfde87c812eabf" providerId="LiveId" clId="{63C4EB39-52B5-4101-B6B9-27F9C95430F6}" dt="2026-08-24T11:57:05.172" v="4427" actId="2711"/>
          <ac:spMkLst>
            <pc:docMk/>
            <pc:sldMk cId="3075273031" sldId="408"/>
            <ac:spMk id="2" creationId="{5B5713D3-8EA1-2682-1F41-B27252F9F601}"/>
          </ac:spMkLst>
        </pc:spChg>
        <pc:spChg chg="mod">
          <ac:chgData name="adriana delle donne" userId="bccfde87c812eabf" providerId="LiveId" clId="{63C4EB39-52B5-4101-B6B9-27F9C95430F6}" dt="2026-08-24T11:57:05.172" v="4427" actId="2711"/>
          <ac:spMkLst>
            <pc:docMk/>
            <pc:sldMk cId="3075273031" sldId="408"/>
            <ac:spMk id="3" creationId="{C5590780-0E8D-A83B-CD3E-95645C8F9FB6}"/>
          </ac:spMkLst>
        </pc:spChg>
        <pc:spChg chg="mod">
          <ac:chgData name="adriana delle donne" userId="bccfde87c812eabf" providerId="LiveId" clId="{63C4EB39-52B5-4101-B6B9-27F9C95430F6}" dt="2026-08-24T11:57:05.172" v="4427" actId="2711"/>
          <ac:spMkLst>
            <pc:docMk/>
            <pc:sldMk cId="3075273031" sldId="408"/>
            <ac:spMk id="4" creationId="{4BA470CC-D036-470F-0FC4-D47D180C6E8C}"/>
          </ac:spMkLst>
        </pc:spChg>
        <pc:spChg chg="mod">
          <ac:chgData name="adriana delle donne" userId="bccfde87c812eabf" providerId="LiveId" clId="{63C4EB39-52B5-4101-B6B9-27F9C95430F6}" dt="2026-08-24T11:56:49.139" v="4426" actId="2711"/>
          <ac:spMkLst>
            <pc:docMk/>
            <pc:sldMk cId="3075273031" sldId="408"/>
            <ac:spMk id="10" creationId="{3B3F2CD5-1310-20A4-8BA9-84930BB49A65}"/>
          </ac:spMkLst>
        </pc:spChg>
      </pc:sldChg>
      <pc:sldChg chg="new del">
        <pc:chgData name="adriana delle donne" userId="bccfde87c812eabf" providerId="LiveId" clId="{63C4EB39-52B5-4101-B6B9-27F9C95430F6}" dt="2026-08-23T22:40:31.518" v="2345" actId="47"/>
        <pc:sldMkLst>
          <pc:docMk/>
          <pc:sldMk cId="2852517420" sldId="409"/>
        </pc:sldMkLst>
      </pc:sldChg>
      <pc:sldChg chg="addSp delSp modSp add mod">
        <pc:chgData name="adriana delle donne" userId="bccfde87c812eabf" providerId="LiveId" clId="{63C4EB39-52B5-4101-B6B9-27F9C95430F6}" dt="2026-08-24T11:56:40.867" v="4425" actId="2711"/>
        <pc:sldMkLst>
          <pc:docMk/>
          <pc:sldMk cId="4265940803" sldId="410"/>
        </pc:sldMkLst>
        <pc:spChg chg="mod">
          <ac:chgData name="adriana delle donne" userId="bccfde87c812eabf" providerId="LiveId" clId="{63C4EB39-52B5-4101-B6B9-27F9C95430F6}" dt="2026-08-24T11:56:40.867" v="4425" actId="2711"/>
          <ac:spMkLst>
            <pc:docMk/>
            <pc:sldMk cId="4265940803" sldId="410"/>
            <ac:spMk id="8" creationId="{498707DD-5B02-572F-2BDB-D6A562A6ED5F}"/>
          </ac:spMkLst>
        </pc:spChg>
        <pc:spChg chg="del">
          <ac:chgData name="adriana delle donne" userId="bccfde87c812eabf" providerId="LiveId" clId="{63C4EB39-52B5-4101-B6B9-27F9C95430F6}" dt="2026-08-23T22:34:00.460" v="2124" actId="478"/>
          <ac:spMkLst>
            <pc:docMk/>
            <pc:sldMk cId="4265940803" sldId="410"/>
            <ac:spMk id="10" creationId="{2E24F4A8-56BA-3DC1-92C4-A9FEABF4A7C4}"/>
          </ac:spMkLst>
        </pc:spChg>
        <pc:spChg chg="add mod">
          <ac:chgData name="adriana delle donne" userId="bccfde87c812eabf" providerId="LiveId" clId="{63C4EB39-52B5-4101-B6B9-27F9C95430F6}" dt="2026-08-24T11:56:40.867" v="4425" actId="2711"/>
          <ac:spMkLst>
            <pc:docMk/>
            <pc:sldMk cId="4265940803" sldId="410"/>
            <ac:spMk id="11" creationId="{C180AD38-55F1-F963-23C6-5030A684010C}"/>
          </ac:spMkLst>
        </pc:spChg>
        <pc:spChg chg="add mod">
          <ac:chgData name="adriana delle donne" userId="bccfde87c812eabf" providerId="LiveId" clId="{63C4EB39-52B5-4101-B6B9-27F9C95430F6}" dt="2026-08-23T22:36:17.182" v="2218" actId="255"/>
          <ac:spMkLst>
            <pc:docMk/>
            <pc:sldMk cId="4265940803" sldId="410"/>
            <ac:spMk id="15" creationId="{B9434CEB-DCC2-620F-ECCD-6203E2CA62F9}"/>
          </ac:spMkLst>
        </pc:spChg>
        <pc:spChg chg="mod">
          <ac:chgData name="adriana delle donne" userId="bccfde87c812eabf" providerId="LiveId" clId="{63C4EB39-52B5-4101-B6B9-27F9C95430F6}" dt="2026-08-23T22:36:02.449" v="2217" actId="255"/>
          <ac:spMkLst>
            <pc:docMk/>
            <pc:sldMk cId="4265940803" sldId="410"/>
            <ac:spMk id="17" creationId="{6C87BBC0-2E84-E085-C5B2-AEB300411F4A}"/>
          </ac:spMkLst>
        </pc:spChg>
        <pc:spChg chg="add mod">
          <ac:chgData name="adriana delle donne" userId="bccfde87c812eabf" providerId="LiveId" clId="{63C4EB39-52B5-4101-B6B9-27F9C95430F6}" dt="2026-08-23T22:34:46.331" v="2131" actId="255"/>
          <ac:spMkLst>
            <pc:docMk/>
            <pc:sldMk cId="4265940803" sldId="410"/>
            <ac:spMk id="25" creationId="{F80286EA-45B0-40BC-5644-4DE68A0022BC}"/>
          </ac:spMkLst>
        </pc:spChg>
        <pc:spChg chg="add mod">
          <ac:chgData name="adriana delle donne" userId="bccfde87c812eabf" providerId="LiveId" clId="{63C4EB39-52B5-4101-B6B9-27F9C95430F6}" dt="2026-08-24T11:56:40.867" v="4425" actId="2711"/>
          <ac:spMkLst>
            <pc:docMk/>
            <pc:sldMk cId="4265940803" sldId="410"/>
            <ac:spMk id="27" creationId="{BC956732-EDFD-3C29-383A-8B369B795399}"/>
          </ac:spMkLst>
        </pc:spChg>
        <pc:spChg chg="mod">
          <ac:chgData name="adriana delle donne" userId="bccfde87c812eabf" providerId="LiveId" clId="{63C4EB39-52B5-4101-B6B9-27F9C95430F6}" dt="2026-08-23T22:37:08.954" v="2263" actId="20577"/>
          <ac:spMkLst>
            <pc:docMk/>
            <pc:sldMk cId="4265940803" sldId="410"/>
            <ac:spMk id="29" creationId="{966344EE-6DA6-F0F0-3E6A-C9DF033CD7BC}"/>
          </ac:spMkLst>
        </pc:spChg>
        <pc:spChg chg="add mod">
          <ac:chgData name="adriana delle donne" userId="bccfde87c812eabf" providerId="LiveId" clId="{63C4EB39-52B5-4101-B6B9-27F9C95430F6}" dt="2026-08-23T22:34:46.331" v="2131" actId="255"/>
          <ac:spMkLst>
            <pc:docMk/>
            <pc:sldMk cId="4265940803" sldId="410"/>
            <ac:spMk id="31" creationId="{55E8E391-A4E2-B462-D5F2-5BBCBBA681E1}"/>
          </ac:spMkLst>
        </pc:spChg>
        <pc:spChg chg="add mod">
          <ac:chgData name="adriana delle donne" userId="bccfde87c812eabf" providerId="LiveId" clId="{63C4EB39-52B5-4101-B6B9-27F9C95430F6}" dt="2026-08-23T22:34:46.331" v="2131" actId="255"/>
          <ac:spMkLst>
            <pc:docMk/>
            <pc:sldMk cId="4265940803" sldId="410"/>
            <ac:spMk id="33" creationId="{678CBDA2-674A-1848-FE12-7D66AE11A9B1}"/>
          </ac:spMkLst>
        </pc:spChg>
        <pc:spChg chg="add mod">
          <ac:chgData name="adriana delle donne" userId="bccfde87c812eabf" providerId="LiveId" clId="{63C4EB39-52B5-4101-B6B9-27F9C95430F6}" dt="2026-08-23T22:34:46.331" v="2131" actId="255"/>
          <ac:spMkLst>
            <pc:docMk/>
            <pc:sldMk cId="4265940803" sldId="410"/>
            <ac:spMk id="35" creationId="{8D2BF9D8-27A1-64DC-B73F-93FDE3E1858E}"/>
          </ac:spMkLst>
        </pc:spChg>
        <pc:spChg chg="mod">
          <ac:chgData name="adriana delle donne" userId="bccfde87c812eabf" providerId="LiveId" clId="{63C4EB39-52B5-4101-B6B9-27F9C95430F6}" dt="2026-08-24T11:56:40.867" v="4425" actId="2711"/>
          <ac:spMkLst>
            <pc:docMk/>
            <pc:sldMk cId="4265940803" sldId="410"/>
            <ac:spMk id="37" creationId="{DA7F92FD-B1BB-E4AD-03F5-9587FAA01B9F}"/>
          </ac:spMkLst>
        </pc:spChg>
        <pc:spChg chg="add mod">
          <ac:chgData name="adriana delle donne" userId="bccfde87c812eabf" providerId="LiveId" clId="{63C4EB39-52B5-4101-B6B9-27F9C95430F6}" dt="2026-08-24T11:56:40.867" v="4425" actId="2711"/>
          <ac:spMkLst>
            <pc:docMk/>
            <pc:sldMk cId="4265940803" sldId="410"/>
            <ac:spMk id="39" creationId="{9E6BE761-97EA-EC37-8B17-40F7235643D0}"/>
          </ac:spMkLst>
        </pc:spChg>
        <pc:spChg chg="mod">
          <ac:chgData name="adriana delle donne" userId="bccfde87c812eabf" providerId="LiveId" clId="{63C4EB39-52B5-4101-B6B9-27F9C95430F6}" dt="2026-08-23T22:37:31.862" v="2265" actId="255"/>
          <ac:spMkLst>
            <pc:docMk/>
            <pc:sldMk cId="4265940803" sldId="410"/>
            <ac:spMk id="41" creationId="{9D8745AF-687A-EDA9-EC0B-D7E0A5A3AB18}"/>
          </ac:spMkLst>
        </pc:spChg>
        <pc:spChg chg="mod">
          <ac:chgData name="adriana delle donne" userId="bccfde87c812eabf" providerId="LiveId" clId="{63C4EB39-52B5-4101-B6B9-27F9C95430F6}" dt="2026-08-24T11:56:40.867" v="4425" actId="2711"/>
          <ac:spMkLst>
            <pc:docMk/>
            <pc:sldMk cId="4265940803" sldId="410"/>
            <ac:spMk id="43" creationId="{F5355584-0F6C-510D-C308-2834F99C17C8}"/>
          </ac:spMkLst>
        </pc:spChg>
        <pc:spChg chg="add mod">
          <ac:chgData name="adriana delle donne" userId="bccfde87c812eabf" providerId="LiveId" clId="{63C4EB39-52B5-4101-B6B9-27F9C95430F6}" dt="2026-08-23T22:34:46.331" v="2131" actId="255"/>
          <ac:spMkLst>
            <pc:docMk/>
            <pc:sldMk cId="4265940803" sldId="410"/>
            <ac:spMk id="45" creationId="{43BD5B1D-647A-B034-6F5A-13BBEAAA6263}"/>
          </ac:spMkLst>
        </pc:spChg>
        <pc:spChg chg="mod">
          <ac:chgData name="adriana delle donne" userId="bccfde87c812eabf" providerId="LiveId" clId="{63C4EB39-52B5-4101-B6B9-27F9C95430F6}" dt="2026-08-24T11:56:40.867" v="4425" actId="2711"/>
          <ac:spMkLst>
            <pc:docMk/>
            <pc:sldMk cId="4265940803" sldId="410"/>
            <ac:spMk id="47" creationId="{9C01455D-135D-BD21-3797-F2D113B76C1F}"/>
          </ac:spMkLst>
        </pc:spChg>
        <pc:spChg chg="mod">
          <ac:chgData name="adriana delle donne" userId="bccfde87c812eabf" providerId="LiveId" clId="{63C4EB39-52B5-4101-B6B9-27F9C95430F6}" dt="2026-08-24T11:56:40.867" v="4425" actId="2711"/>
          <ac:spMkLst>
            <pc:docMk/>
            <pc:sldMk cId="4265940803" sldId="410"/>
            <ac:spMk id="49" creationId="{43F41851-E713-11DC-FDBE-14F52A89E397}"/>
          </ac:spMkLst>
        </pc:spChg>
        <pc:spChg chg="mod">
          <ac:chgData name="adriana delle donne" userId="bccfde87c812eabf" providerId="LiveId" clId="{63C4EB39-52B5-4101-B6B9-27F9C95430F6}" dt="2026-08-23T22:38:05.368" v="2267" actId="255"/>
          <ac:spMkLst>
            <pc:docMk/>
            <pc:sldMk cId="4265940803" sldId="410"/>
            <ac:spMk id="51" creationId="{CC0C7A9A-8A32-C45A-D33C-61EA39714444}"/>
          </ac:spMkLst>
        </pc:spChg>
        <pc:spChg chg="mod">
          <ac:chgData name="adriana delle donne" userId="bccfde87c812eabf" providerId="LiveId" clId="{63C4EB39-52B5-4101-B6B9-27F9C95430F6}" dt="2026-08-24T11:56:40.867" v="4425" actId="2711"/>
          <ac:spMkLst>
            <pc:docMk/>
            <pc:sldMk cId="4265940803" sldId="410"/>
            <ac:spMk id="53" creationId="{E404D132-D9CC-488E-D19D-DCC8ED3809A2}"/>
          </ac:spMkLst>
        </pc:spChg>
        <pc:spChg chg="add mod">
          <ac:chgData name="adriana delle donne" userId="bccfde87c812eabf" providerId="LiveId" clId="{63C4EB39-52B5-4101-B6B9-27F9C95430F6}" dt="2026-08-24T11:56:40.867" v="4425" actId="2711"/>
          <ac:spMkLst>
            <pc:docMk/>
            <pc:sldMk cId="4265940803" sldId="410"/>
            <ac:spMk id="55" creationId="{F38385FC-4497-462E-4640-B42F9637DE2A}"/>
          </ac:spMkLst>
        </pc:spChg>
        <pc:spChg chg="mod">
          <ac:chgData name="adriana delle donne" userId="bccfde87c812eabf" providerId="LiveId" clId="{63C4EB39-52B5-4101-B6B9-27F9C95430F6}" dt="2026-08-23T22:39:58.471" v="2341" actId="1076"/>
          <ac:spMkLst>
            <pc:docMk/>
            <pc:sldMk cId="4265940803" sldId="410"/>
            <ac:spMk id="57" creationId="{59161E73-0694-E517-6FDC-40B7F33EAAB2}"/>
          </ac:spMkLst>
        </pc:spChg>
      </pc:sldChg>
      <pc:sldChg chg="delSp modSp add del mod setBg">
        <pc:chgData name="adriana delle donne" userId="bccfde87c812eabf" providerId="LiveId" clId="{63C4EB39-52B5-4101-B6B9-27F9C95430F6}" dt="2026-08-24T11:56:30.732" v="4424" actId="255"/>
        <pc:sldMkLst>
          <pc:docMk/>
          <pc:sldMk cId="0" sldId="411"/>
        </pc:sldMkLst>
        <pc:spChg chg="del">
          <ac:chgData name="adriana delle donne" userId="bccfde87c812eabf" providerId="LiveId" clId="{63C4EB39-52B5-4101-B6B9-27F9C95430F6}" dt="2026-08-23T22:44:10.006" v="2425" actId="478"/>
          <ac:spMkLst>
            <pc:docMk/>
            <pc:sldMk cId="0" sldId="411"/>
            <ac:spMk id="3" creationId="{00000000-0000-0000-0000-000000000000}"/>
          </ac:spMkLst>
        </pc:spChg>
        <pc:spChg chg="del">
          <ac:chgData name="adriana delle donne" userId="bccfde87c812eabf" providerId="LiveId" clId="{63C4EB39-52B5-4101-B6B9-27F9C95430F6}" dt="2026-08-23T22:44:07.640" v="2424" actId="478"/>
          <ac:spMkLst>
            <pc:docMk/>
            <pc:sldMk cId="0" sldId="411"/>
            <ac:spMk id="4" creationId="{00000000-0000-0000-0000-000000000000}"/>
          </ac:spMkLst>
        </pc:spChg>
        <pc:spChg chg="mod">
          <ac:chgData name="adriana delle donne" userId="bccfde87c812eabf" providerId="LiveId" clId="{63C4EB39-52B5-4101-B6B9-27F9C95430F6}" dt="2026-08-24T11:56:30.732" v="4424" actId="255"/>
          <ac:spMkLst>
            <pc:docMk/>
            <pc:sldMk cId="0" sldId="411"/>
            <ac:spMk id="5" creationId="{00000000-0000-0000-0000-000000000000}"/>
          </ac:spMkLst>
        </pc:spChg>
        <pc:spChg chg="del mod">
          <ac:chgData name="adriana delle donne" userId="bccfde87c812eabf" providerId="LiveId" clId="{63C4EB39-52B5-4101-B6B9-27F9C95430F6}" dt="2026-08-23T23:38:21.900" v="3577" actId="1076"/>
          <ac:spMkLst>
            <pc:docMk/>
            <pc:sldMk cId="0" sldId="411"/>
            <ac:spMk id="6" creationId="{00000000-0000-0000-0000-000000000000}"/>
          </ac:spMkLst>
        </pc:spChg>
        <pc:spChg chg="mod">
          <ac:chgData name="adriana delle donne" userId="bccfde87c812eabf" providerId="LiveId" clId="{63C4EB39-52B5-4101-B6B9-27F9C95430F6}" dt="2026-08-24T11:56:19.473" v="4423" actId="2711"/>
          <ac:spMkLst>
            <pc:docMk/>
            <pc:sldMk cId="0" sldId="411"/>
            <ac:spMk id="7" creationId="{00000000-0000-0000-0000-000000000000}"/>
          </ac:spMkLst>
        </pc:spChg>
        <pc:spChg chg="mod">
          <ac:chgData name="adriana delle donne" userId="bccfde87c812eabf" providerId="LiveId" clId="{63C4EB39-52B5-4101-B6B9-27F9C95430F6}" dt="2026-08-24T11:56:19.473" v="4423" actId="2711"/>
          <ac:spMkLst>
            <pc:docMk/>
            <pc:sldMk cId="0" sldId="411"/>
            <ac:spMk id="8" creationId="{00000000-0000-0000-0000-000000000000}"/>
          </ac:spMkLst>
        </pc:spChg>
        <pc:spChg chg="mod">
          <ac:chgData name="adriana delle donne" userId="bccfde87c812eabf" providerId="LiveId" clId="{63C4EB39-52B5-4101-B6B9-27F9C95430F6}" dt="2026-08-24T11:56:19.473" v="4423" actId="2711"/>
          <ac:spMkLst>
            <pc:docMk/>
            <pc:sldMk cId="0" sldId="411"/>
            <ac:spMk id="9" creationId="{00000000-0000-0000-0000-000000000000}"/>
          </ac:spMkLst>
        </pc:spChg>
        <pc:spChg chg="mod">
          <ac:chgData name="adriana delle donne" userId="bccfde87c812eabf" providerId="LiveId" clId="{63C4EB39-52B5-4101-B6B9-27F9C95430F6}" dt="2026-08-24T11:54:18.939" v="4421" actId="20577"/>
          <ac:spMkLst>
            <pc:docMk/>
            <pc:sldMk cId="0" sldId="411"/>
            <ac:spMk id="11" creationId="{00000000-0000-0000-0000-000000000000}"/>
          </ac:spMkLst>
        </pc:spChg>
        <pc:spChg chg="del">
          <ac:chgData name="adriana delle donne" userId="bccfde87c812eabf" providerId="LiveId" clId="{63C4EB39-52B5-4101-B6B9-27F9C95430F6}" dt="2026-08-23T22:34:22.979" v="2128" actId="21"/>
          <ac:spMkLst>
            <pc:docMk/>
            <pc:sldMk cId="0" sldId="411"/>
            <ac:spMk id="13" creationId="{00000000-0000-0000-0000-000000000000}"/>
          </ac:spMkLst>
        </pc:spChg>
        <pc:spChg chg="del mod">
          <ac:chgData name="adriana delle donne" userId="bccfde87c812eabf" providerId="LiveId" clId="{63C4EB39-52B5-4101-B6B9-27F9C95430F6}" dt="2026-08-23T23:38:21.900" v="3577" actId="1076"/>
          <ac:spMkLst>
            <pc:docMk/>
            <pc:sldMk cId="0" sldId="411"/>
            <ac:spMk id="15" creationId="{00000000-0000-0000-0000-000000000000}"/>
          </ac:spMkLst>
        </pc:spChg>
        <pc:spChg chg="mod">
          <ac:chgData name="adriana delle donne" userId="bccfde87c812eabf" providerId="LiveId" clId="{63C4EB39-52B5-4101-B6B9-27F9C95430F6}" dt="2026-08-24T11:56:19.473" v="4423" actId="2711"/>
          <ac:spMkLst>
            <pc:docMk/>
            <pc:sldMk cId="0" sldId="411"/>
            <ac:spMk id="17" creationId="{00000000-0000-0000-0000-000000000000}"/>
          </ac:spMkLst>
        </pc:spChg>
        <pc:spChg chg="del mod">
          <ac:chgData name="adriana delle donne" userId="bccfde87c812eabf" providerId="LiveId" clId="{63C4EB39-52B5-4101-B6B9-27F9C95430F6}" dt="2026-08-23T23:38:21.900" v="3577" actId="1076"/>
          <ac:spMkLst>
            <pc:docMk/>
            <pc:sldMk cId="0" sldId="411"/>
            <ac:spMk id="20" creationId="{00000000-0000-0000-0000-000000000000}"/>
          </ac:spMkLst>
        </pc:spChg>
        <pc:spChg chg="del mod">
          <ac:chgData name="adriana delle donne" userId="bccfde87c812eabf" providerId="LiveId" clId="{63C4EB39-52B5-4101-B6B9-27F9C95430F6}" dt="2026-08-24T11:56:19.473" v="4423" actId="2711"/>
          <ac:spMkLst>
            <pc:docMk/>
            <pc:sldMk cId="0" sldId="411"/>
            <ac:spMk id="22" creationId="{00000000-0000-0000-0000-000000000000}"/>
          </ac:spMkLst>
        </pc:spChg>
        <pc:spChg chg="mod">
          <ac:chgData name="adriana delle donne" userId="bccfde87c812eabf" providerId="LiveId" clId="{63C4EB39-52B5-4101-B6B9-27F9C95430F6}" dt="2026-08-23T22:46:20.982" v="2516" actId="6549"/>
          <ac:spMkLst>
            <pc:docMk/>
            <pc:sldMk cId="0" sldId="411"/>
            <ac:spMk id="23" creationId="{00000000-0000-0000-0000-000000000000}"/>
          </ac:spMkLst>
        </pc:spChg>
        <pc:spChg chg="del mod">
          <ac:chgData name="adriana delle donne" userId="bccfde87c812eabf" providerId="LiveId" clId="{63C4EB39-52B5-4101-B6B9-27F9C95430F6}" dt="2026-08-23T23:38:21.900" v="3577" actId="1076"/>
          <ac:spMkLst>
            <pc:docMk/>
            <pc:sldMk cId="0" sldId="411"/>
            <ac:spMk id="24" creationId="{00000000-0000-0000-0000-000000000000}"/>
          </ac:spMkLst>
        </pc:spChg>
        <pc:spChg chg="del">
          <ac:chgData name="adriana delle donne" userId="bccfde87c812eabf" providerId="LiveId" clId="{63C4EB39-52B5-4101-B6B9-27F9C95430F6}" dt="2026-08-23T22:34:22.979" v="2128" actId="21"/>
          <ac:spMkLst>
            <pc:docMk/>
            <pc:sldMk cId="0" sldId="411"/>
            <ac:spMk id="26" creationId="{00000000-0000-0000-0000-000000000000}"/>
          </ac:spMkLst>
        </pc:spChg>
        <pc:spChg chg="del">
          <ac:chgData name="adriana delle donne" userId="bccfde87c812eabf" providerId="LiveId" clId="{63C4EB39-52B5-4101-B6B9-27F9C95430F6}" dt="2026-08-23T22:34:22.979" v="2128" actId="21"/>
          <ac:spMkLst>
            <pc:docMk/>
            <pc:sldMk cId="0" sldId="411"/>
            <ac:spMk id="28" creationId="{00000000-0000-0000-0000-000000000000}"/>
          </ac:spMkLst>
        </pc:spChg>
        <pc:spChg chg="mod">
          <ac:chgData name="adriana delle donne" userId="bccfde87c812eabf" providerId="LiveId" clId="{63C4EB39-52B5-4101-B6B9-27F9C95430F6}" dt="2026-08-23T22:46:36.763" v="2548" actId="20577"/>
          <ac:spMkLst>
            <pc:docMk/>
            <pc:sldMk cId="0" sldId="411"/>
            <ac:spMk id="29" creationId="{00000000-0000-0000-0000-000000000000}"/>
          </ac:spMkLst>
        </pc:spChg>
        <pc:spChg chg="del mod">
          <ac:chgData name="adriana delle donne" userId="bccfde87c812eabf" providerId="LiveId" clId="{63C4EB39-52B5-4101-B6B9-27F9C95430F6}" dt="2026-08-23T23:38:21.900" v="3577" actId="1076"/>
          <ac:spMkLst>
            <pc:docMk/>
            <pc:sldMk cId="0" sldId="411"/>
            <ac:spMk id="30" creationId="{00000000-0000-0000-0000-000000000000}"/>
          </ac:spMkLst>
        </pc:spChg>
        <pc:spChg chg="del mod">
          <ac:chgData name="adriana delle donne" userId="bccfde87c812eabf" providerId="LiveId" clId="{63C4EB39-52B5-4101-B6B9-27F9C95430F6}" dt="2026-08-24T11:56:19.473" v="4423" actId="2711"/>
          <ac:spMkLst>
            <pc:docMk/>
            <pc:sldMk cId="0" sldId="411"/>
            <ac:spMk id="31" creationId="{00000000-0000-0000-0000-000000000000}"/>
          </ac:spMkLst>
        </pc:spChg>
        <pc:spChg chg="mod">
          <ac:chgData name="adriana delle donne" userId="bccfde87c812eabf" providerId="LiveId" clId="{63C4EB39-52B5-4101-B6B9-27F9C95430F6}" dt="2026-08-23T23:38:21.900" v="3577" actId="1076"/>
          <ac:spMkLst>
            <pc:docMk/>
            <pc:sldMk cId="0" sldId="411"/>
            <ac:spMk id="32" creationId="{00000000-0000-0000-0000-000000000000}"/>
          </ac:spMkLst>
        </pc:spChg>
        <pc:spChg chg="mod">
          <ac:chgData name="adriana delle donne" userId="bccfde87c812eabf" providerId="LiveId" clId="{63C4EB39-52B5-4101-B6B9-27F9C95430F6}" dt="2026-08-24T11:56:19.473" v="4423" actId="2711"/>
          <ac:spMkLst>
            <pc:docMk/>
            <pc:sldMk cId="0" sldId="411"/>
            <ac:spMk id="34" creationId="{00000000-0000-0000-0000-000000000000}"/>
          </ac:spMkLst>
        </pc:spChg>
        <pc:spChg chg="mod">
          <ac:chgData name="adriana delle donne" userId="bccfde87c812eabf" providerId="LiveId" clId="{63C4EB39-52B5-4101-B6B9-27F9C95430F6}" dt="2026-08-24T11:56:19.473" v="4423" actId="2711"/>
          <ac:spMkLst>
            <pc:docMk/>
            <pc:sldMk cId="0" sldId="411"/>
            <ac:spMk id="36" creationId="{00000000-0000-0000-0000-000000000000}"/>
          </ac:spMkLst>
        </pc:spChg>
        <pc:spChg chg="mod">
          <ac:chgData name="adriana delle donne" userId="bccfde87c812eabf" providerId="LiveId" clId="{63C4EB39-52B5-4101-B6B9-27F9C95430F6}" dt="2026-08-24T11:56:19.473" v="4423" actId="2711"/>
          <ac:spMkLst>
            <pc:docMk/>
            <pc:sldMk cId="0" sldId="411"/>
            <ac:spMk id="37" creationId="{00000000-0000-0000-0000-000000000000}"/>
          </ac:spMkLst>
        </pc:spChg>
        <pc:spChg chg="mod">
          <ac:chgData name="adriana delle donne" userId="bccfde87c812eabf" providerId="LiveId" clId="{63C4EB39-52B5-4101-B6B9-27F9C95430F6}" dt="2026-08-24T11:56:19.473" v="4423" actId="2711"/>
          <ac:spMkLst>
            <pc:docMk/>
            <pc:sldMk cId="0" sldId="411"/>
            <ac:spMk id="38" creationId="{00000000-0000-0000-0000-000000000000}"/>
          </ac:spMkLst>
        </pc:spChg>
        <pc:spChg chg="mod">
          <ac:chgData name="adriana delle donne" userId="bccfde87c812eabf" providerId="LiveId" clId="{63C4EB39-52B5-4101-B6B9-27F9C95430F6}" dt="2026-08-23T23:38:21.900" v="3577" actId="1076"/>
          <ac:spMkLst>
            <pc:docMk/>
            <pc:sldMk cId="0" sldId="411"/>
            <ac:spMk id="39" creationId="{00000000-0000-0000-0000-000000000000}"/>
          </ac:spMkLst>
        </pc:spChg>
        <pc:spChg chg="mod">
          <ac:chgData name="adriana delle donne" userId="bccfde87c812eabf" providerId="LiveId" clId="{63C4EB39-52B5-4101-B6B9-27F9C95430F6}" dt="2026-08-23T22:51:04.781" v="2784" actId="20577"/>
          <ac:spMkLst>
            <pc:docMk/>
            <pc:sldMk cId="0" sldId="411"/>
            <ac:spMk id="41" creationId="{00000000-0000-0000-0000-000000000000}"/>
          </ac:spMkLst>
        </pc:spChg>
        <pc:spChg chg="del mod">
          <ac:chgData name="adriana delle donne" userId="bccfde87c812eabf" providerId="LiveId" clId="{63C4EB39-52B5-4101-B6B9-27F9C95430F6}" dt="2026-08-23T23:38:11.923" v="3576" actId="478"/>
          <ac:spMkLst>
            <pc:docMk/>
            <pc:sldMk cId="0" sldId="411"/>
            <ac:spMk id="42" creationId="{00000000-0000-0000-0000-000000000000}"/>
          </ac:spMkLst>
        </pc:spChg>
        <pc:spChg chg="del mod">
          <ac:chgData name="adriana delle donne" userId="bccfde87c812eabf" providerId="LiveId" clId="{63C4EB39-52B5-4101-B6B9-27F9C95430F6}" dt="2026-08-23T22:51:23.881" v="2786" actId="478"/>
          <ac:spMkLst>
            <pc:docMk/>
            <pc:sldMk cId="0" sldId="411"/>
            <ac:spMk id="43" creationId="{00000000-0000-0000-0000-000000000000}"/>
          </ac:spMkLst>
        </pc:spChg>
      </pc:sldChg>
      <pc:sldChg chg="addSp delSp modSp add mod setBg">
        <pc:chgData name="adriana delle donne" userId="bccfde87c812eabf" providerId="LiveId" clId="{63C4EB39-52B5-4101-B6B9-27F9C95430F6}" dt="2026-08-24T11:58:31.317" v="4433" actId="255"/>
        <pc:sldMkLst>
          <pc:docMk/>
          <pc:sldMk cId="0" sldId="412"/>
        </pc:sldMkLst>
        <pc:spChg chg="del">
          <ac:chgData name="adriana delle donne" userId="bccfde87c812eabf" providerId="LiveId" clId="{63C4EB39-52B5-4101-B6B9-27F9C95430F6}" dt="2026-08-23T23:01:20.002" v="2793" actId="478"/>
          <ac:spMkLst>
            <pc:docMk/>
            <pc:sldMk cId="0" sldId="412"/>
            <ac:spMk id="3" creationId="{00000000-0000-0000-0000-000000000000}"/>
          </ac:spMkLst>
        </pc:spChg>
        <pc:spChg chg="del mod">
          <ac:chgData name="adriana delle donne" userId="bccfde87c812eabf" providerId="LiveId" clId="{63C4EB39-52B5-4101-B6B9-27F9C95430F6}" dt="2026-08-23T23:09:21.086" v="2866" actId="478"/>
          <ac:spMkLst>
            <pc:docMk/>
            <pc:sldMk cId="0" sldId="412"/>
            <ac:spMk id="4" creationId="{00000000-0000-0000-0000-000000000000}"/>
          </ac:spMkLst>
        </pc:spChg>
        <pc:spChg chg="mod">
          <ac:chgData name="adriana delle donne" userId="bccfde87c812eabf" providerId="LiveId" clId="{63C4EB39-52B5-4101-B6B9-27F9C95430F6}" dt="2026-08-24T11:58:31.317" v="4433" actId="255"/>
          <ac:spMkLst>
            <pc:docMk/>
            <pc:sldMk cId="0" sldId="412"/>
            <ac:spMk id="5" creationId="{00000000-0000-0000-0000-000000000000}"/>
          </ac:spMkLst>
        </pc:spChg>
        <pc:spChg chg="mod">
          <ac:chgData name="adriana delle donne" userId="bccfde87c812eabf" providerId="LiveId" clId="{63C4EB39-52B5-4101-B6B9-27F9C95430F6}" dt="2026-08-24T11:58:23.796" v="4432" actId="2711"/>
          <ac:spMkLst>
            <pc:docMk/>
            <pc:sldMk cId="0" sldId="412"/>
            <ac:spMk id="7" creationId="{00000000-0000-0000-0000-000000000000}"/>
          </ac:spMkLst>
        </pc:spChg>
        <pc:spChg chg="del">
          <ac:chgData name="adriana delle donne" userId="bccfde87c812eabf" providerId="LiveId" clId="{63C4EB39-52B5-4101-B6B9-27F9C95430F6}" dt="2026-08-23T23:02:06.658" v="2814" actId="478"/>
          <ac:spMkLst>
            <pc:docMk/>
            <pc:sldMk cId="0" sldId="412"/>
            <ac:spMk id="8" creationId="{00000000-0000-0000-0000-000000000000}"/>
          </ac:spMkLst>
        </pc:spChg>
        <pc:spChg chg="mod">
          <ac:chgData name="adriana delle donne" userId="bccfde87c812eabf" providerId="LiveId" clId="{63C4EB39-52B5-4101-B6B9-27F9C95430F6}" dt="2026-08-24T11:58:23.796" v="4432" actId="2711"/>
          <ac:spMkLst>
            <pc:docMk/>
            <pc:sldMk cId="0" sldId="412"/>
            <ac:spMk id="11" creationId="{00000000-0000-0000-0000-000000000000}"/>
          </ac:spMkLst>
        </pc:spChg>
        <pc:spChg chg="mod">
          <ac:chgData name="adriana delle donne" userId="bccfde87c812eabf" providerId="LiveId" clId="{63C4EB39-52B5-4101-B6B9-27F9C95430F6}" dt="2026-08-23T23:01:13.967" v="2792" actId="255"/>
          <ac:spMkLst>
            <pc:docMk/>
            <pc:sldMk cId="0" sldId="412"/>
            <ac:spMk id="12" creationId="{00000000-0000-0000-0000-000000000000}"/>
          </ac:spMkLst>
        </pc:spChg>
        <pc:spChg chg="mod">
          <ac:chgData name="adriana delle donne" userId="bccfde87c812eabf" providerId="LiveId" clId="{63C4EB39-52B5-4101-B6B9-27F9C95430F6}" dt="2026-08-24T11:58:23.796" v="4432" actId="2711"/>
          <ac:spMkLst>
            <pc:docMk/>
            <pc:sldMk cId="0" sldId="412"/>
            <ac:spMk id="13" creationId="{00000000-0000-0000-0000-000000000000}"/>
          </ac:spMkLst>
        </pc:spChg>
        <pc:spChg chg="mod">
          <ac:chgData name="adriana delle donne" userId="bccfde87c812eabf" providerId="LiveId" clId="{63C4EB39-52B5-4101-B6B9-27F9C95430F6}" dt="2026-08-24T11:58:23.796" v="4432" actId="2711"/>
          <ac:spMkLst>
            <pc:docMk/>
            <pc:sldMk cId="0" sldId="412"/>
            <ac:spMk id="15" creationId="{00000000-0000-0000-0000-000000000000}"/>
          </ac:spMkLst>
        </pc:spChg>
        <pc:spChg chg="mod">
          <ac:chgData name="adriana delle donne" userId="bccfde87c812eabf" providerId="LiveId" clId="{63C4EB39-52B5-4101-B6B9-27F9C95430F6}" dt="2026-08-24T11:58:23.796" v="4432" actId="2711"/>
          <ac:spMkLst>
            <pc:docMk/>
            <pc:sldMk cId="0" sldId="412"/>
            <ac:spMk id="16" creationId="{00000000-0000-0000-0000-000000000000}"/>
          </ac:spMkLst>
        </pc:spChg>
        <pc:spChg chg="mod">
          <ac:chgData name="adriana delle donne" userId="bccfde87c812eabf" providerId="LiveId" clId="{63C4EB39-52B5-4101-B6B9-27F9C95430F6}" dt="2026-08-24T11:58:23.796" v="4432" actId="2711"/>
          <ac:spMkLst>
            <pc:docMk/>
            <pc:sldMk cId="0" sldId="412"/>
            <ac:spMk id="17" creationId="{00000000-0000-0000-0000-000000000000}"/>
          </ac:spMkLst>
        </pc:spChg>
        <pc:spChg chg="mod">
          <ac:chgData name="adriana delle donne" userId="bccfde87c812eabf" providerId="LiveId" clId="{63C4EB39-52B5-4101-B6B9-27F9C95430F6}" dt="2026-08-23T23:01:13.967" v="2792" actId="255"/>
          <ac:spMkLst>
            <pc:docMk/>
            <pc:sldMk cId="0" sldId="412"/>
            <ac:spMk id="18" creationId="{00000000-0000-0000-0000-000000000000}"/>
          </ac:spMkLst>
        </pc:spChg>
        <pc:spChg chg="mod">
          <ac:chgData name="adriana delle donne" userId="bccfde87c812eabf" providerId="LiveId" clId="{63C4EB39-52B5-4101-B6B9-27F9C95430F6}" dt="2026-08-23T23:08:37.576" v="2849" actId="1076"/>
          <ac:spMkLst>
            <pc:docMk/>
            <pc:sldMk cId="0" sldId="412"/>
            <ac:spMk id="21" creationId="{00000000-0000-0000-0000-000000000000}"/>
          </ac:spMkLst>
        </pc:spChg>
        <pc:spChg chg="mod">
          <ac:chgData name="adriana delle donne" userId="bccfde87c812eabf" providerId="LiveId" clId="{63C4EB39-52B5-4101-B6B9-27F9C95430F6}" dt="2026-08-24T11:58:23.796" v="4432" actId="2711"/>
          <ac:spMkLst>
            <pc:docMk/>
            <pc:sldMk cId="0" sldId="412"/>
            <ac:spMk id="22" creationId="{00000000-0000-0000-0000-000000000000}"/>
          </ac:spMkLst>
        </pc:spChg>
        <pc:spChg chg="mod">
          <ac:chgData name="adriana delle donne" userId="bccfde87c812eabf" providerId="LiveId" clId="{63C4EB39-52B5-4101-B6B9-27F9C95430F6}" dt="2026-08-24T11:58:23.796" v="4432" actId="2711"/>
          <ac:spMkLst>
            <pc:docMk/>
            <pc:sldMk cId="0" sldId="412"/>
            <ac:spMk id="23" creationId="{00000000-0000-0000-0000-000000000000}"/>
          </ac:spMkLst>
        </pc:spChg>
        <pc:spChg chg="mod">
          <ac:chgData name="adriana delle donne" userId="bccfde87c812eabf" providerId="LiveId" clId="{63C4EB39-52B5-4101-B6B9-27F9C95430F6}" dt="2026-08-23T23:08:37.576" v="2849" actId="1076"/>
          <ac:spMkLst>
            <pc:docMk/>
            <pc:sldMk cId="0" sldId="412"/>
            <ac:spMk id="24" creationId="{00000000-0000-0000-0000-000000000000}"/>
          </ac:spMkLst>
        </pc:spChg>
        <pc:spChg chg="del">
          <ac:chgData name="adriana delle donne" userId="bccfde87c812eabf" providerId="LiveId" clId="{63C4EB39-52B5-4101-B6B9-27F9C95430F6}" dt="2026-08-23T23:09:02.465" v="2863" actId="478"/>
          <ac:spMkLst>
            <pc:docMk/>
            <pc:sldMk cId="0" sldId="412"/>
            <ac:spMk id="25" creationId="{00000000-0000-0000-0000-000000000000}"/>
          </ac:spMkLst>
        </pc:spChg>
        <pc:spChg chg="del">
          <ac:chgData name="adriana delle donne" userId="bccfde87c812eabf" providerId="LiveId" clId="{63C4EB39-52B5-4101-B6B9-27F9C95430F6}" dt="2026-08-23T23:08:55.374" v="2859" actId="478"/>
          <ac:spMkLst>
            <pc:docMk/>
            <pc:sldMk cId="0" sldId="412"/>
            <ac:spMk id="26" creationId="{00000000-0000-0000-0000-000000000000}"/>
          </ac:spMkLst>
        </pc:spChg>
        <pc:spChg chg="del">
          <ac:chgData name="adriana delle donne" userId="bccfde87c812eabf" providerId="LiveId" clId="{63C4EB39-52B5-4101-B6B9-27F9C95430F6}" dt="2026-08-23T23:08:53.451" v="2858" actId="478"/>
          <ac:spMkLst>
            <pc:docMk/>
            <pc:sldMk cId="0" sldId="412"/>
            <ac:spMk id="27" creationId="{00000000-0000-0000-0000-000000000000}"/>
          </ac:spMkLst>
        </pc:spChg>
        <pc:spChg chg="del">
          <ac:chgData name="adriana delle donne" userId="bccfde87c812eabf" providerId="LiveId" clId="{63C4EB39-52B5-4101-B6B9-27F9C95430F6}" dt="2026-08-23T23:08:52.471" v="2857" actId="478"/>
          <ac:spMkLst>
            <pc:docMk/>
            <pc:sldMk cId="0" sldId="412"/>
            <ac:spMk id="28" creationId="{00000000-0000-0000-0000-000000000000}"/>
          </ac:spMkLst>
        </pc:spChg>
        <pc:spChg chg="del">
          <ac:chgData name="adriana delle donne" userId="bccfde87c812eabf" providerId="LiveId" clId="{63C4EB39-52B5-4101-B6B9-27F9C95430F6}" dt="2026-08-23T23:09:01.576" v="2862" actId="478"/>
          <ac:spMkLst>
            <pc:docMk/>
            <pc:sldMk cId="0" sldId="412"/>
            <ac:spMk id="29" creationId="{00000000-0000-0000-0000-000000000000}"/>
          </ac:spMkLst>
        </pc:spChg>
        <pc:spChg chg="del mod">
          <ac:chgData name="adriana delle donne" userId="bccfde87c812eabf" providerId="LiveId" clId="{63C4EB39-52B5-4101-B6B9-27F9C95430F6}" dt="2026-08-23T23:08:57.935" v="2860" actId="478"/>
          <ac:spMkLst>
            <pc:docMk/>
            <pc:sldMk cId="0" sldId="412"/>
            <ac:spMk id="30" creationId="{00000000-0000-0000-0000-000000000000}"/>
          </ac:spMkLst>
        </pc:spChg>
        <pc:spChg chg="del">
          <ac:chgData name="adriana delle donne" userId="bccfde87c812eabf" providerId="LiveId" clId="{63C4EB39-52B5-4101-B6B9-27F9C95430F6}" dt="2026-08-23T23:09:00.659" v="2861" actId="478"/>
          <ac:spMkLst>
            <pc:docMk/>
            <pc:sldMk cId="0" sldId="412"/>
            <ac:spMk id="31" creationId="{00000000-0000-0000-0000-000000000000}"/>
          </ac:spMkLst>
        </pc:spChg>
        <pc:spChg chg="add del">
          <ac:chgData name="adriana delle donne" userId="bccfde87c812eabf" providerId="LiveId" clId="{63C4EB39-52B5-4101-B6B9-27F9C95430F6}" dt="2026-08-23T23:06:33.410" v="2838" actId="478"/>
          <ac:spMkLst>
            <pc:docMk/>
            <pc:sldMk cId="0" sldId="412"/>
            <ac:spMk id="32" creationId="{00000000-0000-0000-0000-000000000000}"/>
          </ac:spMkLst>
        </pc:spChg>
        <pc:spChg chg="del mod">
          <ac:chgData name="adriana delle donne" userId="bccfde87c812eabf" providerId="LiveId" clId="{63C4EB39-52B5-4101-B6B9-27F9C95430F6}" dt="2026-08-23T23:06:37.475" v="2839" actId="478"/>
          <ac:spMkLst>
            <pc:docMk/>
            <pc:sldMk cId="0" sldId="412"/>
            <ac:spMk id="33" creationId="{00000000-0000-0000-0000-000000000000}"/>
          </ac:spMkLst>
        </pc:spChg>
        <pc:spChg chg="mod">
          <ac:chgData name="adriana delle donne" userId="bccfde87c812eabf" providerId="LiveId" clId="{63C4EB39-52B5-4101-B6B9-27F9C95430F6}" dt="2026-08-23T23:09:12.080" v="2865" actId="1076"/>
          <ac:spMkLst>
            <pc:docMk/>
            <pc:sldMk cId="0" sldId="412"/>
            <ac:spMk id="34" creationId="{00000000-0000-0000-0000-000000000000}"/>
          </ac:spMkLst>
        </pc:spChg>
        <pc:spChg chg="mod">
          <ac:chgData name="adriana delle donne" userId="bccfde87c812eabf" providerId="LiveId" clId="{63C4EB39-52B5-4101-B6B9-27F9C95430F6}" dt="2026-08-24T11:58:23.796" v="4432" actId="2711"/>
          <ac:spMkLst>
            <pc:docMk/>
            <pc:sldMk cId="0" sldId="412"/>
            <ac:spMk id="35" creationId="{00000000-0000-0000-0000-000000000000}"/>
          </ac:spMkLst>
        </pc:spChg>
        <pc:spChg chg="mod">
          <ac:chgData name="adriana delle donne" userId="bccfde87c812eabf" providerId="LiveId" clId="{63C4EB39-52B5-4101-B6B9-27F9C95430F6}" dt="2026-08-23T23:01:55.680" v="2813" actId="20577"/>
          <ac:spMkLst>
            <pc:docMk/>
            <pc:sldMk cId="0" sldId="412"/>
            <ac:spMk id="37" creationId="{00000000-0000-0000-0000-000000000000}"/>
          </ac:spMkLst>
        </pc:spChg>
        <pc:spChg chg="mod">
          <ac:chgData name="adriana delle donne" userId="bccfde87c812eabf" providerId="LiveId" clId="{63C4EB39-52B5-4101-B6B9-27F9C95430F6}" dt="2026-08-23T23:01:13.967" v="2792" actId="255"/>
          <ac:spMkLst>
            <pc:docMk/>
            <pc:sldMk cId="0" sldId="412"/>
            <ac:spMk id="39" creationId="{00000000-0000-0000-0000-000000000000}"/>
          </ac:spMkLst>
        </pc:spChg>
        <pc:spChg chg="del mod">
          <ac:chgData name="adriana delle donne" userId="bccfde87c812eabf" providerId="LiveId" clId="{63C4EB39-52B5-4101-B6B9-27F9C95430F6}" dt="2026-08-23T23:38:50.357" v="3578" actId="478"/>
          <ac:spMkLst>
            <pc:docMk/>
            <pc:sldMk cId="0" sldId="412"/>
            <ac:spMk id="40" creationId="{00000000-0000-0000-0000-000000000000}"/>
          </ac:spMkLst>
        </pc:spChg>
        <pc:spChg chg="del mod">
          <ac:chgData name="adriana delle donne" userId="bccfde87c812eabf" providerId="LiveId" clId="{63C4EB39-52B5-4101-B6B9-27F9C95430F6}" dt="2026-08-23T23:07:00.176" v="2841" actId="478"/>
          <ac:spMkLst>
            <pc:docMk/>
            <pc:sldMk cId="0" sldId="412"/>
            <ac:spMk id="41" creationId="{00000000-0000-0000-0000-000000000000}"/>
          </ac:spMkLst>
        </pc:spChg>
        <pc:spChg chg="add mod">
          <ac:chgData name="adriana delle donne" userId="bccfde87c812eabf" providerId="LiveId" clId="{63C4EB39-52B5-4101-B6B9-27F9C95430F6}" dt="2026-08-24T11:58:23.796" v="4432" actId="2711"/>
          <ac:spMkLst>
            <pc:docMk/>
            <pc:sldMk cId="0" sldId="412"/>
            <ac:spMk id="42" creationId="{95BD6217-E3B8-80AE-41CD-27F8567051BA}"/>
          </ac:spMkLst>
        </pc:spChg>
        <pc:spChg chg="add mod">
          <ac:chgData name="adriana delle donne" userId="bccfde87c812eabf" providerId="LiveId" clId="{63C4EB39-52B5-4101-B6B9-27F9C95430F6}" dt="2026-08-23T23:08:01.650" v="2842" actId="571"/>
          <ac:spMkLst>
            <pc:docMk/>
            <pc:sldMk cId="0" sldId="412"/>
            <ac:spMk id="43" creationId="{E96292B9-0171-60E1-0CDD-03E6F624FC4B}"/>
          </ac:spMkLst>
        </pc:spChg>
        <pc:spChg chg="add mod">
          <ac:chgData name="adriana delle donne" userId="bccfde87c812eabf" providerId="LiveId" clId="{63C4EB39-52B5-4101-B6B9-27F9C95430F6}" dt="2026-08-23T23:08:01.650" v="2842" actId="571"/>
          <ac:spMkLst>
            <pc:docMk/>
            <pc:sldMk cId="0" sldId="412"/>
            <ac:spMk id="44" creationId="{B883BAC3-8F28-DF95-C3CA-056D66061631}"/>
          </ac:spMkLst>
        </pc:spChg>
        <pc:spChg chg="add mod">
          <ac:chgData name="adriana delle donne" userId="bccfde87c812eabf" providerId="LiveId" clId="{63C4EB39-52B5-4101-B6B9-27F9C95430F6}" dt="2026-08-23T23:08:01.650" v="2842" actId="571"/>
          <ac:spMkLst>
            <pc:docMk/>
            <pc:sldMk cId="0" sldId="412"/>
            <ac:spMk id="45" creationId="{9108C947-6CC5-2758-8ADC-CAFFD6331A51}"/>
          </ac:spMkLst>
        </pc:spChg>
        <pc:spChg chg="add mod">
          <ac:chgData name="adriana delle donne" userId="bccfde87c812eabf" providerId="LiveId" clId="{63C4EB39-52B5-4101-B6B9-27F9C95430F6}" dt="2026-08-23T23:08:01.650" v="2842" actId="571"/>
          <ac:spMkLst>
            <pc:docMk/>
            <pc:sldMk cId="0" sldId="412"/>
            <ac:spMk id="46" creationId="{A81BA284-FDDD-9C02-FC50-6C362053B7F0}"/>
          </ac:spMkLst>
        </pc:spChg>
        <pc:spChg chg="add mod">
          <ac:chgData name="adriana delle donne" userId="bccfde87c812eabf" providerId="LiveId" clId="{63C4EB39-52B5-4101-B6B9-27F9C95430F6}" dt="2026-08-23T23:08:01.650" v="2842" actId="571"/>
          <ac:spMkLst>
            <pc:docMk/>
            <pc:sldMk cId="0" sldId="412"/>
            <ac:spMk id="47" creationId="{22A30383-7064-4BDB-B2D2-C17A12F70215}"/>
          </ac:spMkLst>
        </pc:spChg>
        <pc:spChg chg="add mod">
          <ac:chgData name="adriana delle donne" userId="bccfde87c812eabf" providerId="LiveId" clId="{63C4EB39-52B5-4101-B6B9-27F9C95430F6}" dt="2026-08-23T23:08:01.650" v="2842" actId="571"/>
          <ac:spMkLst>
            <pc:docMk/>
            <pc:sldMk cId="0" sldId="412"/>
            <ac:spMk id="48" creationId="{2A06F4E8-7308-7D73-A420-762F31CECDBE}"/>
          </ac:spMkLst>
        </pc:spChg>
        <pc:spChg chg="add del mod">
          <ac:chgData name="adriana delle donne" userId="bccfde87c812eabf" providerId="LiveId" clId="{63C4EB39-52B5-4101-B6B9-27F9C95430F6}" dt="2026-08-23T23:08:10.766" v="2844" actId="478"/>
          <ac:spMkLst>
            <pc:docMk/>
            <pc:sldMk cId="0" sldId="412"/>
            <ac:spMk id="49" creationId="{896AABD9-00B7-AB20-66E0-1508BD63CF41}"/>
          </ac:spMkLst>
        </pc:spChg>
        <pc:spChg chg="add del mod">
          <ac:chgData name="adriana delle donne" userId="bccfde87c812eabf" providerId="LiveId" clId="{63C4EB39-52B5-4101-B6B9-27F9C95430F6}" dt="2026-08-23T23:08:40.971" v="2850" actId="478"/>
          <ac:spMkLst>
            <pc:docMk/>
            <pc:sldMk cId="0" sldId="412"/>
            <ac:spMk id="50" creationId="{AFD2B114-6B18-8C68-8A56-C1E5074141F0}"/>
          </ac:spMkLst>
        </pc:spChg>
        <pc:spChg chg="add del mod">
          <ac:chgData name="adriana delle donne" userId="bccfde87c812eabf" providerId="LiveId" clId="{63C4EB39-52B5-4101-B6B9-27F9C95430F6}" dt="2026-08-23T23:08:42.786" v="2851" actId="478"/>
          <ac:spMkLst>
            <pc:docMk/>
            <pc:sldMk cId="0" sldId="412"/>
            <ac:spMk id="51" creationId="{764AD800-367B-015E-CE2F-28E94AB480EF}"/>
          </ac:spMkLst>
        </pc:spChg>
        <pc:spChg chg="add del mod">
          <ac:chgData name="adriana delle donne" userId="bccfde87c812eabf" providerId="LiveId" clId="{63C4EB39-52B5-4101-B6B9-27F9C95430F6}" dt="2026-08-23T23:08:43.825" v="2852" actId="478"/>
          <ac:spMkLst>
            <pc:docMk/>
            <pc:sldMk cId="0" sldId="412"/>
            <ac:spMk id="52" creationId="{FCADFDD7-6994-665A-B7DD-969F09A6E304}"/>
          </ac:spMkLst>
        </pc:spChg>
        <pc:spChg chg="add del mod">
          <ac:chgData name="adriana delle donne" userId="bccfde87c812eabf" providerId="LiveId" clId="{63C4EB39-52B5-4101-B6B9-27F9C95430F6}" dt="2026-08-23T23:08:47.253" v="2854" actId="478"/>
          <ac:spMkLst>
            <pc:docMk/>
            <pc:sldMk cId="0" sldId="412"/>
            <ac:spMk id="53" creationId="{C8FD8ADE-E9B8-2D89-3A38-889444C6DFD0}"/>
          </ac:spMkLst>
        </pc:spChg>
        <pc:spChg chg="add del mod">
          <ac:chgData name="adriana delle donne" userId="bccfde87c812eabf" providerId="LiveId" clId="{63C4EB39-52B5-4101-B6B9-27F9C95430F6}" dt="2026-08-23T23:08:44.932" v="2853" actId="478"/>
          <ac:spMkLst>
            <pc:docMk/>
            <pc:sldMk cId="0" sldId="412"/>
            <ac:spMk id="54" creationId="{B3F119FA-8F07-84D7-D935-9D278094D509}"/>
          </ac:spMkLst>
        </pc:spChg>
        <pc:spChg chg="add del mod">
          <ac:chgData name="adriana delle donne" userId="bccfde87c812eabf" providerId="LiveId" clId="{63C4EB39-52B5-4101-B6B9-27F9C95430F6}" dt="2026-08-23T23:08:51.294" v="2856" actId="478"/>
          <ac:spMkLst>
            <pc:docMk/>
            <pc:sldMk cId="0" sldId="412"/>
            <ac:spMk id="55" creationId="{6EE10C30-5A60-9A15-6A4F-512167B5F976}"/>
          </ac:spMkLst>
        </pc:spChg>
        <pc:spChg chg="add del mod">
          <ac:chgData name="adriana delle donne" userId="bccfde87c812eabf" providerId="LiveId" clId="{63C4EB39-52B5-4101-B6B9-27F9C95430F6}" dt="2026-08-23T23:08:49.684" v="2855" actId="478"/>
          <ac:spMkLst>
            <pc:docMk/>
            <pc:sldMk cId="0" sldId="412"/>
            <ac:spMk id="56" creationId="{D29DA689-160B-FD22-5658-61F5AA776140}"/>
          </ac:spMkLst>
        </pc:spChg>
      </pc:sldChg>
      <pc:sldChg chg="modSp add del mod setBg">
        <pc:chgData name="adriana delle donne" userId="bccfde87c812eabf" providerId="LiveId" clId="{63C4EB39-52B5-4101-B6B9-27F9C95430F6}" dt="2026-08-23T23:55:45.746" v="3960" actId="2696"/>
        <pc:sldMkLst>
          <pc:docMk/>
          <pc:sldMk cId="0" sldId="413"/>
        </pc:sldMkLst>
        <pc:spChg chg="mod">
          <ac:chgData name="adriana delle donne" userId="bccfde87c812eabf" providerId="LiveId" clId="{63C4EB39-52B5-4101-B6B9-27F9C95430F6}" dt="2026-08-23T23:47:31.346" v="3805" actId="21"/>
          <ac:spMkLst>
            <pc:docMk/>
            <pc:sldMk cId="0" sldId="413"/>
            <ac:spMk id="15" creationId="{00000000-0000-0000-0000-000000000000}"/>
          </ac:spMkLst>
        </pc:spChg>
      </pc:sldChg>
      <pc:sldChg chg="addSp delSp modSp new mod">
        <pc:chgData name="adriana delle donne" userId="bccfde87c812eabf" providerId="LiveId" clId="{63C4EB39-52B5-4101-B6B9-27F9C95430F6}" dt="2026-08-24T00:07:43.851" v="4319" actId="6549"/>
        <pc:sldMkLst>
          <pc:docMk/>
          <pc:sldMk cId="1887241192" sldId="413"/>
        </pc:sldMkLst>
        <pc:spChg chg="add mod">
          <ac:chgData name="adriana delle donne" userId="bccfde87c812eabf" providerId="LiveId" clId="{63C4EB39-52B5-4101-B6B9-27F9C95430F6}" dt="2026-08-24T00:04:26.330" v="4082" actId="14100"/>
          <ac:spMkLst>
            <pc:docMk/>
            <pc:sldMk cId="1887241192" sldId="413"/>
            <ac:spMk id="3" creationId="{A395D073-11D8-12AF-5E88-527FDF3628FC}"/>
          </ac:spMkLst>
        </pc:spChg>
        <pc:spChg chg="add mod">
          <ac:chgData name="adriana delle donne" userId="bccfde87c812eabf" providerId="LiveId" clId="{63C4EB39-52B5-4101-B6B9-27F9C95430F6}" dt="2026-08-24T00:01:16.810" v="3999" actId="255"/>
          <ac:spMkLst>
            <pc:docMk/>
            <pc:sldMk cId="1887241192" sldId="413"/>
            <ac:spMk id="5" creationId="{D85972AA-FE21-1206-3889-1D34AF942CBF}"/>
          </ac:spMkLst>
        </pc:spChg>
        <pc:spChg chg="add mod">
          <ac:chgData name="adriana delle donne" userId="bccfde87c812eabf" providerId="LiveId" clId="{63C4EB39-52B5-4101-B6B9-27F9C95430F6}" dt="2026-08-24T00:01:26.011" v="4000" actId="1076"/>
          <ac:spMkLst>
            <pc:docMk/>
            <pc:sldMk cId="1887241192" sldId="413"/>
            <ac:spMk id="7" creationId="{3B13B288-124B-724C-55D7-F4C109F6078E}"/>
          </ac:spMkLst>
        </pc:spChg>
        <pc:spChg chg="add mod">
          <ac:chgData name="adriana delle donne" userId="bccfde87c812eabf" providerId="LiveId" clId="{63C4EB39-52B5-4101-B6B9-27F9C95430F6}" dt="2026-08-24T00:05:21.714" v="4115" actId="6549"/>
          <ac:spMkLst>
            <pc:docMk/>
            <pc:sldMk cId="1887241192" sldId="413"/>
            <ac:spMk id="9" creationId="{9F1431DB-647D-6EC0-6216-4EFA963F334C}"/>
          </ac:spMkLst>
        </pc:spChg>
        <pc:spChg chg="add mod">
          <ac:chgData name="adriana delle donne" userId="bccfde87c812eabf" providerId="LiveId" clId="{63C4EB39-52B5-4101-B6B9-27F9C95430F6}" dt="2026-08-24T00:02:13.978" v="4051" actId="1076"/>
          <ac:spMkLst>
            <pc:docMk/>
            <pc:sldMk cId="1887241192" sldId="413"/>
            <ac:spMk id="11" creationId="{2588CD44-FAE3-69C7-AF06-BB7D287CF767}"/>
          </ac:spMkLst>
        </pc:spChg>
        <pc:spChg chg="add mod">
          <ac:chgData name="adriana delle donne" userId="bccfde87c812eabf" providerId="LiveId" clId="{63C4EB39-52B5-4101-B6B9-27F9C95430F6}" dt="2026-08-24T00:07:43.851" v="4319" actId="6549"/>
          <ac:spMkLst>
            <pc:docMk/>
            <pc:sldMk cId="1887241192" sldId="413"/>
            <ac:spMk id="13" creationId="{B370A13D-2859-C08A-E6C4-5F62723E3D83}"/>
          </ac:spMkLst>
        </pc:spChg>
        <pc:spChg chg="add mod">
          <ac:chgData name="adriana delle donne" userId="bccfde87c812eabf" providerId="LiveId" clId="{63C4EB39-52B5-4101-B6B9-27F9C95430F6}" dt="2026-08-24T00:04:16.144" v="4080" actId="1076"/>
          <ac:spMkLst>
            <pc:docMk/>
            <pc:sldMk cId="1887241192" sldId="413"/>
            <ac:spMk id="15" creationId="{C99792AC-B4C6-7FCC-8DC7-E22A051A3DB7}"/>
          </ac:spMkLst>
        </pc:spChg>
        <pc:spChg chg="add mod">
          <ac:chgData name="adriana delle donne" userId="bccfde87c812eabf" providerId="LiveId" clId="{63C4EB39-52B5-4101-B6B9-27F9C95430F6}" dt="2026-08-24T00:05:08.174" v="4114" actId="6549"/>
          <ac:spMkLst>
            <pc:docMk/>
            <pc:sldMk cId="1887241192" sldId="413"/>
            <ac:spMk id="17" creationId="{52C29E88-CED2-0332-6B2A-1C1F0598DF5B}"/>
          </ac:spMkLst>
        </pc:spChg>
        <pc:spChg chg="add del mod">
          <ac:chgData name="adriana delle donne" userId="bccfde87c812eabf" providerId="LiveId" clId="{63C4EB39-52B5-4101-B6B9-27F9C95430F6}" dt="2026-08-24T00:00:32.596" v="3990" actId="478"/>
          <ac:spMkLst>
            <pc:docMk/>
            <pc:sldMk cId="1887241192" sldId="413"/>
            <ac:spMk id="19" creationId="{3ECA0E0B-E702-B0BB-726E-15557C9E7CD9}"/>
          </ac:spMkLst>
        </pc:spChg>
        <pc:spChg chg="add del mod">
          <ac:chgData name="adriana delle donne" userId="bccfde87c812eabf" providerId="LiveId" clId="{63C4EB39-52B5-4101-B6B9-27F9C95430F6}" dt="2026-08-24T00:00:30.252" v="3989" actId="478"/>
          <ac:spMkLst>
            <pc:docMk/>
            <pc:sldMk cId="1887241192" sldId="413"/>
            <ac:spMk id="21" creationId="{FD51475F-999A-1C7F-88DC-8B0660F0F6F3}"/>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bar"/>
        <c:grouping val="percentStacked"/>
        <c:varyColors val="0"/>
        <c:ser>
          <c:idx val="0"/>
          <c:order val="0"/>
          <c:tx>
            <c:strRef>
              <c:f>Sheet1!$B$1</c:f>
              <c:strCache>
                <c:ptCount val="1"/>
                <c:pt idx="0">
                  <c:v>Salario base</c:v>
                </c:pt>
              </c:strCache>
            </c:strRef>
          </c:tx>
          <c:spPr>
            <a:solidFill>
              <a:srgbClr val="3D6FB4"/>
            </a:solidFill>
            <a:effectLst/>
          </c:spPr>
          <c:invertIfNegative val="0"/>
          <c:dLbls>
            <c:numFmt formatCode="0&quot;%&quot;" sourceLinked="0"/>
            <c:spPr>
              <a:noFill/>
              <a:ln>
                <a:noFill/>
              </a:ln>
              <a:effectLst/>
            </c:spPr>
            <c:txPr>
              <a:bodyPr/>
              <a:lstStyle/>
              <a:p>
                <a:pPr>
                  <a:defRPr sz="1100" b="0" i="0" u="none" strike="noStrike">
                    <a:solidFill>
                      <a:srgbClr val="FFFFFF"/>
                    </a:solidFill>
                    <a:latin typeface="Tw Cen MT"/>
                  </a:defRPr>
                </a:pPr>
                <a:endParaRPr lang="es-419"/>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Américas</c:v>
                </c:pt>
                <c:pt idx="1">
                  <c:v>Europa y Australia</c:v>
                </c:pt>
                <c:pt idx="2">
                  <c:v>Asia</c:v>
                </c:pt>
              </c:strCache>
            </c:strRef>
          </c:cat>
          <c:val>
            <c:numRef>
              <c:f>Sheet1!$B$2:$B$4</c:f>
              <c:numCache>
                <c:formatCode>General</c:formatCode>
                <c:ptCount val="3"/>
                <c:pt idx="0">
                  <c:v>8</c:v>
                </c:pt>
                <c:pt idx="1">
                  <c:v>27</c:v>
                </c:pt>
                <c:pt idx="2">
                  <c:v>33</c:v>
                </c:pt>
              </c:numCache>
            </c:numRef>
          </c:val>
          <c:extLst>
            <c:ext xmlns:c16="http://schemas.microsoft.com/office/drawing/2014/chart" uri="{C3380CC4-5D6E-409C-BE32-E72D297353CC}">
              <c16:uniqueId val="{00000000-1844-4F2D-845C-96DAD1E9F9C4}"/>
            </c:ext>
          </c:extLst>
        </c:ser>
        <c:ser>
          <c:idx val="1"/>
          <c:order val="1"/>
          <c:tx>
            <c:strRef>
              <c:f>Sheet1!$C$1</c:f>
              <c:strCache>
                <c:ptCount val="1"/>
                <c:pt idx="0">
                  <c:v>Bono anual</c:v>
                </c:pt>
              </c:strCache>
            </c:strRef>
          </c:tx>
          <c:spPr>
            <a:solidFill>
              <a:srgbClr val="D4A017"/>
            </a:solidFill>
            <a:effectLst/>
          </c:spPr>
          <c:invertIfNegative val="0"/>
          <c:dLbls>
            <c:numFmt formatCode="0&quot;%&quot;" sourceLinked="0"/>
            <c:spPr>
              <a:noFill/>
              <a:ln>
                <a:noFill/>
              </a:ln>
              <a:effectLst/>
            </c:spPr>
            <c:txPr>
              <a:bodyPr/>
              <a:lstStyle/>
              <a:p>
                <a:pPr>
                  <a:defRPr sz="1100" b="0" i="0" u="none" strike="noStrike">
                    <a:solidFill>
                      <a:srgbClr val="FFFFFF"/>
                    </a:solidFill>
                    <a:latin typeface="Tw Cen MT"/>
                  </a:defRPr>
                </a:pPr>
                <a:endParaRPr lang="es-419"/>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Américas</c:v>
                </c:pt>
                <c:pt idx="1">
                  <c:v>Europa y Australia</c:v>
                </c:pt>
                <c:pt idx="2">
                  <c:v>Asia</c:v>
                </c:pt>
              </c:strCache>
            </c:strRef>
          </c:cat>
          <c:val>
            <c:numRef>
              <c:f>Sheet1!$C$2:$C$4</c:f>
              <c:numCache>
                <c:formatCode>General</c:formatCode>
                <c:ptCount val="3"/>
                <c:pt idx="0">
                  <c:v>14</c:v>
                </c:pt>
                <c:pt idx="1">
                  <c:v>28</c:v>
                </c:pt>
                <c:pt idx="2">
                  <c:v>40</c:v>
                </c:pt>
              </c:numCache>
            </c:numRef>
          </c:val>
          <c:extLst>
            <c:ext xmlns:c16="http://schemas.microsoft.com/office/drawing/2014/chart" uri="{C3380CC4-5D6E-409C-BE32-E72D297353CC}">
              <c16:uniqueId val="{00000001-1844-4F2D-845C-96DAD1E9F9C4}"/>
            </c:ext>
          </c:extLst>
        </c:ser>
        <c:ser>
          <c:idx val="2"/>
          <c:order val="2"/>
          <c:tx>
            <c:strRef>
              <c:f>Sheet1!$D$1</c:f>
              <c:strCache>
                <c:ptCount val="1"/>
                <c:pt idx="0">
                  <c:v>Incentivos de largo plazo (LTI)</c:v>
                </c:pt>
              </c:strCache>
            </c:strRef>
          </c:tx>
          <c:spPr>
            <a:solidFill>
              <a:srgbClr val="C0392B"/>
            </a:solidFill>
            <a:effectLst/>
          </c:spPr>
          <c:invertIfNegative val="0"/>
          <c:dLbls>
            <c:numFmt formatCode="0&quot;%&quot;" sourceLinked="0"/>
            <c:spPr>
              <a:noFill/>
              <a:ln>
                <a:noFill/>
              </a:ln>
              <a:effectLst/>
            </c:spPr>
            <c:txPr>
              <a:bodyPr/>
              <a:lstStyle/>
              <a:p>
                <a:pPr>
                  <a:defRPr sz="1100" b="0" i="0" u="none" strike="noStrike">
                    <a:solidFill>
                      <a:srgbClr val="FFFFFF"/>
                    </a:solidFill>
                    <a:latin typeface="Tw Cen MT"/>
                  </a:defRPr>
                </a:pPr>
                <a:endParaRPr lang="es-419"/>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Américas</c:v>
                </c:pt>
                <c:pt idx="1">
                  <c:v>Europa y Australia</c:v>
                </c:pt>
                <c:pt idx="2">
                  <c:v>Asia</c:v>
                </c:pt>
              </c:strCache>
            </c:strRef>
          </c:cat>
          <c:val>
            <c:numRef>
              <c:f>Sheet1!$D$2:$D$4</c:f>
              <c:numCache>
                <c:formatCode>General</c:formatCode>
                <c:ptCount val="3"/>
                <c:pt idx="0">
                  <c:v>78</c:v>
                </c:pt>
                <c:pt idx="1">
                  <c:v>45</c:v>
                </c:pt>
                <c:pt idx="2">
                  <c:v>27</c:v>
                </c:pt>
              </c:numCache>
            </c:numRef>
          </c:val>
          <c:extLst>
            <c:ext xmlns:c16="http://schemas.microsoft.com/office/drawing/2014/chart" uri="{C3380CC4-5D6E-409C-BE32-E72D297353CC}">
              <c16:uniqueId val="{00000002-1844-4F2D-845C-96DAD1E9F9C4}"/>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8E9F2"/>
                </a:solidFill>
                <a:latin typeface="Tw Cen M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1E2761"/>
        </a:solidFill>
        <a:ln>
          <a:noFill/>
        </a:ln>
        <a:effectLst/>
      </c:spPr>
    </c:plotArea>
    <c:legend>
      <c:legendPos val="b"/>
      <c:overlay val="0"/>
      <c:txPr>
        <a:bodyPr/>
        <a:lstStyle/>
        <a:p>
          <a:pPr>
            <a:defRPr sz="1100">
              <a:solidFill>
                <a:srgbClr val="FFFFFF"/>
              </a:solidFill>
              <a:latin typeface="Tw Cen MT"/>
              <a:cs typeface="Tw Cen MT"/>
            </a:defRPr>
          </a:pPr>
          <a:endParaRPr lang="en-US"/>
        </a:p>
      </c:txPr>
    </c:legend>
    <c:plotVisOnly val="1"/>
    <c:dispBlanksAs val="span"/>
    <c:showDLblsOverMax val="1"/>
  </c:chart>
  <c:spPr>
    <a:solidFill>
      <a:srgbClr val="1E2761"/>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6DF739-D871-4A1F-B1D9-715307ABBC60}" type="datetimeFigureOut">
              <a:rPr lang="en-US" smtClean="0"/>
              <a:t>8/24/2026</a:t>
            </a:fld>
            <a:endParaRPr lang="en-U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33B87-53A4-43AB-A240-58B9789883DC}" type="slidenum">
              <a:rPr lang="en-US" smtClean="0"/>
              <a:t>‹Nº›</a:t>
            </a:fld>
            <a:endParaRPr lang="en-US"/>
          </a:p>
        </p:txBody>
      </p:sp>
    </p:spTree>
    <p:extLst>
      <p:ext uri="{BB962C8B-B14F-4D97-AF65-F5344CB8AC3E}">
        <p14:creationId xmlns:p14="http://schemas.microsoft.com/office/powerpoint/2010/main" val="1741851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4AE33B87-53A4-43AB-A240-58B9789883DC}" type="slidenum">
              <a:rPr lang="en-US" smtClean="0"/>
              <a:t>1</a:t>
            </a:fld>
            <a:endParaRPr lang="en-US"/>
          </a:p>
        </p:txBody>
      </p:sp>
    </p:spTree>
    <p:extLst>
      <p:ext uri="{BB962C8B-B14F-4D97-AF65-F5344CB8AC3E}">
        <p14:creationId xmlns:p14="http://schemas.microsoft.com/office/powerpoint/2010/main" val="3319327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4AE33B87-53A4-43AB-A240-58B9789883DC}" type="slidenum">
              <a:rPr lang="en-US" smtClean="0"/>
              <a:t>4</a:t>
            </a:fld>
            <a:endParaRPr lang="en-US"/>
          </a:p>
        </p:txBody>
      </p:sp>
    </p:spTree>
    <p:extLst>
      <p:ext uri="{BB962C8B-B14F-4D97-AF65-F5344CB8AC3E}">
        <p14:creationId xmlns:p14="http://schemas.microsoft.com/office/powerpoint/2010/main" val="580114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4AE33B87-53A4-43AB-A240-58B9789883DC}" type="slidenum">
              <a:rPr lang="en-US" smtClean="0"/>
              <a:t>13</a:t>
            </a:fld>
            <a:endParaRPr lang="en-US"/>
          </a:p>
        </p:txBody>
      </p:sp>
    </p:spTree>
    <p:extLst>
      <p:ext uri="{BB962C8B-B14F-4D97-AF65-F5344CB8AC3E}">
        <p14:creationId xmlns:p14="http://schemas.microsoft.com/office/powerpoint/2010/main" val="3657547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4AE33B87-53A4-43AB-A240-58B9789883DC}" type="slidenum">
              <a:rPr lang="en-US" smtClean="0"/>
              <a:t>19</a:t>
            </a:fld>
            <a:endParaRPr lang="en-US"/>
          </a:p>
        </p:txBody>
      </p:sp>
    </p:spTree>
    <p:extLst>
      <p:ext uri="{BB962C8B-B14F-4D97-AF65-F5344CB8AC3E}">
        <p14:creationId xmlns:p14="http://schemas.microsoft.com/office/powerpoint/2010/main" val="3950011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4AE33B87-53A4-43AB-A240-58B9789883DC}" type="slidenum">
              <a:rPr lang="en-US" smtClean="0"/>
              <a:t>43</a:t>
            </a:fld>
            <a:endParaRPr lang="en-US"/>
          </a:p>
        </p:txBody>
      </p:sp>
    </p:spTree>
    <p:extLst>
      <p:ext uri="{BB962C8B-B14F-4D97-AF65-F5344CB8AC3E}">
        <p14:creationId xmlns:p14="http://schemas.microsoft.com/office/powerpoint/2010/main" val="275253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0643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4B6A1A7E-89B0-0F62-1B33-087814E2BE32}"/>
              </a:ext>
            </a:extLst>
          </p:cNvPr>
          <p:cNvSpPr txBox="1"/>
          <p:nvPr/>
        </p:nvSpPr>
        <p:spPr>
          <a:xfrm>
            <a:off x="2774626" y="5085642"/>
            <a:ext cx="4038606" cy="95410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AR" sz="2800" b="1" i="0" u="none" strike="noStrike" kern="1200" cap="none" spc="0" normalizeH="0" baseline="0" noProof="0" dirty="0">
                <a:ln>
                  <a:noFill/>
                </a:ln>
                <a:solidFill>
                  <a:prstClr val="black"/>
                </a:solidFill>
                <a:effectLst/>
                <a:uLnTx/>
                <a:uFillTx/>
                <a:latin typeface="Tw Cen MT"/>
                <a:ea typeface="+mn-ea"/>
                <a:cs typeface="+mn-cs"/>
              </a:rPr>
              <a:t>Profesora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AR" sz="2800" b="1" i="0" u="none" strike="noStrike" kern="1200" cap="none" spc="0" normalizeH="0" baseline="0" noProof="0" dirty="0">
                <a:ln>
                  <a:noFill/>
                </a:ln>
                <a:solidFill>
                  <a:prstClr val="black"/>
                </a:solidFill>
                <a:effectLst/>
                <a:uLnTx/>
                <a:uFillTx/>
                <a:latin typeface="Tw Cen MT"/>
                <a:ea typeface="+mn-ea"/>
                <a:cs typeface="+mn-cs"/>
              </a:rPr>
              <a:t>Dra. Adriana Delle Donne</a:t>
            </a:r>
          </a:p>
        </p:txBody>
      </p:sp>
      <p:sp>
        <p:nvSpPr>
          <p:cNvPr id="8" name="CuadroTexto 7">
            <a:extLst>
              <a:ext uri="{FF2B5EF4-FFF2-40B4-BE49-F238E27FC236}">
                <a16:creationId xmlns:a16="http://schemas.microsoft.com/office/drawing/2014/main" id="{FD6DB1E1-0588-74EC-AE0F-2B275872BCC9}"/>
              </a:ext>
            </a:extLst>
          </p:cNvPr>
          <p:cNvSpPr txBox="1"/>
          <p:nvPr/>
        </p:nvSpPr>
        <p:spPr>
          <a:xfrm>
            <a:off x="2282494" y="3666084"/>
            <a:ext cx="4482446" cy="954107"/>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AR" sz="2800" b="1" i="0" u="none" strike="noStrike" kern="1200" cap="none" spc="0" normalizeH="0" baseline="0" noProof="0" dirty="0">
                <a:ln>
                  <a:noFill/>
                </a:ln>
                <a:solidFill>
                  <a:srgbClr val="CC0000"/>
                </a:solidFill>
                <a:effectLst/>
                <a:uLnTx/>
                <a:uFillTx/>
                <a:latin typeface="Tw Cen MT"/>
                <a:ea typeface="+mn-ea"/>
                <a:cs typeface="+mn-cs"/>
              </a:rPr>
              <a:t>Clase N 4</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AR" sz="2800" b="1" i="0" u="none" strike="noStrike" kern="1200" cap="none" spc="0" normalizeH="0" baseline="0" noProof="0" dirty="0">
                <a:ln>
                  <a:noFill/>
                </a:ln>
                <a:solidFill>
                  <a:srgbClr val="CC0000"/>
                </a:solidFill>
                <a:effectLst/>
                <a:uLnTx/>
                <a:uFillTx/>
                <a:latin typeface="Tw Cen MT"/>
                <a:ea typeface="+mn-ea"/>
                <a:cs typeface="+mn-cs"/>
              </a:rPr>
              <a:t>AO – Política Compensatoria</a:t>
            </a:r>
          </a:p>
        </p:txBody>
      </p:sp>
      <p:pic>
        <p:nvPicPr>
          <p:cNvPr id="3" name="Imagen 2" descr="UCEMA&#10;&#10;El contenido generado por IA puede ser incorrecto.">
            <a:extLst>
              <a:ext uri="{FF2B5EF4-FFF2-40B4-BE49-F238E27FC236}">
                <a16:creationId xmlns:a16="http://schemas.microsoft.com/office/drawing/2014/main" id="{864AEE0B-5DC4-AC28-5E16-C771B97BE576}"/>
              </a:ext>
            </a:extLst>
          </p:cNvPr>
          <p:cNvPicPr>
            <a:picLocks noChangeAspect="1"/>
          </p:cNvPicPr>
          <p:nvPr/>
        </p:nvPicPr>
        <p:blipFill>
          <a:blip r:embed="rId3"/>
          <a:stretch>
            <a:fillRect/>
          </a:stretch>
        </p:blipFill>
        <p:spPr>
          <a:xfrm>
            <a:off x="3742872" y="462848"/>
            <a:ext cx="1658256" cy="1658256"/>
          </a:xfrm>
          <a:prstGeom prst="rect">
            <a:avLst/>
          </a:prstGeom>
        </p:spPr>
      </p:pic>
      <p:pic>
        <p:nvPicPr>
          <p:cNvPr id="4" name="Imagen 3" descr="The image shows a person holding a phone.&#10;&#10;El contenido generado por IA puede ser incorrecto.">
            <a:extLst>
              <a:ext uri="{FF2B5EF4-FFF2-40B4-BE49-F238E27FC236}">
                <a16:creationId xmlns:a16="http://schemas.microsoft.com/office/drawing/2014/main" id="{B8AC3829-18E0-3525-D324-A683A5D0996B}"/>
              </a:ext>
            </a:extLst>
          </p:cNvPr>
          <p:cNvPicPr>
            <a:picLocks noChangeAspect="1"/>
          </p:cNvPicPr>
          <p:nvPr/>
        </p:nvPicPr>
        <p:blipFill>
          <a:blip r:embed="rId4"/>
          <a:stretch>
            <a:fillRect/>
          </a:stretch>
        </p:blipFill>
        <p:spPr>
          <a:xfrm>
            <a:off x="1082307" y="2543806"/>
            <a:ext cx="7267062" cy="11766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2744"/>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286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9144000" cy="2286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457200" y="516523"/>
            <a:ext cx="8229600" cy="338554"/>
          </a:xfrm>
          <a:prstGeom prst="rect">
            <a:avLst/>
          </a:prstGeom>
          <a:noFill/>
        </p:spPr>
        <p:txBody>
          <a:bodyPr wrap="square" anchor="ctr">
            <a:spAutoFit/>
          </a:bodyPr>
          <a:lstStyle/>
          <a:p>
            <a:pPr algn="ctr"/>
            <a:r>
              <a:rPr sz="1600" b="1" i="1">
                <a:solidFill>
                  <a:srgbClr val="D4A017"/>
                </a:solidFill>
                <a:latin typeface="Tw Cen MT" panose="020B0602020104020603" pitchFamily="34" charset="0"/>
              </a:rPr>
              <a:t>PREGUNTA CENTRAL DE LA CLASE</a:t>
            </a:r>
          </a:p>
        </p:txBody>
      </p:sp>
      <p:sp>
        <p:nvSpPr>
          <p:cNvPr id="5" name="TextBox 4"/>
          <p:cNvSpPr txBox="1"/>
          <p:nvPr/>
        </p:nvSpPr>
        <p:spPr>
          <a:xfrm>
            <a:off x="457200" y="1066800"/>
            <a:ext cx="8229600" cy="1477328"/>
          </a:xfrm>
          <a:prstGeom prst="rect">
            <a:avLst/>
          </a:prstGeom>
          <a:noFill/>
        </p:spPr>
        <p:txBody>
          <a:bodyPr wrap="square">
            <a:spAutoFit/>
          </a:bodyPr>
          <a:lstStyle/>
          <a:p>
            <a:pPr algn="ctr"/>
            <a:r>
              <a:rPr sz="3000" b="1" i="0">
                <a:solidFill>
                  <a:srgbClr val="FFFFFF"/>
                </a:solidFill>
                <a:latin typeface="Tw Cen MT" panose="020B0602020104020603" pitchFamily="34" charset="0"/>
              </a:rPr>
              <a:t>¿Cómo diseñar una política compensatoria que atraiga, retenga y motive a los empleados a tomar decisiones que generen valor para la firma?</a:t>
            </a:r>
          </a:p>
        </p:txBody>
      </p:sp>
      <p:sp>
        <p:nvSpPr>
          <p:cNvPr id="7" name="TextBox 6"/>
          <p:cNvSpPr txBox="1"/>
          <p:nvPr/>
        </p:nvSpPr>
        <p:spPr>
          <a:xfrm>
            <a:off x="457200" y="3429000"/>
            <a:ext cx="8229600" cy="457200"/>
          </a:xfrm>
          <a:prstGeom prst="rect">
            <a:avLst/>
          </a:prstGeom>
          <a:noFill/>
        </p:spPr>
        <p:txBody>
          <a:bodyPr wrap="square" anchor="ctr">
            <a:spAutoFit/>
          </a:bodyPr>
          <a:lstStyle/>
          <a:p>
            <a:pPr algn="ctr"/>
            <a:r>
              <a:rPr sz="2400" b="1" i="0" dirty="0">
                <a:solidFill>
                  <a:srgbClr val="D4A017"/>
                </a:solidFill>
                <a:latin typeface="Tw Cen MT" panose="020B0602020104020603" pitchFamily="34" charset="0"/>
              </a:rPr>
              <a:t>El </a:t>
            </a:r>
            <a:r>
              <a:rPr sz="2400" b="1" i="0" dirty="0" err="1">
                <a:solidFill>
                  <a:srgbClr val="D4A017"/>
                </a:solidFill>
                <a:latin typeface="Tw Cen MT" panose="020B0602020104020603" pitchFamily="34" charset="0"/>
              </a:rPr>
              <a:t>dilema</a:t>
            </a:r>
            <a:r>
              <a:rPr sz="2400" b="1" i="0" dirty="0">
                <a:solidFill>
                  <a:srgbClr val="D4A017"/>
                </a:solidFill>
                <a:latin typeface="Tw Cen MT" panose="020B0602020104020603" pitchFamily="34" charset="0"/>
              </a:rPr>
              <a:t> central:</a:t>
            </a:r>
          </a:p>
        </p:txBody>
      </p:sp>
      <p:sp>
        <p:nvSpPr>
          <p:cNvPr id="8" name="TextBox 7"/>
          <p:cNvSpPr txBox="1"/>
          <p:nvPr/>
        </p:nvSpPr>
        <p:spPr>
          <a:xfrm>
            <a:off x="457200" y="3962400"/>
            <a:ext cx="8229600" cy="1785104"/>
          </a:xfrm>
          <a:prstGeom prst="rect">
            <a:avLst/>
          </a:prstGeom>
          <a:noFill/>
        </p:spPr>
        <p:txBody>
          <a:bodyPr wrap="square">
            <a:spAutoFit/>
          </a:bodyPr>
          <a:lstStyle/>
          <a:p>
            <a:pPr algn="ctr"/>
            <a:r>
              <a:rPr sz="2200" b="1" i="0" dirty="0">
                <a:solidFill>
                  <a:srgbClr val="FFFFFF"/>
                </a:solidFill>
                <a:latin typeface="Tw Cen MT" panose="020B0602020104020603" pitchFamily="34" charset="0"/>
              </a:rPr>
              <a:t>Salario </a:t>
            </a:r>
            <a:r>
              <a:rPr sz="2200" b="1" i="0" dirty="0" err="1">
                <a:solidFill>
                  <a:srgbClr val="FFFFFF"/>
                </a:solidFill>
                <a:latin typeface="Tw Cen MT" panose="020B0602020104020603" pitchFamily="34" charset="0"/>
              </a:rPr>
              <a:t>fijo</a:t>
            </a:r>
            <a:r>
              <a:rPr sz="2200" b="1" i="0" dirty="0">
                <a:solidFill>
                  <a:srgbClr val="FFFFFF"/>
                </a:solidFill>
                <a:latin typeface="Tw Cen MT" panose="020B0602020104020603" pitchFamily="34" charset="0"/>
              </a:rPr>
              <a:t> </a:t>
            </a:r>
            <a:endParaRPr lang="es-419" sz="2200" b="1" i="0" dirty="0">
              <a:solidFill>
                <a:srgbClr val="FFFFFF"/>
              </a:solidFill>
              <a:latin typeface="Tw Cen MT" panose="020B0602020104020603" pitchFamily="34" charset="0"/>
            </a:endParaRPr>
          </a:p>
          <a:p>
            <a:pPr algn="ctr"/>
            <a:r>
              <a:rPr lang="es-419" sz="2200" b="1" i="0" dirty="0">
                <a:solidFill>
                  <a:srgbClr val="FFFFFF"/>
                </a:solidFill>
                <a:latin typeface="Tw Cen MT" panose="020B0602020104020603" pitchFamily="34" charset="0"/>
              </a:rPr>
              <a:t>vs.</a:t>
            </a:r>
            <a:endParaRPr lang="es-419" sz="2200" b="1" dirty="0">
              <a:solidFill>
                <a:srgbClr val="FFFFFF"/>
              </a:solidFill>
              <a:latin typeface="Tw Cen MT" panose="020B0602020104020603" pitchFamily="34" charset="0"/>
            </a:endParaRPr>
          </a:p>
          <a:p>
            <a:pPr algn="ctr"/>
            <a:r>
              <a:rPr sz="2200" b="1" i="0" dirty="0">
                <a:solidFill>
                  <a:srgbClr val="FFFFFF"/>
                </a:solidFill>
                <a:latin typeface="Tw Cen MT" panose="020B0602020104020603" pitchFamily="34" charset="0"/>
              </a:rPr>
              <a:t> Salario variable </a:t>
            </a:r>
            <a:endParaRPr lang="es-419" sz="2200" b="1" dirty="0">
              <a:solidFill>
                <a:srgbClr val="FFFFFF"/>
              </a:solidFill>
              <a:latin typeface="Tw Cen MT" panose="020B0602020104020603" pitchFamily="34" charset="0"/>
            </a:endParaRPr>
          </a:p>
          <a:p>
            <a:pPr algn="ctr"/>
            <a:r>
              <a:rPr sz="2200" b="1" i="0" dirty="0">
                <a:solidFill>
                  <a:srgbClr val="FFFFFF"/>
                </a:solidFill>
                <a:latin typeface="Tw Cen MT" panose="020B0602020104020603" pitchFamily="34" charset="0"/>
              </a:rPr>
              <a:t>
</a:t>
            </a:r>
            <a:r>
              <a:rPr sz="2200" i="0" dirty="0">
                <a:solidFill>
                  <a:srgbClr val="FFFFFF"/>
                </a:solidFill>
                <a:latin typeface="Tw Cen MT" panose="020B0602020104020603" pitchFamily="34" charset="0"/>
              </a:rPr>
              <a:t>TRADE-OFF entre </a:t>
            </a:r>
            <a:r>
              <a:rPr sz="2200" i="0" dirty="0" err="1">
                <a:solidFill>
                  <a:srgbClr val="FFFFFF"/>
                </a:solidFill>
                <a:latin typeface="Tw Cen MT" panose="020B0602020104020603" pitchFamily="34" charset="0"/>
              </a:rPr>
              <a:t>reparto</a:t>
            </a:r>
            <a:r>
              <a:rPr sz="2200" i="0" dirty="0">
                <a:solidFill>
                  <a:srgbClr val="FFFFFF"/>
                </a:solidFill>
                <a:latin typeface="Tw Cen MT" panose="020B0602020104020603" pitchFamily="34" charset="0"/>
              </a:rPr>
              <a:t> del </a:t>
            </a:r>
            <a:r>
              <a:rPr sz="2200" i="0" dirty="0" err="1">
                <a:solidFill>
                  <a:srgbClr val="FFFFFF"/>
                </a:solidFill>
                <a:latin typeface="Tw Cen MT" panose="020B0602020104020603" pitchFamily="34" charset="0"/>
              </a:rPr>
              <a:t>riesgo</a:t>
            </a:r>
            <a:r>
              <a:rPr sz="2200" i="0" dirty="0">
                <a:solidFill>
                  <a:srgbClr val="FFFFFF"/>
                </a:solidFill>
                <a:latin typeface="Tw Cen MT" panose="020B0602020104020603" pitchFamily="34" charset="0"/>
              </a:rPr>
              <a:t> e </a:t>
            </a:r>
            <a:r>
              <a:rPr sz="2200" i="0" dirty="0" err="1">
                <a:solidFill>
                  <a:srgbClr val="FFFFFF"/>
                </a:solidFill>
                <a:latin typeface="Tw Cen MT" panose="020B0602020104020603" pitchFamily="34" charset="0"/>
              </a:rPr>
              <a:t>incentivos</a:t>
            </a:r>
            <a:endParaRPr sz="2200" i="0" dirty="0">
              <a:solidFill>
                <a:srgbClr val="FFFFFF"/>
              </a:solidFill>
              <a:latin typeface="Tw Cen MT" panose="020B06020201040206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304800" y="287179"/>
            <a:ext cx="8534400" cy="492443"/>
          </a:xfrm>
          <a:prstGeom prst="rect">
            <a:avLst/>
          </a:prstGeom>
          <a:noFill/>
        </p:spPr>
        <p:txBody>
          <a:bodyPr wrap="square" anchor="ctr">
            <a:spAutoFit/>
          </a:bodyPr>
          <a:lstStyle/>
          <a:p>
            <a:pPr algn="l"/>
            <a:r>
              <a:rPr sz="2600" b="1" i="0" dirty="0" err="1">
                <a:solidFill>
                  <a:srgbClr val="FFFFFF"/>
                </a:solidFill>
                <a:latin typeface="Tw Cen MT" panose="020B0602020104020603" pitchFamily="34" charset="0"/>
              </a:rPr>
              <a:t>Cómo</a:t>
            </a:r>
            <a:r>
              <a:rPr sz="2600" b="1" i="0" dirty="0">
                <a:solidFill>
                  <a:srgbClr val="FFFFFF"/>
                </a:solidFill>
                <a:latin typeface="Tw Cen MT" panose="020B0602020104020603" pitchFamily="34" charset="0"/>
              </a:rPr>
              <a:t> se Paga a </a:t>
            </a:r>
            <a:r>
              <a:rPr sz="2600" b="1" i="0" dirty="0" err="1">
                <a:solidFill>
                  <a:srgbClr val="FFFFFF"/>
                </a:solidFill>
                <a:latin typeface="Tw Cen MT" panose="020B0602020104020603" pitchFamily="34" charset="0"/>
              </a:rPr>
              <a:t>los</a:t>
            </a:r>
            <a:r>
              <a:rPr sz="2600" b="1" i="0" dirty="0">
                <a:solidFill>
                  <a:srgbClr val="FFFFFF"/>
                </a:solidFill>
                <a:latin typeface="Tw Cen MT" panose="020B0602020104020603" pitchFamily="34" charset="0"/>
              </a:rPr>
              <a:t> CEOs — </a:t>
            </a:r>
            <a:r>
              <a:rPr sz="2600" b="1" i="0" dirty="0" err="1">
                <a:solidFill>
                  <a:srgbClr val="FFFFFF"/>
                </a:solidFill>
                <a:latin typeface="Tw Cen MT" panose="020B0602020104020603" pitchFamily="34" charset="0"/>
              </a:rPr>
              <a:t>Tendencias</a:t>
            </a:r>
            <a:endParaRPr sz="2600" b="1" i="0" dirty="0">
              <a:solidFill>
                <a:srgbClr val="FFFFFF"/>
              </a:solidFill>
              <a:latin typeface="Tw Cen MT" panose="020B0602020104020603" pitchFamily="34" charset="0"/>
            </a:endParaRPr>
          </a:p>
        </p:txBody>
      </p:sp>
      <p:sp>
        <p:nvSpPr>
          <p:cNvPr id="5" name="TextBox 4"/>
          <p:cNvSpPr txBox="1"/>
          <p:nvPr/>
        </p:nvSpPr>
        <p:spPr>
          <a:xfrm>
            <a:off x="304800" y="1851660"/>
            <a:ext cx="8534400" cy="3939540"/>
          </a:xfrm>
          <a:prstGeom prst="rect">
            <a:avLst/>
          </a:prstGeom>
          <a:noFill/>
        </p:spPr>
        <p:txBody>
          <a:bodyPr wrap="square">
            <a:spAutoFit/>
          </a:bodyPr>
          <a:lstStyle/>
          <a:p>
            <a:pPr marL="285750" indent="-285750">
              <a:buFont typeface="Arial" panose="020B0604020202020204" pitchFamily="34" charset="0"/>
              <a:buChar char="•"/>
            </a:pPr>
            <a:r>
              <a:rPr lang="es-AR" sz="2400" dirty="0">
                <a:latin typeface="Tw Cen MT" panose="020B0602020104020603" pitchFamily="34" charset="0"/>
              </a:rPr>
              <a:t>La remuneración media  de  los  </a:t>
            </a:r>
            <a:r>
              <a:rPr lang="es-AR" sz="2400" dirty="0" err="1">
                <a:latin typeface="Tw Cen MT" panose="020B0602020104020603" pitchFamily="34" charset="0"/>
              </a:rPr>
              <a:t>CEOs</a:t>
            </a:r>
            <a:r>
              <a:rPr lang="es-AR" sz="2400" dirty="0">
                <a:latin typeface="Tw Cen MT" panose="020B0602020104020603" pitchFamily="34" charset="0"/>
              </a:rPr>
              <a:t>  del  S&amp;P500  aumentó  de  2,3  millones  en  1992 a  9,6  millones en  2001</a:t>
            </a:r>
          </a:p>
          <a:p>
            <a:pPr marL="285750" indent="-285750">
              <a:buFont typeface="Arial" panose="020B0604020202020204" pitchFamily="34" charset="0"/>
              <a:buChar char="•"/>
            </a:pPr>
            <a:endParaRPr lang="es-AR" sz="2400" dirty="0">
              <a:latin typeface="Tw Cen MT" panose="020B0602020104020603" pitchFamily="34" charset="0"/>
            </a:endParaRPr>
          </a:p>
          <a:p>
            <a:pPr marL="285750" indent="-285750">
              <a:buFont typeface="Arial" panose="020B0604020202020204" pitchFamily="34" charset="0"/>
              <a:buChar char="•"/>
            </a:pPr>
            <a:endParaRPr lang="es-AR" sz="2400" dirty="0">
              <a:latin typeface="Tw Cen MT" panose="020B0602020104020603" pitchFamily="34" charset="0"/>
            </a:endParaRPr>
          </a:p>
          <a:p>
            <a:pPr marL="285750" indent="-285750">
              <a:buFont typeface="Arial" panose="020B0604020202020204" pitchFamily="34" charset="0"/>
              <a:buChar char="•"/>
            </a:pPr>
            <a:r>
              <a:rPr lang="es-AR" sz="2400" dirty="0">
                <a:latin typeface="Tw Cen MT" panose="020B0602020104020603" pitchFamily="34" charset="0"/>
              </a:rPr>
              <a:t>El  porcentaje  del  total  de  la  remuneración  a  través  de  la  entrega  de  opciones  y  acciones  pasó  de  un  20%  en  1992  a  un  57%  en  2001 </a:t>
            </a:r>
          </a:p>
          <a:p>
            <a:pPr algn="l">
              <a:spcBef>
                <a:spcPts val="400"/>
              </a:spcBef>
            </a:pPr>
            <a:endParaRPr lang="es-419" sz="2400" b="0" dirty="0">
              <a:solidFill>
                <a:srgbClr val="222222"/>
              </a:solidFill>
              <a:latin typeface="Tw Cen MT" panose="020B0602020104020603" pitchFamily="34" charset="0"/>
            </a:endParaRPr>
          </a:p>
          <a:p>
            <a:pPr algn="l">
              <a:spcBef>
                <a:spcPts val="400"/>
              </a:spcBef>
            </a:pPr>
            <a:endParaRPr sz="2400" b="0" dirty="0">
              <a:solidFill>
                <a:srgbClr val="222222"/>
              </a:solidFill>
              <a:latin typeface="Tw Cen MT" panose="020B0602020104020603" pitchFamily="34" charset="0"/>
            </a:endParaRPr>
          </a:p>
          <a:p>
            <a:pPr algn="r">
              <a:spcBef>
                <a:spcPts val="400"/>
              </a:spcBef>
            </a:pPr>
            <a:r>
              <a:rPr sz="2400" b="0" dirty="0">
                <a:solidFill>
                  <a:srgbClr val="222222"/>
                </a:solidFill>
                <a:latin typeface="Tw Cen MT" panose="020B0602020104020603" pitchFamily="34" charset="0"/>
              </a:rPr>
              <a:t>Fuente: </a:t>
            </a:r>
            <a:r>
              <a:rPr lang="es-AR" sz="2400" dirty="0">
                <a:latin typeface="Tw Cen MT" panose="020B0602020104020603" pitchFamily="34" charset="0"/>
              </a:rPr>
              <a:t>Un análisis internacional de la política retributiva del CEO</a:t>
            </a:r>
            <a:endParaRPr sz="2400" b="0" dirty="0">
              <a:solidFill>
                <a:srgbClr val="222222"/>
              </a:solidFill>
              <a:latin typeface="Tw Cen MT" panose="020B06020201040206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56B6E-A2DC-623F-29B4-D2FBC09577C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98DF0F-C8E9-1744-6825-EDA7E5C012CA}"/>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a:extLst>
              <a:ext uri="{FF2B5EF4-FFF2-40B4-BE49-F238E27FC236}">
                <a16:creationId xmlns:a16="http://schemas.microsoft.com/office/drawing/2014/main" id="{5472E082-606F-783F-8EE5-3431FCE664B0}"/>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a:extLst>
              <a:ext uri="{FF2B5EF4-FFF2-40B4-BE49-F238E27FC236}">
                <a16:creationId xmlns:a16="http://schemas.microsoft.com/office/drawing/2014/main" id="{A90DD0DF-F560-4FC5-7AA2-21F37EEA7152}"/>
              </a:ext>
            </a:extLst>
          </p:cNvPr>
          <p:cNvSpPr txBox="1"/>
          <p:nvPr/>
        </p:nvSpPr>
        <p:spPr>
          <a:xfrm>
            <a:off x="304800" y="287179"/>
            <a:ext cx="8534400" cy="492443"/>
          </a:xfrm>
          <a:prstGeom prst="rect">
            <a:avLst/>
          </a:prstGeom>
          <a:noFill/>
        </p:spPr>
        <p:txBody>
          <a:bodyPr wrap="square" anchor="ctr">
            <a:spAutoFit/>
          </a:bodyPr>
          <a:lstStyle/>
          <a:p>
            <a:pPr algn="l"/>
            <a:r>
              <a:rPr sz="2600" b="1" i="0">
                <a:solidFill>
                  <a:srgbClr val="FFFFFF"/>
                </a:solidFill>
                <a:latin typeface="Tw Cen MT" panose="020B0602020104020603" pitchFamily="34" charset="0"/>
              </a:rPr>
              <a:t>Cómo se Paga a los CEOs — Tendencias</a:t>
            </a:r>
          </a:p>
        </p:txBody>
      </p:sp>
      <p:sp>
        <p:nvSpPr>
          <p:cNvPr id="5" name="TextBox 4">
            <a:extLst>
              <a:ext uri="{FF2B5EF4-FFF2-40B4-BE49-F238E27FC236}">
                <a16:creationId xmlns:a16="http://schemas.microsoft.com/office/drawing/2014/main" id="{E8796834-4A1E-6CE6-6C18-ABFB7D86874E}"/>
              </a:ext>
            </a:extLst>
          </p:cNvPr>
          <p:cNvSpPr txBox="1"/>
          <p:nvPr/>
        </p:nvSpPr>
        <p:spPr>
          <a:xfrm>
            <a:off x="304800" y="1754256"/>
            <a:ext cx="8534400" cy="4678204"/>
          </a:xfrm>
          <a:prstGeom prst="rect">
            <a:avLst/>
          </a:prstGeom>
          <a:noFill/>
        </p:spPr>
        <p:txBody>
          <a:bodyPr wrap="square">
            <a:spAutoFit/>
          </a:bodyPr>
          <a:lstStyle/>
          <a:p>
            <a:pPr marL="342900" indent="-342900" algn="l">
              <a:spcBef>
                <a:spcPts val="400"/>
              </a:spcBef>
              <a:buFont typeface="Arial" panose="020B0604020202020204" pitchFamily="34" charset="0"/>
              <a:buChar char="•"/>
            </a:pPr>
            <a:r>
              <a:rPr lang="es-AR" sz="2400" dirty="0">
                <a:latin typeface="Tw Cen MT" panose="020B0602020104020603" pitchFamily="34" charset="0"/>
              </a:rPr>
              <a:t>Entre 1999 y 2003, el salario de los cinco ejecutivos principales de las 1,500 compañías más grandes de Estados constituyó el 9.8 por ciento del ingreso neto de las compañías.</a:t>
            </a:r>
          </a:p>
          <a:p>
            <a:pPr marL="342900" indent="-342900">
              <a:buFont typeface="Arial" panose="020B0604020202020204" pitchFamily="34" charset="0"/>
              <a:buChar char="•"/>
            </a:pPr>
            <a:endParaRPr lang="es-AR" sz="2400" dirty="0">
              <a:latin typeface="Tw Cen MT" panose="020B0602020104020603" pitchFamily="34" charset="0"/>
            </a:endParaRPr>
          </a:p>
          <a:p>
            <a:pPr marL="342900" indent="-342900">
              <a:buFont typeface="Arial" panose="020B0604020202020204" pitchFamily="34" charset="0"/>
              <a:buChar char="•"/>
            </a:pPr>
            <a:r>
              <a:rPr lang="es-AR" sz="2400" dirty="0">
                <a:latin typeface="Tw Cen MT" panose="020B0602020104020603" pitchFamily="34" charset="0"/>
              </a:rPr>
              <a:t>Esa cifra fue de 5 por ciento de 1993 a 1995.</a:t>
            </a:r>
          </a:p>
          <a:p>
            <a:pPr marL="342900" indent="-342900">
              <a:buFont typeface="Arial" panose="020B0604020202020204" pitchFamily="34" charset="0"/>
              <a:buChar char="•"/>
            </a:pPr>
            <a:endParaRPr lang="es-AR" sz="2400" dirty="0">
              <a:latin typeface="Tw Cen MT" panose="020B0602020104020603" pitchFamily="34" charset="0"/>
            </a:endParaRPr>
          </a:p>
          <a:p>
            <a:pPr marL="342900" indent="-342900">
              <a:buFont typeface="Arial" panose="020B0604020202020204" pitchFamily="34" charset="0"/>
              <a:buChar char="•"/>
            </a:pPr>
            <a:r>
              <a:rPr lang="es-AR" sz="2400" dirty="0">
                <a:latin typeface="Tw Cen MT" panose="020B0602020104020603" pitchFamily="34" charset="0"/>
              </a:rPr>
              <a:t> En especial, generan controversia los privilegios, bonos y opciones sobre acciones.</a:t>
            </a:r>
          </a:p>
          <a:p>
            <a:pPr algn="l">
              <a:spcBef>
                <a:spcPts val="400"/>
              </a:spcBef>
            </a:pPr>
            <a:endParaRPr lang="es-419" sz="2400" b="0" dirty="0">
              <a:latin typeface="Tw Cen MT" panose="020B0602020104020603" pitchFamily="34" charset="0"/>
            </a:endParaRPr>
          </a:p>
          <a:p>
            <a:pPr algn="l">
              <a:spcBef>
                <a:spcPts val="400"/>
              </a:spcBef>
            </a:pPr>
            <a:endParaRPr sz="2400" b="0" dirty="0">
              <a:latin typeface="Tw Cen MT" panose="020B0602020104020603" pitchFamily="34" charset="0"/>
            </a:endParaRPr>
          </a:p>
          <a:p>
            <a:pPr algn="r">
              <a:spcBef>
                <a:spcPts val="400"/>
              </a:spcBef>
            </a:pPr>
            <a:r>
              <a:rPr sz="2400" b="0" dirty="0">
                <a:latin typeface="Tw Cen MT" panose="020B0602020104020603" pitchFamily="34" charset="0"/>
              </a:rPr>
              <a:t>Fuente: </a:t>
            </a:r>
            <a:r>
              <a:rPr sz="2400" b="0" dirty="0" err="1">
                <a:latin typeface="Tw Cen MT" panose="020B0602020104020603" pitchFamily="34" charset="0"/>
              </a:rPr>
              <a:t>Comportamiento</a:t>
            </a:r>
            <a:r>
              <a:rPr sz="2400" b="0" dirty="0">
                <a:latin typeface="Tw Cen MT" panose="020B0602020104020603" pitchFamily="34" charset="0"/>
              </a:rPr>
              <a:t> </a:t>
            </a:r>
            <a:r>
              <a:rPr sz="2400" b="0" dirty="0" err="1">
                <a:latin typeface="Tw Cen MT" panose="020B0602020104020603" pitchFamily="34" charset="0"/>
              </a:rPr>
              <a:t>Organizacional</a:t>
            </a:r>
            <a:r>
              <a:rPr sz="2400" b="0" dirty="0">
                <a:latin typeface="Tw Cen MT" panose="020B0602020104020603" pitchFamily="34" charset="0"/>
              </a:rPr>
              <a:t> — Stephen P. Robbins, 2009</a:t>
            </a:r>
          </a:p>
        </p:txBody>
      </p:sp>
    </p:spTree>
    <p:extLst>
      <p:ext uri="{BB962C8B-B14F-4D97-AF65-F5344CB8AC3E}">
        <p14:creationId xmlns:p14="http://schemas.microsoft.com/office/powerpoint/2010/main" val="1036265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Tw Cen MT" panose="020B0602020104020603" pitchFamily="34" charset="0"/>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304800" y="117902"/>
            <a:ext cx="8534400" cy="830997"/>
          </a:xfrm>
          <a:prstGeom prst="rect">
            <a:avLst/>
          </a:prstGeom>
          <a:noFill/>
        </p:spPr>
        <p:txBody>
          <a:bodyPr wrap="square" anchor="ctr">
            <a:spAutoFit/>
          </a:bodyPr>
          <a:lstStyle/>
          <a:p>
            <a:r>
              <a:rPr lang="es-AR" sz="2400" b="1" dirty="0">
                <a:solidFill>
                  <a:schemeClr val="bg2"/>
                </a:solidFill>
                <a:latin typeface="Tw Cen MT" panose="020B0602020104020603" pitchFamily="34" charset="0"/>
              </a:rPr>
              <a:t>Relevamiento Tendencias en Compensaciones y Beneficios</a:t>
            </a:r>
          </a:p>
          <a:p>
            <a:r>
              <a:rPr lang="es-AR" sz="2400" b="1" dirty="0">
                <a:solidFill>
                  <a:schemeClr val="bg2"/>
                </a:solidFill>
                <a:latin typeface="Tw Cen MT" panose="020B0602020104020603" pitchFamily="34" charset="0"/>
              </a:rPr>
              <a:t>en Latinoamérica - Mercer - Febrero 2020</a:t>
            </a:r>
          </a:p>
        </p:txBody>
      </p:sp>
      <p:pic>
        <p:nvPicPr>
          <p:cNvPr id="8" name="Imagen 7">
            <a:extLst>
              <a:ext uri="{FF2B5EF4-FFF2-40B4-BE49-F238E27FC236}">
                <a16:creationId xmlns:a16="http://schemas.microsoft.com/office/drawing/2014/main" id="{49979CAF-B3C8-85A8-D992-BD7CAD38CCF5}"/>
              </a:ext>
            </a:extLst>
          </p:cNvPr>
          <p:cNvPicPr>
            <a:picLocks noChangeAspect="1"/>
          </p:cNvPicPr>
          <p:nvPr/>
        </p:nvPicPr>
        <p:blipFill>
          <a:blip r:embed="rId2"/>
          <a:stretch>
            <a:fillRect/>
          </a:stretch>
        </p:blipFill>
        <p:spPr>
          <a:xfrm>
            <a:off x="186334" y="1623321"/>
            <a:ext cx="8538566" cy="4800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9B084-0848-DA44-3DE3-4735AFD11F4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DB8832-7AEB-CD95-F82D-714746788CEE}"/>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a:extLst>
              <a:ext uri="{FF2B5EF4-FFF2-40B4-BE49-F238E27FC236}">
                <a16:creationId xmlns:a16="http://schemas.microsoft.com/office/drawing/2014/main" id="{DBEC1953-7D2A-6152-EFCF-6C73EA7EEC65}"/>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a:extLst>
              <a:ext uri="{FF2B5EF4-FFF2-40B4-BE49-F238E27FC236}">
                <a16:creationId xmlns:a16="http://schemas.microsoft.com/office/drawing/2014/main" id="{03C16BC8-C671-8D30-CB75-E9C20704EEC6}"/>
              </a:ext>
            </a:extLst>
          </p:cNvPr>
          <p:cNvSpPr txBox="1"/>
          <p:nvPr/>
        </p:nvSpPr>
        <p:spPr>
          <a:xfrm>
            <a:off x="304800" y="302568"/>
            <a:ext cx="8534400" cy="461665"/>
          </a:xfrm>
          <a:prstGeom prst="rect">
            <a:avLst/>
          </a:prstGeom>
          <a:noFill/>
        </p:spPr>
        <p:txBody>
          <a:bodyPr wrap="square" anchor="ctr">
            <a:spAutoFit/>
          </a:bodyPr>
          <a:lstStyle/>
          <a:p>
            <a:r>
              <a:rPr lang="es-AR" sz="2400" b="1" dirty="0">
                <a:solidFill>
                  <a:schemeClr val="bg2"/>
                </a:solidFill>
                <a:latin typeface="Tw Cen MT" panose="020B0602020104020603" pitchFamily="34" charset="0"/>
              </a:rPr>
              <a:t>Remuneración CEO – Mercer 2014</a:t>
            </a:r>
          </a:p>
        </p:txBody>
      </p:sp>
      <p:pic>
        <p:nvPicPr>
          <p:cNvPr id="7" name="Imagen 6" descr="The image displays a bar chart illustrating the distribution of CEO remuneration components (base salary, short-term incentives, long-term incentives) across various countries (Argentina, Brazil, Colombia, Mexico, Peru).&#10;&#10;El contenido generado por IA puede ser incorrecto.">
            <a:extLst>
              <a:ext uri="{FF2B5EF4-FFF2-40B4-BE49-F238E27FC236}">
                <a16:creationId xmlns:a16="http://schemas.microsoft.com/office/drawing/2014/main" id="{F8393149-70BA-3EEE-FA52-D0981909DB8B}"/>
              </a:ext>
            </a:extLst>
          </p:cNvPr>
          <p:cNvPicPr>
            <a:picLocks noChangeAspect="1"/>
          </p:cNvPicPr>
          <p:nvPr/>
        </p:nvPicPr>
        <p:blipFill>
          <a:blip r:embed="rId2"/>
          <a:stretch>
            <a:fillRect/>
          </a:stretch>
        </p:blipFill>
        <p:spPr>
          <a:xfrm>
            <a:off x="584980" y="1678209"/>
            <a:ext cx="7809653" cy="4877223"/>
          </a:xfrm>
          <a:prstGeom prst="rect">
            <a:avLst/>
          </a:prstGeom>
        </p:spPr>
      </p:pic>
    </p:spTree>
    <p:extLst>
      <p:ext uri="{BB962C8B-B14F-4D97-AF65-F5344CB8AC3E}">
        <p14:creationId xmlns:p14="http://schemas.microsoft.com/office/powerpoint/2010/main" val="398607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A017"/>
          </a:solidFill>
          <a:ln/>
        </p:spPr>
        <p:txBody>
          <a:bodyPr/>
          <a:lstStyle/>
          <a:p>
            <a:endParaRPr lang="es-419">
              <a:solidFill>
                <a:schemeClr val="tx2"/>
              </a:solidFill>
              <a:latin typeface="Tw Cen MT" panose="020B0602020104020603" pitchFamily="34" charset="0"/>
            </a:endParaRPr>
          </a:p>
        </p:txBody>
      </p:sp>
      <p:sp>
        <p:nvSpPr>
          <p:cNvPr id="5" name="Text 3"/>
          <p:cNvSpPr/>
          <p:nvPr/>
        </p:nvSpPr>
        <p:spPr>
          <a:xfrm>
            <a:off x="502920" y="274320"/>
            <a:ext cx="6858000" cy="274320"/>
          </a:xfrm>
          <a:prstGeom prst="rect">
            <a:avLst/>
          </a:prstGeom>
          <a:noFill/>
          <a:ln/>
        </p:spPr>
        <p:txBody>
          <a:bodyPr wrap="square" lIns="0" tIns="0" rIns="0" bIns="0" rtlCol="0" anchor="ctr"/>
          <a:lstStyle/>
          <a:p>
            <a:r>
              <a:rPr lang="en-US" sz="2400" b="1" dirty="0">
                <a:solidFill>
                  <a:schemeClr val="tx2"/>
                </a:solidFill>
                <a:latin typeface="Tw Cen MT" panose="020B0602020104020603" pitchFamily="34" charset="0"/>
              </a:rPr>
              <a:t>Global Top 250 Compensation Survey 2024 – FW Cook</a:t>
            </a:r>
            <a:endParaRPr lang="es-AR" sz="2400" b="1" dirty="0">
              <a:solidFill>
                <a:schemeClr val="tx2"/>
              </a:solidFill>
              <a:latin typeface="Tw Cen MT" panose="020B0602020104020603" pitchFamily="34" charset="0"/>
            </a:endParaRPr>
          </a:p>
        </p:txBody>
      </p:sp>
      <p:sp>
        <p:nvSpPr>
          <p:cNvPr id="6" name="Text 4"/>
          <p:cNvSpPr/>
          <p:nvPr/>
        </p:nvSpPr>
        <p:spPr>
          <a:xfrm>
            <a:off x="502920" y="530352"/>
            <a:ext cx="6949440" cy="594360"/>
          </a:xfrm>
          <a:prstGeom prst="rect">
            <a:avLst/>
          </a:prstGeom>
          <a:noFill/>
          <a:ln/>
        </p:spPr>
        <p:txBody>
          <a:bodyPr wrap="square" lIns="0" tIns="0" rIns="0" bIns="0" rtlCol="0" anchor="ctr"/>
          <a:lstStyle/>
          <a:p>
            <a:pPr marL="0" indent="0">
              <a:buNone/>
            </a:pPr>
            <a:r>
              <a:rPr lang="en-US" b="1" dirty="0">
                <a:solidFill>
                  <a:schemeClr val="tx2"/>
                </a:solidFill>
                <a:latin typeface="Tw Cen MT" panose="020B0602020104020603" pitchFamily="34" charset="0"/>
                <a:ea typeface="Tw Cen MT" pitchFamily="34" charset="-122"/>
                <a:cs typeface="Tw Cen MT" pitchFamily="34" charset="-120"/>
              </a:rPr>
              <a:t>Metodología y muestra</a:t>
            </a:r>
            <a:endParaRPr lang="en-US" dirty="0">
              <a:solidFill>
                <a:schemeClr val="tx2"/>
              </a:solidFill>
              <a:latin typeface="Tw Cen MT" panose="020B0602020104020603" pitchFamily="34" charset="0"/>
            </a:endParaRPr>
          </a:p>
        </p:txBody>
      </p:sp>
      <p:sp>
        <p:nvSpPr>
          <p:cNvPr id="7" name="Shape 5"/>
          <p:cNvSpPr/>
          <p:nvPr/>
        </p:nvSpPr>
        <p:spPr>
          <a:xfrm>
            <a:off x="502920" y="1170432"/>
            <a:ext cx="8138160" cy="18288"/>
          </a:xfrm>
          <a:prstGeom prst="rect">
            <a:avLst/>
          </a:prstGeom>
          <a:solidFill>
            <a:srgbClr val="D4A017"/>
          </a:solidFill>
          <a:ln/>
        </p:spPr>
        <p:txBody>
          <a:bodyPr/>
          <a:lstStyle/>
          <a:p>
            <a:endParaRPr lang="es-419">
              <a:solidFill>
                <a:schemeClr val="tx2"/>
              </a:solidFill>
              <a:latin typeface="Tw Cen MT" panose="020B0602020104020603" pitchFamily="34" charset="0"/>
            </a:endParaRPr>
          </a:p>
        </p:txBody>
      </p:sp>
      <p:sp>
        <p:nvSpPr>
          <p:cNvPr id="8" name="Text 6"/>
          <p:cNvSpPr/>
          <p:nvPr/>
        </p:nvSpPr>
        <p:spPr>
          <a:xfrm>
            <a:off x="502920" y="1371600"/>
            <a:ext cx="5029200" cy="640080"/>
          </a:xfrm>
          <a:prstGeom prst="rect">
            <a:avLst/>
          </a:prstGeom>
          <a:noFill/>
          <a:ln/>
        </p:spPr>
        <p:txBody>
          <a:bodyPr wrap="square" lIns="0" tIns="0" rIns="0" bIns="0" rtlCol="0" anchor="t"/>
          <a:lstStyle/>
          <a:p>
            <a:pPr marL="0" indent="0">
              <a:lnSpc>
                <a:spcPct val="108000"/>
              </a:lnSpc>
              <a:buNone/>
            </a:pPr>
            <a:r>
              <a:rPr lang="en-US" b="1" dirty="0">
                <a:solidFill>
                  <a:schemeClr val="tx2"/>
                </a:solidFill>
                <a:latin typeface="Tw Cen MT" panose="020B0602020104020603" pitchFamily="34" charset="0"/>
                <a:ea typeface="Tw Cen MT" pitchFamily="34" charset="-122"/>
                <a:cs typeface="Tw Cen MT" pitchFamily="34" charset="-120"/>
              </a:rPr>
              <a:t>Universo:  </a:t>
            </a:r>
            <a:r>
              <a:rPr lang="en-US" dirty="0">
                <a:solidFill>
                  <a:schemeClr val="tx2"/>
                </a:solidFill>
                <a:latin typeface="Tw Cen MT" panose="020B0602020104020603" pitchFamily="34" charset="0"/>
                <a:ea typeface="Tw Cen MT" pitchFamily="34" charset="-122"/>
                <a:cs typeface="Tw Cen MT" pitchFamily="34" charset="-120"/>
              </a:rPr>
              <a:t>las 250 empresas cotizantes más grandes del mundo por capitalización bursátil al 31/12/2023.</a:t>
            </a:r>
            <a:endParaRPr lang="en-US" dirty="0">
              <a:solidFill>
                <a:schemeClr val="tx2"/>
              </a:solidFill>
              <a:latin typeface="Tw Cen MT" panose="020B0602020104020603" pitchFamily="34" charset="0"/>
            </a:endParaRPr>
          </a:p>
        </p:txBody>
      </p:sp>
      <p:sp>
        <p:nvSpPr>
          <p:cNvPr id="9" name="Text 7"/>
          <p:cNvSpPr/>
          <p:nvPr/>
        </p:nvSpPr>
        <p:spPr>
          <a:xfrm>
            <a:off x="502920" y="2084832"/>
            <a:ext cx="5029200" cy="777240"/>
          </a:xfrm>
          <a:prstGeom prst="rect">
            <a:avLst/>
          </a:prstGeom>
          <a:noFill/>
          <a:ln/>
        </p:spPr>
        <p:txBody>
          <a:bodyPr wrap="square" lIns="0" tIns="0" rIns="0" bIns="0" rtlCol="0" anchor="t"/>
          <a:lstStyle/>
          <a:p>
            <a:pPr marL="0" indent="0">
              <a:lnSpc>
                <a:spcPct val="108000"/>
              </a:lnSpc>
              <a:buNone/>
            </a:pPr>
            <a:r>
              <a:rPr lang="en-US" b="1" dirty="0">
                <a:solidFill>
                  <a:schemeClr val="tx2"/>
                </a:solidFill>
                <a:latin typeface="Tw Cen MT" panose="020B0602020104020603" pitchFamily="34" charset="0"/>
                <a:ea typeface="Tw Cen MT" pitchFamily="34" charset="-122"/>
                <a:cs typeface="Tw Cen MT" pitchFamily="34" charset="-120"/>
              </a:rPr>
              <a:t>Fuente de datos:  </a:t>
            </a:r>
            <a:r>
              <a:rPr lang="en-US" dirty="0">
                <a:solidFill>
                  <a:schemeClr val="tx2"/>
                </a:solidFill>
                <a:latin typeface="Tw Cen MT" panose="020B0602020104020603" pitchFamily="34" charset="0"/>
                <a:ea typeface="Tw Cen MT" pitchFamily="34" charset="-122"/>
                <a:cs typeface="Tw Cen MT" pitchFamily="34" charset="-120"/>
              </a:rPr>
              <a:t>presentaciones </a:t>
            </a:r>
            <a:r>
              <a:rPr lang="en-US" dirty="0" err="1">
                <a:solidFill>
                  <a:schemeClr val="tx2"/>
                </a:solidFill>
                <a:latin typeface="Tw Cen MT" panose="020B0602020104020603" pitchFamily="34" charset="0"/>
                <a:ea typeface="Tw Cen MT" pitchFamily="34" charset="-122"/>
                <a:cs typeface="Tw Cen MT" pitchFamily="34" charset="-120"/>
              </a:rPr>
              <a:t>públicas</a:t>
            </a:r>
            <a:r>
              <a:rPr lang="en-US" dirty="0">
                <a:solidFill>
                  <a:schemeClr val="tx2"/>
                </a:solidFill>
                <a:latin typeface="Tw Cen MT" panose="020B0602020104020603" pitchFamily="34" charset="0"/>
                <a:ea typeface="Tw Cen MT" pitchFamily="34" charset="-122"/>
                <a:cs typeface="Tw Cen MT" pitchFamily="34" charset="-120"/>
              </a:rPr>
              <a:t> </a:t>
            </a:r>
            <a:r>
              <a:rPr lang="en-US" dirty="0" err="1">
                <a:solidFill>
                  <a:schemeClr val="tx2"/>
                </a:solidFill>
                <a:latin typeface="Tw Cen MT" panose="020B0602020104020603" pitchFamily="34" charset="0"/>
                <a:ea typeface="Tw Cen MT" pitchFamily="34" charset="-122"/>
                <a:cs typeface="Tw Cen MT" pitchFamily="34" charset="-120"/>
              </a:rPr>
              <a:t>obligatorias</a:t>
            </a:r>
            <a:r>
              <a:rPr lang="en-US" dirty="0">
                <a:solidFill>
                  <a:schemeClr val="tx2"/>
                </a:solidFill>
                <a:latin typeface="Tw Cen MT" panose="020B0602020104020603" pitchFamily="34" charset="0"/>
                <a:ea typeface="Tw Cen MT" pitchFamily="34" charset="-122"/>
                <a:cs typeface="Tw Cen MT" pitchFamily="34" charset="-120"/>
              </a:rPr>
              <a:t>, última publicación disponible al 31/03/2024.</a:t>
            </a:r>
            <a:endParaRPr lang="en-US" dirty="0">
              <a:solidFill>
                <a:schemeClr val="tx2"/>
              </a:solidFill>
              <a:latin typeface="Tw Cen MT" panose="020B0602020104020603" pitchFamily="34" charset="0"/>
            </a:endParaRPr>
          </a:p>
        </p:txBody>
      </p:sp>
      <p:sp>
        <p:nvSpPr>
          <p:cNvPr id="10" name="Text 8"/>
          <p:cNvSpPr/>
          <p:nvPr/>
        </p:nvSpPr>
        <p:spPr>
          <a:xfrm>
            <a:off x="502920" y="2935224"/>
            <a:ext cx="5029200" cy="548640"/>
          </a:xfrm>
          <a:prstGeom prst="rect">
            <a:avLst/>
          </a:prstGeom>
          <a:noFill/>
          <a:ln/>
        </p:spPr>
        <p:txBody>
          <a:bodyPr wrap="square" lIns="0" tIns="0" rIns="0" bIns="0" rtlCol="0" anchor="t"/>
          <a:lstStyle/>
          <a:p>
            <a:pPr marL="0" indent="0">
              <a:lnSpc>
                <a:spcPct val="108000"/>
              </a:lnSpc>
              <a:buNone/>
            </a:pPr>
            <a:r>
              <a:rPr lang="en-US" b="1" dirty="0">
                <a:solidFill>
                  <a:schemeClr val="tx2"/>
                </a:solidFill>
                <a:latin typeface="Tw Cen MT" panose="020B0602020104020603" pitchFamily="34" charset="0"/>
                <a:ea typeface="Tw Cen MT" pitchFamily="34" charset="-122"/>
                <a:cs typeface="Tw Cen MT" pitchFamily="34" charset="-120"/>
              </a:rPr>
              <a:t>Roles relevados:  </a:t>
            </a:r>
            <a:r>
              <a:rPr lang="en-US" dirty="0">
                <a:solidFill>
                  <a:schemeClr val="tx2"/>
                </a:solidFill>
                <a:latin typeface="Tw Cen MT" panose="020B0602020104020603" pitchFamily="34" charset="0"/>
                <a:ea typeface="Tw Cen MT" pitchFamily="34" charset="-122"/>
                <a:cs typeface="Tw Cen MT" pitchFamily="34" charset="-120"/>
              </a:rPr>
              <a:t>CEO (o equivalente más cercano) y CFO (principal ejecutivo </a:t>
            </a:r>
            <a:r>
              <a:rPr lang="en-US" dirty="0" err="1">
                <a:solidFill>
                  <a:schemeClr val="tx2"/>
                </a:solidFill>
                <a:latin typeface="Tw Cen MT" panose="020B0602020104020603" pitchFamily="34" charset="0"/>
                <a:ea typeface="Tw Cen MT" pitchFamily="34" charset="-122"/>
                <a:cs typeface="Tw Cen MT" pitchFamily="34" charset="-120"/>
              </a:rPr>
              <a:t>financiero</a:t>
            </a:r>
            <a:r>
              <a:rPr lang="en-US" dirty="0">
                <a:solidFill>
                  <a:schemeClr val="tx2"/>
                </a:solidFill>
                <a:latin typeface="Tw Cen MT" panose="020B0602020104020603" pitchFamily="34" charset="0"/>
                <a:ea typeface="Tw Cen MT" pitchFamily="34" charset="-122"/>
                <a:cs typeface="Tw Cen MT" pitchFamily="34" charset="-120"/>
              </a:rPr>
              <a:t>).</a:t>
            </a:r>
          </a:p>
          <a:p>
            <a:pPr marL="0" indent="0">
              <a:lnSpc>
                <a:spcPct val="108000"/>
              </a:lnSpc>
              <a:buNone/>
            </a:pPr>
            <a:endParaRPr lang="en-US" dirty="0">
              <a:solidFill>
                <a:schemeClr val="tx2"/>
              </a:solidFill>
              <a:latin typeface="Tw Cen MT" panose="020B0602020104020603" pitchFamily="34" charset="0"/>
            </a:endParaRPr>
          </a:p>
          <a:p>
            <a:pPr marL="0" indent="0">
              <a:lnSpc>
                <a:spcPct val="108000"/>
              </a:lnSpc>
              <a:buNone/>
            </a:pPr>
            <a:endParaRPr lang="en-US" dirty="0">
              <a:solidFill>
                <a:schemeClr val="tx2"/>
              </a:solidFill>
              <a:latin typeface="Tw Cen MT" panose="020B0602020104020603" pitchFamily="34" charset="0"/>
            </a:endParaRPr>
          </a:p>
        </p:txBody>
      </p:sp>
      <p:sp>
        <p:nvSpPr>
          <p:cNvPr id="11" name="Text 9"/>
          <p:cNvSpPr/>
          <p:nvPr/>
        </p:nvSpPr>
        <p:spPr>
          <a:xfrm>
            <a:off x="502797" y="3676129"/>
            <a:ext cx="5029200" cy="1051560"/>
          </a:xfrm>
          <a:prstGeom prst="rect">
            <a:avLst/>
          </a:prstGeom>
          <a:noFill/>
          <a:ln/>
        </p:spPr>
        <p:txBody>
          <a:bodyPr wrap="square" lIns="0" tIns="0" rIns="0" bIns="0" rtlCol="0" anchor="t"/>
          <a:lstStyle/>
          <a:p>
            <a:pPr marL="0" indent="0">
              <a:lnSpc>
                <a:spcPct val="108000"/>
              </a:lnSpc>
              <a:buNone/>
            </a:pPr>
            <a:r>
              <a:rPr lang="en-US" b="1" dirty="0">
                <a:solidFill>
                  <a:schemeClr val="tx2"/>
                </a:solidFill>
                <a:latin typeface="Tw Cen MT" panose="020B0602020104020603" pitchFamily="34" charset="0"/>
                <a:ea typeface="Tw Cen MT" pitchFamily="34" charset="-122"/>
                <a:cs typeface="Tw Cen MT" pitchFamily="34" charset="-120"/>
              </a:rPr>
              <a:t>Elementos medidos:  </a:t>
            </a:r>
            <a:r>
              <a:rPr lang="en-US" dirty="0">
                <a:solidFill>
                  <a:schemeClr val="tx2"/>
                </a:solidFill>
                <a:latin typeface="Tw Cen MT" panose="020B0602020104020603" pitchFamily="34" charset="0"/>
                <a:ea typeface="Tw Cen MT" pitchFamily="34" charset="-122"/>
                <a:cs typeface="Tw Cen MT" pitchFamily="34" charset="-120"/>
              </a:rPr>
              <a:t>salario base, bono anual objetivo, valor objetivo de incentivos de largo plazo (LTI, promediado a 3 años) y compensación directa total.</a:t>
            </a:r>
            <a:endParaRPr lang="en-US" dirty="0">
              <a:solidFill>
                <a:schemeClr val="tx2"/>
              </a:solidFill>
              <a:latin typeface="Tw Cen MT" panose="020B0602020104020603" pitchFamily="34" charset="0"/>
            </a:endParaRPr>
          </a:p>
        </p:txBody>
      </p:sp>
      <p:sp>
        <p:nvSpPr>
          <p:cNvPr id="12" name="Text 10"/>
          <p:cNvSpPr/>
          <p:nvPr/>
        </p:nvSpPr>
        <p:spPr>
          <a:xfrm>
            <a:off x="502920" y="4894928"/>
            <a:ext cx="5029200" cy="777240"/>
          </a:xfrm>
          <a:prstGeom prst="rect">
            <a:avLst/>
          </a:prstGeom>
          <a:noFill/>
          <a:ln/>
        </p:spPr>
        <p:txBody>
          <a:bodyPr wrap="square" lIns="0" tIns="0" rIns="0" bIns="0" rtlCol="0" anchor="t"/>
          <a:lstStyle/>
          <a:p>
            <a:pPr marL="0" indent="0">
              <a:lnSpc>
                <a:spcPct val="108000"/>
              </a:lnSpc>
              <a:buNone/>
            </a:pPr>
            <a:r>
              <a:rPr lang="en-US" b="1" dirty="0">
                <a:solidFill>
                  <a:schemeClr val="tx2"/>
                </a:solidFill>
                <a:latin typeface="Tw Cen MT" panose="020B0602020104020603" pitchFamily="34" charset="0"/>
                <a:ea typeface="Tw Cen MT" pitchFamily="34" charset="-122"/>
                <a:cs typeface="Tw Cen MT" pitchFamily="34" charset="-120"/>
              </a:rPr>
              <a:t>Firmas autoras:  </a:t>
            </a:r>
            <a:r>
              <a:rPr lang="en-US" dirty="0">
                <a:solidFill>
                  <a:schemeClr val="tx2"/>
                </a:solidFill>
                <a:latin typeface="Tw Cen MT" panose="020B0602020104020603" pitchFamily="34" charset="0"/>
                <a:ea typeface="Tw Cen MT" pitchFamily="34" charset="-122"/>
                <a:cs typeface="Tw Cen MT" pitchFamily="34" charset="-120"/>
              </a:rPr>
              <a:t>FW Cook (EE.UU.), FIT Remuneration Consultants (Europa) y Pretium Partners (Asia) — tercera edición del estudio.</a:t>
            </a:r>
            <a:endParaRPr lang="en-US" dirty="0">
              <a:solidFill>
                <a:schemeClr val="tx2"/>
              </a:solidFill>
              <a:latin typeface="Tw Cen MT" panose="020B0602020104020603" pitchFamily="34" charset="0"/>
            </a:endParaRPr>
          </a:p>
        </p:txBody>
      </p:sp>
      <p:pic>
        <p:nvPicPr>
          <p:cNvPr id="20" name="Imagen 19" descr="The image is a pie chart illustrating that 18% of the sample is from Europe and Australia, 23% from Asia, and 59% from the Americas, with a base of 250 companies, some excluded due to insufficient disclosure.&#10;&#10;El contenido generado por IA puede ser incorrecto.">
            <a:extLst>
              <a:ext uri="{FF2B5EF4-FFF2-40B4-BE49-F238E27FC236}">
                <a16:creationId xmlns:a16="http://schemas.microsoft.com/office/drawing/2014/main" id="{34454C64-5AE3-8028-CFBC-12C0066C6D04}"/>
              </a:ext>
            </a:extLst>
          </p:cNvPr>
          <p:cNvPicPr>
            <a:picLocks noChangeAspect="1"/>
          </p:cNvPicPr>
          <p:nvPr/>
        </p:nvPicPr>
        <p:blipFill>
          <a:blip r:embed="rId3"/>
          <a:stretch>
            <a:fillRect/>
          </a:stretch>
        </p:blipFill>
        <p:spPr>
          <a:xfrm>
            <a:off x="5532120" y="1527570"/>
            <a:ext cx="3109083" cy="45599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61A0A-6CCD-93EC-A057-60DEEF53D3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0D0D2F-F83D-0210-FCEE-D83C9220D76F}"/>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a:extLst>
              <a:ext uri="{FF2B5EF4-FFF2-40B4-BE49-F238E27FC236}">
                <a16:creationId xmlns:a16="http://schemas.microsoft.com/office/drawing/2014/main" id="{350FEBCB-51CF-6DDE-EE76-785ECA9FD224}"/>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a:extLst>
              <a:ext uri="{FF2B5EF4-FFF2-40B4-BE49-F238E27FC236}">
                <a16:creationId xmlns:a16="http://schemas.microsoft.com/office/drawing/2014/main" id="{2E965F42-91DF-CB02-ADA6-AA28D02AFBCC}"/>
              </a:ext>
            </a:extLst>
          </p:cNvPr>
          <p:cNvSpPr txBox="1"/>
          <p:nvPr/>
        </p:nvSpPr>
        <p:spPr>
          <a:xfrm>
            <a:off x="843419" y="302567"/>
            <a:ext cx="8534400" cy="461665"/>
          </a:xfrm>
          <a:prstGeom prst="rect">
            <a:avLst/>
          </a:prstGeom>
          <a:noFill/>
        </p:spPr>
        <p:txBody>
          <a:bodyPr wrap="square" anchor="ctr">
            <a:spAutoFit/>
          </a:bodyPr>
          <a:lstStyle/>
          <a:p>
            <a:r>
              <a:rPr lang="en-US" sz="2400" dirty="0">
                <a:solidFill>
                  <a:schemeClr val="bg2"/>
                </a:solidFill>
                <a:latin typeface="Tw Cen MT" panose="020B0602020104020603" pitchFamily="34" charset="0"/>
              </a:rPr>
              <a:t>Global Top 250 Compensation Survey 2024 – FW Cook</a:t>
            </a:r>
            <a:endParaRPr lang="es-AR" sz="2400" dirty="0">
              <a:solidFill>
                <a:schemeClr val="bg2"/>
              </a:solidFill>
              <a:latin typeface="Tw Cen MT" panose="020B0602020104020603" pitchFamily="34" charset="0"/>
            </a:endParaRPr>
          </a:p>
        </p:txBody>
      </p:sp>
      <p:sp>
        <p:nvSpPr>
          <p:cNvPr id="6" name="CuadroTexto 5">
            <a:extLst>
              <a:ext uri="{FF2B5EF4-FFF2-40B4-BE49-F238E27FC236}">
                <a16:creationId xmlns:a16="http://schemas.microsoft.com/office/drawing/2014/main" id="{84B3A7D0-A45F-424B-D369-9D42951A8BB7}"/>
              </a:ext>
            </a:extLst>
          </p:cNvPr>
          <p:cNvSpPr txBox="1"/>
          <p:nvPr/>
        </p:nvSpPr>
        <p:spPr>
          <a:xfrm>
            <a:off x="565078" y="5450315"/>
            <a:ext cx="8448782" cy="1384995"/>
          </a:xfrm>
          <a:prstGeom prst="rect">
            <a:avLst/>
          </a:prstGeom>
          <a:noFill/>
        </p:spPr>
        <p:txBody>
          <a:bodyPr wrap="square">
            <a:spAutoFit/>
          </a:bodyPr>
          <a:lstStyle/>
          <a:p>
            <a:pPr marL="285750" indent="-285750">
              <a:buFont typeface="Arial" panose="020B0604020202020204" pitchFamily="34" charset="0"/>
              <a:buChar char="•"/>
            </a:pPr>
            <a:r>
              <a:rPr lang="es-AR" sz="1400" dirty="0">
                <a:latin typeface="Tw Cen MT" panose="020B0602020104020603" pitchFamily="34" charset="0"/>
              </a:rPr>
              <a:t>Base </a:t>
            </a:r>
            <a:r>
              <a:rPr lang="es-AR" sz="1400" dirty="0" err="1">
                <a:latin typeface="Tw Cen MT" panose="020B0602020104020603" pitchFamily="34" charset="0"/>
              </a:rPr>
              <a:t>salary</a:t>
            </a:r>
            <a:r>
              <a:rPr lang="es-AR" sz="1400" dirty="0">
                <a:latin typeface="Tw Cen MT" panose="020B0602020104020603" pitchFamily="34" charset="0"/>
              </a:rPr>
              <a:t>, $'000 : salario base del CEO expresado en miles de dólares estadounidenses</a:t>
            </a:r>
          </a:p>
          <a:p>
            <a:pPr marL="285750" indent="-285750">
              <a:buFont typeface="Arial" panose="020B0604020202020204" pitchFamily="34" charset="0"/>
              <a:buChar char="•"/>
            </a:pPr>
            <a:r>
              <a:rPr lang="es-AR" sz="1400" dirty="0" err="1">
                <a:latin typeface="Tw Cen MT" panose="020B0602020104020603" pitchFamily="34" charset="0"/>
              </a:rPr>
              <a:t>Market</a:t>
            </a:r>
            <a:r>
              <a:rPr lang="es-AR" sz="1400" dirty="0">
                <a:latin typeface="Tw Cen MT" panose="020B0602020104020603" pitchFamily="34" charset="0"/>
              </a:rPr>
              <a:t> </a:t>
            </a:r>
            <a:r>
              <a:rPr lang="es-AR" sz="1400" dirty="0" err="1">
                <a:latin typeface="Tw Cen MT" panose="020B0602020104020603" pitchFamily="34" charset="0"/>
              </a:rPr>
              <a:t>capitalisation</a:t>
            </a:r>
            <a:r>
              <a:rPr lang="es-AR" sz="1400" dirty="0">
                <a:latin typeface="Tw Cen MT" panose="020B0602020104020603" pitchFamily="34" charset="0"/>
              </a:rPr>
              <a:t>, $’</a:t>
            </a:r>
            <a:r>
              <a:rPr lang="es-AR" sz="1400" dirty="0" err="1">
                <a:latin typeface="Tw Cen MT" panose="020B0602020104020603" pitchFamily="34" charset="0"/>
              </a:rPr>
              <a:t>bn</a:t>
            </a:r>
            <a:r>
              <a:rPr lang="es-AR" sz="1400" dirty="0">
                <a:latin typeface="Tw Cen MT" panose="020B0602020104020603" pitchFamily="34" charset="0"/>
              </a:rPr>
              <a:t> :  capitalización bursátil de cada empresa expresada en miles de millones de dólares estadounidenses,</a:t>
            </a:r>
          </a:p>
          <a:p>
            <a:pPr marL="285750" indent="-285750">
              <a:buFont typeface="Arial" panose="020B0604020202020204" pitchFamily="34" charset="0"/>
              <a:buChar char="•"/>
            </a:pPr>
            <a:r>
              <a:rPr lang="es-AR" sz="1400" dirty="0">
                <a:latin typeface="Tw Cen MT" panose="020B0602020104020603" pitchFamily="34" charset="0"/>
              </a:rPr>
              <a:t>El salario base medio de los directores ejecutivos (CEO) en empresas de Europa y Australia es un 27 % superior al de América, a pesar de que la capitalización bursátil media es un 10 % inferior. </a:t>
            </a:r>
          </a:p>
          <a:p>
            <a:pPr marL="285750" indent="-285750">
              <a:buFont typeface="Arial" panose="020B0604020202020204" pitchFamily="34" charset="0"/>
              <a:buChar char="•"/>
            </a:pPr>
            <a:r>
              <a:rPr lang="es-AR" sz="1400" dirty="0">
                <a:latin typeface="Tw Cen MT" panose="020B0602020104020603" pitchFamily="34" charset="0"/>
              </a:rPr>
              <a:t>El salario base medio de los CEO en Asia es aproximadamente la mitad del observado en América. </a:t>
            </a:r>
          </a:p>
        </p:txBody>
      </p:sp>
      <p:pic>
        <p:nvPicPr>
          <p:cNvPr id="9" name="Imagen 8" descr="The diagram illustrates a scatter plot comparing CEO base salaries (in thousands of dollars) against market capitalisation (in billions of dollars) for various regions including the Americas, Europe, Australia, Asia, and Global 250.&#10;&#10;El contenido generado por IA puede ser incorrecto.">
            <a:extLst>
              <a:ext uri="{FF2B5EF4-FFF2-40B4-BE49-F238E27FC236}">
                <a16:creationId xmlns:a16="http://schemas.microsoft.com/office/drawing/2014/main" id="{5304835C-B65B-56B5-6EDC-0275E50E99EA}"/>
              </a:ext>
            </a:extLst>
          </p:cNvPr>
          <p:cNvPicPr>
            <a:picLocks noChangeAspect="1"/>
          </p:cNvPicPr>
          <p:nvPr/>
        </p:nvPicPr>
        <p:blipFill>
          <a:blip r:embed="rId2"/>
          <a:stretch>
            <a:fillRect/>
          </a:stretch>
        </p:blipFill>
        <p:spPr>
          <a:xfrm>
            <a:off x="1595134" y="1205480"/>
            <a:ext cx="6388670" cy="4232493"/>
          </a:xfrm>
          <a:prstGeom prst="rect">
            <a:avLst/>
          </a:prstGeom>
        </p:spPr>
      </p:pic>
    </p:spTree>
    <p:extLst>
      <p:ext uri="{BB962C8B-B14F-4D97-AF65-F5344CB8AC3E}">
        <p14:creationId xmlns:p14="http://schemas.microsoft.com/office/powerpoint/2010/main" val="2300511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A017"/>
          </a:solidFill>
          <a:ln/>
        </p:spPr>
        <p:txBody>
          <a:bodyPr/>
          <a:lstStyle/>
          <a:p>
            <a:endParaRPr lang="es-419">
              <a:latin typeface="Tw Cen MT" panose="020B0602020104020603" pitchFamily="34" charset="0"/>
            </a:endParaRPr>
          </a:p>
        </p:txBody>
      </p:sp>
      <p:sp>
        <p:nvSpPr>
          <p:cNvPr id="6" name="Text 4"/>
          <p:cNvSpPr/>
          <p:nvPr/>
        </p:nvSpPr>
        <p:spPr>
          <a:xfrm>
            <a:off x="502920" y="530352"/>
            <a:ext cx="6949440" cy="594360"/>
          </a:xfrm>
          <a:prstGeom prst="rect">
            <a:avLst/>
          </a:prstGeom>
          <a:noFill/>
          <a:ln/>
        </p:spPr>
        <p:txBody>
          <a:bodyPr wrap="square" lIns="0" tIns="0" rIns="0" bIns="0" rtlCol="0" anchor="ctr"/>
          <a:lstStyle/>
          <a:p>
            <a:pPr marL="0" indent="0">
              <a:buNone/>
            </a:pPr>
            <a:r>
              <a:rPr lang="en-US" sz="2500" b="1" dirty="0">
                <a:solidFill>
                  <a:srgbClr val="FFFFFF"/>
                </a:solidFill>
                <a:latin typeface="Tw Cen MT" panose="020B0602020104020603" pitchFamily="34" charset="0"/>
                <a:ea typeface="Tw Cen MT" pitchFamily="34" charset="-122"/>
                <a:cs typeface="Tw Cen MT" pitchFamily="34" charset="-120"/>
              </a:rPr>
              <a:t>Pay mix del CEO por región</a:t>
            </a:r>
            <a:endParaRPr lang="en-US" sz="2500" dirty="0">
              <a:latin typeface="Tw Cen MT" panose="020B0602020104020603" pitchFamily="34" charset="0"/>
            </a:endParaRPr>
          </a:p>
        </p:txBody>
      </p:sp>
      <p:graphicFrame>
        <p:nvGraphicFramePr>
          <p:cNvPr id="8" name="Chart 0"/>
          <p:cNvGraphicFramePr/>
          <p:nvPr>
            <p:extLst>
              <p:ext uri="{D42A27DB-BD31-4B8C-83A1-F6EECF244321}">
                <p14:modId xmlns:p14="http://schemas.microsoft.com/office/powerpoint/2010/main" val="1985058594"/>
              </p:ext>
            </p:extLst>
          </p:nvPr>
        </p:nvGraphicFramePr>
        <p:xfrm>
          <a:off x="502920" y="1078992"/>
          <a:ext cx="81381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502920" y="4892040"/>
            <a:ext cx="8138160" cy="1234440"/>
          </a:xfrm>
          <a:prstGeom prst="rect">
            <a:avLst/>
          </a:prstGeom>
          <a:solidFill>
            <a:srgbClr val="2C3878"/>
          </a:solidFill>
          <a:ln/>
        </p:spPr>
        <p:txBody>
          <a:bodyPr/>
          <a:lstStyle/>
          <a:p>
            <a:endParaRPr lang="es-419">
              <a:latin typeface="Tw Cen MT" panose="020B0602020104020603" pitchFamily="34" charset="0"/>
            </a:endParaRPr>
          </a:p>
        </p:txBody>
      </p:sp>
      <p:sp>
        <p:nvSpPr>
          <p:cNvPr id="10" name="Text 7"/>
          <p:cNvSpPr/>
          <p:nvPr/>
        </p:nvSpPr>
        <p:spPr>
          <a:xfrm>
            <a:off x="685800" y="5010912"/>
            <a:ext cx="7772400" cy="1005840"/>
          </a:xfrm>
          <a:prstGeom prst="rect">
            <a:avLst/>
          </a:prstGeom>
          <a:noFill/>
          <a:ln/>
        </p:spPr>
        <p:txBody>
          <a:bodyPr wrap="square" lIns="0" tIns="0" rIns="0" bIns="0" rtlCol="0" anchor="t"/>
          <a:lstStyle/>
          <a:p>
            <a:pPr marL="0" indent="0">
              <a:lnSpc>
                <a:spcPct val="112000"/>
              </a:lnSpc>
              <a:buNone/>
            </a:pPr>
            <a:r>
              <a:rPr lang="en-US" sz="1400" b="1" dirty="0">
                <a:solidFill>
                  <a:srgbClr val="D4A017"/>
                </a:solidFill>
                <a:latin typeface="Tw Cen MT" panose="020B0602020104020603" pitchFamily="34" charset="0"/>
                <a:ea typeface="Tw Cen MT" pitchFamily="34" charset="-122"/>
                <a:cs typeface="Tw Cen MT" pitchFamily="34" charset="-120"/>
              </a:rPr>
              <a:t>E</a:t>
            </a:r>
            <a:r>
              <a:rPr lang="en-US" sz="1400" dirty="0">
                <a:solidFill>
                  <a:srgbClr val="FFFFFF"/>
                </a:solidFill>
                <a:latin typeface="Tw Cen MT" panose="020B0602020104020603" pitchFamily="34" charset="0"/>
                <a:ea typeface="Tw Cen MT" pitchFamily="34" charset="-122"/>
                <a:cs typeface="Tw Cen MT" pitchFamily="34" charset="-120"/>
              </a:rPr>
              <a:t>n Américas, el 92% de la paga del CEO es variable y el 78% está </a:t>
            </a:r>
            <a:r>
              <a:rPr lang="en-US" sz="1400" dirty="0" err="1">
                <a:solidFill>
                  <a:srgbClr val="FFFFFF"/>
                </a:solidFill>
                <a:latin typeface="Tw Cen MT" panose="020B0602020104020603" pitchFamily="34" charset="0"/>
                <a:ea typeface="Tw Cen MT" pitchFamily="34" charset="-122"/>
                <a:cs typeface="Tw Cen MT" pitchFamily="34" charset="-120"/>
              </a:rPr>
              <a:t>en</a:t>
            </a:r>
            <a:r>
              <a:rPr lang="en-US" sz="1400" dirty="0">
                <a:solidFill>
                  <a:srgbClr val="FFFFFF"/>
                </a:solidFill>
                <a:latin typeface="Tw Cen MT" panose="020B0602020104020603" pitchFamily="34" charset="0"/>
                <a:ea typeface="Tw Cen MT" pitchFamily="34" charset="-122"/>
                <a:cs typeface="Tw Cen MT" pitchFamily="34" charset="-120"/>
              </a:rPr>
              <a:t> LTI. En Europa y Australia el mix es más equilibrado (27/28/45). En Asia el peso relativo de LTI es menor (27%), con mayor énfasis en salario base y bono, muchas veces ligado a profit-sharing.</a:t>
            </a:r>
            <a:endParaRPr lang="en-US" sz="1400" dirty="0">
              <a:latin typeface="Tw Cen MT" panose="020B0602020104020603" pitchFamily="34" charset="0"/>
            </a:endParaRPr>
          </a:p>
        </p:txBody>
      </p:sp>
      <p:sp>
        <p:nvSpPr>
          <p:cNvPr id="11" name="Shape 8"/>
          <p:cNvSpPr/>
          <p:nvPr/>
        </p:nvSpPr>
        <p:spPr>
          <a:xfrm>
            <a:off x="228600" y="6355080"/>
            <a:ext cx="8686800" cy="310896"/>
          </a:xfrm>
          <a:prstGeom prst="rect">
            <a:avLst/>
          </a:prstGeom>
          <a:solidFill>
            <a:srgbClr val="2C3878"/>
          </a:solidFill>
          <a:ln/>
        </p:spPr>
        <p:txBody>
          <a:bodyPr/>
          <a:lstStyle/>
          <a:p>
            <a:endParaRPr lang="es-419">
              <a:latin typeface="Tw Cen MT" panose="020B0602020104020603" pitchFamily="34" charset="0"/>
            </a:endParaRPr>
          </a:p>
        </p:txBody>
      </p:sp>
      <p:sp>
        <p:nvSpPr>
          <p:cNvPr id="12" name="Text 9"/>
          <p:cNvSpPr/>
          <p:nvPr/>
        </p:nvSpPr>
        <p:spPr>
          <a:xfrm>
            <a:off x="320040" y="6355080"/>
            <a:ext cx="8503920" cy="310896"/>
          </a:xfrm>
          <a:prstGeom prst="rect">
            <a:avLst/>
          </a:prstGeom>
          <a:noFill/>
          <a:ln/>
        </p:spPr>
        <p:txBody>
          <a:bodyPr wrap="square" lIns="0" tIns="0" rIns="0" bIns="0" rtlCol="0" anchor="ctr"/>
          <a:lstStyle/>
          <a:p>
            <a:pPr marL="0" indent="0">
              <a:buNone/>
            </a:pPr>
            <a:r>
              <a:rPr lang="en-US" sz="850" dirty="0">
                <a:solidFill>
                  <a:srgbClr val="E8E9F2"/>
                </a:solidFill>
                <a:latin typeface="Tw Cen MT" panose="020B0602020104020603" pitchFamily="34" charset="0"/>
                <a:ea typeface="Tw Cen MT" pitchFamily="34" charset="-122"/>
                <a:cs typeface="Tw Cen MT" pitchFamily="34" charset="-120"/>
              </a:rPr>
              <a:t>Fuente: FW Cook et al. (2024), Global Top 250 Compensation Survey, p. 22. Mediana del mix de Target Total Direct Compensation, CEO.</a:t>
            </a:r>
            <a:endParaRPr lang="en-US" sz="850" dirty="0">
              <a:latin typeface="Tw Cen MT" panose="020B0602020104020603" pitchFamily="34" charset="0"/>
            </a:endParaRPr>
          </a:p>
        </p:txBody>
      </p:sp>
      <p:sp>
        <p:nvSpPr>
          <p:cNvPr id="14" name="TextBox 3">
            <a:extLst>
              <a:ext uri="{FF2B5EF4-FFF2-40B4-BE49-F238E27FC236}">
                <a16:creationId xmlns:a16="http://schemas.microsoft.com/office/drawing/2014/main" id="{AD76C070-0B08-1694-D834-0E0D2C6790DD}"/>
              </a:ext>
            </a:extLst>
          </p:cNvPr>
          <p:cNvSpPr txBox="1"/>
          <p:nvPr/>
        </p:nvSpPr>
        <p:spPr>
          <a:xfrm>
            <a:off x="335280" y="304092"/>
            <a:ext cx="8534400" cy="461665"/>
          </a:xfrm>
          <a:prstGeom prst="rect">
            <a:avLst/>
          </a:prstGeom>
          <a:noFill/>
        </p:spPr>
        <p:txBody>
          <a:bodyPr wrap="square" anchor="ctr">
            <a:spAutoFit/>
          </a:bodyPr>
          <a:lstStyle/>
          <a:p>
            <a:r>
              <a:rPr lang="es-AR" sz="2400" b="1" dirty="0">
                <a:solidFill>
                  <a:schemeClr val="tx2"/>
                </a:solidFill>
                <a:latin typeface="Tw Cen MT" panose="020B0602020104020603" pitchFamily="34" charset="0"/>
              </a:rPr>
              <a:t>Composición de la compensación - CEO – FW Cook 2024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304800" y="287179"/>
            <a:ext cx="8534400" cy="492443"/>
          </a:xfrm>
          <a:prstGeom prst="rect">
            <a:avLst/>
          </a:prstGeom>
          <a:noFill/>
        </p:spPr>
        <p:txBody>
          <a:bodyPr wrap="square" anchor="ctr">
            <a:spAutoFit/>
          </a:bodyPr>
          <a:lstStyle/>
          <a:p>
            <a:pPr algn="l"/>
            <a:r>
              <a:rPr sz="2600" b="1" i="0">
                <a:solidFill>
                  <a:srgbClr val="FFFFFF"/>
                </a:solidFill>
                <a:latin typeface="Tw Cen MT" panose="020B0602020104020603" pitchFamily="34" charset="0"/>
              </a:rPr>
              <a:t>Compensación de CEOs — Consideraciones</a:t>
            </a:r>
          </a:p>
        </p:txBody>
      </p:sp>
      <p:sp>
        <p:nvSpPr>
          <p:cNvPr id="5" name="TextBox 4"/>
          <p:cNvSpPr txBox="1"/>
          <p:nvPr/>
        </p:nvSpPr>
        <p:spPr>
          <a:xfrm>
            <a:off x="304800" y="1122824"/>
            <a:ext cx="8534400" cy="5457904"/>
          </a:xfrm>
          <a:prstGeom prst="rect">
            <a:avLst/>
          </a:prstGeom>
          <a:noFill/>
        </p:spPr>
        <p:txBody>
          <a:bodyPr wrap="square">
            <a:spAutoFit/>
          </a:bodyPr>
          <a:lstStyle/>
          <a:p>
            <a:pPr algn="l">
              <a:spcBef>
                <a:spcPts val="400"/>
              </a:spcBef>
            </a:pPr>
            <a:r>
              <a:rPr sz="2200" b="1" dirty="0">
                <a:solidFill>
                  <a:srgbClr val="222222"/>
                </a:solidFill>
                <a:latin typeface="Tw Cen MT" panose="020B0602020104020603" pitchFamily="34" charset="0"/>
              </a:rPr>
              <a:t>Si </a:t>
            </a:r>
            <a:r>
              <a:rPr sz="2200" b="1" dirty="0" err="1">
                <a:solidFill>
                  <a:srgbClr val="222222"/>
                </a:solidFill>
                <a:latin typeface="Tw Cen MT" panose="020B0602020104020603" pitchFamily="34" charset="0"/>
              </a:rPr>
              <a:t>el</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objetivo</a:t>
            </a:r>
            <a:r>
              <a:rPr sz="2200" b="1" dirty="0">
                <a:solidFill>
                  <a:srgbClr val="222222"/>
                </a:solidFill>
                <a:latin typeface="Tw Cen MT" panose="020B0602020104020603" pitchFamily="34" charset="0"/>
              </a:rPr>
              <a:t> del CEO es </a:t>
            </a:r>
            <a:r>
              <a:rPr sz="2200" b="1" dirty="0" err="1">
                <a:solidFill>
                  <a:srgbClr val="222222"/>
                </a:solidFill>
                <a:latin typeface="Tw Cen MT" panose="020B0602020104020603" pitchFamily="34" charset="0"/>
              </a:rPr>
              <a:t>crear</a:t>
            </a:r>
            <a:r>
              <a:rPr sz="2200" b="1" dirty="0">
                <a:solidFill>
                  <a:srgbClr val="222222"/>
                </a:solidFill>
                <a:latin typeface="Tw Cen MT" panose="020B0602020104020603" pitchFamily="34" charset="0"/>
              </a:rPr>
              <a:t> valor para </a:t>
            </a:r>
            <a:r>
              <a:rPr sz="2200" b="1" dirty="0" err="1">
                <a:solidFill>
                  <a:srgbClr val="222222"/>
                </a:solidFill>
                <a:latin typeface="Tw Cen MT" panose="020B0602020104020603" pitchFamily="34" charset="0"/>
              </a:rPr>
              <a:t>el</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accionista</a:t>
            </a:r>
            <a:r>
              <a:rPr sz="2200" b="1" dirty="0">
                <a:solidFill>
                  <a:srgbClr val="222222"/>
                </a:solidFill>
                <a:latin typeface="Tw Cen MT" panose="020B0602020104020603" pitchFamily="34" charset="0"/>
              </a:rPr>
              <a:t> a largo </a:t>
            </a:r>
            <a:r>
              <a:rPr sz="2200" b="1" dirty="0" err="1">
                <a:solidFill>
                  <a:srgbClr val="222222"/>
                </a:solidFill>
                <a:latin typeface="Tw Cen MT" panose="020B0602020104020603" pitchFamily="34" charset="0"/>
              </a:rPr>
              <a:t>plazo</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deben</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evitarse</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esquemas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retributivos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que</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incentiven</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el</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cortoplacismo</a:t>
            </a:r>
            <a:r>
              <a:rPr b="1" dirty="0">
                <a:solidFill>
                  <a:srgbClr val="222222"/>
                </a:solidFill>
                <a:latin typeface="Tw Cen MT" panose="020B0602020104020603" pitchFamily="34" charset="0"/>
              </a:rPr>
              <a:t>.</a:t>
            </a:r>
            <a:endParaRPr lang="es-419" b="1" dirty="0">
              <a:solidFill>
                <a:srgbClr val="222222"/>
              </a:solidFill>
              <a:latin typeface="Tw Cen MT" panose="020B0602020104020603" pitchFamily="34" charset="0"/>
            </a:endParaRPr>
          </a:p>
          <a:p>
            <a:pPr algn="l">
              <a:spcBef>
                <a:spcPts val="400"/>
              </a:spcBef>
              <a:buFont typeface="Tw Cen MT"/>
              <a:buChar char="■"/>
            </a:pPr>
            <a:endParaRPr b="1" dirty="0">
              <a:solidFill>
                <a:srgbClr val="222222"/>
              </a:solidFill>
              <a:latin typeface="Tw Cen MT" panose="020B0602020104020603" pitchFamily="34" charset="0"/>
            </a:endParaRPr>
          </a:p>
          <a:p>
            <a:pPr marL="800100" lvl="1" indent="-342900">
              <a:spcBef>
                <a:spcPts val="400"/>
              </a:spcBef>
              <a:buFont typeface="Arial" panose="020B0604020202020204" pitchFamily="34" charset="0"/>
              <a:buChar char="•"/>
            </a:pPr>
            <a:r>
              <a:rPr sz="2000" b="0" dirty="0">
                <a:solidFill>
                  <a:srgbClr val="222222"/>
                </a:solidFill>
                <a:latin typeface="Tw Cen MT" panose="020B0602020104020603" pitchFamily="34" charset="0"/>
              </a:rPr>
              <a:t>Los </a:t>
            </a:r>
            <a:r>
              <a:rPr sz="2000" b="0" dirty="0" err="1">
                <a:solidFill>
                  <a:srgbClr val="222222"/>
                </a:solidFill>
                <a:latin typeface="Tw Cen MT" panose="020B0602020104020603" pitchFamily="34" charset="0"/>
              </a:rPr>
              <a:t>incentivos</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anuales</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deberían</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suponer</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una</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pequeña</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parte</a:t>
            </a:r>
            <a:r>
              <a:rPr sz="2000" b="0" dirty="0">
                <a:solidFill>
                  <a:srgbClr val="222222"/>
                </a:solidFill>
                <a:latin typeface="Tw Cen MT" panose="020B0602020104020603" pitchFamily="34" charset="0"/>
              </a:rPr>
              <a:t> del </a:t>
            </a:r>
            <a:r>
              <a:rPr sz="2000" b="0" dirty="0" err="1">
                <a:solidFill>
                  <a:srgbClr val="222222"/>
                </a:solidFill>
                <a:latin typeface="Tw Cen MT" panose="020B0602020104020603" pitchFamily="34" charset="0"/>
              </a:rPr>
              <a:t>paquete</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retributivo</a:t>
            </a:r>
            <a:r>
              <a:rPr sz="2000" b="0" dirty="0">
                <a:solidFill>
                  <a:srgbClr val="222222"/>
                </a:solidFill>
                <a:latin typeface="Tw Cen MT" panose="020B0602020104020603" pitchFamily="34" charset="0"/>
              </a:rPr>
              <a:t> del CEO.</a:t>
            </a:r>
          </a:p>
          <a:p>
            <a:pPr marL="800100" lvl="1" indent="-342900">
              <a:spcBef>
                <a:spcPts val="400"/>
              </a:spcBef>
              <a:buFont typeface="Arial" panose="020B0604020202020204" pitchFamily="34" charset="0"/>
              <a:buChar char="•"/>
            </a:pPr>
            <a:r>
              <a:rPr sz="2000" b="0" dirty="0" err="1">
                <a:solidFill>
                  <a:srgbClr val="222222"/>
                </a:solidFill>
                <a:latin typeface="Tw Cen MT" panose="020B0602020104020603" pitchFamily="34" charset="0"/>
              </a:rPr>
              <a:t>Evitar</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incentivos</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que</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presten</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atención</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desproporcionada</a:t>
            </a:r>
            <a:r>
              <a:rPr sz="2000" b="0" dirty="0">
                <a:solidFill>
                  <a:srgbClr val="222222"/>
                </a:solidFill>
                <a:latin typeface="Tw Cen MT" panose="020B0602020104020603" pitchFamily="34" charset="0"/>
              </a:rPr>
              <a:t> a </a:t>
            </a:r>
            <a:r>
              <a:rPr sz="2000" b="0" dirty="0" err="1">
                <a:solidFill>
                  <a:srgbClr val="222222"/>
                </a:solidFill>
                <a:latin typeface="Tw Cen MT" panose="020B0602020104020603" pitchFamily="34" charset="0"/>
              </a:rPr>
              <a:t>metas</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inmediatas</a:t>
            </a:r>
            <a:r>
              <a:rPr sz="2000" b="0" dirty="0">
                <a:solidFill>
                  <a:srgbClr val="222222"/>
                </a:solidFill>
                <a:latin typeface="Tw Cen MT" panose="020B0602020104020603" pitchFamily="34" charset="0"/>
              </a:rPr>
              <a:t>.</a:t>
            </a:r>
            <a:endParaRPr lang="es-419" sz="2000" b="0" dirty="0">
              <a:solidFill>
                <a:srgbClr val="222222"/>
              </a:solidFill>
              <a:latin typeface="Tw Cen MT" panose="020B0602020104020603" pitchFamily="34" charset="0"/>
            </a:endParaRPr>
          </a:p>
          <a:p>
            <a:pPr algn="l">
              <a:spcBef>
                <a:spcPts val="400"/>
              </a:spcBef>
              <a:buFont typeface="Tw Cen MT"/>
              <a:buChar char="■"/>
            </a:pPr>
            <a:endParaRPr b="0" dirty="0">
              <a:solidFill>
                <a:srgbClr val="222222"/>
              </a:solidFill>
              <a:latin typeface="Tw Cen MT" panose="020B0602020104020603" pitchFamily="34" charset="0"/>
            </a:endParaRPr>
          </a:p>
          <a:p>
            <a:pPr algn="l">
              <a:spcBef>
                <a:spcPts val="400"/>
              </a:spcBef>
              <a:buNone/>
            </a:pPr>
            <a:r>
              <a:rPr b="1" dirty="0">
                <a:solidFill>
                  <a:srgbClr val="8B0000"/>
                </a:solidFill>
                <a:latin typeface="Tw Cen MT" panose="020B0602020104020603" pitchFamily="34" charset="0"/>
              </a:rPr>
              <a:t>ESG Y SOSTENIBILIDAD A LARGO PLAZO</a:t>
            </a:r>
            <a:endParaRPr lang="es-419" b="1" dirty="0">
              <a:solidFill>
                <a:srgbClr val="8B0000"/>
              </a:solidFill>
              <a:latin typeface="Tw Cen MT" panose="020B0602020104020603" pitchFamily="34" charset="0"/>
            </a:endParaRPr>
          </a:p>
          <a:p>
            <a:pPr algn="l">
              <a:spcBef>
                <a:spcPts val="400"/>
              </a:spcBef>
            </a:pPr>
            <a:r>
              <a:rPr sz="2200" b="1" dirty="0">
                <a:solidFill>
                  <a:srgbClr val="222222"/>
                </a:solidFill>
                <a:latin typeface="Tw Cen MT" panose="020B0602020104020603" pitchFamily="34" charset="0"/>
              </a:rPr>
              <a:t>El 12% de </a:t>
            </a:r>
            <a:r>
              <a:rPr sz="2200" b="1" dirty="0" err="1">
                <a:solidFill>
                  <a:srgbClr val="222222"/>
                </a:solidFill>
                <a:latin typeface="Tw Cen MT" panose="020B0602020104020603" pitchFamily="34" charset="0"/>
              </a:rPr>
              <a:t>los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ejecutivos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en</a:t>
            </a:r>
            <a:r>
              <a:rPr sz="2200" b="1" dirty="0">
                <a:solidFill>
                  <a:srgbClr val="222222"/>
                </a:solidFill>
                <a:latin typeface="Tw Cen MT" panose="020B0602020104020603" pitchFamily="34" charset="0"/>
              </a:rPr>
              <a:t> América Latina </a:t>
            </a:r>
            <a:r>
              <a:rPr sz="2200" b="1" dirty="0" err="1">
                <a:solidFill>
                  <a:srgbClr val="222222"/>
                </a:solidFill>
                <a:latin typeface="Tw Cen MT" panose="020B0602020104020603" pitchFamily="34" charset="0"/>
              </a:rPr>
              <a:t>ya</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tiene</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compensaciones</a:t>
            </a:r>
            <a:r>
              <a:rPr sz="2200" b="1" dirty="0">
                <a:solidFill>
                  <a:srgbClr val="222222"/>
                </a:solidFill>
                <a:latin typeface="Tw Cen MT" panose="020B0602020104020603" pitchFamily="34" charset="0"/>
              </a:rPr>
              <a:t> variables </a:t>
            </a:r>
            <a:r>
              <a:rPr sz="2200" b="1" dirty="0" err="1">
                <a:solidFill>
                  <a:srgbClr val="222222"/>
                </a:solidFill>
                <a:latin typeface="Tw Cen MT" panose="020B0602020104020603" pitchFamily="34" charset="0"/>
              </a:rPr>
              <a:t>atadas</a:t>
            </a:r>
            <a:r>
              <a:rPr sz="2200" b="1" dirty="0">
                <a:solidFill>
                  <a:srgbClr val="222222"/>
                </a:solidFill>
                <a:latin typeface="Tw Cen MT" panose="020B0602020104020603" pitchFamily="34" charset="0"/>
              </a:rPr>
              <a:t> a </a:t>
            </a:r>
            <a:r>
              <a:rPr sz="2200" b="1" dirty="0" err="1">
                <a:solidFill>
                  <a:srgbClr val="222222"/>
                </a:solidFill>
                <a:latin typeface="Tw Cen MT" panose="020B0602020104020603" pitchFamily="34" charset="0"/>
              </a:rPr>
              <a:t>indicadores</a:t>
            </a:r>
            <a:r>
              <a:rPr sz="2200" b="1" dirty="0">
                <a:solidFill>
                  <a:srgbClr val="222222"/>
                </a:solidFill>
                <a:latin typeface="Tw Cen MT" panose="020B0602020104020603" pitchFamily="34" charset="0"/>
              </a:rPr>
              <a:t> ESG, </a:t>
            </a:r>
            <a:r>
              <a:rPr sz="2200" b="1" dirty="0" err="1">
                <a:solidFill>
                  <a:srgbClr val="222222"/>
                </a:solidFill>
                <a:latin typeface="Tw Cen MT" panose="020B0602020104020603" pitchFamily="34" charset="0"/>
              </a:rPr>
              <a:t>superando</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el</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promedio</a:t>
            </a:r>
            <a:r>
              <a:rPr sz="2200" b="1" dirty="0">
                <a:solidFill>
                  <a:srgbClr val="222222"/>
                </a:solidFill>
                <a:latin typeface="Tw Cen MT" panose="020B0602020104020603" pitchFamily="34" charset="0"/>
              </a:rPr>
              <a:t> global del 10%.</a:t>
            </a:r>
          </a:p>
          <a:p>
            <a:pPr algn="l">
              <a:spcBef>
                <a:spcPts val="400"/>
              </a:spcBef>
            </a:pPr>
            <a:r>
              <a:rPr sz="2000" b="0" dirty="0" err="1">
                <a:solidFill>
                  <a:srgbClr val="222222"/>
                </a:solidFill>
                <a:latin typeface="Tw Cen MT" panose="020B0602020104020603" pitchFamily="34" charset="0"/>
              </a:rPr>
              <a:t>Integrar</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objetivos</a:t>
            </a:r>
            <a:r>
              <a:rPr sz="2000" b="0" dirty="0">
                <a:solidFill>
                  <a:srgbClr val="222222"/>
                </a:solidFill>
                <a:latin typeface="Tw Cen MT" panose="020B0602020104020603" pitchFamily="34" charset="0"/>
              </a:rPr>
              <a:t> </a:t>
            </a:r>
            <a:r>
              <a:rPr lang="es-419" sz="2000" b="0" dirty="0">
                <a:solidFill>
                  <a:srgbClr val="222222"/>
                </a:solidFill>
                <a:latin typeface="Tw Cen MT" panose="020B0602020104020603" pitchFamily="34" charset="0"/>
              </a:rPr>
              <a:t>E</a:t>
            </a:r>
            <a:r>
              <a:rPr sz="2000" b="0" dirty="0">
                <a:solidFill>
                  <a:srgbClr val="222222"/>
                </a:solidFill>
                <a:latin typeface="Tw Cen MT" panose="020B0602020104020603" pitchFamily="34" charset="0"/>
              </a:rPr>
              <a:t>SG (</a:t>
            </a:r>
            <a:r>
              <a:rPr sz="2000" b="0" dirty="0" err="1">
                <a:solidFill>
                  <a:srgbClr val="222222"/>
                </a:solidFill>
                <a:latin typeface="Tw Cen MT" panose="020B0602020104020603" pitchFamily="34" charset="0"/>
              </a:rPr>
              <a:t>ambientales</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sociales</a:t>
            </a:r>
            <a:r>
              <a:rPr sz="2000" b="0" dirty="0">
                <a:solidFill>
                  <a:srgbClr val="222222"/>
                </a:solidFill>
                <a:latin typeface="Tw Cen MT" panose="020B0602020104020603" pitchFamily="34" charset="0"/>
              </a:rPr>
              <a:t> y de </a:t>
            </a:r>
            <a:r>
              <a:rPr sz="2000" b="0" dirty="0" err="1">
                <a:solidFill>
                  <a:srgbClr val="222222"/>
                </a:solidFill>
                <a:latin typeface="Tw Cen MT" panose="020B0602020104020603" pitchFamily="34" charset="0"/>
              </a:rPr>
              <a:t>gobernanza</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en</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el</a:t>
            </a:r>
            <a:r>
              <a:rPr sz="2000" b="0" dirty="0">
                <a:solidFill>
                  <a:srgbClr val="222222"/>
                </a:solidFill>
                <a:latin typeface="Tw Cen MT" panose="020B0602020104020603" pitchFamily="34" charset="0"/>
              </a:rPr>
              <a:t> plan de </a:t>
            </a:r>
            <a:r>
              <a:rPr sz="2000" b="0" dirty="0" err="1">
                <a:solidFill>
                  <a:srgbClr val="222222"/>
                </a:solidFill>
                <a:latin typeface="Tw Cen MT" panose="020B0602020104020603" pitchFamily="34" charset="0"/>
              </a:rPr>
              <a:t>remuneración</a:t>
            </a:r>
            <a:r>
              <a:rPr sz="2000" b="0" dirty="0">
                <a:solidFill>
                  <a:srgbClr val="222222"/>
                </a:solidFill>
                <a:latin typeface="Tw Cen MT" panose="020B0602020104020603" pitchFamily="34" charset="0"/>
              </a:rPr>
              <a:t> variable </a:t>
            </a:r>
            <a:r>
              <a:rPr sz="2000" b="0" dirty="0" err="1">
                <a:solidFill>
                  <a:srgbClr val="222222"/>
                </a:solidFill>
                <a:latin typeface="Tw Cen MT" panose="020B0602020104020603" pitchFamily="34" charset="0"/>
              </a:rPr>
              <a:t>alinea</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los</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intereses</a:t>
            </a:r>
            <a:r>
              <a:rPr sz="2000" b="0" dirty="0">
                <a:solidFill>
                  <a:srgbClr val="222222"/>
                </a:solidFill>
                <a:latin typeface="Tw Cen MT" panose="020B0602020104020603" pitchFamily="34" charset="0"/>
              </a:rPr>
              <a:t> de </a:t>
            </a:r>
            <a:r>
              <a:rPr sz="2000" b="0" dirty="0" err="1">
                <a:solidFill>
                  <a:srgbClr val="222222"/>
                </a:solidFill>
                <a:latin typeface="Tw Cen MT" panose="020B0602020104020603" pitchFamily="34" charset="0"/>
              </a:rPr>
              <a:t>los</a:t>
            </a:r>
            <a:r>
              <a:rPr sz="2000" b="0" dirty="0">
                <a:solidFill>
                  <a:srgbClr val="222222"/>
                </a:solidFill>
                <a:latin typeface="Tw Cen MT" panose="020B0602020104020603" pitchFamily="34" charset="0"/>
              </a:rPr>
              <a:t> </a:t>
            </a:r>
            <a:r>
              <a:rPr sz="2000" b="0" dirty="0" err="1">
                <a:solidFill>
                  <a:srgbClr val="222222"/>
                </a:solidFill>
                <a:latin typeface="Tw Cen MT" panose="020B0602020104020603" pitchFamily="34" charset="0"/>
              </a:rPr>
              <a:t>gerentes</a:t>
            </a:r>
            <a:r>
              <a:rPr sz="2000" b="0" dirty="0">
                <a:solidFill>
                  <a:srgbClr val="222222"/>
                </a:solidFill>
                <a:latin typeface="Tw Cen MT" panose="020B0602020104020603" pitchFamily="34" charset="0"/>
              </a:rPr>
              <a:t> con la </a:t>
            </a:r>
            <a:r>
              <a:rPr sz="2000" b="0" dirty="0" err="1">
                <a:solidFill>
                  <a:srgbClr val="222222"/>
                </a:solidFill>
                <a:latin typeface="Tw Cen MT" panose="020B0602020104020603" pitchFamily="34" charset="0"/>
              </a:rPr>
              <a:t>estrategia</a:t>
            </a:r>
            <a:r>
              <a:rPr sz="2000" b="0" dirty="0">
                <a:solidFill>
                  <a:srgbClr val="222222"/>
                </a:solidFill>
                <a:latin typeface="Tw Cen MT" panose="020B0602020104020603" pitchFamily="34" charset="0"/>
              </a:rPr>
              <a:t> de largo </a:t>
            </a:r>
            <a:r>
              <a:rPr sz="2000" b="0" dirty="0" err="1">
                <a:solidFill>
                  <a:srgbClr val="222222"/>
                </a:solidFill>
                <a:latin typeface="Tw Cen MT" panose="020B0602020104020603" pitchFamily="34" charset="0"/>
              </a:rPr>
              <a:t>plazo</a:t>
            </a:r>
            <a:r>
              <a:rPr b="0" dirty="0">
                <a:solidFill>
                  <a:srgbClr val="222222"/>
                </a:solidFill>
                <a:latin typeface="Tw Cen MT" panose="020B0602020104020603" pitchFamily="34" charset="0"/>
              </a:rPr>
              <a:t>.</a:t>
            </a:r>
            <a:endParaRPr lang="es-419" b="0" dirty="0">
              <a:solidFill>
                <a:srgbClr val="222222"/>
              </a:solidFill>
              <a:latin typeface="Tw Cen MT" panose="020B0602020104020603" pitchFamily="34" charset="0"/>
            </a:endParaRPr>
          </a:p>
          <a:p>
            <a:pPr algn="ctr">
              <a:spcBef>
                <a:spcPts val="400"/>
              </a:spcBef>
            </a:pPr>
            <a:r>
              <a:rPr b="0" dirty="0">
                <a:solidFill>
                  <a:srgbClr val="222222"/>
                </a:solidFill>
                <a:latin typeface="Tw Cen MT" panose="020B0602020104020603" pitchFamily="34" charset="0"/>
              </a:rPr>
              <a:t>Fuente: Executive Compensation Insights 2025 LATAM EDITION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304800" y="287179"/>
            <a:ext cx="8534400" cy="492443"/>
          </a:xfrm>
          <a:prstGeom prst="rect">
            <a:avLst/>
          </a:prstGeom>
          <a:noFill/>
        </p:spPr>
        <p:txBody>
          <a:bodyPr wrap="square" anchor="ctr">
            <a:spAutoFit/>
          </a:bodyPr>
          <a:lstStyle/>
          <a:p>
            <a:pPr algn="l"/>
            <a:r>
              <a:rPr sz="2600" b="1" i="0" dirty="0">
                <a:solidFill>
                  <a:srgbClr val="FFFFFF"/>
                </a:solidFill>
                <a:latin typeface="Tw Cen MT" panose="020B0602020104020603" pitchFamily="34" charset="0"/>
              </a:rPr>
              <a:t>TALLER — Caso Salomon Brothers</a:t>
            </a:r>
            <a:r>
              <a:rPr lang="es-419" sz="2600" b="1" i="0" dirty="0">
                <a:solidFill>
                  <a:srgbClr val="FFFFFF"/>
                </a:solidFill>
                <a:latin typeface="Tw Cen MT" panose="020B0602020104020603" pitchFamily="34" charset="0"/>
              </a:rPr>
              <a:t> – techo a las comisiones</a:t>
            </a:r>
            <a:endParaRPr sz="2600" b="1" i="0" dirty="0">
              <a:solidFill>
                <a:srgbClr val="FFFFFF"/>
              </a:solidFill>
              <a:latin typeface="Tw Cen MT" panose="020B0602020104020603" pitchFamily="34" charset="0"/>
            </a:endParaRPr>
          </a:p>
        </p:txBody>
      </p:sp>
      <p:sp>
        <p:nvSpPr>
          <p:cNvPr id="5" name="TextBox 4"/>
          <p:cNvSpPr txBox="1"/>
          <p:nvPr/>
        </p:nvSpPr>
        <p:spPr>
          <a:xfrm>
            <a:off x="304800" y="1066800"/>
            <a:ext cx="8534400" cy="5437386"/>
          </a:xfrm>
          <a:prstGeom prst="rect">
            <a:avLst/>
          </a:prstGeom>
          <a:noFill/>
        </p:spPr>
        <p:txBody>
          <a:bodyPr wrap="square">
            <a:spAutoFit/>
          </a:bodyPr>
          <a:lstStyle/>
          <a:p>
            <a:pPr algn="l">
              <a:spcBef>
                <a:spcPts val="400"/>
              </a:spcBef>
            </a:pPr>
            <a:r>
              <a:rPr sz="2000" b="0" dirty="0">
                <a:solidFill>
                  <a:srgbClr val="FFFFFF"/>
                </a:solidFill>
                <a:latin typeface="Tw Cen MT" panose="020B0602020104020603" pitchFamily="34" charset="0"/>
              </a:rPr>
              <a:t>En 1983, Howie Rubin </a:t>
            </a:r>
            <a:r>
              <a:rPr sz="2000" b="0" dirty="0" err="1">
                <a:solidFill>
                  <a:srgbClr val="FFFFFF"/>
                </a:solidFill>
                <a:latin typeface="Tw Cen MT" panose="020B0602020104020603" pitchFamily="34" charset="0"/>
              </a:rPr>
              <a:t>ganó</a:t>
            </a:r>
            <a:r>
              <a:rPr sz="2000" b="0" dirty="0">
                <a:solidFill>
                  <a:srgbClr val="FFFFFF"/>
                </a:solidFill>
                <a:latin typeface="Tw Cen MT" panose="020B0602020104020603" pitchFamily="34" charset="0"/>
              </a:rPr>
              <a:t> U$S 25 </a:t>
            </a:r>
            <a:r>
              <a:rPr sz="2000" b="0" dirty="0" err="1">
                <a:solidFill>
                  <a:srgbClr val="FFFFFF"/>
                </a:solidFill>
                <a:latin typeface="Tw Cen MT" panose="020B0602020104020603" pitchFamily="34" charset="0"/>
              </a:rPr>
              <a:t>millones</a:t>
            </a:r>
            <a:r>
              <a:rPr sz="2000" b="0" dirty="0">
                <a:solidFill>
                  <a:srgbClr val="FFFFFF"/>
                </a:solidFill>
                <a:latin typeface="Tw Cen MT" panose="020B0602020104020603" pitchFamily="34" charset="0"/>
              </a:rPr>
              <a:t> para Salomon Brothers </a:t>
            </a:r>
            <a:r>
              <a:rPr sz="2000" b="0" dirty="0" err="1">
                <a:solidFill>
                  <a:srgbClr val="FFFFFF"/>
                </a:solidFill>
                <a:latin typeface="Tw Cen MT" panose="020B0602020104020603" pitchFamily="34" charset="0"/>
              </a:rPr>
              <a:t>en</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su</a:t>
            </a:r>
            <a:r>
              <a:rPr sz="2000" b="0" dirty="0">
                <a:solidFill>
                  <a:srgbClr val="FFFFFF"/>
                </a:solidFill>
                <a:latin typeface="Tw Cen MT" panose="020B0602020104020603" pitchFamily="34" charset="0"/>
              </a:rPr>
              <a:t> primer </a:t>
            </a:r>
            <a:r>
              <a:rPr sz="2000" b="0" dirty="0" err="1">
                <a:solidFill>
                  <a:srgbClr val="FFFFFF"/>
                </a:solidFill>
                <a:latin typeface="Tw Cen MT" panose="020B0602020104020603" pitchFamily="34" charset="0"/>
              </a:rPr>
              <a:t>año</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como</a:t>
            </a:r>
            <a:r>
              <a:rPr sz="2000" b="0" dirty="0">
                <a:solidFill>
                  <a:srgbClr val="FFFFFF"/>
                </a:solidFill>
                <a:latin typeface="Tw Cen MT" panose="020B0602020104020603" pitchFamily="34" charset="0"/>
              </a:rPr>
              <a:t> trader de </a:t>
            </a:r>
            <a:r>
              <a:rPr sz="2000" b="0" dirty="0" err="1">
                <a:solidFill>
                  <a:srgbClr val="FFFFFF"/>
                </a:solidFill>
                <a:latin typeface="Tw Cen MT" panose="020B0602020104020603" pitchFamily="34" charset="0"/>
              </a:rPr>
              <a:t>títulos</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respaldados</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por</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hipotecas</a:t>
            </a:r>
            <a:r>
              <a:rPr sz="2000" b="0" dirty="0">
                <a:solidFill>
                  <a:srgbClr val="FFFFFF"/>
                </a:solidFill>
                <a:latin typeface="Tw Cen MT" panose="020B0602020104020603" pitchFamily="34" charset="0"/>
              </a:rPr>
              <a:t>. Salomon </a:t>
            </a:r>
            <a:r>
              <a:rPr sz="2000" b="0" dirty="0" err="1">
                <a:solidFill>
                  <a:srgbClr val="FFFFFF"/>
                </a:solidFill>
                <a:latin typeface="Tw Cen MT" panose="020B0602020104020603" pitchFamily="34" charset="0"/>
              </a:rPr>
              <a:t>tenía</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casi</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el</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monopolio</a:t>
            </a:r>
            <a:r>
              <a:rPr sz="2000" b="0" dirty="0">
                <a:solidFill>
                  <a:srgbClr val="FFFFFF"/>
                </a:solidFill>
                <a:latin typeface="Tw Cen MT" panose="020B0602020104020603" pitchFamily="34" charset="0"/>
              </a:rPr>
              <a:t> de </a:t>
            </a:r>
            <a:r>
              <a:rPr sz="2000" b="0" dirty="0" err="1">
                <a:solidFill>
                  <a:srgbClr val="FFFFFF"/>
                </a:solidFill>
                <a:latin typeface="Tw Cen MT" panose="020B0602020104020603" pitchFamily="34" charset="0"/>
              </a:rPr>
              <a:t>esos</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instrumentos</a:t>
            </a:r>
            <a:r>
              <a:rPr sz="2000" b="0" dirty="0">
                <a:solidFill>
                  <a:srgbClr val="FFFFFF"/>
                </a:solidFill>
                <a:latin typeface="Tw Cen MT" panose="020B0602020104020603" pitchFamily="34" charset="0"/>
              </a:rPr>
              <a:t>.</a:t>
            </a:r>
            <a:endParaRPr lang="es-419" sz="2000" b="0" dirty="0">
              <a:solidFill>
                <a:srgbClr val="FFFFFF"/>
              </a:solidFill>
              <a:latin typeface="Tw Cen MT" panose="020B0602020104020603" pitchFamily="34" charset="0"/>
            </a:endParaRPr>
          </a:p>
          <a:p>
            <a:pPr algn="l">
              <a:spcBef>
                <a:spcPts val="400"/>
              </a:spcBef>
            </a:pPr>
            <a:endParaRPr sz="2000" b="0" dirty="0">
              <a:solidFill>
                <a:srgbClr val="FFFFFF"/>
              </a:solidFill>
              <a:latin typeface="Tw Cen MT" panose="020B0602020104020603" pitchFamily="34" charset="0"/>
            </a:endParaRPr>
          </a:p>
          <a:p>
            <a:pPr algn="l">
              <a:spcBef>
                <a:spcPts val="400"/>
              </a:spcBef>
              <a:buNone/>
            </a:pPr>
            <a:r>
              <a:rPr sz="2000" b="1" dirty="0">
                <a:solidFill>
                  <a:srgbClr val="52B788"/>
                </a:solidFill>
                <a:latin typeface="Tw Cen MT" panose="020B0602020104020603" pitchFamily="34" charset="0"/>
              </a:rPr>
              <a:t>POLÍTICA COMPENSATORIA DE SALOMON</a:t>
            </a:r>
          </a:p>
          <a:p>
            <a:pPr lvl="1" algn="l">
              <a:spcBef>
                <a:spcPts val="150"/>
              </a:spcBef>
              <a:buFont typeface="Tw Cen MT"/>
              <a:buChar char="▸"/>
            </a:pPr>
            <a:r>
              <a:rPr sz="2000" b="0" dirty="0">
                <a:solidFill>
                  <a:srgbClr val="FFFFFF"/>
                </a:solidFill>
                <a:latin typeface="Tw Cen MT" panose="020B0602020104020603" pitchFamily="34" charset="0"/>
              </a:rPr>
              <a:t>Techo </a:t>
            </a:r>
            <a:r>
              <a:rPr sz="2000" b="0" dirty="0" err="1">
                <a:solidFill>
                  <a:srgbClr val="FFFFFF"/>
                </a:solidFill>
                <a:latin typeface="Tw Cen MT" panose="020B0602020104020603" pitchFamily="34" charset="0"/>
              </a:rPr>
              <a:t>máximo</a:t>
            </a:r>
            <a:r>
              <a:rPr sz="2000" b="0" dirty="0">
                <a:solidFill>
                  <a:srgbClr val="FFFFFF"/>
                </a:solidFill>
                <a:latin typeface="Tw Cen MT" panose="020B0602020104020603" pitchFamily="34" charset="0"/>
              </a:rPr>
              <a:t> de U$S 90.000 para </a:t>
            </a:r>
            <a:r>
              <a:rPr sz="2000" b="0" dirty="0" err="1">
                <a:solidFill>
                  <a:srgbClr val="FFFFFF"/>
                </a:solidFill>
                <a:latin typeface="Tw Cen MT" panose="020B0602020104020603" pitchFamily="34" charset="0"/>
              </a:rPr>
              <a:t>pagar</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como</a:t>
            </a:r>
            <a:r>
              <a:rPr sz="2000" b="0" dirty="0">
                <a:solidFill>
                  <a:srgbClr val="FFFFFF"/>
                </a:solidFill>
                <a:latin typeface="Tw Cen MT" panose="020B0602020104020603" pitchFamily="34" charset="0"/>
              </a:rPr>
              <a:t> variable a un trader </a:t>
            </a:r>
            <a:r>
              <a:rPr sz="2000" b="0" dirty="0" err="1">
                <a:solidFill>
                  <a:srgbClr val="FFFFFF"/>
                </a:solidFill>
                <a:latin typeface="Tw Cen MT" panose="020B0602020104020603" pitchFamily="34" charset="0"/>
              </a:rPr>
              <a:t>en</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su</a:t>
            </a:r>
            <a:r>
              <a:rPr sz="2000" b="0" dirty="0">
                <a:solidFill>
                  <a:srgbClr val="FFFFFF"/>
                </a:solidFill>
                <a:latin typeface="Tw Cen MT" panose="020B0602020104020603" pitchFamily="34" charset="0"/>
              </a:rPr>
              <a:t> primer </a:t>
            </a:r>
            <a:r>
              <a:rPr sz="2000" b="0" dirty="0" err="1">
                <a:solidFill>
                  <a:srgbClr val="FFFFFF"/>
                </a:solidFill>
                <a:latin typeface="Tw Cen MT" panose="020B0602020104020603" pitchFamily="34" charset="0"/>
              </a:rPr>
              <a:t>año</a:t>
            </a:r>
            <a:r>
              <a:rPr sz="2000" b="0" dirty="0">
                <a:solidFill>
                  <a:srgbClr val="FFFFFF"/>
                </a:solidFill>
                <a:latin typeface="Tw Cen MT" panose="020B0602020104020603" pitchFamily="34" charset="0"/>
              </a:rPr>
              <a:t>.</a:t>
            </a:r>
            <a:r>
              <a:rPr lang="es-419" sz="2000" b="0" dirty="0">
                <a:solidFill>
                  <a:srgbClr val="FFFFFF"/>
                </a:solidFill>
                <a:latin typeface="Tw Cen MT" panose="020B0602020104020603" pitchFamily="34" charset="0"/>
              </a:rPr>
              <a:t> Le pagaron esa suma.</a:t>
            </a:r>
            <a:endParaRPr sz="2000" b="0" dirty="0">
              <a:solidFill>
                <a:srgbClr val="FFFFFF"/>
              </a:solidFill>
              <a:latin typeface="Tw Cen MT" panose="020B0602020104020603" pitchFamily="34" charset="0"/>
            </a:endParaRPr>
          </a:p>
          <a:p>
            <a:pPr lvl="1" algn="l">
              <a:spcBef>
                <a:spcPts val="150"/>
              </a:spcBef>
              <a:buFont typeface="Tw Cen MT"/>
              <a:buChar char="▸"/>
            </a:pPr>
            <a:r>
              <a:rPr sz="2000" b="0" dirty="0">
                <a:solidFill>
                  <a:srgbClr val="FFFFFF"/>
                </a:solidFill>
                <a:latin typeface="Tw Cen MT" panose="020B0602020104020603" pitchFamily="34" charset="0"/>
              </a:rPr>
              <a:t>En 1984, Rubin </a:t>
            </a:r>
            <a:r>
              <a:rPr sz="2000" b="0" dirty="0" err="1">
                <a:solidFill>
                  <a:srgbClr val="FFFFFF"/>
                </a:solidFill>
                <a:latin typeface="Tw Cen MT" panose="020B0602020104020603" pitchFamily="34" charset="0"/>
              </a:rPr>
              <a:t>hizo</a:t>
            </a:r>
            <a:r>
              <a:rPr sz="2000" b="0" dirty="0">
                <a:solidFill>
                  <a:srgbClr val="FFFFFF"/>
                </a:solidFill>
                <a:latin typeface="Tw Cen MT" panose="020B0602020104020603" pitchFamily="34" charset="0"/>
              </a:rPr>
              <a:t> U$S 30 </a:t>
            </a:r>
            <a:r>
              <a:rPr sz="2000" b="0" dirty="0" err="1">
                <a:solidFill>
                  <a:srgbClr val="FFFFFF"/>
                </a:solidFill>
                <a:latin typeface="Tw Cen MT" panose="020B0602020104020603" pitchFamily="34" charset="0"/>
              </a:rPr>
              <a:t>millones</a:t>
            </a:r>
            <a:r>
              <a:rPr sz="2000" b="0" dirty="0">
                <a:solidFill>
                  <a:srgbClr val="FFFFFF"/>
                </a:solidFill>
                <a:latin typeface="Tw Cen MT" panose="020B0602020104020603" pitchFamily="34" charset="0"/>
              </a:rPr>
              <a:t> para Salomon: le </a:t>
            </a:r>
            <a:r>
              <a:rPr sz="2000" b="0" dirty="0" err="1">
                <a:solidFill>
                  <a:srgbClr val="FFFFFF"/>
                </a:solidFill>
                <a:latin typeface="Tw Cen MT" panose="020B0602020104020603" pitchFamily="34" charset="0"/>
              </a:rPr>
              <a:t>pagaron</a:t>
            </a:r>
            <a:r>
              <a:rPr sz="2000" b="0" dirty="0">
                <a:solidFill>
                  <a:srgbClr val="FFFFFF"/>
                </a:solidFill>
                <a:latin typeface="Tw Cen MT" panose="020B0602020104020603" pitchFamily="34" charset="0"/>
              </a:rPr>
              <a:t> U$S 175.000, el </a:t>
            </a:r>
            <a:r>
              <a:rPr sz="2000" b="0" dirty="0" err="1">
                <a:solidFill>
                  <a:srgbClr val="FFFFFF"/>
                </a:solidFill>
                <a:latin typeface="Tw Cen MT" panose="020B0602020104020603" pitchFamily="34" charset="0"/>
              </a:rPr>
              <a:t>máximo</a:t>
            </a:r>
            <a:r>
              <a:rPr sz="2000" b="0" dirty="0">
                <a:solidFill>
                  <a:srgbClr val="FFFFFF"/>
                </a:solidFill>
                <a:latin typeface="Tw Cen MT" panose="020B0602020104020603" pitchFamily="34" charset="0"/>
              </a:rPr>
              <a:t> del </a:t>
            </a:r>
            <a:r>
              <a:rPr sz="2000" b="0" dirty="0" err="1">
                <a:solidFill>
                  <a:srgbClr val="FFFFFF"/>
                </a:solidFill>
                <a:latin typeface="Tw Cen MT" panose="020B0602020104020603" pitchFamily="34" charset="0"/>
              </a:rPr>
              <a:t>segundo</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año</a:t>
            </a:r>
            <a:r>
              <a:rPr sz="2000" b="0" dirty="0">
                <a:solidFill>
                  <a:srgbClr val="FFFFFF"/>
                </a:solidFill>
                <a:latin typeface="Tw Cen MT" panose="020B0602020104020603" pitchFamily="34" charset="0"/>
              </a:rPr>
              <a:t>.</a:t>
            </a:r>
            <a:endParaRPr lang="es-419" sz="2000" b="0" dirty="0">
              <a:solidFill>
                <a:srgbClr val="FFFFFF"/>
              </a:solidFill>
              <a:latin typeface="Tw Cen MT" panose="020B0602020104020603" pitchFamily="34" charset="0"/>
            </a:endParaRPr>
          </a:p>
          <a:p>
            <a:pPr lvl="1" algn="l">
              <a:spcBef>
                <a:spcPts val="150"/>
              </a:spcBef>
              <a:buFont typeface="Tw Cen MT"/>
              <a:buChar char="▸"/>
            </a:pPr>
            <a:endParaRPr sz="2000" b="0" dirty="0">
              <a:solidFill>
                <a:srgbClr val="FFFFFF"/>
              </a:solidFill>
              <a:latin typeface="Tw Cen MT" panose="020B0602020104020603" pitchFamily="34" charset="0"/>
            </a:endParaRPr>
          </a:p>
          <a:p>
            <a:pPr lvl="1" algn="l">
              <a:spcBef>
                <a:spcPts val="150"/>
              </a:spcBef>
              <a:buFont typeface="Tw Cen MT"/>
              <a:buChar char="▸"/>
            </a:pPr>
            <a:r>
              <a:rPr sz="2000" b="0" dirty="0">
                <a:solidFill>
                  <a:srgbClr val="FFFFFF"/>
                </a:solidFill>
                <a:latin typeface="Tw Cen MT" panose="020B0602020104020603" pitchFamily="34" charset="0"/>
              </a:rPr>
              <a:t>En 1985, Rubin </a:t>
            </a:r>
            <a:r>
              <a:rPr sz="2000" b="0" dirty="0" err="1">
                <a:solidFill>
                  <a:srgbClr val="FFFFFF"/>
                </a:solidFill>
                <a:latin typeface="Tw Cen MT" panose="020B0602020104020603" pitchFamily="34" charset="0"/>
              </a:rPr>
              <a:t>renunció</a:t>
            </a:r>
            <a:r>
              <a:rPr sz="2000" b="0" dirty="0">
                <a:solidFill>
                  <a:srgbClr val="FFFFFF"/>
                </a:solidFill>
                <a:latin typeface="Tw Cen MT" panose="020B0602020104020603" pitchFamily="34" charset="0"/>
              </a:rPr>
              <a:t> a Salomon y lo </a:t>
            </a:r>
            <a:r>
              <a:rPr sz="2000" b="0" dirty="0" err="1">
                <a:solidFill>
                  <a:srgbClr val="FFFFFF"/>
                </a:solidFill>
                <a:latin typeface="Tw Cen MT" panose="020B0602020104020603" pitchFamily="34" charset="0"/>
              </a:rPr>
              <a:t>contrató</a:t>
            </a:r>
            <a:r>
              <a:rPr sz="2000" b="0" dirty="0">
                <a:solidFill>
                  <a:srgbClr val="FFFFFF"/>
                </a:solidFill>
                <a:latin typeface="Tw Cen MT" panose="020B0602020104020603" pitchFamily="34" charset="0"/>
              </a:rPr>
              <a:t> Merrill Lynch: U$S 1 </a:t>
            </a:r>
            <a:r>
              <a:rPr sz="2000" b="0" dirty="0" err="1">
                <a:solidFill>
                  <a:srgbClr val="FFFFFF"/>
                </a:solidFill>
                <a:latin typeface="Tw Cen MT" panose="020B0602020104020603" pitchFamily="34" charset="0"/>
              </a:rPr>
              <a:t>millón</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por</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año</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garantizados</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más</a:t>
            </a:r>
            <a:r>
              <a:rPr sz="2000" b="0" dirty="0">
                <a:solidFill>
                  <a:srgbClr val="FFFFFF"/>
                </a:solidFill>
                <a:latin typeface="Tw Cen MT" panose="020B0602020104020603" pitchFamily="34" charset="0"/>
              </a:rPr>
              <a:t> un </a:t>
            </a:r>
            <a:r>
              <a:rPr sz="2000" b="0" dirty="0" err="1">
                <a:solidFill>
                  <a:srgbClr val="FFFFFF"/>
                </a:solidFill>
                <a:latin typeface="Tw Cen MT" panose="020B0602020104020603" pitchFamily="34" charset="0"/>
              </a:rPr>
              <a:t>porcentaje</a:t>
            </a:r>
            <a:r>
              <a:rPr sz="2000" b="0" dirty="0">
                <a:solidFill>
                  <a:srgbClr val="FFFFFF"/>
                </a:solidFill>
                <a:latin typeface="Tw Cen MT" panose="020B0602020104020603" pitchFamily="34" charset="0"/>
              </a:rPr>
              <a:t> de las </a:t>
            </a:r>
            <a:r>
              <a:rPr sz="2000" b="0" dirty="0" err="1">
                <a:solidFill>
                  <a:srgbClr val="FFFFFF"/>
                </a:solidFill>
                <a:latin typeface="Tw Cen MT" panose="020B0602020104020603" pitchFamily="34" charset="0"/>
              </a:rPr>
              <a:t>ganancias</a:t>
            </a:r>
            <a:r>
              <a:rPr sz="2000" b="0" dirty="0">
                <a:solidFill>
                  <a:srgbClr val="FFFFFF"/>
                </a:solidFill>
                <a:latin typeface="Tw Cen MT" panose="020B0602020104020603" pitchFamily="34" charset="0"/>
              </a:rPr>
              <a:t>.</a:t>
            </a:r>
          </a:p>
          <a:p>
            <a:pPr algn="l">
              <a:spcBef>
                <a:spcPts val="400"/>
              </a:spcBef>
              <a:buFont typeface="Tw Cen MT"/>
              <a:buChar char="■"/>
            </a:pPr>
            <a:endParaRPr lang="es-419" sz="2000" b="0" dirty="0">
              <a:solidFill>
                <a:srgbClr val="FFFFFF"/>
              </a:solidFill>
              <a:latin typeface="Tw Cen MT" panose="020B0602020104020603" pitchFamily="34" charset="0"/>
            </a:endParaRPr>
          </a:p>
          <a:p>
            <a:pPr algn="l">
              <a:spcBef>
                <a:spcPts val="400"/>
              </a:spcBef>
            </a:pPr>
            <a:r>
              <a:rPr sz="2000" b="0" dirty="0" err="1">
                <a:solidFill>
                  <a:srgbClr val="FFFFFF"/>
                </a:solidFill>
                <a:latin typeface="Tw Cen MT" panose="020B0602020104020603" pitchFamily="34" charset="0"/>
              </a:rPr>
              <a:t>Después</a:t>
            </a:r>
            <a:r>
              <a:rPr sz="2000" b="0" dirty="0">
                <a:solidFill>
                  <a:srgbClr val="FFFFFF"/>
                </a:solidFill>
                <a:latin typeface="Tw Cen MT" panose="020B0602020104020603" pitchFamily="34" charset="0"/>
              </a:rPr>
              <a:t> de 1985, Salomon </a:t>
            </a:r>
            <a:r>
              <a:rPr sz="2000" b="0" dirty="0" err="1">
                <a:solidFill>
                  <a:srgbClr val="FFFFFF"/>
                </a:solidFill>
                <a:latin typeface="Tw Cen MT" panose="020B0602020104020603" pitchFamily="34" charset="0"/>
              </a:rPr>
              <a:t>perdió</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mucha</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participación</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en</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el</a:t>
            </a:r>
            <a:r>
              <a:rPr sz="2000" b="0" dirty="0">
                <a:solidFill>
                  <a:srgbClr val="FFFFFF"/>
                </a:solidFill>
                <a:latin typeface="Tw Cen MT" panose="020B0602020104020603" pitchFamily="34" charset="0"/>
              </a:rPr>
              <a:t> mercado de </a:t>
            </a:r>
            <a:r>
              <a:rPr sz="2000" b="0" dirty="0" err="1">
                <a:solidFill>
                  <a:srgbClr val="FFFFFF"/>
                </a:solidFill>
                <a:latin typeface="Tw Cen MT" panose="020B0602020104020603" pitchFamily="34" charset="0"/>
              </a:rPr>
              <a:t>hipotecas</a:t>
            </a:r>
            <a:r>
              <a:rPr sz="2000" b="0" dirty="0">
                <a:solidFill>
                  <a:srgbClr val="FFFFFF"/>
                </a:solidFill>
                <a:latin typeface="Tw Cen MT" panose="020B0602020104020603" pitchFamily="34" charset="0"/>
              </a:rPr>
              <a:t> a favor de </a:t>
            </a:r>
            <a:r>
              <a:rPr sz="2000" b="0" dirty="0" err="1">
                <a:solidFill>
                  <a:srgbClr val="FFFFFF"/>
                </a:solidFill>
                <a:latin typeface="Tw Cen MT" panose="020B0602020104020603" pitchFamily="34" charset="0"/>
              </a:rPr>
              <a:t>otras</a:t>
            </a:r>
            <a:r>
              <a:rPr sz="2000" b="0" dirty="0">
                <a:solidFill>
                  <a:srgbClr val="FFFFFF"/>
                </a:solidFill>
                <a:latin typeface="Tw Cen MT" panose="020B0602020104020603" pitchFamily="34" charset="0"/>
              </a:rPr>
              <a:t> </a:t>
            </a:r>
            <a:r>
              <a:rPr sz="2000" b="0" dirty="0" err="1">
                <a:solidFill>
                  <a:srgbClr val="FFFFFF"/>
                </a:solidFill>
                <a:latin typeface="Tw Cen MT" panose="020B0602020104020603" pitchFamily="34" charset="0"/>
              </a:rPr>
              <a:t>firmas</a:t>
            </a:r>
            <a:r>
              <a:rPr sz="2000" b="0" dirty="0">
                <a:solidFill>
                  <a:srgbClr val="FFFFFF"/>
                </a:solidFill>
                <a:latin typeface="Tw Cen MT" panose="020B0602020104020603" pitchFamily="34" charset="0"/>
              </a:rPr>
              <a:t>.</a:t>
            </a:r>
          </a:p>
          <a:p>
            <a:pPr>
              <a:spcBef>
                <a:spcPts val="400"/>
              </a:spcBef>
            </a:pPr>
            <a:endParaRPr lang="es-419" sz="2400" b="1" dirty="0">
              <a:solidFill>
                <a:schemeClr val="bg1"/>
              </a:solidFill>
              <a:latin typeface="Tw Cen MT" panose="020B06020201040206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8CE3E0D2-3266-DEDE-D957-ADBAD7F24D5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08FFEE-5371-9397-5B0F-E8CEF839E552}"/>
              </a:ext>
            </a:extLst>
          </p:cNvPr>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BE28755-FCA6-ED55-D1B7-8D3AAF66CC49}"/>
              </a:ext>
            </a:extLst>
          </p:cNvPr>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41F1F62-94EA-4878-3433-6669EA64DCC9}"/>
              </a:ext>
            </a:extLst>
          </p:cNvPr>
          <p:cNvSpPr txBox="1"/>
          <p:nvPr/>
        </p:nvSpPr>
        <p:spPr>
          <a:xfrm>
            <a:off x="304800" y="287179"/>
            <a:ext cx="8534400" cy="492443"/>
          </a:xfrm>
          <a:prstGeom prst="rect">
            <a:avLst/>
          </a:prstGeom>
          <a:noFill/>
        </p:spPr>
        <p:txBody>
          <a:bodyPr wrap="square" anchor="ctr">
            <a:spAutoFit/>
          </a:bodyPr>
          <a:lstStyle/>
          <a:p>
            <a:pPr algn="l"/>
            <a:r>
              <a:rPr sz="2600" b="1" i="0" dirty="0">
                <a:solidFill>
                  <a:srgbClr val="FFFFFF"/>
                </a:solidFill>
                <a:latin typeface="Tw Cen MT"/>
              </a:rPr>
              <a:t>TALLER — Caso Salomon Brothers</a:t>
            </a:r>
          </a:p>
        </p:txBody>
      </p:sp>
      <p:sp>
        <p:nvSpPr>
          <p:cNvPr id="5" name="TextBox 4">
            <a:extLst>
              <a:ext uri="{FF2B5EF4-FFF2-40B4-BE49-F238E27FC236}">
                <a16:creationId xmlns:a16="http://schemas.microsoft.com/office/drawing/2014/main" id="{7917F168-9D54-B493-A3E1-CE29EF813FDD}"/>
              </a:ext>
            </a:extLst>
          </p:cNvPr>
          <p:cNvSpPr txBox="1"/>
          <p:nvPr/>
        </p:nvSpPr>
        <p:spPr>
          <a:xfrm>
            <a:off x="304800" y="1066800"/>
            <a:ext cx="8534400" cy="4093428"/>
          </a:xfrm>
          <a:prstGeom prst="rect">
            <a:avLst/>
          </a:prstGeom>
          <a:noFill/>
        </p:spPr>
        <p:txBody>
          <a:bodyPr wrap="square">
            <a:spAutoFit/>
          </a:bodyPr>
          <a:lstStyle/>
          <a:p>
            <a:pPr>
              <a:spcBef>
                <a:spcPts val="400"/>
              </a:spcBef>
            </a:pPr>
            <a:endParaRPr lang="es-419" sz="2400" b="1" dirty="0">
              <a:solidFill>
                <a:schemeClr val="bg1"/>
              </a:solidFill>
              <a:latin typeface="Tw Cen MT" panose="020B0602020104020603" pitchFamily="34" charset="0"/>
            </a:endParaRPr>
          </a:p>
          <a:p>
            <a:pPr>
              <a:spcBef>
                <a:spcPts val="400"/>
              </a:spcBef>
            </a:pPr>
            <a:endParaRPr lang="es-419" sz="2400" b="1" dirty="0">
              <a:solidFill>
                <a:schemeClr val="bg1"/>
              </a:solidFill>
              <a:latin typeface="Tw Cen MT" panose="020B0602020104020603" pitchFamily="34" charset="0"/>
            </a:endParaRPr>
          </a:p>
          <a:p>
            <a:pPr>
              <a:spcBef>
                <a:spcPts val="400"/>
              </a:spcBef>
            </a:pPr>
            <a:r>
              <a:rPr lang="es-419" sz="2400" b="1" dirty="0">
                <a:solidFill>
                  <a:schemeClr val="bg1"/>
                </a:solidFill>
                <a:latin typeface="Tw Cen MT" panose="020B0602020104020603" pitchFamily="34" charset="0"/>
              </a:rPr>
              <a:t>Consignas</a:t>
            </a:r>
          </a:p>
          <a:p>
            <a:pPr>
              <a:spcBef>
                <a:spcPts val="400"/>
              </a:spcBef>
            </a:pPr>
            <a:endParaRPr lang="es-419" sz="2400" b="1" dirty="0">
              <a:solidFill>
                <a:schemeClr val="bg1"/>
              </a:solidFill>
              <a:latin typeface="Tw Cen MT" panose="020B0602020104020603" pitchFamily="34" charset="0"/>
            </a:endParaRPr>
          </a:p>
          <a:p>
            <a:pPr>
              <a:spcBef>
                <a:spcPts val="400"/>
              </a:spcBef>
            </a:pPr>
            <a:r>
              <a:rPr lang="es-419" sz="2400" dirty="0">
                <a:solidFill>
                  <a:srgbClr val="FFFFFF"/>
                </a:solidFill>
                <a:latin typeface="Tw Cen MT" panose="020B0602020104020603" pitchFamily="34" charset="0"/>
              </a:rPr>
              <a:t>¿ </a:t>
            </a:r>
            <a:r>
              <a:rPr lang="es-419" sz="2400" dirty="0">
                <a:solidFill>
                  <a:schemeClr val="bg1"/>
                </a:solidFill>
                <a:latin typeface="Tw Cen MT" panose="020B0602020104020603" pitchFamily="34" charset="0"/>
              </a:rPr>
              <a:t>Por qué podría ser racional que </a:t>
            </a:r>
            <a:r>
              <a:rPr lang="es-419" sz="2400" dirty="0" err="1">
                <a:solidFill>
                  <a:schemeClr val="bg1"/>
                </a:solidFill>
                <a:latin typeface="Tw Cen MT" panose="020B0602020104020603" pitchFamily="34" charset="0"/>
              </a:rPr>
              <a:t>Salomon</a:t>
            </a:r>
            <a:r>
              <a:rPr lang="es-419" sz="2400" dirty="0">
                <a:solidFill>
                  <a:schemeClr val="bg1"/>
                </a:solidFill>
                <a:latin typeface="Tw Cen MT" panose="020B0602020104020603" pitchFamily="34" charset="0"/>
              </a:rPr>
              <a:t> fije un techo a la comisión variable en lugar de pagarle a </a:t>
            </a:r>
            <a:r>
              <a:rPr lang="es-419" sz="2400" dirty="0" err="1">
                <a:solidFill>
                  <a:schemeClr val="bg1"/>
                </a:solidFill>
                <a:latin typeface="Tw Cen MT" panose="020B0602020104020603" pitchFamily="34" charset="0"/>
              </a:rPr>
              <a:t>Rubin</a:t>
            </a:r>
            <a:r>
              <a:rPr lang="es-419" sz="2400" dirty="0">
                <a:solidFill>
                  <a:schemeClr val="bg1"/>
                </a:solidFill>
                <a:latin typeface="Tw Cen MT" panose="020B0602020104020603" pitchFamily="34" charset="0"/>
              </a:rPr>
              <a:t> un porcentaje fijo de las ganancias que generó?</a:t>
            </a:r>
          </a:p>
          <a:p>
            <a:pPr>
              <a:spcBef>
                <a:spcPts val="400"/>
              </a:spcBef>
            </a:pPr>
            <a:endParaRPr lang="es-419" sz="2400" dirty="0">
              <a:solidFill>
                <a:schemeClr val="bg1"/>
              </a:solidFill>
              <a:latin typeface="Tw Cen MT" panose="020B0602020104020603" pitchFamily="34" charset="0"/>
            </a:endParaRPr>
          </a:p>
          <a:p>
            <a:pPr>
              <a:spcBef>
                <a:spcPts val="400"/>
              </a:spcBef>
            </a:pPr>
            <a:r>
              <a:rPr lang="es-419" sz="2400" dirty="0">
                <a:solidFill>
                  <a:srgbClr val="FFFFFF"/>
                </a:solidFill>
                <a:latin typeface="Tw Cen MT" panose="020B0602020104020603" pitchFamily="34" charset="0"/>
              </a:rPr>
              <a:t>¿ </a:t>
            </a:r>
            <a:r>
              <a:rPr lang="es-419" sz="2400" dirty="0">
                <a:solidFill>
                  <a:schemeClr val="bg1"/>
                </a:solidFill>
                <a:latin typeface="Tw Cen MT" panose="020B0602020104020603" pitchFamily="34" charset="0"/>
              </a:rPr>
              <a:t>Cuales son los riesgos que una organización enfrenta si el salario variable lo “paga sin techo”? </a:t>
            </a:r>
            <a:r>
              <a:rPr lang="es-419" sz="2400" dirty="0">
                <a:solidFill>
                  <a:srgbClr val="FFFFFF"/>
                </a:solidFill>
                <a:latin typeface="Tw Cen MT" panose="020B0602020104020603" pitchFamily="34" charset="0"/>
              </a:rPr>
              <a:t>¿ </a:t>
            </a:r>
            <a:r>
              <a:rPr lang="es-419" sz="2400" dirty="0">
                <a:solidFill>
                  <a:schemeClr val="bg1"/>
                </a:solidFill>
                <a:latin typeface="Tw Cen MT" panose="020B0602020104020603" pitchFamily="34" charset="0"/>
              </a:rPr>
              <a:t>Cuales son las ventajas?</a:t>
            </a:r>
          </a:p>
        </p:txBody>
      </p:sp>
    </p:spTree>
    <p:extLst>
      <p:ext uri="{BB962C8B-B14F-4D97-AF65-F5344CB8AC3E}">
        <p14:creationId xmlns:p14="http://schemas.microsoft.com/office/powerpoint/2010/main" val="1882348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8968BC17-57D5-71BF-08DE-B68A4D1C8FB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88FD5F-7FE9-CB91-EBAD-049DD1881B0F}"/>
              </a:ext>
            </a:extLst>
          </p:cNvPr>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2790519-D29D-C421-8BFA-0F9BE39A9E69}"/>
              </a:ext>
            </a:extLst>
          </p:cNvPr>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a:extLst>
              <a:ext uri="{FF2B5EF4-FFF2-40B4-BE49-F238E27FC236}">
                <a16:creationId xmlns:a16="http://schemas.microsoft.com/office/drawing/2014/main" id="{7EB6ADAC-ADE1-8EE9-D8B5-6FE964D46350}"/>
              </a:ext>
            </a:extLst>
          </p:cNvPr>
          <p:cNvSpPr txBox="1"/>
          <p:nvPr/>
        </p:nvSpPr>
        <p:spPr>
          <a:xfrm>
            <a:off x="304800" y="287179"/>
            <a:ext cx="8534400" cy="492443"/>
          </a:xfrm>
          <a:prstGeom prst="rect">
            <a:avLst/>
          </a:prstGeom>
          <a:noFill/>
        </p:spPr>
        <p:txBody>
          <a:bodyPr wrap="square" anchor="ctr">
            <a:spAutoFit/>
          </a:bodyPr>
          <a:lstStyle/>
          <a:p>
            <a:pPr algn="l"/>
            <a:r>
              <a:rPr sz="2600" b="1" i="0" dirty="0">
                <a:solidFill>
                  <a:srgbClr val="FFFFFF"/>
                </a:solidFill>
                <a:latin typeface="Tw Cen MT" panose="020B0602020104020603" pitchFamily="34" charset="0"/>
              </a:rPr>
              <a:t>TALLER — Caso Salomon Brothers</a:t>
            </a:r>
          </a:p>
        </p:txBody>
      </p:sp>
      <p:sp>
        <p:nvSpPr>
          <p:cNvPr id="7" name="Shape 4">
            <a:extLst>
              <a:ext uri="{FF2B5EF4-FFF2-40B4-BE49-F238E27FC236}">
                <a16:creationId xmlns:a16="http://schemas.microsoft.com/office/drawing/2014/main" id="{F35E7F6C-975F-17BA-2227-359ED33104CD}"/>
              </a:ext>
            </a:extLst>
          </p:cNvPr>
          <p:cNvSpPr/>
          <p:nvPr/>
        </p:nvSpPr>
        <p:spPr>
          <a:xfrm>
            <a:off x="365760" y="1234440"/>
            <a:ext cx="4069080" cy="411480"/>
          </a:xfrm>
          <a:prstGeom prst="rect">
            <a:avLst/>
          </a:prstGeom>
          <a:solidFill>
            <a:srgbClr val="1E2761"/>
          </a:solidFill>
          <a:ln/>
        </p:spPr>
        <p:txBody>
          <a:bodyPr/>
          <a:lstStyle/>
          <a:p>
            <a:endParaRPr lang="es-419" sz="1400">
              <a:latin typeface="Tw Cen MT" panose="020B0602020104020603" pitchFamily="34" charset="0"/>
            </a:endParaRPr>
          </a:p>
        </p:txBody>
      </p:sp>
      <p:sp>
        <p:nvSpPr>
          <p:cNvPr id="9" name="Text 5">
            <a:extLst>
              <a:ext uri="{FF2B5EF4-FFF2-40B4-BE49-F238E27FC236}">
                <a16:creationId xmlns:a16="http://schemas.microsoft.com/office/drawing/2014/main" id="{4142DC74-CF39-5ABC-E096-B39AF0664A56}"/>
              </a:ext>
            </a:extLst>
          </p:cNvPr>
          <p:cNvSpPr/>
          <p:nvPr/>
        </p:nvSpPr>
        <p:spPr>
          <a:xfrm>
            <a:off x="365760" y="1234440"/>
            <a:ext cx="4069080" cy="411480"/>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VARIABLE CON TECHO</a:t>
            </a:r>
            <a:endParaRPr lang="en-US" sz="1400" dirty="0">
              <a:latin typeface="Tw Cen MT" panose="020B0602020104020603" pitchFamily="34" charset="0"/>
            </a:endParaRPr>
          </a:p>
        </p:txBody>
      </p:sp>
      <p:sp>
        <p:nvSpPr>
          <p:cNvPr id="11" name="Shape 6">
            <a:extLst>
              <a:ext uri="{FF2B5EF4-FFF2-40B4-BE49-F238E27FC236}">
                <a16:creationId xmlns:a16="http://schemas.microsoft.com/office/drawing/2014/main" id="{C257DB68-ABC9-AC8C-DF55-AEF0AC3C1BCC}"/>
              </a:ext>
            </a:extLst>
          </p:cNvPr>
          <p:cNvSpPr/>
          <p:nvPr/>
        </p:nvSpPr>
        <p:spPr>
          <a:xfrm>
            <a:off x="4709160" y="1234440"/>
            <a:ext cx="4069080" cy="411480"/>
          </a:xfrm>
          <a:prstGeom prst="rect">
            <a:avLst/>
          </a:prstGeom>
          <a:solidFill>
            <a:srgbClr val="3A4680"/>
          </a:solidFill>
          <a:ln/>
        </p:spPr>
        <p:txBody>
          <a:bodyPr/>
          <a:lstStyle/>
          <a:p>
            <a:endParaRPr lang="es-419" sz="1400">
              <a:latin typeface="Tw Cen MT" panose="020B0602020104020603" pitchFamily="34" charset="0"/>
            </a:endParaRPr>
          </a:p>
        </p:txBody>
      </p:sp>
      <p:sp>
        <p:nvSpPr>
          <p:cNvPr id="13" name="Text 7">
            <a:extLst>
              <a:ext uri="{FF2B5EF4-FFF2-40B4-BE49-F238E27FC236}">
                <a16:creationId xmlns:a16="http://schemas.microsoft.com/office/drawing/2014/main" id="{FAAC9492-6969-3502-34C7-A609C4F2C628}"/>
              </a:ext>
            </a:extLst>
          </p:cNvPr>
          <p:cNvSpPr/>
          <p:nvPr/>
        </p:nvSpPr>
        <p:spPr>
          <a:xfrm>
            <a:off x="4709160" y="1234440"/>
            <a:ext cx="4069080" cy="411480"/>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VARIABLE SIN TECHO (% de lo generado)</a:t>
            </a:r>
            <a:endParaRPr lang="en-US" sz="1400" dirty="0">
              <a:latin typeface="Tw Cen MT" panose="020B0602020104020603" pitchFamily="34" charset="0"/>
            </a:endParaRPr>
          </a:p>
        </p:txBody>
      </p:sp>
      <p:sp>
        <p:nvSpPr>
          <p:cNvPr id="15" name="Shape 8">
            <a:extLst>
              <a:ext uri="{FF2B5EF4-FFF2-40B4-BE49-F238E27FC236}">
                <a16:creationId xmlns:a16="http://schemas.microsoft.com/office/drawing/2014/main" id="{E153AC67-8DDB-C395-6F64-233C78936BF6}"/>
              </a:ext>
            </a:extLst>
          </p:cNvPr>
          <p:cNvSpPr/>
          <p:nvPr/>
        </p:nvSpPr>
        <p:spPr>
          <a:xfrm>
            <a:off x="365760" y="1737360"/>
            <a:ext cx="4069080" cy="292608"/>
          </a:xfrm>
          <a:prstGeom prst="rect">
            <a:avLst/>
          </a:prstGeom>
          <a:solidFill>
            <a:srgbClr val="1B4332"/>
          </a:solidFill>
          <a:ln/>
        </p:spPr>
        <p:txBody>
          <a:bodyPr/>
          <a:lstStyle/>
          <a:p>
            <a:endParaRPr lang="es-419" sz="1400">
              <a:latin typeface="Tw Cen MT" panose="020B0602020104020603" pitchFamily="34" charset="0"/>
            </a:endParaRPr>
          </a:p>
        </p:txBody>
      </p:sp>
      <p:sp>
        <p:nvSpPr>
          <p:cNvPr id="17" name="Text 9">
            <a:extLst>
              <a:ext uri="{FF2B5EF4-FFF2-40B4-BE49-F238E27FC236}">
                <a16:creationId xmlns:a16="http://schemas.microsoft.com/office/drawing/2014/main" id="{0E8C5328-99E6-117A-40D5-D6A8A988BB1D}"/>
              </a:ext>
            </a:extLst>
          </p:cNvPr>
          <p:cNvSpPr/>
          <p:nvPr/>
        </p:nvSpPr>
        <p:spPr>
          <a:xfrm>
            <a:off x="365760" y="1737360"/>
            <a:ext cx="4069080" cy="292608"/>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VENTAJAS</a:t>
            </a:r>
            <a:endParaRPr lang="en-US" sz="1400" dirty="0">
              <a:latin typeface="Tw Cen MT" panose="020B0602020104020603" pitchFamily="34" charset="0"/>
            </a:endParaRPr>
          </a:p>
        </p:txBody>
      </p:sp>
      <p:sp>
        <p:nvSpPr>
          <p:cNvPr id="19" name="Shape 10">
            <a:extLst>
              <a:ext uri="{FF2B5EF4-FFF2-40B4-BE49-F238E27FC236}">
                <a16:creationId xmlns:a16="http://schemas.microsoft.com/office/drawing/2014/main" id="{AB5F73B4-7190-D296-D6D2-6CAB656EDDCA}"/>
              </a:ext>
            </a:extLst>
          </p:cNvPr>
          <p:cNvSpPr/>
          <p:nvPr/>
        </p:nvSpPr>
        <p:spPr>
          <a:xfrm>
            <a:off x="365760" y="2029968"/>
            <a:ext cx="4069080" cy="2039112"/>
          </a:xfrm>
          <a:prstGeom prst="rect">
            <a:avLst/>
          </a:prstGeom>
          <a:solidFill>
            <a:srgbClr val="EAF1EC"/>
          </a:solidFill>
          <a:ln/>
        </p:spPr>
        <p:txBody>
          <a:bodyPr/>
          <a:lstStyle/>
          <a:p>
            <a:endParaRPr lang="es-419" sz="1400" dirty="0">
              <a:latin typeface="Tw Cen MT" panose="020B0602020104020603" pitchFamily="34" charset="0"/>
            </a:endParaRPr>
          </a:p>
        </p:txBody>
      </p:sp>
      <p:sp>
        <p:nvSpPr>
          <p:cNvPr id="21" name="Text 11">
            <a:extLst>
              <a:ext uri="{FF2B5EF4-FFF2-40B4-BE49-F238E27FC236}">
                <a16:creationId xmlns:a16="http://schemas.microsoft.com/office/drawing/2014/main" id="{B06E09F1-36C9-AC64-C182-2981BE62C4F7}"/>
              </a:ext>
            </a:extLst>
          </p:cNvPr>
          <p:cNvSpPr/>
          <p:nvPr/>
        </p:nvSpPr>
        <p:spPr>
          <a:xfrm>
            <a:off x="493776" y="2002536"/>
            <a:ext cx="3813048" cy="1874520"/>
          </a:xfrm>
          <a:prstGeom prst="rect">
            <a:avLst/>
          </a:prstGeom>
          <a:noFill/>
          <a:ln/>
        </p:spPr>
        <p:txBody>
          <a:bodyPr wrap="square" rtlCol="0" anchor="t"/>
          <a:lstStyle/>
          <a:p>
            <a:pPr marL="342900" indent="-342900">
              <a:lnSpc>
                <a:spcPct val="105000"/>
              </a:lnSpc>
              <a:spcAft>
                <a:spcPts val="600"/>
              </a:spcAft>
              <a:buSzPct val="100000"/>
              <a:buChar char="•"/>
            </a:pPr>
            <a:r>
              <a:rPr lang="en-US" sz="1400" dirty="0">
                <a:solidFill>
                  <a:srgbClr val="2B2B2B"/>
                </a:solidFill>
                <a:latin typeface="Tw Cen MT" panose="020B0602020104020603" pitchFamily="34" charset="0"/>
                <a:ea typeface="Tw Cen MT" pitchFamily="34" charset="-122"/>
                <a:cs typeface="Tw Cen MT" pitchFamily="34" charset="-120"/>
              </a:rPr>
              <a:t>Filtra el riesgo no controlable por el </a:t>
            </a:r>
            <a:r>
              <a:rPr lang="en-US" sz="1400" dirty="0" err="1">
                <a:solidFill>
                  <a:srgbClr val="2B2B2B"/>
                </a:solidFill>
                <a:latin typeface="Tw Cen MT" panose="020B0602020104020603" pitchFamily="34" charset="0"/>
                <a:ea typeface="Tw Cen MT" pitchFamily="34" charset="-122"/>
                <a:cs typeface="Tw Cen MT" pitchFamily="34" charset="-120"/>
              </a:rPr>
              <a:t>agente</a:t>
            </a:r>
            <a:r>
              <a:rPr lang="en-US" sz="1400" dirty="0">
                <a:solidFill>
                  <a:srgbClr val="2B2B2B"/>
                </a:solidFill>
                <a:latin typeface="Tw Cen MT" panose="020B0602020104020603" pitchFamily="34" charset="0"/>
                <a:ea typeface="Tw Cen MT" pitchFamily="34" charset="-122"/>
                <a:cs typeface="Tw Cen MT" pitchFamily="34" charset="-120"/>
              </a:rPr>
              <a:t>: evita pagar por rentas de mercado o posición monopólica de la </a:t>
            </a:r>
            <a:r>
              <a:rPr lang="en-US" sz="1400" dirty="0" err="1">
                <a:solidFill>
                  <a:srgbClr val="2B2B2B"/>
                </a:solidFill>
                <a:latin typeface="Tw Cen MT" panose="020B0602020104020603" pitchFamily="34" charset="0"/>
                <a:ea typeface="Tw Cen MT" pitchFamily="34" charset="-122"/>
                <a:cs typeface="Tw Cen MT" pitchFamily="34" charset="-120"/>
              </a:rPr>
              <a:t>firma</a:t>
            </a:r>
            <a:r>
              <a:rPr lang="en-US" sz="1400" dirty="0">
                <a:solidFill>
                  <a:srgbClr val="2B2B2B"/>
                </a:solidFill>
                <a:latin typeface="Tw Cen MT" panose="020B0602020104020603" pitchFamily="34" charset="0"/>
                <a:ea typeface="Tw Cen MT" pitchFamily="34" charset="-122"/>
                <a:cs typeface="Tw Cen MT" pitchFamily="34" charset="-120"/>
              </a:rPr>
              <a:t>.</a:t>
            </a:r>
            <a:endParaRPr lang="en-US" sz="1400" dirty="0">
              <a:latin typeface="Tw Cen MT" panose="020B0602020104020603" pitchFamily="34" charset="0"/>
            </a:endParaRPr>
          </a:p>
          <a:p>
            <a:pPr marL="342900" indent="-342900">
              <a:lnSpc>
                <a:spcPct val="105000"/>
              </a:lnSpc>
              <a:spcAft>
                <a:spcPts val="600"/>
              </a:spcAft>
              <a:buSzPct val="100000"/>
              <a:buChar char="•"/>
            </a:pPr>
            <a:r>
              <a:rPr lang="en-US" sz="1400" dirty="0">
                <a:solidFill>
                  <a:srgbClr val="2B2B2B"/>
                </a:solidFill>
                <a:latin typeface="Tw Cen MT" panose="020B0602020104020603" pitchFamily="34" charset="0"/>
                <a:ea typeface="Tw Cen MT" pitchFamily="34" charset="-122"/>
                <a:cs typeface="Tw Cen MT" pitchFamily="34" charset="-120"/>
              </a:rPr>
              <a:t>Predecibilidad presupuestaria y control de costos para la firma.</a:t>
            </a:r>
            <a:endParaRPr lang="en-US" sz="1400" dirty="0">
              <a:latin typeface="Tw Cen MT" panose="020B0602020104020603" pitchFamily="34" charset="0"/>
            </a:endParaRPr>
          </a:p>
          <a:p>
            <a:pPr marL="342900" indent="-342900">
              <a:lnSpc>
                <a:spcPct val="105000"/>
              </a:lnSpc>
              <a:spcAft>
                <a:spcPts val="600"/>
              </a:spcAft>
              <a:buSzPct val="100000"/>
              <a:buChar char="•"/>
            </a:pPr>
            <a:r>
              <a:rPr lang="en-US" sz="1400" dirty="0">
                <a:solidFill>
                  <a:srgbClr val="2B2B2B"/>
                </a:solidFill>
                <a:latin typeface="Tw Cen MT" panose="020B0602020104020603" pitchFamily="34" charset="0"/>
                <a:ea typeface="Tw Cen MT" pitchFamily="34" charset="-122"/>
                <a:cs typeface="Tw Cen MT" pitchFamily="34" charset="-120"/>
              </a:rPr>
              <a:t>Preserva equidad interna: evita brechas extremas entre traders/empleados que erosionen la cohesión del equipo.</a:t>
            </a:r>
            <a:endParaRPr lang="en-US" sz="1400" dirty="0">
              <a:latin typeface="Tw Cen MT" panose="020B0602020104020603" pitchFamily="34" charset="0"/>
            </a:endParaRPr>
          </a:p>
          <a:p>
            <a:pPr marL="342900" indent="-342900">
              <a:lnSpc>
                <a:spcPct val="105000"/>
              </a:lnSpc>
              <a:spcAft>
                <a:spcPts val="600"/>
              </a:spcAft>
              <a:buSzPct val="100000"/>
              <a:buChar char="•"/>
            </a:pPr>
            <a:r>
              <a:rPr lang="en-US" sz="1400" dirty="0">
                <a:solidFill>
                  <a:srgbClr val="2B2B2B"/>
                </a:solidFill>
                <a:latin typeface="Tw Cen MT" panose="020B0602020104020603" pitchFamily="34" charset="0"/>
                <a:ea typeface="Tw Cen MT" pitchFamily="34" charset="-122"/>
                <a:cs typeface="Tw Cen MT" pitchFamily="34" charset="-120"/>
              </a:rPr>
              <a:t>Reduce el riesgo de comportamientos de riesgo excesivo (menos "vega", menos incentivo a apostar el balance de la firma).</a:t>
            </a:r>
            <a:endParaRPr lang="en-US" sz="1400" dirty="0">
              <a:latin typeface="Tw Cen MT" panose="020B0602020104020603" pitchFamily="34" charset="0"/>
            </a:endParaRPr>
          </a:p>
        </p:txBody>
      </p:sp>
      <p:sp>
        <p:nvSpPr>
          <p:cNvPr id="23" name="Shape 12">
            <a:extLst>
              <a:ext uri="{FF2B5EF4-FFF2-40B4-BE49-F238E27FC236}">
                <a16:creationId xmlns:a16="http://schemas.microsoft.com/office/drawing/2014/main" id="{71492FA8-5FB1-5899-450E-993CD749A31F}"/>
              </a:ext>
            </a:extLst>
          </p:cNvPr>
          <p:cNvSpPr/>
          <p:nvPr/>
        </p:nvSpPr>
        <p:spPr>
          <a:xfrm>
            <a:off x="365760" y="4178808"/>
            <a:ext cx="4069080" cy="292608"/>
          </a:xfrm>
          <a:prstGeom prst="rect">
            <a:avLst/>
          </a:prstGeom>
          <a:solidFill>
            <a:srgbClr val="8B0000"/>
          </a:solidFill>
          <a:ln/>
        </p:spPr>
        <p:txBody>
          <a:bodyPr/>
          <a:lstStyle/>
          <a:p>
            <a:endParaRPr lang="es-419" sz="1400">
              <a:latin typeface="Tw Cen MT" panose="020B0602020104020603" pitchFamily="34" charset="0"/>
            </a:endParaRPr>
          </a:p>
        </p:txBody>
      </p:sp>
      <p:sp>
        <p:nvSpPr>
          <p:cNvPr id="25" name="Text 13">
            <a:extLst>
              <a:ext uri="{FF2B5EF4-FFF2-40B4-BE49-F238E27FC236}">
                <a16:creationId xmlns:a16="http://schemas.microsoft.com/office/drawing/2014/main" id="{2A941697-0BE8-FC2A-D7B1-7885ABE5CDF9}"/>
              </a:ext>
            </a:extLst>
          </p:cNvPr>
          <p:cNvSpPr/>
          <p:nvPr/>
        </p:nvSpPr>
        <p:spPr>
          <a:xfrm>
            <a:off x="365760" y="4178808"/>
            <a:ext cx="4069080" cy="292608"/>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DESVENTAJAS</a:t>
            </a:r>
            <a:endParaRPr lang="en-US" sz="1400" dirty="0">
              <a:latin typeface="Tw Cen MT" panose="020B0602020104020603" pitchFamily="34" charset="0"/>
            </a:endParaRPr>
          </a:p>
        </p:txBody>
      </p:sp>
      <p:sp>
        <p:nvSpPr>
          <p:cNvPr id="27" name="Shape 14">
            <a:extLst>
              <a:ext uri="{FF2B5EF4-FFF2-40B4-BE49-F238E27FC236}">
                <a16:creationId xmlns:a16="http://schemas.microsoft.com/office/drawing/2014/main" id="{869A35BB-B83D-ED99-EBEA-25A1178E852A}"/>
              </a:ext>
            </a:extLst>
          </p:cNvPr>
          <p:cNvSpPr/>
          <p:nvPr/>
        </p:nvSpPr>
        <p:spPr>
          <a:xfrm>
            <a:off x="365760" y="4471416"/>
            <a:ext cx="4069080" cy="2039112"/>
          </a:xfrm>
          <a:prstGeom prst="rect">
            <a:avLst/>
          </a:prstGeom>
          <a:solidFill>
            <a:srgbClr val="F5E9E9"/>
          </a:solidFill>
          <a:ln/>
        </p:spPr>
        <p:txBody>
          <a:bodyPr/>
          <a:lstStyle/>
          <a:p>
            <a:endParaRPr lang="es-419" sz="1400">
              <a:latin typeface="Tw Cen MT" panose="020B0602020104020603" pitchFamily="34" charset="0"/>
            </a:endParaRPr>
          </a:p>
        </p:txBody>
      </p:sp>
      <p:sp>
        <p:nvSpPr>
          <p:cNvPr id="29" name="Text 15">
            <a:extLst>
              <a:ext uri="{FF2B5EF4-FFF2-40B4-BE49-F238E27FC236}">
                <a16:creationId xmlns:a16="http://schemas.microsoft.com/office/drawing/2014/main" id="{BCA339F2-2CE0-036B-53C8-B9053F50A916}"/>
              </a:ext>
            </a:extLst>
          </p:cNvPr>
          <p:cNvSpPr/>
          <p:nvPr/>
        </p:nvSpPr>
        <p:spPr>
          <a:xfrm>
            <a:off x="493776" y="4562856"/>
            <a:ext cx="3813048" cy="1874520"/>
          </a:xfrm>
          <a:prstGeom prst="rect">
            <a:avLst/>
          </a:prstGeom>
          <a:noFill/>
          <a:ln/>
        </p:spPr>
        <p:txBody>
          <a:bodyPr wrap="square" rtlCol="0" anchor="t"/>
          <a:lstStyle/>
          <a:p>
            <a:pPr marL="342900" indent="-342900">
              <a:lnSpc>
                <a:spcPct val="105000"/>
              </a:lnSpc>
              <a:spcAft>
                <a:spcPts val="600"/>
              </a:spcAft>
              <a:buSzPct val="100000"/>
              <a:buChar char="•"/>
            </a:pPr>
            <a:r>
              <a:rPr lang="en-US" sz="1400" dirty="0">
                <a:solidFill>
                  <a:srgbClr val="2B2B2B"/>
                </a:solidFill>
                <a:latin typeface="Tw Cen MT" panose="020B0602020104020603" pitchFamily="34" charset="0"/>
                <a:ea typeface="Tw Cen MT" pitchFamily="34" charset="-122"/>
                <a:cs typeface="Tw Cen MT" pitchFamily="34" charset="-120"/>
              </a:rPr>
              <a:t>Genera fuga de talento con capital </a:t>
            </a:r>
            <a:r>
              <a:rPr lang="en-US" sz="1400" dirty="0" err="1">
                <a:solidFill>
                  <a:srgbClr val="2B2B2B"/>
                </a:solidFill>
                <a:latin typeface="Tw Cen MT" panose="020B0602020104020603" pitchFamily="34" charset="0"/>
                <a:ea typeface="Tw Cen MT" pitchFamily="34" charset="-122"/>
                <a:cs typeface="Tw Cen MT" pitchFamily="34" charset="-120"/>
              </a:rPr>
              <a:t>humano</a:t>
            </a:r>
            <a:r>
              <a:rPr lang="en-US" sz="1400" dirty="0">
                <a:solidFill>
                  <a:srgbClr val="2B2B2B"/>
                </a:solidFill>
                <a:latin typeface="Tw Cen MT" panose="020B0602020104020603" pitchFamily="34" charset="0"/>
                <a:ea typeface="Tw Cen MT" pitchFamily="34" charset="-122"/>
                <a:cs typeface="Tw Cen MT" pitchFamily="34" charset="-120"/>
              </a:rPr>
              <a:t> general: la firma no captura el valor que ella misma ayudó a crear.</a:t>
            </a:r>
            <a:endParaRPr lang="en-US" sz="1400" dirty="0">
              <a:latin typeface="Tw Cen MT" panose="020B0602020104020603" pitchFamily="34" charset="0"/>
            </a:endParaRPr>
          </a:p>
          <a:p>
            <a:pPr marL="342900" indent="-342900">
              <a:lnSpc>
                <a:spcPct val="105000"/>
              </a:lnSpc>
              <a:spcAft>
                <a:spcPts val="600"/>
              </a:spcAft>
              <a:buSzPct val="100000"/>
              <a:buChar char="•"/>
            </a:pPr>
            <a:r>
              <a:rPr lang="en-US" sz="1400" dirty="0">
                <a:solidFill>
                  <a:srgbClr val="2B2B2B"/>
                </a:solidFill>
                <a:latin typeface="Tw Cen MT" panose="020B0602020104020603" pitchFamily="34" charset="0"/>
                <a:ea typeface="Tw Cen MT" pitchFamily="34" charset="-122"/>
                <a:cs typeface="Tw Cen MT" pitchFamily="34" charset="-120"/>
              </a:rPr>
              <a:t>Se quedan quienes tienen menor opción de salida, no los mejores.</a:t>
            </a:r>
            <a:endParaRPr lang="en-US" sz="1400" dirty="0">
              <a:latin typeface="Tw Cen MT" panose="020B0602020104020603" pitchFamily="34" charset="0"/>
            </a:endParaRPr>
          </a:p>
          <a:p>
            <a:pPr marL="342900" indent="-342900">
              <a:lnSpc>
                <a:spcPct val="105000"/>
              </a:lnSpc>
              <a:spcAft>
                <a:spcPts val="600"/>
              </a:spcAft>
              <a:buSzPct val="100000"/>
              <a:buChar char="•"/>
            </a:pPr>
            <a:r>
              <a:rPr lang="en-US" sz="1400" dirty="0">
                <a:solidFill>
                  <a:srgbClr val="2B2B2B"/>
                </a:solidFill>
                <a:latin typeface="Tw Cen MT" panose="020B0602020104020603" pitchFamily="34" charset="0"/>
                <a:ea typeface="Tw Cen MT" pitchFamily="34" charset="-122"/>
                <a:cs typeface="Tw Cen MT" pitchFamily="34" charset="-120"/>
              </a:rPr>
              <a:t>termina premiando la salida hacia el mejor postor, no la </a:t>
            </a:r>
            <a:r>
              <a:rPr lang="en-US" sz="1400" dirty="0" err="1">
                <a:solidFill>
                  <a:srgbClr val="2B2B2B"/>
                </a:solidFill>
                <a:latin typeface="Tw Cen MT" panose="020B0602020104020603" pitchFamily="34" charset="0"/>
                <a:ea typeface="Tw Cen MT" pitchFamily="34" charset="-122"/>
                <a:cs typeface="Tw Cen MT" pitchFamily="34" charset="-120"/>
              </a:rPr>
              <a:t>lealtad</a:t>
            </a:r>
            <a:r>
              <a:rPr lang="en-US" sz="1400" dirty="0">
                <a:solidFill>
                  <a:srgbClr val="2B2B2B"/>
                </a:solidFill>
                <a:latin typeface="Tw Cen MT" panose="020B0602020104020603" pitchFamily="34" charset="0"/>
                <a:ea typeface="Tw Cen MT" pitchFamily="34" charset="-122"/>
                <a:cs typeface="Tw Cen MT" pitchFamily="34" charset="-120"/>
              </a:rPr>
              <a:t> a la </a:t>
            </a:r>
            <a:r>
              <a:rPr lang="en-US" sz="1400" dirty="0" err="1">
                <a:solidFill>
                  <a:srgbClr val="2B2B2B"/>
                </a:solidFill>
                <a:latin typeface="Tw Cen MT" panose="020B0602020104020603" pitchFamily="34" charset="0"/>
                <a:ea typeface="Tw Cen MT" pitchFamily="34" charset="-122"/>
                <a:cs typeface="Tw Cen MT" pitchFamily="34" charset="-120"/>
              </a:rPr>
              <a:t>compañía</a:t>
            </a:r>
            <a:r>
              <a:rPr lang="en-US" sz="1400" dirty="0">
                <a:solidFill>
                  <a:srgbClr val="2B2B2B"/>
                </a:solidFill>
                <a:latin typeface="Tw Cen MT" panose="020B0602020104020603" pitchFamily="34" charset="0"/>
                <a:ea typeface="Tw Cen MT" pitchFamily="34" charset="-122"/>
                <a:cs typeface="Tw Cen MT" pitchFamily="34" charset="-120"/>
              </a:rPr>
              <a:t>.</a:t>
            </a:r>
            <a:endParaRPr lang="en-US" sz="1400" dirty="0">
              <a:latin typeface="Tw Cen MT" panose="020B0602020104020603" pitchFamily="34" charset="0"/>
            </a:endParaRPr>
          </a:p>
        </p:txBody>
      </p:sp>
      <p:sp>
        <p:nvSpPr>
          <p:cNvPr id="31" name="Shape 16">
            <a:extLst>
              <a:ext uri="{FF2B5EF4-FFF2-40B4-BE49-F238E27FC236}">
                <a16:creationId xmlns:a16="http://schemas.microsoft.com/office/drawing/2014/main" id="{FB131DFE-FAB3-1F23-1BC1-F3F29271C7A7}"/>
              </a:ext>
            </a:extLst>
          </p:cNvPr>
          <p:cNvSpPr/>
          <p:nvPr/>
        </p:nvSpPr>
        <p:spPr>
          <a:xfrm>
            <a:off x="4709160" y="1737360"/>
            <a:ext cx="4069080" cy="292608"/>
          </a:xfrm>
          <a:prstGeom prst="rect">
            <a:avLst/>
          </a:prstGeom>
          <a:solidFill>
            <a:srgbClr val="1B4332"/>
          </a:solidFill>
          <a:ln/>
        </p:spPr>
        <p:txBody>
          <a:bodyPr/>
          <a:lstStyle/>
          <a:p>
            <a:endParaRPr lang="es-419" sz="1400">
              <a:latin typeface="Tw Cen MT" panose="020B0602020104020603" pitchFamily="34" charset="0"/>
            </a:endParaRPr>
          </a:p>
        </p:txBody>
      </p:sp>
      <p:sp>
        <p:nvSpPr>
          <p:cNvPr id="33" name="Text 17">
            <a:extLst>
              <a:ext uri="{FF2B5EF4-FFF2-40B4-BE49-F238E27FC236}">
                <a16:creationId xmlns:a16="http://schemas.microsoft.com/office/drawing/2014/main" id="{7DF9B177-50E9-63E2-8024-CF8BCA238D3A}"/>
              </a:ext>
            </a:extLst>
          </p:cNvPr>
          <p:cNvSpPr/>
          <p:nvPr/>
        </p:nvSpPr>
        <p:spPr>
          <a:xfrm>
            <a:off x="4709160" y="1737360"/>
            <a:ext cx="4069080" cy="292608"/>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VENTAJAS</a:t>
            </a:r>
            <a:endParaRPr lang="en-US" sz="1400" dirty="0">
              <a:latin typeface="Tw Cen MT" panose="020B0602020104020603" pitchFamily="34" charset="0"/>
            </a:endParaRPr>
          </a:p>
        </p:txBody>
      </p:sp>
      <p:sp>
        <p:nvSpPr>
          <p:cNvPr id="35" name="Shape 18">
            <a:extLst>
              <a:ext uri="{FF2B5EF4-FFF2-40B4-BE49-F238E27FC236}">
                <a16:creationId xmlns:a16="http://schemas.microsoft.com/office/drawing/2014/main" id="{9ACCF373-85EA-739F-973C-1A340B4F9D5C}"/>
              </a:ext>
            </a:extLst>
          </p:cNvPr>
          <p:cNvSpPr/>
          <p:nvPr/>
        </p:nvSpPr>
        <p:spPr>
          <a:xfrm>
            <a:off x="4709160" y="2029968"/>
            <a:ext cx="4069080" cy="2039112"/>
          </a:xfrm>
          <a:prstGeom prst="rect">
            <a:avLst/>
          </a:prstGeom>
          <a:solidFill>
            <a:srgbClr val="EAF1EC"/>
          </a:solidFill>
          <a:ln/>
        </p:spPr>
        <p:txBody>
          <a:bodyPr/>
          <a:lstStyle/>
          <a:p>
            <a:endParaRPr lang="es-419" sz="1400">
              <a:latin typeface="Tw Cen MT" panose="020B0602020104020603" pitchFamily="34" charset="0"/>
            </a:endParaRPr>
          </a:p>
        </p:txBody>
      </p:sp>
      <p:sp>
        <p:nvSpPr>
          <p:cNvPr id="37" name="Text 19">
            <a:extLst>
              <a:ext uri="{FF2B5EF4-FFF2-40B4-BE49-F238E27FC236}">
                <a16:creationId xmlns:a16="http://schemas.microsoft.com/office/drawing/2014/main" id="{64237405-B6D2-F422-F9EB-2F985916B504}"/>
              </a:ext>
            </a:extLst>
          </p:cNvPr>
          <p:cNvSpPr/>
          <p:nvPr/>
        </p:nvSpPr>
        <p:spPr>
          <a:xfrm>
            <a:off x="4965192" y="2338104"/>
            <a:ext cx="3813048" cy="1874520"/>
          </a:xfrm>
          <a:prstGeom prst="rect">
            <a:avLst/>
          </a:prstGeom>
          <a:noFill/>
          <a:ln/>
        </p:spPr>
        <p:txBody>
          <a:bodyPr wrap="square" rtlCol="0" anchor="t"/>
          <a:lstStyle/>
          <a:p>
            <a:pPr marL="342900" indent="-342900">
              <a:lnSpc>
                <a:spcPct val="105000"/>
              </a:lnSpc>
              <a:spcAft>
                <a:spcPts val="600"/>
              </a:spcAft>
              <a:buSzPct val="100000"/>
              <a:buChar char="•"/>
            </a:pPr>
            <a:r>
              <a:rPr lang="en-US" sz="1400" dirty="0">
                <a:solidFill>
                  <a:srgbClr val="2B2B2B"/>
                </a:solidFill>
                <a:latin typeface="Tw Cen MT" panose="020B0602020104020603" pitchFamily="34" charset="0"/>
                <a:ea typeface="Tw Cen MT" pitchFamily="34" charset="-122"/>
                <a:cs typeface="Tw Cen MT" pitchFamily="34" charset="-120"/>
              </a:rPr>
              <a:t>Máxima </a:t>
            </a:r>
            <a:r>
              <a:rPr lang="en-US" sz="1400" dirty="0" err="1">
                <a:solidFill>
                  <a:srgbClr val="2B2B2B"/>
                </a:solidFill>
                <a:latin typeface="Tw Cen MT" panose="020B0602020104020603" pitchFamily="34" charset="0"/>
                <a:ea typeface="Tw Cen MT" pitchFamily="34" charset="-122"/>
                <a:cs typeface="Tw Cen MT" pitchFamily="34" charset="-120"/>
              </a:rPr>
              <a:t>retención</a:t>
            </a:r>
            <a:r>
              <a:rPr lang="en-US" sz="1400" dirty="0">
                <a:solidFill>
                  <a:srgbClr val="2B2B2B"/>
                </a:solidFill>
                <a:latin typeface="Tw Cen MT" panose="020B0602020104020603" pitchFamily="34" charset="0"/>
                <a:ea typeface="Tw Cen MT" pitchFamily="34" charset="-122"/>
                <a:cs typeface="Tw Cen MT" pitchFamily="34" charset="-120"/>
              </a:rPr>
              <a:t>.</a:t>
            </a:r>
          </a:p>
          <a:p>
            <a:pPr marL="342900" indent="-342900">
              <a:lnSpc>
                <a:spcPct val="105000"/>
              </a:lnSpc>
              <a:spcAft>
                <a:spcPts val="600"/>
              </a:spcAft>
              <a:buSzPct val="100000"/>
              <a:buChar char="•"/>
            </a:pPr>
            <a:r>
              <a:rPr lang="en-US" sz="1400" dirty="0">
                <a:solidFill>
                  <a:srgbClr val="2B2B2B"/>
                </a:solidFill>
                <a:latin typeface="Tw Cen MT" panose="020B0602020104020603" pitchFamily="34" charset="0"/>
                <a:ea typeface="Tw Cen MT" pitchFamily="34" charset="-122"/>
                <a:cs typeface="Tw Cen MT" pitchFamily="34" charset="-120"/>
              </a:rPr>
              <a:t>Fuerte alineación de incentivos con el esfuerzo.</a:t>
            </a:r>
            <a:endParaRPr lang="en-US" sz="1400" dirty="0">
              <a:latin typeface="Tw Cen MT" panose="020B0602020104020603" pitchFamily="34" charset="0"/>
            </a:endParaRPr>
          </a:p>
          <a:p>
            <a:pPr marL="342900" indent="-342900">
              <a:lnSpc>
                <a:spcPct val="105000"/>
              </a:lnSpc>
              <a:spcAft>
                <a:spcPts val="600"/>
              </a:spcAft>
              <a:buSzPct val="100000"/>
              <a:buChar char="•"/>
            </a:pPr>
            <a:r>
              <a:rPr lang="en-US" sz="1400" dirty="0">
                <a:solidFill>
                  <a:srgbClr val="2B2B2B"/>
                </a:solidFill>
                <a:latin typeface="Tw Cen MT" panose="020B0602020104020603" pitchFamily="34" charset="0"/>
                <a:ea typeface="Tw Cen MT" pitchFamily="34" charset="-122"/>
                <a:cs typeface="Tw Cen MT" pitchFamily="34" charset="-120"/>
              </a:rPr>
              <a:t>Reduce el problema de ocultamiento de resultados por temor al techo.</a:t>
            </a:r>
            <a:endParaRPr lang="en-US" sz="1400" dirty="0">
              <a:latin typeface="Tw Cen MT" panose="020B0602020104020603" pitchFamily="34" charset="0"/>
            </a:endParaRPr>
          </a:p>
        </p:txBody>
      </p:sp>
      <p:sp>
        <p:nvSpPr>
          <p:cNvPr id="41" name="Text 21">
            <a:extLst>
              <a:ext uri="{FF2B5EF4-FFF2-40B4-BE49-F238E27FC236}">
                <a16:creationId xmlns:a16="http://schemas.microsoft.com/office/drawing/2014/main" id="{FF11C6E1-F46D-D621-A766-FB8F9D346D82}"/>
              </a:ext>
            </a:extLst>
          </p:cNvPr>
          <p:cNvSpPr/>
          <p:nvPr/>
        </p:nvSpPr>
        <p:spPr>
          <a:xfrm>
            <a:off x="4709160" y="4178808"/>
            <a:ext cx="4069080" cy="292608"/>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DESVENTAJAS</a:t>
            </a:r>
            <a:endParaRPr lang="en-US" sz="1400" dirty="0">
              <a:latin typeface="Tw Cen MT" panose="020B0602020104020603" pitchFamily="34" charset="0"/>
            </a:endParaRPr>
          </a:p>
        </p:txBody>
      </p:sp>
      <p:sp>
        <p:nvSpPr>
          <p:cNvPr id="43" name="Shape 22">
            <a:extLst>
              <a:ext uri="{FF2B5EF4-FFF2-40B4-BE49-F238E27FC236}">
                <a16:creationId xmlns:a16="http://schemas.microsoft.com/office/drawing/2014/main" id="{9751DA2F-1CB7-AA22-8A65-582D635E87B0}"/>
              </a:ext>
            </a:extLst>
          </p:cNvPr>
          <p:cNvSpPr/>
          <p:nvPr/>
        </p:nvSpPr>
        <p:spPr>
          <a:xfrm>
            <a:off x="4572001" y="4498848"/>
            <a:ext cx="4502988" cy="2182656"/>
          </a:xfrm>
          <a:prstGeom prst="rect">
            <a:avLst/>
          </a:prstGeom>
          <a:solidFill>
            <a:srgbClr val="F5E9E9"/>
          </a:solidFill>
          <a:ln/>
        </p:spPr>
        <p:txBody>
          <a:bodyPr/>
          <a:lstStyle/>
          <a:p>
            <a:endParaRPr lang="es-419" sz="1400">
              <a:latin typeface="Tw Cen MT" panose="020B0602020104020603" pitchFamily="34" charset="0"/>
            </a:endParaRPr>
          </a:p>
        </p:txBody>
      </p:sp>
      <p:sp>
        <p:nvSpPr>
          <p:cNvPr id="45" name="Text 23">
            <a:extLst>
              <a:ext uri="{FF2B5EF4-FFF2-40B4-BE49-F238E27FC236}">
                <a16:creationId xmlns:a16="http://schemas.microsoft.com/office/drawing/2014/main" id="{9036476A-DE1D-4628-4294-966BEF0D7ACE}"/>
              </a:ext>
            </a:extLst>
          </p:cNvPr>
          <p:cNvSpPr/>
          <p:nvPr/>
        </p:nvSpPr>
        <p:spPr>
          <a:xfrm>
            <a:off x="4530851" y="4578149"/>
            <a:ext cx="4425697" cy="1874520"/>
          </a:xfrm>
          <a:prstGeom prst="rect">
            <a:avLst/>
          </a:prstGeom>
          <a:noFill/>
          <a:ln/>
        </p:spPr>
        <p:txBody>
          <a:bodyPr wrap="square" rtlCol="0" anchor="t"/>
          <a:lstStyle/>
          <a:p>
            <a:pPr marL="342900" indent="-342900">
              <a:lnSpc>
                <a:spcPct val="105000"/>
              </a:lnSpc>
              <a:spcAft>
                <a:spcPts val="600"/>
              </a:spcAft>
              <a:buSzPct val="100000"/>
              <a:buChar char="•"/>
            </a:pPr>
            <a:r>
              <a:rPr lang="en-US" sz="1200" dirty="0" err="1">
                <a:solidFill>
                  <a:srgbClr val="2B2B2B"/>
                </a:solidFill>
                <a:latin typeface="Tw Cen MT" panose="020B0602020104020603" pitchFamily="34" charset="0"/>
                <a:ea typeface="Tw Cen MT" pitchFamily="34" charset="-122"/>
                <a:cs typeface="Tw Cen MT" pitchFamily="34" charset="-120"/>
              </a:rPr>
              <a:t>Puede</a:t>
            </a:r>
            <a:r>
              <a:rPr lang="en-US" sz="1200" dirty="0">
                <a:solidFill>
                  <a:srgbClr val="2B2B2B"/>
                </a:solidFill>
                <a:latin typeface="Tw Cen MT" panose="020B0602020104020603" pitchFamily="34" charset="0"/>
                <a:ea typeface="Tw Cen MT" pitchFamily="34" charset="-122"/>
                <a:cs typeface="Tw Cen MT" pitchFamily="34" charset="-120"/>
              </a:rPr>
              <a:t> recompensar suerte o posición de mercado de la </a:t>
            </a:r>
            <a:r>
              <a:rPr lang="en-US" sz="1200" dirty="0" err="1">
                <a:solidFill>
                  <a:srgbClr val="2B2B2B"/>
                </a:solidFill>
                <a:latin typeface="Tw Cen MT" panose="020B0602020104020603" pitchFamily="34" charset="0"/>
                <a:ea typeface="Tw Cen MT" pitchFamily="34" charset="-122"/>
                <a:cs typeface="Tw Cen MT" pitchFamily="34" charset="-120"/>
              </a:rPr>
              <a:t>firma</a:t>
            </a:r>
            <a:r>
              <a:rPr lang="en-US" sz="1200" dirty="0">
                <a:solidFill>
                  <a:srgbClr val="2B2B2B"/>
                </a:solidFill>
                <a:latin typeface="Tw Cen MT" panose="020B0602020104020603" pitchFamily="34" charset="0"/>
                <a:ea typeface="Tw Cen MT" pitchFamily="34" charset="-122"/>
                <a:cs typeface="Tw Cen MT" pitchFamily="34" charset="-120"/>
              </a:rPr>
              <a:t>.</a:t>
            </a:r>
            <a:endParaRPr lang="en-US" sz="1200" dirty="0">
              <a:latin typeface="Tw Cen MT" panose="020B0602020104020603" pitchFamily="34" charset="0"/>
            </a:endParaRPr>
          </a:p>
          <a:p>
            <a:pPr marL="342900" lvl="0" indent="-342900">
              <a:lnSpc>
                <a:spcPct val="105000"/>
              </a:lnSpc>
              <a:spcAft>
                <a:spcPts val="600"/>
              </a:spcAft>
              <a:buSzPct val="100000"/>
              <a:buChar char="•"/>
            </a:pPr>
            <a:r>
              <a:rPr lang="en-US" sz="1200" dirty="0" err="1">
                <a:solidFill>
                  <a:srgbClr val="2B2B2B"/>
                </a:solidFill>
                <a:latin typeface="Tw Cen MT" panose="020B0602020104020603" pitchFamily="34" charset="0"/>
                <a:ea typeface="Tw Cen MT" pitchFamily="34" charset="-122"/>
                <a:cs typeface="Tw Cen MT" pitchFamily="34" charset="-120"/>
              </a:rPr>
              <a:t>Incentiva</a:t>
            </a:r>
            <a:r>
              <a:rPr lang="en-US" sz="1200" dirty="0">
                <a:solidFill>
                  <a:srgbClr val="2B2B2B"/>
                </a:solidFill>
                <a:latin typeface="Tw Cen MT" panose="020B0602020104020603" pitchFamily="34" charset="0"/>
                <a:ea typeface="Tw Cen MT" pitchFamily="34" charset="-122"/>
                <a:cs typeface="Tw Cen MT" pitchFamily="34" charset="-120"/>
              </a:rPr>
              <a:t> </a:t>
            </a:r>
            <a:r>
              <a:rPr lang="en-US" sz="1200" dirty="0" err="1">
                <a:solidFill>
                  <a:srgbClr val="2B2B2B"/>
                </a:solidFill>
                <a:latin typeface="Tw Cen MT" panose="020B0602020104020603" pitchFamily="34" charset="0"/>
                <a:ea typeface="Tw Cen MT" pitchFamily="34" charset="-122"/>
                <a:cs typeface="Tw Cen MT" pitchFamily="34" charset="-120"/>
              </a:rPr>
              <a:t>riesgo</a:t>
            </a:r>
            <a:r>
              <a:rPr lang="en-US" sz="1200" dirty="0">
                <a:solidFill>
                  <a:srgbClr val="2B2B2B"/>
                </a:solidFill>
                <a:latin typeface="Tw Cen MT" panose="020B0602020104020603" pitchFamily="34" charset="0"/>
                <a:ea typeface="Tw Cen MT" pitchFamily="34" charset="-122"/>
                <a:cs typeface="Tw Cen MT" pitchFamily="34" charset="-120"/>
              </a:rPr>
              <a:t> </a:t>
            </a:r>
            <a:r>
              <a:rPr lang="en-US" sz="1200" dirty="0" err="1">
                <a:solidFill>
                  <a:srgbClr val="2B2B2B"/>
                </a:solidFill>
                <a:latin typeface="Tw Cen MT" panose="020B0602020104020603" pitchFamily="34" charset="0"/>
                <a:ea typeface="Tw Cen MT" pitchFamily="34" charset="-122"/>
                <a:cs typeface="Tw Cen MT" pitchFamily="34" charset="-120"/>
              </a:rPr>
              <a:t>excesivo</a:t>
            </a:r>
            <a:r>
              <a:rPr lang="en-US" sz="1200" dirty="0">
                <a:solidFill>
                  <a:srgbClr val="2B2B2B"/>
                </a:solidFill>
                <a:latin typeface="Tw Cen MT" panose="020B0602020104020603" pitchFamily="34" charset="0"/>
                <a:ea typeface="Tw Cen MT" pitchFamily="34" charset="-122"/>
                <a:cs typeface="Tw Cen MT" pitchFamily="34" charset="-120"/>
              </a:rPr>
              <a:t>: s</a:t>
            </a:r>
            <a:r>
              <a:rPr lang="es-419" sz="1200" dirty="0">
                <a:latin typeface="Tw Cen MT" panose="020B0602020104020603" pitchFamily="34" charset="0"/>
              </a:rPr>
              <a:t>i el resultado es positivo, se lleva un % sin límite. Si el resultado es negativo, en el peor de los casos, no cobra bono ese año. No paga de su bolsillo la </a:t>
            </a:r>
            <a:r>
              <a:rPr lang="es-419" sz="1200" dirty="0">
                <a:solidFill>
                  <a:srgbClr val="2B2B2B"/>
                </a:solidFill>
                <a:latin typeface="Tw Cen MT" panose="020B0602020104020603" pitchFamily="34" charset="0"/>
              </a:rPr>
              <a:t>pérdida.</a:t>
            </a:r>
          </a:p>
          <a:p>
            <a:pPr marL="342900" indent="-342900">
              <a:lnSpc>
                <a:spcPct val="105000"/>
              </a:lnSpc>
              <a:spcAft>
                <a:spcPts val="600"/>
              </a:spcAft>
              <a:buSzPct val="100000"/>
              <a:buChar char="•"/>
            </a:pPr>
            <a:r>
              <a:rPr lang="en-US" sz="1200" dirty="0" err="1">
                <a:solidFill>
                  <a:srgbClr val="2B2B2B"/>
                </a:solidFill>
                <a:latin typeface="Tw Cen MT" panose="020B0602020104020603" pitchFamily="34" charset="0"/>
                <a:ea typeface="Tw Cen MT" pitchFamily="34" charset="-122"/>
                <a:cs typeface="Tw Cen MT" pitchFamily="34" charset="-120"/>
              </a:rPr>
              <a:t>Rompe</a:t>
            </a:r>
            <a:r>
              <a:rPr lang="en-US" sz="1200" dirty="0">
                <a:solidFill>
                  <a:srgbClr val="2B2B2B"/>
                </a:solidFill>
                <a:latin typeface="Tw Cen MT" panose="020B0602020104020603" pitchFamily="34" charset="0"/>
                <a:ea typeface="Tw Cen MT" pitchFamily="34" charset="-122"/>
                <a:cs typeface="Tw Cen MT" pitchFamily="34" charset="-120"/>
              </a:rPr>
              <a:t> la equidad interna: puede generar resentimiento y desmotivación en el resto del equipo.</a:t>
            </a:r>
            <a:endParaRPr lang="en-US" sz="1200" dirty="0">
              <a:latin typeface="Tw Cen MT" panose="020B0602020104020603" pitchFamily="34" charset="0"/>
            </a:endParaRPr>
          </a:p>
          <a:p>
            <a:pPr marL="342900" indent="-342900">
              <a:lnSpc>
                <a:spcPct val="105000"/>
              </a:lnSpc>
              <a:spcAft>
                <a:spcPts val="600"/>
              </a:spcAft>
              <a:buSzPct val="100000"/>
              <a:buChar char="•"/>
            </a:pPr>
            <a:r>
              <a:rPr lang="en-US" sz="1200" dirty="0">
                <a:solidFill>
                  <a:srgbClr val="2B2B2B"/>
                </a:solidFill>
                <a:latin typeface="Tw Cen MT" panose="020B0602020104020603" pitchFamily="34" charset="0"/>
                <a:ea typeface="Tw Cen MT" pitchFamily="34" charset="-122"/>
                <a:cs typeface="Tw Cen MT" pitchFamily="34" charset="-120"/>
              </a:rPr>
              <a:t>Costo y volatilidad presupuestaria difíciles de proyectar para la firma.</a:t>
            </a:r>
            <a:endParaRPr lang="en-US" sz="1200" dirty="0">
              <a:latin typeface="Tw Cen MT" panose="020B0602020104020603" pitchFamily="34" charset="0"/>
            </a:endParaRPr>
          </a:p>
        </p:txBody>
      </p:sp>
      <p:sp>
        <p:nvSpPr>
          <p:cNvPr id="47" name="Shape 24">
            <a:extLst>
              <a:ext uri="{FF2B5EF4-FFF2-40B4-BE49-F238E27FC236}">
                <a16:creationId xmlns:a16="http://schemas.microsoft.com/office/drawing/2014/main" id="{40730824-9274-E046-A4E0-32CB6DA049CA}"/>
              </a:ext>
            </a:extLst>
          </p:cNvPr>
          <p:cNvSpPr/>
          <p:nvPr/>
        </p:nvSpPr>
        <p:spPr>
          <a:xfrm>
            <a:off x="0" y="6537960"/>
            <a:ext cx="9144000" cy="320040"/>
          </a:xfrm>
          <a:prstGeom prst="rect">
            <a:avLst/>
          </a:prstGeom>
          <a:solidFill>
            <a:srgbClr val="3A4680"/>
          </a:solidFill>
          <a:ln/>
        </p:spPr>
        <p:txBody>
          <a:bodyPr/>
          <a:lstStyle/>
          <a:p>
            <a:endParaRPr lang="es-419" sz="2000" dirty="0">
              <a:latin typeface="Tw Cen MT" panose="020B0602020104020603" pitchFamily="34" charset="0"/>
            </a:endParaRPr>
          </a:p>
        </p:txBody>
      </p:sp>
      <p:sp>
        <p:nvSpPr>
          <p:cNvPr id="49" name="Text 25">
            <a:extLst>
              <a:ext uri="{FF2B5EF4-FFF2-40B4-BE49-F238E27FC236}">
                <a16:creationId xmlns:a16="http://schemas.microsoft.com/office/drawing/2014/main" id="{49A50EFE-CD21-70B9-C8D2-81488E1146AA}"/>
              </a:ext>
            </a:extLst>
          </p:cNvPr>
          <p:cNvSpPr/>
          <p:nvPr/>
        </p:nvSpPr>
        <p:spPr>
          <a:xfrm>
            <a:off x="365760" y="6537960"/>
            <a:ext cx="8412480" cy="320040"/>
          </a:xfrm>
          <a:prstGeom prst="rect">
            <a:avLst/>
          </a:prstGeom>
          <a:noFill/>
          <a:ln/>
        </p:spPr>
        <p:txBody>
          <a:bodyPr wrap="square" rtlCol="0" anchor="ctr"/>
          <a:lstStyle/>
          <a:p>
            <a:pPr marL="0" indent="0">
              <a:buNone/>
            </a:pPr>
            <a:r>
              <a:rPr lang="en-US" i="1" dirty="0">
                <a:solidFill>
                  <a:srgbClr val="FFFFFF"/>
                </a:solidFill>
                <a:latin typeface="Tw Cen MT" panose="020B0602020104020603" pitchFamily="34" charset="0"/>
                <a:ea typeface="Tw Cen MT" pitchFamily="34" charset="-122"/>
                <a:cs typeface="Tw Cen MT" pitchFamily="34" charset="-120"/>
              </a:rPr>
              <a:t>No hay </a:t>
            </a:r>
            <a:r>
              <a:rPr lang="en-US" i="1" dirty="0" err="1">
                <a:solidFill>
                  <a:srgbClr val="FFFFFF"/>
                </a:solidFill>
                <a:latin typeface="Tw Cen MT" panose="020B0602020104020603" pitchFamily="34" charset="0"/>
                <a:ea typeface="Tw Cen MT" pitchFamily="34" charset="-122"/>
                <a:cs typeface="Tw Cen MT" pitchFamily="34" charset="-120"/>
              </a:rPr>
              <a:t>solución</a:t>
            </a:r>
            <a:r>
              <a:rPr lang="en-US" i="1" dirty="0">
                <a:solidFill>
                  <a:srgbClr val="FFFFFF"/>
                </a:solidFill>
                <a:latin typeface="Tw Cen MT" panose="020B0602020104020603" pitchFamily="34" charset="0"/>
                <a:ea typeface="Tw Cen MT" pitchFamily="34" charset="-122"/>
                <a:cs typeface="Tw Cen MT" pitchFamily="34" charset="-120"/>
              </a:rPr>
              <a:t>  libre de costos: </a:t>
            </a:r>
            <a:r>
              <a:rPr lang="en-US" i="1" dirty="0" err="1">
                <a:solidFill>
                  <a:srgbClr val="FFFFFF"/>
                </a:solidFill>
                <a:latin typeface="Tw Cen MT" panose="020B0602020104020603" pitchFamily="34" charset="0"/>
                <a:ea typeface="Tw Cen MT" pitchFamily="34" charset="-122"/>
                <a:cs typeface="Tw Cen MT" pitchFamily="34" charset="-120"/>
              </a:rPr>
              <a:t>todo</a:t>
            </a:r>
            <a:r>
              <a:rPr lang="en-US" i="1" dirty="0">
                <a:solidFill>
                  <a:srgbClr val="FFFFFF"/>
                </a:solidFill>
                <a:latin typeface="Tw Cen MT" panose="020B0602020104020603" pitchFamily="34" charset="0"/>
                <a:ea typeface="Tw Cen MT" pitchFamily="34" charset="-122"/>
                <a:cs typeface="Tw Cen MT" pitchFamily="34" charset="-120"/>
              </a:rPr>
              <a:t> </a:t>
            </a:r>
            <a:r>
              <a:rPr lang="en-US" i="1" dirty="0" err="1">
                <a:solidFill>
                  <a:srgbClr val="FFFFFF"/>
                </a:solidFill>
                <a:latin typeface="Tw Cen MT" panose="020B0602020104020603" pitchFamily="34" charset="0"/>
                <a:ea typeface="Tw Cen MT" pitchFamily="34" charset="-122"/>
                <a:cs typeface="Tw Cen MT" pitchFamily="34" charset="-120"/>
              </a:rPr>
              <a:t>diseño</a:t>
            </a:r>
            <a:r>
              <a:rPr lang="en-US" i="1" dirty="0">
                <a:solidFill>
                  <a:srgbClr val="FFFFFF"/>
                </a:solidFill>
                <a:latin typeface="Tw Cen MT" panose="020B0602020104020603" pitchFamily="34" charset="0"/>
                <a:ea typeface="Tw Cen MT" pitchFamily="34" charset="-122"/>
                <a:cs typeface="Tw Cen MT" pitchFamily="34" charset="-120"/>
              </a:rPr>
              <a:t> </a:t>
            </a:r>
            <a:r>
              <a:rPr lang="en-US" i="1" dirty="0" err="1">
                <a:solidFill>
                  <a:srgbClr val="FFFFFF"/>
                </a:solidFill>
                <a:latin typeface="Tw Cen MT" panose="020B0602020104020603" pitchFamily="34" charset="0"/>
                <a:ea typeface="Tw Cen MT" pitchFamily="34" charset="-122"/>
                <a:cs typeface="Tw Cen MT" pitchFamily="34" charset="-120"/>
              </a:rPr>
              <a:t>tiene</a:t>
            </a:r>
            <a:r>
              <a:rPr lang="en-US" i="1" dirty="0">
                <a:solidFill>
                  <a:srgbClr val="FFFFFF"/>
                </a:solidFill>
                <a:latin typeface="Tw Cen MT" panose="020B0602020104020603" pitchFamily="34" charset="0"/>
                <a:ea typeface="Tw Cen MT" pitchFamily="34" charset="-122"/>
                <a:cs typeface="Tw Cen MT" pitchFamily="34" charset="-120"/>
              </a:rPr>
              <a:t> un </a:t>
            </a:r>
            <a:r>
              <a:rPr lang="en-US" i="1" dirty="0" err="1">
                <a:solidFill>
                  <a:srgbClr val="FFFFFF"/>
                </a:solidFill>
                <a:latin typeface="Tw Cen MT" panose="020B0602020104020603" pitchFamily="34" charset="0"/>
                <a:ea typeface="Tw Cen MT" pitchFamily="34" charset="-122"/>
                <a:cs typeface="Tw Cen MT" pitchFamily="34" charset="-120"/>
              </a:rPr>
              <a:t>riesgo</a:t>
            </a:r>
            <a:r>
              <a:rPr lang="en-US" i="1" dirty="0">
                <a:solidFill>
                  <a:srgbClr val="FFFFFF"/>
                </a:solidFill>
                <a:latin typeface="Tw Cen MT" panose="020B0602020104020603" pitchFamily="34" charset="0"/>
                <a:ea typeface="Tw Cen MT" pitchFamily="34" charset="-122"/>
                <a:cs typeface="Tw Cen MT" pitchFamily="34" charset="-120"/>
              </a:rPr>
              <a:t> residual</a:t>
            </a:r>
            <a:endParaRPr lang="en-US" dirty="0">
              <a:latin typeface="Tw Cen MT" panose="020B0602020104020603" pitchFamily="34" charset="0"/>
            </a:endParaRPr>
          </a:p>
        </p:txBody>
      </p:sp>
    </p:spTree>
    <p:extLst>
      <p:ext uri="{BB962C8B-B14F-4D97-AF65-F5344CB8AC3E}">
        <p14:creationId xmlns:p14="http://schemas.microsoft.com/office/powerpoint/2010/main" val="730399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287179"/>
            <a:ext cx="8534400" cy="492443"/>
          </a:xfrm>
          <a:prstGeom prst="rect">
            <a:avLst/>
          </a:prstGeom>
          <a:noFill/>
        </p:spPr>
        <p:txBody>
          <a:bodyPr wrap="square" anchor="ctr">
            <a:spAutoFit/>
          </a:bodyPr>
          <a:lstStyle/>
          <a:p>
            <a:pPr algn="l"/>
            <a:r>
              <a:rPr sz="2600" b="1" i="0" dirty="0">
                <a:solidFill>
                  <a:srgbClr val="FFFFFF"/>
                </a:solidFill>
                <a:latin typeface="Tw Cen MT"/>
              </a:rPr>
              <a:t>TALLER — Caso Salomon Brothers</a:t>
            </a:r>
          </a:p>
        </p:txBody>
      </p:sp>
      <p:sp>
        <p:nvSpPr>
          <p:cNvPr id="5" name="TextBox 4"/>
          <p:cNvSpPr txBox="1"/>
          <p:nvPr/>
        </p:nvSpPr>
        <p:spPr>
          <a:xfrm>
            <a:off x="304800" y="1539815"/>
            <a:ext cx="8534400" cy="5114221"/>
          </a:xfrm>
          <a:prstGeom prst="rect">
            <a:avLst/>
          </a:prstGeom>
          <a:noFill/>
        </p:spPr>
        <p:txBody>
          <a:bodyPr wrap="square">
            <a:spAutoFit/>
          </a:bodyPr>
          <a:lstStyle/>
          <a:p>
            <a:pPr algn="l">
              <a:spcBef>
                <a:spcPts val="400"/>
              </a:spcBef>
            </a:pPr>
            <a:r>
              <a:rPr sz="2200" b="1" dirty="0">
                <a:solidFill>
                  <a:srgbClr val="FFFFFF"/>
                </a:solidFill>
                <a:latin typeface="Tw Cen MT"/>
              </a:rPr>
              <a:t>En 1987, Rubin </a:t>
            </a:r>
            <a:r>
              <a:rPr sz="2200" b="1" dirty="0" err="1">
                <a:solidFill>
                  <a:srgbClr val="FFFFFF"/>
                </a:solidFill>
                <a:latin typeface="Tw Cen MT"/>
              </a:rPr>
              <a:t>provocó</a:t>
            </a:r>
            <a:r>
              <a:rPr sz="2200" b="1" dirty="0">
                <a:solidFill>
                  <a:srgbClr val="FFFFFF"/>
                </a:solidFill>
                <a:latin typeface="Tw Cen MT"/>
              </a:rPr>
              <a:t> </a:t>
            </a:r>
            <a:r>
              <a:rPr sz="2200" b="1" dirty="0" err="1">
                <a:solidFill>
                  <a:srgbClr val="FFFFFF"/>
                </a:solidFill>
                <a:latin typeface="Tw Cen MT"/>
              </a:rPr>
              <a:t>pérdidas</a:t>
            </a:r>
            <a:r>
              <a:rPr sz="2200" b="1" dirty="0">
                <a:solidFill>
                  <a:srgbClr val="FFFFFF"/>
                </a:solidFill>
                <a:latin typeface="Tw Cen MT"/>
              </a:rPr>
              <a:t> </a:t>
            </a:r>
            <a:r>
              <a:rPr sz="2200" b="1" dirty="0" err="1">
                <a:solidFill>
                  <a:srgbClr val="FFFFFF"/>
                </a:solidFill>
                <a:latin typeface="Tw Cen MT"/>
              </a:rPr>
              <a:t>históricas</a:t>
            </a:r>
            <a:r>
              <a:rPr sz="2200" b="1" dirty="0">
                <a:solidFill>
                  <a:srgbClr val="FFFFFF"/>
                </a:solidFill>
                <a:latin typeface="Tw Cen MT"/>
              </a:rPr>
              <a:t> </a:t>
            </a:r>
            <a:r>
              <a:rPr sz="2200" b="1" dirty="0" err="1">
                <a:solidFill>
                  <a:srgbClr val="FFFFFF"/>
                </a:solidFill>
                <a:latin typeface="Tw Cen MT"/>
              </a:rPr>
              <a:t>en</a:t>
            </a:r>
            <a:r>
              <a:rPr sz="2200" b="1" dirty="0">
                <a:solidFill>
                  <a:srgbClr val="FFFFFF"/>
                </a:solidFill>
                <a:latin typeface="Tw Cen MT"/>
              </a:rPr>
              <a:t> Merrill Lynch: </a:t>
            </a:r>
            <a:r>
              <a:rPr sz="2200" b="1" dirty="0" err="1">
                <a:solidFill>
                  <a:srgbClr val="FFFFFF"/>
                </a:solidFill>
                <a:latin typeface="Tw Cen MT"/>
              </a:rPr>
              <a:t>operaciones</a:t>
            </a:r>
            <a:r>
              <a:rPr sz="2200" b="1" dirty="0">
                <a:solidFill>
                  <a:srgbClr val="FFFFFF"/>
                </a:solidFill>
                <a:latin typeface="Tw Cen MT"/>
              </a:rPr>
              <a:t> no </a:t>
            </a:r>
            <a:r>
              <a:rPr sz="2200" b="1" dirty="0" err="1">
                <a:solidFill>
                  <a:srgbClr val="FFFFFF"/>
                </a:solidFill>
                <a:latin typeface="Tw Cen MT"/>
              </a:rPr>
              <a:t>autorizadas</a:t>
            </a:r>
            <a:r>
              <a:rPr sz="2200" b="1" dirty="0">
                <a:solidFill>
                  <a:srgbClr val="FFFFFF"/>
                </a:solidFill>
                <a:latin typeface="Tw Cen MT"/>
              </a:rPr>
              <a:t> </a:t>
            </a:r>
            <a:r>
              <a:rPr sz="2200" b="1" dirty="0" err="1">
                <a:solidFill>
                  <a:srgbClr val="FFFFFF"/>
                </a:solidFill>
                <a:latin typeface="Tw Cen MT"/>
              </a:rPr>
              <a:t>que</a:t>
            </a:r>
            <a:r>
              <a:rPr sz="2200" b="1" dirty="0">
                <a:solidFill>
                  <a:srgbClr val="FFFFFF"/>
                </a:solidFill>
                <a:latin typeface="Tw Cen MT"/>
              </a:rPr>
              <a:t> </a:t>
            </a:r>
            <a:r>
              <a:rPr sz="2200" b="1" dirty="0" err="1">
                <a:solidFill>
                  <a:srgbClr val="FFFFFF"/>
                </a:solidFill>
                <a:latin typeface="Tw Cen MT"/>
              </a:rPr>
              <a:t>costaron</a:t>
            </a:r>
            <a:r>
              <a:rPr sz="2200" b="1" dirty="0">
                <a:solidFill>
                  <a:srgbClr val="FFFFFF"/>
                </a:solidFill>
                <a:latin typeface="Tw Cen MT"/>
              </a:rPr>
              <a:t> U$S 377 </a:t>
            </a:r>
            <a:r>
              <a:rPr sz="2200" b="1" dirty="0" err="1">
                <a:solidFill>
                  <a:srgbClr val="FFFFFF"/>
                </a:solidFill>
                <a:latin typeface="Tw Cen MT"/>
              </a:rPr>
              <a:t>millones</a:t>
            </a:r>
            <a:r>
              <a:rPr sz="2200" b="1" dirty="0">
                <a:solidFill>
                  <a:srgbClr val="FFFFFF"/>
                </a:solidFill>
                <a:latin typeface="Tw Cen MT"/>
              </a:rPr>
              <a:t> a la </a:t>
            </a:r>
            <a:r>
              <a:rPr sz="2200" b="1" dirty="0" err="1">
                <a:solidFill>
                  <a:srgbClr val="FFFFFF"/>
                </a:solidFill>
                <a:latin typeface="Tw Cen MT"/>
              </a:rPr>
              <a:t>empresa</a:t>
            </a:r>
            <a:r>
              <a:rPr sz="2200" b="1" dirty="0">
                <a:solidFill>
                  <a:srgbClr val="FFFFFF"/>
                </a:solidFill>
                <a:latin typeface="Tw Cen MT"/>
              </a:rPr>
              <a:t>.</a:t>
            </a:r>
          </a:p>
          <a:p>
            <a:pPr algn="l">
              <a:spcBef>
                <a:spcPts val="400"/>
              </a:spcBef>
            </a:pPr>
            <a:r>
              <a:rPr sz="2200" b="0" dirty="0" err="1">
                <a:solidFill>
                  <a:srgbClr val="FFFFFF"/>
                </a:solidFill>
                <a:latin typeface="Tw Cen MT"/>
              </a:rPr>
              <a:t>Compró</a:t>
            </a:r>
            <a:r>
              <a:rPr sz="2200" b="0" dirty="0">
                <a:solidFill>
                  <a:srgbClr val="FFFFFF"/>
                </a:solidFill>
                <a:latin typeface="Tw Cen MT"/>
              </a:rPr>
              <a:t> </a:t>
            </a:r>
            <a:r>
              <a:rPr sz="2200" b="0" dirty="0" err="1">
                <a:solidFill>
                  <a:srgbClr val="FFFFFF"/>
                </a:solidFill>
                <a:latin typeface="Tw Cen MT"/>
              </a:rPr>
              <a:t>bonos</a:t>
            </a:r>
            <a:r>
              <a:rPr sz="2200" b="0" dirty="0">
                <a:solidFill>
                  <a:srgbClr val="FFFFFF"/>
                </a:solidFill>
                <a:latin typeface="Tw Cen MT"/>
              </a:rPr>
              <a:t> </a:t>
            </a:r>
            <a:r>
              <a:rPr sz="2200" b="0" dirty="0" err="1">
                <a:solidFill>
                  <a:srgbClr val="FFFFFF"/>
                </a:solidFill>
                <a:latin typeface="Tw Cen MT"/>
              </a:rPr>
              <a:t>hipotecarios</a:t>
            </a:r>
            <a:r>
              <a:rPr sz="2200" b="0" dirty="0">
                <a:solidFill>
                  <a:srgbClr val="FFFFFF"/>
                </a:solidFill>
                <a:latin typeface="Tw Cen MT"/>
              </a:rPr>
              <a:t> </a:t>
            </a:r>
            <a:r>
              <a:rPr sz="2200" b="0" dirty="0" err="1">
                <a:solidFill>
                  <a:srgbClr val="FFFFFF"/>
                </a:solidFill>
                <a:latin typeface="Tw Cen MT"/>
              </a:rPr>
              <a:t>por</a:t>
            </a:r>
            <a:r>
              <a:rPr sz="2200" b="0" dirty="0">
                <a:solidFill>
                  <a:srgbClr val="FFFFFF"/>
                </a:solidFill>
                <a:latin typeface="Tw Cen MT"/>
              </a:rPr>
              <a:t> miles de </a:t>
            </a:r>
            <a:r>
              <a:rPr sz="2200" b="0" dirty="0" err="1">
                <a:solidFill>
                  <a:srgbClr val="FFFFFF"/>
                </a:solidFill>
                <a:latin typeface="Tw Cen MT"/>
              </a:rPr>
              <a:t>millones</a:t>
            </a:r>
            <a:r>
              <a:rPr sz="2200" b="0" dirty="0">
                <a:solidFill>
                  <a:srgbClr val="FFFFFF"/>
                </a:solidFill>
                <a:latin typeface="Tw Cen MT"/>
              </a:rPr>
              <a:t> sin </a:t>
            </a:r>
            <a:r>
              <a:rPr sz="2200" b="0" dirty="0" err="1">
                <a:solidFill>
                  <a:srgbClr val="FFFFFF"/>
                </a:solidFill>
                <a:latin typeface="Tw Cen MT"/>
              </a:rPr>
              <a:t>aprobación</a:t>
            </a:r>
            <a:r>
              <a:rPr sz="2200" b="0" dirty="0">
                <a:solidFill>
                  <a:srgbClr val="FFFFFF"/>
                </a:solidFill>
                <a:latin typeface="Tw Cen MT"/>
              </a:rPr>
              <a:t> de sus </a:t>
            </a:r>
            <a:r>
              <a:rPr sz="2200" b="0" dirty="0" err="1">
                <a:solidFill>
                  <a:srgbClr val="FFFFFF"/>
                </a:solidFill>
                <a:latin typeface="Tw Cen MT"/>
              </a:rPr>
              <a:t>superiores</a:t>
            </a:r>
            <a:r>
              <a:rPr sz="2200" b="0" dirty="0">
                <a:solidFill>
                  <a:srgbClr val="FFFFFF"/>
                </a:solidFill>
                <a:latin typeface="Tw Cen MT"/>
              </a:rPr>
              <a:t>. Cuando </a:t>
            </a:r>
            <a:r>
              <a:rPr sz="2200" b="0" dirty="0" err="1">
                <a:solidFill>
                  <a:srgbClr val="FFFFFF"/>
                </a:solidFill>
                <a:latin typeface="Tw Cen MT"/>
              </a:rPr>
              <a:t>el</a:t>
            </a:r>
            <a:r>
              <a:rPr sz="2200" b="0" dirty="0">
                <a:solidFill>
                  <a:srgbClr val="FFFFFF"/>
                </a:solidFill>
                <a:latin typeface="Tw Cen MT"/>
              </a:rPr>
              <a:t> mercado se </a:t>
            </a:r>
            <a:r>
              <a:rPr sz="2200" b="0" dirty="0" err="1">
                <a:solidFill>
                  <a:srgbClr val="FFFFFF"/>
                </a:solidFill>
                <a:latin typeface="Tw Cen MT"/>
              </a:rPr>
              <a:t>desplomó</a:t>
            </a:r>
            <a:r>
              <a:rPr sz="2200" b="0" dirty="0">
                <a:solidFill>
                  <a:srgbClr val="FFFFFF"/>
                </a:solidFill>
                <a:latin typeface="Tw Cen MT"/>
              </a:rPr>
              <a:t>, no </a:t>
            </a:r>
            <a:r>
              <a:rPr sz="2200" b="0" dirty="0" err="1">
                <a:solidFill>
                  <a:srgbClr val="FFFFFF"/>
                </a:solidFill>
                <a:latin typeface="Tw Cen MT"/>
              </a:rPr>
              <a:t>pudo</a:t>
            </a:r>
            <a:r>
              <a:rPr sz="2200" b="0" dirty="0">
                <a:solidFill>
                  <a:srgbClr val="FFFFFF"/>
                </a:solidFill>
                <a:latin typeface="Tw Cen MT"/>
              </a:rPr>
              <a:t> </a:t>
            </a:r>
            <a:r>
              <a:rPr sz="2200" b="0" dirty="0" err="1">
                <a:solidFill>
                  <a:srgbClr val="FFFFFF"/>
                </a:solidFill>
                <a:latin typeface="Tw Cen MT"/>
              </a:rPr>
              <a:t>venderlos</a:t>
            </a:r>
            <a:r>
              <a:rPr sz="2200" b="0" dirty="0">
                <a:solidFill>
                  <a:srgbClr val="FFFFFF"/>
                </a:solidFill>
                <a:latin typeface="Tw Cen MT"/>
              </a:rPr>
              <a:t>.</a:t>
            </a:r>
          </a:p>
          <a:p>
            <a:pPr algn="l">
              <a:spcBef>
                <a:spcPts val="400"/>
              </a:spcBef>
            </a:pPr>
            <a:r>
              <a:rPr sz="2200" b="0" dirty="0">
                <a:solidFill>
                  <a:srgbClr val="FFFFFF"/>
                </a:solidFill>
                <a:latin typeface="Tw Cen MT"/>
              </a:rPr>
              <a:t>Fue </a:t>
            </a:r>
            <a:r>
              <a:rPr sz="2200" b="0" dirty="0" err="1">
                <a:solidFill>
                  <a:srgbClr val="FFFFFF"/>
                </a:solidFill>
                <a:latin typeface="Tw Cen MT"/>
              </a:rPr>
              <a:t>despedido</a:t>
            </a:r>
            <a:r>
              <a:rPr sz="2200" b="0" dirty="0">
                <a:solidFill>
                  <a:srgbClr val="FFFFFF"/>
                </a:solidFill>
                <a:latin typeface="Tw Cen MT"/>
              </a:rPr>
              <a:t>, </a:t>
            </a:r>
            <a:r>
              <a:rPr sz="2200" b="0" dirty="0" err="1">
                <a:solidFill>
                  <a:srgbClr val="FFFFFF"/>
                </a:solidFill>
                <a:latin typeface="Tw Cen MT"/>
              </a:rPr>
              <a:t>pero</a:t>
            </a:r>
            <a:r>
              <a:rPr sz="2200" b="0" dirty="0">
                <a:solidFill>
                  <a:srgbClr val="FFFFFF"/>
                </a:solidFill>
                <a:latin typeface="Tw Cen MT"/>
              </a:rPr>
              <a:t> </a:t>
            </a:r>
            <a:r>
              <a:rPr sz="2200" b="0" dirty="0" err="1">
                <a:solidFill>
                  <a:srgbClr val="FFFFFF"/>
                </a:solidFill>
                <a:latin typeface="Tw Cen MT"/>
              </a:rPr>
              <a:t>nunca</a:t>
            </a:r>
            <a:r>
              <a:rPr sz="2200" b="0" dirty="0">
                <a:solidFill>
                  <a:srgbClr val="FFFFFF"/>
                </a:solidFill>
                <a:latin typeface="Tw Cen MT"/>
              </a:rPr>
              <a:t> </a:t>
            </a:r>
            <a:r>
              <a:rPr sz="2200" b="0" dirty="0" err="1">
                <a:solidFill>
                  <a:srgbClr val="FFFFFF"/>
                </a:solidFill>
                <a:latin typeface="Tw Cen MT"/>
              </a:rPr>
              <a:t>procesado</a:t>
            </a:r>
            <a:r>
              <a:rPr sz="2200" b="0" dirty="0">
                <a:solidFill>
                  <a:srgbClr val="FFFFFF"/>
                </a:solidFill>
                <a:latin typeface="Tw Cen MT"/>
              </a:rPr>
              <a:t> </a:t>
            </a:r>
            <a:r>
              <a:rPr sz="2200" b="0" dirty="0" err="1">
                <a:solidFill>
                  <a:srgbClr val="FFFFFF"/>
                </a:solidFill>
                <a:latin typeface="Tw Cen MT"/>
              </a:rPr>
              <a:t>penalmente</a:t>
            </a:r>
            <a:r>
              <a:rPr sz="2200" b="0" dirty="0">
                <a:solidFill>
                  <a:srgbClr val="FFFFFF"/>
                </a:solidFill>
                <a:latin typeface="Tw Cen MT"/>
              </a:rPr>
              <a:t>.</a:t>
            </a:r>
            <a:endParaRPr lang="es-419" sz="2200" b="0" dirty="0">
              <a:solidFill>
                <a:srgbClr val="FFFFFF"/>
              </a:solidFill>
              <a:latin typeface="Tw Cen MT"/>
            </a:endParaRPr>
          </a:p>
          <a:p>
            <a:pPr algn="l">
              <a:spcBef>
                <a:spcPts val="400"/>
              </a:spcBef>
            </a:pPr>
            <a:endParaRPr sz="2200" b="0" dirty="0">
              <a:solidFill>
                <a:srgbClr val="FFFFFF"/>
              </a:solidFill>
              <a:latin typeface="Tw Cen MT"/>
            </a:endParaRPr>
          </a:p>
          <a:p>
            <a:pPr algn="l">
              <a:spcBef>
                <a:spcPts val="400"/>
              </a:spcBef>
              <a:buNone/>
            </a:pPr>
            <a:r>
              <a:rPr sz="2200" b="1" dirty="0">
                <a:solidFill>
                  <a:srgbClr val="52B788"/>
                </a:solidFill>
                <a:latin typeface="Tw Cen MT"/>
              </a:rPr>
              <a:t>LO QUE SIGUIÓ</a:t>
            </a:r>
          </a:p>
          <a:p>
            <a:pPr lvl="1" algn="l">
              <a:spcBef>
                <a:spcPts val="150"/>
              </a:spcBef>
              <a:buFont typeface="Tw Cen MT"/>
              <a:buChar char="▸"/>
            </a:pPr>
            <a:r>
              <a:rPr sz="2200" b="0" dirty="0">
                <a:solidFill>
                  <a:srgbClr val="FFFFFF"/>
                </a:solidFill>
                <a:latin typeface="Tw Cen MT"/>
              </a:rPr>
              <a:t>Fue </a:t>
            </a:r>
            <a:r>
              <a:rPr sz="2200" b="0" dirty="0" err="1">
                <a:solidFill>
                  <a:srgbClr val="FFFFFF"/>
                </a:solidFill>
                <a:latin typeface="Tw Cen MT"/>
              </a:rPr>
              <a:t>nombrado</a:t>
            </a:r>
            <a:r>
              <a:rPr sz="2200" b="0" dirty="0">
                <a:solidFill>
                  <a:srgbClr val="FFFFFF"/>
                </a:solidFill>
                <a:latin typeface="Tw Cen MT"/>
              </a:rPr>
              <a:t> Director General Senior </a:t>
            </a:r>
            <a:r>
              <a:rPr sz="2200" b="0" dirty="0" err="1">
                <a:solidFill>
                  <a:srgbClr val="FFFFFF"/>
                </a:solidFill>
                <a:latin typeface="Tw Cen MT"/>
              </a:rPr>
              <a:t>en</a:t>
            </a:r>
            <a:r>
              <a:rPr sz="2200" b="0" dirty="0">
                <a:solidFill>
                  <a:srgbClr val="FFFFFF"/>
                </a:solidFill>
                <a:latin typeface="Tw Cen MT"/>
              </a:rPr>
              <a:t> Bear Stearns (1987–1999), </a:t>
            </a:r>
            <a:r>
              <a:rPr sz="2200" b="0" dirty="0" err="1">
                <a:solidFill>
                  <a:srgbClr val="FFFFFF"/>
                </a:solidFill>
                <a:latin typeface="Tw Cen MT"/>
              </a:rPr>
              <a:t>donde</a:t>
            </a:r>
            <a:r>
              <a:rPr sz="2200" b="0" dirty="0">
                <a:solidFill>
                  <a:srgbClr val="FFFFFF"/>
                </a:solidFill>
                <a:latin typeface="Tw Cen MT"/>
              </a:rPr>
              <a:t> </a:t>
            </a:r>
            <a:r>
              <a:rPr sz="2200" b="0" dirty="0" err="1">
                <a:solidFill>
                  <a:srgbClr val="FFFFFF"/>
                </a:solidFill>
                <a:latin typeface="Tw Cen MT"/>
              </a:rPr>
              <a:t>dirigió</a:t>
            </a:r>
            <a:r>
              <a:rPr sz="2200" b="0" dirty="0">
                <a:solidFill>
                  <a:srgbClr val="FFFFFF"/>
                </a:solidFill>
                <a:latin typeface="Tw Cen MT"/>
              </a:rPr>
              <a:t> la mesa de </a:t>
            </a:r>
            <a:r>
              <a:rPr sz="2200" b="0" dirty="0" err="1">
                <a:solidFill>
                  <a:srgbClr val="FFFFFF"/>
                </a:solidFill>
                <a:latin typeface="Tw Cen MT"/>
              </a:rPr>
              <a:t>Obligaciones</a:t>
            </a:r>
            <a:r>
              <a:rPr sz="2200" b="0" dirty="0">
                <a:solidFill>
                  <a:srgbClr val="FFFFFF"/>
                </a:solidFill>
                <a:latin typeface="Tw Cen MT"/>
              </a:rPr>
              <a:t> </a:t>
            </a:r>
            <a:r>
              <a:rPr sz="2200" b="0" dirty="0" err="1">
                <a:solidFill>
                  <a:srgbClr val="FFFFFF"/>
                </a:solidFill>
                <a:latin typeface="Tw Cen MT"/>
              </a:rPr>
              <a:t>Hipotecarias</a:t>
            </a:r>
            <a:r>
              <a:rPr sz="2200" b="0" dirty="0">
                <a:solidFill>
                  <a:srgbClr val="FFFFFF"/>
                </a:solidFill>
                <a:latin typeface="Tw Cen MT"/>
              </a:rPr>
              <a:t> </a:t>
            </a:r>
            <a:r>
              <a:rPr sz="2200" b="0" dirty="0" err="1">
                <a:solidFill>
                  <a:srgbClr val="FFFFFF"/>
                </a:solidFill>
                <a:latin typeface="Tw Cen MT"/>
              </a:rPr>
              <a:t>Colateralizadas</a:t>
            </a:r>
            <a:r>
              <a:rPr sz="2200" b="0" dirty="0">
                <a:solidFill>
                  <a:srgbClr val="FFFFFF"/>
                </a:solidFill>
                <a:latin typeface="Tw Cen MT"/>
              </a:rPr>
              <a:t>.</a:t>
            </a:r>
          </a:p>
          <a:p>
            <a:pPr lvl="1" algn="l">
              <a:spcBef>
                <a:spcPts val="150"/>
              </a:spcBef>
              <a:buFont typeface="Tw Cen MT"/>
              <a:buChar char="▸"/>
            </a:pPr>
            <a:r>
              <a:rPr sz="2200" b="0" dirty="0">
                <a:solidFill>
                  <a:srgbClr val="FFFFFF"/>
                </a:solidFill>
                <a:latin typeface="Tw Cen MT"/>
              </a:rPr>
              <a:t>En 2008</a:t>
            </a:r>
            <a:r>
              <a:rPr lang="es-419" sz="2200" b="0" dirty="0">
                <a:solidFill>
                  <a:srgbClr val="FFFFFF"/>
                </a:solidFill>
                <a:latin typeface="Tw Cen MT"/>
              </a:rPr>
              <a:t>dejó su</a:t>
            </a:r>
            <a:r>
              <a:rPr sz="2200" b="0" dirty="0">
                <a:solidFill>
                  <a:srgbClr val="FFFFFF"/>
                </a:solidFill>
                <a:latin typeface="Tw Cen MT"/>
              </a:rPr>
              <a:t> </a:t>
            </a:r>
            <a:r>
              <a:rPr sz="2200" b="0" dirty="0" err="1">
                <a:solidFill>
                  <a:srgbClr val="FFFFFF"/>
                </a:solidFill>
                <a:latin typeface="Tw Cen MT"/>
              </a:rPr>
              <a:t>jubilación</a:t>
            </a:r>
            <a:r>
              <a:rPr sz="2200" b="0" dirty="0">
                <a:solidFill>
                  <a:srgbClr val="FFFFFF"/>
                </a:solidFill>
                <a:latin typeface="Tw Cen MT"/>
              </a:rPr>
              <a:t> para </a:t>
            </a:r>
            <a:r>
              <a:rPr sz="2200" b="0" dirty="0" err="1">
                <a:solidFill>
                  <a:srgbClr val="FFFFFF"/>
                </a:solidFill>
                <a:latin typeface="Tw Cen MT"/>
              </a:rPr>
              <a:t>gestionar</a:t>
            </a:r>
            <a:r>
              <a:rPr sz="2200" b="0" dirty="0">
                <a:solidFill>
                  <a:srgbClr val="FFFFFF"/>
                </a:solidFill>
                <a:latin typeface="Tw Cen MT"/>
              </a:rPr>
              <a:t> un </a:t>
            </a:r>
            <a:r>
              <a:rPr sz="2200" b="0" dirty="0" err="1">
                <a:solidFill>
                  <a:srgbClr val="FFFFFF"/>
                </a:solidFill>
                <a:latin typeface="Tw Cen MT"/>
              </a:rPr>
              <a:t>fondo</a:t>
            </a:r>
            <a:r>
              <a:rPr sz="2200" b="0" dirty="0">
                <a:solidFill>
                  <a:srgbClr val="FFFFFF"/>
                </a:solidFill>
                <a:latin typeface="Tw Cen MT"/>
              </a:rPr>
              <a:t> de </a:t>
            </a:r>
            <a:r>
              <a:rPr sz="2200" b="0" dirty="0" err="1">
                <a:solidFill>
                  <a:srgbClr val="FFFFFF"/>
                </a:solidFill>
                <a:latin typeface="Tw Cen MT"/>
              </a:rPr>
              <a:t>valores</a:t>
            </a:r>
            <a:r>
              <a:rPr sz="2200" b="0" dirty="0">
                <a:solidFill>
                  <a:srgbClr val="FFFFFF"/>
                </a:solidFill>
                <a:latin typeface="Tw Cen MT"/>
              </a:rPr>
              <a:t> </a:t>
            </a:r>
            <a:r>
              <a:rPr sz="2200" b="0" dirty="0" err="1">
                <a:solidFill>
                  <a:srgbClr val="FFFFFF"/>
                </a:solidFill>
                <a:latin typeface="Tw Cen MT"/>
              </a:rPr>
              <a:t>respaldados</a:t>
            </a:r>
            <a:r>
              <a:rPr sz="2200" b="0" dirty="0">
                <a:solidFill>
                  <a:srgbClr val="FFFFFF"/>
                </a:solidFill>
                <a:latin typeface="Tw Cen MT"/>
              </a:rPr>
              <a:t> </a:t>
            </a:r>
            <a:r>
              <a:rPr sz="2200" b="0" dirty="0" err="1">
                <a:solidFill>
                  <a:srgbClr val="FFFFFF"/>
                </a:solidFill>
                <a:latin typeface="Tw Cen MT"/>
              </a:rPr>
              <a:t>por</a:t>
            </a:r>
            <a:r>
              <a:rPr sz="2200" b="0" dirty="0">
                <a:solidFill>
                  <a:srgbClr val="FFFFFF"/>
                </a:solidFill>
                <a:latin typeface="Tw Cen MT"/>
              </a:rPr>
              <a:t> </a:t>
            </a:r>
            <a:r>
              <a:rPr sz="2200" b="0" dirty="0" err="1">
                <a:solidFill>
                  <a:srgbClr val="FFFFFF"/>
                </a:solidFill>
                <a:latin typeface="Tw Cen MT"/>
              </a:rPr>
              <a:t>hipotecas</a:t>
            </a:r>
            <a:r>
              <a:rPr sz="2200" b="0" dirty="0">
                <a:solidFill>
                  <a:srgbClr val="FFFFFF"/>
                </a:solidFill>
                <a:latin typeface="Tw Cen MT"/>
              </a:rPr>
              <a:t> para George Soros.</a:t>
            </a:r>
            <a:endParaRPr lang="es-419" sz="2200" b="0" dirty="0">
              <a:solidFill>
                <a:srgbClr val="FFFFFF"/>
              </a:solidFill>
              <a:latin typeface="Tw Cen MT"/>
            </a:endParaRPr>
          </a:p>
          <a:p>
            <a:pPr lvl="1" algn="l">
              <a:spcBef>
                <a:spcPts val="150"/>
              </a:spcBef>
            </a:pPr>
            <a:endParaRPr sz="2200" b="0" dirty="0">
              <a:solidFill>
                <a:srgbClr val="FFFFFF"/>
              </a:solidFill>
              <a:latin typeface="Tw Cen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3FF78D3E-6223-1DA7-F41E-2849A9390DB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698BBAD-C41B-7AE2-2006-146B8E130251}"/>
              </a:ext>
            </a:extLst>
          </p:cNvPr>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E8AC6BC8-77DC-D7F2-3AF9-E170E0DBCC1D}"/>
              </a:ext>
            </a:extLst>
          </p:cNvPr>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2104642-04BF-65D0-31DE-9D210D4C0D8F}"/>
              </a:ext>
            </a:extLst>
          </p:cNvPr>
          <p:cNvSpPr txBox="1"/>
          <p:nvPr/>
        </p:nvSpPr>
        <p:spPr>
          <a:xfrm>
            <a:off x="304800" y="287179"/>
            <a:ext cx="8534400" cy="492443"/>
          </a:xfrm>
          <a:prstGeom prst="rect">
            <a:avLst/>
          </a:prstGeom>
          <a:noFill/>
        </p:spPr>
        <p:txBody>
          <a:bodyPr wrap="square" anchor="ctr">
            <a:spAutoFit/>
          </a:bodyPr>
          <a:lstStyle/>
          <a:p>
            <a:pPr algn="l"/>
            <a:r>
              <a:rPr sz="2600" b="1" i="0" dirty="0">
                <a:solidFill>
                  <a:srgbClr val="FFFFFF"/>
                </a:solidFill>
                <a:latin typeface="Tw Cen MT"/>
              </a:rPr>
              <a:t>TALLER — Caso </a:t>
            </a:r>
            <a:r>
              <a:rPr lang="es-419" sz="2600" b="1" i="0" dirty="0">
                <a:solidFill>
                  <a:srgbClr val="FFFFFF"/>
                </a:solidFill>
                <a:latin typeface="Tw Cen MT"/>
              </a:rPr>
              <a:t>UBS (2010) Recorte generalizado de bonos</a:t>
            </a:r>
            <a:endParaRPr sz="2600" b="1" i="0" dirty="0">
              <a:solidFill>
                <a:srgbClr val="FFFFFF"/>
              </a:solidFill>
              <a:latin typeface="Tw Cen MT"/>
            </a:endParaRPr>
          </a:p>
        </p:txBody>
      </p:sp>
      <p:sp>
        <p:nvSpPr>
          <p:cNvPr id="10" name="CuadroTexto 9">
            <a:extLst>
              <a:ext uri="{FF2B5EF4-FFF2-40B4-BE49-F238E27FC236}">
                <a16:creationId xmlns:a16="http://schemas.microsoft.com/office/drawing/2014/main" id="{9E0B91CC-0EF4-1755-3231-7009F9E66634}"/>
              </a:ext>
            </a:extLst>
          </p:cNvPr>
          <p:cNvSpPr txBox="1"/>
          <p:nvPr/>
        </p:nvSpPr>
        <p:spPr>
          <a:xfrm>
            <a:off x="258792" y="1225689"/>
            <a:ext cx="8885208" cy="5632311"/>
          </a:xfrm>
          <a:prstGeom prst="rect">
            <a:avLst/>
          </a:prstGeom>
          <a:noFill/>
        </p:spPr>
        <p:txBody>
          <a:bodyPr wrap="square">
            <a:spAutoFit/>
          </a:bodyPr>
          <a:lstStyle/>
          <a:p>
            <a:pPr marL="0" marR="0" indent="0" algn="l" rtl="0">
              <a:buNone/>
            </a:pPr>
            <a:r>
              <a:rPr lang="es-419" sz="1800" b="0" i="0" dirty="0">
                <a:solidFill>
                  <a:schemeClr val="bg1"/>
                </a:solidFill>
                <a:effectLst/>
                <a:latin typeface="Tw Cen MT" panose="020B0602020104020603" pitchFamily="34" charset="0"/>
              </a:rPr>
              <a:t>En 2007-2008, UBS, el banco más grande de Suiza, quedó expuesto como uno de los bancos no estadounidenses más golpeados por la crisis de hipotecas </a:t>
            </a:r>
            <a:r>
              <a:rPr lang="es-419" sz="1800" b="0" i="0" dirty="0" err="1">
                <a:solidFill>
                  <a:schemeClr val="bg1"/>
                </a:solidFill>
                <a:effectLst/>
                <a:latin typeface="Tw Cen MT" panose="020B0602020104020603" pitchFamily="34" charset="0"/>
              </a:rPr>
              <a:t>subprime</a:t>
            </a:r>
            <a:r>
              <a:rPr lang="es-419" sz="1800" b="0" i="0" dirty="0">
                <a:solidFill>
                  <a:schemeClr val="bg1"/>
                </a:solidFill>
                <a:effectLst/>
                <a:latin typeface="Tw Cen MT" panose="020B0602020104020603" pitchFamily="34" charset="0"/>
              </a:rPr>
              <a:t>. </a:t>
            </a:r>
          </a:p>
          <a:p>
            <a:pPr marL="0" marR="0" indent="0" algn="l" rtl="0">
              <a:buNone/>
            </a:pPr>
            <a:r>
              <a:rPr lang="es-419" sz="1800" b="0" i="0" dirty="0">
                <a:solidFill>
                  <a:schemeClr val="bg1"/>
                </a:solidFill>
                <a:effectLst/>
                <a:latin typeface="Tw Cen MT" panose="020B0602020104020603" pitchFamily="34" charset="0"/>
              </a:rPr>
              <a:t>El resultado de 2008 registró la mayor pérdida neta en toda la historia de una empresa suiza. </a:t>
            </a:r>
          </a:p>
          <a:p>
            <a:pPr marL="0" marR="0" indent="0" algn="l" rtl="0">
              <a:buNone/>
            </a:pPr>
            <a:r>
              <a:rPr lang="es-419" sz="1800" b="0" i="0" dirty="0">
                <a:solidFill>
                  <a:schemeClr val="bg1"/>
                </a:solidFill>
                <a:effectLst/>
                <a:latin typeface="Tw Cen MT" panose="020B0602020104020603" pitchFamily="34" charset="0"/>
              </a:rPr>
              <a:t>El 16 de octubre de 2008, el gobierno suizo intervino con un rescate sin precedentes: recurrió a leyes de emergencia para rescatar a </a:t>
            </a:r>
            <a:r>
              <a:rPr lang="es-419" dirty="0">
                <a:solidFill>
                  <a:schemeClr val="bg1"/>
                </a:solidFill>
                <a:latin typeface="Tw Cen MT" panose="020B0602020104020603" pitchFamily="34" charset="0"/>
              </a:rPr>
              <a:t>los bancos</a:t>
            </a:r>
            <a:r>
              <a:rPr lang="es-419" sz="1800" b="0" i="0" dirty="0">
                <a:solidFill>
                  <a:schemeClr val="bg1"/>
                </a:solidFill>
                <a:effectLst/>
                <a:latin typeface="Tw Cen MT" panose="020B0602020104020603" pitchFamily="34" charset="0"/>
              </a:rPr>
              <a:t>. </a:t>
            </a:r>
          </a:p>
          <a:p>
            <a:pPr marL="0" marR="0" indent="0" algn="l" rtl="0">
              <a:buNone/>
            </a:pPr>
            <a:endParaRPr lang="es-419" dirty="0">
              <a:solidFill>
                <a:schemeClr val="bg1"/>
              </a:solidFill>
              <a:latin typeface="Tw Cen MT" panose="020B0602020104020603" pitchFamily="34" charset="0"/>
            </a:endParaRPr>
          </a:p>
          <a:p>
            <a:pPr marL="0" marR="0" indent="0" algn="l" rtl="0">
              <a:buNone/>
            </a:pPr>
            <a:r>
              <a:rPr lang="es-419" sz="1800" b="0" i="0" dirty="0">
                <a:solidFill>
                  <a:schemeClr val="bg1"/>
                </a:solidFill>
                <a:effectLst/>
                <a:latin typeface="Tw Cen MT" panose="020B0602020104020603" pitchFamily="34" charset="0"/>
              </a:rPr>
              <a:t>En medio de una enorme presión política y pública por el rescate con fondos de los contribuyentes, UBS recortó drásticamente su política de bonos. </a:t>
            </a:r>
          </a:p>
          <a:p>
            <a:pPr marL="0" marR="0" indent="0" algn="l" rtl="0">
              <a:buNone/>
            </a:pPr>
            <a:endParaRPr lang="es-419" dirty="0">
              <a:solidFill>
                <a:schemeClr val="bg1"/>
              </a:solidFill>
              <a:latin typeface="Tw Cen MT" panose="020B0602020104020603" pitchFamily="34" charset="0"/>
            </a:endParaRPr>
          </a:p>
          <a:p>
            <a:pPr marL="0" marR="0" indent="0" algn="l" rtl="0">
              <a:buNone/>
            </a:pPr>
            <a:r>
              <a:rPr lang="es-419" sz="1800" b="0" i="0" dirty="0">
                <a:solidFill>
                  <a:schemeClr val="bg1"/>
                </a:solidFill>
                <a:effectLst/>
                <a:latin typeface="Tw Cen MT" panose="020B0602020104020603" pitchFamily="34" charset="0"/>
              </a:rPr>
              <a:t>En la asamblea de accionistas de abril de 2010, el presidente del directorio, Kaspar Villiger, admitió que UBS había perdido equipos de inversión enteros, junto con sus clientes, que se fueron a bancos </a:t>
            </a:r>
            <a:r>
              <a:rPr lang="es-419" dirty="0">
                <a:solidFill>
                  <a:schemeClr val="bg1"/>
                </a:solidFill>
                <a:latin typeface="Tw Cen MT" panose="020B0602020104020603" pitchFamily="34" charset="0"/>
              </a:rPr>
              <a:t>competidores</a:t>
            </a:r>
            <a:r>
              <a:rPr lang="es-419" sz="1800" b="0" i="0" dirty="0">
                <a:solidFill>
                  <a:schemeClr val="bg1"/>
                </a:solidFill>
                <a:effectLst/>
                <a:latin typeface="Tw Cen MT" panose="020B0602020104020603" pitchFamily="34" charset="0"/>
              </a:rPr>
              <a:t>, después de haber recortado demasiado los pagos de bonos. </a:t>
            </a:r>
          </a:p>
          <a:p>
            <a:pPr marL="0" marR="0" indent="0" algn="l" rtl="0">
              <a:buNone/>
            </a:pPr>
            <a:endParaRPr lang="es-419" dirty="0">
              <a:solidFill>
                <a:schemeClr val="bg1"/>
              </a:solidFill>
              <a:latin typeface="Tw Cen MT" panose="020B0602020104020603" pitchFamily="34" charset="0"/>
            </a:endParaRPr>
          </a:p>
          <a:p>
            <a:pPr marL="0" marR="0" indent="0" algn="l" rtl="0">
              <a:buNone/>
            </a:pPr>
            <a:r>
              <a:rPr lang="es-419" sz="1800" b="0" i="0" dirty="0">
                <a:solidFill>
                  <a:schemeClr val="bg1"/>
                </a:solidFill>
                <a:effectLst/>
                <a:latin typeface="Tw Cen MT" panose="020B0602020104020603" pitchFamily="34" charset="0"/>
              </a:rPr>
              <a:t>Sostuvo que los bonos más altos eran necesarios para asegurar la competitividad, ya que muchos de los mejores empleados del banco seguían siendo tentados por la competencia.</a:t>
            </a:r>
          </a:p>
          <a:p>
            <a:pPr marL="0" marR="0" indent="0" algn="l" rtl="0">
              <a:buNone/>
            </a:pPr>
            <a:r>
              <a:rPr lang="es-419" sz="1800" b="0" i="0" dirty="0">
                <a:solidFill>
                  <a:schemeClr val="bg1"/>
                </a:solidFill>
                <a:effectLst/>
                <a:latin typeface="Tw Cen MT" panose="020B0602020104020603" pitchFamily="34" charset="0"/>
              </a:rPr>
              <a:t>En 2009, pese a que el banco seguía en pérdidas, UBS aumentó su política de bonos,  una decisión que generó críticas externas y, paradójicamente, también malestar interno entre empleados de menor jerarquía que sentían que sus bonos habían quedado congelados mientras la cúpula intentaba retener a las estrellas.</a:t>
            </a:r>
          </a:p>
        </p:txBody>
      </p:sp>
    </p:spTree>
    <p:extLst>
      <p:ext uri="{BB962C8B-B14F-4D97-AF65-F5344CB8AC3E}">
        <p14:creationId xmlns:p14="http://schemas.microsoft.com/office/powerpoint/2010/main" val="2545572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F4E802AB-7632-C70F-2B24-F273B5739B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5713D3-8EA1-2682-1F41-B27252F9F601}"/>
              </a:ext>
            </a:extLst>
          </p:cNvPr>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C5590780-0E8D-A83B-CD3E-95645C8F9FB6}"/>
              </a:ext>
            </a:extLst>
          </p:cNvPr>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BA470CC-D036-470F-0FC4-D47D180C6E8C}"/>
              </a:ext>
            </a:extLst>
          </p:cNvPr>
          <p:cNvSpPr txBox="1"/>
          <p:nvPr/>
        </p:nvSpPr>
        <p:spPr>
          <a:xfrm>
            <a:off x="304800" y="287179"/>
            <a:ext cx="8534400" cy="492443"/>
          </a:xfrm>
          <a:prstGeom prst="rect">
            <a:avLst/>
          </a:prstGeom>
          <a:noFill/>
        </p:spPr>
        <p:txBody>
          <a:bodyPr wrap="square" anchor="ctr">
            <a:spAutoFit/>
          </a:bodyPr>
          <a:lstStyle/>
          <a:p>
            <a:pPr algn="l"/>
            <a:r>
              <a:rPr sz="2600" b="1" i="0" dirty="0">
                <a:solidFill>
                  <a:srgbClr val="FFFFFF"/>
                </a:solidFill>
                <a:latin typeface="Tw Cen MT"/>
              </a:rPr>
              <a:t>TALLER — Caso </a:t>
            </a:r>
            <a:r>
              <a:rPr lang="es-419" sz="2600" b="1" i="0" dirty="0">
                <a:solidFill>
                  <a:srgbClr val="FFFFFF"/>
                </a:solidFill>
                <a:latin typeface="Tw Cen MT"/>
              </a:rPr>
              <a:t>UBS (2010) Recorte generalizado de bonos</a:t>
            </a:r>
            <a:endParaRPr sz="2600" b="1" i="0" dirty="0">
              <a:solidFill>
                <a:srgbClr val="FFFFFF"/>
              </a:solidFill>
              <a:latin typeface="Tw Cen MT"/>
            </a:endParaRPr>
          </a:p>
        </p:txBody>
      </p:sp>
      <p:sp>
        <p:nvSpPr>
          <p:cNvPr id="10" name="CuadroTexto 9">
            <a:extLst>
              <a:ext uri="{FF2B5EF4-FFF2-40B4-BE49-F238E27FC236}">
                <a16:creationId xmlns:a16="http://schemas.microsoft.com/office/drawing/2014/main" id="{3B3F2CD5-1310-20A4-8BA9-84930BB49A65}"/>
              </a:ext>
            </a:extLst>
          </p:cNvPr>
          <p:cNvSpPr txBox="1"/>
          <p:nvPr/>
        </p:nvSpPr>
        <p:spPr>
          <a:xfrm>
            <a:off x="569876" y="1957908"/>
            <a:ext cx="7490041" cy="1200329"/>
          </a:xfrm>
          <a:prstGeom prst="rect">
            <a:avLst/>
          </a:prstGeom>
          <a:noFill/>
        </p:spPr>
        <p:txBody>
          <a:bodyPr wrap="square">
            <a:spAutoFit/>
          </a:bodyPr>
          <a:lstStyle/>
          <a:p>
            <a:r>
              <a:rPr lang="es-419" dirty="0">
                <a:solidFill>
                  <a:schemeClr val="bg1"/>
                </a:solidFill>
                <a:latin typeface="Tw Cen MT" panose="020B0602020104020603" pitchFamily="34" charset="0"/>
              </a:rPr>
              <a:t>Si ustedes hubieran estado en el directorio de UBS en 2009, con la presión pública y regulatoria por haber sido rescatados con fondos del Estado: ¿qué hubieran hecho distinto para no perder a esos equipos, sin dejar de responder a esa presión?.</a:t>
            </a:r>
            <a:endParaRPr lang="es-419" sz="1800" b="0" i="0" dirty="0">
              <a:solidFill>
                <a:schemeClr val="bg1"/>
              </a:solidFill>
              <a:effectLst/>
              <a:latin typeface="Tw Cen MT" panose="020B0602020104020603" pitchFamily="34" charset="0"/>
            </a:endParaRPr>
          </a:p>
        </p:txBody>
      </p:sp>
    </p:spTree>
    <p:extLst>
      <p:ext uri="{BB962C8B-B14F-4D97-AF65-F5344CB8AC3E}">
        <p14:creationId xmlns:p14="http://schemas.microsoft.com/office/powerpoint/2010/main" val="3075273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F70CD1BC-0DCC-04F6-A5E5-A68987BF593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08A9AC-92B1-6AA9-0705-2FC60BA2C3B6}"/>
              </a:ext>
            </a:extLst>
          </p:cNvPr>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a:extLst>
              <a:ext uri="{FF2B5EF4-FFF2-40B4-BE49-F238E27FC236}">
                <a16:creationId xmlns:a16="http://schemas.microsoft.com/office/drawing/2014/main" id="{E95E0A62-FF67-1BA2-4ABA-9AD99FFE847E}"/>
              </a:ext>
            </a:extLst>
          </p:cNvPr>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a:extLst>
              <a:ext uri="{FF2B5EF4-FFF2-40B4-BE49-F238E27FC236}">
                <a16:creationId xmlns:a16="http://schemas.microsoft.com/office/drawing/2014/main" id="{2744DC69-1DD6-9387-4894-C743016E5011}"/>
              </a:ext>
            </a:extLst>
          </p:cNvPr>
          <p:cNvSpPr txBox="1"/>
          <p:nvPr/>
        </p:nvSpPr>
        <p:spPr>
          <a:xfrm>
            <a:off x="304800" y="287179"/>
            <a:ext cx="8534400" cy="492443"/>
          </a:xfrm>
          <a:prstGeom prst="rect">
            <a:avLst/>
          </a:prstGeom>
          <a:noFill/>
        </p:spPr>
        <p:txBody>
          <a:bodyPr wrap="square" anchor="ctr">
            <a:spAutoFit/>
          </a:bodyPr>
          <a:lstStyle/>
          <a:p>
            <a:pPr algn="l"/>
            <a:r>
              <a:rPr sz="2600" b="1" i="0" dirty="0">
                <a:solidFill>
                  <a:srgbClr val="FFFFFF"/>
                </a:solidFill>
                <a:latin typeface="Tw Cen MT" panose="020B0602020104020603" pitchFamily="34" charset="0"/>
              </a:rPr>
              <a:t>TALLER — Caso </a:t>
            </a:r>
            <a:r>
              <a:rPr lang="es-419" sz="2600" b="1" i="0" dirty="0">
                <a:solidFill>
                  <a:srgbClr val="FFFFFF"/>
                </a:solidFill>
                <a:latin typeface="Tw Cen MT" panose="020B0602020104020603" pitchFamily="34" charset="0"/>
              </a:rPr>
              <a:t>UBS (2010) Recorte generalizado de bonos</a:t>
            </a:r>
            <a:endParaRPr sz="2600" b="1" i="0" dirty="0">
              <a:solidFill>
                <a:srgbClr val="FFFFFF"/>
              </a:solidFill>
              <a:latin typeface="Tw Cen MT" panose="020B0602020104020603" pitchFamily="34" charset="0"/>
            </a:endParaRPr>
          </a:p>
        </p:txBody>
      </p:sp>
      <p:sp>
        <p:nvSpPr>
          <p:cNvPr id="6" name="Shape 4">
            <a:extLst>
              <a:ext uri="{FF2B5EF4-FFF2-40B4-BE49-F238E27FC236}">
                <a16:creationId xmlns:a16="http://schemas.microsoft.com/office/drawing/2014/main" id="{98953B10-856B-921C-73E1-0CA9B1C4C3DB}"/>
              </a:ext>
            </a:extLst>
          </p:cNvPr>
          <p:cNvSpPr/>
          <p:nvPr/>
        </p:nvSpPr>
        <p:spPr>
          <a:xfrm>
            <a:off x="365760" y="1417320"/>
            <a:ext cx="4069080" cy="2148840"/>
          </a:xfrm>
          <a:prstGeom prst="rect">
            <a:avLst/>
          </a:prstGeom>
          <a:solidFill>
            <a:srgbClr val="F4F4F6"/>
          </a:solidFill>
          <a:ln/>
        </p:spPr>
        <p:txBody>
          <a:bodyPr/>
          <a:lstStyle/>
          <a:p>
            <a:endParaRPr lang="es-419" sz="1400">
              <a:latin typeface="Tw Cen MT" panose="020B0602020104020603" pitchFamily="34" charset="0"/>
            </a:endParaRPr>
          </a:p>
        </p:txBody>
      </p:sp>
      <p:sp>
        <p:nvSpPr>
          <p:cNvPr id="8" name="Shape 5">
            <a:extLst>
              <a:ext uri="{FF2B5EF4-FFF2-40B4-BE49-F238E27FC236}">
                <a16:creationId xmlns:a16="http://schemas.microsoft.com/office/drawing/2014/main" id="{498707DD-5B02-572F-2BDB-D6A562A6ED5F}"/>
              </a:ext>
            </a:extLst>
          </p:cNvPr>
          <p:cNvSpPr/>
          <p:nvPr/>
        </p:nvSpPr>
        <p:spPr>
          <a:xfrm>
            <a:off x="365760" y="1417320"/>
            <a:ext cx="73152" cy="2148840"/>
          </a:xfrm>
          <a:prstGeom prst="rect">
            <a:avLst/>
          </a:prstGeom>
          <a:solidFill>
            <a:srgbClr val="1E2761"/>
          </a:solidFill>
          <a:ln/>
        </p:spPr>
        <p:txBody>
          <a:bodyPr/>
          <a:lstStyle/>
          <a:p>
            <a:endParaRPr lang="es-419" sz="1400">
              <a:latin typeface="Tw Cen MT" panose="020B0602020104020603" pitchFamily="34" charset="0"/>
            </a:endParaRPr>
          </a:p>
        </p:txBody>
      </p:sp>
      <p:sp>
        <p:nvSpPr>
          <p:cNvPr id="11" name="Shape 6">
            <a:extLst>
              <a:ext uri="{FF2B5EF4-FFF2-40B4-BE49-F238E27FC236}">
                <a16:creationId xmlns:a16="http://schemas.microsoft.com/office/drawing/2014/main" id="{C180AD38-55F1-F963-23C6-5030A684010C}"/>
              </a:ext>
            </a:extLst>
          </p:cNvPr>
          <p:cNvSpPr/>
          <p:nvPr/>
        </p:nvSpPr>
        <p:spPr>
          <a:xfrm>
            <a:off x="566928" y="1581912"/>
            <a:ext cx="365760" cy="365760"/>
          </a:xfrm>
          <a:prstGeom prst="ellipse">
            <a:avLst/>
          </a:prstGeom>
          <a:solidFill>
            <a:srgbClr val="1E2761"/>
          </a:solidFill>
          <a:ln/>
        </p:spPr>
        <p:txBody>
          <a:bodyPr/>
          <a:lstStyle/>
          <a:p>
            <a:endParaRPr lang="es-419" sz="1400">
              <a:latin typeface="Tw Cen MT" panose="020B0602020104020603" pitchFamily="34" charset="0"/>
            </a:endParaRPr>
          </a:p>
        </p:txBody>
      </p:sp>
      <p:sp>
        <p:nvSpPr>
          <p:cNvPr id="13" name="Text 7">
            <a:extLst>
              <a:ext uri="{FF2B5EF4-FFF2-40B4-BE49-F238E27FC236}">
                <a16:creationId xmlns:a16="http://schemas.microsoft.com/office/drawing/2014/main" id="{0E252EE7-BE00-0D1D-8C89-47D9B1EE48BB}"/>
              </a:ext>
            </a:extLst>
          </p:cNvPr>
          <p:cNvSpPr/>
          <p:nvPr/>
        </p:nvSpPr>
        <p:spPr>
          <a:xfrm>
            <a:off x="566928" y="1581912"/>
            <a:ext cx="365760" cy="365760"/>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1</a:t>
            </a:r>
            <a:endParaRPr lang="en-US" sz="1400" dirty="0">
              <a:latin typeface="Tw Cen MT" panose="020B0602020104020603" pitchFamily="34" charset="0"/>
            </a:endParaRPr>
          </a:p>
        </p:txBody>
      </p:sp>
      <p:sp>
        <p:nvSpPr>
          <p:cNvPr id="15" name="Text 8">
            <a:extLst>
              <a:ext uri="{FF2B5EF4-FFF2-40B4-BE49-F238E27FC236}">
                <a16:creationId xmlns:a16="http://schemas.microsoft.com/office/drawing/2014/main" id="{B9434CEB-DCC2-620F-ECCD-6203E2CA62F9}"/>
              </a:ext>
            </a:extLst>
          </p:cNvPr>
          <p:cNvSpPr/>
          <p:nvPr/>
        </p:nvSpPr>
        <p:spPr>
          <a:xfrm>
            <a:off x="1051560" y="1554480"/>
            <a:ext cx="3200400" cy="457200"/>
          </a:xfrm>
          <a:prstGeom prst="rect">
            <a:avLst/>
          </a:prstGeom>
          <a:noFill/>
          <a:ln/>
        </p:spPr>
        <p:txBody>
          <a:bodyPr wrap="square" rtlCol="0" anchor="t"/>
          <a:lstStyle/>
          <a:p>
            <a:pPr marL="0" indent="0">
              <a:buNone/>
            </a:pPr>
            <a:r>
              <a:rPr lang="en-US" b="1" dirty="0">
                <a:solidFill>
                  <a:srgbClr val="1E2761"/>
                </a:solidFill>
                <a:latin typeface="Tw Cen MT" panose="020B0602020104020603" pitchFamily="34" charset="0"/>
                <a:ea typeface="Tw Cen MT" pitchFamily="34" charset="-122"/>
                <a:cs typeface="Tw Cen MT" pitchFamily="34" charset="-120"/>
              </a:rPr>
              <a:t>Diferir, no recortar parejo</a:t>
            </a:r>
            <a:endParaRPr lang="en-US" dirty="0">
              <a:latin typeface="Tw Cen MT" panose="020B0602020104020603" pitchFamily="34" charset="0"/>
            </a:endParaRPr>
          </a:p>
        </p:txBody>
      </p:sp>
      <p:sp>
        <p:nvSpPr>
          <p:cNvPr id="17" name="Text 9">
            <a:extLst>
              <a:ext uri="{FF2B5EF4-FFF2-40B4-BE49-F238E27FC236}">
                <a16:creationId xmlns:a16="http://schemas.microsoft.com/office/drawing/2014/main" id="{6C87BBC0-2E84-E085-C5B2-AEB300411F4A}"/>
              </a:ext>
            </a:extLst>
          </p:cNvPr>
          <p:cNvSpPr/>
          <p:nvPr/>
        </p:nvSpPr>
        <p:spPr>
          <a:xfrm>
            <a:off x="566928" y="2103120"/>
            <a:ext cx="3666744" cy="1325880"/>
          </a:xfrm>
          <a:prstGeom prst="rect">
            <a:avLst/>
          </a:prstGeom>
          <a:noFill/>
          <a:ln/>
        </p:spPr>
        <p:txBody>
          <a:bodyPr wrap="square" rtlCol="0" anchor="t"/>
          <a:lstStyle/>
          <a:p>
            <a:pPr marL="0" indent="0">
              <a:lnSpc>
                <a:spcPct val="112000"/>
              </a:lnSpc>
              <a:buNone/>
            </a:pPr>
            <a:r>
              <a:rPr lang="en-US" sz="1600" dirty="0">
                <a:solidFill>
                  <a:srgbClr val="2B2B2B"/>
                </a:solidFill>
                <a:latin typeface="Tw Cen MT" panose="020B0602020104020603" pitchFamily="34" charset="0"/>
                <a:ea typeface="Tw Cen MT" pitchFamily="34" charset="-122"/>
                <a:cs typeface="Tw Cen MT" pitchFamily="34" charset="-120"/>
              </a:rPr>
              <a:t>Reemplazar el recorte lineal por un esquema de </a:t>
            </a:r>
            <a:r>
              <a:rPr lang="en-US" sz="1600" dirty="0" err="1">
                <a:solidFill>
                  <a:srgbClr val="2B2B2B"/>
                </a:solidFill>
                <a:latin typeface="Tw Cen MT" panose="020B0602020104020603" pitchFamily="34" charset="0"/>
                <a:ea typeface="Tw Cen MT" pitchFamily="34" charset="-122"/>
                <a:cs typeface="Tw Cen MT" pitchFamily="34" charset="-120"/>
              </a:rPr>
              <a:t>compensación</a:t>
            </a:r>
            <a:r>
              <a:rPr lang="en-US" sz="1600" dirty="0">
                <a:solidFill>
                  <a:srgbClr val="2B2B2B"/>
                </a:solidFill>
                <a:latin typeface="Tw Cen MT" panose="020B0602020104020603" pitchFamily="34" charset="0"/>
                <a:ea typeface="Tw Cen MT" pitchFamily="34" charset="-122"/>
                <a:cs typeface="Tw Cen MT" pitchFamily="34" charset="-120"/>
              </a:rPr>
              <a:t> </a:t>
            </a:r>
            <a:r>
              <a:rPr lang="en-US" sz="1600" dirty="0" err="1">
                <a:solidFill>
                  <a:srgbClr val="2B2B2B"/>
                </a:solidFill>
                <a:latin typeface="Tw Cen MT" panose="020B0602020104020603" pitchFamily="34" charset="0"/>
                <a:ea typeface="Tw Cen MT" pitchFamily="34" charset="-122"/>
                <a:cs typeface="Tw Cen MT" pitchFamily="34" charset="-120"/>
              </a:rPr>
              <a:t>diferida</a:t>
            </a:r>
            <a:r>
              <a:rPr lang="en-US" sz="1600" dirty="0">
                <a:solidFill>
                  <a:srgbClr val="2B2B2B"/>
                </a:solidFill>
                <a:latin typeface="Tw Cen MT" panose="020B0602020104020603" pitchFamily="34" charset="0"/>
                <a:ea typeface="Tw Cen MT" pitchFamily="34" charset="-122"/>
                <a:cs typeface="Tw Cen MT" pitchFamily="34" charset="-120"/>
              </a:rPr>
              <a:t> a X </a:t>
            </a:r>
            <a:r>
              <a:rPr lang="en-US" sz="1600" dirty="0" err="1">
                <a:solidFill>
                  <a:srgbClr val="2B2B2B"/>
                </a:solidFill>
                <a:latin typeface="Tw Cen MT" panose="020B0602020104020603" pitchFamily="34" charset="0"/>
                <a:ea typeface="Tw Cen MT" pitchFamily="34" charset="-122"/>
                <a:cs typeface="Tw Cen MT" pitchFamily="34" charset="-120"/>
              </a:rPr>
              <a:t>años</a:t>
            </a:r>
            <a:r>
              <a:rPr lang="en-US" sz="1600" dirty="0">
                <a:solidFill>
                  <a:srgbClr val="2B2B2B"/>
                </a:solidFill>
                <a:latin typeface="Tw Cen MT" panose="020B0602020104020603" pitchFamily="34" charset="0"/>
                <a:ea typeface="Tw Cen MT" pitchFamily="34" charset="-122"/>
                <a:cs typeface="Tw Cen MT" pitchFamily="34" charset="-120"/>
              </a:rPr>
              <a:t>: se contiene el gasto inmediato sin </a:t>
            </a:r>
            <a:r>
              <a:rPr lang="en-US" sz="1600" dirty="0" err="1">
                <a:solidFill>
                  <a:srgbClr val="2B2B2B"/>
                </a:solidFill>
                <a:latin typeface="Tw Cen MT" panose="020B0602020104020603" pitchFamily="34" charset="0"/>
                <a:ea typeface="Tw Cen MT" pitchFamily="34" charset="-122"/>
                <a:cs typeface="Tw Cen MT" pitchFamily="34" charset="-120"/>
              </a:rPr>
              <a:t>cortar</a:t>
            </a:r>
            <a:r>
              <a:rPr lang="en-US" sz="1600" dirty="0">
                <a:solidFill>
                  <a:srgbClr val="2B2B2B"/>
                </a:solidFill>
                <a:latin typeface="Tw Cen MT" panose="020B0602020104020603" pitchFamily="34" charset="0"/>
                <a:ea typeface="Tw Cen MT" pitchFamily="34" charset="-122"/>
                <a:cs typeface="Tw Cen MT" pitchFamily="34" charset="-120"/>
              </a:rPr>
              <a:t> la expectativa de largo plazo.</a:t>
            </a:r>
            <a:endParaRPr lang="en-US" sz="1600" dirty="0">
              <a:latin typeface="Tw Cen MT" panose="020B0602020104020603" pitchFamily="34" charset="0"/>
            </a:endParaRPr>
          </a:p>
        </p:txBody>
      </p:sp>
      <p:sp>
        <p:nvSpPr>
          <p:cNvPr id="19" name="Shape 10">
            <a:extLst>
              <a:ext uri="{FF2B5EF4-FFF2-40B4-BE49-F238E27FC236}">
                <a16:creationId xmlns:a16="http://schemas.microsoft.com/office/drawing/2014/main" id="{9309ECDF-9964-0BE1-3762-04771764AF83}"/>
              </a:ext>
            </a:extLst>
          </p:cNvPr>
          <p:cNvSpPr/>
          <p:nvPr/>
        </p:nvSpPr>
        <p:spPr>
          <a:xfrm>
            <a:off x="4709160" y="1417320"/>
            <a:ext cx="4069080" cy="2148840"/>
          </a:xfrm>
          <a:prstGeom prst="rect">
            <a:avLst/>
          </a:prstGeom>
          <a:solidFill>
            <a:srgbClr val="F4F4F6"/>
          </a:solidFill>
          <a:ln/>
        </p:spPr>
        <p:txBody>
          <a:bodyPr/>
          <a:lstStyle/>
          <a:p>
            <a:endParaRPr lang="es-419" sz="1400">
              <a:latin typeface="Tw Cen MT" panose="020B0602020104020603" pitchFamily="34" charset="0"/>
            </a:endParaRPr>
          </a:p>
        </p:txBody>
      </p:sp>
      <p:sp>
        <p:nvSpPr>
          <p:cNvPr id="21" name="Shape 11">
            <a:extLst>
              <a:ext uri="{FF2B5EF4-FFF2-40B4-BE49-F238E27FC236}">
                <a16:creationId xmlns:a16="http://schemas.microsoft.com/office/drawing/2014/main" id="{1501EDF1-BE44-5BA4-4518-2E8CB8A0743A}"/>
              </a:ext>
            </a:extLst>
          </p:cNvPr>
          <p:cNvSpPr/>
          <p:nvPr/>
        </p:nvSpPr>
        <p:spPr>
          <a:xfrm>
            <a:off x="4709160" y="1417320"/>
            <a:ext cx="73152" cy="2148840"/>
          </a:xfrm>
          <a:prstGeom prst="rect">
            <a:avLst/>
          </a:prstGeom>
          <a:solidFill>
            <a:srgbClr val="8B0000"/>
          </a:solidFill>
          <a:ln/>
        </p:spPr>
        <p:txBody>
          <a:bodyPr/>
          <a:lstStyle/>
          <a:p>
            <a:endParaRPr lang="es-419" sz="1400">
              <a:latin typeface="Tw Cen MT" panose="020B0602020104020603" pitchFamily="34" charset="0"/>
            </a:endParaRPr>
          </a:p>
        </p:txBody>
      </p:sp>
      <p:sp>
        <p:nvSpPr>
          <p:cNvPr id="23" name="Shape 12">
            <a:extLst>
              <a:ext uri="{FF2B5EF4-FFF2-40B4-BE49-F238E27FC236}">
                <a16:creationId xmlns:a16="http://schemas.microsoft.com/office/drawing/2014/main" id="{4DEBAAE8-1371-090A-515F-F7190D16605D}"/>
              </a:ext>
            </a:extLst>
          </p:cNvPr>
          <p:cNvSpPr/>
          <p:nvPr/>
        </p:nvSpPr>
        <p:spPr>
          <a:xfrm>
            <a:off x="4910328" y="1581912"/>
            <a:ext cx="365760" cy="365760"/>
          </a:xfrm>
          <a:prstGeom prst="ellipse">
            <a:avLst/>
          </a:prstGeom>
          <a:solidFill>
            <a:srgbClr val="8B0000"/>
          </a:solidFill>
          <a:ln/>
        </p:spPr>
        <p:txBody>
          <a:bodyPr/>
          <a:lstStyle/>
          <a:p>
            <a:endParaRPr lang="es-419" sz="1400">
              <a:latin typeface="Tw Cen MT" panose="020B0602020104020603" pitchFamily="34" charset="0"/>
            </a:endParaRPr>
          </a:p>
        </p:txBody>
      </p:sp>
      <p:sp>
        <p:nvSpPr>
          <p:cNvPr id="25" name="Text 13">
            <a:extLst>
              <a:ext uri="{FF2B5EF4-FFF2-40B4-BE49-F238E27FC236}">
                <a16:creationId xmlns:a16="http://schemas.microsoft.com/office/drawing/2014/main" id="{F80286EA-45B0-40BC-5644-4DE68A0022BC}"/>
              </a:ext>
            </a:extLst>
          </p:cNvPr>
          <p:cNvSpPr/>
          <p:nvPr/>
        </p:nvSpPr>
        <p:spPr>
          <a:xfrm>
            <a:off x="4910328" y="1581912"/>
            <a:ext cx="365760" cy="365760"/>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2</a:t>
            </a:r>
            <a:endParaRPr lang="en-US" sz="1400" dirty="0">
              <a:latin typeface="Tw Cen MT" panose="020B0602020104020603" pitchFamily="34" charset="0"/>
            </a:endParaRPr>
          </a:p>
        </p:txBody>
      </p:sp>
      <p:sp>
        <p:nvSpPr>
          <p:cNvPr id="27" name="Text 14">
            <a:extLst>
              <a:ext uri="{FF2B5EF4-FFF2-40B4-BE49-F238E27FC236}">
                <a16:creationId xmlns:a16="http://schemas.microsoft.com/office/drawing/2014/main" id="{BC956732-EDFD-3C29-383A-8B369B795399}"/>
              </a:ext>
            </a:extLst>
          </p:cNvPr>
          <p:cNvSpPr/>
          <p:nvPr/>
        </p:nvSpPr>
        <p:spPr>
          <a:xfrm>
            <a:off x="5394960" y="1554480"/>
            <a:ext cx="3200400" cy="457200"/>
          </a:xfrm>
          <a:prstGeom prst="rect">
            <a:avLst/>
          </a:prstGeom>
          <a:noFill/>
          <a:ln/>
        </p:spPr>
        <p:txBody>
          <a:bodyPr wrap="square" rtlCol="0" anchor="t"/>
          <a:lstStyle/>
          <a:p>
            <a:pPr marL="0" indent="0">
              <a:buNone/>
            </a:pPr>
            <a:r>
              <a:rPr lang="en-US" b="1" dirty="0">
                <a:solidFill>
                  <a:srgbClr val="8B0000"/>
                </a:solidFill>
                <a:latin typeface="Tw Cen MT" panose="020B0602020104020603" pitchFamily="34" charset="0"/>
                <a:ea typeface="Tw Cen MT" pitchFamily="34" charset="-122"/>
                <a:cs typeface="Tw Cen MT" pitchFamily="34" charset="-120"/>
              </a:rPr>
              <a:t>Diferenciar por desempeño individual</a:t>
            </a:r>
            <a:endParaRPr lang="en-US" dirty="0">
              <a:latin typeface="Tw Cen MT" panose="020B0602020104020603" pitchFamily="34" charset="0"/>
            </a:endParaRPr>
          </a:p>
        </p:txBody>
      </p:sp>
      <p:sp>
        <p:nvSpPr>
          <p:cNvPr id="29" name="Text 15">
            <a:extLst>
              <a:ext uri="{FF2B5EF4-FFF2-40B4-BE49-F238E27FC236}">
                <a16:creationId xmlns:a16="http://schemas.microsoft.com/office/drawing/2014/main" id="{966344EE-6DA6-F0F0-3E6A-C9DF033CD7BC}"/>
              </a:ext>
            </a:extLst>
          </p:cNvPr>
          <p:cNvSpPr/>
          <p:nvPr/>
        </p:nvSpPr>
        <p:spPr>
          <a:xfrm>
            <a:off x="4910328" y="2103120"/>
            <a:ext cx="3666744" cy="1325880"/>
          </a:xfrm>
          <a:prstGeom prst="rect">
            <a:avLst/>
          </a:prstGeom>
          <a:noFill/>
          <a:ln/>
        </p:spPr>
        <p:txBody>
          <a:bodyPr wrap="square" rtlCol="0" anchor="t"/>
          <a:lstStyle/>
          <a:p>
            <a:pPr marL="0" indent="0">
              <a:lnSpc>
                <a:spcPct val="112000"/>
              </a:lnSpc>
              <a:buNone/>
            </a:pPr>
            <a:r>
              <a:rPr lang="en-US" sz="1600" dirty="0">
                <a:solidFill>
                  <a:srgbClr val="2B2B2B"/>
                </a:solidFill>
                <a:latin typeface="Tw Cen MT" panose="020B0602020104020603" pitchFamily="34" charset="0"/>
                <a:ea typeface="Tw Cen MT" pitchFamily="34" charset="-122"/>
                <a:cs typeface="Tw Cen MT" pitchFamily="34" charset="-120"/>
              </a:rPr>
              <a:t>No aplicar el mismo % de recorte a </a:t>
            </a:r>
            <a:r>
              <a:rPr lang="en-US" sz="1600" dirty="0" err="1">
                <a:solidFill>
                  <a:srgbClr val="2B2B2B"/>
                </a:solidFill>
                <a:latin typeface="Tw Cen MT" panose="020B0602020104020603" pitchFamily="34" charset="0"/>
                <a:ea typeface="Tw Cen MT" pitchFamily="34" charset="-122"/>
                <a:cs typeface="Tw Cen MT" pitchFamily="34" charset="-120"/>
              </a:rPr>
              <a:t>todos</a:t>
            </a:r>
            <a:r>
              <a:rPr lang="en-US" sz="1600" dirty="0">
                <a:solidFill>
                  <a:srgbClr val="2B2B2B"/>
                </a:solidFill>
                <a:latin typeface="Tw Cen MT" panose="020B0602020104020603" pitchFamily="34" charset="0"/>
                <a:ea typeface="Tw Cen MT" pitchFamily="34" charset="-122"/>
                <a:cs typeface="Tw Cen MT" pitchFamily="34" charset="-120"/>
              </a:rPr>
              <a:t>. Proteger selectivamente a los equipos con mayor riesgo de </a:t>
            </a:r>
            <a:r>
              <a:rPr lang="en-US" sz="1600" dirty="0" err="1">
                <a:solidFill>
                  <a:srgbClr val="2B2B2B"/>
                </a:solidFill>
                <a:latin typeface="Tw Cen MT" panose="020B0602020104020603" pitchFamily="34" charset="0"/>
                <a:ea typeface="Tw Cen MT" pitchFamily="34" charset="-122"/>
                <a:cs typeface="Tw Cen MT" pitchFamily="34" charset="-120"/>
              </a:rPr>
              <a:t>fuga</a:t>
            </a:r>
            <a:r>
              <a:rPr lang="en-US" sz="1600" dirty="0">
                <a:solidFill>
                  <a:srgbClr val="2B2B2B"/>
                </a:solidFill>
                <a:latin typeface="Tw Cen MT" panose="020B0602020104020603" pitchFamily="34" charset="0"/>
                <a:ea typeface="Tw Cen MT" pitchFamily="34" charset="-122"/>
                <a:cs typeface="Tw Cen MT" pitchFamily="34" charset="-120"/>
              </a:rPr>
              <a:t> y mayor opción de salida.</a:t>
            </a:r>
            <a:endParaRPr lang="en-US" sz="1600" dirty="0">
              <a:latin typeface="Tw Cen MT" panose="020B0602020104020603" pitchFamily="34" charset="0"/>
            </a:endParaRPr>
          </a:p>
        </p:txBody>
      </p:sp>
      <p:sp>
        <p:nvSpPr>
          <p:cNvPr id="31" name="Shape 16">
            <a:extLst>
              <a:ext uri="{FF2B5EF4-FFF2-40B4-BE49-F238E27FC236}">
                <a16:creationId xmlns:a16="http://schemas.microsoft.com/office/drawing/2014/main" id="{55E8E391-A4E2-B462-D5F2-5BBCBBA681E1}"/>
              </a:ext>
            </a:extLst>
          </p:cNvPr>
          <p:cNvSpPr/>
          <p:nvPr/>
        </p:nvSpPr>
        <p:spPr>
          <a:xfrm>
            <a:off x="365760" y="3794760"/>
            <a:ext cx="4069080" cy="2148840"/>
          </a:xfrm>
          <a:prstGeom prst="rect">
            <a:avLst/>
          </a:prstGeom>
          <a:solidFill>
            <a:srgbClr val="F4F4F6"/>
          </a:solidFill>
          <a:ln/>
        </p:spPr>
        <p:txBody>
          <a:bodyPr/>
          <a:lstStyle/>
          <a:p>
            <a:endParaRPr lang="es-419" sz="1400">
              <a:latin typeface="Tw Cen MT" panose="020B0602020104020603" pitchFamily="34" charset="0"/>
            </a:endParaRPr>
          </a:p>
        </p:txBody>
      </p:sp>
      <p:sp>
        <p:nvSpPr>
          <p:cNvPr id="33" name="Shape 17">
            <a:extLst>
              <a:ext uri="{FF2B5EF4-FFF2-40B4-BE49-F238E27FC236}">
                <a16:creationId xmlns:a16="http://schemas.microsoft.com/office/drawing/2014/main" id="{678CBDA2-674A-1848-FE12-7D66AE11A9B1}"/>
              </a:ext>
            </a:extLst>
          </p:cNvPr>
          <p:cNvSpPr/>
          <p:nvPr/>
        </p:nvSpPr>
        <p:spPr>
          <a:xfrm>
            <a:off x="365760" y="3794760"/>
            <a:ext cx="73152" cy="2148840"/>
          </a:xfrm>
          <a:prstGeom prst="rect">
            <a:avLst/>
          </a:prstGeom>
          <a:solidFill>
            <a:srgbClr val="1B4332"/>
          </a:solidFill>
          <a:ln/>
        </p:spPr>
        <p:txBody>
          <a:bodyPr/>
          <a:lstStyle/>
          <a:p>
            <a:endParaRPr lang="es-419" sz="1400">
              <a:latin typeface="Tw Cen MT" panose="020B0602020104020603" pitchFamily="34" charset="0"/>
            </a:endParaRPr>
          </a:p>
        </p:txBody>
      </p:sp>
      <p:sp>
        <p:nvSpPr>
          <p:cNvPr id="35" name="Shape 18">
            <a:extLst>
              <a:ext uri="{FF2B5EF4-FFF2-40B4-BE49-F238E27FC236}">
                <a16:creationId xmlns:a16="http://schemas.microsoft.com/office/drawing/2014/main" id="{8D2BF9D8-27A1-64DC-B73F-93FDE3E1858E}"/>
              </a:ext>
            </a:extLst>
          </p:cNvPr>
          <p:cNvSpPr/>
          <p:nvPr/>
        </p:nvSpPr>
        <p:spPr>
          <a:xfrm>
            <a:off x="566928" y="3959352"/>
            <a:ext cx="365760" cy="365760"/>
          </a:xfrm>
          <a:prstGeom prst="ellipse">
            <a:avLst/>
          </a:prstGeom>
          <a:solidFill>
            <a:srgbClr val="1B4332"/>
          </a:solidFill>
          <a:ln/>
        </p:spPr>
        <p:txBody>
          <a:bodyPr/>
          <a:lstStyle/>
          <a:p>
            <a:endParaRPr lang="es-419" sz="1400">
              <a:latin typeface="Tw Cen MT" panose="020B0602020104020603" pitchFamily="34" charset="0"/>
            </a:endParaRPr>
          </a:p>
        </p:txBody>
      </p:sp>
      <p:sp>
        <p:nvSpPr>
          <p:cNvPr id="37" name="Text 19">
            <a:extLst>
              <a:ext uri="{FF2B5EF4-FFF2-40B4-BE49-F238E27FC236}">
                <a16:creationId xmlns:a16="http://schemas.microsoft.com/office/drawing/2014/main" id="{DA7F92FD-B1BB-E4AD-03F5-9587FAA01B9F}"/>
              </a:ext>
            </a:extLst>
          </p:cNvPr>
          <p:cNvSpPr/>
          <p:nvPr/>
        </p:nvSpPr>
        <p:spPr>
          <a:xfrm>
            <a:off x="566928" y="3959352"/>
            <a:ext cx="365760" cy="365760"/>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3</a:t>
            </a:r>
            <a:endParaRPr lang="en-US" sz="1400" dirty="0">
              <a:latin typeface="Tw Cen MT" panose="020B0602020104020603" pitchFamily="34" charset="0"/>
            </a:endParaRPr>
          </a:p>
        </p:txBody>
      </p:sp>
      <p:sp>
        <p:nvSpPr>
          <p:cNvPr id="39" name="Text 20">
            <a:extLst>
              <a:ext uri="{FF2B5EF4-FFF2-40B4-BE49-F238E27FC236}">
                <a16:creationId xmlns:a16="http://schemas.microsoft.com/office/drawing/2014/main" id="{9E6BE761-97EA-EC37-8B17-40F7235643D0}"/>
              </a:ext>
            </a:extLst>
          </p:cNvPr>
          <p:cNvSpPr/>
          <p:nvPr/>
        </p:nvSpPr>
        <p:spPr>
          <a:xfrm>
            <a:off x="1051560" y="3931920"/>
            <a:ext cx="3200400" cy="457200"/>
          </a:xfrm>
          <a:prstGeom prst="rect">
            <a:avLst/>
          </a:prstGeom>
          <a:noFill/>
          <a:ln/>
        </p:spPr>
        <p:txBody>
          <a:bodyPr wrap="square" rtlCol="0" anchor="t"/>
          <a:lstStyle/>
          <a:p>
            <a:pPr marL="0" indent="0">
              <a:buNone/>
            </a:pPr>
            <a:r>
              <a:rPr lang="en-US" b="1" dirty="0">
                <a:solidFill>
                  <a:srgbClr val="1B4332"/>
                </a:solidFill>
                <a:latin typeface="Tw Cen MT" panose="020B0602020104020603" pitchFamily="34" charset="0"/>
                <a:ea typeface="Tw Cen MT" pitchFamily="34" charset="-122"/>
                <a:cs typeface="Tw Cen MT" pitchFamily="34" charset="-120"/>
              </a:rPr>
              <a:t>Comunicar el criterio ex ante</a:t>
            </a:r>
            <a:endParaRPr lang="en-US" dirty="0">
              <a:latin typeface="Tw Cen MT" panose="020B0602020104020603" pitchFamily="34" charset="0"/>
            </a:endParaRPr>
          </a:p>
        </p:txBody>
      </p:sp>
      <p:sp>
        <p:nvSpPr>
          <p:cNvPr id="41" name="Text 21">
            <a:extLst>
              <a:ext uri="{FF2B5EF4-FFF2-40B4-BE49-F238E27FC236}">
                <a16:creationId xmlns:a16="http://schemas.microsoft.com/office/drawing/2014/main" id="{9D8745AF-687A-EDA9-EC0B-D7E0A5A3AB18}"/>
              </a:ext>
            </a:extLst>
          </p:cNvPr>
          <p:cNvSpPr/>
          <p:nvPr/>
        </p:nvSpPr>
        <p:spPr>
          <a:xfrm>
            <a:off x="566928" y="4480560"/>
            <a:ext cx="3666744" cy="1325880"/>
          </a:xfrm>
          <a:prstGeom prst="rect">
            <a:avLst/>
          </a:prstGeom>
          <a:noFill/>
          <a:ln/>
        </p:spPr>
        <p:txBody>
          <a:bodyPr wrap="square" rtlCol="0" anchor="t"/>
          <a:lstStyle/>
          <a:p>
            <a:pPr marL="0" indent="0">
              <a:lnSpc>
                <a:spcPct val="112000"/>
              </a:lnSpc>
              <a:buNone/>
            </a:pPr>
            <a:r>
              <a:rPr lang="en-US" sz="1600" dirty="0">
                <a:solidFill>
                  <a:srgbClr val="2B2B2B"/>
                </a:solidFill>
                <a:latin typeface="Tw Cen MT" panose="020B0602020104020603" pitchFamily="34" charset="0"/>
                <a:ea typeface="Tw Cen MT" pitchFamily="34" charset="-122"/>
                <a:cs typeface="Tw Cen MT" pitchFamily="34" charset="-120"/>
              </a:rPr>
              <a:t>Explicitar reglas y umbrales antes de la crisis, no decidir con discrecionalidad ex post. Reduce el daño al contrato psicológico implícito con los empleados.</a:t>
            </a:r>
            <a:endParaRPr lang="en-US" sz="1600" dirty="0">
              <a:latin typeface="Tw Cen MT" panose="020B0602020104020603" pitchFamily="34" charset="0"/>
            </a:endParaRPr>
          </a:p>
        </p:txBody>
      </p:sp>
      <p:sp>
        <p:nvSpPr>
          <p:cNvPr id="43" name="Shape 22">
            <a:extLst>
              <a:ext uri="{FF2B5EF4-FFF2-40B4-BE49-F238E27FC236}">
                <a16:creationId xmlns:a16="http://schemas.microsoft.com/office/drawing/2014/main" id="{F5355584-0F6C-510D-C308-2834F99C17C8}"/>
              </a:ext>
            </a:extLst>
          </p:cNvPr>
          <p:cNvSpPr/>
          <p:nvPr/>
        </p:nvSpPr>
        <p:spPr>
          <a:xfrm>
            <a:off x="4709160" y="3794760"/>
            <a:ext cx="4069080" cy="2148840"/>
          </a:xfrm>
          <a:prstGeom prst="rect">
            <a:avLst/>
          </a:prstGeom>
          <a:solidFill>
            <a:srgbClr val="F4F4F6"/>
          </a:solidFill>
          <a:ln/>
        </p:spPr>
        <p:txBody>
          <a:bodyPr/>
          <a:lstStyle/>
          <a:p>
            <a:endParaRPr lang="es-419" sz="1400">
              <a:latin typeface="Tw Cen MT" panose="020B0602020104020603" pitchFamily="34" charset="0"/>
            </a:endParaRPr>
          </a:p>
        </p:txBody>
      </p:sp>
      <p:sp>
        <p:nvSpPr>
          <p:cNvPr id="45" name="Shape 23">
            <a:extLst>
              <a:ext uri="{FF2B5EF4-FFF2-40B4-BE49-F238E27FC236}">
                <a16:creationId xmlns:a16="http://schemas.microsoft.com/office/drawing/2014/main" id="{43BD5B1D-647A-B034-6F5A-13BBEAAA6263}"/>
              </a:ext>
            </a:extLst>
          </p:cNvPr>
          <p:cNvSpPr/>
          <p:nvPr/>
        </p:nvSpPr>
        <p:spPr>
          <a:xfrm>
            <a:off x="4709160" y="3794760"/>
            <a:ext cx="73152" cy="2148840"/>
          </a:xfrm>
          <a:prstGeom prst="rect">
            <a:avLst/>
          </a:prstGeom>
          <a:solidFill>
            <a:srgbClr val="3A4680"/>
          </a:solidFill>
          <a:ln/>
        </p:spPr>
        <p:txBody>
          <a:bodyPr/>
          <a:lstStyle/>
          <a:p>
            <a:endParaRPr lang="es-419" sz="1400">
              <a:latin typeface="Tw Cen MT" panose="020B0602020104020603" pitchFamily="34" charset="0"/>
            </a:endParaRPr>
          </a:p>
        </p:txBody>
      </p:sp>
      <p:sp>
        <p:nvSpPr>
          <p:cNvPr id="47" name="Shape 24">
            <a:extLst>
              <a:ext uri="{FF2B5EF4-FFF2-40B4-BE49-F238E27FC236}">
                <a16:creationId xmlns:a16="http://schemas.microsoft.com/office/drawing/2014/main" id="{9C01455D-135D-BD21-3797-F2D113B76C1F}"/>
              </a:ext>
            </a:extLst>
          </p:cNvPr>
          <p:cNvSpPr/>
          <p:nvPr/>
        </p:nvSpPr>
        <p:spPr>
          <a:xfrm>
            <a:off x="4910328" y="3959352"/>
            <a:ext cx="365760" cy="365760"/>
          </a:xfrm>
          <a:prstGeom prst="ellipse">
            <a:avLst/>
          </a:prstGeom>
          <a:solidFill>
            <a:srgbClr val="3A4680"/>
          </a:solidFill>
          <a:ln/>
        </p:spPr>
        <p:txBody>
          <a:bodyPr/>
          <a:lstStyle/>
          <a:p>
            <a:endParaRPr lang="es-419" sz="1400">
              <a:latin typeface="Tw Cen MT" panose="020B0602020104020603" pitchFamily="34" charset="0"/>
            </a:endParaRPr>
          </a:p>
        </p:txBody>
      </p:sp>
      <p:sp>
        <p:nvSpPr>
          <p:cNvPr id="49" name="Text 25">
            <a:extLst>
              <a:ext uri="{FF2B5EF4-FFF2-40B4-BE49-F238E27FC236}">
                <a16:creationId xmlns:a16="http://schemas.microsoft.com/office/drawing/2014/main" id="{43F41851-E713-11DC-FDBE-14F52A89E397}"/>
              </a:ext>
            </a:extLst>
          </p:cNvPr>
          <p:cNvSpPr/>
          <p:nvPr/>
        </p:nvSpPr>
        <p:spPr>
          <a:xfrm>
            <a:off x="4910328" y="3959352"/>
            <a:ext cx="365760" cy="365760"/>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4</a:t>
            </a:r>
            <a:endParaRPr lang="en-US" sz="1400" dirty="0">
              <a:latin typeface="Tw Cen MT" panose="020B0602020104020603" pitchFamily="34" charset="0"/>
            </a:endParaRPr>
          </a:p>
        </p:txBody>
      </p:sp>
      <p:sp>
        <p:nvSpPr>
          <p:cNvPr id="51" name="Text 26">
            <a:extLst>
              <a:ext uri="{FF2B5EF4-FFF2-40B4-BE49-F238E27FC236}">
                <a16:creationId xmlns:a16="http://schemas.microsoft.com/office/drawing/2014/main" id="{CC0C7A9A-8A32-C45A-D33C-61EA39714444}"/>
              </a:ext>
            </a:extLst>
          </p:cNvPr>
          <p:cNvSpPr/>
          <p:nvPr/>
        </p:nvSpPr>
        <p:spPr>
          <a:xfrm>
            <a:off x="5394960" y="3931920"/>
            <a:ext cx="3200400" cy="457200"/>
          </a:xfrm>
          <a:prstGeom prst="rect">
            <a:avLst/>
          </a:prstGeom>
          <a:noFill/>
          <a:ln/>
        </p:spPr>
        <p:txBody>
          <a:bodyPr wrap="square" rtlCol="0" anchor="t"/>
          <a:lstStyle/>
          <a:p>
            <a:pPr marL="0" indent="0">
              <a:buNone/>
            </a:pPr>
            <a:r>
              <a:rPr lang="en-US" b="1" dirty="0">
                <a:solidFill>
                  <a:srgbClr val="3A4680"/>
                </a:solidFill>
                <a:latin typeface="Tw Cen MT" panose="020B0602020104020603" pitchFamily="34" charset="0"/>
                <a:ea typeface="Tw Cen MT" pitchFamily="34" charset="-122"/>
                <a:cs typeface="Tw Cen MT" pitchFamily="34" charset="-120"/>
              </a:rPr>
              <a:t>Separar el mensaje: accionistas vs. mercado laboral</a:t>
            </a:r>
            <a:endParaRPr lang="en-US" dirty="0">
              <a:latin typeface="Tw Cen MT" panose="020B0602020104020603" pitchFamily="34" charset="0"/>
            </a:endParaRPr>
          </a:p>
        </p:txBody>
      </p:sp>
      <p:sp>
        <p:nvSpPr>
          <p:cNvPr id="53" name="Text 27">
            <a:extLst>
              <a:ext uri="{FF2B5EF4-FFF2-40B4-BE49-F238E27FC236}">
                <a16:creationId xmlns:a16="http://schemas.microsoft.com/office/drawing/2014/main" id="{E404D132-D9CC-488E-D19D-DCC8ED3809A2}"/>
              </a:ext>
            </a:extLst>
          </p:cNvPr>
          <p:cNvSpPr/>
          <p:nvPr/>
        </p:nvSpPr>
        <p:spPr>
          <a:xfrm>
            <a:off x="4910328" y="4480560"/>
            <a:ext cx="3666744" cy="1325880"/>
          </a:xfrm>
          <a:prstGeom prst="rect">
            <a:avLst/>
          </a:prstGeom>
          <a:noFill/>
          <a:ln/>
        </p:spPr>
        <p:txBody>
          <a:bodyPr wrap="square" rtlCol="0" anchor="t"/>
          <a:lstStyle/>
          <a:p>
            <a:pPr marL="0" indent="0">
              <a:lnSpc>
                <a:spcPct val="112000"/>
              </a:lnSpc>
              <a:buNone/>
            </a:pPr>
            <a:r>
              <a:rPr lang="en-US" sz="1600" dirty="0">
                <a:solidFill>
                  <a:srgbClr val="2B2B2B"/>
                </a:solidFill>
                <a:latin typeface="Tw Cen MT" panose="020B0602020104020603" pitchFamily="34" charset="0"/>
                <a:ea typeface="Tw Cen MT" pitchFamily="34" charset="-122"/>
                <a:cs typeface="Tw Cen MT" pitchFamily="34" charset="-120"/>
              </a:rPr>
              <a:t>Reconocer que la legitimidad ante el regulador/contribuyente y la competitividad salarial externa son dos audiencias </a:t>
            </a:r>
            <a:r>
              <a:rPr lang="en-US" sz="1600" dirty="0" err="1">
                <a:solidFill>
                  <a:srgbClr val="2B2B2B"/>
                </a:solidFill>
                <a:latin typeface="Tw Cen MT" panose="020B0602020104020603" pitchFamily="34" charset="0"/>
                <a:ea typeface="Tw Cen MT" pitchFamily="34" charset="-122"/>
                <a:cs typeface="Tw Cen MT" pitchFamily="34" charset="-120"/>
              </a:rPr>
              <a:t>distintas</a:t>
            </a:r>
            <a:r>
              <a:rPr lang="en-US" sz="1600" dirty="0">
                <a:solidFill>
                  <a:srgbClr val="2B2B2B"/>
                </a:solidFill>
                <a:latin typeface="Tw Cen MT" panose="020B0602020104020603" pitchFamily="34" charset="0"/>
                <a:ea typeface="Tw Cen MT" pitchFamily="34" charset="-122"/>
                <a:cs typeface="Tw Cen MT" pitchFamily="34" charset="-120"/>
              </a:rPr>
              <a:t>. </a:t>
            </a:r>
            <a:r>
              <a:rPr lang="en-US" sz="1600" dirty="0" err="1">
                <a:solidFill>
                  <a:srgbClr val="2B2B2B"/>
                </a:solidFill>
                <a:latin typeface="Tw Cen MT" panose="020B0602020104020603" pitchFamily="34" charset="0"/>
                <a:ea typeface="Tw Cen MT" pitchFamily="34" charset="-122"/>
                <a:cs typeface="Tw Cen MT" pitchFamily="34" charset="-120"/>
              </a:rPr>
              <a:t>Diseñar</a:t>
            </a:r>
            <a:r>
              <a:rPr lang="en-US" sz="1600" dirty="0">
                <a:solidFill>
                  <a:srgbClr val="2B2B2B"/>
                </a:solidFill>
                <a:latin typeface="Tw Cen MT" panose="020B0602020104020603" pitchFamily="34" charset="0"/>
                <a:ea typeface="Tw Cen MT" pitchFamily="34" charset="-122"/>
                <a:cs typeface="Tw Cen MT" pitchFamily="34" charset="-120"/>
              </a:rPr>
              <a:t> </a:t>
            </a:r>
            <a:r>
              <a:rPr lang="en-US" sz="1600" dirty="0" err="1">
                <a:solidFill>
                  <a:srgbClr val="2B2B2B"/>
                </a:solidFill>
                <a:latin typeface="Tw Cen MT" panose="020B0602020104020603" pitchFamily="34" charset="0"/>
                <a:ea typeface="Tw Cen MT" pitchFamily="34" charset="-122"/>
                <a:cs typeface="Tw Cen MT" pitchFamily="34" charset="-120"/>
              </a:rPr>
              <a:t>comunicación</a:t>
            </a:r>
            <a:r>
              <a:rPr lang="en-US" sz="1600" dirty="0">
                <a:solidFill>
                  <a:srgbClr val="2B2B2B"/>
                </a:solidFill>
                <a:latin typeface="Tw Cen MT" panose="020B0602020104020603" pitchFamily="34" charset="0"/>
                <a:ea typeface="Tw Cen MT" pitchFamily="34" charset="-122"/>
                <a:cs typeface="Tw Cen MT" pitchFamily="34" charset="-120"/>
              </a:rPr>
              <a:t> para </a:t>
            </a:r>
            <a:r>
              <a:rPr lang="en-US" sz="1600" dirty="0" err="1">
                <a:solidFill>
                  <a:srgbClr val="2B2B2B"/>
                </a:solidFill>
                <a:latin typeface="Tw Cen MT" panose="020B0602020104020603" pitchFamily="34" charset="0"/>
                <a:ea typeface="Tw Cen MT" pitchFamily="34" charset="-122"/>
                <a:cs typeface="Tw Cen MT" pitchFamily="34" charset="-120"/>
              </a:rPr>
              <a:t>cada</a:t>
            </a:r>
            <a:r>
              <a:rPr lang="en-US" sz="1600" dirty="0">
                <a:solidFill>
                  <a:srgbClr val="2B2B2B"/>
                </a:solidFill>
                <a:latin typeface="Tw Cen MT" panose="020B0602020104020603" pitchFamily="34" charset="0"/>
                <a:ea typeface="Tw Cen MT" pitchFamily="34" charset="-122"/>
                <a:cs typeface="Tw Cen MT" pitchFamily="34" charset="-120"/>
              </a:rPr>
              <a:t> </a:t>
            </a:r>
            <a:r>
              <a:rPr lang="en-US" sz="1600" dirty="0" err="1">
                <a:solidFill>
                  <a:srgbClr val="2B2B2B"/>
                </a:solidFill>
                <a:latin typeface="Tw Cen MT" panose="020B0602020104020603" pitchFamily="34" charset="0"/>
                <a:ea typeface="Tw Cen MT" pitchFamily="34" charset="-122"/>
                <a:cs typeface="Tw Cen MT" pitchFamily="34" charset="-120"/>
              </a:rPr>
              <a:t>una</a:t>
            </a:r>
            <a:endParaRPr lang="en-US" sz="1600" dirty="0">
              <a:latin typeface="Tw Cen MT" panose="020B0602020104020603" pitchFamily="34" charset="0"/>
            </a:endParaRPr>
          </a:p>
        </p:txBody>
      </p:sp>
      <p:sp>
        <p:nvSpPr>
          <p:cNvPr id="55" name="Shape 28">
            <a:extLst>
              <a:ext uri="{FF2B5EF4-FFF2-40B4-BE49-F238E27FC236}">
                <a16:creationId xmlns:a16="http://schemas.microsoft.com/office/drawing/2014/main" id="{F38385FC-4497-462E-4640-B42F9637DE2A}"/>
              </a:ext>
            </a:extLst>
          </p:cNvPr>
          <p:cNvSpPr/>
          <p:nvPr/>
        </p:nvSpPr>
        <p:spPr>
          <a:xfrm>
            <a:off x="0" y="6537960"/>
            <a:ext cx="9144000" cy="320040"/>
          </a:xfrm>
          <a:prstGeom prst="rect">
            <a:avLst/>
          </a:prstGeom>
          <a:solidFill>
            <a:srgbClr val="3A4680"/>
          </a:solidFill>
          <a:ln/>
        </p:spPr>
        <p:txBody>
          <a:bodyPr/>
          <a:lstStyle/>
          <a:p>
            <a:endParaRPr lang="es-419" sz="1400">
              <a:latin typeface="Tw Cen MT" panose="020B0602020104020603" pitchFamily="34" charset="0"/>
            </a:endParaRPr>
          </a:p>
        </p:txBody>
      </p:sp>
      <p:sp>
        <p:nvSpPr>
          <p:cNvPr id="57" name="Text 29">
            <a:extLst>
              <a:ext uri="{FF2B5EF4-FFF2-40B4-BE49-F238E27FC236}">
                <a16:creationId xmlns:a16="http://schemas.microsoft.com/office/drawing/2014/main" id="{59161E73-0694-E517-6FDC-40B7F33EAAB2}"/>
              </a:ext>
            </a:extLst>
          </p:cNvPr>
          <p:cNvSpPr/>
          <p:nvPr/>
        </p:nvSpPr>
        <p:spPr>
          <a:xfrm>
            <a:off x="402336" y="6332220"/>
            <a:ext cx="8412480" cy="320040"/>
          </a:xfrm>
          <a:prstGeom prst="rect">
            <a:avLst/>
          </a:prstGeom>
          <a:noFill/>
          <a:ln/>
        </p:spPr>
        <p:txBody>
          <a:bodyPr wrap="square" rtlCol="0" anchor="ctr"/>
          <a:lstStyle/>
          <a:p>
            <a:pPr marL="0" indent="0">
              <a:buNone/>
            </a:pPr>
            <a:r>
              <a:rPr lang="en-US" sz="2000" i="1" dirty="0">
                <a:solidFill>
                  <a:srgbClr val="FFFFFF"/>
                </a:solidFill>
                <a:latin typeface="Tw Cen MT" panose="020B0602020104020603" pitchFamily="34" charset="0"/>
                <a:ea typeface="Tw Cen MT" pitchFamily="34" charset="-122"/>
                <a:cs typeface="Tw Cen MT" pitchFamily="34" charset="-120"/>
              </a:rPr>
              <a:t>No hay solución sin costo: cualquier diseño reasigna, no elimina, el trade-off entre control de costos, legitimidad y retención.</a:t>
            </a:r>
            <a:endParaRPr lang="en-US" sz="2000" dirty="0">
              <a:latin typeface="Tw Cen MT" panose="020B0602020104020603" pitchFamily="34" charset="0"/>
            </a:endParaRPr>
          </a:p>
        </p:txBody>
      </p:sp>
    </p:spTree>
    <p:extLst>
      <p:ext uri="{BB962C8B-B14F-4D97-AF65-F5344CB8AC3E}">
        <p14:creationId xmlns:p14="http://schemas.microsoft.com/office/powerpoint/2010/main" val="4265940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A017"/>
          </a:solidFill>
          <a:ln/>
        </p:spPr>
        <p:txBody>
          <a:bodyPr/>
          <a:lstStyle/>
          <a:p>
            <a:endParaRPr lang="es-419">
              <a:latin typeface="Tw Cen MT" panose="020B0602020104020603" pitchFamily="34" charset="0"/>
            </a:endParaRPr>
          </a:p>
        </p:txBody>
      </p:sp>
      <p:sp>
        <p:nvSpPr>
          <p:cNvPr id="5" name="Text 3"/>
          <p:cNvSpPr/>
          <p:nvPr/>
        </p:nvSpPr>
        <p:spPr>
          <a:xfrm>
            <a:off x="539496" y="333756"/>
            <a:ext cx="8412480" cy="502920"/>
          </a:xfrm>
          <a:prstGeom prst="rect">
            <a:avLst/>
          </a:prstGeom>
          <a:noFill/>
          <a:ln/>
        </p:spPr>
        <p:txBody>
          <a:bodyPr wrap="square" rtlCol="0" anchor="t"/>
          <a:lstStyle/>
          <a:p>
            <a:pPr marL="0" indent="0">
              <a:buNone/>
            </a:pPr>
            <a:r>
              <a:rPr lang="en-US" sz="2400" b="1" dirty="0" err="1">
                <a:solidFill>
                  <a:srgbClr val="1E2761"/>
                </a:solidFill>
                <a:latin typeface="Tw Cen MT" panose="020B0602020104020603" pitchFamily="34" charset="0"/>
                <a:ea typeface="Tw Cen MT" pitchFamily="34" charset="-122"/>
                <a:cs typeface="Tw Cen MT" pitchFamily="34" charset="-120"/>
              </a:rPr>
              <a:t>Enseñanzas</a:t>
            </a:r>
            <a:r>
              <a:rPr lang="en-US" sz="2400" b="1" dirty="0">
                <a:solidFill>
                  <a:srgbClr val="1E2761"/>
                </a:solidFill>
                <a:latin typeface="Tw Cen MT" panose="020B0602020104020603" pitchFamily="34" charset="0"/>
                <a:ea typeface="Tw Cen MT" pitchFamily="34" charset="-122"/>
                <a:cs typeface="Tw Cen MT" pitchFamily="34" charset="-120"/>
              </a:rPr>
              <a:t> sobre límites a la compensación variable</a:t>
            </a:r>
            <a:endParaRPr lang="en-US" sz="2400" dirty="0">
              <a:latin typeface="Tw Cen MT" panose="020B0602020104020603" pitchFamily="34" charset="0"/>
            </a:endParaRPr>
          </a:p>
        </p:txBody>
      </p:sp>
      <p:sp>
        <p:nvSpPr>
          <p:cNvPr id="6" name="Shape 4"/>
          <p:cNvSpPr/>
          <p:nvPr/>
        </p:nvSpPr>
        <p:spPr>
          <a:xfrm>
            <a:off x="502920" y="1283790"/>
            <a:ext cx="4069080" cy="1572768"/>
          </a:xfrm>
          <a:prstGeom prst="rect">
            <a:avLst/>
          </a:prstGeom>
          <a:solidFill>
            <a:srgbClr val="F4F4F6"/>
          </a:solidFill>
          <a:ln/>
        </p:spPr>
        <p:txBody>
          <a:bodyPr/>
          <a:lstStyle/>
          <a:p>
            <a:endParaRPr lang="es-419" sz="1400">
              <a:latin typeface="Tw Cen MT" panose="020B0602020104020603" pitchFamily="34" charset="0"/>
            </a:endParaRPr>
          </a:p>
        </p:txBody>
      </p:sp>
      <p:sp>
        <p:nvSpPr>
          <p:cNvPr id="7" name="Shape 5"/>
          <p:cNvSpPr/>
          <p:nvPr/>
        </p:nvSpPr>
        <p:spPr>
          <a:xfrm>
            <a:off x="502920" y="1283790"/>
            <a:ext cx="73152" cy="1572768"/>
          </a:xfrm>
          <a:prstGeom prst="rect">
            <a:avLst/>
          </a:prstGeom>
          <a:solidFill>
            <a:srgbClr val="1E2761"/>
          </a:solidFill>
          <a:ln/>
        </p:spPr>
        <p:txBody>
          <a:bodyPr/>
          <a:lstStyle/>
          <a:p>
            <a:endParaRPr lang="es-419" sz="1400">
              <a:latin typeface="Tw Cen MT" panose="020B0602020104020603" pitchFamily="34" charset="0"/>
            </a:endParaRPr>
          </a:p>
        </p:txBody>
      </p:sp>
      <p:sp>
        <p:nvSpPr>
          <p:cNvPr id="8" name="Shape 6"/>
          <p:cNvSpPr/>
          <p:nvPr/>
        </p:nvSpPr>
        <p:spPr>
          <a:xfrm>
            <a:off x="685800" y="1420950"/>
            <a:ext cx="329184" cy="329184"/>
          </a:xfrm>
          <a:prstGeom prst="ellipse">
            <a:avLst/>
          </a:prstGeom>
          <a:solidFill>
            <a:srgbClr val="1E2761"/>
          </a:solidFill>
          <a:ln/>
        </p:spPr>
        <p:txBody>
          <a:bodyPr/>
          <a:lstStyle/>
          <a:p>
            <a:endParaRPr lang="es-419" sz="1400">
              <a:latin typeface="Tw Cen MT" panose="020B0602020104020603" pitchFamily="34" charset="0"/>
            </a:endParaRPr>
          </a:p>
        </p:txBody>
      </p:sp>
      <p:sp>
        <p:nvSpPr>
          <p:cNvPr id="9" name="Text 7"/>
          <p:cNvSpPr/>
          <p:nvPr/>
        </p:nvSpPr>
        <p:spPr>
          <a:xfrm>
            <a:off x="685800" y="1420950"/>
            <a:ext cx="329184" cy="329184"/>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1</a:t>
            </a:r>
            <a:endParaRPr lang="en-US" sz="1400" dirty="0">
              <a:latin typeface="Tw Cen MT" panose="020B0602020104020603" pitchFamily="34" charset="0"/>
            </a:endParaRPr>
          </a:p>
        </p:txBody>
      </p:sp>
      <p:sp>
        <p:nvSpPr>
          <p:cNvPr id="10" name="Text 8"/>
          <p:cNvSpPr/>
          <p:nvPr/>
        </p:nvSpPr>
        <p:spPr>
          <a:xfrm>
            <a:off x="1124712" y="1393518"/>
            <a:ext cx="3264408" cy="457200"/>
          </a:xfrm>
          <a:prstGeom prst="rect">
            <a:avLst/>
          </a:prstGeom>
          <a:noFill/>
          <a:ln/>
        </p:spPr>
        <p:txBody>
          <a:bodyPr wrap="square" rtlCol="0" anchor="t"/>
          <a:lstStyle/>
          <a:p>
            <a:pPr marL="0" indent="0">
              <a:buNone/>
            </a:pPr>
            <a:r>
              <a:rPr lang="en-US" sz="1400" b="1" dirty="0">
                <a:solidFill>
                  <a:srgbClr val="1E2761"/>
                </a:solidFill>
                <a:latin typeface="Tw Cen MT" panose="020B0602020104020603" pitchFamily="34" charset="0"/>
                <a:ea typeface="Tw Cen MT" pitchFamily="34" charset="-122"/>
                <a:cs typeface="Tw Cen MT" pitchFamily="34" charset="-120"/>
              </a:rPr>
              <a:t>El límite no elimina el problema, lo traslada</a:t>
            </a:r>
            <a:endParaRPr lang="en-US" sz="1400" dirty="0">
              <a:latin typeface="Tw Cen MT" panose="020B0602020104020603" pitchFamily="34" charset="0"/>
            </a:endParaRPr>
          </a:p>
        </p:txBody>
      </p:sp>
      <p:sp>
        <p:nvSpPr>
          <p:cNvPr id="11" name="Text 9"/>
          <p:cNvSpPr/>
          <p:nvPr/>
        </p:nvSpPr>
        <p:spPr>
          <a:xfrm>
            <a:off x="685800" y="1850718"/>
            <a:ext cx="3703320" cy="932688"/>
          </a:xfrm>
          <a:prstGeom prst="rect">
            <a:avLst/>
          </a:prstGeom>
          <a:noFill/>
          <a:ln/>
        </p:spPr>
        <p:txBody>
          <a:bodyPr wrap="square" rtlCol="0" anchor="t"/>
          <a:lstStyle/>
          <a:p>
            <a:pPr marL="0" indent="0">
              <a:lnSpc>
                <a:spcPct val="110000"/>
              </a:lnSpc>
              <a:buNone/>
            </a:pPr>
            <a:r>
              <a:rPr lang="en-US" sz="1400" dirty="0">
                <a:solidFill>
                  <a:srgbClr val="2B2B2B"/>
                </a:solidFill>
                <a:latin typeface="Tw Cen MT" panose="020B0602020104020603" pitchFamily="34" charset="0"/>
                <a:ea typeface="Tw Cen MT" pitchFamily="34" charset="-122"/>
                <a:cs typeface="Tw Cen MT" pitchFamily="34" charset="-120"/>
              </a:rPr>
              <a:t>Techo (Salomon) o recorte (UBS) resuelven "pagar de más", pero generan a cambio el riesgo de </a:t>
            </a:r>
            <a:r>
              <a:rPr lang="en-US" sz="1400" dirty="0" err="1">
                <a:solidFill>
                  <a:srgbClr val="2B2B2B"/>
                </a:solidFill>
                <a:latin typeface="Tw Cen MT" panose="020B0602020104020603" pitchFamily="34" charset="0"/>
                <a:ea typeface="Tw Cen MT" pitchFamily="34" charset="-122"/>
                <a:cs typeface="Tw Cen MT" pitchFamily="34" charset="-120"/>
              </a:rPr>
              <a:t>perder</a:t>
            </a:r>
            <a:r>
              <a:rPr lang="en-US" sz="1400" dirty="0">
                <a:solidFill>
                  <a:srgbClr val="2B2B2B"/>
                </a:solidFill>
                <a:latin typeface="Tw Cen MT" panose="020B0602020104020603" pitchFamily="34" charset="0"/>
                <a:ea typeface="Tw Cen MT" pitchFamily="34" charset="-122"/>
                <a:cs typeface="Tw Cen MT" pitchFamily="34" charset="-120"/>
              </a:rPr>
              <a:t> </a:t>
            </a:r>
            <a:r>
              <a:rPr lang="en-US" sz="1400" dirty="0" err="1">
                <a:solidFill>
                  <a:srgbClr val="2B2B2B"/>
                </a:solidFill>
                <a:latin typeface="Tw Cen MT" panose="020B0602020104020603" pitchFamily="34" charset="0"/>
                <a:ea typeface="Tw Cen MT" pitchFamily="34" charset="-122"/>
                <a:cs typeface="Tw Cen MT" pitchFamily="34" charset="-120"/>
              </a:rPr>
              <a:t>talento</a:t>
            </a:r>
            <a:r>
              <a:rPr lang="en-US" sz="1400" dirty="0">
                <a:solidFill>
                  <a:srgbClr val="2B2B2B"/>
                </a:solidFill>
                <a:latin typeface="Tw Cen MT" panose="020B0602020104020603" pitchFamily="34" charset="0"/>
                <a:ea typeface="Tw Cen MT" pitchFamily="34" charset="-122"/>
                <a:cs typeface="Tw Cen MT" pitchFamily="34" charset="-120"/>
              </a:rPr>
              <a:t>.</a:t>
            </a:r>
            <a:endParaRPr lang="en-US" sz="1400" dirty="0">
              <a:latin typeface="Tw Cen MT" panose="020B0602020104020603" pitchFamily="34" charset="0"/>
            </a:endParaRPr>
          </a:p>
        </p:txBody>
      </p:sp>
      <p:sp>
        <p:nvSpPr>
          <p:cNvPr id="12" name="Shape 10"/>
          <p:cNvSpPr/>
          <p:nvPr/>
        </p:nvSpPr>
        <p:spPr>
          <a:xfrm>
            <a:off x="4846320" y="1283790"/>
            <a:ext cx="4069080" cy="1572768"/>
          </a:xfrm>
          <a:prstGeom prst="rect">
            <a:avLst/>
          </a:prstGeom>
          <a:solidFill>
            <a:srgbClr val="F4F4F6"/>
          </a:solidFill>
          <a:ln/>
        </p:spPr>
        <p:txBody>
          <a:bodyPr/>
          <a:lstStyle/>
          <a:p>
            <a:endParaRPr lang="es-419" sz="1400">
              <a:latin typeface="Tw Cen MT" panose="020B0602020104020603" pitchFamily="34" charset="0"/>
            </a:endParaRPr>
          </a:p>
        </p:txBody>
      </p:sp>
      <p:sp>
        <p:nvSpPr>
          <p:cNvPr id="13" name="Shape 11"/>
          <p:cNvSpPr/>
          <p:nvPr/>
        </p:nvSpPr>
        <p:spPr>
          <a:xfrm>
            <a:off x="4846320" y="1283790"/>
            <a:ext cx="73152" cy="1572768"/>
          </a:xfrm>
          <a:prstGeom prst="rect">
            <a:avLst/>
          </a:prstGeom>
          <a:solidFill>
            <a:srgbClr val="8B0000"/>
          </a:solidFill>
          <a:ln/>
        </p:spPr>
        <p:txBody>
          <a:bodyPr/>
          <a:lstStyle/>
          <a:p>
            <a:endParaRPr lang="es-419" sz="1400">
              <a:latin typeface="Tw Cen MT" panose="020B0602020104020603" pitchFamily="34" charset="0"/>
            </a:endParaRPr>
          </a:p>
        </p:txBody>
      </p:sp>
      <p:sp>
        <p:nvSpPr>
          <p:cNvPr id="14" name="Shape 12"/>
          <p:cNvSpPr/>
          <p:nvPr/>
        </p:nvSpPr>
        <p:spPr>
          <a:xfrm>
            <a:off x="5029200" y="1420950"/>
            <a:ext cx="329184" cy="329184"/>
          </a:xfrm>
          <a:prstGeom prst="ellipse">
            <a:avLst/>
          </a:prstGeom>
          <a:solidFill>
            <a:srgbClr val="8B0000"/>
          </a:solidFill>
          <a:ln/>
        </p:spPr>
        <p:txBody>
          <a:bodyPr/>
          <a:lstStyle/>
          <a:p>
            <a:endParaRPr lang="es-419" sz="1400">
              <a:latin typeface="Tw Cen MT" panose="020B0602020104020603" pitchFamily="34" charset="0"/>
            </a:endParaRPr>
          </a:p>
        </p:txBody>
      </p:sp>
      <p:sp>
        <p:nvSpPr>
          <p:cNvPr id="15" name="Text 13"/>
          <p:cNvSpPr/>
          <p:nvPr/>
        </p:nvSpPr>
        <p:spPr>
          <a:xfrm>
            <a:off x="5029200" y="1420950"/>
            <a:ext cx="329184" cy="329184"/>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2</a:t>
            </a:r>
            <a:endParaRPr lang="en-US" sz="1400" dirty="0">
              <a:latin typeface="Tw Cen MT" panose="020B0602020104020603" pitchFamily="34" charset="0"/>
            </a:endParaRPr>
          </a:p>
        </p:txBody>
      </p:sp>
      <p:sp>
        <p:nvSpPr>
          <p:cNvPr id="16" name="Text 14"/>
          <p:cNvSpPr/>
          <p:nvPr/>
        </p:nvSpPr>
        <p:spPr>
          <a:xfrm>
            <a:off x="5468112" y="1393518"/>
            <a:ext cx="3264408" cy="457200"/>
          </a:xfrm>
          <a:prstGeom prst="rect">
            <a:avLst/>
          </a:prstGeom>
          <a:noFill/>
          <a:ln/>
        </p:spPr>
        <p:txBody>
          <a:bodyPr wrap="square" rtlCol="0" anchor="t"/>
          <a:lstStyle/>
          <a:p>
            <a:pPr marL="0" indent="0">
              <a:buNone/>
            </a:pPr>
            <a:r>
              <a:rPr lang="en-US" sz="1400" b="1" dirty="0">
                <a:solidFill>
                  <a:srgbClr val="8B0000"/>
                </a:solidFill>
                <a:latin typeface="Tw Cen MT" panose="020B0602020104020603" pitchFamily="34" charset="0"/>
                <a:ea typeface="Tw Cen MT" pitchFamily="34" charset="-122"/>
                <a:cs typeface="Tw Cen MT" pitchFamily="34" charset="-120"/>
              </a:rPr>
              <a:t>El capital humano general manda</a:t>
            </a:r>
            <a:endParaRPr lang="en-US" sz="1400" dirty="0">
              <a:latin typeface="Tw Cen MT" panose="020B0602020104020603" pitchFamily="34" charset="0"/>
            </a:endParaRPr>
          </a:p>
        </p:txBody>
      </p:sp>
      <p:sp>
        <p:nvSpPr>
          <p:cNvPr id="17" name="Text 15"/>
          <p:cNvSpPr/>
          <p:nvPr/>
        </p:nvSpPr>
        <p:spPr>
          <a:xfrm>
            <a:off x="5029200" y="1850718"/>
            <a:ext cx="3703320" cy="932688"/>
          </a:xfrm>
          <a:prstGeom prst="rect">
            <a:avLst/>
          </a:prstGeom>
          <a:noFill/>
          <a:ln/>
        </p:spPr>
        <p:txBody>
          <a:bodyPr wrap="square" rtlCol="0" anchor="t"/>
          <a:lstStyle/>
          <a:p>
            <a:pPr marL="0" indent="0">
              <a:lnSpc>
                <a:spcPct val="110000"/>
              </a:lnSpc>
              <a:buNone/>
            </a:pPr>
            <a:r>
              <a:rPr lang="en-US" sz="1400" dirty="0">
                <a:solidFill>
                  <a:srgbClr val="2B2B2B"/>
                </a:solidFill>
                <a:latin typeface="Tw Cen MT" panose="020B0602020104020603" pitchFamily="34" charset="0"/>
                <a:ea typeface="Tw Cen MT" pitchFamily="34" charset="-122"/>
                <a:cs typeface="Tw Cen MT" pitchFamily="34" charset="-120"/>
              </a:rPr>
              <a:t>Cuanto más portable es la habilidad del agente a otra firma, menor es el poder real de cualquier techo o recorte para retenerlo.</a:t>
            </a:r>
            <a:endParaRPr lang="en-US" sz="1400" dirty="0">
              <a:latin typeface="Tw Cen MT" panose="020B0602020104020603" pitchFamily="34" charset="0"/>
            </a:endParaRPr>
          </a:p>
        </p:txBody>
      </p:sp>
      <p:sp>
        <p:nvSpPr>
          <p:cNvPr id="18" name="Shape 16"/>
          <p:cNvSpPr/>
          <p:nvPr/>
        </p:nvSpPr>
        <p:spPr>
          <a:xfrm>
            <a:off x="502920" y="3002862"/>
            <a:ext cx="4069080" cy="1572768"/>
          </a:xfrm>
          <a:prstGeom prst="rect">
            <a:avLst/>
          </a:prstGeom>
          <a:solidFill>
            <a:srgbClr val="F4F4F6"/>
          </a:solidFill>
          <a:ln/>
        </p:spPr>
        <p:txBody>
          <a:bodyPr/>
          <a:lstStyle/>
          <a:p>
            <a:endParaRPr lang="es-419" sz="1400">
              <a:latin typeface="Tw Cen MT" panose="020B0602020104020603" pitchFamily="34" charset="0"/>
            </a:endParaRPr>
          </a:p>
        </p:txBody>
      </p:sp>
      <p:sp>
        <p:nvSpPr>
          <p:cNvPr id="19" name="Shape 17"/>
          <p:cNvSpPr/>
          <p:nvPr/>
        </p:nvSpPr>
        <p:spPr>
          <a:xfrm>
            <a:off x="502920" y="3002862"/>
            <a:ext cx="73152" cy="1572768"/>
          </a:xfrm>
          <a:prstGeom prst="rect">
            <a:avLst/>
          </a:prstGeom>
          <a:solidFill>
            <a:srgbClr val="1B4332"/>
          </a:solidFill>
          <a:ln/>
        </p:spPr>
        <p:txBody>
          <a:bodyPr/>
          <a:lstStyle/>
          <a:p>
            <a:endParaRPr lang="es-419" sz="1400">
              <a:latin typeface="Tw Cen MT" panose="020B0602020104020603" pitchFamily="34" charset="0"/>
            </a:endParaRPr>
          </a:p>
        </p:txBody>
      </p:sp>
      <p:sp>
        <p:nvSpPr>
          <p:cNvPr id="20" name="Shape 18"/>
          <p:cNvSpPr/>
          <p:nvPr/>
        </p:nvSpPr>
        <p:spPr>
          <a:xfrm>
            <a:off x="685800" y="3140022"/>
            <a:ext cx="329184" cy="329184"/>
          </a:xfrm>
          <a:prstGeom prst="ellipse">
            <a:avLst/>
          </a:prstGeom>
          <a:solidFill>
            <a:srgbClr val="1B4332"/>
          </a:solidFill>
          <a:ln/>
        </p:spPr>
        <p:txBody>
          <a:bodyPr/>
          <a:lstStyle/>
          <a:p>
            <a:endParaRPr lang="es-419" sz="1400">
              <a:latin typeface="Tw Cen MT" panose="020B0602020104020603" pitchFamily="34" charset="0"/>
            </a:endParaRPr>
          </a:p>
        </p:txBody>
      </p:sp>
      <p:sp>
        <p:nvSpPr>
          <p:cNvPr id="21" name="Text 19"/>
          <p:cNvSpPr/>
          <p:nvPr/>
        </p:nvSpPr>
        <p:spPr>
          <a:xfrm>
            <a:off x="685800" y="3140022"/>
            <a:ext cx="329184" cy="329184"/>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3</a:t>
            </a:r>
            <a:endParaRPr lang="en-US" sz="1400" dirty="0">
              <a:latin typeface="Tw Cen MT" panose="020B0602020104020603" pitchFamily="34" charset="0"/>
            </a:endParaRPr>
          </a:p>
        </p:txBody>
      </p:sp>
      <p:sp>
        <p:nvSpPr>
          <p:cNvPr id="22" name="Text 20"/>
          <p:cNvSpPr/>
          <p:nvPr/>
        </p:nvSpPr>
        <p:spPr>
          <a:xfrm>
            <a:off x="1124712" y="3112590"/>
            <a:ext cx="3264408" cy="457200"/>
          </a:xfrm>
          <a:prstGeom prst="rect">
            <a:avLst/>
          </a:prstGeom>
          <a:noFill/>
          <a:ln/>
        </p:spPr>
        <p:txBody>
          <a:bodyPr wrap="square" rtlCol="0" anchor="t"/>
          <a:lstStyle/>
          <a:p>
            <a:pPr marL="0" indent="0">
              <a:buNone/>
            </a:pPr>
            <a:r>
              <a:rPr lang="en-US" sz="1400" b="1" dirty="0">
                <a:solidFill>
                  <a:srgbClr val="1B4332"/>
                </a:solidFill>
                <a:latin typeface="Tw Cen MT" panose="020B0602020104020603" pitchFamily="34" charset="0"/>
                <a:ea typeface="Tw Cen MT" pitchFamily="34" charset="-122"/>
                <a:cs typeface="Tw Cen MT" pitchFamily="34" charset="-120"/>
              </a:rPr>
              <a:t>La forma importa tanto como el monto</a:t>
            </a:r>
            <a:endParaRPr lang="en-US" sz="1400" dirty="0">
              <a:latin typeface="Tw Cen MT" panose="020B0602020104020603" pitchFamily="34" charset="0"/>
            </a:endParaRPr>
          </a:p>
        </p:txBody>
      </p:sp>
      <p:sp>
        <p:nvSpPr>
          <p:cNvPr id="23" name="Text 21"/>
          <p:cNvSpPr/>
          <p:nvPr/>
        </p:nvSpPr>
        <p:spPr>
          <a:xfrm>
            <a:off x="685800" y="3569790"/>
            <a:ext cx="3703320" cy="932688"/>
          </a:xfrm>
          <a:prstGeom prst="rect">
            <a:avLst/>
          </a:prstGeom>
          <a:noFill/>
          <a:ln/>
        </p:spPr>
        <p:txBody>
          <a:bodyPr wrap="square" rtlCol="0" anchor="t"/>
          <a:lstStyle/>
          <a:p>
            <a:pPr marL="0" indent="0">
              <a:lnSpc>
                <a:spcPct val="110000"/>
              </a:lnSpc>
              <a:buNone/>
            </a:pPr>
            <a:r>
              <a:rPr lang="en-US" sz="1400" dirty="0">
                <a:solidFill>
                  <a:srgbClr val="2B2B2B"/>
                </a:solidFill>
                <a:latin typeface="Tw Cen MT" panose="020B0602020104020603" pitchFamily="34" charset="0"/>
                <a:ea typeface="Tw Cen MT" pitchFamily="34" charset="-122"/>
                <a:cs typeface="Tw Cen MT" pitchFamily="34" charset="-120"/>
              </a:rPr>
              <a:t>Un techo ex ante transparente (Rubin) y un recorte ex post discrecional (UBS) generan el mismo </a:t>
            </a:r>
            <a:r>
              <a:rPr lang="en-US" sz="1400" dirty="0" err="1">
                <a:solidFill>
                  <a:srgbClr val="2B2B2B"/>
                </a:solidFill>
                <a:latin typeface="Tw Cen MT" panose="020B0602020104020603" pitchFamily="34" charset="0"/>
                <a:ea typeface="Tw Cen MT" pitchFamily="34" charset="-122"/>
                <a:cs typeface="Tw Cen MT" pitchFamily="34" charset="-120"/>
              </a:rPr>
              <a:t>resultado</a:t>
            </a:r>
            <a:r>
              <a:rPr lang="en-US" sz="1400" dirty="0">
                <a:solidFill>
                  <a:srgbClr val="2B2B2B"/>
                </a:solidFill>
                <a:latin typeface="Tw Cen MT" panose="020B0602020104020603" pitchFamily="34" charset="0"/>
                <a:ea typeface="Tw Cen MT" pitchFamily="34" charset="-122"/>
                <a:cs typeface="Tw Cen MT" pitchFamily="34" charset="-120"/>
              </a:rPr>
              <a:t> </a:t>
            </a:r>
            <a:r>
              <a:rPr lang="en-US" sz="1400" dirty="0" err="1">
                <a:solidFill>
                  <a:srgbClr val="2B2B2B"/>
                </a:solidFill>
                <a:latin typeface="Tw Cen MT" panose="020B0602020104020603" pitchFamily="34" charset="0"/>
                <a:ea typeface="Tw Cen MT" pitchFamily="34" charset="-122"/>
                <a:cs typeface="Tw Cen MT" pitchFamily="34" charset="-120"/>
              </a:rPr>
              <a:t>conductual</a:t>
            </a:r>
            <a:r>
              <a:rPr lang="en-US" sz="1400" dirty="0">
                <a:solidFill>
                  <a:srgbClr val="2B2B2B"/>
                </a:solidFill>
                <a:latin typeface="Tw Cen MT" panose="020B0602020104020603" pitchFamily="34" charset="0"/>
                <a:ea typeface="Tw Cen MT" pitchFamily="34" charset="-122"/>
                <a:cs typeface="Tw Cen MT" pitchFamily="34" charset="-120"/>
              </a:rPr>
              <a:t>.</a:t>
            </a:r>
            <a:endParaRPr lang="en-US" sz="1400" dirty="0">
              <a:latin typeface="Tw Cen MT" panose="020B0602020104020603" pitchFamily="34" charset="0"/>
            </a:endParaRPr>
          </a:p>
        </p:txBody>
      </p:sp>
      <p:sp>
        <p:nvSpPr>
          <p:cNvPr id="24" name="Shape 22"/>
          <p:cNvSpPr/>
          <p:nvPr/>
        </p:nvSpPr>
        <p:spPr>
          <a:xfrm>
            <a:off x="4846320" y="3002862"/>
            <a:ext cx="4069080" cy="1572768"/>
          </a:xfrm>
          <a:prstGeom prst="rect">
            <a:avLst/>
          </a:prstGeom>
          <a:solidFill>
            <a:srgbClr val="F4F4F6"/>
          </a:solidFill>
          <a:ln/>
        </p:spPr>
        <p:txBody>
          <a:bodyPr/>
          <a:lstStyle/>
          <a:p>
            <a:endParaRPr lang="es-419" sz="1400">
              <a:latin typeface="Tw Cen MT" panose="020B0602020104020603" pitchFamily="34" charset="0"/>
            </a:endParaRPr>
          </a:p>
        </p:txBody>
      </p:sp>
      <p:sp>
        <p:nvSpPr>
          <p:cNvPr id="25" name="Shape 23"/>
          <p:cNvSpPr/>
          <p:nvPr/>
        </p:nvSpPr>
        <p:spPr>
          <a:xfrm>
            <a:off x="4846320" y="3002862"/>
            <a:ext cx="73152" cy="1572768"/>
          </a:xfrm>
          <a:prstGeom prst="rect">
            <a:avLst/>
          </a:prstGeom>
          <a:solidFill>
            <a:srgbClr val="3A4680"/>
          </a:solidFill>
          <a:ln/>
        </p:spPr>
        <p:txBody>
          <a:bodyPr/>
          <a:lstStyle/>
          <a:p>
            <a:endParaRPr lang="es-419" sz="1400">
              <a:latin typeface="Tw Cen MT" panose="020B0602020104020603" pitchFamily="34" charset="0"/>
            </a:endParaRPr>
          </a:p>
        </p:txBody>
      </p:sp>
      <p:sp>
        <p:nvSpPr>
          <p:cNvPr id="26" name="Shape 24"/>
          <p:cNvSpPr/>
          <p:nvPr/>
        </p:nvSpPr>
        <p:spPr>
          <a:xfrm>
            <a:off x="5029200" y="3140022"/>
            <a:ext cx="329184" cy="329184"/>
          </a:xfrm>
          <a:prstGeom prst="ellipse">
            <a:avLst/>
          </a:prstGeom>
          <a:solidFill>
            <a:srgbClr val="3A4680"/>
          </a:solidFill>
          <a:ln/>
        </p:spPr>
        <p:txBody>
          <a:bodyPr/>
          <a:lstStyle/>
          <a:p>
            <a:endParaRPr lang="es-419" sz="1400">
              <a:latin typeface="Tw Cen MT" panose="020B0602020104020603" pitchFamily="34" charset="0"/>
            </a:endParaRPr>
          </a:p>
        </p:txBody>
      </p:sp>
      <p:sp>
        <p:nvSpPr>
          <p:cNvPr id="27" name="Text 25"/>
          <p:cNvSpPr/>
          <p:nvPr/>
        </p:nvSpPr>
        <p:spPr>
          <a:xfrm>
            <a:off x="5029200" y="3140022"/>
            <a:ext cx="329184" cy="329184"/>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4</a:t>
            </a:r>
            <a:endParaRPr lang="en-US" sz="1400" dirty="0">
              <a:latin typeface="Tw Cen MT" panose="020B0602020104020603" pitchFamily="34" charset="0"/>
            </a:endParaRPr>
          </a:p>
        </p:txBody>
      </p:sp>
      <p:sp>
        <p:nvSpPr>
          <p:cNvPr id="28" name="Text 26"/>
          <p:cNvSpPr/>
          <p:nvPr/>
        </p:nvSpPr>
        <p:spPr>
          <a:xfrm>
            <a:off x="5468112" y="3112590"/>
            <a:ext cx="3264408" cy="457200"/>
          </a:xfrm>
          <a:prstGeom prst="rect">
            <a:avLst/>
          </a:prstGeom>
          <a:noFill/>
          <a:ln/>
        </p:spPr>
        <p:txBody>
          <a:bodyPr wrap="square" rtlCol="0" anchor="t"/>
          <a:lstStyle/>
          <a:p>
            <a:pPr marL="0" indent="0">
              <a:buNone/>
            </a:pPr>
            <a:r>
              <a:rPr lang="en-US" sz="1400" b="1" dirty="0">
                <a:solidFill>
                  <a:srgbClr val="3A4680"/>
                </a:solidFill>
                <a:latin typeface="Tw Cen MT" panose="020B0602020104020603" pitchFamily="34" charset="0"/>
                <a:ea typeface="Tw Cen MT" pitchFamily="34" charset="-122"/>
                <a:cs typeface="Tw Cen MT" pitchFamily="34" charset="-120"/>
              </a:rPr>
              <a:t>Todo diseño asigna el riesgo residual</a:t>
            </a:r>
            <a:endParaRPr lang="en-US" sz="1400" dirty="0">
              <a:latin typeface="Tw Cen MT" panose="020B0602020104020603" pitchFamily="34" charset="0"/>
            </a:endParaRPr>
          </a:p>
        </p:txBody>
      </p:sp>
      <p:sp>
        <p:nvSpPr>
          <p:cNvPr id="29" name="Text 27"/>
          <p:cNvSpPr/>
          <p:nvPr/>
        </p:nvSpPr>
        <p:spPr>
          <a:xfrm>
            <a:off x="5029200" y="3569790"/>
            <a:ext cx="3703320" cy="932688"/>
          </a:xfrm>
          <a:prstGeom prst="rect">
            <a:avLst/>
          </a:prstGeom>
          <a:noFill/>
          <a:ln/>
        </p:spPr>
        <p:txBody>
          <a:bodyPr wrap="square" rtlCol="0" anchor="t"/>
          <a:lstStyle/>
          <a:p>
            <a:pPr marL="0" indent="0">
              <a:lnSpc>
                <a:spcPct val="110000"/>
              </a:lnSpc>
              <a:buNone/>
            </a:pPr>
            <a:r>
              <a:rPr lang="en-US" sz="1400" dirty="0">
                <a:solidFill>
                  <a:srgbClr val="2B2B2B"/>
                </a:solidFill>
                <a:latin typeface="Tw Cen MT" panose="020B0602020104020603" pitchFamily="34" charset="0"/>
                <a:ea typeface="Tw Cen MT" pitchFamily="34" charset="-122"/>
                <a:cs typeface="Tw Cen MT" pitchFamily="34" charset="-120"/>
              </a:rPr>
              <a:t>No hay compensación "neutral": cada esquema decide si el riesgo de suerte/mercado lo absorbe la firma o el </a:t>
            </a:r>
            <a:r>
              <a:rPr lang="en-US" sz="1400" dirty="0" err="1">
                <a:solidFill>
                  <a:srgbClr val="2B2B2B"/>
                </a:solidFill>
                <a:latin typeface="Tw Cen MT" panose="020B0602020104020603" pitchFamily="34" charset="0"/>
                <a:ea typeface="Tw Cen MT" pitchFamily="34" charset="-122"/>
                <a:cs typeface="Tw Cen MT" pitchFamily="34" charset="-120"/>
              </a:rPr>
              <a:t>agente</a:t>
            </a:r>
            <a:r>
              <a:rPr lang="en-US" sz="1400" dirty="0">
                <a:solidFill>
                  <a:srgbClr val="2B2B2B"/>
                </a:solidFill>
                <a:latin typeface="Tw Cen MT" panose="020B0602020104020603" pitchFamily="34" charset="0"/>
                <a:ea typeface="Tw Cen MT" pitchFamily="34" charset="-122"/>
                <a:cs typeface="Tw Cen MT" pitchFamily="34" charset="-120"/>
              </a:rPr>
              <a:t>.</a:t>
            </a:r>
            <a:endParaRPr lang="en-US" sz="1400" dirty="0">
              <a:latin typeface="Tw Cen MT" panose="020B0602020104020603" pitchFamily="34" charset="0"/>
            </a:endParaRPr>
          </a:p>
        </p:txBody>
      </p:sp>
      <p:sp>
        <p:nvSpPr>
          <p:cNvPr id="30" name="Shape 28"/>
          <p:cNvSpPr/>
          <p:nvPr/>
        </p:nvSpPr>
        <p:spPr>
          <a:xfrm>
            <a:off x="502920" y="4721934"/>
            <a:ext cx="4069080" cy="1572768"/>
          </a:xfrm>
          <a:prstGeom prst="rect">
            <a:avLst/>
          </a:prstGeom>
          <a:solidFill>
            <a:srgbClr val="F4F4F6"/>
          </a:solidFill>
          <a:ln/>
        </p:spPr>
        <p:txBody>
          <a:bodyPr/>
          <a:lstStyle/>
          <a:p>
            <a:endParaRPr lang="es-419" sz="1400">
              <a:latin typeface="Tw Cen MT" panose="020B0602020104020603" pitchFamily="34" charset="0"/>
            </a:endParaRPr>
          </a:p>
        </p:txBody>
      </p:sp>
      <p:sp>
        <p:nvSpPr>
          <p:cNvPr id="31" name="Shape 29"/>
          <p:cNvSpPr/>
          <p:nvPr/>
        </p:nvSpPr>
        <p:spPr>
          <a:xfrm>
            <a:off x="502920" y="4721934"/>
            <a:ext cx="73152" cy="1572768"/>
          </a:xfrm>
          <a:prstGeom prst="rect">
            <a:avLst/>
          </a:prstGeom>
          <a:solidFill>
            <a:srgbClr val="8B0000"/>
          </a:solidFill>
          <a:ln/>
        </p:spPr>
        <p:txBody>
          <a:bodyPr/>
          <a:lstStyle/>
          <a:p>
            <a:endParaRPr lang="es-419" sz="1400">
              <a:latin typeface="Tw Cen MT" panose="020B0602020104020603" pitchFamily="34" charset="0"/>
            </a:endParaRPr>
          </a:p>
        </p:txBody>
      </p:sp>
      <p:sp>
        <p:nvSpPr>
          <p:cNvPr id="32" name="Shape 30"/>
          <p:cNvSpPr/>
          <p:nvPr/>
        </p:nvSpPr>
        <p:spPr>
          <a:xfrm>
            <a:off x="685800" y="4859094"/>
            <a:ext cx="329184" cy="329184"/>
          </a:xfrm>
          <a:prstGeom prst="ellipse">
            <a:avLst/>
          </a:prstGeom>
          <a:solidFill>
            <a:srgbClr val="8B0000"/>
          </a:solidFill>
          <a:ln/>
        </p:spPr>
        <p:txBody>
          <a:bodyPr/>
          <a:lstStyle/>
          <a:p>
            <a:endParaRPr lang="es-419" sz="1400">
              <a:latin typeface="Tw Cen MT" panose="020B0602020104020603" pitchFamily="34" charset="0"/>
            </a:endParaRPr>
          </a:p>
        </p:txBody>
      </p:sp>
      <p:sp>
        <p:nvSpPr>
          <p:cNvPr id="33" name="Text 31"/>
          <p:cNvSpPr/>
          <p:nvPr/>
        </p:nvSpPr>
        <p:spPr>
          <a:xfrm>
            <a:off x="685800" y="4859094"/>
            <a:ext cx="329184" cy="329184"/>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5</a:t>
            </a:r>
            <a:endParaRPr lang="en-US" sz="1400" dirty="0">
              <a:latin typeface="Tw Cen MT" panose="020B0602020104020603" pitchFamily="34" charset="0"/>
            </a:endParaRPr>
          </a:p>
        </p:txBody>
      </p:sp>
      <p:sp>
        <p:nvSpPr>
          <p:cNvPr id="34" name="Text 32"/>
          <p:cNvSpPr/>
          <p:nvPr/>
        </p:nvSpPr>
        <p:spPr>
          <a:xfrm>
            <a:off x="1124712" y="4831662"/>
            <a:ext cx="3264408" cy="457200"/>
          </a:xfrm>
          <a:prstGeom prst="rect">
            <a:avLst/>
          </a:prstGeom>
          <a:noFill/>
          <a:ln/>
        </p:spPr>
        <p:txBody>
          <a:bodyPr wrap="square" rtlCol="0" anchor="t"/>
          <a:lstStyle/>
          <a:p>
            <a:pPr marL="0" indent="0">
              <a:buNone/>
            </a:pPr>
            <a:r>
              <a:rPr lang="en-US" sz="1400" b="1" dirty="0">
                <a:solidFill>
                  <a:srgbClr val="8B0000"/>
                </a:solidFill>
                <a:latin typeface="Tw Cen MT" panose="020B0602020104020603" pitchFamily="34" charset="0"/>
                <a:ea typeface="Tw Cen MT" pitchFamily="34" charset="-122"/>
                <a:cs typeface="Tw Cen MT" pitchFamily="34" charset="-120"/>
              </a:rPr>
              <a:t>La fuga deja selección adversa</a:t>
            </a:r>
            <a:endParaRPr lang="en-US" sz="1400" dirty="0">
              <a:latin typeface="Tw Cen MT" panose="020B0602020104020603" pitchFamily="34" charset="0"/>
            </a:endParaRPr>
          </a:p>
        </p:txBody>
      </p:sp>
      <p:sp>
        <p:nvSpPr>
          <p:cNvPr id="35" name="Text 33"/>
          <p:cNvSpPr/>
          <p:nvPr/>
        </p:nvSpPr>
        <p:spPr>
          <a:xfrm>
            <a:off x="685800" y="5288862"/>
            <a:ext cx="3703320" cy="932688"/>
          </a:xfrm>
          <a:prstGeom prst="rect">
            <a:avLst/>
          </a:prstGeom>
          <a:noFill/>
          <a:ln/>
        </p:spPr>
        <p:txBody>
          <a:bodyPr wrap="square" rtlCol="0" anchor="t"/>
          <a:lstStyle/>
          <a:p>
            <a:pPr marL="0" indent="0">
              <a:lnSpc>
                <a:spcPct val="110000"/>
              </a:lnSpc>
              <a:buNone/>
            </a:pPr>
            <a:r>
              <a:rPr lang="en-US" sz="1400" dirty="0">
                <a:solidFill>
                  <a:srgbClr val="2B2B2B"/>
                </a:solidFill>
                <a:latin typeface="Tw Cen MT" panose="020B0602020104020603" pitchFamily="34" charset="0"/>
                <a:ea typeface="Tw Cen MT" pitchFamily="34" charset="-122"/>
                <a:cs typeface="Tw Cen MT" pitchFamily="34" charset="-120"/>
              </a:rPr>
              <a:t>Quienes se van son los de mayor opción de salida; quienes quedan no son necesariamente los mejores, sino los de menor demanda externa.</a:t>
            </a:r>
            <a:endParaRPr lang="en-US" sz="1400" dirty="0">
              <a:latin typeface="Tw Cen MT" panose="020B0602020104020603" pitchFamily="34" charset="0"/>
            </a:endParaRPr>
          </a:p>
        </p:txBody>
      </p:sp>
      <p:sp>
        <p:nvSpPr>
          <p:cNvPr id="36" name="Shape 34"/>
          <p:cNvSpPr/>
          <p:nvPr/>
        </p:nvSpPr>
        <p:spPr>
          <a:xfrm>
            <a:off x="4846320" y="4721934"/>
            <a:ext cx="4069080" cy="1572768"/>
          </a:xfrm>
          <a:prstGeom prst="rect">
            <a:avLst/>
          </a:prstGeom>
          <a:solidFill>
            <a:srgbClr val="F4F4F6"/>
          </a:solidFill>
          <a:ln/>
        </p:spPr>
        <p:txBody>
          <a:bodyPr/>
          <a:lstStyle/>
          <a:p>
            <a:endParaRPr lang="es-419" sz="1400">
              <a:latin typeface="Tw Cen MT" panose="020B0602020104020603" pitchFamily="34" charset="0"/>
            </a:endParaRPr>
          </a:p>
        </p:txBody>
      </p:sp>
      <p:sp>
        <p:nvSpPr>
          <p:cNvPr id="37" name="Shape 35"/>
          <p:cNvSpPr/>
          <p:nvPr/>
        </p:nvSpPr>
        <p:spPr>
          <a:xfrm>
            <a:off x="4846320" y="4721934"/>
            <a:ext cx="73152" cy="1572768"/>
          </a:xfrm>
          <a:prstGeom prst="rect">
            <a:avLst/>
          </a:prstGeom>
          <a:solidFill>
            <a:srgbClr val="1B4332"/>
          </a:solidFill>
          <a:ln/>
        </p:spPr>
        <p:txBody>
          <a:bodyPr/>
          <a:lstStyle/>
          <a:p>
            <a:endParaRPr lang="es-419" sz="1400">
              <a:latin typeface="Tw Cen MT" panose="020B0602020104020603" pitchFamily="34" charset="0"/>
            </a:endParaRPr>
          </a:p>
        </p:txBody>
      </p:sp>
      <p:sp>
        <p:nvSpPr>
          <p:cNvPr id="38" name="Shape 36"/>
          <p:cNvSpPr/>
          <p:nvPr/>
        </p:nvSpPr>
        <p:spPr>
          <a:xfrm>
            <a:off x="5029200" y="4859094"/>
            <a:ext cx="329184" cy="329184"/>
          </a:xfrm>
          <a:prstGeom prst="ellipse">
            <a:avLst/>
          </a:prstGeom>
          <a:solidFill>
            <a:srgbClr val="1B4332"/>
          </a:solidFill>
          <a:ln/>
        </p:spPr>
        <p:txBody>
          <a:bodyPr/>
          <a:lstStyle/>
          <a:p>
            <a:endParaRPr lang="es-419" sz="1400">
              <a:latin typeface="Tw Cen MT" panose="020B0602020104020603" pitchFamily="34" charset="0"/>
            </a:endParaRPr>
          </a:p>
        </p:txBody>
      </p:sp>
      <p:sp>
        <p:nvSpPr>
          <p:cNvPr id="39" name="Text 37"/>
          <p:cNvSpPr/>
          <p:nvPr/>
        </p:nvSpPr>
        <p:spPr>
          <a:xfrm>
            <a:off x="5029200" y="4859094"/>
            <a:ext cx="329184" cy="329184"/>
          </a:xfrm>
          <a:prstGeom prst="rect">
            <a:avLst/>
          </a:prstGeom>
          <a:noFill/>
          <a:ln/>
        </p:spPr>
        <p:txBody>
          <a:bodyPr wrap="square" rtlCol="0" anchor="ctr"/>
          <a:lstStyle/>
          <a:p>
            <a:pPr marL="0" indent="0" algn="ctr">
              <a:buNone/>
            </a:pPr>
            <a:r>
              <a:rPr lang="en-US" sz="1400" b="1" dirty="0">
                <a:solidFill>
                  <a:srgbClr val="FFFFFF"/>
                </a:solidFill>
                <a:latin typeface="Tw Cen MT" panose="020B0602020104020603" pitchFamily="34" charset="0"/>
                <a:ea typeface="Tw Cen MT" pitchFamily="34" charset="-122"/>
                <a:cs typeface="Tw Cen MT" pitchFamily="34" charset="-120"/>
              </a:rPr>
              <a:t>6</a:t>
            </a:r>
            <a:endParaRPr lang="en-US" sz="1400" dirty="0">
              <a:latin typeface="Tw Cen MT" panose="020B0602020104020603" pitchFamily="34" charset="0"/>
            </a:endParaRPr>
          </a:p>
        </p:txBody>
      </p:sp>
      <p:sp>
        <p:nvSpPr>
          <p:cNvPr id="40" name="Text 38"/>
          <p:cNvSpPr/>
          <p:nvPr/>
        </p:nvSpPr>
        <p:spPr>
          <a:xfrm>
            <a:off x="5468112" y="4831662"/>
            <a:ext cx="3264408" cy="457200"/>
          </a:xfrm>
          <a:prstGeom prst="rect">
            <a:avLst/>
          </a:prstGeom>
          <a:noFill/>
          <a:ln/>
        </p:spPr>
        <p:txBody>
          <a:bodyPr wrap="square" rtlCol="0" anchor="t"/>
          <a:lstStyle/>
          <a:p>
            <a:pPr marL="0" indent="0">
              <a:buNone/>
            </a:pPr>
            <a:r>
              <a:rPr lang="en-US" sz="1400" b="1" dirty="0">
                <a:solidFill>
                  <a:srgbClr val="1B4332"/>
                </a:solidFill>
                <a:latin typeface="Tw Cen MT" panose="020B0602020104020603" pitchFamily="34" charset="0"/>
                <a:ea typeface="Tw Cen MT" pitchFamily="34" charset="-122"/>
                <a:cs typeface="Tw Cen MT" pitchFamily="34" charset="-120"/>
              </a:rPr>
              <a:t>Los mecanismos intermedios atenúan, no resuelven</a:t>
            </a:r>
            <a:endParaRPr lang="en-US" sz="1400" dirty="0">
              <a:latin typeface="Tw Cen MT" panose="020B0602020104020603" pitchFamily="34" charset="0"/>
            </a:endParaRPr>
          </a:p>
        </p:txBody>
      </p:sp>
      <p:sp>
        <p:nvSpPr>
          <p:cNvPr id="41" name="Text 39"/>
          <p:cNvSpPr/>
          <p:nvPr/>
        </p:nvSpPr>
        <p:spPr>
          <a:xfrm>
            <a:off x="5029200" y="5288862"/>
            <a:ext cx="3703320" cy="932688"/>
          </a:xfrm>
          <a:prstGeom prst="rect">
            <a:avLst/>
          </a:prstGeom>
          <a:noFill/>
          <a:ln/>
        </p:spPr>
        <p:txBody>
          <a:bodyPr wrap="square" rtlCol="0" anchor="t"/>
          <a:lstStyle/>
          <a:p>
            <a:pPr>
              <a:lnSpc>
                <a:spcPct val="110000"/>
              </a:lnSpc>
            </a:pPr>
            <a:r>
              <a:rPr lang="en-US" sz="1400" dirty="0">
                <a:solidFill>
                  <a:srgbClr val="2B2B2B"/>
                </a:solidFill>
                <a:latin typeface="Tw Cen MT" panose="020B0602020104020603" pitchFamily="34" charset="0"/>
              </a:rPr>
              <a:t>L</a:t>
            </a:r>
            <a:r>
              <a:rPr lang="es-419" sz="1400" dirty="0">
                <a:latin typeface="Tw Cen MT" panose="020B0602020104020603" pitchFamily="34" charset="0"/>
              </a:rPr>
              <a:t>a firma puede postergar pagos, y/o reservarse el derecho de anularlo si el resultado que lo originó demuestra ser una apuesta de riesgo (no una ganancia genuina y sostenible}</a:t>
            </a:r>
            <a:r>
              <a:rPr lang="en-US" sz="1400" dirty="0">
                <a:solidFill>
                  <a:srgbClr val="2B2B2B"/>
                </a:solidFill>
                <a:latin typeface="Tw Cen MT" panose="020B0602020104020603" pitchFamily="34" charset="0"/>
                <a:ea typeface="Tw Cen MT" pitchFamily="34" charset="-122"/>
                <a:cs typeface="Tw Cen MT" pitchFamily="34" charset="-120"/>
              </a:rPr>
              <a:t>.</a:t>
            </a:r>
            <a:endParaRPr lang="en-US" sz="1400" dirty="0">
              <a:latin typeface="Tw Cen MT" panose="020B0602020104020603"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304800" y="287179"/>
            <a:ext cx="8534400" cy="492443"/>
          </a:xfrm>
          <a:prstGeom prst="rect">
            <a:avLst/>
          </a:prstGeom>
          <a:noFill/>
        </p:spPr>
        <p:txBody>
          <a:bodyPr wrap="square" anchor="ctr">
            <a:spAutoFit/>
          </a:bodyPr>
          <a:lstStyle/>
          <a:p>
            <a:pPr algn="l"/>
            <a:r>
              <a:rPr sz="2600" b="1" i="0">
                <a:solidFill>
                  <a:srgbClr val="FFFFFF"/>
                </a:solidFill>
                <a:latin typeface="Tw Cen MT" panose="020B0602020104020603" pitchFamily="34" charset="0"/>
              </a:rPr>
              <a:t>TALLER — Política de Compensaciones en el Estado</a:t>
            </a:r>
          </a:p>
        </p:txBody>
      </p:sp>
      <p:sp>
        <p:nvSpPr>
          <p:cNvPr id="5" name="TextBox 4"/>
          <p:cNvSpPr txBox="1"/>
          <p:nvPr/>
        </p:nvSpPr>
        <p:spPr>
          <a:xfrm>
            <a:off x="304800" y="1220000"/>
            <a:ext cx="8534400" cy="4411464"/>
          </a:xfrm>
          <a:prstGeom prst="rect">
            <a:avLst/>
          </a:prstGeom>
          <a:noFill/>
        </p:spPr>
        <p:txBody>
          <a:bodyPr wrap="square">
            <a:spAutoFit/>
          </a:bodyPr>
          <a:lstStyle/>
          <a:p>
            <a:pPr algn="l">
              <a:spcBef>
                <a:spcPts val="400"/>
              </a:spcBef>
              <a:buFont typeface="Tw Cen MT"/>
              <a:buChar char="■"/>
            </a:pPr>
            <a:endParaRPr lang="es-419" sz="2200" b="0" dirty="0">
              <a:solidFill>
                <a:srgbClr val="FFFFFF"/>
              </a:solidFill>
              <a:latin typeface="Tw Cen MT" panose="020B0602020104020603" pitchFamily="34" charset="0"/>
            </a:endParaRPr>
          </a:p>
          <a:p>
            <a:pPr algn="l">
              <a:spcBef>
                <a:spcPts val="400"/>
              </a:spcBef>
            </a:pPr>
            <a:r>
              <a:rPr sz="2200" b="0" dirty="0">
                <a:solidFill>
                  <a:srgbClr val="FFFFFF"/>
                </a:solidFill>
                <a:latin typeface="Tw Cen MT" panose="020B0602020104020603" pitchFamily="34" charset="0"/>
              </a:rPr>
              <a:t>"Soy Director de un </a:t>
            </a:r>
            <a:r>
              <a:rPr sz="2200" b="0" dirty="0" err="1">
                <a:solidFill>
                  <a:srgbClr val="FFFFFF"/>
                </a:solidFill>
                <a:latin typeface="Tw Cen MT" panose="020B0602020104020603" pitchFamily="34" charset="0"/>
              </a:rPr>
              <a:t>organismo</a:t>
            </a:r>
            <a:r>
              <a:rPr sz="2200" b="0" dirty="0">
                <a:solidFill>
                  <a:srgbClr val="FFFFFF"/>
                </a:solidFill>
                <a:latin typeface="Tw Cen MT" panose="020B0602020104020603" pitchFamily="34" charset="0"/>
              </a:rPr>
              <a:t> del Estado. No </a:t>
            </a:r>
            <a:r>
              <a:rPr sz="2200" b="0" dirty="0" err="1">
                <a:solidFill>
                  <a:srgbClr val="FFFFFF"/>
                </a:solidFill>
                <a:latin typeface="Tw Cen MT" panose="020B0602020104020603" pitchFamily="34" charset="0"/>
              </a:rPr>
              <a:t>controlo</a:t>
            </a:r>
            <a:r>
              <a:rPr sz="2200" b="0" dirty="0">
                <a:solidFill>
                  <a:srgbClr val="FFFFFF"/>
                </a:solidFill>
                <a:latin typeface="Tw Cen MT" panose="020B0602020104020603" pitchFamily="34" charset="0"/>
              </a:rPr>
              <a:t> la </a:t>
            </a:r>
            <a:r>
              <a:rPr sz="2200" b="0" dirty="0" err="1">
                <a:solidFill>
                  <a:srgbClr val="FFFFFF"/>
                </a:solidFill>
                <a:latin typeface="Tw Cen MT" panose="020B0602020104020603" pitchFamily="34" charset="0"/>
              </a:rPr>
              <a:t>política</a:t>
            </a:r>
            <a:r>
              <a:rPr sz="2200" b="0" dirty="0">
                <a:solidFill>
                  <a:srgbClr val="FFFFFF"/>
                </a:solidFill>
                <a:latin typeface="Tw Cen MT" panose="020B0602020104020603" pitchFamily="34" charset="0"/>
              </a:rPr>
              <a:t> de </a:t>
            </a:r>
            <a:r>
              <a:rPr sz="2200" b="0" dirty="0" err="1">
                <a:solidFill>
                  <a:srgbClr val="FFFFFF"/>
                </a:solidFill>
                <a:latin typeface="Tw Cen MT" panose="020B0602020104020603" pitchFamily="34" charset="0"/>
              </a:rPr>
              <a:t>compensaciones</a:t>
            </a:r>
            <a:r>
              <a:rPr sz="2200" b="0" dirty="0">
                <a:solidFill>
                  <a:srgbClr val="FFFFFF"/>
                </a:solidFill>
                <a:latin typeface="Tw Cen MT" panose="020B0602020104020603" pitchFamily="34" charset="0"/>
              </a:rPr>
              <a:t>. Todos </a:t>
            </a:r>
            <a:r>
              <a:rPr sz="2200" b="0" dirty="0" err="1">
                <a:solidFill>
                  <a:srgbClr val="FFFFFF"/>
                </a:solidFill>
                <a:latin typeface="Tw Cen MT" panose="020B0602020104020603" pitchFamily="34" charset="0"/>
              </a:rPr>
              <a:t>los</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trabajadores</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cobran</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el</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mismo</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salario</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básico</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más</a:t>
            </a:r>
            <a:r>
              <a:rPr sz="2200" b="0" dirty="0">
                <a:solidFill>
                  <a:srgbClr val="FFFFFF"/>
                </a:solidFill>
                <a:latin typeface="Tw Cen MT" panose="020B0602020104020603" pitchFamily="34" charset="0"/>
              </a:rPr>
              <a:t> un variable </a:t>
            </a:r>
            <a:r>
              <a:rPr sz="2200" b="0" dirty="0" err="1">
                <a:solidFill>
                  <a:srgbClr val="FFFFFF"/>
                </a:solidFill>
                <a:latin typeface="Tw Cen MT" panose="020B0602020104020603" pitchFamily="34" charset="0"/>
              </a:rPr>
              <a:t>en</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función</a:t>
            </a:r>
            <a:r>
              <a:rPr sz="2200" b="0" dirty="0">
                <a:solidFill>
                  <a:srgbClr val="FFFFFF"/>
                </a:solidFill>
                <a:latin typeface="Tw Cen MT" panose="020B0602020104020603" pitchFamily="34" charset="0"/>
              </a:rPr>
              <a:t> de la </a:t>
            </a:r>
            <a:r>
              <a:rPr sz="2200" b="0" dirty="0" err="1">
                <a:solidFill>
                  <a:srgbClr val="FFFFFF"/>
                </a:solidFill>
                <a:latin typeface="Tw Cen MT" panose="020B0602020104020603" pitchFamily="34" charset="0"/>
              </a:rPr>
              <a:t>antigüedad</a:t>
            </a:r>
            <a:r>
              <a:rPr sz="2200" b="0" dirty="0">
                <a:solidFill>
                  <a:srgbClr val="FFFFFF"/>
                </a:solidFill>
                <a:latin typeface="Tw Cen MT" panose="020B0602020104020603" pitchFamily="34" charset="0"/>
              </a:rPr>
              <a:t>; no hay </a:t>
            </a:r>
            <a:r>
              <a:rPr sz="2200" b="0" dirty="0" err="1">
                <a:solidFill>
                  <a:srgbClr val="FFFFFF"/>
                </a:solidFill>
                <a:latin typeface="Tw Cen MT" panose="020B0602020104020603" pitchFamily="34" charset="0"/>
              </a:rPr>
              <a:t>bonos</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ni</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premios</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por</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desempeño</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Además</a:t>
            </a:r>
            <a:r>
              <a:rPr sz="2200" b="0" dirty="0">
                <a:solidFill>
                  <a:srgbClr val="FFFFFF"/>
                </a:solidFill>
                <a:latin typeface="Tw Cen MT" panose="020B0602020104020603" pitchFamily="34" charset="0"/>
              </a:rPr>
              <a:t>, es </a:t>
            </a:r>
            <a:r>
              <a:rPr sz="2200" b="0" dirty="0" err="1">
                <a:solidFill>
                  <a:srgbClr val="FFFFFF"/>
                </a:solidFill>
                <a:latin typeface="Tw Cen MT" panose="020B0602020104020603" pitchFamily="34" charset="0"/>
              </a:rPr>
              <a:t>muy</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difícil</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despedir</a:t>
            </a:r>
            <a:r>
              <a:rPr sz="2200" b="0" dirty="0">
                <a:solidFill>
                  <a:srgbClr val="FFFFFF"/>
                </a:solidFill>
                <a:latin typeface="Tw Cen MT" panose="020B0602020104020603" pitchFamily="34" charset="0"/>
              </a:rPr>
              <a:t> personal. Por </a:t>
            </a:r>
            <a:r>
              <a:rPr sz="2200" b="0" dirty="0" err="1">
                <a:solidFill>
                  <a:srgbClr val="FFFFFF"/>
                </a:solidFill>
                <a:latin typeface="Tw Cen MT" panose="020B0602020104020603" pitchFamily="34" charset="0"/>
              </a:rPr>
              <a:t>eso</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comprender</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los</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principios</a:t>
            </a:r>
            <a:r>
              <a:rPr sz="2200" b="0" dirty="0">
                <a:solidFill>
                  <a:srgbClr val="FFFFFF"/>
                </a:solidFill>
                <a:latin typeface="Tw Cen MT" panose="020B0602020104020603" pitchFamily="34" charset="0"/>
              </a:rPr>
              <a:t> de la AO no me </a:t>
            </a:r>
            <a:r>
              <a:rPr sz="2200" b="0" dirty="0" err="1">
                <a:solidFill>
                  <a:srgbClr val="FFFFFF"/>
                </a:solidFill>
                <a:latin typeface="Tw Cen MT" panose="020B0602020104020603" pitchFamily="34" charset="0"/>
              </a:rPr>
              <a:t>sirve</a:t>
            </a:r>
            <a:r>
              <a:rPr sz="2200" b="0" dirty="0">
                <a:solidFill>
                  <a:srgbClr val="FFFFFF"/>
                </a:solidFill>
                <a:latin typeface="Tw Cen MT" panose="020B0602020104020603" pitchFamily="34" charset="0"/>
              </a:rPr>
              <a:t> para </a:t>
            </a:r>
            <a:r>
              <a:rPr sz="2200" b="0" dirty="0" err="1">
                <a:solidFill>
                  <a:srgbClr val="FFFFFF"/>
                </a:solidFill>
                <a:latin typeface="Tw Cen MT" panose="020B0602020104020603" pitchFamily="34" charset="0"/>
              </a:rPr>
              <a:t>mejorar</a:t>
            </a:r>
            <a:r>
              <a:rPr sz="2200" b="0" dirty="0">
                <a:solidFill>
                  <a:srgbClr val="FFFFFF"/>
                </a:solidFill>
                <a:latin typeface="Tw Cen MT" panose="020B0602020104020603" pitchFamily="34" charset="0"/>
              </a:rPr>
              <a:t> la performance de mi </a:t>
            </a:r>
            <a:r>
              <a:rPr sz="2200" b="0" dirty="0" err="1">
                <a:solidFill>
                  <a:srgbClr val="FFFFFF"/>
                </a:solidFill>
                <a:latin typeface="Tw Cen MT" panose="020B0602020104020603" pitchFamily="34" charset="0"/>
              </a:rPr>
              <a:t>Dirección</a:t>
            </a:r>
            <a:r>
              <a:rPr sz="2200" b="0" dirty="0">
                <a:solidFill>
                  <a:srgbClr val="FFFFFF"/>
                </a:solidFill>
                <a:latin typeface="Tw Cen MT" panose="020B0602020104020603" pitchFamily="34" charset="0"/>
              </a:rPr>
              <a:t>."</a:t>
            </a:r>
          </a:p>
          <a:p>
            <a:pPr algn="l">
              <a:spcBef>
                <a:spcPts val="400"/>
              </a:spcBef>
              <a:buNone/>
            </a:pPr>
            <a:endParaRPr lang="es-419" sz="2200" b="1" dirty="0">
              <a:solidFill>
                <a:srgbClr val="52B788"/>
              </a:solidFill>
              <a:latin typeface="Tw Cen MT" panose="020B0602020104020603" pitchFamily="34" charset="0"/>
            </a:endParaRPr>
          </a:p>
          <a:p>
            <a:pPr algn="l">
              <a:spcBef>
                <a:spcPts val="400"/>
              </a:spcBef>
              <a:buNone/>
            </a:pPr>
            <a:r>
              <a:rPr sz="2200" b="1" dirty="0">
                <a:solidFill>
                  <a:srgbClr val="52B788"/>
                </a:solidFill>
                <a:latin typeface="Tw Cen MT" panose="020B0602020104020603" pitchFamily="34" charset="0"/>
              </a:rPr>
              <a:t>CONSIGNA</a:t>
            </a:r>
          </a:p>
          <a:p>
            <a:pPr algn="l">
              <a:spcBef>
                <a:spcPts val="400"/>
              </a:spcBef>
            </a:pPr>
            <a:r>
              <a:rPr sz="2200" b="1" dirty="0" err="1">
                <a:solidFill>
                  <a:srgbClr val="FFFFFF"/>
                </a:solidFill>
                <a:latin typeface="Tw Cen MT" panose="020B0602020104020603" pitchFamily="34" charset="0"/>
              </a:rPr>
              <a:t>Evalúen</a:t>
            </a:r>
            <a:r>
              <a:rPr sz="2200" b="1" dirty="0">
                <a:solidFill>
                  <a:srgbClr val="FFFFFF"/>
                </a:solidFill>
                <a:latin typeface="Tw Cen MT" panose="020B0602020104020603" pitchFamily="34" charset="0"/>
              </a:rPr>
              <a:t> </a:t>
            </a:r>
            <a:r>
              <a:rPr sz="2200" b="1" dirty="0" err="1">
                <a:solidFill>
                  <a:srgbClr val="FFFFFF"/>
                </a:solidFill>
                <a:latin typeface="Tw Cen MT" panose="020B0602020104020603" pitchFamily="34" charset="0"/>
              </a:rPr>
              <a:t>críticamente</a:t>
            </a:r>
            <a:r>
              <a:rPr sz="2200" b="1" dirty="0">
                <a:solidFill>
                  <a:srgbClr val="FFFFFF"/>
                </a:solidFill>
                <a:latin typeface="Tw Cen MT" panose="020B0602020104020603" pitchFamily="34" charset="0"/>
              </a:rPr>
              <a:t> </a:t>
            </a:r>
            <a:r>
              <a:rPr sz="2200" b="1" dirty="0" err="1">
                <a:solidFill>
                  <a:srgbClr val="FFFFFF"/>
                </a:solidFill>
                <a:latin typeface="Tw Cen MT" panose="020B0602020104020603" pitchFamily="34" charset="0"/>
              </a:rPr>
              <a:t>esta</a:t>
            </a:r>
            <a:r>
              <a:rPr sz="2200" b="1" dirty="0">
                <a:solidFill>
                  <a:srgbClr val="FFFFFF"/>
                </a:solidFill>
                <a:latin typeface="Tw Cen MT" panose="020B0602020104020603" pitchFamily="34" charset="0"/>
              </a:rPr>
              <a:t> </a:t>
            </a:r>
            <a:r>
              <a:rPr sz="2200" b="1" dirty="0" err="1">
                <a:solidFill>
                  <a:srgbClr val="FFFFFF"/>
                </a:solidFill>
                <a:latin typeface="Tw Cen MT" panose="020B0602020104020603" pitchFamily="34" charset="0"/>
              </a:rPr>
              <a:t>afirmación</a:t>
            </a:r>
            <a:r>
              <a:rPr sz="2200" b="1" dirty="0">
                <a:solidFill>
                  <a:srgbClr val="FFFFFF"/>
                </a:solidFill>
                <a:latin typeface="Tw Cen MT" panose="020B0602020104020603" pitchFamily="34" charset="0"/>
              </a:rPr>
              <a:t>.</a:t>
            </a:r>
          </a:p>
          <a:p>
            <a:pPr algn="l">
              <a:spcBef>
                <a:spcPts val="400"/>
              </a:spcBef>
            </a:pPr>
            <a:r>
              <a:rPr sz="2200" b="0" dirty="0">
                <a:solidFill>
                  <a:srgbClr val="FFFFFF"/>
                </a:solidFill>
                <a:latin typeface="Tw Cen MT" panose="020B0602020104020603" pitchFamily="34" charset="0"/>
              </a:rPr>
              <a:t>¿</a:t>
            </a:r>
            <a:r>
              <a:rPr sz="2200" b="0" dirty="0" err="1">
                <a:solidFill>
                  <a:srgbClr val="FFFFFF"/>
                </a:solidFill>
                <a:latin typeface="Tw Cen MT" panose="020B0602020104020603" pitchFamily="34" charset="0"/>
              </a:rPr>
              <a:t>Existen</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herramientas</a:t>
            </a:r>
            <a:r>
              <a:rPr sz="2200" b="0" dirty="0">
                <a:solidFill>
                  <a:srgbClr val="FFFFFF"/>
                </a:solidFill>
                <a:latin typeface="Tw Cen MT" panose="020B0602020104020603" pitchFamily="34" charset="0"/>
              </a:rPr>
              <a:t> de la AO </a:t>
            </a:r>
            <a:r>
              <a:rPr sz="2200" b="0" dirty="0" err="1">
                <a:solidFill>
                  <a:srgbClr val="FFFFFF"/>
                </a:solidFill>
                <a:latin typeface="Tw Cen MT" panose="020B0602020104020603" pitchFamily="34" charset="0"/>
              </a:rPr>
              <a:t>aplicables</a:t>
            </a:r>
            <a:r>
              <a:rPr sz="2200" b="0" dirty="0">
                <a:solidFill>
                  <a:srgbClr val="FFFFFF"/>
                </a:solidFill>
                <a:latin typeface="Tw Cen MT" panose="020B0602020104020603" pitchFamily="34" charset="0"/>
              </a:rPr>
              <a:t> </a:t>
            </a:r>
            <a:r>
              <a:rPr sz="2200" b="0" dirty="0" err="1">
                <a:solidFill>
                  <a:srgbClr val="FFFFFF"/>
                </a:solidFill>
                <a:latin typeface="Tw Cen MT" panose="020B0602020104020603" pitchFamily="34" charset="0"/>
              </a:rPr>
              <a:t>incluso</a:t>
            </a:r>
            <a:r>
              <a:rPr sz="2200" b="0" dirty="0">
                <a:solidFill>
                  <a:srgbClr val="FFFFFF"/>
                </a:solidFill>
                <a:latin typeface="Tw Cen MT" panose="020B0602020104020603" pitchFamily="34" charset="0"/>
              </a:rPr>
              <a:t> sin control </a:t>
            </a:r>
            <a:r>
              <a:rPr sz="2200" b="0" dirty="0" err="1">
                <a:solidFill>
                  <a:srgbClr val="FFFFFF"/>
                </a:solidFill>
                <a:latin typeface="Tw Cen MT" panose="020B0602020104020603" pitchFamily="34" charset="0"/>
              </a:rPr>
              <a:t>sobre</a:t>
            </a:r>
            <a:r>
              <a:rPr sz="2200" b="0" dirty="0">
                <a:solidFill>
                  <a:srgbClr val="FFFFFF"/>
                </a:solidFill>
                <a:latin typeface="Tw Cen MT" panose="020B0602020104020603" pitchFamily="34" charset="0"/>
              </a:rPr>
              <a:t> la </a:t>
            </a:r>
            <a:r>
              <a:rPr sz="2200" b="0" dirty="0" err="1">
                <a:solidFill>
                  <a:srgbClr val="FFFFFF"/>
                </a:solidFill>
                <a:latin typeface="Tw Cen MT" panose="020B0602020104020603" pitchFamily="34" charset="0"/>
              </a:rPr>
              <a:t>política</a:t>
            </a:r>
            <a:r>
              <a:rPr sz="2200" b="0" dirty="0">
                <a:solidFill>
                  <a:srgbClr val="FFFFFF"/>
                </a:solidFill>
                <a:latin typeface="Tw Cen MT" panose="020B0602020104020603" pitchFamily="34" charset="0"/>
              </a:rPr>
              <a:t> de </a:t>
            </a:r>
            <a:r>
              <a:rPr sz="2200" b="0" dirty="0" err="1">
                <a:solidFill>
                  <a:srgbClr val="FFFFFF"/>
                </a:solidFill>
                <a:latin typeface="Tw Cen MT" panose="020B0602020104020603" pitchFamily="34" charset="0"/>
              </a:rPr>
              <a:t>compensaciones</a:t>
            </a:r>
            <a:r>
              <a:rPr sz="2200" b="0" dirty="0">
                <a:solidFill>
                  <a:srgbClr val="FFFFFF"/>
                </a:solidFill>
                <a:latin typeface="Tw Cen MT" panose="020B0602020104020603" pitchFamily="34"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304800" y="287179"/>
            <a:ext cx="8534400" cy="492443"/>
          </a:xfrm>
          <a:prstGeom prst="rect">
            <a:avLst/>
          </a:prstGeom>
          <a:noFill/>
        </p:spPr>
        <p:txBody>
          <a:bodyPr wrap="square" anchor="ctr">
            <a:spAutoFit/>
          </a:bodyPr>
          <a:lstStyle/>
          <a:p>
            <a:pPr algn="l"/>
            <a:r>
              <a:rPr sz="2600" b="1" i="0">
                <a:solidFill>
                  <a:srgbClr val="FFFFFF"/>
                </a:solidFill>
                <a:latin typeface="Tw Cen MT" panose="020B0602020104020603" pitchFamily="34" charset="0"/>
              </a:rPr>
              <a:t>Objetivos de la Política Compensatoria</a:t>
            </a:r>
          </a:p>
        </p:txBody>
      </p:sp>
      <p:sp>
        <p:nvSpPr>
          <p:cNvPr id="5" name="TextBox 4"/>
          <p:cNvSpPr txBox="1"/>
          <p:nvPr/>
        </p:nvSpPr>
        <p:spPr>
          <a:xfrm>
            <a:off x="304800" y="2336458"/>
            <a:ext cx="8534400" cy="3498394"/>
          </a:xfrm>
          <a:prstGeom prst="rect">
            <a:avLst/>
          </a:prstGeom>
          <a:noFill/>
        </p:spPr>
        <p:txBody>
          <a:bodyPr wrap="square">
            <a:spAutoFit/>
          </a:bodyPr>
          <a:lstStyle/>
          <a:p>
            <a:pPr algn="l">
              <a:spcBef>
                <a:spcPts val="400"/>
              </a:spcBef>
            </a:pPr>
            <a:r>
              <a:rPr sz="2200" b="0" dirty="0">
                <a:solidFill>
                  <a:srgbClr val="222222"/>
                </a:solidFill>
                <a:latin typeface="Tw Cen MT" panose="020B0602020104020603" pitchFamily="34" charset="0"/>
              </a:rPr>
              <a:t>La </a:t>
            </a:r>
            <a:r>
              <a:rPr sz="2200" b="0" dirty="0" err="1">
                <a:solidFill>
                  <a:srgbClr val="222222"/>
                </a:solidFill>
                <a:latin typeface="Tw Cen MT" panose="020B0602020104020603" pitchFamily="34" charset="0"/>
              </a:rPr>
              <a:t>política</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compensatoria</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tiene</a:t>
            </a:r>
            <a:r>
              <a:rPr sz="2200" b="0" dirty="0">
                <a:solidFill>
                  <a:srgbClr val="222222"/>
                </a:solidFill>
                <a:latin typeface="Tw Cen MT" panose="020B0602020104020603" pitchFamily="34" charset="0"/>
              </a:rPr>
              <a:t> dos </a:t>
            </a:r>
            <a:r>
              <a:rPr sz="2200" b="0" dirty="0" err="1">
                <a:solidFill>
                  <a:srgbClr val="222222"/>
                </a:solidFill>
                <a:latin typeface="Tw Cen MT" panose="020B0602020104020603" pitchFamily="34" charset="0"/>
              </a:rPr>
              <a:t>objetivos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básicos</a:t>
            </a:r>
            <a:r>
              <a:rPr sz="2200" b="0" dirty="0">
                <a:solidFill>
                  <a:srgbClr val="222222"/>
                </a:solidFill>
                <a:latin typeface="Tw Cen MT" panose="020B0602020104020603" pitchFamily="34" charset="0"/>
              </a:rPr>
              <a:t>:</a:t>
            </a:r>
            <a:endParaRPr lang="es-419" sz="2200" dirty="0">
              <a:solidFill>
                <a:srgbClr val="222222"/>
              </a:solidFill>
              <a:latin typeface="Tw Cen MT" panose="020B0602020104020603" pitchFamily="34" charset="0"/>
            </a:endParaRPr>
          </a:p>
          <a:p>
            <a:pPr algn="l">
              <a:spcBef>
                <a:spcPts val="400"/>
              </a:spcBef>
            </a:pPr>
            <a:endParaRPr sz="2200" b="0" dirty="0">
              <a:solidFill>
                <a:srgbClr val="222222"/>
              </a:solidFill>
              <a:latin typeface="Tw Cen MT" panose="020B0602020104020603" pitchFamily="34" charset="0"/>
            </a:endParaRPr>
          </a:p>
          <a:p>
            <a:pPr algn="ctr">
              <a:spcBef>
                <a:spcPts val="400"/>
              </a:spcBef>
            </a:pPr>
            <a:r>
              <a:rPr sz="2200" b="1" dirty="0">
                <a:solidFill>
                  <a:srgbClr val="222222"/>
                </a:solidFill>
                <a:latin typeface="Tw Cen MT" panose="020B0602020104020603" pitchFamily="34" charset="0"/>
              </a:rPr>
              <a:t>1. ATRAER Y RETENER a </a:t>
            </a:r>
            <a:r>
              <a:rPr sz="2200" b="1" dirty="0" err="1">
                <a:solidFill>
                  <a:srgbClr val="222222"/>
                </a:solidFill>
                <a:latin typeface="Tw Cen MT" panose="020B0602020104020603" pitchFamily="34" charset="0"/>
              </a:rPr>
              <a:t>empleados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calificados</a:t>
            </a:r>
            <a:r>
              <a:rPr sz="2200" b="1" dirty="0">
                <a:solidFill>
                  <a:srgbClr val="222222"/>
                </a:solidFill>
                <a:latin typeface="Tw Cen MT" panose="020B0602020104020603" pitchFamily="34" charset="0"/>
              </a:rPr>
              <a:t>.</a:t>
            </a:r>
          </a:p>
          <a:p>
            <a:pPr algn="ctr">
              <a:spcBef>
                <a:spcPts val="400"/>
              </a:spcBef>
            </a:pPr>
            <a:r>
              <a:rPr sz="2200" b="1" dirty="0">
                <a:solidFill>
                  <a:srgbClr val="222222"/>
                </a:solidFill>
                <a:latin typeface="Tw Cen MT" panose="020B0602020104020603" pitchFamily="34" charset="0"/>
              </a:rPr>
              <a:t>2. MOTIVAR a </a:t>
            </a:r>
            <a:r>
              <a:rPr sz="2200" b="1" dirty="0" err="1">
                <a:solidFill>
                  <a:srgbClr val="222222"/>
                </a:solidFill>
                <a:latin typeface="Tw Cen MT" panose="020B0602020104020603" pitchFamily="34" charset="0"/>
              </a:rPr>
              <a:t>esos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empleados</a:t>
            </a:r>
            <a:r>
              <a:rPr sz="2200" b="1" dirty="0">
                <a:solidFill>
                  <a:srgbClr val="222222"/>
                </a:solidFill>
                <a:latin typeface="Tw Cen MT" panose="020B0602020104020603" pitchFamily="34" charset="0"/>
              </a:rPr>
              <a:t> a ser </a:t>
            </a:r>
            <a:r>
              <a:rPr sz="2200" b="1" dirty="0" err="1">
                <a:solidFill>
                  <a:srgbClr val="222222"/>
                </a:solidFill>
                <a:latin typeface="Tw Cen MT" panose="020B0602020104020603" pitchFamily="34" charset="0"/>
              </a:rPr>
              <a:t>más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productivos</a:t>
            </a:r>
            <a:r>
              <a:rPr sz="2200" b="1" dirty="0">
                <a:solidFill>
                  <a:srgbClr val="222222"/>
                </a:solidFill>
                <a:latin typeface="Tw Cen MT" panose="020B0602020104020603" pitchFamily="34" charset="0"/>
              </a:rPr>
              <a:t>.</a:t>
            </a:r>
            <a:endParaRPr lang="es-419" sz="2200" b="1" dirty="0">
              <a:solidFill>
                <a:srgbClr val="222222"/>
              </a:solidFill>
              <a:latin typeface="Tw Cen MT" panose="020B0602020104020603" pitchFamily="34" charset="0"/>
            </a:endParaRPr>
          </a:p>
          <a:p>
            <a:pPr algn="l">
              <a:spcBef>
                <a:spcPts val="400"/>
              </a:spcBef>
            </a:pPr>
            <a:endParaRPr lang="es-419" sz="2200" b="1" dirty="0">
              <a:solidFill>
                <a:srgbClr val="222222"/>
              </a:solidFill>
              <a:latin typeface="Tw Cen MT" panose="020B0602020104020603" pitchFamily="34" charset="0"/>
            </a:endParaRPr>
          </a:p>
          <a:p>
            <a:pPr marL="342900" indent="-342900" algn="l">
              <a:spcBef>
                <a:spcPts val="400"/>
              </a:spcBef>
              <a:buFont typeface="Arial" panose="020B0604020202020204" pitchFamily="34" charset="0"/>
              <a:buChar char="•"/>
            </a:pPr>
            <a:r>
              <a:rPr sz="2200" b="0" dirty="0">
                <a:solidFill>
                  <a:srgbClr val="222222"/>
                </a:solidFill>
                <a:latin typeface="Tw Cen MT" panose="020B0602020104020603" pitchFamily="34" charset="0"/>
              </a:rPr>
              <a:t>Los dos </a:t>
            </a:r>
            <a:r>
              <a:rPr sz="2200" b="0" dirty="0" err="1">
                <a:solidFill>
                  <a:srgbClr val="222222"/>
                </a:solidFill>
                <a:latin typeface="Tw Cen MT" panose="020B0602020104020603" pitchFamily="34" charset="0"/>
              </a:rPr>
              <a:t>objetivos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están</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interrelacionados</a:t>
            </a:r>
            <a:r>
              <a:rPr sz="2200" b="0" dirty="0">
                <a:solidFill>
                  <a:srgbClr val="222222"/>
                </a:solidFill>
                <a:latin typeface="Tw Cen MT" panose="020B0602020104020603" pitchFamily="34" charset="0"/>
              </a:rPr>
              <a:t>.</a:t>
            </a:r>
          </a:p>
          <a:p>
            <a:pPr marL="342900" indent="-342900" algn="l">
              <a:spcBef>
                <a:spcPts val="400"/>
              </a:spcBef>
              <a:buFont typeface="Arial" panose="020B0604020202020204" pitchFamily="34" charset="0"/>
              <a:buChar char="•"/>
            </a:pPr>
            <a:r>
              <a:rPr sz="2200" b="0" dirty="0">
                <a:solidFill>
                  <a:srgbClr val="222222"/>
                </a:solidFill>
                <a:latin typeface="Tw Cen MT" panose="020B0602020104020603" pitchFamily="34" charset="0"/>
              </a:rPr>
              <a:t>El </a:t>
            </a:r>
            <a:r>
              <a:rPr sz="2200" b="0" dirty="0" err="1">
                <a:solidFill>
                  <a:srgbClr val="222222"/>
                </a:solidFill>
                <a:latin typeface="Tw Cen MT" panose="020B0602020104020603" pitchFamily="34" charset="0"/>
              </a:rPr>
              <a:t>nivel</a:t>
            </a:r>
            <a:r>
              <a:rPr sz="2200" b="0" dirty="0">
                <a:solidFill>
                  <a:srgbClr val="222222"/>
                </a:solidFill>
                <a:latin typeface="Tw Cen MT" panose="020B0602020104020603" pitchFamily="34" charset="0"/>
              </a:rPr>
              <a:t> </a:t>
            </a:r>
            <a:r>
              <a:rPr lang="es-419" sz="2200" b="0" dirty="0">
                <a:solidFill>
                  <a:srgbClr val="222222"/>
                </a:solidFill>
                <a:latin typeface="Tw Cen MT" panose="020B0602020104020603" pitchFamily="34" charset="0"/>
              </a:rPr>
              <a:t>de la compensación </a:t>
            </a:r>
            <a:r>
              <a:rPr sz="2200" b="0" dirty="0" err="1">
                <a:solidFill>
                  <a:srgbClr val="222222"/>
                </a:solidFill>
                <a:latin typeface="Tw Cen MT" panose="020B0602020104020603" pitchFamily="34" charset="0"/>
              </a:rPr>
              <a:t>puede</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atraer</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retener</a:t>
            </a:r>
            <a:r>
              <a:rPr sz="2200" b="0" dirty="0">
                <a:solidFill>
                  <a:srgbClr val="222222"/>
                </a:solidFill>
                <a:latin typeface="Tw Cen MT" panose="020B0602020104020603" pitchFamily="34" charset="0"/>
              </a:rPr>
              <a:t> e </a:t>
            </a:r>
            <a:r>
              <a:rPr sz="2200" b="0" dirty="0" err="1">
                <a:solidFill>
                  <a:srgbClr val="222222"/>
                </a:solidFill>
                <a:latin typeface="Tw Cen MT" panose="020B0602020104020603" pitchFamily="34" charset="0"/>
              </a:rPr>
              <a:t>incentivar</a:t>
            </a:r>
            <a:r>
              <a:rPr sz="2200" b="0" dirty="0">
                <a:solidFill>
                  <a:srgbClr val="222222"/>
                </a:solidFill>
                <a:latin typeface="Tw Cen MT" panose="020B0602020104020603" pitchFamily="34" charset="0"/>
              </a:rPr>
              <a:t> a </a:t>
            </a:r>
            <a:r>
              <a:rPr sz="2200" b="0" dirty="0" err="1">
                <a:solidFill>
                  <a:srgbClr val="222222"/>
                </a:solidFill>
                <a:latin typeface="Tw Cen MT" panose="020B0602020104020603" pitchFamily="34" charset="0"/>
              </a:rPr>
              <a:t>los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empleados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simultáneamente</a:t>
            </a:r>
            <a:r>
              <a:rPr sz="2200" b="0" dirty="0">
                <a:solidFill>
                  <a:srgbClr val="222222"/>
                </a:solidFill>
                <a:latin typeface="Tw Cen MT" panose="020B0602020104020603" pitchFamily="34" charset="0"/>
              </a:rPr>
              <a:t>.</a:t>
            </a:r>
            <a:endParaRPr lang="es-419" sz="2200" b="0" dirty="0">
              <a:solidFill>
                <a:srgbClr val="222222"/>
              </a:solidFill>
              <a:latin typeface="Tw Cen MT" panose="020B0602020104020603" pitchFamily="34" charset="0"/>
            </a:endParaRPr>
          </a:p>
          <a:p>
            <a:pPr algn="l">
              <a:spcBef>
                <a:spcPts val="400"/>
              </a:spcBef>
            </a:pPr>
            <a:endParaRPr sz="2200" b="0" dirty="0">
              <a:solidFill>
                <a:srgbClr val="222222"/>
              </a:solidFill>
              <a:latin typeface="Tw Cen MT" panose="020B0602020104020603"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A0E9FF31-A775-A580-4A6E-9562F19899F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C35B47-E8C2-9361-B091-D7857FE370DC}"/>
              </a:ext>
            </a:extLst>
          </p:cNvPr>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209684D-1DCD-0273-2281-1918FD89684D}"/>
              </a:ext>
            </a:extLst>
          </p:cNvPr>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a:extLst>
              <a:ext uri="{FF2B5EF4-FFF2-40B4-BE49-F238E27FC236}">
                <a16:creationId xmlns:a16="http://schemas.microsoft.com/office/drawing/2014/main" id="{773A793B-7431-A44E-39D4-3460D1EA6E10}"/>
              </a:ext>
            </a:extLst>
          </p:cNvPr>
          <p:cNvSpPr txBox="1"/>
          <p:nvPr/>
        </p:nvSpPr>
        <p:spPr>
          <a:xfrm>
            <a:off x="304800" y="287179"/>
            <a:ext cx="8534400" cy="492443"/>
          </a:xfrm>
          <a:prstGeom prst="rect">
            <a:avLst/>
          </a:prstGeom>
          <a:noFill/>
        </p:spPr>
        <p:txBody>
          <a:bodyPr wrap="square" anchor="ctr">
            <a:spAutoFit/>
          </a:bodyPr>
          <a:lstStyle/>
          <a:p>
            <a:pPr algn="l"/>
            <a:r>
              <a:rPr sz="2600" b="1" i="0" dirty="0">
                <a:solidFill>
                  <a:srgbClr val="FFFFFF"/>
                </a:solidFill>
                <a:latin typeface="Tw Cen MT" panose="020B0602020104020603" pitchFamily="34" charset="0"/>
              </a:rPr>
              <a:t>TALLER</a:t>
            </a:r>
          </a:p>
        </p:txBody>
      </p:sp>
      <p:sp>
        <p:nvSpPr>
          <p:cNvPr id="5" name="TextBox 4">
            <a:extLst>
              <a:ext uri="{FF2B5EF4-FFF2-40B4-BE49-F238E27FC236}">
                <a16:creationId xmlns:a16="http://schemas.microsoft.com/office/drawing/2014/main" id="{000DC795-74DF-6246-48CA-FA55BB35AF7D}"/>
              </a:ext>
            </a:extLst>
          </p:cNvPr>
          <p:cNvSpPr txBox="1"/>
          <p:nvPr/>
        </p:nvSpPr>
        <p:spPr>
          <a:xfrm>
            <a:off x="996593" y="1497403"/>
            <a:ext cx="6952180" cy="4616648"/>
          </a:xfrm>
          <a:prstGeom prst="rect">
            <a:avLst/>
          </a:prstGeom>
          <a:noFill/>
        </p:spPr>
        <p:txBody>
          <a:bodyPr wrap="square">
            <a:spAutoFit/>
          </a:bodyPr>
          <a:lstStyle/>
          <a:p>
            <a:pPr>
              <a:spcBef>
                <a:spcPts val="400"/>
              </a:spcBef>
            </a:pPr>
            <a:r>
              <a:rPr lang="es-AR" sz="2200" dirty="0">
                <a:solidFill>
                  <a:srgbClr val="FFFFFF"/>
                </a:solidFill>
                <a:latin typeface="Tw Cen MT" panose="020B0602020104020603" pitchFamily="34" charset="0"/>
              </a:rPr>
              <a:t>Las firmas de contadores públicos (particularmente las Big </a:t>
            </a:r>
            <a:r>
              <a:rPr lang="es-AR" sz="2200" dirty="0" err="1">
                <a:solidFill>
                  <a:srgbClr val="FFFFFF"/>
                </a:solidFill>
                <a:latin typeface="Tw Cen MT" panose="020B0602020104020603" pitchFamily="34" charset="0"/>
              </a:rPr>
              <a:t>Four</a:t>
            </a:r>
            <a:r>
              <a:rPr lang="es-AR" sz="2200" dirty="0">
                <a:solidFill>
                  <a:srgbClr val="FFFFFF"/>
                </a:solidFill>
                <a:latin typeface="Tw Cen MT" panose="020B0602020104020603" pitchFamily="34" charset="0"/>
              </a:rPr>
              <a:t> Deloitte, PwC, EY, KPMG) se caracterizan por comenzar pagando salarios bajos, sin embargo, logran retener a los mejores. </a:t>
            </a:r>
          </a:p>
          <a:p>
            <a:pPr>
              <a:spcBef>
                <a:spcPts val="400"/>
              </a:spcBef>
            </a:pPr>
            <a:endParaRPr lang="es-AR" sz="2200" dirty="0">
              <a:solidFill>
                <a:srgbClr val="FFFFFF"/>
              </a:solidFill>
              <a:latin typeface="Tw Cen MT" panose="020B0602020104020603" pitchFamily="34" charset="0"/>
            </a:endParaRPr>
          </a:p>
          <a:p>
            <a:pPr>
              <a:spcBef>
                <a:spcPts val="400"/>
              </a:spcBef>
            </a:pPr>
            <a:r>
              <a:rPr lang="es-AR" sz="2200" b="1" dirty="0">
                <a:solidFill>
                  <a:srgbClr val="FFFF00"/>
                </a:solidFill>
                <a:latin typeface="Tw Cen MT" panose="020B0602020104020603" pitchFamily="34" charset="0"/>
              </a:rPr>
              <a:t>CONSIGNA:</a:t>
            </a:r>
          </a:p>
          <a:p>
            <a:pPr>
              <a:spcBef>
                <a:spcPts val="400"/>
              </a:spcBef>
            </a:pPr>
            <a:r>
              <a:rPr lang="es-AR" sz="2200" dirty="0">
                <a:solidFill>
                  <a:srgbClr val="FFFFFF"/>
                </a:solidFill>
                <a:latin typeface="Tw Cen MT" panose="020B0602020104020603" pitchFamily="34" charset="0"/>
              </a:rPr>
              <a:t>1)</a:t>
            </a:r>
            <a:r>
              <a:rPr lang="en-US" sz="2200" dirty="0">
                <a:solidFill>
                  <a:srgbClr val="FFFFFF"/>
                </a:solidFill>
                <a:latin typeface="Tw Cen MT" panose="020B0602020104020603" pitchFamily="34" charset="0"/>
              </a:rPr>
              <a:t> ¿</a:t>
            </a:r>
            <a:r>
              <a:rPr lang="es-AR" sz="2200" dirty="0">
                <a:solidFill>
                  <a:srgbClr val="FFFFFF"/>
                </a:solidFill>
                <a:latin typeface="Tw Cen MT" panose="020B0602020104020603" pitchFamily="34" charset="0"/>
              </a:rPr>
              <a:t>Quienes ingresan y por que? </a:t>
            </a:r>
          </a:p>
          <a:p>
            <a:pPr>
              <a:spcBef>
                <a:spcPts val="400"/>
              </a:spcBef>
            </a:pPr>
            <a:r>
              <a:rPr lang="es-AR" sz="2200" dirty="0">
                <a:solidFill>
                  <a:srgbClr val="FFFFFF"/>
                </a:solidFill>
                <a:latin typeface="Tw Cen MT" panose="020B0602020104020603" pitchFamily="34" charset="0"/>
              </a:rPr>
              <a:t>2) </a:t>
            </a:r>
            <a:r>
              <a:rPr lang="en-US" sz="2200" dirty="0">
                <a:solidFill>
                  <a:srgbClr val="FFFFFF"/>
                </a:solidFill>
                <a:latin typeface="Tw Cen MT" panose="020B0602020104020603" pitchFamily="34" charset="0"/>
              </a:rPr>
              <a:t>¿C</a:t>
            </a:r>
            <a:r>
              <a:rPr lang="es-AR" sz="2200" dirty="0" err="1">
                <a:solidFill>
                  <a:srgbClr val="FFFFFF"/>
                </a:solidFill>
                <a:latin typeface="Tw Cen MT" panose="020B0602020104020603" pitchFamily="34" charset="0"/>
              </a:rPr>
              <a:t>omo</a:t>
            </a:r>
            <a:r>
              <a:rPr lang="es-AR" sz="2200" dirty="0">
                <a:solidFill>
                  <a:srgbClr val="FFFFFF"/>
                </a:solidFill>
                <a:latin typeface="Tw Cen MT" panose="020B0602020104020603" pitchFamily="34" charset="0"/>
              </a:rPr>
              <a:t> estiman que logran retener a los mejores? </a:t>
            </a:r>
          </a:p>
          <a:p>
            <a:pPr>
              <a:spcBef>
                <a:spcPts val="400"/>
              </a:spcBef>
            </a:pPr>
            <a:r>
              <a:rPr lang="es-AR" sz="2200" dirty="0">
                <a:solidFill>
                  <a:srgbClr val="FFFFFF"/>
                </a:solidFill>
                <a:latin typeface="Tw Cen MT" panose="020B0602020104020603" pitchFamily="34" charset="0"/>
              </a:rPr>
              <a:t>3) </a:t>
            </a:r>
            <a:r>
              <a:rPr lang="en-US" sz="2200" dirty="0">
                <a:solidFill>
                  <a:srgbClr val="FFFFFF"/>
                </a:solidFill>
                <a:latin typeface="Tw Cen MT" panose="020B0602020104020603" pitchFamily="34" charset="0"/>
              </a:rPr>
              <a:t>¿Q</a:t>
            </a:r>
            <a:r>
              <a:rPr lang="es-AR" sz="2200" dirty="0" err="1">
                <a:solidFill>
                  <a:srgbClr val="FFFFFF"/>
                </a:solidFill>
                <a:latin typeface="Tw Cen MT" panose="020B0602020104020603" pitchFamily="34" charset="0"/>
              </a:rPr>
              <a:t>ue</a:t>
            </a:r>
            <a:r>
              <a:rPr lang="es-AR" sz="2200" dirty="0">
                <a:solidFill>
                  <a:srgbClr val="FFFFFF"/>
                </a:solidFill>
                <a:latin typeface="Tw Cen MT" panose="020B0602020104020603" pitchFamily="34" charset="0"/>
              </a:rPr>
              <a:t> indica el alto índice de rotación en lis ingresantes?. </a:t>
            </a:r>
          </a:p>
          <a:p>
            <a:pPr>
              <a:spcBef>
                <a:spcPts val="400"/>
              </a:spcBef>
            </a:pPr>
            <a:r>
              <a:rPr lang="es-AR" sz="2200" dirty="0">
                <a:solidFill>
                  <a:srgbClr val="FFFFFF"/>
                </a:solidFill>
                <a:latin typeface="Tw Cen MT" panose="020B0602020104020603" pitchFamily="34" charset="0"/>
              </a:rPr>
              <a:t>4) </a:t>
            </a:r>
            <a:r>
              <a:rPr lang="en-US" sz="2200" dirty="0">
                <a:solidFill>
                  <a:srgbClr val="FFFFFF"/>
                </a:solidFill>
                <a:latin typeface="Tw Cen MT" panose="020B0602020104020603" pitchFamily="34" charset="0"/>
              </a:rPr>
              <a:t>¿Q</a:t>
            </a:r>
            <a:r>
              <a:rPr lang="es-AR" sz="2200" dirty="0" err="1">
                <a:solidFill>
                  <a:srgbClr val="FFFFFF"/>
                </a:solidFill>
                <a:latin typeface="Tw Cen MT" panose="020B0602020104020603" pitchFamily="34" charset="0"/>
              </a:rPr>
              <a:t>uienes</a:t>
            </a:r>
            <a:r>
              <a:rPr lang="es-AR" sz="2200" dirty="0">
                <a:solidFill>
                  <a:srgbClr val="FFFFFF"/>
                </a:solidFill>
                <a:latin typeface="Tw Cen MT" panose="020B0602020104020603" pitchFamily="34" charset="0"/>
              </a:rPr>
              <a:t> sufren esta situación? </a:t>
            </a:r>
          </a:p>
          <a:p>
            <a:pPr>
              <a:spcBef>
                <a:spcPts val="400"/>
              </a:spcBef>
            </a:pPr>
            <a:endParaRPr lang="es-AR" sz="2200" dirty="0">
              <a:solidFill>
                <a:srgbClr val="FFFFFF"/>
              </a:solidFill>
              <a:latin typeface="Tw Cen MT" panose="020B0602020104020603" pitchFamily="34" charset="0"/>
            </a:endParaRPr>
          </a:p>
          <a:p>
            <a:pPr>
              <a:spcBef>
                <a:spcPts val="400"/>
              </a:spcBef>
            </a:pPr>
            <a:endParaRPr sz="2200" b="0" dirty="0">
              <a:solidFill>
                <a:srgbClr val="FFFFFF"/>
              </a:solidFill>
              <a:latin typeface="Tw Cen MT" panose="020B0602020104020603" pitchFamily="34" charset="0"/>
            </a:endParaRPr>
          </a:p>
        </p:txBody>
      </p:sp>
    </p:spTree>
    <p:extLst>
      <p:ext uri="{BB962C8B-B14F-4D97-AF65-F5344CB8AC3E}">
        <p14:creationId xmlns:p14="http://schemas.microsoft.com/office/powerpoint/2010/main" val="3358621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FE76036D-86E7-F7C9-45D9-5AFB9C3CD11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120CE4-9D32-E012-D3FE-C8EBA6C7548C}"/>
              </a:ext>
            </a:extLst>
          </p:cNvPr>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a:extLst>
              <a:ext uri="{FF2B5EF4-FFF2-40B4-BE49-F238E27FC236}">
                <a16:creationId xmlns:a16="http://schemas.microsoft.com/office/drawing/2014/main" id="{3DD55453-0D89-97CF-D459-DEF5F47D1F1F}"/>
              </a:ext>
            </a:extLst>
          </p:cNvPr>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a:extLst>
              <a:ext uri="{FF2B5EF4-FFF2-40B4-BE49-F238E27FC236}">
                <a16:creationId xmlns:a16="http://schemas.microsoft.com/office/drawing/2014/main" id="{B5282727-25C5-5511-F816-D54F9C151ED3}"/>
              </a:ext>
            </a:extLst>
          </p:cNvPr>
          <p:cNvSpPr txBox="1"/>
          <p:nvPr/>
        </p:nvSpPr>
        <p:spPr>
          <a:xfrm>
            <a:off x="304800" y="287179"/>
            <a:ext cx="8534400" cy="492443"/>
          </a:xfrm>
          <a:prstGeom prst="rect">
            <a:avLst/>
          </a:prstGeom>
          <a:noFill/>
        </p:spPr>
        <p:txBody>
          <a:bodyPr wrap="square" anchor="ctr">
            <a:spAutoFit/>
          </a:bodyPr>
          <a:lstStyle/>
          <a:p>
            <a:pPr algn="l"/>
            <a:r>
              <a:rPr sz="2600" b="1" i="0" dirty="0">
                <a:solidFill>
                  <a:srgbClr val="FFFFFF"/>
                </a:solidFill>
                <a:latin typeface="Tw Cen MT" panose="020B0602020104020603" pitchFamily="34" charset="0"/>
              </a:rPr>
              <a:t>TALLER</a:t>
            </a:r>
          </a:p>
        </p:txBody>
      </p:sp>
      <p:sp>
        <p:nvSpPr>
          <p:cNvPr id="5" name="TextBox 4">
            <a:extLst>
              <a:ext uri="{FF2B5EF4-FFF2-40B4-BE49-F238E27FC236}">
                <a16:creationId xmlns:a16="http://schemas.microsoft.com/office/drawing/2014/main" id="{2244D451-01E1-3A8A-75AB-72CC08C0A754}"/>
              </a:ext>
            </a:extLst>
          </p:cNvPr>
          <p:cNvSpPr txBox="1"/>
          <p:nvPr/>
        </p:nvSpPr>
        <p:spPr>
          <a:xfrm>
            <a:off x="410966" y="1374113"/>
            <a:ext cx="8123434" cy="2616101"/>
          </a:xfrm>
          <a:prstGeom prst="rect">
            <a:avLst/>
          </a:prstGeom>
          <a:noFill/>
        </p:spPr>
        <p:txBody>
          <a:bodyPr wrap="square">
            <a:spAutoFit/>
          </a:bodyPr>
          <a:lstStyle/>
          <a:p>
            <a:pPr marL="342900" indent="-342900">
              <a:spcBef>
                <a:spcPts val="400"/>
              </a:spcBef>
              <a:buFont typeface="Arial" panose="020B0604020202020204" pitchFamily="34" charset="0"/>
              <a:buChar char="•"/>
            </a:pPr>
            <a:r>
              <a:rPr lang="es-AR" sz="2200" dirty="0">
                <a:solidFill>
                  <a:srgbClr val="FFFFFF"/>
                </a:solidFill>
                <a:latin typeface="Tw Cen MT" panose="020B0602020104020603" pitchFamily="34" charset="0"/>
              </a:rPr>
              <a:t>El "valor" de un empleo no es solo el sueldo mensual, sino el valor descontado de toda la trayectoria profesional que esa firma habilita</a:t>
            </a:r>
            <a:r>
              <a:rPr lang="es-AR" sz="2200">
                <a:solidFill>
                  <a:srgbClr val="FFFFFF"/>
                </a:solidFill>
                <a:latin typeface="Tw Cen MT" panose="020B0602020104020603" pitchFamily="34" charset="0"/>
              </a:rPr>
              <a:t>. </a:t>
            </a:r>
          </a:p>
          <a:p>
            <a:pPr marL="342900" indent="-342900">
              <a:spcBef>
                <a:spcPts val="400"/>
              </a:spcBef>
              <a:buFont typeface="Arial" panose="020B0604020202020204" pitchFamily="34" charset="0"/>
              <a:buChar char="•"/>
            </a:pPr>
            <a:endParaRPr lang="es-AR" sz="2200" dirty="0">
              <a:solidFill>
                <a:srgbClr val="FFFFFF"/>
              </a:solidFill>
              <a:latin typeface="Tw Cen MT" panose="020B0602020104020603" pitchFamily="34" charset="0"/>
            </a:endParaRPr>
          </a:p>
          <a:p>
            <a:pPr marL="342900" indent="-342900">
              <a:spcBef>
                <a:spcPts val="400"/>
              </a:spcBef>
              <a:buFont typeface="Arial" panose="020B0604020202020204" pitchFamily="34" charset="0"/>
              <a:buChar char="•"/>
            </a:pPr>
            <a:r>
              <a:rPr lang="es-AR" sz="2200" dirty="0">
                <a:solidFill>
                  <a:srgbClr val="FFFFFF"/>
                </a:solidFill>
                <a:latin typeface="Tw Cen MT" panose="020B0602020104020603" pitchFamily="34" charset="0"/>
              </a:rPr>
              <a:t>La rotación, aunque costosa, suele ser parte intrínseca de su modelo de "up </a:t>
            </a:r>
            <a:r>
              <a:rPr lang="es-AR" sz="2200" dirty="0" err="1">
                <a:solidFill>
                  <a:srgbClr val="FFFFFF"/>
                </a:solidFill>
                <a:latin typeface="Tw Cen MT" panose="020B0602020104020603" pitchFamily="34" charset="0"/>
              </a:rPr>
              <a:t>or</a:t>
            </a:r>
            <a:r>
              <a:rPr lang="es-AR" sz="2200" dirty="0">
                <a:solidFill>
                  <a:srgbClr val="FFFFFF"/>
                </a:solidFill>
                <a:latin typeface="Tw Cen MT" panose="020B0602020104020603" pitchFamily="34" charset="0"/>
              </a:rPr>
              <a:t> </a:t>
            </a:r>
            <a:r>
              <a:rPr lang="es-AR" sz="2200" dirty="0" err="1">
                <a:solidFill>
                  <a:srgbClr val="FFFFFF"/>
                </a:solidFill>
                <a:latin typeface="Tw Cen MT" panose="020B0602020104020603" pitchFamily="34" charset="0"/>
              </a:rPr>
              <a:t>out</a:t>
            </a:r>
            <a:r>
              <a:rPr lang="es-AR" sz="2200" dirty="0">
                <a:solidFill>
                  <a:srgbClr val="FFFFFF"/>
                </a:solidFill>
                <a:latin typeface="Tw Cen MT" panose="020B0602020104020603" pitchFamily="34" charset="0"/>
              </a:rPr>
              <a:t>" (ascender o salir).</a:t>
            </a:r>
          </a:p>
          <a:p>
            <a:pPr>
              <a:spcBef>
                <a:spcPts val="400"/>
              </a:spcBef>
            </a:pPr>
            <a:endParaRPr sz="2200" b="0" dirty="0">
              <a:solidFill>
                <a:srgbClr val="FFFFFF"/>
              </a:solidFill>
              <a:latin typeface="Tw Cen MT" panose="020B0602020104020603" pitchFamily="34" charset="0"/>
            </a:endParaRPr>
          </a:p>
        </p:txBody>
      </p:sp>
    </p:spTree>
    <p:extLst>
      <p:ext uri="{BB962C8B-B14F-4D97-AF65-F5344CB8AC3E}">
        <p14:creationId xmlns:p14="http://schemas.microsoft.com/office/powerpoint/2010/main" val="1434791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304800" y="287179"/>
            <a:ext cx="8534400" cy="492443"/>
          </a:xfrm>
          <a:prstGeom prst="rect">
            <a:avLst/>
          </a:prstGeom>
          <a:noFill/>
        </p:spPr>
        <p:txBody>
          <a:bodyPr wrap="square" anchor="ctr">
            <a:spAutoFit/>
          </a:bodyPr>
          <a:lstStyle/>
          <a:p>
            <a:pPr algn="l"/>
            <a:r>
              <a:rPr sz="2600" b="1" i="0">
                <a:solidFill>
                  <a:srgbClr val="FFFFFF"/>
                </a:solidFill>
                <a:latin typeface="Tw Cen MT" panose="020B0602020104020603" pitchFamily="34" charset="0"/>
              </a:rPr>
              <a:t>Flexibilidad en Relaciones Laborales de Largo Plazo</a:t>
            </a:r>
          </a:p>
        </p:txBody>
      </p:sp>
      <p:sp>
        <p:nvSpPr>
          <p:cNvPr id="5" name="TextBox 4"/>
          <p:cNvSpPr txBox="1"/>
          <p:nvPr/>
        </p:nvSpPr>
        <p:spPr>
          <a:xfrm>
            <a:off x="304800" y="1220000"/>
            <a:ext cx="8534400" cy="4462760"/>
          </a:xfrm>
          <a:prstGeom prst="rect">
            <a:avLst/>
          </a:prstGeom>
          <a:noFill/>
        </p:spPr>
        <p:txBody>
          <a:bodyPr wrap="square">
            <a:spAutoFit/>
          </a:bodyPr>
          <a:lstStyle/>
          <a:p>
            <a:pPr algn="l">
              <a:spcBef>
                <a:spcPts val="400"/>
              </a:spcBef>
            </a:pPr>
            <a:r>
              <a:rPr sz="2200" b="1" dirty="0">
                <a:solidFill>
                  <a:srgbClr val="222222"/>
                </a:solidFill>
                <a:latin typeface="Tw Cen MT" panose="020B0602020104020603" pitchFamily="34" charset="0"/>
              </a:rPr>
              <a:t>El </a:t>
            </a:r>
            <a:r>
              <a:rPr sz="2200" b="1" dirty="0" err="1">
                <a:solidFill>
                  <a:srgbClr val="222222"/>
                </a:solidFill>
                <a:latin typeface="Tw Cen MT" panose="020B0602020104020603" pitchFamily="34" charset="0"/>
              </a:rPr>
              <a:t>empleado</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evalúa</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el</a:t>
            </a:r>
            <a:r>
              <a:rPr sz="2200" b="1" dirty="0">
                <a:solidFill>
                  <a:srgbClr val="222222"/>
                </a:solidFill>
                <a:latin typeface="Tw Cen MT" panose="020B0602020104020603" pitchFamily="34" charset="0"/>
              </a:rPr>
              <a:t> valor </a:t>
            </a:r>
            <a:r>
              <a:rPr sz="2200" b="1" dirty="0" err="1">
                <a:solidFill>
                  <a:srgbClr val="222222"/>
                </a:solidFill>
                <a:latin typeface="Tw Cen MT" panose="020B0602020104020603" pitchFamily="34" charset="0"/>
              </a:rPr>
              <a:t>presente</a:t>
            </a:r>
            <a:r>
              <a:rPr sz="2200" b="1" dirty="0">
                <a:solidFill>
                  <a:srgbClr val="222222"/>
                </a:solidFill>
                <a:latin typeface="Tw Cen MT" panose="020B0602020104020603" pitchFamily="34" charset="0"/>
              </a:rPr>
              <a:t> (VP) de </a:t>
            </a:r>
            <a:r>
              <a:rPr sz="2200" b="1" dirty="0" err="1">
                <a:solidFill>
                  <a:srgbClr val="222222"/>
                </a:solidFill>
                <a:latin typeface="Tw Cen MT" panose="020B0602020104020603" pitchFamily="34" charset="0"/>
              </a:rPr>
              <a:t>todas</a:t>
            </a:r>
            <a:r>
              <a:rPr sz="2200" b="1" dirty="0">
                <a:solidFill>
                  <a:srgbClr val="222222"/>
                </a:solidFill>
                <a:latin typeface="Tw Cen MT" panose="020B0602020104020603" pitchFamily="34" charset="0"/>
              </a:rPr>
              <a:t> las </a:t>
            </a:r>
            <a:r>
              <a:rPr sz="2200" b="1" dirty="0" err="1">
                <a:solidFill>
                  <a:srgbClr val="222222"/>
                </a:solidFill>
                <a:latin typeface="Tw Cen MT" panose="020B0602020104020603" pitchFamily="34" charset="0"/>
              </a:rPr>
              <a:t>futuras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compensaciones</a:t>
            </a:r>
            <a:r>
              <a:rPr sz="2200" b="1" dirty="0">
                <a:solidFill>
                  <a:srgbClr val="222222"/>
                </a:solidFill>
                <a:latin typeface="Tw Cen MT" panose="020B0602020104020603" pitchFamily="34" charset="0"/>
              </a:rPr>
              <a:t> — lo </a:t>
            </a:r>
            <a:r>
              <a:rPr sz="2200" b="1" dirty="0" err="1">
                <a:solidFill>
                  <a:srgbClr val="222222"/>
                </a:solidFill>
                <a:latin typeface="Tw Cen MT" panose="020B0602020104020603" pitchFamily="34" charset="0"/>
              </a:rPr>
              <a:t>que</a:t>
            </a:r>
            <a:r>
              <a:rPr sz="2200" b="1" dirty="0">
                <a:solidFill>
                  <a:srgbClr val="222222"/>
                </a:solidFill>
                <a:latin typeface="Tw Cen MT" panose="020B0602020104020603" pitchFamily="34" charset="0"/>
              </a:rPr>
              <a:t> vale es </a:t>
            </a:r>
            <a:r>
              <a:rPr sz="2200" b="1" dirty="0" err="1">
                <a:solidFill>
                  <a:srgbClr val="222222"/>
                </a:solidFill>
                <a:latin typeface="Tw Cen MT" panose="020B0602020104020603" pitchFamily="34" charset="0"/>
              </a:rPr>
              <a:t>el</a:t>
            </a:r>
            <a:r>
              <a:rPr sz="2200" b="1" dirty="0">
                <a:solidFill>
                  <a:srgbClr val="222222"/>
                </a:solidFill>
                <a:latin typeface="Tw Cen MT" panose="020B0602020104020603" pitchFamily="34" charset="0"/>
              </a:rPr>
              <a:t> VP de la curva de </a:t>
            </a:r>
            <a:r>
              <a:rPr sz="2200" b="1" dirty="0" err="1">
                <a:solidFill>
                  <a:srgbClr val="222222"/>
                </a:solidFill>
                <a:latin typeface="Tw Cen MT" panose="020B0602020104020603" pitchFamily="34" charset="0"/>
              </a:rPr>
              <a:t>ingreso</a:t>
            </a:r>
            <a:r>
              <a:rPr sz="2200" b="1" dirty="0">
                <a:solidFill>
                  <a:srgbClr val="222222"/>
                </a:solidFill>
                <a:latin typeface="Tw Cen MT" panose="020B0602020104020603" pitchFamily="34" charset="0"/>
              </a:rPr>
              <a:t> total.</a:t>
            </a:r>
            <a:endParaRPr lang="es-419" sz="2200" b="1" dirty="0">
              <a:solidFill>
                <a:srgbClr val="222222"/>
              </a:solidFill>
              <a:latin typeface="Tw Cen MT" panose="020B0602020104020603" pitchFamily="34" charset="0"/>
            </a:endParaRPr>
          </a:p>
          <a:p>
            <a:pPr algn="l">
              <a:spcBef>
                <a:spcPts val="400"/>
              </a:spcBef>
            </a:pPr>
            <a:endParaRPr sz="2200" b="1" dirty="0">
              <a:solidFill>
                <a:srgbClr val="222222"/>
              </a:solidFill>
              <a:latin typeface="Tw Cen MT" panose="020B0602020104020603" pitchFamily="34" charset="0"/>
            </a:endParaRPr>
          </a:p>
          <a:p>
            <a:pPr marL="342900" indent="-342900" algn="l">
              <a:spcBef>
                <a:spcPts val="400"/>
              </a:spcBef>
              <a:buFont typeface="Arial" panose="020B0604020202020204" pitchFamily="34" charset="0"/>
              <a:buChar char="•"/>
            </a:pPr>
            <a:r>
              <a:rPr sz="2200" b="0" dirty="0">
                <a:solidFill>
                  <a:srgbClr val="222222"/>
                </a:solidFill>
                <a:latin typeface="Tw Cen MT" panose="020B0602020104020603" pitchFamily="34" charset="0"/>
              </a:rPr>
              <a:t>Las </a:t>
            </a:r>
            <a:r>
              <a:rPr sz="2200" b="0" dirty="0" err="1">
                <a:solidFill>
                  <a:srgbClr val="222222"/>
                </a:solidFill>
                <a:latin typeface="Tw Cen MT" panose="020B0602020104020603" pitchFamily="34" charset="0"/>
              </a:rPr>
              <a:t>empresas</a:t>
            </a:r>
            <a:r>
              <a:rPr sz="2200" b="0" dirty="0">
                <a:solidFill>
                  <a:srgbClr val="222222"/>
                </a:solidFill>
                <a:latin typeface="Tw Cen MT" panose="020B0602020104020603" pitchFamily="34" charset="0"/>
              </a:rPr>
              <a:t> no </a:t>
            </a:r>
            <a:r>
              <a:rPr sz="2200" b="0" dirty="0" err="1">
                <a:solidFill>
                  <a:srgbClr val="222222"/>
                </a:solidFill>
                <a:latin typeface="Tw Cen MT" panose="020B0602020104020603" pitchFamily="34" charset="0"/>
              </a:rPr>
              <a:t>necesitan</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pagar</a:t>
            </a:r>
            <a:r>
              <a:rPr sz="2200" b="0" dirty="0">
                <a:solidFill>
                  <a:srgbClr val="222222"/>
                </a:solidFill>
                <a:latin typeface="Tw Cen MT" panose="020B0602020104020603" pitchFamily="34" charset="0"/>
              </a:rPr>
              <a:t> la </a:t>
            </a:r>
            <a:r>
              <a:rPr sz="2200" b="0" dirty="0" err="1">
                <a:solidFill>
                  <a:srgbClr val="222222"/>
                </a:solidFill>
                <a:latin typeface="Tw Cen MT" panose="020B0602020104020603" pitchFamily="34" charset="0"/>
              </a:rPr>
              <a:t>tasa</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salarial</a:t>
            </a:r>
            <a:r>
              <a:rPr sz="2200" b="0" dirty="0">
                <a:solidFill>
                  <a:srgbClr val="222222"/>
                </a:solidFill>
                <a:latin typeface="Tw Cen MT" panose="020B0602020104020603" pitchFamily="34" charset="0"/>
              </a:rPr>
              <a:t> de mercado </a:t>
            </a:r>
            <a:r>
              <a:rPr sz="2200" b="0" dirty="0" err="1">
                <a:solidFill>
                  <a:srgbClr val="222222"/>
                </a:solidFill>
                <a:latin typeface="Tw Cen MT" panose="020B0602020104020603" pitchFamily="34" charset="0"/>
              </a:rPr>
              <a:t>en</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cada</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momento</a:t>
            </a:r>
            <a:r>
              <a:rPr sz="2200" b="0" dirty="0">
                <a:solidFill>
                  <a:srgbClr val="222222"/>
                </a:solidFill>
                <a:latin typeface="Tw Cen MT" panose="020B0602020104020603" pitchFamily="34" charset="0"/>
              </a:rPr>
              <a:t>.</a:t>
            </a:r>
          </a:p>
          <a:p>
            <a:pPr marL="342900" indent="-342900" algn="l">
              <a:spcBef>
                <a:spcPts val="400"/>
              </a:spcBef>
              <a:buFont typeface="Arial" panose="020B0604020202020204" pitchFamily="34" charset="0"/>
              <a:buChar char="•"/>
            </a:pPr>
            <a:r>
              <a:rPr sz="2200" b="0" dirty="0" err="1">
                <a:solidFill>
                  <a:srgbClr val="222222"/>
                </a:solidFill>
                <a:latin typeface="Tw Cen MT" panose="020B0602020104020603" pitchFamily="34" charset="0"/>
              </a:rPr>
              <a:t>Pueden</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variar</a:t>
            </a:r>
            <a:r>
              <a:rPr sz="2200" b="0" dirty="0">
                <a:solidFill>
                  <a:srgbClr val="222222"/>
                </a:solidFill>
                <a:latin typeface="Tw Cen MT" panose="020B0602020104020603" pitchFamily="34" charset="0"/>
              </a:rPr>
              <a:t> la </a:t>
            </a:r>
            <a:r>
              <a:rPr sz="2200" b="0" dirty="0" err="1">
                <a:solidFill>
                  <a:srgbClr val="222222"/>
                </a:solidFill>
                <a:latin typeface="Tw Cen MT" panose="020B0602020104020603" pitchFamily="34" charset="0"/>
              </a:rPr>
              <a:t>compensación</a:t>
            </a:r>
            <a:r>
              <a:rPr sz="2200" b="0" dirty="0">
                <a:solidFill>
                  <a:srgbClr val="222222"/>
                </a:solidFill>
                <a:latin typeface="Tw Cen MT" panose="020B0602020104020603" pitchFamily="34" charset="0"/>
              </a:rPr>
              <a:t> a lo largo de </a:t>
            </a:r>
            <a:r>
              <a:rPr sz="2200" b="0" dirty="0" err="1">
                <a:solidFill>
                  <a:srgbClr val="222222"/>
                </a:solidFill>
                <a:latin typeface="Tw Cen MT" panose="020B0602020104020603" pitchFamily="34" charset="0"/>
              </a:rPr>
              <a:t>una</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carrera</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siempre</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que</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el</a:t>
            </a:r>
            <a:r>
              <a:rPr sz="2200" b="0" dirty="0">
                <a:solidFill>
                  <a:srgbClr val="222222"/>
                </a:solidFill>
                <a:latin typeface="Tw Cen MT" panose="020B0602020104020603" pitchFamily="34" charset="0"/>
              </a:rPr>
              <a:t> valor del resto sea </a:t>
            </a:r>
            <a:r>
              <a:rPr sz="2200" b="0" dirty="0" err="1">
                <a:solidFill>
                  <a:srgbClr val="222222"/>
                </a:solidFill>
                <a:latin typeface="Tw Cen MT" panose="020B0602020104020603" pitchFamily="34" charset="0"/>
              </a:rPr>
              <a:t>competitivo</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en</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cada</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momento</a:t>
            </a:r>
            <a:r>
              <a:rPr sz="2200" b="0" dirty="0">
                <a:solidFill>
                  <a:srgbClr val="222222"/>
                </a:solidFill>
                <a:latin typeface="Tw Cen MT" panose="020B0602020104020603" pitchFamily="34" charset="0"/>
              </a:rPr>
              <a:t>: FLEXIBILIDAD.</a:t>
            </a:r>
          </a:p>
          <a:p>
            <a:pPr algn="l">
              <a:spcBef>
                <a:spcPts val="400"/>
              </a:spcBef>
              <a:buNone/>
            </a:pPr>
            <a:endParaRPr lang="es-419" sz="2200" b="1" dirty="0">
              <a:solidFill>
                <a:srgbClr val="8B0000"/>
              </a:solidFill>
              <a:latin typeface="Tw Cen MT" panose="020B0602020104020603" pitchFamily="34" charset="0"/>
            </a:endParaRPr>
          </a:p>
          <a:p>
            <a:pPr algn="l">
              <a:spcBef>
                <a:spcPts val="400"/>
              </a:spcBef>
              <a:buNone/>
            </a:pPr>
            <a:r>
              <a:rPr sz="2200" b="1" dirty="0">
                <a:solidFill>
                  <a:srgbClr val="8B0000"/>
                </a:solidFill>
                <a:latin typeface="Tw Cen MT" panose="020B0602020104020603" pitchFamily="34" charset="0"/>
              </a:rPr>
              <a:t>IMPLICANCIA ESTRATÉGICA</a:t>
            </a:r>
            <a:endParaRPr lang="es-419" sz="2200" b="1" dirty="0">
              <a:solidFill>
                <a:srgbClr val="8B0000"/>
              </a:solidFill>
              <a:latin typeface="Tw Cen MT" panose="020B0602020104020603" pitchFamily="34" charset="0"/>
            </a:endParaRPr>
          </a:p>
          <a:p>
            <a:pPr algn="l">
              <a:spcBef>
                <a:spcPts val="400"/>
              </a:spcBef>
              <a:buFont typeface="Tw Cen MT"/>
              <a:buChar char="■"/>
            </a:pPr>
            <a:r>
              <a:rPr sz="2200" b="0" dirty="0">
                <a:solidFill>
                  <a:srgbClr val="222222"/>
                </a:solidFill>
                <a:latin typeface="Tw Cen MT" panose="020B0602020104020603" pitchFamily="34" charset="0"/>
              </a:rPr>
              <a:t>Una </a:t>
            </a:r>
            <a:r>
              <a:rPr sz="2200" b="0" dirty="0" err="1">
                <a:solidFill>
                  <a:srgbClr val="222222"/>
                </a:solidFill>
                <a:latin typeface="Tw Cen MT" panose="020B0602020104020603" pitchFamily="34" charset="0"/>
              </a:rPr>
              <a:t>empresa</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puede</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pagar</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por</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debajo</a:t>
            </a:r>
            <a:r>
              <a:rPr sz="2200" b="0" dirty="0">
                <a:solidFill>
                  <a:srgbClr val="222222"/>
                </a:solidFill>
                <a:latin typeface="Tw Cen MT" panose="020B0602020104020603" pitchFamily="34" charset="0"/>
              </a:rPr>
              <a:t> del mercado </a:t>
            </a:r>
            <a:r>
              <a:rPr sz="2200" b="0" dirty="0" err="1">
                <a:solidFill>
                  <a:srgbClr val="222222"/>
                </a:solidFill>
                <a:latin typeface="Tw Cen MT" panose="020B0602020104020603" pitchFamily="34" charset="0"/>
              </a:rPr>
              <a:t>en</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etapas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tempranas</a:t>
            </a:r>
            <a:r>
              <a:rPr sz="2200" b="0" dirty="0">
                <a:solidFill>
                  <a:srgbClr val="222222"/>
                </a:solidFill>
                <a:latin typeface="Tw Cen MT" panose="020B0602020104020603" pitchFamily="34" charset="0"/>
              </a:rPr>
              <a:t> y </a:t>
            </a:r>
            <a:r>
              <a:rPr sz="2200" b="0" dirty="0" err="1">
                <a:solidFill>
                  <a:srgbClr val="222222"/>
                </a:solidFill>
                <a:latin typeface="Tw Cen MT" panose="020B0602020104020603" pitchFamily="34" charset="0"/>
              </a:rPr>
              <a:t>por</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encima</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en</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etapas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avanzadas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reteniendo</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talento</a:t>
            </a:r>
            <a:r>
              <a:rPr sz="2200" b="0" dirty="0">
                <a:solidFill>
                  <a:srgbClr val="222222"/>
                </a:solidFill>
                <a:latin typeface="Tw Cen MT" panose="020B0602020104020603" pitchFamily="34" charset="0"/>
              </a:rPr>
              <a:t> sin </a:t>
            </a:r>
            <a:r>
              <a:rPr sz="2200" b="0" dirty="0" err="1">
                <a:solidFill>
                  <a:srgbClr val="222222"/>
                </a:solidFill>
                <a:latin typeface="Tw Cen MT" panose="020B0602020104020603" pitchFamily="34" charset="0"/>
              </a:rPr>
              <a:t>pagar</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siempre</a:t>
            </a:r>
            <a:r>
              <a:rPr sz="2200" b="0" dirty="0">
                <a:solidFill>
                  <a:srgbClr val="222222"/>
                </a:solidFill>
                <a:latin typeface="Tw Cen MT" panose="020B0602020104020603" pitchFamily="34" charset="0"/>
              </a:rPr>
              <a:t> la </a:t>
            </a:r>
            <a:r>
              <a:rPr sz="2200" b="0" dirty="0" err="1">
                <a:solidFill>
                  <a:srgbClr val="222222"/>
                </a:solidFill>
                <a:latin typeface="Tw Cen MT" panose="020B0602020104020603" pitchFamily="34" charset="0"/>
              </a:rPr>
              <a:t>tasa</a:t>
            </a:r>
            <a:r>
              <a:rPr sz="2200" b="0" dirty="0">
                <a:solidFill>
                  <a:srgbClr val="222222"/>
                </a:solidFill>
                <a:latin typeface="Tw Cen MT" panose="020B0602020104020603" pitchFamily="34" charset="0"/>
              </a:rPr>
              <a:t> de mercado.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A017"/>
          </a:solidFill>
          <a:ln/>
        </p:spPr>
        <p:txBody>
          <a:bodyPr/>
          <a:lstStyle/>
          <a:p>
            <a:endParaRPr lang="es-419">
              <a:latin typeface="Tw Cen MT" panose="020B0602020104020603" pitchFamily="34" charset="0"/>
            </a:endParaRPr>
          </a:p>
        </p:txBody>
      </p:sp>
      <p:sp>
        <p:nvSpPr>
          <p:cNvPr id="5" name="Text 3"/>
          <p:cNvSpPr/>
          <p:nvPr/>
        </p:nvSpPr>
        <p:spPr>
          <a:xfrm>
            <a:off x="1179576" y="462230"/>
            <a:ext cx="6181344" cy="497888"/>
          </a:xfrm>
          <a:prstGeom prst="rect">
            <a:avLst/>
          </a:prstGeom>
          <a:noFill/>
          <a:ln/>
        </p:spPr>
        <p:txBody>
          <a:bodyPr wrap="square" rtlCol="0" anchor="t"/>
          <a:lstStyle/>
          <a:p>
            <a:pPr marL="0" indent="0">
              <a:buNone/>
            </a:pPr>
            <a:r>
              <a:rPr lang="en-US" sz="2400" b="1" dirty="0">
                <a:solidFill>
                  <a:srgbClr val="1E2761"/>
                </a:solidFill>
                <a:latin typeface="Tw Cen MT" panose="020B0602020104020603" pitchFamily="34" charset="0"/>
                <a:ea typeface="Tw Cen MT" pitchFamily="34" charset="-122"/>
                <a:cs typeface="Tw Cen MT" pitchFamily="34" charset="-120"/>
              </a:rPr>
              <a:t>Compensación diferida a lo largo del ciclo de carrera</a:t>
            </a:r>
            <a:endParaRPr lang="en-US" sz="2400" dirty="0">
              <a:latin typeface="Tw Cen MT" panose="020B0602020104020603" pitchFamily="34" charset="0"/>
            </a:endParaRPr>
          </a:p>
        </p:txBody>
      </p:sp>
      <p:sp>
        <p:nvSpPr>
          <p:cNvPr id="6" name="Shape 4"/>
          <p:cNvSpPr/>
          <p:nvPr/>
        </p:nvSpPr>
        <p:spPr>
          <a:xfrm>
            <a:off x="822960" y="1417320"/>
            <a:ext cx="0" cy="3931920"/>
          </a:xfrm>
          <a:prstGeom prst="line">
            <a:avLst/>
          </a:prstGeom>
          <a:noFill/>
          <a:ln w="15875">
            <a:solidFill>
              <a:srgbClr val="999999"/>
            </a:solidFill>
            <a:prstDash val="solid"/>
          </a:ln>
        </p:spPr>
        <p:txBody>
          <a:bodyPr/>
          <a:lstStyle/>
          <a:p>
            <a:endParaRPr lang="es-419">
              <a:latin typeface="Tw Cen MT" panose="020B0602020104020603" pitchFamily="34" charset="0"/>
            </a:endParaRPr>
          </a:p>
        </p:txBody>
      </p:sp>
      <p:sp>
        <p:nvSpPr>
          <p:cNvPr id="7" name="Shape 5"/>
          <p:cNvSpPr/>
          <p:nvPr/>
        </p:nvSpPr>
        <p:spPr>
          <a:xfrm>
            <a:off x="822960" y="5349240"/>
            <a:ext cx="7315200" cy="0"/>
          </a:xfrm>
          <a:prstGeom prst="line">
            <a:avLst/>
          </a:prstGeom>
          <a:noFill/>
          <a:ln w="15875">
            <a:solidFill>
              <a:srgbClr val="999999"/>
            </a:solidFill>
            <a:prstDash val="solid"/>
          </a:ln>
        </p:spPr>
        <p:txBody>
          <a:bodyPr/>
          <a:lstStyle/>
          <a:p>
            <a:endParaRPr lang="es-419">
              <a:latin typeface="Tw Cen MT" panose="020B0602020104020603" pitchFamily="34" charset="0"/>
            </a:endParaRPr>
          </a:p>
        </p:txBody>
      </p:sp>
      <p:sp>
        <p:nvSpPr>
          <p:cNvPr id="9" name="Text 7"/>
          <p:cNvSpPr/>
          <p:nvPr/>
        </p:nvSpPr>
        <p:spPr>
          <a:xfrm>
            <a:off x="822960" y="5458968"/>
            <a:ext cx="7315200" cy="274320"/>
          </a:xfrm>
          <a:prstGeom prst="rect">
            <a:avLst/>
          </a:prstGeom>
          <a:noFill/>
          <a:ln/>
        </p:spPr>
        <p:txBody>
          <a:bodyPr wrap="square" rtlCol="0" anchor="ctr"/>
          <a:lstStyle/>
          <a:p>
            <a:pPr marL="0" indent="0" algn="r">
              <a:buNone/>
            </a:pPr>
            <a:r>
              <a:rPr lang="en-US" i="1" dirty="0">
                <a:solidFill>
                  <a:srgbClr val="2B2B2B"/>
                </a:solidFill>
                <a:latin typeface="Tw Cen MT" panose="020B0602020104020603" pitchFamily="34" charset="0"/>
                <a:ea typeface="Tw Cen MT" pitchFamily="34" charset="-122"/>
                <a:cs typeface="Tw Cen MT" pitchFamily="34" charset="-120"/>
              </a:rPr>
              <a:t>Antigüedad en la firma (tiempo) →</a:t>
            </a:r>
            <a:endParaRPr lang="en-US" dirty="0">
              <a:latin typeface="Tw Cen MT" panose="020B0602020104020603" pitchFamily="34" charset="0"/>
            </a:endParaRPr>
          </a:p>
        </p:txBody>
      </p:sp>
      <p:sp>
        <p:nvSpPr>
          <p:cNvPr id="10" name="Shape 8"/>
          <p:cNvSpPr/>
          <p:nvPr/>
        </p:nvSpPr>
        <p:spPr>
          <a:xfrm flipV="1">
            <a:off x="822960" y="3579876"/>
            <a:ext cx="658368" cy="589788"/>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11" name="Shape 9"/>
          <p:cNvSpPr/>
          <p:nvPr/>
        </p:nvSpPr>
        <p:spPr>
          <a:xfrm flipV="1">
            <a:off x="1481328" y="3068726"/>
            <a:ext cx="658368" cy="511150"/>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12" name="Shape 10"/>
          <p:cNvSpPr/>
          <p:nvPr/>
        </p:nvSpPr>
        <p:spPr>
          <a:xfrm flipV="1">
            <a:off x="2139696" y="2675534"/>
            <a:ext cx="658368" cy="393192"/>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13" name="Shape 11"/>
          <p:cNvSpPr/>
          <p:nvPr/>
        </p:nvSpPr>
        <p:spPr>
          <a:xfrm flipV="1">
            <a:off x="2798064" y="2360981"/>
            <a:ext cx="658368" cy="314554"/>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14" name="Shape 12"/>
          <p:cNvSpPr/>
          <p:nvPr/>
        </p:nvSpPr>
        <p:spPr>
          <a:xfrm flipV="1">
            <a:off x="3456432" y="2125066"/>
            <a:ext cx="658368" cy="235915"/>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15" name="Shape 13"/>
          <p:cNvSpPr/>
          <p:nvPr/>
        </p:nvSpPr>
        <p:spPr>
          <a:xfrm flipV="1">
            <a:off x="4114800" y="1967789"/>
            <a:ext cx="731520" cy="157277"/>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16" name="Shape 14"/>
          <p:cNvSpPr/>
          <p:nvPr/>
        </p:nvSpPr>
        <p:spPr>
          <a:xfrm flipV="1">
            <a:off x="4846320" y="1928470"/>
            <a:ext cx="658368" cy="39319"/>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17" name="Shape 15"/>
          <p:cNvSpPr/>
          <p:nvPr/>
        </p:nvSpPr>
        <p:spPr>
          <a:xfrm>
            <a:off x="5504688" y="1928470"/>
            <a:ext cx="658368" cy="78638"/>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18" name="Shape 16"/>
          <p:cNvSpPr/>
          <p:nvPr/>
        </p:nvSpPr>
        <p:spPr>
          <a:xfrm>
            <a:off x="6163056" y="2007108"/>
            <a:ext cx="658368" cy="196596"/>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19" name="Shape 17"/>
          <p:cNvSpPr/>
          <p:nvPr/>
        </p:nvSpPr>
        <p:spPr>
          <a:xfrm>
            <a:off x="6821424" y="2203704"/>
            <a:ext cx="658368" cy="353873"/>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20" name="Shape 18"/>
          <p:cNvSpPr/>
          <p:nvPr/>
        </p:nvSpPr>
        <p:spPr>
          <a:xfrm>
            <a:off x="7479792" y="2557577"/>
            <a:ext cx="658368" cy="511150"/>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21" name="Shape 19"/>
          <p:cNvSpPr/>
          <p:nvPr/>
        </p:nvSpPr>
        <p:spPr>
          <a:xfrm flipV="1">
            <a:off x="731520" y="4027016"/>
            <a:ext cx="658368" cy="275234"/>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
        <p:nvSpPr>
          <p:cNvPr id="22" name="Shape 20"/>
          <p:cNvSpPr/>
          <p:nvPr/>
        </p:nvSpPr>
        <p:spPr>
          <a:xfrm flipV="1">
            <a:off x="1389888" y="3712462"/>
            <a:ext cx="658368" cy="314554"/>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
        <p:nvSpPr>
          <p:cNvPr id="23" name="Shape 21"/>
          <p:cNvSpPr/>
          <p:nvPr/>
        </p:nvSpPr>
        <p:spPr>
          <a:xfrm flipV="1">
            <a:off x="2048256" y="3358590"/>
            <a:ext cx="658368" cy="353873"/>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
        <p:nvSpPr>
          <p:cNvPr id="24" name="Shape 22"/>
          <p:cNvSpPr/>
          <p:nvPr/>
        </p:nvSpPr>
        <p:spPr>
          <a:xfrm flipV="1">
            <a:off x="2706624" y="3004717"/>
            <a:ext cx="658368" cy="353873"/>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
        <p:nvSpPr>
          <p:cNvPr id="34" name="Text 32"/>
          <p:cNvSpPr/>
          <p:nvPr/>
        </p:nvSpPr>
        <p:spPr>
          <a:xfrm>
            <a:off x="2258568" y="3639312"/>
            <a:ext cx="1737360" cy="548640"/>
          </a:xfrm>
          <a:prstGeom prst="rect">
            <a:avLst/>
          </a:prstGeom>
          <a:noFill/>
          <a:ln/>
        </p:spPr>
        <p:txBody>
          <a:bodyPr wrap="square" rtlCol="0" anchor="t"/>
          <a:lstStyle/>
          <a:p>
            <a:pPr marL="0" indent="0" algn="l">
              <a:buNone/>
            </a:pPr>
            <a:r>
              <a:rPr lang="en-US" b="1" i="1" dirty="0">
                <a:solidFill>
                  <a:srgbClr val="1E2761"/>
                </a:solidFill>
                <a:latin typeface="Tw Cen MT" panose="020B0602020104020603" pitchFamily="34" charset="0"/>
                <a:ea typeface="Tw Cen MT" pitchFamily="34" charset="-122"/>
                <a:cs typeface="Tw Cen MT" pitchFamily="34" charset="-120"/>
              </a:rPr>
              <a:t>Empleado "presta"</a:t>
            </a:r>
            <a:endParaRPr lang="en-US" dirty="0">
              <a:latin typeface="Tw Cen MT" panose="020B0602020104020603" pitchFamily="34" charset="0"/>
            </a:endParaRPr>
          </a:p>
          <a:p>
            <a:pPr marL="0" indent="0" algn="l">
              <a:buNone/>
            </a:pPr>
            <a:r>
              <a:rPr lang="en-US" b="1" i="1" dirty="0">
                <a:solidFill>
                  <a:srgbClr val="1E2761"/>
                </a:solidFill>
                <a:latin typeface="Tw Cen MT" panose="020B0602020104020603" pitchFamily="34" charset="0"/>
                <a:ea typeface="Tw Cen MT" pitchFamily="34" charset="-122"/>
                <a:cs typeface="Tw Cen MT" pitchFamily="34" charset="-120"/>
              </a:rPr>
              <a:t>valor a la firma</a:t>
            </a:r>
            <a:endParaRPr lang="en-US" dirty="0">
              <a:latin typeface="Tw Cen MT" panose="020B0602020104020603" pitchFamily="34" charset="0"/>
            </a:endParaRPr>
          </a:p>
        </p:txBody>
      </p:sp>
      <p:sp>
        <p:nvSpPr>
          <p:cNvPr id="35" name="Text 33"/>
          <p:cNvSpPr/>
          <p:nvPr/>
        </p:nvSpPr>
        <p:spPr>
          <a:xfrm>
            <a:off x="5504688" y="2603297"/>
            <a:ext cx="1920240" cy="548640"/>
          </a:xfrm>
          <a:prstGeom prst="rect">
            <a:avLst/>
          </a:prstGeom>
          <a:noFill/>
          <a:ln/>
        </p:spPr>
        <p:txBody>
          <a:bodyPr wrap="square" rtlCol="0" anchor="t"/>
          <a:lstStyle/>
          <a:p>
            <a:pPr marL="0" indent="0" algn="r">
              <a:buNone/>
            </a:pPr>
            <a:r>
              <a:rPr lang="en-US" b="1" i="1" dirty="0">
                <a:solidFill>
                  <a:srgbClr val="8B0000"/>
                </a:solidFill>
                <a:latin typeface="Tw Cen MT" panose="020B0602020104020603" pitchFamily="34" charset="0"/>
                <a:ea typeface="Tw Cen MT" pitchFamily="34" charset="-122"/>
                <a:cs typeface="Tw Cen MT" pitchFamily="34" charset="-120"/>
              </a:rPr>
              <a:t>Firma le "devuelve"</a:t>
            </a:r>
            <a:endParaRPr lang="en-US" dirty="0">
              <a:latin typeface="Tw Cen MT" panose="020B0602020104020603" pitchFamily="34" charset="0"/>
            </a:endParaRPr>
          </a:p>
          <a:p>
            <a:pPr marL="0" indent="0" algn="r">
              <a:buNone/>
            </a:pPr>
            <a:r>
              <a:rPr lang="en-US" b="1" i="1" dirty="0">
                <a:solidFill>
                  <a:srgbClr val="8B0000"/>
                </a:solidFill>
                <a:latin typeface="Tw Cen MT" panose="020B0602020104020603" pitchFamily="34" charset="0"/>
                <a:ea typeface="Tw Cen MT" pitchFamily="34" charset="-122"/>
                <a:cs typeface="Tw Cen MT" pitchFamily="34" charset="-120"/>
              </a:rPr>
              <a:t>valor al empleado</a:t>
            </a:r>
            <a:endParaRPr lang="en-US" dirty="0">
              <a:latin typeface="Tw Cen MT" panose="020B0602020104020603" pitchFamily="34" charset="0"/>
            </a:endParaRPr>
          </a:p>
        </p:txBody>
      </p:sp>
      <p:sp>
        <p:nvSpPr>
          <p:cNvPr id="36" name="Shape 34"/>
          <p:cNvSpPr/>
          <p:nvPr/>
        </p:nvSpPr>
        <p:spPr>
          <a:xfrm>
            <a:off x="1005840" y="5943600"/>
            <a:ext cx="320040" cy="0"/>
          </a:xfrm>
          <a:prstGeom prst="line">
            <a:avLst/>
          </a:prstGeom>
          <a:noFill/>
          <a:ln w="31750">
            <a:solidFill>
              <a:srgbClr val="1E2761"/>
            </a:solidFill>
            <a:prstDash val="solid"/>
          </a:ln>
        </p:spPr>
        <p:txBody>
          <a:bodyPr/>
          <a:lstStyle/>
          <a:p>
            <a:endParaRPr lang="es-419">
              <a:latin typeface="Tw Cen MT" panose="020B0602020104020603" pitchFamily="34" charset="0"/>
            </a:endParaRPr>
          </a:p>
        </p:txBody>
      </p:sp>
      <p:sp>
        <p:nvSpPr>
          <p:cNvPr id="37" name="Text 35"/>
          <p:cNvSpPr/>
          <p:nvPr/>
        </p:nvSpPr>
        <p:spPr>
          <a:xfrm>
            <a:off x="1417320" y="5779008"/>
            <a:ext cx="2743200" cy="320040"/>
          </a:xfrm>
          <a:prstGeom prst="rect">
            <a:avLst/>
          </a:prstGeom>
          <a:noFill/>
          <a:ln/>
        </p:spPr>
        <p:txBody>
          <a:bodyPr wrap="square" rtlCol="0" anchor="ctr"/>
          <a:lstStyle/>
          <a:p>
            <a:pPr marL="0" indent="0">
              <a:buNone/>
            </a:pPr>
            <a:r>
              <a:rPr lang="en-US" dirty="0" err="1">
                <a:solidFill>
                  <a:srgbClr val="1E2761"/>
                </a:solidFill>
                <a:latin typeface="Tw Cen MT" panose="020B0602020104020603" pitchFamily="34" charset="0"/>
                <a:ea typeface="Tw Cen MT" pitchFamily="34" charset="-122"/>
                <a:cs typeface="Tw Cen MT" pitchFamily="34" charset="-120"/>
              </a:rPr>
              <a:t>Productividad</a:t>
            </a:r>
            <a:r>
              <a:rPr lang="en-US" dirty="0">
                <a:solidFill>
                  <a:srgbClr val="1E2761"/>
                </a:solidFill>
                <a:latin typeface="Tw Cen MT" panose="020B0602020104020603" pitchFamily="34" charset="0"/>
                <a:ea typeface="Tw Cen MT" pitchFamily="34" charset="-122"/>
                <a:cs typeface="Tw Cen MT" pitchFamily="34" charset="-120"/>
              </a:rPr>
              <a:t> marginal</a:t>
            </a:r>
            <a:endParaRPr lang="en-US" dirty="0">
              <a:latin typeface="Tw Cen MT" panose="020B0602020104020603" pitchFamily="34" charset="0"/>
            </a:endParaRPr>
          </a:p>
        </p:txBody>
      </p:sp>
      <p:sp>
        <p:nvSpPr>
          <p:cNvPr id="38" name="Shape 36"/>
          <p:cNvSpPr/>
          <p:nvPr/>
        </p:nvSpPr>
        <p:spPr>
          <a:xfrm>
            <a:off x="4663440" y="5943600"/>
            <a:ext cx="320040" cy="0"/>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
        <p:nvSpPr>
          <p:cNvPr id="39" name="Text 37"/>
          <p:cNvSpPr/>
          <p:nvPr/>
        </p:nvSpPr>
        <p:spPr>
          <a:xfrm>
            <a:off x="5074920" y="5779008"/>
            <a:ext cx="2286000" cy="320040"/>
          </a:xfrm>
          <a:prstGeom prst="rect">
            <a:avLst/>
          </a:prstGeom>
          <a:noFill/>
          <a:ln/>
        </p:spPr>
        <p:txBody>
          <a:bodyPr wrap="square" rtlCol="0" anchor="ctr"/>
          <a:lstStyle/>
          <a:p>
            <a:pPr marL="0" indent="0">
              <a:buNone/>
            </a:pPr>
            <a:r>
              <a:rPr lang="en-US" dirty="0">
                <a:solidFill>
                  <a:srgbClr val="8B0000"/>
                </a:solidFill>
                <a:latin typeface="Tw Cen MT" panose="020B0602020104020603" pitchFamily="34" charset="0"/>
                <a:ea typeface="Tw Cen MT" pitchFamily="34" charset="-122"/>
                <a:cs typeface="Tw Cen MT" pitchFamily="34" charset="-120"/>
              </a:rPr>
              <a:t>Salario pagado (W)</a:t>
            </a:r>
            <a:endParaRPr lang="en-US" dirty="0">
              <a:latin typeface="Tw Cen MT" panose="020B0602020104020603" pitchFamily="34" charset="0"/>
            </a:endParaRPr>
          </a:p>
        </p:txBody>
      </p:sp>
      <p:sp>
        <p:nvSpPr>
          <p:cNvPr id="42" name="Shape 23">
            <a:extLst>
              <a:ext uri="{FF2B5EF4-FFF2-40B4-BE49-F238E27FC236}">
                <a16:creationId xmlns:a16="http://schemas.microsoft.com/office/drawing/2014/main" id="{95BD6217-E3B8-80AE-41CD-27F8567051BA}"/>
              </a:ext>
            </a:extLst>
          </p:cNvPr>
          <p:cNvSpPr/>
          <p:nvPr/>
        </p:nvSpPr>
        <p:spPr>
          <a:xfrm flipV="1">
            <a:off x="3337560" y="2675535"/>
            <a:ext cx="658368" cy="353873"/>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
        <p:nvSpPr>
          <p:cNvPr id="43" name="Shape 24">
            <a:extLst>
              <a:ext uri="{FF2B5EF4-FFF2-40B4-BE49-F238E27FC236}">
                <a16:creationId xmlns:a16="http://schemas.microsoft.com/office/drawing/2014/main" id="{E96292B9-0171-60E1-0CDD-03E6F624FC4B}"/>
              </a:ext>
            </a:extLst>
          </p:cNvPr>
          <p:cNvSpPr/>
          <p:nvPr/>
        </p:nvSpPr>
        <p:spPr>
          <a:xfrm flipV="1">
            <a:off x="3995928" y="2360981"/>
            <a:ext cx="731520" cy="314554"/>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
        <p:nvSpPr>
          <p:cNvPr id="44" name="Shape 25">
            <a:extLst>
              <a:ext uri="{FF2B5EF4-FFF2-40B4-BE49-F238E27FC236}">
                <a16:creationId xmlns:a16="http://schemas.microsoft.com/office/drawing/2014/main" id="{B883BAC3-8F28-DF95-C3CA-056D66061631}"/>
              </a:ext>
            </a:extLst>
          </p:cNvPr>
          <p:cNvSpPr/>
          <p:nvPr/>
        </p:nvSpPr>
        <p:spPr>
          <a:xfrm flipV="1">
            <a:off x="4727448" y="2046428"/>
            <a:ext cx="658368" cy="314554"/>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
        <p:nvSpPr>
          <p:cNvPr id="45" name="Shape 26">
            <a:extLst>
              <a:ext uri="{FF2B5EF4-FFF2-40B4-BE49-F238E27FC236}">
                <a16:creationId xmlns:a16="http://schemas.microsoft.com/office/drawing/2014/main" id="{9108C947-6CC5-2758-8ADC-CAFFD6331A51}"/>
              </a:ext>
            </a:extLst>
          </p:cNvPr>
          <p:cNvSpPr/>
          <p:nvPr/>
        </p:nvSpPr>
        <p:spPr>
          <a:xfrm flipV="1">
            <a:off x="5385816" y="1771193"/>
            <a:ext cx="658368" cy="275234"/>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
        <p:nvSpPr>
          <p:cNvPr id="46" name="Shape 27">
            <a:extLst>
              <a:ext uri="{FF2B5EF4-FFF2-40B4-BE49-F238E27FC236}">
                <a16:creationId xmlns:a16="http://schemas.microsoft.com/office/drawing/2014/main" id="{A81BA284-FDDD-9C02-FC50-6C362053B7F0}"/>
              </a:ext>
            </a:extLst>
          </p:cNvPr>
          <p:cNvSpPr/>
          <p:nvPr/>
        </p:nvSpPr>
        <p:spPr>
          <a:xfrm flipV="1">
            <a:off x="6044184" y="1574597"/>
            <a:ext cx="658368" cy="196596"/>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
        <p:nvSpPr>
          <p:cNvPr id="47" name="Shape 28">
            <a:extLst>
              <a:ext uri="{FF2B5EF4-FFF2-40B4-BE49-F238E27FC236}">
                <a16:creationId xmlns:a16="http://schemas.microsoft.com/office/drawing/2014/main" id="{22A30383-7064-4BDB-B2D2-C17A12F70215}"/>
              </a:ext>
            </a:extLst>
          </p:cNvPr>
          <p:cNvSpPr/>
          <p:nvPr/>
        </p:nvSpPr>
        <p:spPr>
          <a:xfrm flipV="1">
            <a:off x="6702552" y="1417321"/>
            <a:ext cx="658368" cy="157277"/>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
        <p:nvSpPr>
          <p:cNvPr id="48" name="Shape 29">
            <a:extLst>
              <a:ext uri="{FF2B5EF4-FFF2-40B4-BE49-F238E27FC236}">
                <a16:creationId xmlns:a16="http://schemas.microsoft.com/office/drawing/2014/main" id="{2A06F4E8-7308-7D73-A420-762F31CECDBE}"/>
              </a:ext>
            </a:extLst>
          </p:cNvPr>
          <p:cNvSpPr/>
          <p:nvPr/>
        </p:nvSpPr>
        <p:spPr>
          <a:xfrm flipV="1">
            <a:off x="7360920" y="1299363"/>
            <a:ext cx="658368" cy="117958"/>
          </a:xfrm>
          <a:prstGeom prst="line">
            <a:avLst/>
          </a:prstGeom>
          <a:noFill/>
          <a:ln w="31750">
            <a:solidFill>
              <a:srgbClr val="8B0000"/>
            </a:solidFill>
            <a:prstDash val="solid"/>
          </a:ln>
        </p:spPr>
        <p:txBody>
          <a:bodyPr/>
          <a:lstStyle/>
          <a:p>
            <a:endParaRPr lang="es-419">
              <a:latin typeface="Tw Cen MT" panose="020B0602020104020603"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304800" y="287179"/>
            <a:ext cx="8534400" cy="492443"/>
          </a:xfrm>
          <a:prstGeom prst="rect">
            <a:avLst/>
          </a:prstGeom>
          <a:noFill/>
        </p:spPr>
        <p:txBody>
          <a:bodyPr wrap="square" anchor="ctr">
            <a:spAutoFit/>
          </a:bodyPr>
          <a:lstStyle/>
          <a:p>
            <a:pPr algn="l"/>
            <a:r>
              <a:rPr sz="2600" b="1" i="0">
                <a:solidFill>
                  <a:srgbClr val="FFFFFF"/>
                </a:solidFill>
                <a:latin typeface="Tw Cen MT" panose="020B0602020104020603" pitchFamily="34" charset="0"/>
              </a:rPr>
              <a:t>El Problema de los Incentivos</a:t>
            </a:r>
          </a:p>
        </p:txBody>
      </p:sp>
      <p:sp>
        <p:nvSpPr>
          <p:cNvPr id="5" name="TextBox 4"/>
          <p:cNvSpPr txBox="1"/>
          <p:nvPr/>
        </p:nvSpPr>
        <p:spPr>
          <a:xfrm>
            <a:off x="304800" y="1220000"/>
            <a:ext cx="8534400" cy="5478423"/>
          </a:xfrm>
          <a:prstGeom prst="rect">
            <a:avLst/>
          </a:prstGeom>
          <a:noFill/>
        </p:spPr>
        <p:txBody>
          <a:bodyPr wrap="square">
            <a:spAutoFit/>
          </a:bodyPr>
          <a:lstStyle/>
          <a:p>
            <a:pPr algn="l">
              <a:spcBef>
                <a:spcPts val="400"/>
              </a:spcBef>
            </a:pPr>
            <a:r>
              <a:rPr sz="2200" b="1" dirty="0" err="1">
                <a:solidFill>
                  <a:srgbClr val="222222"/>
                </a:solidFill>
                <a:latin typeface="Tw Cen MT" panose="020B0602020104020603" pitchFamily="34" charset="0"/>
              </a:rPr>
              <a:t>Existen</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problemas</a:t>
            </a:r>
            <a:r>
              <a:rPr sz="2200" b="1" dirty="0">
                <a:solidFill>
                  <a:srgbClr val="222222"/>
                </a:solidFill>
                <a:latin typeface="Tw Cen MT" panose="020B0602020104020603" pitchFamily="34" charset="0"/>
              </a:rPr>
              <a:t> de </a:t>
            </a:r>
            <a:r>
              <a:rPr sz="2200" b="1" dirty="0" err="1">
                <a:solidFill>
                  <a:srgbClr val="222222"/>
                </a:solidFill>
                <a:latin typeface="Tw Cen MT" panose="020B0602020104020603" pitchFamily="34" charset="0"/>
              </a:rPr>
              <a:t>incentivos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dentro</a:t>
            </a:r>
            <a:r>
              <a:rPr sz="2200" b="1" dirty="0">
                <a:solidFill>
                  <a:srgbClr val="222222"/>
                </a:solidFill>
                <a:latin typeface="Tw Cen MT" panose="020B0602020104020603" pitchFamily="34" charset="0"/>
              </a:rPr>
              <a:t> de las </a:t>
            </a:r>
            <a:r>
              <a:rPr sz="2200" b="1" dirty="0" err="1">
                <a:solidFill>
                  <a:srgbClr val="222222"/>
                </a:solidFill>
                <a:latin typeface="Tw Cen MT" panose="020B0602020104020603" pitchFamily="34" charset="0"/>
              </a:rPr>
              <a:t>empresas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porque</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propietarios</a:t>
            </a:r>
            <a:r>
              <a:rPr sz="2200" b="1" dirty="0">
                <a:solidFill>
                  <a:srgbClr val="222222"/>
                </a:solidFill>
                <a:latin typeface="Tw Cen MT" panose="020B0602020104020603" pitchFamily="34" charset="0"/>
              </a:rPr>
              <a:t> y </a:t>
            </a:r>
            <a:r>
              <a:rPr sz="2200" b="1" dirty="0" err="1">
                <a:solidFill>
                  <a:srgbClr val="222222"/>
                </a:solidFill>
                <a:latin typeface="Tw Cen MT" panose="020B0602020104020603" pitchFamily="34" charset="0"/>
              </a:rPr>
              <a:t>empleados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tienen</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objetivos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fundamentalmente</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diferentes</a:t>
            </a:r>
            <a:r>
              <a:rPr sz="2200" b="1" dirty="0">
                <a:solidFill>
                  <a:srgbClr val="222222"/>
                </a:solidFill>
                <a:latin typeface="Tw Cen MT" panose="020B0602020104020603" pitchFamily="34" charset="0"/>
              </a:rPr>
              <a:t>.</a:t>
            </a:r>
            <a:endParaRPr lang="es-419" sz="2200" b="1" dirty="0">
              <a:solidFill>
                <a:srgbClr val="222222"/>
              </a:solidFill>
              <a:latin typeface="Tw Cen MT" panose="020B0602020104020603" pitchFamily="34" charset="0"/>
            </a:endParaRPr>
          </a:p>
          <a:p>
            <a:pPr marL="342900" indent="-342900" algn="l">
              <a:spcBef>
                <a:spcPts val="400"/>
              </a:spcBef>
              <a:buFont typeface="Arial" panose="020B0604020202020204" pitchFamily="34" charset="0"/>
              <a:buChar char="•"/>
            </a:pPr>
            <a:r>
              <a:rPr sz="2200" b="0" dirty="0">
                <a:solidFill>
                  <a:srgbClr val="222222"/>
                </a:solidFill>
                <a:latin typeface="Tw Cen MT" panose="020B0602020104020603" pitchFamily="34" charset="0"/>
              </a:rPr>
              <a:t>Si </a:t>
            </a:r>
            <a:r>
              <a:rPr sz="2200" b="0" dirty="0" err="1">
                <a:solidFill>
                  <a:srgbClr val="222222"/>
                </a:solidFill>
                <a:latin typeface="Tw Cen MT" panose="020B0602020104020603" pitchFamily="34" charset="0"/>
              </a:rPr>
              <a:t>los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intereses</a:t>
            </a:r>
            <a:r>
              <a:rPr sz="2200" b="0" dirty="0">
                <a:solidFill>
                  <a:srgbClr val="222222"/>
                </a:solidFill>
                <a:latin typeface="Tw Cen MT" panose="020B0602020104020603" pitchFamily="34" charset="0"/>
              </a:rPr>
              <a:t> se </a:t>
            </a:r>
            <a:r>
              <a:rPr sz="2200" b="0" dirty="0" err="1">
                <a:solidFill>
                  <a:srgbClr val="222222"/>
                </a:solidFill>
                <a:latin typeface="Tw Cen MT" panose="020B0602020104020603" pitchFamily="34" charset="0"/>
              </a:rPr>
              <a:t>alinearan</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perfectamente</a:t>
            </a:r>
            <a:r>
              <a:rPr sz="2200" b="0" dirty="0">
                <a:solidFill>
                  <a:srgbClr val="222222"/>
                </a:solidFill>
                <a:latin typeface="Tw Cen MT" panose="020B0602020104020603" pitchFamily="34" charset="0"/>
              </a:rPr>
              <a:t>, no </a:t>
            </a:r>
            <a:r>
              <a:rPr sz="2200" b="0" dirty="0" err="1">
                <a:solidFill>
                  <a:srgbClr val="222222"/>
                </a:solidFill>
                <a:latin typeface="Tw Cen MT" panose="020B0602020104020603" pitchFamily="34" charset="0"/>
              </a:rPr>
              <a:t>habría</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problemas</a:t>
            </a:r>
            <a:r>
              <a:rPr sz="2200" b="0" dirty="0">
                <a:solidFill>
                  <a:srgbClr val="222222"/>
                </a:solidFill>
                <a:latin typeface="Tw Cen MT" panose="020B0602020104020603" pitchFamily="34" charset="0"/>
              </a:rPr>
              <a:t> de </a:t>
            </a:r>
            <a:r>
              <a:rPr sz="2200" b="0" dirty="0" err="1">
                <a:solidFill>
                  <a:srgbClr val="222222"/>
                </a:solidFill>
                <a:latin typeface="Tw Cen MT" panose="020B0602020104020603" pitchFamily="34" charset="0"/>
              </a:rPr>
              <a:t>incentivos</a:t>
            </a:r>
            <a:r>
              <a:rPr sz="2200" b="0" dirty="0">
                <a:solidFill>
                  <a:srgbClr val="222222"/>
                </a:solidFill>
                <a:latin typeface="Tw Cen MT" panose="020B0602020104020603" pitchFamily="34" charset="0"/>
              </a:rPr>
              <a:t>.</a:t>
            </a:r>
          </a:p>
          <a:p>
            <a:pPr marL="342900" indent="-342900" algn="l">
              <a:spcBef>
                <a:spcPts val="400"/>
              </a:spcBef>
              <a:buFont typeface="Arial" panose="020B0604020202020204" pitchFamily="34" charset="0"/>
              <a:buChar char="•"/>
            </a:pPr>
            <a:r>
              <a:rPr sz="2200" b="0" dirty="0">
                <a:solidFill>
                  <a:srgbClr val="222222"/>
                </a:solidFill>
                <a:latin typeface="Tw Cen MT" panose="020B0602020104020603" pitchFamily="34" charset="0"/>
              </a:rPr>
              <a:t>Los </a:t>
            </a:r>
            <a:r>
              <a:rPr sz="2200" b="0" dirty="0" err="1">
                <a:solidFill>
                  <a:srgbClr val="222222"/>
                </a:solidFill>
                <a:latin typeface="Tw Cen MT" panose="020B0602020104020603" pitchFamily="34" charset="0"/>
              </a:rPr>
              <a:t>conflictos</a:t>
            </a:r>
            <a:r>
              <a:rPr sz="2200" b="0" dirty="0">
                <a:solidFill>
                  <a:srgbClr val="222222"/>
                </a:solidFill>
                <a:latin typeface="Tw Cen MT" panose="020B0602020104020603" pitchFamily="34" charset="0"/>
              </a:rPr>
              <a:t> de </a:t>
            </a:r>
            <a:r>
              <a:rPr sz="2200" b="0" dirty="0" err="1">
                <a:solidFill>
                  <a:srgbClr val="222222"/>
                </a:solidFill>
                <a:latin typeface="Tw Cen MT" panose="020B0602020104020603" pitchFamily="34" charset="0"/>
              </a:rPr>
              <a:t>incentivos</a:t>
            </a:r>
            <a:r>
              <a:rPr sz="2200" b="0" dirty="0">
                <a:solidFill>
                  <a:srgbClr val="222222"/>
                </a:solidFill>
                <a:latin typeface="Tw Cen MT" panose="020B0602020104020603" pitchFamily="34" charset="0"/>
              </a:rPr>
              <a:t> se </a:t>
            </a:r>
            <a:r>
              <a:rPr sz="2200" b="0" dirty="0" err="1">
                <a:solidFill>
                  <a:srgbClr val="222222"/>
                </a:solidFill>
                <a:latin typeface="Tw Cen MT" panose="020B0602020104020603" pitchFamily="34" charset="0"/>
              </a:rPr>
              <a:t>minimizan</a:t>
            </a:r>
            <a:r>
              <a:rPr sz="2200" b="0" dirty="0">
                <a:solidFill>
                  <a:srgbClr val="222222"/>
                </a:solidFill>
                <a:latin typeface="Tw Cen MT" panose="020B0602020104020603" pitchFamily="34" charset="0"/>
              </a:rPr>
              <a:t> con </a:t>
            </a:r>
            <a:r>
              <a:rPr sz="2200" b="0" dirty="0" err="1">
                <a:solidFill>
                  <a:srgbClr val="222222"/>
                </a:solidFill>
                <a:latin typeface="Tw Cen MT" panose="020B0602020104020603" pitchFamily="34" charset="0"/>
              </a:rPr>
              <a:t>los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contratos</a:t>
            </a:r>
            <a:r>
              <a:rPr sz="2200" b="0" dirty="0">
                <a:solidFill>
                  <a:srgbClr val="222222"/>
                </a:solidFill>
                <a:latin typeface="Tw Cen MT" panose="020B0602020104020603" pitchFamily="34" charset="0"/>
              </a:rPr>
              <a:t>: las </a:t>
            </a:r>
            <a:r>
              <a:rPr sz="2200" b="0" dirty="0" err="1">
                <a:solidFill>
                  <a:srgbClr val="222222"/>
                </a:solidFill>
                <a:latin typeface="Tw Cen MT" panose="020B0602020104020603" pitchFamily="34" charset="0"/>
              </a:rPr>
              <a:t>empresas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identifican</a:t>
            </a:r>
            <a:r>
              <a:rPr sz="2200" b="0" dirty="0">
                <a:solidFill>
                  <a:srgbClr val="222222"/>
                </a:solidFill>
                <a:latin typeface="Tw Cen MT" panose="020B0602020104020603" pitchFamily="34" charset="0"/>
              </a:rPr>
              <a:t> las </a:t>
            </a:r>
            <a:r>
              <a:rPr sz="2200" b="0" dirty="0" err="1">
                <a:solidFill>
                  <a:srgbClr val="222222"/>
                </a:solidFill>
                <a:latin typeface="Tw Cen MT" panose="020B0602020104020603" pitchFamily="34" charset="0"/>
              </a:rPr>
              <a:t>actividades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más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eficientes</a:t>
            </a:r>
            <a:r>
              <a:rPr sz="2200" b="0" dirty="0">
                <a:solidFill>
                  <a:srgbClr val="222222"/>
                </a:solidFill>
                <a:latin typeface="Tw Cen MT" panose="020B0602020104020603" pitchFamily="34" charset="0"/>
              </a:rPr>
              <a:t> y pagan </a:t>
            </a:r>
            <a:r>
              <a:rPr sz="2200" b="0" dirty="0" err="1">
                <a:solidFill>
                  <a:srgbClr val="222222"/>
                </a:solidFill>
                <a:latin typeface="Tw Cen MT" panose="020B0602020104020603" pitchFamily="34" charset="0"/>
              </a:rPr>
              <a:t>por</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ellas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si</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pueden</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observarlas</a:t>
            </a:r>
            <a:r>
              <a:rPr sz="2200" b="0" dirty="0">
                <a:solidFill>
                  <a:srgbClr val="222222"/>
                </a:solidFill>
                <a:latin typeface="Tw Cen MT" panose="020B0602020104020603" pitchFamily="34" charset="0"/>
              </a:rPr>
              <a:t> a un </a:t>
            </a:r>
            <a:r>
              <a:rPr sz="2200" b="0" dirty="0" err="1">
                <a:solidFill>
                  <a:srgbClr val="222222"/>
                </a:solidFill>
                <a:latin typeface="Tw Cen MT" panose="020B0602020104020603" pitchFamily="34" charset="0"/>
              </a:rPr>
              <a:t>costo</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razonable</a:t>
            </a:r>
            <a:r>
              <a:rPr sz="2200" b="0" dirty="0">
                <a:solidFill>
                  <a:srgbClr val="222222"/>
                </a:solidFill>
                <a:latin typeface="Tw Cen MT" panose="020B0602020104020603" pitchFamily="34" charset="0"/>
              </a:rPr>
              <a:t>).</a:t>
            </a:r>
          </a:p>
          <a:p>
            <a:pPr algn="l">
              <a:spcBef>
                <a:spcPts val="400"/>
              </a:spcBef>
              <a:buNone/>
            </a:pPr>
            <a:endParaRPr lang="es-419" sz="2200" b="1" dirty="0">
              <a:solidFill>
                <a:srgbClr val="8B0000"/>
              </a:solidFill>
              <a:latin typeface="Tw Cen MT" panose="020B0602020104020603" pitchFamily="34" charset="0"/>
            </a:endParaRPr>
          </a:p>
          <a:p>
            <a:pPr algn="l">
              <a:spcBef>
                <a:spcPts val="400"/>
              </a:spcBef>
              <a:buNone/>
            </a:pPr>
            <a:r>
              <a:rPr sz="2200" b="1" dirty="0">
                <a:solidFill>
                  <a:srgbClr val="8B0000"/>
                </a:solidFill>
                <a:latin typeface="Tw Cen MT" panose="020B0602020104020603" pitchFamily="34" charset="0"/>
              </a:rPr>
              <a:t>TRADE-OFF CLAVE</a:t>
            </a:r>
          </a:p>
          <a:p>
            <a:pPr algn="l">
              <a:spcBef>
                <a:spcPts val="400"/>
              </a:spcBef>
              <a:buFont typeface="Tw Cen MT"/>
              <a:buChar char="■"/>
            </a:pPr>
            <a:r>
              <a:rPr sz="2200" b="1" dirty="0">
                <a:solidFill>
                  <a:srgbClr val="222222"/>
                </a:solidFill>
                <a:latin typeface="Tw Cen MT" panose="020B0602020104020603" pitchFamily="34" charset="0"/>
              </a:rPr>
              <a:t>La mayor </a:t>
            </a:r>
            <a:r>
              <a:rPr sz="2200" b="1" dirty="0" err="1">
                <a:solidFill>
                  <a:srgbClr val="222222"/>
                </a:solidFill>
                <a:latin typeface="Tw Cen MT" panose="020B0602020104020603" pitchFamily="34" charset="0"/>
              </a:rPr>
              <a:t>parte</a:t>
            </a:r>
            <a:r>
              <a:rPr sz="2200" b="1" dirty="0">
                <a:solidFill>
                  <a:srgbClr val="222222"/>
                </a:solidFill>
                <a:latin typeface="Tw Cen MT" panose="020B0602020104020603" pitchFamily="34" charset="0"/>
              </a:rPr>
              <a:t> de </a:t>
            </a:r>
            <a:r>
              <a:rPr sz="2200" b="1" dirty="0" err="1">
                <a:solidFill>
                  <a:srgbClr val="222222"/>
                </a:solidFill>
                <a:latin typeface="Tw Cen MT" panose="020B0602020104020603" pitchFamily="34" charset="0"/>
              </a:rPr>
              <a:t>los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costos</a:t>
            </a:r>
            <a:r>
              <a:rPr sz="2200" b="1" dirty="0">
                <a:solidFill>
                  <a:srgbClr val="222222"/>
                </a:solidFill>
                <a:latin typeface="Tw Cen MT" panose="020B0602020104020603" pitchFamily="34" charset="0"/>
              </a:rPr>
              <a:t> de </a:t>
            </a:r>
            <a:r>
              <a:rPr sz="2200" b="1" dirty="0" err="1">
                <a:solidFill>
                  <a:srgbClr val="222222"/>
                </a:solidFill>
                <a:latin typeface="Tw Cen MT" panose="020B0602020104020603" pitchFamily="34" charset="0"/>
              </a:rPr>
              <a:t>esforzarse</a:t>
            </a:r>
            <a:r>
              <a:rPr sz="2200" b="1" dirty="0">
                <a:solidFill>
                  <a:srgbClr val="222222"/>
                </a:solidFill>
                <a:latin typeface="Tw Cen MT" panose="020B0602020104020603" pitchFamily="34" charset="0"/>
              </a:rPr>
              <a:t> son </a:t>
            </a:r>
            <a:r>
              <a:rPr sz="2200" b="1" dirty="0" err="1">
                <a:solidFill>
                  <a:srgbClr val="222222"/>
                </a:solidFill>
                <a:latin typeface="Tw Cen MT" panose="020B0602020104020603" pitchFamily="34" charset="0"/>
              </a:rPr>
              <a:t>asumidos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por</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los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empleados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mientras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que</a:t>
            </a:r>
            <a:r>
              <a:rPr sz="2200" b="1" dirty="0">
                <a:solidFill>
                  <a:srgbClr val="222222"/>
                </a:solidFill>
                <a:latin typeface="Tw Cen MT" panose="020B0602020104020603" pitchFamily="34" charset="0"/>
              </a:rPr>
              <a:t> la mayor </a:t>
            </a:r>
            <a:r>
              <a:rPr sz="2200" b="1" dirty="0" err="1">
                <a:solidFill>
                  <a:srgbClr val="222222"/>
                </a:solidFill>
                <a:latin typeface="Tw Cen MT" panose="020B0602020104020603" pitchFamily="34" charset="0"/>
              </a:rPr>
              <a:t>parte</a:t>
            </a:r>
            <a:r>
              <a:rPr sz="2200" b="1" dirty="0">
                <a:solidFill>
                  <a:srgbClr val="222222"/>
                </a:solidFill>
                <a:latin typeface="Tw Cen MT" panose="020B0602020104020603" pitchFamily="34" charset="0"/>
              </a:rPr>
              <a:t> de </a:t>
            </a:r>
            <a:r>
              <a:rPr sz="2200" b="1" dirty="0" err="1">
                <a:solidFill>
                  <a:srgbClr val="222222"/>
                </a:solidFill>
                <a:latin typeface="Tw Cen MT" panose="020B0602020104020603" pitchFamily="34" charset="0"/>
              </a:rPr>
              <a:t>los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beneficios</a:t>
            </a:r>
            <a:r>
              <a:rPr sz="2200" b="1" dirty="0">
                <a:solidFill>
                  <a:srgbClr val="222222"/>
                </a:solidFill>
                <a:latin typeface="Tw Cen MT" panose="020B0602020104020603" pitchFamily="34" charset="0"/>
              </a:rPr>
              <a:t> van a </a:t>
            </a:r>
            <a:r>
              <a:rPr sz="2200" b="1" dirty="0" err="1">
                <a:solidFill>
                  <a:srgbClr val="222222"/>
                </a:solidFill>
                <a:latin typeface="Tw Cen MT" panose="020B0602020104020603" pitchFamily="34" charset="0"/>
              </a:rPr>
              <a:t>los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dueños</a:t>
            </a:r>
            <a:r>
              <a:rPr sz="2200" b="1" dirty="0">
                <a:solidFill>
                  <a:srgbClr val="222222"/>
                </a:solidFill>
                <a:latin typeface="Tw Cen MT" panose="020B0602020104020603" pitchFamily="34" charset="0"/>
              </a:rPr>
              <a:t>.</a:t>
            </a:r>
          </a:p>
          <a:p>
            <a:pPr algn="l">
              <a:spcBef>
                <a:spcPts val="400"/>
              </a:spcBef>
              <a:buFont typeface="Tw Cen MT"/>
              <a:buChar char="■"/>
            </a:pPr>
            <a:r>
              <a:rPr sz="2200" b="0" dirty="0">
                <a:solidFill>
                  <a:srgbClr val="222222"/>
                </a:solidFill>
                <a:latin typeface="Tw Cen MT" panose="020B0602020104020603" pitchFamily="34" charset="0"/>
              </a:rPr>
              <a:t>En un mercado </a:t>
            </a:r>
            <a:r>
              <a:rPr sz="2200" b="0" dirty="0" err="1">
                <a:solidFill>
                  <a:srgbClr val="222222"/>
                </a:solidFill>
                <a:latin typeface="Tw Cen MT" panose="020B0602020104020603" pitchFamily="34" charset="0"/>
              </a:rPr>
              <a:t>competitivo</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si</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el</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trabajo</a:t>
            </a:r>
            <a:r>
              <a:rPr sz="2200" b="0" dirty="0">
                <a:solidFill>
                  <a:srgbClr val="222222"/>
                </a:solidFill>
                <a:latin typeface="Tw Cen MT" panose="020B0602020104020603" pitchFamily="34" charset="0"/>
              </a:rPr>
              <a:t> es poco </a:t>
            </a:r>
            <a:r>
              <a:rPr sz="2200" b="0" dirty="0" err="1">
                <a:solidFill>
                  <a:srgbClr val="222222"/>
                </a:solidFill>
                <a:latin typeface="Tw Cen MT" panose="020B0602020104020603" pitchFamily="34" charset="0"/>
              </a:rPr>
              <a:t>atractivo</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requiere</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esfuerzo</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físico</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tiene</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diferencias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compensatorias</a:t>
            </a:r>
            <a:r>
              <a:rPr sz="2200" b="0" dirty="0">
                <a:solidFill>
                  <a:srgbClr val="222222"/>
                </a:solidFill>
                <a:latin typeface="Tw Cen MT" panose="020B0602020104020603" pitchFamily="34"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98090-A9B0-BD55-D170-F482BE0B49A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1C5516-FAFC-51D9-A59B-F00E4DE4E6DC}"/>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a:extLst>
              <a:ext uri="{FF2B5EF4-FFF2-40B4-BE49-F238E27FC236}">
                <a16:creationId xmlns:a16="http://schemas.microsoft.com/office/drawing/2014/main" id="{37C90D59-99AB-2544-2AC6-43D8BAFAF0E3}"/>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a:extLst>
              <a:ext uri="{FF2B5EF4-FFF2-40B4-BE49-F238E27FC236}">
                <a16:creationId xmlns:a16="http://schemas.microsoft.com/office/drawing/2014/main" id="{F7706EE8-1C3B-7F45-7471-FEC9A13CC5EC}"/>
              </a:ext>
            </a:extLst>
          </p:cNvPr>
          <p:cNvSpPr txBox="1"/>
          <p:nvPr/>
        </p:nvSpPr>
        <p:spPr>
          <a:xfrm>
            <a:off x="304800" y="287179"/>
            <a:ext cx="8534400" cy="492443"/>
          </a:xfrm>
          <a:prstGeom prst="rect">
            <a:avLst/>
          </a:prstGeom>
          <a:noFill/>
        </p:spPr>
        <p:txBody>
          <a:bodyPr wrap="square" anchor="ctr">
            <a:spAutoFit/>
          </a:bodyPr>
          <a:lstStyle/>
          <a:p>
            <a:pPr algn="l"/>
            <a:r>
              <a:rPr sz="2600" b="1" i="0">
                <a:solidFill>
                  <a:srgbClr val="FFFFFF"/>
                </a:solidFill>
                <a:latin typeface="Tw Cen MT" panose="020B0602020104020603" pitchFamily="34" charset="0"/>
              </a:rPr>
              <a:t>El Problema de los Incentivos</a:t>
            </a:r>
          </a:p>
        </p:txBody>
      </p:sp>
      <p:sp>
        <p:nvSpPr>
          <p:cNvPr id="6" name="Footer Placeholder 4">
            <a:extLst>
              <a:ext uri="{FF2B5EF4-FFF2-40B4-BE49-F238E27FC236}">
                <a16:creationId xmlns:a16="http://schemas.microsoft.com/office/drawing/2014/main" id="{457A493D-5EE8-2F57-9BE9-390BC4555F20}"/>
              </a:ext>
            </a:extLst>
          </p:cNvPr>
          <p:cNvSpPr txBox="1">
            <a:spLocks/>
          </p:cNvSpPr>
          <p:nvPr/>
        </p:nvSpPr>
        <p:spPr bwMode="auto">
          <a:xfrm>
            <a:off x="533400" y="5550337"/>
            <a:ext cx="8458200" cy="738664"/>
          </a:xfrm>
          <a:prstGeom prst="rect">
            <a:avLst/>
          </a:prstGeom>
          <a:noFill/>
        </p:spPr>
        <p:txBody>
          <a:bodyPr vert="horz" wrap="square" rtlCol="0" anchor="ctr">
            <a:spAutoFit/>
          </a:bodyPr>
          <a:lstStyle>
            <a:defPPr>
              <a:defRPr lang="en-US"/>
            </a:defPPr>
            <a:lvl1pPr algn="r" rtl="0" eaLnBrk="1" fontAlgn="base" latinLnBrk="0" hangingPunct="1">
              <a:spcBef>
                <a:spcPct val="0"/>
              </a:spcBef>
              <a:spcAft>
                <a:spcPct val="0"/>
              </a:spcAft>
              <a:defRPr kumimoji="0" sz="1400" kern="1200">
                <a:solidFill>
                  <a:schemeClr val="tx2"/>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l" defTabSz="914400" eaLnBrk="0" hangingPunct="0"/>
            <a:r>
              <a:rPr lang="es-AR" b="1">
                <a:solidFill>
                  <a:srgbClr val="7030A0"/>
                </a:solidFill>
                <a:latin typeface="Tw Cen MT" panose="020B0602020104020603" pitchFamily="34" charset="0"/>
              </a:rPr>
              <a:t>Lectura complementaria: COMPORTAMIENTO HUMANO Y NIVELES DE TRABAJO EN MODELO ST-IT: INCIDENCIA DE FACTORES CULTURALES Y DE ENTORNO SOCIAL – </a:t>
            </a:r>
          </a:p>
          <a:p>
            <a:pPr algn="l" defTabSz="914400" eaLnBrk="0" hangingPunct="0"/>
            <a:r>
              <a:rPr lang="es-AR" b="1">
                <a:solidFill>
                  <a:srgbClr val="7030A0"/>
                </a:solidFill>
                <a:latin typeface="Tw Cen MT" panose="020B0602020104020603" pitchFamily="34" charset="0"/>
              </a:rPr>
              <a:t>Diego  FANO - UCEMA Documentos de Trabajo</a:t>
            </a:r>
            <a:endParaRPr lang="es-ES" altLang="es-AR" b="1" dirty="0">
              <a:solidFill>
                <a:srgbClr val="7030A0"/>
              </a:solidFill>
              <a:latin typeface="Tw Cen MT" panose="020B0602020104020603" pitchFamily="34" charset="0"/>
            </a:endParaRPr>
          </a:p>
        </p:txBody>
      </p:sp>
      <p:pic>
        <p:nvPicPr>
          <p:cNvPr id="7" name="Imagen 6">
            <a:extLst>
              <a:ext uri="{FF2B5EF4-FFF2-40B4-BE49-F238E27FC236}">
                <a16:creationId xmlns:a16="http://schemas.microsoft.com/office/drawing/2014/main" id="{E0983271-5F5C-A09E-3C81-BCE539A59995}"/>
              </a:ext>
            </a:extLst>
          </p:cNvPr>
          <p:cNvPicPr>
            <a:picLocks noChangeAspect="1"/>
          </p:cNvPicPr>
          <p:nvPr/>
        </p:nvPicPr>
        <p:blipFill>
          <a:blip r:embed="rId2"/>
          <a:stretch>
            <a:fillRect/>
          </a:stretch>
        </p:blipFill>
        <p:spPr>
          <a:xfrm>
            <a:off x="454024" y="1685294"/>
            <a:ext cx="4117976" cy="3487412"/>
          </a:xfrm>
          <a:prstGeom prst="rect">
            <a:avLst/>
          </a:prstGeom>
        </p:spPr>
      </p:pic>
      <p:pic>
        <p:nvPicPr>
          <p:cNvPr id="8" name="Imagen 7">
            <a:extLst>
              <a:ext uri="{FF2B5EF4-FFF2-40B4-BE49-F238E27FC236}">
                <a16:creationId xmlns:a16="http://schemas.microsoft.com/office/drawing/2014/main" id="{0CCBA5D4-DF52-8479-F274-74D2B0F61813}"/>
              </a:ext>
            </a:extLst>
          </p:cNvPr>
          <p:cNvPicPr>
            <a:picLocks noChangeAspect="1"/>
          </p:cNvPicPr>
          <p:nvPr/>
        </p:nvPicPr>
        <p:blipFill>
          <a:blip r:embed="rId3"/>
          <a:stretch>
            <a:fillRect/>
          </a:stretch>
        </p:blipFill>
        <p:spPr>
          <a:xfrm>
            <a:off x="4556351" y="1576162"/>
            <a:ext cx="4435249" cy="3388612"/>
          </a:xfrm>
          <a:prstGeom prst="rect">
            <a:avLst/>
          </a:prstGeom>
        </p:spPr>
      </p:pic>
    </p:spTree>
    <p:extLst>
      <p:ext uri="{BB962C8B-B14F-4D97-AF65-F5344CB8AC3E}">
        <p14:creationId xmlns:p14="http://schemas.microsoft.com/office/powerpoint/2010/main" val="2329416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304800" y="87124"/>
            <a:ext cx="8534400" cy="892552"/>
          </a:xfrm>
          <a:prstGeom prst="rect">
            <a:avLst/>
          </a:prstGeom>
          <a:noFill/>
        </p:spPr>
        <p:txBody>
          <a:bodyPr wrap="square" anchor="ctr">
            <a:spAutoFit/>
          </a:bodyPr>
          <a:lstStyle/>
          <a:p>
            <a:pPr algn="l"/>
            <a:r>
              <a:rPr sz="2600" b="1" i="0">
                <a:solidFill>
                  <a:srgbClr val="FFFFFF"/>
                </a:solidFill>
                <a:latin typeface="Tw Cen MT" panose="020B0602020104020603" pitchFamily="34" charset="0"/>
              </a:rPr>
              <a:t>TALLER — Caso Quantum / Nextel: El Bonus y los Imprevistos</a:t>
            </a:r>
          </a:p>
        </p:txBody>
      </p:sp>
      <p:sp>
        <p:nvSpPr>
          <p:cNvPr id="5" name="TextBox 4"/>
          <p:cNvSpPr txBox="1"/>
          <p:nvPr/>
        </p:nvSpPr>
        <p:spPr>
          <a:xfrm>
            <a:off x="304800" y="1389995"/>
            <a:ext cx="8534400" cy="5237331"/>
          </a:xfrm>
          <a:prstGeom prst="rect">
            <a:avLst/>
          </a:prstGeom>
          <a:noFill/>
        </p:spPr>
        <p:txBody>
          <a:bodyPr wrap="square">
            <a:spAutoFit/>
          </a:bodyPr>
          <a:lstStyle/>
          <a:p>
            <a:pPr>
              <a:spcBef>
                <a:spcPts val="400"/>
              </a:spcBef>
            </a:pPr>
            <a:r>
              <a:rPr lang="es-419" b="0" dirty="0">
                <a:solidFill>
                  <a:srgbClr val="FFFFFF"/>
                </a:solidFill>
                <a:latin typeface="Tw Cen MT" panose="020B0602020104020603" pitchFamily="34" charset="0"/>
              </a:rPr>
              <a:t>L</a:t>
            </a:r>
            <a:r>
              <a:rPr dirty="0" err="1">
                <a:solidFill>
                  <a:srgbClr val="FFFFFF"/>
                </a:solidFill>
                <a:latin typeface="Tw Cen MT" panose="020B0602020104020603" pitchFamily="34" charset="0"/>
              </a:rPr>
              <a:t>ynn</a:t>
            </a:r>
            <a:r>
              <a:rPr dirty="0">
                <a:solidFill>
                  <a:srgbClr val="FFFFFF"/>
                </a:solidFill>
                <a:latin typeface="Tw Cen MT" panose="020B0602020104020603" pitchFamily="34" charset="0"/>
              </a:rPr>
              <a:t> Kraft es </a:t>
            </a:r>
            <a:r>
              <a:rPr dirty="0" err="1">
                <a:solidFill>
                  <a:srgbClr val="FFFFFF"/>
                </a:solidFill>
                <a:latin typeface="Tw Cen MT" panose="020B0602020104020603" pitchFamily="34" charset="0"/>
              </a:rPr>
              <a:t>gerente</a:t>
            </a:r>
            <a:r>
              <a:rPr dirty="0">
                <a:solidFill>
                  <a:srgbClr val="FFFFFF"/>
                </a:solidFill>
                <a:latin typeface="Tw Cen MT" panose="020B0602020104020603" pitchFamily="34" charset="0"/>
              </a:rPr>
              <a:t> de </a:t>
            </a:r>
            <a:r>
              <a:rPr dirty="0" err="1">
                <a:solidFill>
                  <a:srgbClr val="FFFFFF"/>
                </a:solidFill>
                <a:latin typeface="Tw Cen MT" panose="020B0602020104020603" pitchFamily="34" charset="0"/>
              </a:rPr>
              <a:t>división</a:t>
            </a:r>
            <a:r>
              <a:rPr lang="es-419" dirty="0">
                <a:solidFill>
                  <a:srgbClr val="FFFFFF"/>
                </a:solidFill>
                <a:latin typeface="Tw Cen MT" panose="020B0602020104020603" pitchFamily="34" charset="0"/>
              </a:rPr>
              <a:t> en Quantum – Nextel,</a:t>
            </a:r>
            <a:r>
              <a:rPr lang="es-AR" dirty="0">
                <a:solidFill>
                  <a:srgbClr val="FFFFFF"/>
                </a:solidFill>
                <a:latin typeface="Tw Cen MT" panose="020B0602020104020603" pitchFamily="34" charset="0"/>
              </a:rPr>
              <a:t> con sede en San José, California</a:t>
            </a:r>
            <a:r>
              <a:rPr lang="es-419" dirty="0">
                <a:solidFill>
                  <a:srgbClr val="FFFFFF"/>
                </a:solidFill>
                <a:latin typeface="Tw Cen MT" panose="020B0602020104020603" pitchFamily="34" charset="0"/>
              </a:rPr>
              <a:t>. F</a:t>
            </a:r>
            <a:r>
              <a:rPr lang="es-AR" dirty="0" err="1">
                <a:solidFill>
                  <a:srgbClr val="FFFFFF"/>
                </a:solidFill>
                <a:latin typeface="Tw Cen MT" panose="020B0602020104020603" pitchFamily="34" charset="0"/>
              </a:rPr>
              <a:t>abrica</a:t>
            </a:r>
            <a:r>
              <a:rPr lang="es-AR" dirty="0">
                <a:solidFill>
                  <a:srgbClr val="FFFFFF"/>
                </a:solidFill>
                <a:latin typeface="Tw Cen MT" panose="020B0602020104020603" pitchFamily="34" charset="0"/>
              </a:rPr>
              <a:t> semiconductores que convierten señales analógicas en señales digitales. </a:t>
            </a:r>
          </a:p>
          <a:p>
            <a:pPr>
              <a:spcBef>
                <a:spcPts val="400"/>
              </a:spcBef>
            </a:pPr>
            <a:r>
              <a:rPr dirty="0">
                <a:solidFill>
                  <a:srgbClr val="FFFFFF"/>
                </a:solidFill>
                <a:latin typeface="Tw Cen MT" panose="020B0602020104020603" pitchFamily="34" charset="0"/>
              </a:rPr>
              <a:t>Su </a:t>
            </a:r>
            <a:r>
              <a:rPr dirty="0" err="1">
                <a:solidFill>
                  <a:srgbClr val="FFFFFF"/>
                </a:solidFill>
                <a:latin typeface="Tw Cen MT" panose="020B0602020104020603" pitchFamily="34" charset="0"/>
              </a:rPr>
              <a:t>compensación</a:t>
            </a:r>
            <a:r>
              <a:rPr dirty="0">
                <a:solidFill>
                  <a:srgbClr val="FFFFFF"/>
                </a:solidFill>
                <a:latin typeface="Tw Cen MT" panose="020B0602020104020603" pitchFamily="34" charset="0"/>
              </a:rPr>
              <a:t>: </a:t>
            </a:r>
            <a:r>
              <a:rPr dirty="0" err="1">
                <a:solidFill>
                  <a:srgbClr val="FFFFFF"/>
                </a:solidFill>
                <a:latin typeface="Tw Cen MT" panose="020B0602020104020603" pitchFamily="34" charset="0"/>
              </a:rPr>
              <a:t>salario</a:t>
            </a:r>
            <a:r>
              <a:rPr dirty="0">
                <a:solidFill>
                  <a:srgbClr val="FFFFFF"/>
                </a:solidFill>
                <a:latin typeface="Tw Cen MT" panose="020B0602020104020603" pitchFamily="34" charset="0"/>
              </a:rPr>
              <a:t> base de U$S 50.000 + bonus del 2% </a:t>
            </a:r>
            <a:r>
              <a:rPr dirty="0" err="1">
                <a:solidFill>
                  <a:srgbClr val="FFFFFF"/>
                </a:solidFill>
                <a:latin typeface="Tw Cen MT" panose="020B0602020104020603" pitchFamily="34" charset="0"/>
              </a:rPr>
              <a:t>si</a:t>
            </a:r>
            <a:r>
              <a:rPr dirty="0">
                <a:solidFill>
                  <a:srgbClr val="FFFFFF"/>
                </a:solidFill>
                <a:latin typeface="Tw Cen MT" panose="020B0602020104020603" pitchFamily="34" charset="0"/>
              </a:rPr>
              <a:t> las </a:t>
            </a:r>
            <a:r>
              <a:rPr dirty="0" err="1">
                <a:solidFill>
                  <a:srgbClr val="FFFFFF"/>
                </a:solidFill>
                <a:latin typeface="Tw Cen MT" panose="020B0602020104020603" pitchFamily="34" charset="0"/>
              </a:rPr>
              <a:t>ganancias</a:t>
            </a:r>
            <a:r>
              <a:rPr dirty="0">
                <a:solidFill>
                  <a:srgbClr val="FFFFFF"/>
                </a:solidFill>
                <a:latin typeface="Tw Cen MT" panose="020B0602020104020603" pitchFamily="34" charset="0"/>
              </a:rPr>
              <a:t> </a:t>
            </a:r>
            <a:r>
              <a:rPr dirty="0" err="1">
                <a:solidFill>
                  <a:srgbClr val="FFFFFF"/>
                </a:solidFill>
                <a:latin typeface="Tw Cen MT" panose="020B0602020104020603" pitchFamily="34" charset="0"/>
              </a:rPr>
              <a:t>superan</a:t>
            </a:r>
            <a:r>
              <a:rPr dirty="0">
                <a:solidFill>
                  <a:srgbClr val="FFFFFF"/>
                </a:solidFill>
                <a:latin typeface="Tw Cen MT" panose="020B0602020104020603" pitchFamily="34" charset="0"/>
              </a:rPr>
              <a:t> U$S 10 </a:t>
            </a:r>
            <a:r>
              <a:rPr dirty="0" err="1">
                <a:solidFill>
                  <a:srgbClr val="FFFFFF"/>
                </a:solidFill>
                <a:latin typeface="Tw Cen MT" panose="020B0602020104020603" pitchFamily="34" charset="0"/>
              </a:rPr>
              <a:t>millones</a:t>
            </a:r>
            <a:r>
              <a:rPr dirty="0">
                <a:solidFill>
                  <a:srgbClr val="FFFFFF"/>
                </a:solidFill>
                <a:latin typeface="Tw Cen MT" panose="020B0602020104020603" pitchFamily="34" charset="0"/>
              </a:rPr>
              <a:t>. El </a:t>
            </a:r>
            <a:r>
              <a:rPr dirty="0" err="1">
                <a:solidFill>
                  <a:srgbClr val="FFFFFF"/>
                </a:solidFill>
                <a:latin typeface="Tw Cen MT" panose="020B0602020104020603" pitchFamily="34" charset="0"/>
              </a:rPr>
              <a:t>año</a:t>
            </a:r>
            <a:r>
              <a:rPr dirty="0">
                <a:solidFill>
                  <a:srgbClr val="FFFFFF"/>
                </a:solidFill>
                <a:latin typeface="Tw Cen MT" panose="020B0602020104020603" pitchFamily="34" charset="0"/>
              </a:rPr>
              <a:t> anterior: </a:t>
            </a:r>
            <a:r>
              <a:rPr dirty="0" err="1">
                <a:solidFill>
                  <a:srgbClr val="FFFFFF"/>
                </a:solidFill>
                <a:latin typeface="Tw Cen MT" panose="020B0602020104020603" pitchFamily="34" charset="0"/>
              </a:rPr>
              <a:t>ganancias</a:t>
            </a:r>
            <a:r>
              <a:rPr dirty="0">
                <a:solidFill>
                  <a:srgbClr val="FFFFFF"/>
                </a:solidFill>
                <a:latin typeface="Tw Cen MT" panose="020B0602020104020603" pitchFamily="34" charset="0"/>
              </a:rPr>
              <a:t> de U$S 12 </a:t>
            </a:r>
            <a:r>
              <a:rPr dirty="0" err="1">
                <a:solidFill>
                  <a:srgbClr val="FFFFFF"/>
                </a:solidFill>
                <a:latin typeface="Tw Cen MT" panose="020B0602020104020603" pitchFamily="34" charset="0"/>
              </a:rPr>
              <a:t>millones</a:t>
            </a:r>
            <a:r>
              <a:rPr dirty="0">
                <a:solidFill>
                  <a:srgbClr val="FFFFFF"/>
                </a:solidFill>
                <a:latin typeface="Tw Cen MT" panose="020B0602020104020603" pitchFamily="34" charset="0"/>
              </a:rPr>
              <a:t> → bonus de U$S 40.000.</a:t>
            </a:r>
            <a:endParaRPr lang="es-419" dirty="0">
              <a:solidFill>
                <a:srgbClr val="FFFFFF"/>
              </a:solidFill>
              <a:latin typeface="Tw Cen MT" panose="020B0602020104020603" pitchFamily="34" charset="0"/>
            </a:endParaRPr>
          </a:p>
          <a:p>
            <a:pPr algn="l">
              <a:spcBef>
                <a:spcPts val="400"/>
              </a:spcBef>
              <a:buFont typeface="Tw Cen MT"/>
              <a:buChar char="■"/>
            </a:pPr>
            <a:endParaRPr b="0" dirty="0">
              <a:solidFill>
                <a:srgbClr val="FFFFFF"/>
              </a:solidFill>
              <a:latin typeface="Tw Cen MT" panose="020B0602020104020603" pitchFamily="34" charset="0"/>
            </a:endParaRPr>
          </a:p>
          <a:p>
            <a:pPr algn="l">
              <a:spcBef>
                <a:spcPts val="400"/>
              </a:spcBef>
              <a:buNone/>
            </a:pPr>
            <a:r>
              <a:rPr b="1" dirty="0">
                <a:solidFill>
                  <a:srgbClr val="52B788"/>
                </a:solidFill>
                <a:latin typeface="Tw Cen MT" panose="020B0602020104020603" pitchFamily="34" charset="0"/>
              </a:rPr>
              <a:t>ESTE AÑO OCURRIERON DOS EVENTOS</a:t>
            </a:r>
            <a:r>
              <a:rPr lang="es-419" b="1" dirty="0">
                <a:solidFill>
                  <a:srgbClr val="52B788"/>
                </a:solidFill>
                <a:latin typeface="Tw Cen MT" panose="020B0602020104020603" pitchFamily="34" charset="0"/>
              </a:rPr>
              <a:t>:</a:t>
            </a:r>
          </a:p>
          <a:p>
            <a:pPr marL="342900" indent="-342900" algn="l">
              <a:spcBef>
                <a:spcPts val="400"/>
              </a:spcBef>
              <a:buFont typeface="Arial" panose="020B0604020202020204" pitchFamily="34" charset="0"/>
              <a:buChar char="•"/>
            </a:pPr>
            <a:r>
              <a:rPr b="0" dirty="0">
                <a:solidFill>
                  <a:srgbClr val="FFFFFF"/>
                </a:solidFill>
                <a:latin typeface="Tw Cen MT" panose="020B0602020104020603" pitchFamily="34" charset="0"/>
              </a:rPr>
              <a:t>El </a:t>
            </a:r>
            <a:r>
              <a:rPr b="0" dirty="0" err="1">
                <a:solidFill>
                  <a:srgbClr val="FFFFFF"/>
                </a:solidFill>
                <a:latin typeface="Tw Cen MT" panose="020B0602020104020603" pitchFamily="34" charset="0"/>
              </a:rPr>
              <a:t>precio</a:t>
            </a:r>
            <a:r>
              <a:rPr b="0" dirty="0">
                <a:solidFill>
                  <a:srgbClr val="FFFFFF"/>
                </a:solidFill>
                <a:latin typeface="Tw Cen MT" panose="020B0602020104020603" pitchFamily="34" charset="0"/>
              </a:rPr>
              <a:t> del </a:t>
            </a:r>
            <a:r>
              <a:rPr b="0" dirty="0" err="1">
                <a:solidFill>
                  <a:srgbClr val="FFFFFF"/>
                </a:solidFill>
                <a:latin typeface="Tw Cen MT" panose="020B0602020104020603" pitchFamily="34" charset="0"/>
              </a:rPr>
              <a:t>oro</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insumo</a:t>
            </a:r>
            <a:r>
              <a:rPr b="0" dirty="0">
                <a:solidFill>
                  <a:srgbClr val="FFFFFF"/>
                </a:solidFill>
                <a:latin typeface="Tw Cen MT" panose="020B0602020104020603" pitchFamily="34" charset="0"/>
              </a:rPr>
              <a:t> clave) </a:t>
            </a:r>
            <a:r>
              <a:rPr b="0" dirty="0" err="1">
                <a:solidFill>
                  <a:srgbClr val="FFFFFF"/>
                </a:solidFill>
                <a:latin typeface="Tw Cen MT" panose="020B0602020104020603" pitchFamily="34" charset="0"/>
              </a:rPr>
              <a:t>aumentó</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drásticamente</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elevando</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los</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costos</a:t>
            </a:r>
            <a:r>
              <a:rPr b="0" dirty="0">
                <a:solidFill>
                  <a:srgbClr val="FFFFFF"/>
                </a:solidFill>
                <a:latin typeface="Tw Cen MT" panose="020B0602020104020603" pitchFamily="34" charset="0"/>
              </a:rPr>
              <a:t>.</a:t>
            </a:r>
          </a:p>
          <a:p>
            <a:pPr marL="342900" indent="-342900">
              <a:spcBef>
                <a:spcPts val="400"/>
              </a:spcBef>
              <a:buFont typeface="Arial" panose="020B0604020202020204" pitchFamily="34" charset="0"/>
              <a:buChar char="•"/>
            </a:pPr>
            <a:r>
              <a:rPr dirty="0">
                <a:solidFill>
                  <a:srgbClr val="FFFFFF"/>
                </a:solidFill>
                <a:latin typeface="Tw Cen MT" panose="020B0602020104020603" pitchFamily="34" charset="0"/>
              </a:rPr>
              <a:t>Un </a:t>
            </a:r>
            <a:r>
              <a:rPr dirty="0" err="1">
                <a:solidFill>
                  <a:srgbClr val="FFFFFF"/>
                </a:solidFill>
                <a:latin typeface="Tw Cen MT" panose="020B0602020104020603" pitchFamily="34" charset="0"/>
              </a:rPr>
              <a:t>terremoto</a:t>
            </a:r>
            <a:r>
              <a:rPr dirty="0">
                <a:solidFill>
                  <a:srgbClr val="FFFFFF"/>
                </a:solidFill>
                <a:latin typeface="Tw Cen MT" panose="020B0602020104020603" pitchFamily="34" charset="0"/>
              </a:rPr>
              <a:t> </a:t>
            </a:r>
            <a:r>
              <a:rPr dirty="0" err="1">
                <a:solidFill>
                  <a:srgbClr val="FFFFFF"/>
                </a:solidFill>
                <a:latin typeface="Tw Cen MT" panose="020B0602020104020603" pitchFamily="34" charset="0"/>
              </a:rPr>
              <a:t>cerró</a:t>
            </a:r>
            <a:r>
              <a:rPr dirty="0">
                <a:solidFill>
                  <a:srgbClr val="FFFFFF"/>
                </a:solidFill>
                <a:latin typeface="Tw Cen MT" panose="020B0602020104020603" pitchFamily="34" charset="0"/>
              </a:rPr>
              <a:t> la planta </a:t>
            </a:r>
            <a:r>
              <a:rPr dirty="0" err="1">
                <a:solidFill>
                  <a:srgbClr val="FFFFFF"/>
                </a:solidFill>
                <a:latin typeface="Tw Cen MT" panose="020B0602020104020603" pitchFamily="34" charset="0"/>
              </a:rPr>
              <a:t>por</a:t>
            </a:r>
            <a:r>
              <a:rPr dirty="0">
                <a:solidFill>
                  <a:srgbClr val="FFFFFF"/>
                </a:solidFill>
                <a:latin typeface="Tw Cen MT" panose="020B0602020104020603" pitchFamily="34" charset="0"/>
              </a:rPr>
              <a:t> 6 </a:t>
            </a:r>
            <a:r>
              <a:rPr dirty="0" err="1">
                <a:solidFill>
                  <a:srgbClr val="FFFFFF"/>
                </a:solidFill>
                <a:latin typeface="Tw Cen MT" panose="020B0602020104020603" pitchFamily="34" charset="0"/>
              </a:rPr>
              <a:t>semanas</a:t>
            </a:r>
            <a:r>
              <a:rPr dirty="0">
                <a:solidFill>
                  <a:srgbClr val="FFFFFF"/>
                </a:solidFill>
                <a:latin typeface="Tw Cen MT" panose="020B0602020104020603" pitchFamily="34" charset="0"/>
              </a:rPr>
              <a:t> y </a:t>
            </a:r>
            <a:r>
              <a:rPr dirty="0" err="1">
                <a:solidFill>
                  <a:srgbClr val="FFFFFF"/>
                </a:solidFill>
                <a:latin typeface="Tw Cen MT" panose="020B0602020104020603" pitchFamily="34" charset="0"/>
              </a:rPr>
              <a:t>requirió</a:t>
            </a:r>
            <a:r>
              <a:rPr dirty="0">
                <a:solidFill>
                  <a:srgbClr val="FFFFFF"/>
                </a:solidFill>
                <a:latin typeface="Tw Cen MT" panose="020B0602020104020603" pitchFamily="34" charset="0"/>
              </a:rPr>
              <a:t> U$S 1 </a:t>
            </a:r>
            <a:r>
              <a:rPr dirty="0" err="1">
                <a:solidFill>
                  <a:srgbClr val="FFFFFF"/>
                </a:solidFill>
                <a:latin typeface="Tw Cen MT" panose="020B0602020104020603" pitchFamily="34" charset="0"/>
              </a:rPr>
              <a:t>millón</a:t>
            </a:r>
            <a:r>
              <a:rPr dirty="0">
                <a:solidFill>
                  <a:srgbClr val="FFFFFF"/>
                </a:solidFill>
                <a:latin typeface="Tw Cen MT" panose="020B0602020104020603" pitchFamily="34" charset="0"/>
              </a:rPr>
              <a:t> </a:t>
            </a:r>
            <a:r>
              <a:rPr dirty="0" err="1">
                <a:solidFill>
                  <a:srgbClr val="FFFFFF"/>
                </a:solidFill>
                <a:latin typeface="Tw Cen MT" panose="020B0602020104020603" pitchFamily="34" charset="0"/>
              </a:rPr>
              <a:t>en</a:t>
            </a:r>
            <a:r>
              <a:rPr dirty="0">
                <a:solidFill>
                  <a:srgbClr val="FFFFFF"/>
                </a:solidFill>
                <a:latin typeface="Tw Cen MT" panose="020B0602020104020603" pitchFamily="34" charset="0"/>
              </a:rPr>
              <a:t> </a:t>
            </a:r>
            <a:r>
              <a:rPr dirty="0" err="1">
                <a:solidFill>
                  <a:srgbClr val="FFFFFF"/>
                </a:solidFill>
                <a:latin typeface="Tw Cen MT" panose="020B0602020104020603" pitchFamily="34" charset="0"/>
              </a:rPr>
              <a:t>reparaciones</a:t>
            </a:r>
            <a:r>
              <a:rPr dirty="0">
                <a:solidFill>
                  <a:srgbClr val="FFFFFF"/>
                </a:solidFill>
                <a:latin typeface="Tw Cen MT" panose="020B0602020104020603" pitchFamily="34" charset="0"/>
              </a:rPr>
              <a:t>.</a:t>
            </a:r>
            <a:endParaRPr lang="es-419" dirty="0">
              <a:solidFill>
                <a:srgbClr val="FFFFFF"/>
              </a:solidFill>
              <a:latin typeface="Tw Cen MT" panose="020B0602020104020603" pitchFamily="34" charset="0"/>
            </a:endParaRPr>
          </a:p>
          <a:p>
            <a:r>
              <a:rPr lang="es-AR" dirty="0">
                <a:solidFill>
                  <a:schemeClr val="bg1">
                    <a:lumMod val="95000"/>
                  </a:schemeClr>
                </a:solidFill>
                <a:latin typeface="Tw Cen MT" panose="020B0602020104020603" pitchFamily="34" charset="0"/>
              </a:rPr>
              <a:t>Los beneficios de la división para este año fueron $ 9 millones.</a:t>
            </a:r>
          </a:p>
          <a:p>
            <a:endParaRPr lang="es-AR" dirty="0">
              <a:solidFill>
                <a:schemeClr val="bg1">
                  <a:lumMod val="95000"/>
                </a:schemeClr>
              </a:solidFill>
              <a:latin typeface="Tw Cen MT" panose="020B0602020104020603" pitchFamily="34" charset="0"/>
            </a:endParaRPr>
          </a:p>
          <a:p>
            <a:r>
              <a:rPr lang="es-AR" dirty="0">
                <a:solidFill>
                  <a:schemeClr val="bg1">
                    <a:lumMod val="95000"/>
                  </a:schemeClr>
                </a:solidFill>
                <a:latin typeface="Tw Cen MT" panose="020B0602020104020603" pitchFamily="34" charset="0"/>
              </a:rPr>
              <a:t>Kraft cree que su plan de compensación debería ajustarse para estos eventos. Ella cree que, de no haber sido por esto eventos, las ganancias de la división hubieran sido de $ 13 millones para el año.</a:t>
            </a:r>
          </a:p>
          <a:p>
            <a:pPr lvl="1" algn="l">
              <a:spcBef>
                <a:spcPts val="150"/>
              </a:spcBef>
            </a:pPr>
            <a:endParaRPr b="0" dirty="0">
              <a:solidFill>
                <a:srgbClr val="FFFFFF"/>
              </a:solidFill>
              <a:latin typeface="Tw Cen MT" panose="020B0602020104020603" pitchFamily="34" charset="0"/>
            </a:endParaRPr>
          </a:p>
          <a:p>
            <a:pPr algn="l">
              <a:spcBef>
                <a:spcPts val="400"/>
              </a:spcBef>
              <a:buNone/>
            </a:pPr>
            <a:r>
              <a:rPr b="1" dirty="0">
                <a:solidFill>
                  <a:srgbClr val="52B788"/>
                </a:solidFill>
                <a:latin typeface="Tw Cen MT" panose="020B0602020104020603" pitchFamily="34" charset="0"/>
              </a:rPr>
              <a:t>PREGUNTAS</a:t>
            </a:r>
          </a:p>
          <a:p>
            <a:pPr algn="l">
              <a:spcBef>
                <a:spcPts val="400"/>
              </a:spcBef>
            </a:pPr>
            <a:r>
              <a:rPr b="0" dirty="0">
                <a:solidFill>
                  <a:srgbClr val="FFFFFF"/>
                </a:solidFill>
                <a:latin typeface="Tw Cen MT" panose="020B0602020104020603" pitchFamily="34" charset="0"/>
              </a:rPr>
              <a:t>¿</a:t>
            </a:r>
            <a:r>
              <a:rPr b="0" dirty="0" err="1">
                <a:solidFill>
                  <a:srgbClr val="FFFFFF"/>
                </a:solidFill>
                <a:latin typeface="Tw Cen MT" panose="020B0602020104020603" pitchFamily="34" charset="0"/>
              </a:rPr>
              <a:t>Qué</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cuestiones</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debería</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considerar</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el</a:t>
            </a:r>
            <a:r>
              <a:rPr b="0" dirty="0">
                <a:solidFill>
                  <a:srgbClr val="FFFFFF"/>
                </a:solidFill>
                <a:latin typeface="Tw Cen MT" panose="020B0602020104020603" pitchFamily="34" charset="0"/>
              </a:rPr>
              <a:t> CEO al </a:t>
            </a:r>
            <a:r>
              <a:rPr b="0" dirty="0" err="1">
                <a:solidFill>
                  <a:srgbClr val="FFFFFF"/>
                </a:solidFill>
                <a:latin typeface="Tw Cen MT" panose="020B0602020104020603" pitchFamily="34" charset="0"/>
              </a:rPr>
              <a:t>decidir</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si</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ajusta</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el</a:t>
            </a:r>
            <a:r>
              <a:rPr b="0" dirty="0">
                <a:solidFill>
                  <a:srgbClr val="FFFFFF"/>
                </a:solidFill>
                <a:latin typeface="Tw Cen MT" panose="020B0602020104020603" pitchFamily="34" charset="0"/>
              </a:rPr>
              <a:t> plan de </a:t>
            </a:r>
            <a:r>
              <a:rPr b="0" dirty="0" err="1">
                <a:solidFill>
                  <a:srgbClr val="FFFFFF"/>
                </a:solidFill>
                <a:latin typeface="Tw Cen MT" panose="020B0602020104020603" pitchFamily="34" charset="0"/>
              </a:rPr>
              <a:t>bonificación</a:t>
            </a:r>
            <a:r>
              <a:rPr b="0" dirty="0">
                <a:solidFill>
                  <a:srgbClr val="FFFFFF"/>
                </a:solidFill>
                <a:latin typeface="Tw Cen MT" panose="020B0602020104020603" pitchFamily="34" charset="0"/>
              </a:rPr>
              <a:t>?</a:t>
            </a:r>
          </a:p>
          <a:p>
            <a:pPr algn="l">
              <a:spcBef>
                <a:spcPts val="400"/>
              </a:spcBef>
            </a:pPr>
            <a:r>
              <a:rPr b="0" dirty="0">
                <a:solidFill>
                  <a:srgbClr val="FFFFFF"/>
                </a:solidFill>
                <a:latin typeface="Tw Cen MT" panose="020B0602020104020603" pitchFamily="34" charset="0"/>
              </a:rPr>
              <a:t>¿Creen </a:t>
            </a:r>
            <a:r>
              <a:rPr b="0" dirty="0" err="1">
                <a:solidFill>
                  <a:srgbClr val="FFFFFF"/>
                </a:solidFill>
                <a:latin typeface="Tw Cen MT" panose="020B0602020104020603" pitchFamily="34" charset="0"/>
              </a:rPr>
              <a:t>que</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debería</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ajustarse</a:t>
            </a:r>
            <a:r>
              <a:rPr b="0" dirty="0">
                <a:solidFill>
                  <a:srgbClr val="FFFFFF"/>
                </a:solidFill>
                <a:latin typeface="Tw Cen MT" panose="020B0602020104020603" pitchFamily="34" charset="0"/>
              </a:rPr>
              <a:t> </a:t>
            </a:r>
            <a:r>
              <a:rPr b="0" dirty="0" err="1">
                <a:solidFill>
                  <a:srgbClr val="FFFFFF"/>
                </a:solidFill>
                <a:latin typeface="Tw Cen MT" panose="020B0602020104020603" pitchFamily="34" charset="0"/>
              </a:rPr>
              <a:t>el</a:t>
            </a:r>
            <a:r>
              <a:rPr b="0" dirty="0">
                <a:solidFill>
                  <a:srgbClr val="FFFFFF"/>
                </a:solidFill>
                <a:latin typeface="Tw Cen MT" panose="020B0602020104020603" pitchFamily="34" charset="0"/>
              </a:rPr>
              <a:t> plan? ¿Por </a:t>
            </a:r>
            <a:r>
              <a:rPr b="0" dirty="0" err="1">
                <a:solidFill>
                  <a:srgbClr val="FFFFFF"/>
                </a:solidFill>
                <a:latin typeface="Tw Cen MT" panose="020B0602020104020603" pitchFamily="34" charset="0"/>
              </a:rPr>
              <a:t>qué</a:t>
            </a:r>
            <a:r>
              <a:rPr b="0" dirty="0">
                <a:solidFill>
                  <a:srgbClr val="FFFFFF"/>
                </a:solidFill>
                <a:latin typeface="Tw Cen MT" panose="020B0602020104020603" pitchFamily="34"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304800" y="287179"/>
            <a:ext cx="8534400" cy="492443"/>
          </a:xfrm>
          <a:prstGeom prst="rect">
            <a:avLst/>
          </a:prstGeom>
          <a:noFill/>
        </p:spPr>
        <p:txBody>
          <a:bodyPr wrap="square" anchor="ctr">
            <a:spAutoFit/>
          </a:bodyPr>
          <a:lstStyle/>
          <a:p>
            <a:pPr algn="l"/>
            <a:r>
              <a:rPr sz="2600" b="1" i="0">
                <a:solidFill>
                  <a:srgbClr val="FFFFFF"/>
                </a:solidFill>
                <a:latin typeface="Tw Cen MT" panose="020B0602020104020603" pitchFamily="34" charset="0"/>
              </a:rPr>
              <a:t>Salario Fijo vs. Salario Variable — El Trade-off</a:t>
            </a:r>
          </a:p>
        </p:txBody>
      </p:sp>
      <p:sp>
        <p:nvSpPr>
          <p:cNvPr id="5" name="TextBox 4"/>
          <p:cNvSpPr txBox="1"/>
          <p:nvPr/>
        </p:nvSpPr>
        <p:spPr>
          <a:xfrm>
            <a:off x="304800" y="1220000"/>
            <a:ext cx="8534400" cy="5555367"/>
          </a:xfrm>
          <a:prstGeom prst="rect">
            <a:avLst/>
          </a:prstGeom>
          <a:noFill/>
        </p:spPr>
        <p:txBody>
          <a:bodyPr wrap="square">
            <a:spAutoFit/>
          </a:bodyPr>
          <a:lstStyle/>
          <a:p>
            <a:pPr algn="l">
              <a:spcBef>
                <a:spcPts val="400"/>
              </a:spcBef>
              <a:buNone/>
            </a:pPr>
            <a:r>
              <a:rPr sz="2200" b="1" dirty="0">
                <a:solidFill>
                  <a:srgbClr val="8B0000"/>
                </a:solidFill>
                <a:latin typeface="Tw Cen MT" panose="020B0602020104020603" pitchFamily="34" charset="0"/>
              </a:rPr>
              <a:t>SALARIO FIJO — </a:t>
            </a:r>
            <a:r>
              <a:rPr sz="2200" b="1" dirty="0" err="1">
                <a:solidFill>
                  <a:srgbClr val="8B0000"/>
                </a:solidFill>
                <a:latin typeface="Tw Cen MT" panose="020B0602020104020603" pitchFamily="34" charset="0"/>
              </a:rPr>
              <a:t>Perspectiva</a:t>
            </a:r>
            <a:r>
              <a:rPr sz="2200" b="1" dirty="0">
                <a:solidFill>
                  <a:srgbClr val="8B0000"/>
                </a:solidFill>
                <a:latin typeface="Tw Cen MT" panose="020B0602020104020603" pitchFamily="34" charset="0"/>
              </a:rPr>
              <a:t> del </a:t>
            </a:r>
            <a:r>
              <a:rPr sz="2200" b="1" dirty="0" err="1">
                <a:solidFill>
                  <a:srgbClr val="8B0000"/>
                </a:solidFill>
                <a:latin typeface="Tw Cen MT" panose="020B0602020104020603" pitchFamily="34" charset="0"/>
              </a:rPr>
              <a:t>reparto</a:t>
            </a:r>
            <a:r>
              <a:rPr sz="2200" b="1" dirty="0">
                <a:solidFill>
                  <a:srgbClr val="8B0000"/>
                </a:solidFill>
                <a:latin typeface="Tw Cen MT" panose="020B0602020104020603" pitchFamily="34" charset="0"/>
              </a:rPr>
              <a:t> del </a:t>
            </a:r>
            <a:r>
              <a:rPr sz="2200" b="1" dirty="0" err="1">
                <a:solidFill>
                  <a:srgbClr val="8B0000"/>
                </a:solidFill>
                <a:latin typeface="Tw Cen MT" panose="020B0602020104020603" pitchFamily="34" charset="0"/>
              </a:rPr>
              <a:t>riesgo</a:t>
            </a:r>
            <a:r>
              <a:rPr sz="2200" b="1" dirty="0">
                <a:solidFill>
                  <a:srgbClr val="8B0000"/>
                </a:solidFill>
                <a:latin typeface="Tw Cen MT" panose="020B0602020104020603" pitchFamily="34" charset="0"/>
              </a:rPr>
              <a:t>:</a:t>
            </a:r>
          </a:p>
          <a:p>
            <a:pPr lvl="1" algn="l">
              <a:spcBef>
                <a:spcPts val="150"/>
              </a:spcBef>
              <a:buFont typeface="Tw Cen MT"/>
              <a:buChar char="▸"/>
            </a:pPr>
            <a:r>
              <a:rPr sz="2200" b="0" dirty="0">
                <a:solidFill>
                  <a:srgbClr val="222222"/>
                </a:solidFill>
                <a:latin typeface="Tw Cen MT" panose="020B0602020104020603" pitchFamily="34" charset="0"/>
              </a:rPr>
              <a:t>Las SA con </a:t>
            </a:r>
            <a:r>
              <a:rPr sz="2200" b="0" dirty="0" err="1">
                <a:solidFill>
                  <a:srgbClr val="222222"/>
                </a:solidFill>
                <a:latin typeface="Tw Cen MT" panose="020B0602020104020603" pitchFamily="34" charset="0"/>
              </a:rPr>
              <a:t>muchos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inversores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tienen</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carteras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diversificadas</a:t>
            </a:r>
            <a:r>
              <a:rPr sz="2200" b="0" dirty="0">
                <a:solidFill>
                  <a:srgbClr val="222222"/>
                </a:solidFill>
                <a:latin typeface="Tw Cen MT" panose="020B0602020104020603" pitchFamily="34" charset="0"/>
              </a:rPr>
              <a:t>: son </a:t>
            </a:r>
            <a:r>
              <a:rPr sz="2200" b="0" dirty="0" err="1">
                <a:solidFill>
                  <a:srgbClr val="222222"/>
                </a:solidFill>
                <a:latin typeface="Tw Cen MT" panose="020B0602020104020603" pitchFamily="34" charset="0"/>
              </a:rPr>
              <a:t>neutrales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frente</a:t>
            </a:r>
            <a:r>
              <a:rPr sz="2200" b="0" dirty="0">
                <a:solidFill>
                  <a:srgbClr val="222222"/>
                </a:solidFill>
                <a:latin typeface="Tw Cen MT" panose="020B0602020104020603" pitchFamily="34" charset="0"/>
              </a:rPr>
              <a:t> al </a:t>
            </a:r>
            <a:r>
              <a:rPr sz="2200" b="0" dirty="0" err="1">
                <a:solidFill>
                  <a:srgbClr val="222222"/>
                </a:solidFill>
                <a:latin typeface="Tw Cen MT" panose="020B0602020104020603" pitchFamily="34" charset="0"/>
              </a:rPr>
              <a:t>riesgo</a:t>
            </a:r>
            <a:r>
              <a:rPr sz="2200" b="0" dirty="0">
                <a:solidFill>
                  <a:srgbClr val="222222"/>
                </a:solidFill>
                <a:latin typeface="Tw Cen MT" panose="020B0602020104020603" pitchFamily="34" charset="0"/>
              </a:rPr>
              <a:t>.</a:t>
            </a:r>
          </a:p>
          <a:p>
            <a:pPr lvl="1" algn="l">
              <a:spcBef>
                <a:spcPts val="150"/>
              </a:spcBef>
              <a:buFont typeface="Tw Cen MT"/>
              <a:buChar char="▸"/>
            </a:pPr>
            <a:r>
              <a:rPr sz="2200" b="0" dirty="0">
                <a:solidFill>
                  <a:srgbClr val="222222"/>
                </a:solidFill>
                <a:latin typeface="Tw Cen MT" panose="020B0602020104020603" pitchFamily="34" charset="0"/>
              </a:rPr>
              <a:t>Los </a:t>
            </a:r>
            <a:r>
              <a:rPr sz="2200" b="0" dirty="0" err="1">
                <a:solidFill>
                  <a:srgbClr val="222222"/>
                </a:solidFill>
                <a:latin typeface="Tw Cen MT" panose="020B0602020104020603" pitchFamily="34" charset="0"/>
              </a:rPr>
              <a:t>empleados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concentran</a:t>
            </a:r>
            <a:r>
              <a:rPr sz="2200" b="0" dirty="0">
                <a:solidFill>
                  <a:srgbClr val="222222"/>
                </a:solidFill>
                <a:latin typeface="Tw Cen MT" panose="020B0602020104020603" pitchFamily="34" charset="0"/>
              </a:rPr>
              <a:t> sus </a:t>
            </a:r>
            <a:r>
              <a:rPr sz="2200" b="0" dirty="0" err="1">
                <a:solidFill>
                  <a:srgbClr val="222222"/>
                </a:solidFill>
                <a:latin typeface="Tw Cen MT" panose="020B0602020104020603" pitchFamily="34" charset="0"/>
              </a:rPr>
              <a:t>ingresos</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en</a:t>
            </a:r>
            <a:r>
              <a:rPr sz="2200" b="0" dirty="0">
                <a:solidFill>
                  <a:srgbClr val="222222"/>
                </a:solidFill>
                <a:latin typeface="Tw Cen MT" panose="020B0602020104020603" pitchFamily="34" charset="0"/>
              </a:rPr>
              <a:t> un </a:t>
            </a:r>
            <a:r>
              <a:rPr sz="2200" b="0" dirty="0" err="1">
                <a:solidFill>
                  <a:srgbClr val="222222"/>
                </a:solidFill>
                <a:latin typeface="Tw Cen MT" panose="020B0602020104020603" pitchFamily="34" charset="0"/>
              </a:rPr>
              <a:t>único</a:t>
            </a:r>
            <a:r>
              <a:rPr sz="2200" b="0" dirty="0">
                <a:solidFill>
                  <a:srgbClr val="222222"/>
                </a:solidFill>
                <a:latin typeface="Tw Cen MT" panose="020B0602020104020603" pitchFamily="34" charset="0"/>
              </a:rPr>
              <a:t> </a:t>
            </a:r>
            <a:r>
              <a:rPr sz="2200" b="0" dirty="0" err="1">
                <a:solidFill>
                  <a:srgbClr val="222222"/>
                </a:solidFill>
                <a:latin typeface="Tw Cen MT" panose="020B0602020104020603" pitchFamily="34" charset="0"/>
              </a:rPr>
              <a:t>empleador</a:t>
            </a:r>
            <a:r>
              <a:rPr sz="2200" b="0" dirty="0">
                <a:solidFill>
                  <a:srgbClr val="222222"/>
                </a:solidFill>
                <a:latin typeface="Tw Cen MT" panose="020B0602020104020603" pitchFamily="34" charset="0"/>
              </a:rPr>
              <a:t>: son </a:t>
            </a:r>
            <a:r>
              <a:rPr sz="2200" b="0" dirty="0" err="1">
                <a:solidFill>
                  <a:srgbClr val="222222"/>
                </a:solidFill>
                <a:latin typeface="Tw Cen MT" panose="020B0602020104020603" pitchFamily="34" charset="0"/>
              </a:rPr>
              <a:t>aversos</a:t>
            </a:r>
            <a:r>
              <a:rPr sz="2200" b="0" dirty="0">
                <a:solidFill>
                  <a:srgbClr val="222222"/>
                </a:solidFill>
                <a:latin typeface="Tw Cen MT" panose="020B0602020104020603" pitchFamily="34" charset="0"/>
              </a:rPr>
              <a:t> al </a:t>
            </a:r>
            <a:r>
              <a:rPr sz="2200" b="0" dirty="0" err="1">
                <a:solidFill>
                  <a:srgbClr val="222222"/>
                </a:solidFill>
                <a:latin typeface="Tw Cen MT" panose="020B0602020104020603" pitchFamily="34" charset="0"/>
              </a:rPr>
              <a:t>riesgo</a:t>
            </a:r>
            <a:r>
              <a:rPr sz="2200" b="0" dirty="0">
                <a:solidFill>
                  <a:srgbClr val="222222"/>
                </a:solidFill>
                <a:latin typeface="Tw Cen MT" panose="020B0602020104020603" pitchFamily="34" charset="0"/>
              </a:rPr>
              <a:t>.</a:t>
            </a:r>
            <a:endParaRPr lang="es-419" sz="2200" b="0" dirty="0">
              <a:solidFill>
                <a:srgbClr val="222222"/>
              </a:solidFill>
              <a:latin typeface="Tw Cen MT" panose="020B0602020104020603" pitchFamily="34" charset="0"/>
            </a:endParaRPr>
          </a:p>
          <a:p>
            <a:pPr lvl="1" algn="l">
              <a:spcBef>
                <a:spcPts val="150"/>
              </a:spcBef>
              <a:buFont typeface="Tw Cen MT"/>
              <a:buChar char="▸"/>
            </a:pPr>
            <a:endParaRPr sz="2200" b="0" dirty="0">
              <a:solidFill>
                <a:srgbClr val="222222"/>
              </a:solidFill>
              <a:latin typeface="Tw Cen MT" panose="020B0602020104020603" pitchFamily="34" charset="0"/>
            </a:endParaRPr>
          </a:p>
          <a:p>
            <a:pPr algn="l">
              <a:spcBef>
                <a:spcPts val="400"/>
              </a:spcBef>
              <a:buFont typeface="Tw Cen MT"/>
              <a:buChar char="■"/>
            </a:pPr>
            <a:r>
              <a:rPr sz="2200" b="1" dirty="0" err="1">
                <a:solidFill>
                  <a:srgbClr val="222222"/>
                </a:solidFill>
                <a:latin typeface="Tw Cen MT" panose="020B0602020104020603" pitchFamily="34" charset="0"/>
              </a:rPr>
              <a:t>Desde</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el</a:t>
            </a:r>
            <a:r>
              <a:rPr sz="2200" b="1" dirty="0">
                <a:solidFill>
                  <a:srgbClr val="222222"/>
                </a:solidFill>
                <a:latin typeface="Tw Cen MT" panose="020B0602020104020603" pitchFamily="34" charset="0"/>
              </a:rPr>
              <a:t> punto de vista del </a:t>
            </a:r>
            <a:r>
              <a:rPr sz="2200" b="1" dirty="0" err="1">
                <a:solidFill>
                  <a:srgbClr val="222222"/>
                </a:solidFill>
                <a:latin typeface="Tw Cen MT" panose="020B0602020104020603" pitchFamily="34" charset="0"/>
              </a:rPr>
              <a:t>reparto</a:t>
            </a:r>
            <a:r>
              <a:rPr sz="2200" b="1" dirty="0">
                <a:solidFill>
                  <a:srgbClr val="222222"/>
                </a:solidFill>
                <a:latin typeface="Tw Cen MT" panose="020B0602020104020603" pitchFamily="34" charset="0"/>
              </a:rPr>
              <a:t> del </a:t>
            </a:r>
            <a:r>
              <a:rPr sz="2200" b="1" dirty="0" err="1">
                <a:solidFill>
                  <a:srgbClr val="222222"/>
                </a:solidFill>
                <a:latin typeface="Tw Cen MT" panose="020B0602020104020603" pitchFamily="34" charset="0"/>
              </a:rPr>
              <a:t>riesgo</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empresarial</a:t>
            </a:r>
            <a:r>
              <a:rPr sz="2200" b="1" dirty="0">
                <a:solidFill>
                  <a:srgbClr val="222222"/>
                </a:solidFill>
                <a:latin typeface="Tw Cen MT" panose="020B0602020104020603" pitchFamily="34" charset="0"/>
              </a:rPr>
              <a:t>, lo </a:t>
            </a:r>
            <a:r>
              <a:rPr sz="2200" b="1" dirty="0" err="1">
                <a:solidFill>
                  <a:srgbClr val="222222"/>
                </a:solidFill>
                <a:latin typeface="Tw Cen MT" panose="020B0602020104020603" pitchFamily="34" charset="0"/>
              </a:rPr>
              <a:t>óptimo</a:t>
            </a:r>
            <a:r>
              <a:rPr sz="2200" b="1" dirty="0">
                <a:solidFill>
                  <a:srgbClr val="222222"/>
                </a:solidFill>
                <a:latin typeface="Tw Cen MT" panose="020B0602020104020603" pitchFamily="34" charset="0"/>
              </a:rPr>
              <a:t> es </a:t>
            </a:r>
            <a:r>
              <a:rPr sz="2200" b="1" dirty="0" err="1">
                <a:solidFill>
                  <a:srgbClr val="222222"/>
                </a:solidFill>
                <a:latin typeface="Tw Cen MT" panose="020B0602020104020603" pitchFamily="34" charset="0"/>
              </a:rPr>
              <a:t>pagar</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salario</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fijo</a:t>
            </a:r>
            <a:r>
              <a:rPr sz="2200" b="1" dirty="0">
                <a:solidFill>
                  <a:srgbClr val="222222"/>
                </a:solidFill>
                <a:latin typeface="Tw Cen MT" panose="020B0602020104020603" pitchFamily="34" charset="0"/>
              </a:rPr>
              <a:t> y </a:t>
            </a:r>
            <a:r>
              <a:rPr sz="2200" b="1" dirty="0" err="1">
                <a:solidFill>
                  <a:srgbClr val="222222"/>
                </a:solidFill>
                <a:latin typeface="Tw Cen MT" panose="020B0602020104020603" pitchFamily="34" charset="0"/>
              </a:rPr>
              <a:t>dejar</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que</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los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accionistas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asuman</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el</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riesgo</a:t>
            </a:r>
            <a:r>
              <a:rPr sz="2200" b="1" dirty="0">
                <a:solidFill>
                  <a:srgbClr val="222222"/>
                </a:solidFill>
                <a:latin typeface="Tw Cen MT" panose="020B0602020104020603" pitchFamily="34" charset="0"/>
              </a:rPr>
              <a:t> de </a:t>
            </a:r>
            <a:r>
              <a:rPr sz="2200" b="1" dirty="0" err="1">
                <a:solidFill>
                  <a:srgbClr val="222222"/>
                </a:solidFill>
                <a:latin typeface="Tw Cen MT" panose="020B0602020104020603" pitchFamily="34" charset="0"/>
              </a:rPr>
              <a:t>los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flujos</a:t>
            </a:r>
            <a:r>
              <a:rPr sz="2200" b="1" dirty="0">
                <a:solidFill>
                  <a:srgbClr val="222222"/>
                </a:solidFill>
                <a:latin typeface="Tw Cen MT" panose="020B0602020104020603" pitchFamily="34" charset="0"/>
              </a:rPr>
              <a:t> de </a:t>
            </a:r>
            <a:r>
              <a:rPr sz="2200" b="1" dirty="0" err="1">
                <a:solidFill>
                  <a:srgbClr val="222222"/>
                </a:solidFill>
                <a:latin typeface="Tw Cen MT" panose="020B0602020104020603" pitchFamily="34" charset="0"/>
              </a:rPr>
              <a:t>ingresos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aleatorios</a:t>
            </a:r>
            <a:r>
              <a:rPr sz="2200" b="1" dirty="0">
                <a:solidFill>
                  <a:srgbClr val="222222"/>
                </a:solidFill>
                <a:latin typeface="Tw Cen MT" panose="020B0602020104020603" pitchFamily="34" charset="0"/>
              </a:rPr>
              <a:t>.</a:t>
            </a:r>
            <a:endParaRPr lang="es-419" sz="2200" b="1" dirty="0">
              <a:solidFill>
                <a:srgbClr val="222222"/>
              </a:solidFill>
              <a:latin typeface="Tw Cen MT" panose="020B0602020104020603" pitchFamily="34" charset="0"/>
            </a:endParaRPr>
          </a:p>
          <a:p>
            <a:pPr algn="l">
              <a:spcBef>
                <a:spcPts val="400"/>
              </a:spcBef>
              <a:buFont typeface="Tw Cen MT"/>
              <a:buChar char="■"/>
            </a:pPr>
            <a:endParaRPr sz="2200" b="1" dirty="0">
              <a:solidFill>
                <a:srgbClr val="222222"/>
              </a:solidFill>
              <a:latin typeface="Tw Cen MT" panose="020B0602020104020603" pitchFamily="34" charset="0"/>
            </a:endParaRPr>
          </a:p>
          <a:p>
            <a:pPr algn="l">
              <a:spcBef>
                <a:spcPts val="400"/>
              </a:spcBef>
              <a:buNone/>
            </a:pPr>
            <a:r>
              <a:rPr sz="2200" b="1" dirty="0">
                <a:solidFill>
                  <a:srgbClr val="8B0000"/>
                </a:solidFill>
                <a:latin typeface="Tw Cen MT" panose="020B0602020104020603" pitchFamily="34" charset="0"/>
              </a:rPr>
              <a:t>SALARIO VARIABLE — </a:t>
            </a:r>
            <a:r>
              <a:rPr sz="2200" b="1" dirty="0" err="1">
                <a:solidFill>
                  <a:srgbClr val="8B0000"/>
                </a:solidFill>
                <a:latin typeface="Tw Cen MT" panose="020B0602020104020603" pitchFamily="34" charset="0"/>
              </a:rPr>
              <a:t>Perspectiva</a:t>
            </a:r>
            <a:r>
              <a:rPr sz="2200" b="1" dirty="0">
                <a:solidFill>
                  <a:srgbClr val="8B0000"/>
                </a:solidFill>
                <a:latin typeface="Tw Cen MT" panose="020B0602020104020603" pitchFamily="34" charset="0"/>
              </a:rPr>
              <a:t> de </a:t>
            </a:r>
            <a:r>
              <a:rPr sz="2200" b="1" dirty="0" err="1">
                <a:solidFill>
                  <a:srgbClr val="8B0000"/>
                </a:solidFill>
                <a:latin typeface="Tw Cen MT" panose="020B0602020104020603" pitchFamily="34" charset="0"/>
              </a:rPr>
              <a:t>los</a:t>
            </a:r>
            <a:r>
              <a:rPr sz="2200" b="1" dirty="0">
                <a:solidFill>
                  <a:srgbClr val="8B0000"/>
                </a:solidFill>
                <a:latin typeface="Tw Cen MT" panose="020B0602020104020603" pitchFamily="34" charset="0"/>
              </a:rPr>
              <a:t> </a:t>
            </a:r>
            <a:r>
              <a:rPr sz="2200" b="1" dirty="0" err="1">
                <a:solidFill>
                  <a:srgbClr val="8B0000"/>
                </a:solidFill>
                <a:latin typeface="Tw Cen MT" panose="020B0602020104020603" pitchFamily="34" charset="0"/>
              </a:rPr>
              <a:t>incentivos</a:t>
            </a:r>
            <a:r>
              <a:rPr sz="2200" b="1" dirty="0">
                <a:solidFill>
                  <a:srgbClr val="8B0000"/>
                </a:solidFill>
                <a:latin typeface="Tw Cen MT" panose="020B0602020104020603" pitchFamily="34" charset="0"/>
              </a:rPr>
              <a:t>:</a:t>
            </a:r>
          </a:p>
          <a:p>
            <a:pPr algn="l">
              <a:spcBef>
                <a:spcPts val="400"/>
              </a:spcBef>
              <a:buFont typeface="Tw Cen MT"/>
              <a:buChar char="■"/>
            </a:pPr>
            <a:r>
              <a:rPr sz="2200" b="1" dirty="0">
                <a:solidFill>
                  <a:srgbClr val="222222"/>
                </a:solidFill>
                <a:latin typeface="Tw Cen MT" panose="020B0602020104020603" pitchFamily="34" charset="0"/>
              </a:rPr>
              <a:t>Las </a:t>
            </a:r>
            <a:r>
              <a:rPr sz="2200" b="1" dirty="0" err="1">
                <a:solidFill>
                  <a:srgbClr val="222222"/>
                </a:solidFill>
                <a:latin typeface="Tw Cen MT" panose="020B0602020104020603" pitchFamily="34" charset="0"/>
              </a:rPr>
              <a:t>consideraciones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relacionadas</a:t>
            </a:r>
            <a:r>
              <a:rPr sz="2200" b="1" dirty="0">
                <a:solidFill>
                  <a:srgbClr val="222222"/>
                </a:solidFill>
                <a:latin typeface="Tw Cen MT" panose="020B0602020104020603" pitchFamily="34" charset="0"/>
              </a:rPr>
              <a:t> a </a:t>
            </a:r>
            <a:r>
              <a:rPr sz="2200" b="1" dirty="0" err="1">
                <a:solidFill>
                  <a:srgbClr val="222222"/>
                </a:solidFill>
                <a:latin typeface="Tw Cen MT" panose="020B0602020104020603" pitchFamily="34" charset="0"/>
              </a:rPr>
              <a:t>los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incentivos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sugieren</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que</a:t>
            </a:r>
            <a:r>
              <a:rPr sz="2200" b="1" dirty="0">
                <a:solidFill>
                  <a:srgbClr val="222222"/>
                </a:solidFill>
                <a:latin typeface="Tw Cen MT" panose="020B0602020104020603" pitchFamily="34" charset="0"/>
              </a:rPr>
              <a:t> es </a:t>
            </a:r>
            <a:r>
              <a:rPr sz="2200" b="1" dirty="0" err="1">
                <a:solidFill>
                  <a:srgbClr val="222222"/>
                </a:solidFill>
                <a:latin typeface="Tw Cen MT" panose="020B0602020104020603" pitchFamily="34" charset="0"/>
              </a:rPr>
              <a:t>mejor</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relacionar</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el</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salario</a:t>
            </a:r>
            <a:r>
              <a:rPr sz="2200" b="1" dirty="0">
                <a:solidFill>
                  <a:srgbClr val="222222"/>
                </a:solidFill>
                <a:latin typeface="Tw Cen MT" panose="020B0602020104020603" pitchFamily="34" charset="0"/>
              </a:rPr>
              <a:t> a </a:t>
            </a:r>
            <a:r>
              <a:rPr sz="2200" b="1" dirty="0" err="1">
                <a:solidFill>
                  <a:srgbClr val="222222"/>
                </a:solidFill>
                <a:latin typeface="Tw Cen MT" panose="020B0602020104020603" pitchFamily="34" charset="0"/>
              </a:rPr>
              <a:t>los</a:t>
            </a:r>
            <a:r>
              <a:rPr sz="2200" b="1" dirty="0">
                <a:solidFill>
                  <a:srgbClr val="222222"/>
                </a:solidFill>
                <a:latin typeface="Tw Cen MT" panose="020B0602020104020603" pitchFamily="34" charset="0"/>
              </a:rPr>
              <a:t> </a:t>
            </a:r>
            <a:r>
              <a:rPr sz="2200" b="1" dirty="0" err="1">
                <a:solidFill>
                  <a:srgbClr val="222222"/>
                </a:solidFill>
                <a:latin typeface="Tw Cen MT" panose="020B0602020104020603" pitchFamily="34" charset="0"/>
              </a:rPr>
              <a:t>resultados</a:t>
            </a:r>
            <a:r>
              <a:rPr sz="2200" b="1" dirty="0">
                <a:solidFill>
                  <a:srgbClr val="222222"/>
                </a:solidFill>
                <a:latin typeface="Tw Cen MT" panose="020B0602020104020603" pitchFamily="34" charset="0"/>
              </a:rPr>
              <a:t>.</a:t>
            </a:r>
            <a:endParaRPr lang="es-419" sz="2200" b="1" dirty="0">
              <a:solidFill>
                <a:srgbClr val="222222"/>
              </a:solidFill>
              <a:latin typeface="Tw Cen MT" panose="020B0602020104020603" pitchFamily="34" charset="0"/>
            </a:endParaRPr>
          </a:p>
          <a:p>
            <a:pPr algn="l">
              <a:spcBef>
                <a:spcPts val="400"/>
              </a:spcBef>
              <a:buFont typeface="Tw Cen MT"/>
              <a:buChar char="■"/>
            </a:pPr>
            <a:endParaRPr sz="2200" b="1" dirty="0">
              <a:solidFill>
                <a:srgbClr val="222222"/>
              </a:solidFill>
              <a:latin typeface="Tw Cen MT" panose="020B0602020104020603" pitchFamily="34" charset="0"/>
            </a:endParaRPr>
          </a:p>
          <a:p>
            <a:pPr algn="l">
              <a:spcBef>
                <a:spcPts val="400"/>
              </a:spcBef>
              <a:buFont typeface="Tw Cen MT"/>
              <a:buChar char="■"/>
            </a:pPr>
            <a:r>
              <a:rPr sz="2200" b="0" dirty="0">
                <a:solidFill>
                  <a:srgbClr val="222222"/>
                </a:solidFill>
                <a:latin typeface="Tw Cen MT" panose="020B0602020104020603" pitchFamily="34" charset="0"/>
              </a:rPr>
              <a:t>CONCLUSIÓN: TRADE-OFF entre </a:t>
            </a:r>
            <a:r>
              <a:rPr sz="2200" b="0" dirty="0" err="1">
                <a:solidFill>
                  <a:srgbClr val="222222"/>
                </a:solidFill>
                <a:latin typeface="Tw Cen MT" panose="020B0602020104020603" pitchFamily="34" charset="0"/>
              </a:rPr>
              <a:t>incentivos</a:t>
            </a:r>
            <a:r>
              <a:rPr sz="2200" b="0" dirty="0">
                <a:solidFill>
                  <a:srgbClr val="222222"/>
                </a:solidFill>
                <a:latin typeface="Tw Cen MT" panose="020B0602020104020603" pitchFamily="34" charset="0"/>
              </a:rPr>
              <a:t> y </a:t>
            </a:r>
            <a:r>
              <a:rPr sz="2200" b="0" dirty="0" err="1">
                <a:solidFill>
                  <a:srgbClr val="222222"/>
                </a:solidFill>
                <a:latin typeface="Tw Cen MT" panose="020B0602020104020603" pitchFamily="34" charset="0"/>
              </a:rPr>
              <a:t>reparto</a:t>
            </a:r>
            <a:r>
              <a:rPr sz="2200" b="0" dirty="0">
                <a:solidFill>
                  <a:srgbClr val="222222"/>
                </a:solidFill>
                <a:latin typeface="Tw Cen MT" panose="020B0602020104020603" pitchFamily="34" charset="0"/>
              </a:rPr>
              <a:t> del </a:t>
            </a:r>
            <a:r>
              <a:rPr sz="2200" b="0" dirty="0" err="1">
                <a:solidFill>
                  <a:srgbClr val="222222"/>
                </a:solidFill>
                <a:latin typeface="Tw Cen MT" panose="020B0602020104020603" pitchFamily="34" charset="0"/>
              </a:rPr>
              <a:t>riesgo</a:t>
            </a:r>
            <a:r>
              <a:rPr sz="2200" b="0" dirty="0">
                <a:solidFill>
                  <a:srgbClr val="222222"/>
                </a:solidFill>
                <a:latin typeface="Tw Cen MT" panose="020B0602020104020603" pitchFamily="34" charset="0"/>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Compensaciones Fijas y Variables</a:t>
            </a:r>
          </a:p>
        </p:txBody>
      </p:sp>
      <p:sp>
        <p:nvSpPr>
          <p:cNvPr id="5" name="TextBox 4"/>
          <p:cNvSpPr txBox="1"/>
          <p:nvPr/>
        </p:nvSpPr>
        <p:spPr>
          <a:xfrm>
            <a:off x="304800" y="1220000"/>
            <a:ext cx="8534400" cy="4226798"/>
          </a:xfrm>
          <a:prstGeom prst="rect">
            <a:avLst/>
          </a:prstGeom>
          <a:noFill/>
        </p:spPr>
        <p:txBody>
          <a:bodyPr wrap="square">
            <a:spAutoFit/>
          </a:bodyPr>
          <a:lstStyle/>
          <a:p>
            <a:pPr algn="l">
              <a:spcBef>
                <a:spcPts val="400"/>
              </a:spcBef>
              <a:buNone/>
            </a:pPr>
            <a:r>
              <a:rPr sz="2200" b="1" dirty="0">
                <a:solidFill>
                  <a:srgbClr val="8B0000"/>
                </a:solidFill>
                <a:latin typeface="Tw Cen MT"/>
              </a:rPr>
              <a:t>COMPENSACIONES FIJAS</a:t>
            </a:r>
          </a:p>
          <a:p>
            <a:pPr algn="l">
              <a:spcBef>
                <a:spcPts val="400"/>
              </a:spcBef>
            </a:pPr>
            <a:r>
              <a:rPr sz="2200" b="0" dirty="0">
                <a:solidFill>
                  <a:srgbClr val="222222"/>
                </a:solidFill>
                <a:latin typeface="Tw Cen MT"/>
              </a:rPr>
              <a:t>Salario  ▸  Pensiones  ▸  </a:t>
            </a:r>
            <a:r>
              <a:rPr sz="2200" b="0" dirty="0" err="1">
                <a:solidFill>
                  <a:srgbClr val="222222"/>
                </a:solidFill>
                <a:latin typeface="Tw Cen MT"/>
              </a:rPr>
              <a:t>Seguros</a:t>
            </a:r>
            <a:r>
              <a:rPr sz="2200" b="0" dirty="0">
                <a:solidFill>
                  <a:srgbClr val="222222"/>
                </a:solidFill>
                <a:latin typeface="Tw Cen MT"/>
              </a:rPr>
              <a:t>  ▸  </a:t>
            </a:r>
            <a:r>
              <a:rPr sz="2200" b="0" dirty="0" err="1">
                <a:solidFill>
                  <a:srgbClr val="222222"/>
                </a:solidFill>
                <a:latin typeface="Tw Cen MT"/>
              </a:rPr>
              <a:t>Otras</a:t>
            </a:r>
            <a:r>
              <a:rPr sz="2200" b="0" dirty="0">
                <a:solidFill>
                  <a:srgbClr val="222222"/>
                </a:solidFill>
                <a:latin typeface="Tw Cen MT"/>
              </a:rPr>
              <a:t> formas de </a:t>
            </a:r>
            <a:r>
              <a:rPr sz="2200" b="0" dirty="0" err="1">
                <a:solidFill>
                  <a:srgbClr val="222222"/>
                </a:solidFill>
                <a:latin typeface="Tw Cen MT"/>
              </a:rPr>
              <a:t>compensación</a:t>
            </a:r>
            <a:r>
              <a:rPr sz="2200" b="0" dirty="0">
                <a:solidFill>
                  <a:srgbClr val="222222"/>
                </a:solidFill>
                <a:latin typeface="Tw Cen MT"/>
              </a:rPr>
              <a:t>.</a:t>
            </a:r>
          </a:p>
          <a:p>
            <a:pPr algn="l">
              <a:spcBef>
                <a:spcPts val="400"/>
              </a:spcBef>
            </a:pPr>
            <a:endParaRPr lang="es-419" sz="2200" b="1" dirty="0">
              <a:solidFill>
                <a:srgbClr val="222222"/>
              </a:solidFill>
              <a:latin typeface="Tw Cen MT"/>
            </a:endParaRPr>
          </a:p>
          <a:p>
            <a:pPr algn="l">
              <a:spcBef>
                <a:spcPts val="400"/>
              </a:spcBef>
            </a:pPr>
            <a:endParaRPr sz="2200" b="1" dirty="0">
              <a:solidFill>
                <a:srgbClr val="222222"/>
              </a:solidFill>
              <a:latin typeface="Tw Cen MT"/>
            </a:endParaRPr>
          </a:p>
          <a:p>
            <a:pPr algn="l">
              <a:spcBef>
                <a:spcPts val="400"/>
              </a:spcBef>
              <a:buNone/>
            </a:pPr>
            <a:r>
              <a:rPr sz="2200" b="1" dirty="0">
                <a:solidFill>
                  <a:srgbClr val="8B0000"/>
                </a:solidFill>
                <a:latin typeface="Tw Cen MT"/>
              </a:rPr>
              <a:t>COMPENSACIONES VARIABLES</a:t>
            </a:r>
          </a:p>
          <a:p>
            <a:pPr algn="l">
              <a:spcBef>
                <a:spcPts val="400"/>
              </a:spcBef>
            </a:pPr>
            <a:r>
              <a:rPr sz="2200" b="0" dirty="0">
                <a:solidFill>
                  <a:srgbClr val="222222"/>
                </a:solidFill>
                <a:latin typeface="Tw Cen MT"/>
              </a:rPr>
              <a:t>Comisión  ▸  Bonus </a:t>
            </a:r>
            <a:r>
              <a:rPr sz="2200" b="0" dirty="0" err="1">
                <a:solidFill>
                  <a:srgbClr val="222222"/>
                </a:solidFill>
                <a:latin typeface="Tw Cen MT"/>
              </a:rPr>
              <a:t>contables</a:t>
            </a:r>
            <a:r>
              <a:rPr sz="2200" b="0" dirty="0">
                <a:solidFill>
                  <a:srgbClr val="222222"/>
                </a:solidFill>
                <a:latin typeface="Tw Cen MT"/>
              </a:rPr>
              <a:t>  ▸  Acciones / stock options  ▸  </a:t>
            </a:r>
            <a:r>
              <a:rPr sz="2200" b="0" dirty="0" err="1">
                <a:solidFill>
                  <a:srgbClr val="222222"/>
                </a:solidFill>
                <a:latin typeface="Tw Cen MT"/>
              </a:rPr>
              <a:t>Paracaídas</a:t>
            </a:r>
            <a:r>
              <a:rPr sz="2200" b="0" dirty="0">
                <a:solidFill>
                  <a:srgbClr val="222222"/>
                </a:solidFill>
                <a:latin typeface="Tw Cen MT"/>
              </a:rPr>
              <a:t> de </a:t>
            </a:r>
            <a:r>
              <a:rPr sz="2200" b="0" dirty="0" err="1">
                <a:solidFill>
                  <a:srgbClr val="222222"/>
                </a:solidFill>
                <a:latin typeface="Tw Cen MT"/>
              </a:rPr>
              <a:t>oro</a:t>
            </a:r>
            <a:r>
              <a:rPr sz="2200" b="0" dirty="0">
                <a:solidFill>
                  <a:srgbClr val="222222"/>
                </a:solidFill>
                <a:latin typeface="Tw Cen MT"/>
              </a:rPr>
              <a:t>.</a:t>
            </a:r>
            <a:endParaRPr lang="es-419" sz="2200" b="0" dirty="0">
              <a:solidFill>
                <a:srgbClr val="222222"/>
              </a:solidFill>
              <a:latin typeface="Tw Cen MT"/>
            </a:endParaRPr>
          </a:p>
          <a:p>
            <a:pPr algn="l">
              <a:spcBef>
                <a:spcPts val="400"/>
              </a:spcBef>
            </a:pPr>
            <a:endParaRPr lang="es-419" sz="2200" dirty="0">
              <a:solidFill>
                <a:srgbClr val="222222"/>
              </a:solidFill>
              <a:latin typeface="Tw Cen MT"/>
            </a:endParaRPr>
          </a:p>
          <a:p>
            <a:pPr algn="ctr">
              <a:spcBef>
                <a:spcPts val="400"/>
              </a:spcBef>
            </a:pPr>
            <a:endParaRPr sz="2200" b="1" dirty="0">
              <a:solidFill>
                <a:srgbClr val="222222"/>
              </a:solidFill>
              <a:latin typeface="Tw Cen MT"/>
            </a:endParaRPr>
          </a:p>
          <a:p>
            <a:pPr algn="ctr">
              <a:spcBef>
                <a:spcPts val="400"/>
              </a:spcBef>
            </a:pPr>
            <a:r>
              <a:rPr sz="2200" b="1" dirty="0">
                <a:solidFill>
                  <a:srgbClr val="222222"/>
                </a:solidFill>
                <a:latin typeface="Tw Cen MT"/>
              </a:rPr>
              <a:t>La </a:t>
            </a:r>
            <a:r>
              <a:rPr sz="2200" b="1" dirty="0" err="1">
                <a:solidFill>
                  <a:srgbClr val="222222"/>
                </a:solidFill>
                <a:latin typeface="Tw Cen MT"/>
              </a:rPr>
              <a:t>elección</a:t>
            </a:r>
            <a:r>
              <a:rPr sz="2200" b="1" dirty="0">
                <a:solidFill>
                  <a:srgbClr val="222222"/>
                </a:solidFill>
                <a:latin typeface="Tw Cen MT"/>
              </a:rPr>
              <a:t> entre </a:t>
            </a:r>
            <a:r>
              <a:rPr sz="2200" b="1" dirty="0" err="1">
                <a:solidFill>
                  <a:srgbClr val="222222"/>
                </a:solidFill>
                <a:latin typeface="Tw Cen MT"/>
              </a:rPr>
              <a:t>fijo</a:t>
            </a:r>
            <a:r>
              <a:rPr sz="2200" b="1" dirty="0">
                <a:solidFill>
                  <a:srgbClr val="222222"/>
                </a:solidFill>
                <a:latin typeface="Tw Cen MT"/>
              </a:rPr>
              <a:t> y variable genera </a:t>
            </a:r>
            <a:r>
              <a:rPr sz="2200" b="1" dirty="0" err="1">
                <a:solidFill>
                  <a:srgbClr val="222222"/>
                </a:solidFill>
                <a:latin typeface="Tw Cen MT"/>
              </a:rPr>
              <a:t>el</a:t>
            </a:r>
            <a:r>
              <a:rPr sz="2200" b="1" dirty="0">
                <a:solidFill>
                  <a:srgbClr val="222222"/>
                </a:solidFill>
                <a:latin typeface="Tw Cen MT"/>
              </a:rPr>
              <a:t> trade-off entre </a:t>
            </a:r>
            <a:r>
              <a:rPr sz="2200" b="1" dirty="0" err="1">
                <a:solidFill>
                  <a:srgbClr val="222222"/>
                </a:solidFill>
                <a:latin typeface="Tw Cen MT"/>
              </a:rPr>
              <a:t>incentivos</a:t>
            </a:r>
            <a:r>
              <a:rPr sz="2200" b="1" dirty="0">
                <a:solidFill>
                  <a:srgbClr val="222222"/>
                </a:solidFill>
                <a:latin typeface="Tw Cen MT"/>
              </a:rPr>
              <a:t> y </a:t>
            </a:r>
            <a:r>
              <a:rPr sz="2200" b="1" dirty="0" err="1">
                <a:solidFill>
                  <a:srgbClr val="222222"/>
                </a:solidFill>
                <a:latin typeface="Tw Cen MT"/>
              </a:rPr>
              <a:t>reparto</a:t>
            </a:r>
            <a:r>
              <a:rPr sz="2200" b="1" dirty="0">
                <a:solidFill>
                  <a:srgbClr val="222222"/>
                </a:solidFill>
                <a:latin typeface="Tw Cen MT"/>
              </a:rPr>
              <a:t> del </a:t>
            </a:r>
            <a:r>
              <a:rPr sz="2200" b="1" dirty="0" err="1">
                <a:solidFill>
                  <a:srgbClr val="222222"/>
                </a:solidFill>
                <a:latin typeface="Tw Cen MT"/>
              </a:rPr>
              <a:t>riesgo</a:t>
            </a:r>
            <a:r>
              <a:rPr sz="2200" b="1" dirty="0">
                <a:solidFill>
                  <a:srgbClr val="222222"/>
                </a:solidFill>
                <a:latin typeface="Tw Cen MT"/>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4" name="TextBox 3"/>
          <p:cNvSpPr txBox="1"/>
          <p:nvPr/>
        </p:nvSpPr>
        <p:spPr>
          <a:xfrm>
            <a:off x="304800" y="87125"/>
            <a:ext cx="8534400" cy="892552"/>
          </a:xfrm>
          <a:prstGeom prst="rect">
            <a:avLst/>
          </a:prstGeom>
          <a:noFill/>
        </p:spPr>
        <p:txBody>
          <a:bodyPr wrap="square" anchor="ctr">
            <a:spAutoFit/>
          </a:bodyPr>
          <a:lstStyle/>
          <a:p>
            <a:pPr algn="l"/>
            <a:r>
              <a:rPr lang="es-419" sz="2600" b="1" i="0" dirty="0">
                <a:solidFill>
                  <a:srgbClr val="FFFFFF"/>
                </a:solidFill>
                <a:latin typeface="Tw Cen MT" panose="020B0602020104020603" pitchFamily="34" charset="0"/>
              </a:rPr>
              <a:t>Incentivos a corto plazo: </a:t>
            </a:r>
            <a:r>
              <a:rPr sz="2600" b="1" i="0" dirty="0" err="1">
                <a:solidFill>
                  <a:srgbClr val="FFFFFF"/>
                </a:solidFill>
                <a:latin typeface="Tw Cen MT" panose="020B0602020104020603" pitchFamily="34" charset="0"/>
              </a:rPr>
              <a:t>Remuneración</a:t>
            </a:r>
            <a:r>
              <a:rPr sz="2600" b="1" i="0" dirty="0">
                <a:solidFill>
                  <a:srgbClr val="FFFFFF"/>
                </a:solidFill>
                <a:latin typeface="Tw Cen MT" panose="020B0602020104020603" pitchFamily="34" charset="0"/>
              </a:rPr>
              <a:t> Variable — Comisión</a:t>
            </a:r>
          </a:p>
        </p:txBody>
      </p:sp>
      <p:sp>
        <p:nvSpPr>
          <p:cNvPr id="5" name="TextBox 4"/>
          <p:cNvSpPr txBox="1"/>
          <p:nvPr/>
        </p:nvSpPr>
        <p:spPr>
          <a:xfrm>
            <a:off x="304800" y="1220000"/>
            <a:ext cx="8534400" cy="5170646"/>
          </a:xfrm>
          <a:prstGeom prst="rect">
            <a:avLst/>
          </a:prstGeom>
          <a:noFill/>
        </p:spPr>
        <p:txBody>
          <a:bodyPr wrap="square">
            <a:spAutoFit/>
          </a:bodyPr>
          <a:lstStyle/>
          <a:p>
            <a:pPr algn="l">
              <a:spcBef>
                <a:spcPts val="400"/>
              </a:spcBef>
            </a:pPr>
            <a:r>
              <a:rPr sz="2400" b="1" dirty="0">
                <a:solidFill>
                  <a:srgbClr val="222222"/>
                </a:solidFill>
                <a:latin typeface="Tw Cen MT" panose="020B0602020104020603" pitchFamily="34" charset="0"/>
              </a:rPr>
              <a:t>La </a:t>
            </a:r>
            <a:r>
              <a:rPr sz="2400" b="1" dirty="0" err="1">
                <a:solidFill>
                  <a:srgbClr val="222222"/>
                </a:solidFill>
                <a:latin typeface="Tw Cen MT" panose="020B0602020104020603" pitchFamily="34" charset="0"/>
              </a:rPr>
              <a:t>fuerza</a:t>
            </a:r>
            <a:r>
              <a:rPr sz="2400" b="1" dirty="0">
                <a:solidFill>
                  <a:srgbClr val="222222"/>
                </a:solidFill>
                <a:latin typeface="Tw Cen MT" panose="020B0602020104020603" pitchFamily="34" charset="0"/>
              </a:rPr>
              <a:t> de </a:t>
            </a:r>
            <a:r>
              <a:rPr sz="2400" b="1" dirty="0" err="1">
                <a:solidFill>
                  <a:srgbClr val="222222"/>
                </a:solidFill>
                <a:latin typeface="Tw Cen MT" panose="020B0602020104020603" pitchFamily="34" charset="0"/>
              </a:rPr>
              <a:t>ventas</a:t>
            </a:r>
            <a:r>
              <a:rPr sz="2400" b="1" dirty="0">
                <a:solidFill>
                  <a:srgbClr val="222222"/>
                </a:solidFill>
                <a:latin typeface="Tw Cen MT" panose="020B0602020104020603" pitchFamily="34" charset="0"/>
              </a:rPr>
              <a:t> es </a:t>
            </a:r>
            <a:r>
              <a:rPr sz="2400" b="1" dirty="0" err="1">
                <a:solidFill>
                  <a:srgbClr val="222222"/>
                </a:solidFill>
                <a:latin typeface="Tw Cen MT" panose="020B0602020104020603" pitchFamily="34" charset="0"/>
              </a:rPr>
              <a:t>recompensada</a:t>
            </a:r>
            <a:r>
              <a:rPr sz="2400" b="1" dirty="0">
                <a:solidFill>
                  <a:srgbClr val="222222"/>
                </a:solidFill>
                <a:latin typeface="Tw Cen MT" panose="020B0602020104020603" pitchFamily="34" charset="0"/>
              </a:rPr>
              <a:t> </a:t>
            </a:r>
            <a:r>
              <a:rPr sz="2400" b="1" dirty="0" err="1">
                <a:solidFill>
                  <a:srgbClr val="222222"/>
                </a:solidFill>
                <a:latin typeface="Tw Cen MT" panose="020B0602020104020603" pitchFamily="34" charset="0"/>
              </a:rPr>
              <a:t>principalmente</a:t>
            </a:r>
            <a:r>
              <a:rPr sz="2400" b="1" dirty="0">
                <a:solidFill>
                  <a:srgbClr val="222222"/>
                </a:solidFill>
                <a:latin typeface="Tw Cen MT" panose="020B0602020104020603" pitchFamily="34" charset="0"/>
              </a:rPr>
              <a:t> </a:t>
            </a:r>
            <a:r>
              <a:rPr sz="2400" b="1" dirty="0" err="1">
                <a:solidFill>
                  <a:srgbClr val="222222"/>
                </a:solidFill>
                <a:latin typeface="Tw Cen MT" panose="020B0602020104020603" pitchFamily="34" charset="0"/>
              </a:rPr>
              <a:t>por</a:t>
            </a:r>
            <a:r>
              <a:rPr sz="2400" b="1" dirty="0">
                <a:solidFill>
                  <a:srgbClr val="222222"/>
                </a:solidFill>
                <a:latin typeface="Tw Cen MT" panose="020B0602020104020603" pitchFamily="34" charset="0"/>
              </a:rPr>
              <a:t> </a:t>
            </a:r>
            <a:r>
              <a:rPr sz="2400" b="1" dirty="0" err="1">
                <a:solidFill>
                  <a:srgbClr val="222222"/>
                </a:solidFill>
                <a:latin typeface="Tw Cen MT" panose="020B0602020104020603" pitchFamily="34" charset="0"/>
              </a:rPr>
              <a:t>resultados</a:t>
            </a:r>
            <a:r>
              <a:rPr sz="2400" b="1" dirty="0">
                <a:solidFill>
                  <a:srgbClr val="222222"/>
                </a:solidFill>
                <a:latin typeface="Tw Cen MT" panose="020B0602020104020603" pitchFamily="34" charset="0"/>
              </a:rPr>
              <a:t>.</a:t>
            </a:r>
          </a:p>
          <a:p>
            <a:pPr>
              <a:spcBef>
                <a:spcPts val="400"/>
              </a:spcBef>
            </a:pPr>
            <a:r>
              <a:rPr lang="es-AR" sz="2400" dirty="0">
                <a:solidFill>
                  <a:srgbClr val="222222"/>
                </a:solidFill>
                <a:latin typeface="Tw Cen MT" panose="020B0602020104020603" pitchFamily="34" charset="0"/>
              </a:rPr>
              <a:t>El volumen de ventas es la medida dominante del éxito.</a:t>
            </a:r>
          </a:p>
          <a:p>
            <a:pPr algn="l">
              <a:spcBef>
                <a:spcPts val="400"/>
              </a:spcBef>
            </a:pPr>
            <a:r>
              <a:rPr sz="2400" b="0" dirty="0">
                <a:solidFill>
                  <a:srgbClr val="222222"/>
                </a:solidFill>
                <a:latin typeface="Tw Cen MT" panose="020B0602020104020603" pitchFamily="34" charset="0"/>
              </a:rPr>
              <a:t>Los </a:t>
            </a:r>
            <a:r>
              <a:rPr sz="2400" b="0" dirty="0" err="1">
                <a:solidFill>
                  <a:srgbClr val="222222"/>
                </a:solidFill>
                <a:latin typeface="Tw Cen MT" panose="020B0602020104020603" pitchFamily="34" charset="0"/>
              </a:rPr>
              <a:t>ingresos</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dependen</a:t>
            </a:r>
            <a:r>
              <a:rPr sz="2400" b="0" dirty="0">
                <a:solidFill>
                  <a:srgbClr val="222222"/>
                </a:solidFill>
                <a:latin typeface="Tw Cen MT" panose="020B0602020104020603" pitchFamily="34" charset="0"/>
              </a:rPr>
              <a:t> de las </a:t>
            </a:r>
            <a:r>
              <a:rPr sz="2400" b="0" dirty="0" err="1">
                <a:solidFill>
                  <a:srgbClr val="222222"/>
                </a:solidFill>
                <a:latin typeface="Tw Cen MT" panose="020B0602020104020603" pitchFamily="34" charset="0"/>
              </a:rPr>
              <a:t>habilidades</a:t>
            </a:r>
            <a:r>
              <a:rPr sz="2400" b="0" dirty="0">
                <a:solidFill>
                  <a:srgbClr val="222222"/>
                </a:solidFill>
                <a:latin typeface="Tw Cen MT" panose="020B0602020104020603" pitchFamily="34" charset="0"/>
              </a:rPr>
              <a:t> y </a:t>
            </a:r>
            <a:r>
              <a:rPr sz="2400" b="0" dirty="0" err="1">
                <a:solidFill>
                  <a:srgbClr val="222222"/>
                </a:solidFill>
                <a:latin typeface="Tw Cen MT" panose="020B0602020104020603" pitchFamily="34" charset="0"/>
              </a:rPr>
              <a:t>los</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esfuerzos</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los</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profesionales</a:t>
            </a:r>
            <a:r>
              <a:rPr sz="2400" b="0" dirty="0">
                <a:solidFill>
                  <a:srgbClr val="222222"/>
                </a:solidFill>
                <a:latin typeface="Tw Cen MT" panose="020B0602020104020603" pitchFamily="34" charset="0"/>
              </a:rPr>
              <a:t> con </a:t>
            </a:r>
            <a:r>
              <a:rPr sz="2400" b="0" dirty="0" err="1">
                <a:solidFill>
                  <a:srgbClr val="222222"/>
                </a:solidFill>
                <a:latin typeface="Tw Cen MT" panose="020B0602020104020603" pitchFamily="34" charset="0"/>
              </a:rPr>
              <a:t>mejor</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desempeño</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ganan</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significativamente</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más</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que</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los</a:t>
            </a:r>
            <a:r>
              <a:rPr sz="2400" b="0" dirty="0">
                <a:solidFill>
                  <a:srgbClr val="222222"/>
                </a:solidFill>
                <a:latin typeface="Tw Cen MT" panose="020B0602020104020603" pitchFamily="34" charset="0"/>
              </a:rPr>
              <a:t> de </a:t>
            </a:r>
            <a:r>
              <a:rPr sz="2400" b="0" dirty="0" err="1">
                <a:solidFill>
                  <a:srgbClr val="222222"/>
                </a:solidFill>
                <a:latin typeface="Tw Cen MT" panose="020B0602020104020603" pitchFamily="34" charset="0"/>
              </a:rPr>
              <a:t>desempeño</a:t>
            </a:r>
            <a:r>
              <a:rPr sz="2400" b="0" dirty="0">
                <a:solidFill>
                  <a:srgbClr val="222222"/>
                </a:solidFill>
                <a:latin typeface="Tw Cen MT" panose="020B0602020104020603" pitchFamily="34" charset="0"/>
              </a:rPr>
              <a:t> medio.</a:t>
            </a:r>
          </a:p>
          <a:p>
            <a:pPr algn="l">
              <a:spcBef>
                <a:spcPts val="400"/>
              </a:spcBef>
            </a:pPr>
            <a:r>
              <a:rPr sz="2400" b="0" dirty="0">
                <a:solidFill>
                  <a:srgbClr val="222222"/>
                </a:solidFill>
                <a:latin typeface="Tw Cen MT" panose="020B0602020104020603" pitchFamily="34" charset="0"/>
              </a:rPr>
              <a:t>Las </a:t>
            </a:r>
            <a:r>
              <a:rPr sz="2400" b="0" dirty="0" err="1">
                <a:solidFill>
                  <a:srgbClr val="222222"/>
                </a:solidFill>
                <a:latin typeface="Tw Cen MT" panose="020B0602020104020603" pitchFamily="34" charset="0"/>
              </a:rPr>
              <a:t>actividades</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que</a:t>
            </a:r>
            <a:r>
              <a:rPr sz="2400" b="0" dirty="0">
                <a:solidFill>
                  <a:srgbClr val="222222"/>
                </a:solidFill>
                <a:latin typeface="Tw Cen MT" panose="020B0602020104020603" pitchFamily="34" charset="0"/>
              </a:rPr>
              <a:t> no son </a:t>
            </a:r>
            <a:r>
              <a:rPr sz="2400" b="0" dirty="0" err="1">
                <a:solidFill>
                  <a:srgbClr val="222222"/>
                </a:solidFill>
                <a:latin typeface="Tw Cen MT" panose="020B0602020104020603" pitchFamily="34" charset="0"/>
              </a:rPr>
              <a:t>puramente</a:t>
            </a:r>
            <a:r>
              <a:rPr sz="2400" b="0" dirty="0">
                <a:solidFill>
                  <a:srgbClr val="222222"/>
                </a:solidFill>
                <a:latin typeface="Tw Cen MT" panose="020B0602020104020603" pitchFamily="34" charset="0"/>
              </a:rPr>
              <a:t> de </a:t>
            </a:r>
            <a:r>
              <a:rPr sz="2400" b="0" dirty="0" err="1">
                <a:solidFill>
                  <a:srgbClr val="222222"/>
                </a:solidFill>
                <a:latin typeface="Tw Cen MT" panose="020B0602020104020603" pitchFamily="34" charset="0"/>
              </a:rPr>
              <a:t>ventas</a:t>
            </a:r>
            <a:r>
              <a:rPr sz="2400" b="0" dirty="0">
                <a:solidFill>
                  <a:srgbClr val="222222"/>
                </a:solidFill>
                <a:latin typeface="Tw Cen MT" panose="020B0602020104020603" pitchFamily="34" charset="0"/>
              </a:rPr>
              <a:t> se </a:t>
            </a:r>
            <a:r>
              <a:rPr sz="2400" b="0" dirty="0" err="1">
                <a:solidFill>
                  <a:srgbClr val="222222"/>
                </a:solidFill>
                <a:latin typeface="Tw Cen MT" panose="020B0602020104020603" pitchFamily="34" charset="0"/>
              </a:rPr>
              <a:t>pasan</a:t>
            </a:r>
            <a:r>
              <a:rPr sz="2400" b="0" dirty="0">
                <a:solidFill>
                  <a:srgbClr val="222222"/>
                </a:solidFill>
                <a:latin typeface="Tw Cen MT" panose="020B0602020104020603" pitchFamily="34" charset="0"/>
              </a:rPr>
              <a:t> a </a:t>
            </a:r>
            <a:r>
              <a:rPr sz="2400" b="0" dirty="0" err="1">
                <a:solidFill>
                  <a:srgbClr val="222222"/>
                </a:solidFill>
                <a:latin typeface="Tw Cen MT" panose="020B0602020104020603" pitchFamily="34" charset="0"/>
              </a:rPr>
              <a:t>los</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departamentos</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respectivos</a:t>
            </a:r>
            <a:r>
              <a:rPr sz="2400" b="0" dirty="0">
                <a:solidFill>
                  <a:srgbClr val="222222"/>
                </a:solidFill>
                <a:latin typeface="Tw Cen MT" panose="020B0602020104020603" pitchFamily="34" charset="0"/>
              </a:rPr>
              <a:t>.</a:t>
            </a:r>
            <a:endParaRPr lang="es-419" sz="2400" b="0" dirty="0">
              <a:solidFill>
                <a:srgbClr val="222222"/>
              </a:solidFill>
              <a:latin typeface="Tw Cen MT" panose="020B0602020104020603" pitchFamily="34" charset="0"/>
            </a:endParaRPr>
          </a:p>
          <a:p>
            <a:pPr algn="l">
              <a:spcBef>
                <a:spcPts val="400"/>
              </a:spcBef>
            </a:pPr>
            <a:endParaRPr sz="2200" b="0" dirty="0">
              <a:solidFill>
                <a:srgbClr val="222222"/>
              </a:solidFill>
              <a:latin typeface="Tw Cen MT" panose="020B0602020104020603" pitchFamily="34" charset="0"/>
            </a:endParaRPr>
          </a:p>
          <a:p>
            <a:pPr algn="l">
              <a:spcBef>
                <a:spcPts val="400"/>
              </a:spcBef>
              <a:buNone/>
            </a:pPr>
            <a:r>
              <a:rPr sz="2400" b="1" dirty="0">
                <a:solidFill>
                  <a:srgbClr val="8B0000"/>
                </a:solidFill>
                <a:latin typeface="Tw Cen MT" panose="020B0602020104020603" pitchFamily="34" charset="0"/>
              </a:rPr>
              <a:t>LIMITACIONES</a:t>
            </a:r>
          </a:p>
          <a:p>
            <a:pPr algn="l">
              <a:spcBef>
                <a:spcPts val="400"/>
              </a:spcBef>
              <a:buFont typeface="Tw Cen MT"/>
              <a:buChar char="■"/>
            </a:pPr>
            <a:r>
              <a:rPr sz="2400" b="0" dirty="0">
                <a:solidFill>
                  <a:srgbClr val="222222"/>
                </a:solidFill>
                <a:latin typeface="Tw Cen MT" panose="020B0602020104020603" pitchFamily="34" charset="0"/>
              </a:rPr>
              <a:t>La </a:t>
            </a:r>
            <a:r>
              <a:rPr sz="2400" b="0" dirty="0" err="1">
                <a:solidFill>
                  <a:srgbClr val="222222"/>
                </a:solidFill>
                <a:latin typeface="Tw Cen MT" panose="020B0602020104020603" pitchFamily="34" charset="0"/>
              </a:rPr>
              <a:t>volatilidad</a:t>
            </a:r>
            <a:r>
              <a:rPr sz="2400" b="0" dirty="0">
                <a:solidFill>
                  <a:srgbClr val="222222"/>
                </a:solidFill>
                <a:latin typeface="Tw Cen MT" panose="020B0602020104020603" pitchFamily="34" charset="0"/>
              </a:rPr>
              <a:t> del mercado y la </a:t>
            </a:r>
            <a:r>
              <a:rPr sz="2400" b="0" dirty="0" err="1">
                <a:solidFill>
                  <a:srgbClr val="222222"/>
                </a:solidFill>
                <a:latin typeface="Tw Cen MT" panose="020B0602020104020603" pitchFamily="34" charset="0"/>
              </a:rPr>
              <a:t>competitividad</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pueden</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dificultar</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el</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proceso</a:t>
            </a:r>
            <a:r>
              <a:rPr sz="2400" b="0" dirty="0">
                <a:solidFill>
                  <a:srgbClr val="222222"/>
                </a:solidFill>
                <a:latin typeface="Tw Cen MT" panose="020B0602020104020603" pitchFamily="34" charset="0"/>
              </a:rPr>
              <a:t> de </a:t>
            </a:r>
            <a:r>
              <a:rPr sz="2400" b="0" dirty="0" err="1">
                <a:solidFill>
                  <a:srgbClr val="222222"/>
                </a:solidFill>
                <a:latin typeface="Tw Cen MT" panose="020B0602020104020603" pitchFamily="34" charset="0"/>
              </a:rPr>
              <a:t>ventas</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introduciendo</a:t>
            </a:r>
            <a:r>
              <a:rPr sz="2400" b="0" dirty="0">
                <a:solidFill>
                  <a:srgbClr val="222222"/>
                </a:solidFill>
                <a:latin typeface="Tw Cen MT" panose="020B0602020104020603" pitchFamily="34" charset="0"/>
              </a:rPr>
              <a:t> </a:t>
            </a:r>
            <a:r>
              <a:rPr sz="2400" b="0" dirty="0" err="1">
                <a:solidFill>
                  <a:srgbClr val="222222"/>
                </a:solidFill>
                <a:latin typeface="Tw Cen MT" panose="020B0602020104020603" pitchFamily="34" charset="0"/>
              </a:rPr>
              <a:t>factores</a:t>
            </a:r>
            <a:r>
              <a:rPr sz="2400" b="0" dirty="0">
                <a:solidFill>
                  <a:srgbClr val="222222"/>
                </a:solidFill>
                <a:latin typeface="Tw Cen MT" panose="020B0602020104020603" pitchFamily="34" charset="0"/>
              </a:rPr>
              <a:t> fuera del control del </a:t>
            </a:r>
            <a:r>
              <a:rPr sz="2400" b="0" dirty="0" err="1">
                <a:solidFill>
                  <a:srgbClr val="222222"/>
                </a:solidFill>
                <a:latin typeface="Tw Cen MT" panose="020B0602020104020603" pitchFamily="34" charset="0"/>
              </a:rPr>
              <a:t>vendedor</a:t>
            </a:r>
            <a:r>
              <a:rPr sz="2400" b="0" dirty="0">
                <a:solidFill>
                  <a:srgbClr val="222222"/>
                </a:solidFill>
                <a:latin typeface="Tw Cen MT" panose="020B0602020104020603" pitchFamily="34" charset="0"/>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87125"/>
            <a:ext cx="8534400" cy="892552"/>
          </a:xfrm>
          <a:prstGeom prst="rect">
            <a:avLst/>
          </a:prstGeom>
          <a:noFill/>
        </p:spPr>
        <p:txBody>
          <a:bodyPr wrap="square" anchor="ctr">
            <a:spAutoFit/>
          </a:bodyPr>
          <a:lstStyle/>
          <a:p>
            <a:pPr algn="l"/>
            <a:r>
              <a:rPr lang="es-419" sz="2600" b="1" i="0" dirty="0">
                <a:solidFill>
                  <a:srgbClr val="FFFFFF"/>
                </a:solidFill>
                <a:latin typeface="Tw Cen MT"/>
              </a:rPr>
              <a:t>Incentivos a corto plazo: </a:t>
            </a:r>
            <a:r>
              <a:rPr sz="2600" b="1" i="0" dirty="0">
                <a:solidFill>
                  <a:srgbClr val="FFFFFF"/>
                </a:solidFill>
                <a:latin typeface="Tw Cen MT"/>
              </a:rPr>
              <a:t>Bonus </a:t>
            </a:r>
            <a:r>
              <a:rPr sz="2600" b="1" i="0" dirty="0" err="1">
                <a:solidFill>
                  <a:srgbClr val="FFFFFF"/>
                </a:solidFill>
                <a:latin typeface="Tw Cen MT"/>
              </a:rPr>
              <a:t>Basados</a:t>
            </a:r>
            <a:r>
              <a:rPr sz="2600" b="1" i="0" dirty="0">
                <a:solidFill>
                  <a:srgbClr val="FFFFFF"/>
                </a:solidFill>
                <a:latin typeface="Tw Cen MT"/>
              </a:rPr>
              <a:t> </a:t>
            </a:r>
            <a:r>
              <a:rPr sz="2600" b="1" i="0" dirty="0" err="1">
                <a:solidFill>
                  <a:srgbClr val="FFFFFF"/>
                </a:solidFill>
                <a:latin typeface="Tw Cen MT"/>
              </a:rPr>
              <a:t>en</a:t>
            </a:r>
            <a:r>
              <a:rPr sz="2600" b="1" i="0" dirty="0">
                <a:solidFill>
                  <a:srgbClr val="FFFFFF"/>
                </a:solidFill>
                <a:latin typeface="Tw Cen MT"/>
              </a:rPr>
              <a:t> </a:t>
            </a:r>
            <a:r>
              <a:rPr sz="2600" b="1" i="0" dirty="0" err="1">
                <a:solidFill>
                  <a:srgbClr val="FFFFFF"/>
                </a:solidFill>
                <a:latin typeface="Tw Cen MT"/>
              </a:rPr>
              <a:t>Números</a:t>
            </a:r>
            <a:r>
              <a:rPr sz="2600" b="1" i="0" dirty="0">
                <a:solidFill>
                  <a:srgbClr val="FFFFFF"/>
                </a:solidFill>
                <a:latin typeface="Tw Cen MT"/>
              </a:rPr>
              <a:t> </a:t>
            </a:r>
            <a:r>
              <a:rPr sz="2600" b="1" i="0" dirty="0" err="1">
                <a:solidFill>
                  <a:srgbClr val="FFFFFF"/>
                </a:solidFill>
                <a:latin typeface="Tw Cen MT"/>
              </a:rPr>
              <a:t>Contables</a:t>
            </a:r>
            <a:endParaRPr sz="2600" b="1" i="0" dirty="0">
              <a:solidFill>
                <a:srgbClr val="FFFFFF"/>
              </a:solidFill>
              <a:latin typeface="Tw Cen MT"/>
            </a:endParaRPr>
          </a:p>
        </p:txBody>
      </p:sp>
      <p:sp>
        <p:nvSpPr>
          <p:cNvPr id="5" name="TextBox 4"/>
          <p:cNvSpPr txBox="1"/>
          <p:nvPr/>
        </p:nvSpPr>
        <p:spPr>
          <a:xfrm>
            <a:off x="304800" y="1220000"/>
            <a:ext cx="8534400" cy="4385816"/>
          </a:xfrm>
          <a:prstGeom prst="rect">
            <a:avLst/>
          </a:prstGeom>
          <a:noFill/>
        </p:spPr>
        <p:txBody>
          <a:bodyPr wrap="square">
            <a:spAutoFit/>
          </a:bodyPr>
          <a:lstStyle/>
          <a:p>
            <a:pPr algn="l">
              <a:spcBef>
                <a:spcPts val="400"/>
              </a:spcBef>
              <a:buNone/>
            </a:pPr>
            <a:r>
              <a:rPr sz="2400" b="1" dirty="0">
                <a:solidFill>
                  <a:srgbClr val="8B0000"/>
                </a:solidFill>
                <a:latin typeface="Tw Cen MT"/>
              </a:rPr>
              <a:t>VENTAJAS</a:t>
            </a:r>
          </a:p>
          <a:p>
            <a:pPr lvl="1" algn="l">
              <a:spcBef>
                <a:spcPts val="150"/>
              </a:spcBef>
              <a:buFont typeface="Tw Cen MT"/>
              <a:buChar char="▸"/>
            </a:pPr>
            <a:r>
              <a:rPr sz="2400" b="0" dirty="0" err="1">
                <a:solidFill>
                  <a:srgbClr val="222222"/>
                </a:solidFill>
                <a:latin typeface="Tw Cen MT"/>
              </a:rPr>
              <a:t>Facilitan</a:t>
            </a:r>
            <a:r>
              <a:rPr sz="2400" b="0" dirty="0">
                <a:solidFill>
                  <a:srgbClr val="222222"/>
                </a:solidFill>
                <a:latin typeface="Tw Cen MT"/>
              </a:rPr>
              <a:t> la </a:t>
            </a:r>
            <a:r>
              <a:rPr sz="2400" b="0" dirty="0" err="1">
                <a:solidFill>
                  <a:srgbClr val="222222"/>
                </a:solidFill>
                <a:latin typeface="Tw Cen MT"/>
              </a:rPr>
              <a:t>medición</a:t>
            </a:r>
            <a:r>
              <a:rPr sz="2400" b="0" dirty="0">
                <a:solidFill>
                  <a:srgbClr val="222222"/>
                </a:solidFill>
                <a:latin typeface="Tw Cen MT"/>
              </a:rPr>
              <a:t> </a:t>
            </a:r>
            <a:r>
              <a:rPr sz="2400" b="0" dirty="0" err="1">
                <a:solidFill>
                  <a:srgbClr val="222222"/>
                </a:solidFill>
                <a:latin typeface="Tw Cen MT"/>
              </a:rPr>
              <a:t>por</a:t>
            </a:r>
            <a:r>
              <a:rPr sz="2400" b="0" dirty="0">
                <a:solidFill>
                  <a:srgbClr val="222222"/>
                </a:solidFill>
                <a:latin typeface="Tw Cen MT"/>
              </a:rPr>
              <a:t> </a:t>
            </a:r>
            <a:r>
              <a:rPr sz="2400" b="0" dirty="0" err="1">
                <a:solidFill>
                  <a:srgbClr val="222222"/>
                </a:solidFill>
                <a:latin typeface="Tw Cen MT"/>
              </a:rPr>
              <a:t>unidad</a:t>
            </a:r>
            <a:r>
              <a:rPr sz="2400" b="0" dirty="0">
                <a:solidFill>
                  <a:srgbClr val="222222"/>
                </a:solidFill>
                <a:latin typeface="Tw Cen MT"/>
              </a:rPr>
              <a:t> de </a:t>
            </a:r>
            <a:r>
              <a:rPr sz="2400" b="0" dirty="0" err="1">
                <a:solidFill>
                  <a:srgbClr val="222222"/>
                </a:solidFill>
                <a:latin typeface="Tw Cen MT"/>
              </a:rPr>
              <a:t>negocio</a:t>
            </a:r>
            <a:r>
              <a:rPr sz="2400" b="0" dirty="0">
                <a:solidFill>
                  <a:srgbClr val="222222"/>
                </a:solidFill>
                <a:latin typeface="Tw Cen MT"/>
              </a:rPr>
              <a:t> o </a:t>
            </a:r>
            <a:r>
              <a:rPr sz="2400" b="0" dirty="0" err="1">
                <a:solidFill>
                  <a:srgbClr val="222222"/>
                </a:solidFill>
                <a:latin typeface="Tw Cen MT"/>
              </a:rPr>
              <a:t>división</a:t>
            </a:r>
            <a:r>
              <a:rPr sz="2400" b="0" dirty="0">
                <a:solidFill>
                  <a:srgbClr val="222222"/>
                </a:solidFill>
                <a:latin typeface="Tw Cen MT"/>
              </a:rPr>
              <a:t>.</a:t>
            </a:r>
          </a:p>
          <a:p>
            <a:pPr lvl="1" algn="l">
              <a:spcBef>
                <a:spcPts val="150"/>
              </a:spcBef>
              <a:buFont typeface="Tw Cen MT"/>
              <a:buChar char="▸"/>
            </a:pPr>
            <a:r>
              <a:rPr sz="2400" b="0" dirty="0" err="1">
                <a:solidFill>
                  <a:srgbClr val="222222"/>
                </a:solidFill>
                <a:latin typeface="Tw Cen MT"/>
              </a:rPr>
              <a:t>Gerentes</a:t>
            </a:r>
            <a:r>
              <a:rPr sz="2400" b="0" dirty="0">
                <a:solidFill>
                  <a:srgbClr val="222222"/>
                </a:solidFill>
                <a:latin typeface="Tw Cen MT"/>
              </a:rPr>
              <a:t> de </a:t>
            </a:r>
            <a:r>
              <a:rPr sz="2400" b="0" dirty="0" err="1">
                <a:solidFill>
                  <a:srgbClr val="222222"/>
                </a:solidFill>
                <a:latin typeface="Tw Cen MT"/>
              </a:rPr>
              <a:t>menor</a:t>
            </a:r>
            <a:r>
              <a:rPr sz="2400" b="0" dirty="0">
                <a:solidFill>
                  <a:srgbClr val="222222"/>
                </a:solidFill>
                <a:latin typeface="Tw Cen MT"/>
              </a:rPr>
              <a:t> </a:t>
            </a:r>
            <a:r>
              <a:rPr sz="2400" b="0" dirty="0" err="1">
                <a:solidFill>
                  <a:srgbClr val="222222"/>
                </a:solidFill>
                <a:latin typeface="Tw Cen MT"/>
              </a:rPr>
              <a:t>nivel</a:t>
            </a:r>
            <a:r>
              <a:rPr sz="2400" b="0" dirty="0">
                <a:solidFill>
                  <a:srgbClr val="222222"/>
                </a:solidFill>
                <a:latin typeface="Tw Cen MT"/>
              </a:rPr>
              <a:t> </a:t>
            </a:r>
            <a:r>
              <a:rPr sz="2400" b="0" dirty="0" err="1">
                <a:solidFill>
                  <a:srgbClr val="222222"/>
                </a:solidFill>
                <a:latin typeface="Tw Cen MT"/>
              </a:rPr>
              <a:t>típicamente</a:t>
            </a:r>
            <a:r>
              <a:rPr sz="2400" b="0" dirty="0">
                <a:solidFill>
                  <a:srgbClr val="222222"/>
                </a:solidFill>
                <a:latin typeface="Tw Cen MT"/>
              </a:rPr>
              <a:t> </a:t>
            </a:r>
            <a:r>
              <a:rPr sz="2400" b="0" dirty="0" err="1">
                <a:solidFill>
                  <a:srgbClr val="222222"/>
                </a:solidFill>
                <a:latin typeface="Tw Cen MT"/>
              </a:rPr>
              <a:t>reciben</a:t>
            </a:r>
            <a:r>
              <a:rPr sz="2400" b="0" dirty="0">
                <a:solidFill>
                  <a:srgbClr val="222222"/>
                </a:solidFill>
                <a:latin typeface="Tw Cen MT"/>
              </a:rPr>
              <a:t> bonus (vs. planes </a:t>
            </a:r>
            <a:r>
              <a:rPr sz="2400" b="0" dirty="0" err="1">
                <a:solidFill>
                  <a:srgbClr val="222222"/>
                </a:solidFill>
                <a:latin typeface="Tw Cen MT"/>
              </a:rPr>
              <a:t>basados</a:t>
            </a:r>
            <a:r>
              <a:rPr sz="2400" b="0" dirty="0">
                <a:solidFill>
                  <a:srgbClr val="222222"/>
                </a:solidFill>
                <a:latin typeface="Tw Cen MT"/>
              </a:rPr>
              <a:t> </a:t>
            </a:r>
            <a:r>
              <a:rPr sz="2400" b="0" dirty="0" err="1">
                <a:solidFill>
                  <a:srgbClr val="222222"/>
                </a:solidFill>
                <a:latin typeface="Tw Cen MT"/>
              </a:rPr>
              <a:t>en</a:t>
            </a:r>
            <a:r>
              <a:rPr sz="2400" b="0" dirty="0">
                <a:solidFill>
                  <a:srgbClr val="222222"/>
                </a:solidFill>
                <a:latin typeface="Tw Cen MT"/>
              </a:rPr>
              <a:t> </a:t>
            </a:r>
            <a:r>
              <a:rPr sz="2400" b="0" dirty="0" err="1">
                <a:solidFill>
                  <a:srgbClr val="222222"/>
                </a:solidFill>
                <a:latin typeface="Tw Cen MT"/>
              </a:rPr>
              <a:t>acciones</a:t>
            </a:r>
            <a:r>
              <a:rPr sz="2400" b="0" dirty="0">
                <a:solidFill>
                  <a:srgbClr val="222222"/>
                </a:solidFill>
                <a:latin typeface="Tw Cen MT"/>
              </a:rPr>
              <a:t> para </a:t>
            </a:r>
            <a:r>
              <a:rPr sz="2400" b="0" dirty="0" err="1">
                <a:solidFill>
                  <a:srgbClr val="222222"/>
                </a:solidFill>
                <a:latin typeface="Tw Cen MT"/>
              </a:rPr>
              <a:t>el</a:t>
            </a:r>
            <a:r>
              <a:rPr sz="2400" b="0" dirty="0">
                <a:solidFill>
                  <a:srgbClr val="222222"/>
                </a:solidFill>
                <a:latin typeface="Tw Cen MT"/>
              </a:rPr>
              <a:t> top management).</a:t>
            </a:r>
          </a:p>
          <a:p>
            <a:pPr algn="l">
              <a:spcBef>
                <a:spcPts val="400"/>
              </a:spcBef>
              <a:buNone/>
            </a:pPr>
            <a:endParaRPr lang="es-419" sz="2400" b="1" dirty="0">
              <a:solidFill>
                <a:srgbClr val="8B0000"/>
              </a:solidFill>
              <a:latin typeface="Tw Cen MT"/>
            </a:endParaRPr>
          </a:p>
          <a:p>
            <a:pPr algn="l">
              <a:spcBef>
                <a:spcPts val="400"/>
              </a:spcBef>
              <a:buNone/>
            </a:pPr>
            <a:r>
              <a:rPr sz="2400" b="1" dirty="0">
                <a:solidFill>
                  <a:srgbClr val="8B0000"/>
                </a:solidFill>
                <a:latin typeface="Tw Cen MT"/>
              </a:rPr>
              <a:t>RIESGOS</a:t>
            </a:r>
          </a:p>
          <a:p>
            <a:pPr lvl="1" algn="l">
              <a:spcBef>
                <a:spcPts val="150"/>
              </a:spcBef>
              <a:buFont typeface="Tw Cen MT"/>
              <a:buChar char="▸"/>
            </a:pPr>
            <a:r>
              <a:rPr sz="2400" b="0" dirty="0">
                <a:solidFill>
                  <a:srgbClr val="222222"/>
                </a:solidFill>
                <a:latin typeface="Tw Cen MT"/>
              </a:rPr>
              <a:t>Los </a:t>
            </a:r>
            <a:r>
              <a:rPr sz="2400" b="0" dirty="0" err="1">
                <a:solidFill>
                  <a:srgbClr val="222222"/>
                </a:solidFill>
                <a:latin typeface="Tw Cen MT"/>
              </a:rPr>
              <a:t>números</a:t>
            </a:r>
            <a:r>
              <a:rPr sz="2400" b="0" dirty="0">
                <a:solidFill>
                  <a:srgbClr val="222222"/>
                </a:solidFill>
                <a:latin typeface="Tw Cen MT"/>
              </a:rPr>
              <a:t> </a:t>
            </a:r>
            <a:r>
              <a:rPr sz="2400" b="0" dirty="0" err="1">
                <a:solidFill>
                  <a:srgbClr val="222222"/>
                </a:solidFill>
                <a:latin typeface="Tw Cen MT"/>
              </a:rPr>
              <a:t>contables</a:t>
            </a:r>
            <a:r>
              <a:rPr sz="2400" b="0" dirty="0">
                <a:solidFill>
                  <a:srgbClr val="222222"/>
                </a:solidFill>
                <a:latin typeface="Tw Cen MT"/>
              </a:rPr>
              <a:t> </a:t>
            </a:r>
            <a:r>
              <a:rPr sz="2400" b="0" dirty="0" err="1">
                <a:solidFill>
                  <a:srgbClr val="222222"/>
                </a:solidFill>
                <a:latin typeface="Tw Cen MT"/>
              </a:rPr>
              <a:t>pueden</a:t>
            </a:r>
            <a:r>
              <a:rPr sz="2400" b="0" dirty="0">
                <a:solidFill>
                  <a:srgbClr val="222222"/>
                </a:solidFill>
                <a:latin typeface="Tw Cen MT"/>
              </a:rPr>
              <a:t> </a:t>
            </a:r>
            <a:r>
              <a:rPr sz="2400" b="0" dirty="0" err="1">
                <a:solidFill>
                  <a:srgbClr val="222222"/>
                </a:solidFill>
                <a:latin typeface="Tw Cen MT"/>
              </a:rPr>
              <a:t>generar</a:t>
            </a:r>
            <a:r>
              <a:rPr sz="2400" b="0" dirty="0">
                <a:solidFill>
                  <a:srgbClr val="222222"/>
                </a:solidFill>
                <a:latin typeface="Tw Cen MT"/>
              </a:rPr>
              <a:t> </a:t>
            </a:r>
            <a:r>
              <a:rPr sz="2400" b="0" dirty="0" err="1">
                <a:solidFill>
                  <a:srgbClr val="222222"/>
                </a:solidFill>
                <a:latin typeface="Tw Cen MT"/>
              </a:rPr>
              <a:t>incentivos</a:t>
            </a:r>
            <a:r>
              <a:rPr sz="2400" b="0" dirty="0">
                <a:solidFill>
                  <a:srgbClr val="222222"/>
                </a:solidFill>
                <a:latin typeface="Tw Cen MT"/>
              </a:rPr>
              <a:t> </a:t>
            </a:r>
            <a:r>
              <a:rPr sz="2400" b="0" dirty="0" err="1">
                <a:solidFill>
                  <a:srgbClr val="222222"/>
                </a:solidFill>
                <a:latin typeface="Tw Cen MT"/>
              </a:rPr>
              <a:t>perversos</a:t>
            </a:r>
            <a:r>
              <a:rPr sz="2400" b="0" dirty="0">
                <a:solidFill>
                  <a:srgbClr val="222222"/>
                </a:solidFill>
                <a:latin typeface="Tw Cen MT"/>
              </a:rPr>
              <a:t>.</a:t>
            </a:r>
          </a:p>
          <a:p>
            <a:pPr lvl="1" algn="l">
              <a:spcBef>
                <a:spcPts val="150"/>
              </a:spcBef>
              <a:buFont typeface="Tw Cen MT"/>
              <a:buChar char="▸"/>
            </a:pPr>
            <a:r>
              <a:rPr sz="2400" b="1" dirty="0" err="1">
                <a:solidFill>
                  <a:srgbClr val="222222"/>
                </a:solidFill>
                <a:latin typeface="Tw Cen MT"/>
              </a:rPr>
              <a:t>Están</a:t>
            </a:r>
            <a:r>
              <a:rPr sz="2400" b="1" dirty="0">
                <a:solidFill>
                  <a:srgbClr val="222222"/>
                </a:solidFill>
                <a:latin typeface="Tw Cen MT"/>
              </a:rPr>
              <a:t> </a:t>
            </a:r>
            <a:r>
              <a:rPr sz="2400" b="1" dirty="0" err="1">
                <a:solidFill>
                  <a:srgbClr val="222222"/>
                </a:solidFill>
                <a:latin typeface="Tw Cen MT"/>
              </a:rPr>
              <a:t>sujetos</a:t>
            </a:r>
            <a:r>
              <a:rPr sz="2400" b="1" dirty="0">
                <a:solidFill>
                  <a:srgbClr val="222222"/>
                </a:solidFill>
                <a:latin typeface="Tw Cen MT"/>
              </a:rPr>
              <a:t> a </a:t>
            </a:r>
            <a:r>
              <a:rPr sz="2400" b="1" dirty="0" err="1">
                <a:solidFill>
                  <a:srgbClr val="222222"/>
                </a:solidFill>
                <a:latin typeface="Tw Cen MT"/>
              </a:rPr>
              <a:t>manipulación</a:t>
            </a:r>
            <a:r>
              <a:rPr sz="2400" b="1" dirty="0">
                <a:solidFill>
                  <a:srgbClr val="222222"/>
                </a:solidFill>
                <a:latin typeface="Tw Cen MT"/>
              </a:rPr>
              <a:t>: </a:t>
            </a:r>
            <a:r>
              <a:rPr sz="2400" b="1" dirty="0" err="1">
                <a:solidFill>
                  <a:srgbClr val="222222"/>
                </a:solidFill>
                <a:latin typeface="Tw Cen MT"/>
              </a:rPr>
              <a:t>incrementar</a:t>
            </a:r>
            <a:r>
              <a:rPr sz="2400" b="1" dirty="0">
                <a:solidFill>
                  <a:srgbClr val="222222"/>
                </a:solidFill>
                <a:latin typeface="Tw Cen MT"/>
              </a:rPr>
              <a:t> </a:t>
            </a:r>
            <a:r>
              <a:rPr sz="2400" b="1" dirty="0" err="1">
                <a:solidFill>
                  <a:srgbClr val="222222"/>
                </a:solidFill>
                <a:latin typeface="Tw Cen MT"/>
              </a:rPr>
              <a:t>artificialmente</a:t>
            </a:r>
            <a:r>
              <a:rPr sz="2400" b="1" dirty="0">
                <a:solidFill>
                  <a:srgbClr val="222222"/>
                </a:solidFill>
                <a:latin typeface="Tw Cen MT"/>
              </a:rPr>
              <a:t> balances o manipular </a:t>
            </a:r>
            <a:r>
              <a:rPr sz="2400" b="1" dirty="0" err="1">
                <a:solidFill>
                  <a:srgbClr val="222222"/>
                </a:solidFill>
                <a:latin typeface="Tw Cen MT"/>
              </a:rPr>
              <a:t>resultados</a:t>
            </a:r>
            <a:r>
              <a:rPr sz="2400" b="1" dirty="0">
                <a:solidFill>
                  <a:srgbClr val="222222"/>
                </a:solidFill>
                <a:latin typeface="Tw Cen MT"/>
              </a:rPr>
              <a:t>.</a:t>
            </a:r>
          </a:p>
          <a:p>
            <a:pPr lvl="1" algn="l">
              <a:spcBef>
                <a:spcPts val="150"/>
              </a:spcBef>
              <a:buFont typeface="Tw Cen MT"/>
              <a:buChar char="▸"/>
            </a:pPr>
            <a:r>
              <a:rPr sz="2400" b="0" dirty="0">
                <a:solidFill>
                  <a:srgbClr val="222222"/>
                </a:solidFill>
                <a:latin typeface="Tw Cen MT"/>
              </a:rPr>
              <a:t>Los </a:t>
            </a:r>
            <a:r>
              <a:rPr sz="2400" b="0" dirty="0" err="1">
                <a:solidFill>
                  <a:srgbClr val="222222"/>
                </a:solidFill>
                <a:latin typeface="Tw Cen MT"/>
              </a:rPr>
              <a:t>resultados</a:t>
            </a:r>
            <a:r>
              <a:rPr sz="2400" b="0" dirty="0">
                <a:solidFill>
                  <a:srgbClr val="222222"/>
                </a:solidFill>
                <a:latin typeface="Tw Cen MT"/>
              </a:rPr>
              <a:t> </a:t>
            </a:r>
            <a:r>
              <a:rPr sz="2400" b="0" dirty="0" err="1">
                <a:solidFill>
                  <a:srgbClr val="222222"/>
                </a:solidFill>
                <a:latin typeface="Tw Cen MT"/>
              </a:rPr>
              <a:t>pueden</a:t>
            </a:r>
            <a:r>
              <a:rPr sz="2400" b="0" dirty="0">
                <a:solidFill>
                  <a:srgbClr val="222222"/>
                </a:solidFill>
                <a:latin typeface="Tw Cen MT"/>
              </a:rPr>
              <a:t> </a:t>
            </a:r>
            <a:r>
              <a:rPr sz="2400" b="0" dirty="0" err="1">
                <a:solidFill>
                  <a:srgbClr val="222222"/>
                </a:solidFill>
                <a:latin typeface="Tw Cen MT"/>
              </a:rPr>
              <a:t>estar</a:t>
            </a:r>
            <a:r>
              <a:rPr sz="2400" b="0" dirty="0">
                <a:solidFill>
                  <a:srgbClr val="222222"/>
                </a:solidFill>
                <a:latin typeface="Tw Cen MT"/>
              </a:rPr>
              <a:t> </a:t>
            </a:r>
            <a:r>
              <a:rPr sz="2400" b="0" dirty="0" err="1">
                <a:solidFill>
                  <a:srgbClr val="222222"/>
                </a:solidFill>
                <a:latin typeface="Tw Cen MT"/>
              </a:rPr>
              <a:t>influidos</a:t>
            </a:r>
            <a:r>
              <a:rPr sz="2400" b="0" dirty="0">
                <a:solidFill>
                  <a:srgbClr val="222222"/>
                </a:solidFill>
                <a:latin typeface="Tw Cen MT"/>
              </a:rPr>
              <a:t> </a:t>
            </a:r>
            <a:r>
              <a:rPr sz="2400" b="0" dirty="0" err="1">
                <a:solidFill>
                  <a:srgbClr val="222222"/>
                </a:solidFill>
                <a:latin typeface="Tw Cen MT"/>
              </a:rPr>
              <a:t>por</a:t>
            </a:r>
            <a:r>
              <a:rPr sz="2400" b="0" dirty="0">
                <a:solidFill>
                  <a:srgbClr val="222222"/>
                </a:solidFill>
                <a:latin typeface="Tw Cen MT"/>
              </a:rPr>
              <a:t> </a:t>
            </a:r>
            <a:r>
              <a:rPr sz="2400" b="0" dirty="0" err="1">
                <a:solidFill>
                  <a:srgbClr val="222222"/>
                </a:solidFill>
                <a:latin typeface="Tw Cen MT"/>
              </a:rPr>
              <a:t>factores</a:t>
            </a:r>
            <a:r>
              <a:rPr sz="2400" b="0" dirty="0">
                <a:solidFill>
                  <a:srgbClr val="222222"/>
                </a:solidFill>
                <a:latin typeface="Tw Cen MT"/>
              </a:rPr>
              <a:t> fuera del control del personal (</a:t>
            </a:r>
            <a:r>
              <a:rPr sz="2400" b="0" dirty="0" err="1">
                <a:solidFill>
                  <a:srgbClr val="222222"/>
                </a:solidFill>
                <a:latin typeface="Tw Cen MT"/>
              </a:rPr>
              <a:t>precio</a:t>
            </a:r>
            <a:r>
              <a:rPr sz="2400" b="0" dirty="0">
                <a:solidFill>
                  <a:srgbClr val="222222"/>
                </a:solidFill>
                <a:latin typeface="Tw Cen MT"/>
              </a:rPr>
              <a:t> de </a:t>
            </a:r>
            <a:r>
              <a:rPr sz="2400" b="0" dirty="0" err="1">
                <a:solidFill>
                  <a:srgbClr val="222222"/>
                </a:solidFill>
                <a:latin typeface="Tw Cen MT"/>
              </a:rPr>
              <a:t>venta</a:t>
            </a:r>
            <a:r>
              <a:rPr sz="2400" b="0" dirty="0">
                <a:solidFill>
                  <a:srgbClr val="222222"/>
                </a:solidFill>
                <a:latin typeface="Tw Cen MT"/>
              </a:rPr>
              <a:t>, </a:t>
            </a:r>
            <a:r>
              <a:rPr sz="2400" b="0" dirty="0" err="1">
                <a:solidFill>
                  <a:srgbClr val="222222"/>
                </a:solidFill>
                <a:latin typeface="Tw Cen MT"/>
              </a:rPr>
              <a:t>competitividad</a:t>
            </a:r>
            <a:r>
              <a:rPr sz="2400" b="0" dirty="0">
                <a:solidFill>
                  <a:srgbClr val="222222"/>
                </a:solidFill>
                <a:latin typeface="Tw Cen MT"/>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8BA1C-C931-3495-40A3-08CE690E7B2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C16E63-8A53-4FF9-E2E0-B845518864FC}"/>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CA0519F-07B5-B521-316A-1C20E57B8274}"/>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DBB5A60-0409-2424-3015-A51830BC2659}"/>
              </a:ext>
            </a:extLst>
          </p:cNvPr>
          <p:cNvSpPr txBox="1"/>
          <p:nvPr/>
        </p:nvSpPr>
        <p:spPr>
          <a:xfrm>
            <a:off x="304800" y="56346"/>
            <a:ext cx="8534400" cy="954107"/>
          </a:xfrm>
          <a:prstGeom prst="rect">
            <a:avLst/>
          </a:prstGeom>
          <a:noFill/>
        </p:spPr>
        <p:txBody>
          <a:bodyPr wrap="square" anchor="ctr">
            <a:spAutoFit/>
          </a:bodyPr>
          <a:lstStyle>
            <a:defPPr>
              <a:defRPr lang="en-US"/>
            </a:defPPr>
            <a:lvl1pPr>
              <a:defRPr sz="2600" b="1" i="0">
                <a:solidFill>
                  <a:srgbClr val="FFFFFF"/>
                </a:solidFill>
                <a:latin typeface="Tw Cen MT"/>
              </a:defRPr>
            </a:lvl1pPr>
          </a:lstStyle>
          <a:p>
            <a:r>
              <a:rPr lang="en-US" dirty="0"/>
              <a:t>¿Los </a:t>
            </a:r>
            <a:r>
              <a:rPr lang="en-US" dirty="0" err="1"/>
              <a:t>contratos</a:t>
            </a:r>
            <a:r>
              <a:rPr lang="en-US" dirty="0"/>
              <a:t> de </a:t>
            </a:r>
            <a:r>
              <a:rPr lang="en-US" dirty="0" err="1"/>
              <a:t>incentivos</a:t>
            </a:r>
            <a:r>
              <a:rPr lang="en-US" dirty="0"/>
              <a:t> </a:t>
            </a:r>
            <a:r>
              <a:rPr lang="en-US" dirty="0" err="1"/>
              <a:t>están</a:t>
            </a:r>
            <a:r>
              <a:rPr lang="en-US" dirty="0"/>
              <a:t> </a:t>
            </a:r>
            <a:r>
              <a:rPr lang="en-US" dirty="0" err="1"/>
              <a:t>manipulados</a:t>
            </a:r>
            <a:r>
              <a:rPr lang="en-US" dirty="0"/>
              <a:t> </a:t>
            </a:r>
            <a:r>
              <a:rPr lang="en-US" dirty="0" err="1"/>
              <a:t>por</a:t>
            </a:r>
            <a:r>
              <a:rPr lang="en-US" dirty="0"/>
              <a:t> </a:t>
            </a:r>
            <a:r>
              <a:rPr lang="en-US" dirty="0" err="1"/>
              <a:t>directores</a:t>
            </a:r>
            <a:r>
              <a:rPr lang="en-US" dirty="0"/>
              <a:t> </a:t>
            </a:r>
            <a:r>
              <a:rPr lang="en-US" dirty="0" err="1"/>
              <a:t>ejecutivos</a:t>
            </a:r>
            <a:r>
              <a:rPr lang="en-US" dirty="0"/>
              <a:t> </a:t>
            </a:r>
            <a:r>
              <a:rPr lang="en-US" dirty="0" err="1"/>
              <a:t>poderosos</a:t>
            </a:r>
            <a:r>
              <a:rPr lang="en-US" dirty="0"/>
              <a:t>?</a:t>
            </a:r>
            <a:endParaRPr dirty="0"/>
          </a:p>
        </p:txBody>
      </p:sp>
      <p:sp>
        <p:nvSpPr>
          <p:cNvPr id="6" name="Rectangle 2">
            <a:extLst>
              <a:ext uri="{FF2B5EF4-FFF2-40B4-BE49-F238E27FC236}">
                <a16:creationId xmlns:a16="http://schemas.microsoft.com/office/drawing/2014/main" id="{9DA797F4-B448-1FDA-0DFD-65B41FB6DB50}"/>
              </a:ext>
            </a:extLst>
          </p:cNvPr>
          <p:cNvSpPr txBox="1">
            <a:spLocks noChangeArrowheads="1"/>
          </p:cNvSpPr>
          <p:nvPr/>
        </p:nvSpPr>
        <p:spPr>
          <a:xfrm>
            <a:off x="455676" y="1143000"/>
            <a:ext cx="8232648" cy="4191000"/>
          </a:xfrm>
          <a:prstGeom prst="rect">
            <a:avLst/>
          </a:prstGeom>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AR" sz="2400" dirty="0">
                <a:latin typeface="Tw Cen MT" panose="020B0602020104020603" pitchFamily="34" charset="0"/>
              </a:rPr>
              <a:t>Hipótesis: Los directores ejecutivos poderosos manipulan la parte de incentivos de su remuneración.</a:t>
            </a:r>
          </a:p>
          <a:p>
            <a:r>
              <a:rPr lang="es-AR" sz="2400" dirty="0">
                <a:latin typeface="Tw Cen MT" panose="020B0602020104020603" pitchFamily="34" charset="0"/>
              </a:rPr>
              <a:t>“Manipulación“: los directores ejecutivos inclinan la ponderación de las medidas de rendimiento hacia las de mayor rendimiento. </a:t>
            </a:r>
          </a:p>
          <a:p>
            <a:r>
              <a:rPr lang="es-AR" sz="2400" dirty="0">
                <a:latin typeface="Tw Cen MT" panose="020B0602020104020603" pitchFamily="34" charset="0"/>
              </a:rPr>
              <a:t>Análisis de un amplio panel de empresas estadounidenses entre 1992 y 2003:</a:t>
            </a:r>
          </a:p>
          <a:p>
            <a:pPr lvl="1"/>
            <a:r>
              <a:rPr lang="es-AR" sz="2100" dirty="0">
                <a:latin typeface="Tw Cen MT" panose="020B0602020104020603" pitchFamily="34" charset="0"/>
              </a:rPr>
              <a:t>La manipulación explica entre el 10 % y el 30 % de la sensibilidad del pago de incentivos al rendimiento.</a:t>
            </a:r>
          </a:p>
          <a:p>
            <a:pPr lvl="1"/>
            <a:r>
              <a:rPr lang="es-AR" sz="2100" dirty="0">
                <a:latin typeface="Tw Cen MT" panose="020B0602020104020603" pitchFamily="34" charset="0"/>
              </a:rPr>
              <a:t>La manipulación puede explicar parte de la falta de sensibilidad al rendimiento negativo.</a:t>
            </a:r>
          </a:p>
          <a:p>
            <a:pPr lvl="1"/>
            <a:r>
              <a:rPr lang="es-AR" sz="2100" dirty="0">
                <a:latin typeface="Tw Cen MT" panose="020B0602020104020603" pitchFamily="34" charset="0"/>
              </a:rPr>
              <a:t>La manipulación de los pagos de incentivos se asocia con una disminución del rendimiento y el valor futuros de la empresa</a:t>
            </a:r>
            <a:r>
              <a:rPr lang="es-AR" sz="2100" dirty="0"/>
              <a:t>.</a:t>
            </a:r>
          </a:p>
          <a:p>
            <a:pPr marL="0" indent="0">
              <a:lnSpc>
                <a:spcPct val="90000"/>
              </a:lnSpc>
              <a:buFont typeface="Arial"/>
              <a:buNone/>
            </a:pPr>
            <a:endParaRPr lang="es-ES_tradnl" sz="2400" dirty="0"/>
          </a:p>
        </p:txBody>
      </p:sp>
      <p:sp>
        <p:nvSpPr>
          <p:cNvPr id="7" name="Footer Placeholder 4">
            <a:extLst>
              <a:ext uri="{FF2B5EF4-FFF2-40B4-BE49-F238E27FC236}">
                <a16:creationId xmlns:a16="http://schemas.microsoft.com/office/drawing/2014/main" id="{D1CE0DC9-530C-B188-EE4B-ECA813ED3859}"/>
              </a:ext>
            </a:extLst>
          </p:cNvPr>
          <p:cNvSpPr>
            <a:spLocks noGrp="1"/>
          </p:cNvSpPr>
          <p:nvPr>
            <p:ph type="ftr" sz="quarter" idx="11"/>
          </p:nvPr>
        </p:nvSpPr>
        <p:spPr>
          <a:xfrm>
            <a:off x="1308243" y="6248206"/>
            <a:ext cx="7696200" cy="381194"/>
          </a:xfrm>
        </p:spPr>
        <p:txBody>
          <a:bodyPr/>
          <a:lstStyle/>
          <a:p>
            <a:pPr algn="l"/>
            <a:r>
              <a:rPr lang="en-US" sz="1600" dirty="0">
                <a:solidFill>
                  <a:schemeClr val="tx1"/>
                </a:solidFill>
                <a:latin typeface="Tw Cen MT" panose="020B0602020104020603" pitchFamily="34" charset="0"/>
              </a:rPr>
              <a:t>Are Incentive Contracts Rigged By Powerful CEOs?∗ Adair Morse, Vikram Nanda, and Amit Seru,  August, 2009</a:t>
            </a:r>
            <a:endParaRPr lang="es-ES" sz="1600" dirty="0">
              <a:solidFill>
                <a:schemeClr val="tx1"/>
              </a:solidFill>
              <a:latin typeface="Tw Cen MT" panose="020B0602020104020603" pitchFamily="34" charset="0"/>
            </a:endParaRPr>
          </a:p>
        </p:txBody>
      </p:sp>
    </p:spTree>
    <p:extLst>
      <p:ext uri="{BB962C8B-B14F-4D97-AF65-F5344CB8AC3E}">
        <p14:creationId xmlns:p14="http://schemas.microsoft.com/office/powerpoint/2010/main" val="32903427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Caso: ¿Los Contratos de Incentivos están Manipulados?</a:t>
            </a:r>
          </a:p>
        </p:txBody>
      </p:sp>
      <p:sp>
        <p:nvSpPr>
          <p:cNvPr id="5" name="TextBox 4"/>
          <p:cNvSpPr txBox="1"/>
          <p:nvPr/>
        </p:nvSpPr>
        <p:spPr>
          <a:xfrm>
            <a:off x="304800" y="1220000"/>
            <a:ext cx="8534400" cy="5375831"/>
          </a:xfrm>
          <a:prstGeom prst="rect">
            <a:avLst/>
          </a:prstGeom>
          <a:noFill/>
        </p:spPr>
        <p:txBody>
          <a:bodyPr wrap="square">
            <a:spAutoFit/>
          </a:bodyPr>
          <a:lstStyle/>
          <a:p>
            <a:pPr algn="l">
              <a:spcBef>
                <a:spcPts val="400"/>
              </a:spcBef>
            </a:pPr>
            <a:r>
              <a:rPr sz="2000" b="0" dirty="0">
                <a:solidFill>
                  <a:srgbClr val="FFFFFF"/>
                </a:solidFill>
                <a:latin typeface="Tw Cen MT"/>
              </a:rPr>
              <a:t>Robert Nardelli, CEO de Home Depot: </a:t>
            </a:r>
            <a:r>
              <a:rPr sz="2000" b="0" dirty="0" err="1">
                <a:solidFill>
                  <a:srgbClr val="FFFFFF"/>
                </a:solidFill>
                <a:latin typeface="Tw Cen MT"/>
              </a:rPr>
              <a:t>en</a:t>
            </a:r>
            <a:r>
              <a:rPr sz="2000" b="0" dirty="0">
                <a:solidFill>
                  <a:srgbClr val="FFFFFF"/>
                </a:solidFill>
                <a:latin typeface="Tw Cen MT"/>
              </a:rPr>
              <a:t> 2004, </a:t>
            </a:r>
            <a:r>
              <a:rPr sz="2000" b="0" dirty="0" err="1">
                <a:solidFill>
                  <a:srgbClr val="FFFFFF"/>
                </a:solidFill>
                <a:latin typeface="Tw Cen MT"/>
              </a:rPr>
              <a:t>el</a:t>
            </a:r>
            <a:r>
              <a:rPr sz="2000" b="0" dirty="0">
                <a:solidFill>
                  <a:srgbClr val="FFFFFF"/>
                </a:solidFill>
                <a:latin typeface="Tw Cen MT"/>
              </a:rPr>
              <a:t> </a:t>
            </a:r>
            <a:r>
              <a:rPr sz="2000" b="0" dirty="0" err="1">
                <a:solidFill>
                  <a:srgbClr val="FFFFFF"/>
                </a:solidFill>
                <a:latin typeface="Tw Cen MT"/>
              </a:rPr>
              <a:t>contrato</a:t>
            </a:r>
            <a:r>
              <a:rPr sz="2000" b="0" dirty="0">
                <a:solidFill>
                  <a:srgbClr val="FFFFFF"/>
                </a:solidFill>
                <a:latin typeface="Tw Cen MT"/>
              </a:rPr>
              <a:t> </a:t>
            </a:r>
            <a:r>
              <a:rPr sz="2000" b="0" dirty="0" err="1">
                <a:solidFill>
                  <a:srgbClr val="FFFFFF"/>
                </a:solidFill>
                <a:latin typeface="Tw Cen MT"/>
              </a:rPr>
              <a:t>preveía</a:t>
            </a:r>
            <a:r>
              <a:rPr sz="2000" b="0" dirty="0">
                <a:solidFill>
                  <a:srgbClr val="FFFFFF"/>
                </a:solidFill>
                <a:latin typeface="Tw Cen MT"/>
              </a:rPr>
              <a:t> </a:t>
            </a:r>
            <a:r>
              <a:rPr sz="2000" b="0" dirty="0" err="1">
                <a:solidFill>
                  <a:srgbClr val="FFFFFF"/>
                </a:solidFill>
                <a:latin typeface="Tw Cen MT"/>
              </a:rPr>
              <a:t>que</a:t>
            </a:r>
            <a:r>
              <a:rPr sz="2000" b="0" dirty="0">
                <a:solidFill>
                  <a:srgbClr val="FFFFFF"/>
                </a:solidFill>
                <a:latin typeface="Tw Cen MT"/>
              </a:rPr>
              <a:t> </a:t>
            </a:r>
            <a:r>
              <a:rPr sz="2000" b="0" dirty="0" err="1">
                <a:solidFill>
                  <a:srgbClr val="FFFFFF"/>
                </a:solidFill>
                <a:latin typeface="Tw Cen MT"/>
              </a:rPr>
              <a:t>su</a:t>
            </a:r>
            <a:r>
              <a:rPr sz="2000" b="0" dirty="0">
                <a:solidFill>
                  <a:srgbClr val="FFFFFF"/>
                </a:solidFill>
                <a:latin typeface="Tw Cen MT"/>
              </a:rPr>
              <a:t> </a:t>
            </a:r>
            <a:r>
              <a:rPr sz="2000" b="0" dirty="0" err="1">
                <a:solidFill>
                  <a:srgbClr val="FFFFFF"/>
                </a:solidFill>
                <a:latin typeface="Tw Cen MT"/>
              </a:rPr>
              <a:t>pago</a:t>
            </a:r>
            <a:r>
              <a:rPr sz="2000" b="0" dirty="0">
                <a:solidFill>
                  <a:srgbClr val="FFFFFF"/>
                </a:solidFill>
                <a:latin typeface="Tw Cen MT"/>
              </a:rPr>
              <a:t> de </a:t>
            </a:r>
            <a:r>
              <a:rPr sz="2000" b="0" dirty="0" err="1">
                <a:solidFill>
                  <a:srgbClr val="FFFFFF"/>
                </a:solidFill>
                <a:latin typeface="Tw Cen MT"/>
              </a:rPr>
              <a:t>incentivos</a:t>
            </a:r>
            <a:r>
              <a:rPr sz="2000" b="0" dirty="0">
                <a:solidFill>
                  <a:srgbClr val="FFFFFF"/>
                </a:solidFill>
                <a:latin typeface="Tw Cen MT"/>
              </a:rPr>
              <a:t> se </a:t>
            </a:r>
            <a:r>
              <a:rPr sz="2000" b="0" dirty="0" err="1">
                <a:solidFill>
                  <a:srgbClr val="FFFFFF"/>
                </a:solidFill>
                <a:latin typeface="Tw Cen MT"/>
              </a:rPr>
              <a:t>calcularía</a:t>
            </a:r>
            <a:r>
              <a:rPr sz="2000" b="0" dirty="0">
                <a:solidFill>
                  <a:srgbClr val="FFFFFF"/>
                </a:solidFill>
                <a:latin typeface="Tw Cen MT"/>
              </a:rPr>
              <a:t> </a:t>
            </a:r>
            <a:r>
              <a:rPr sz="2000" b="0" dirty="0" err="1">
                <a:solidFill>
                  <a:srgbClr val="FFFFFF"/>
                </a:solidFill>
                <a:latin typeface="Tw Cen MT"/>
              </a:rPr>
              <a:t>comparando</a:t>
            </a:r>
            <a:r>
              <a:rPr sz="2000" b="0" dirty="0">
                <a:solidFill>
                  <a:srgbClr val="FFFFFF"/>
                </a:solidFill>
                <a:latin typeface="Tw Cen MT"/>
              </a:rPr>
              <a:t> la </a:t>
            </a:r>
            <a:r>
              <a:rPr sz="2000" b="0" dirty="0" err="1">
                <a:solidFill>
                  <a:srgbClr val="FFFFFF"/>
                </a:solidFill>
                <a:latin typeface="Tw Cen MT"/>
              </a:rPr>
              <a:t>rentabilidad</a:t>
            </a:r>
            <a:r>
              <a:rPr sz="2000" b="0" dirty="0">
                <a:solidFill>
                  <a:srgbClr val="FFFFFF"/>
                </a:solidFill>
                <a:latin typeface="Tw Cen MT"/>
              </a:rPr>
              <a:t> total para </a:t>
            </a:r>
            <a:r>
              <a:rPr sz="2000" b="0" dirty="0" err="1">
                <a:solidFill>
                  <a:srgbClr val="FFFFFF"/>
                </a:solidFill>
                <a:latin typeface="Tw Cen MT"/>
              </a:rPr>
              <a:t>los</a:t>
            </a:r>
            <a:r>
              <a:rPr sz="2000" b="0" dirty="0">
                <a:solidFill>
                  <a:srgbClr val="FFFFFF"/>
                </a:solidFill>
                <a:latin typeface="Tw Cen MT"/>
              </a:rPr>
              <a:t> </a:t>
            </a:r>
            <a:r>
              <a:rPr sz="2000" b="0" dirty="0" err="1">
                <a:solidFill>
                  <a:srgbClr val="FFFFFF"/>
                </a:solidFill>
                <a:latin typeface="Tw Cen MT"/>
              </a:rPr>
              <a:t>accionistas</a:t>
            </a:r>
            <a:r>
              <a:rPr sz="2000" b="0" dirty="0">
                <a:solidFill>
                  <a:srgbClr val="FFFFFF"/>
                </a:solidFill>
                <a:latin typeface="Tw Cen MT"/>
              </a:rPr>
              <a:t> vs. un </a:t>
            </a:r>
            <a:r>
              <a:rPr sz="2000" b="0" dirty="0" err="1">
                <a:solidFill>
                  <a:srgbClr val="FFFFFF"/>
                </a:solidFill>
                <a:latin typeface="Tw Cen MT"/>
              </a:rPr>
              <a:t>grupo</a:t>
            </a:r>
            <a:r>
              <a:rPr sz="2000" b="0" dirty="0">
                <a:solidFill>
                  <a:srgbClr val="FFFFFF"/>
                </a:solidFill>
                <a:latin typeface="Tw Cen MT"/>
              </a:rPr>
              <a:t> de </a:t>
            </a:r>
            <a:r>
              <a:rPr sz="2000" b="0" dirty="0" err="1">
                <a:solidFill>
                  <a:srgbClr val="FFFFFF"/>
                </a:solidFill>
                <a:latin typeface="Tw Cen MT"/>
              </a:rPr>
              <a:t>minoristas</a:t>
            </a:r>
            <a:r>
              <a:rPr sz="2000" b="0" dirty="0">
                <a:solidFill>
                  <a:srgbClr val="FFFFFF"/>
                </a:solidFill>
                <a:latin typeface="Tw Cen MT"/>
              </a:rPr>
              <a:t> </a:t>
            </a:r>
            <a:r>
              <a:rPr sz="2000" b="0" dirty="0" err="1">
                <a:solidFill>
                  <a:srgbClr val="FFFFFF"/>
                </a:solidFill>
                <a:latin typeface="Tw Cen MT"/>
              </a:rPr>
              <a:t>similares</a:t>
            </a:r>
            <a:r>
              <a:rPr sz="2000" b="0" dirty="0">
                <a:solidFill>
                  <a:srgbClr val="FFFFFF"/>
                </a:solidFill>
                <a:latin typeface="Tw Cen MT"/>
              </a:rPr>
              <a:t>.</a:t>
            </a:r>
          </a:p>
          <a:p>
            <a:pPr algn="l">
              <a:spcBef>
                <a:spcPts val="400"/>
              </a:spcBef>
            </a:pPr>
            <a:r>
              <a:rPr sz="2000" b="1" dirty="0" err="1">
                <a:solidFill>
                  <a:srgbClr val="FFFFFF"/>
                </a:solidFill>
                <a:latin typeface="Tw Cen MT"/>
              </a:rPr>
              <a:t>Según</a:t>
            </a:r>
            <a:r>
              <a:rPr sz="2000" b="1" dirty="0">
                <a:solidFill>
                  <a:srgbClr val="FFFFFF"/>
                </a:solidFill>
                <a:latin typeface="Tw Cen MT"/>
              </a:rPr>
              <a:t> </a:t>
            </a:r>
            <a:r>
              <a:rPr sz="2000" b="1" dirty="0" err="1">
                <a:solidFill>
                  <a:srgbClr val="FFFFFF"/>
                </a:solidFill>
                <a:latin typeface="Tw Cen MT"/>
              </a:rPr>
              <a:t>esa</a:t>
            </a:r>
            <a:r>
              <a:rPr sz="2000" b="1" dirty="0">
                <a:solidFill>
                  <a:srgbClr val="FFFFFF"/>
                </a:solidFill>
                <a:latin typeface="Tw Cen MT"/>
              </a:rPr>
              <a:t> </a:t>
            </a:r>
            <a:r>
              <a:rPr sz="2000" b="1" dirty="0" err="1">
                <a:solidFill>
                  <a:srgbClr val="FFFFFF"/>
                </a:solidFill>
                <a:latin typeface="Tw Cen MT"/>
              </a:rPr>
              <a:t>medida</a:t>
            </a:r>
            <a:r>
              <a:rPr sz="2000" b="1" dirty="0">
                <a:solidFill>
                  <a:srgbClr val="FFFFFF"/>
                </a:solidFill>
                <a:latin typeface="Tw Cen MT"/>
              </a:rPr>
              <a:t>, Nardelli </a:t>
            </a:r>
            <a:r>
              <a:rPr sz="2000" b="1" dirty="0" err="1">
                <a:solidFill>
                  <a:srgbClr val="FFFFFF"/>
                </a:solidFill>
                <a:latin typeface="Tw Cen MT"/>
              </a:rPr>
              <a:t>había</a:t>
            </a:r>
            <a:r>
              <a:rPr sz="2000" b="1" dirty="0">
                <a:solidFill>
                  <a:srgbClr val="FFFFFF"/>
                </a:solidFill>
                <a:latin typeface="Tw Cen MT"/>
              </a:rPr>
              <a:t> </a:t>
            </a:r>
            <a:r>
              <a:rPr sz="2000" b="1" dirty="0" err="1">
                <a:solidFill>
                  <a:srgbClr val="FFFFFF"/>
                </a:solidFill>
                <a:latin typeface="Tw Cen MT"/>
              </a:rPr>
              <a:t>fracasado</a:t>
            </a:r>
            <a:r>
              <a:rPr sz="2000" b="1" dirty="0">
                <a:solidFill>
                  <a:srgbClr val="FFFFFF"/>
                </a:solidFill>
                <a:latin typeface="Tw Cen MT"/>
              </a:rPr>
              <a:t>: las </a:t>
            </a:r>
            <a:r>
              <a:rPr sz="2000" b="1" dirty="0" err="1">
                <a:solidFill>
                  <a:srgbClr val="FFFFFF"/>
                </a:solidFill>
                <a:latin typeface="Tw Cen MT"/>
              </a:rPr>
              <a:t>acciones</a:t>
            </a:r>
            <a:r>
              <a:rPr sz="2000" b="1" dirty="0">
                <a:solidFill>
                  <a:srgbClr val="FFFFFF"/>
                </a:solidFill>
                <a:latin typeface="Tw Cen MT"/>
              </a:rPr>
              <a:t> de Home Depot </a:t>
            </a:r>
            <a:r>
              <a:rPr sz="2000" b="1" dirty="0" err="1">
                <a:solidFill>
                  <a:srgbClr val="FFFFFF"/>
                </a:solidFill>
                <a:latin typeface="Tw Cen MT"/>
              </a:rPr>
              <a:t>cayeron</a:t>
            </a:r>
            <a:r>
              <a:rPr sz="2000" b="1" dirty="0">
                <a:solidFill>
                  <a:srgbClr val="FFFFFF"/>
                </a:solidFill>
                <a:latin typeface="Tw Cen MT"/>
              </a:rPr>
              <a:t> </a:t>
            </a:r>
            <a:r>
              <a:rPr sz="2000" b="1" dirty="0" err="1">
                <a:solidFill>
                  <a:srgbClr val="FFFFFF"/>
                </a:solidFill>
                <a:latin typeface="Tw Cen MT"/>
              </a:rPr>
              <a:t>desde</a:t>
            </a:r>
            <a:r>
              <a:rPr sz="2000" b="1" dirty="0">
                <a:solidFill>
                  <a:srgbClr val="FFFFFF"/>
                </a:solidFill>
                <a:latin typeface="Tw Cen MT"/>
              </a:rPr>
              <a:t> </a:t>
            </a:r>
            <a:r>
              <a:rPr sz="2000" b="1" dirty="0" err="1">
                <a:solidFill>
                  <a:srgbClr val="FFFFFF"/>
                </a:solidFill>
                <a:latin typeface="Tw Cen MT"/>
              </a:rPr>
              <a:t>que</a:t>
            </a:r>
            <a:r>
              <a:rPr sz="2000" b="1" dirty="0">
                <a:solidFill>
                  <a:srgbClr val="FFFFFF"/>
                </a:solidFill>
                <a:latin typeface="Tw Cen MT"/>
              </a:rPr>
              <a:t> </a:t>
            </a:r>
            <a:r>
              <a:rPr sz="2000" b="1" dirty="0" err="1">
                <a:solidFill>
                  <a:srgbClr val="FFFFFF"/>
                </a:solidFill>
                <a:latin typeface="Tw Cen MT"/>
              </a:rPr>
              <a:t>asumió</a:t>
            </a:r>
            <a:r>
              <a:rPr sz="2000" b="1" dirty="0">
                <a:solidFill>
                  <a:srgbClr val="FFFFFF"/>
                </a:solidFill>
                <a:latin typeface="Tw Cen MT"/>
              </a:rPr>
              <a:t> </a:t>
            </a:r>
            <a:r>
              <a:rPr sz="2000" b="1" dirty="0" err="1">
                <a:solidFill>
                  <a:srgbClr val="FFFFFF"/>
                </a:solidFill>
                <a:latin typeface="Tw Cen MT"/>
              </a:rPr>
              <a:t>el</a:t>
            </a:r>
            <a:r>
              <a:rPr sz="2000" b="1" dirty="0">
                <a:solidFill>
                  <a:srgbClr val="FFFFFF"/>
                </a:solidFill>
                <a:latin typeface="Tw Cen MT"/>
              </a:rPr>
              <a:t> control </a:t>
            </a:r>
            <a:r>
              <a:rPr sz="2000" b="1" dirty="0" err="1">
                <a:solidFill>
                  <a:srgbClr val="FFFFFF"/>
                </a:solidFill>
                <a:latin typeface="Tw Cen MT"/>
              </a:rPr>
              <a:t>en</a:t>
            </a:r>
            <a:r>
              <a:rPr sz="2000" b="1" dirty="0">
                <a:solidFill>
                  <a:srgbClr val="FFFFFF"/>
                </a:solidFill>
                <a:latin typeface="Tw Cen MT"/>
              </a:rPr>
              <a:t> 2000, </a:t>
            </a:r>
            <a:r>
              <a:rPr sz="2000" b="1" dirty="0" err="1">
                <a:solidFill>
                  <a:srgbClr val="FFFFFF"/>
                </a:solidFill>
                <a:latin typeface="Tw Cen MT"/>
              </a:rPr>
              <a:t>mientras</a:t>
            </a:r>
            <a:r>
              <a:rPr sz="2000" b="1" dirty="0">
                <a:solidFill>
                  <a:srgbClr val="FFFFFF"/>
                </a:solidFill>
                <a:latin typeface="Tw Cen MT"/>
              </a:rPr>
              <a:t> las de </a:t>
            </a:r>
            <a:r>
              <a:rPr sz="2000" b="1" dirty="0" err="1">
                <a:solidFill>
                  <a:srgbClr val="FFFFFF"/>
                </a:solidFill>
                <a:latin typeface="Tw Cen MT"/>
              </a:rPr>
              <a:t>su</a:t>
            </a:r>
            <a:r>
              <a:rPr sz="2000" b="1" dirty="0">
                <a:solidFill>
                  <a:srgbClr val="FFFFFF"/>
                </a:solidFill>
                <a:latin typeface="Tw Cen MT"/>
              </a:rPr>
              <a:t> rival Lowe's se </a:t>
            </a:r>
            <a:r>
              <a:rPr sz="2000" b="1" dirty="0" err="1">
                <a:solidFill>
                  <a:srgbClr val="FFFFFF"/>
                </a:solidFill>
                <a:latin typeface="Tw Cen MT"/>
              </a:rPr>
              <a:t>disparaban</a:t>
            </a:r>
            <a:r>
              <a:rPr sz="2000" b="1" dirty="0">
                <a:solidFill>
                  <a:srgbClr val="FFFFFF"/>
                </a:solidFill>
                <a:latin typeface="Tw Cen MT"/>
              </a:rPr>
              <a:t>.</a:t>
            </a:r>
            <a:endParaRPr lang="es-419" sz="2000" b="1" dirty="0">
              <a:solidFill>
                <a:srgbClr val="FFFFFF"/>
              </a:solidFill>
              <a:latin typeface="Tw Cen MT"/>
            </a:endParaRPr>
          </a:p>
          <a:p>
            <a:pPr algn="l">
              <a:spcBef>
                <a:spcPts val="400"/>
              </a:spcBef>
            </a:pPr>
            <a:endParaRPr sz="2000" b="1" dirty="0">
              <a:solidFill>
                <a:srgbClr val="FFFFFF"/>
              </a:solidFill>
              <a:latin typeface="Tw Cen MT"/>
            </a:endParaRPr>
          </a:p>
          <a:p>
            <a:pPr algn="l">
              <a:spcBef>
                <a:spcPts val="400"/>
              </a:spcBef>
              <a:buNone/>
            </a:pPr>
            <a:r>
              <a:rPr sz="2000" b="1" dirty="0">
                <a:solidFill>
                  <a:srgbClr val="D4A017"/>
                </a:solidFill>
                <a:latin typeface="Tw Cen MT"/>
              </a:rPr>
              <a:t>LO QUE OCURRIÓ EN 2005</a:t>
            </a:r>
          </a:p>
          <a:p>
            <a:pPr algn="l">
              <a:spcBef>
                <a:spcPts val="400"/>
              </a:spcBef>
            </a:pPr>
            <a:r>
              <a:rPr sz="2000" b="0" dirty="0">
                <a:solidFill>
                  <a:srgbClr val="FFFFFF"/>
                </a:solidFill>
                <a:latin typeface="Tw Cen MT"/>
              </a:rPr>
              <a:t>La nota al pie </a:t>
            </a:r>
            <a:r>
              <a:rPr sz="2000" b="0" dirty="0" err="1">
                <a:solidFill>
                  <a:srgbClr val="FFFFFF"/>
                </a:solidFill>
                <a:latin typeface="Tw Cen MT"/>
              </a:rPr>
              <a:t>cambió</a:t>
            </a:r>
            <a:r>
              <a:rPr sz="2000" b="0" dirty="0">
                <a:solidFill>
                  <a:srgbClr val="FFFFFF"/>
                </a:solidFill>
                <a:latin typeface="Tw Cen MT"/>
              </a:rPr>
              <a:t>: </a:t>
            </a:r>
            <a:r>
              <a:rPr sz="2000" b="0" dirty="0" err="1">
                <a:solidFill>
                  <a:srgbClr val="FFFFFF"/>
                </a:solidFill>
                <a:latin typeface="Tw Cen MT"/>
              </a:rPr>
              <a:t>ahora</a:t>
            </a:r>
            <a:r>
              <a:rPr sz="2000" b="0" dirty="0">
                <a:solidFill>
                  <a:srgbClr val="FFFFFF"/>
                </a:solidFill>
                <a:latin typeface="Tw Cen MT"/>
              </a:rPr>
              <a:t> </a:t>
            </a:r>
            <a:r>
              <a:rPr sz="2000" b="0" dirty="0" err="1">
                <a:solidFill>
                  <a:srgbClr val="FFFFFF"/>
                </a:solidFill>
                <a:latin typeface="Tw Cen MT"/>
              </a:rPr>
              <a:t>recibiría</a:t>
            </a:r>
            <a:r>
              <a:rPr sz="2000" b="0" dirty="0">
                <a:solidFill>
                  <a:srgbClr val="FFFFFF"/>
                </a:solidFill>
                <a:latin typeface="Tw Cen MT"/>
              </a:rPr>
              <a:t> un </a:t>
            </a:r>
            <a:r>
              <a:rPr sz="2000" b="0" dirty="0" err="1">
                <a:solidFill>
                  <a:srgbClr val="FFFFFF"/>
                </a:solidFill>
                <a:latin typeface="Tw Cen MT"/>
              </a:rPr>
              <a:t>pago</a:t>
            </a:r>
            <a:r>
              <a:rPr sz="2000" b="0" dirty="0">
                <a:solidFill>
                  <a:srgbClr val="FFFFFF"/>
                </a:solidFill>
                <a:latin typeface="Tw Cen MT"/>
              </a:rPr>
              <a:t> de </a:t>
            </a:r>
            <a:r>
              <a:rPr sz="2000" b="0" dirty="0" err="1">
                <a:solidFill>
                  <a:srgbClr val="FFFFFF"/>
                </a:solidFill>
                <a:latin typeface="Tw Cen MT"/>
              </a:rPr>
              <a:t>incentivos</a:t>
            </a:r>
            <a:r>
              <a:rPr sz="2000" b="0" dirty="0">
                <a:solidFill>
                  <a:srgbClr val="FFFFFF"/>
                </a:solidFill>
                <a:latin typeface="Tw Cen MT"/>
              </a:rPr>
              <a:t> </a:t>
            </a:r>
            <a:r>
              <a:rPr sz="2000" b="0" dirty="0" err="1">
                <a:solidFill>
                  <a:srgbClr val="FFFFFF"/>
                </a:solidFill>
                <a:latin typeface="Tw Cen MT"/>
              </a:rPr>
              <a:t>si</a:t>
            </a:r>
            <a:r>
              <a:rPr sz="2000" b="0" dirty="0">
                <a:solidFill>
                  <a:srgbClr val="FFFFFF"/>
                </a:solidFill>
                <a:latin typeface="Tw Cen MT"/>
              </a:rPr>
              <a:t> la </a:t>
            </a:r>
            <a:r>
              <a:rPr sz="2000" b="0" dirty="0" err="1">
                <a:solidFill>
                  <a:srgbClr val="FFFFFF"/>
                </a:solidFill>
                <a:latin typeface="Tw Cen MT"/>
              </a:rPr>
              <a:t>compañía</a:t>
            </a:r>
            <a:r>
              <a:rPr sz="2000" b="0" dirty="0">
                <a:solidFill>
                  <a:srgbClr val="FFFFFF"/>
                </a:solidFill>
                <a:latin typeface="Tw Cen MT"/>
              </a:rPr>
              <a:t> </a:t>
            </a:r>
            <a:r>
              <a:rPr sz="2000" b="0" dirty="0" err="1">
                <a:solidFill>
                  <a:srgbClr val="FFFFFF"/>
                </a:solidFill>
                <a:latin typeface="Tw Cen MT"/>
              </a:rPr>
              <a:t>alcanzaba</a:t>
            </a:r>
            <a:r>
              <a:rPr sz="2000" b="0" dirty="0">
                <a:solidFill>
                  <a:srgbClr val="FFFFFF"/>
                </a:solidFill>
                <a:latin typeface="Tw Cen MT"/>
              </a:rPr>
              <a:t> </a:t>
            </a:r>
            <a:r>
              <a:rPr sz="2000" b="0" dirty="0" err="1">
                <a:solidFill>
                  <a:srgbClr val="FFFFFF"/>
                </a:solidFill>
                <a:latin typeface="Tw Cen MT"/>
              </a:rPr>
              <a:t>niveles</a:t>
            </a:r>
            <a:r>
              <a:rPr sz="2000" b="0" dirty="0">
                <a:solidFill>
                  <a:srgbClr val="FFFFFF"/>
                </a:solidFill>
                <a:latin typeface="Tw Cen MT"/>
              </a:rPr>
              <a:t> </a:t>
            </a:r>
            <a:r>
              <a:rPr sz="2000" b="0" dirty="0" err="1">
                <a:solidFill>
                  <a:srgbClr val="FFFFFF"/>
                </a:solidFill>
                <a:latin typeface="Tw Cen MT"/>
              </a:rPr>
              <a:t>específicos</a:t>
            </a:r>
            <a:r>
              <a:rPr sz="2000" b="0" dirty="0">
                <a:solidFill>
                  <a:srgbClr val="FFFFFF"/>
                </a:solidFill>
                <a:latin typeface="Tw Cen MT"/>
              </a:rPr>
              <a:t> de </a:t>
            </a:r>
            <a:r>
              <a:rPr sz="2000" b="0" dirty="0" err="1">
                <a:solidFill>
                  <a:srgbClr val="FFFFFF"/>
                </a:solidFill>
                <a:latin typeface="Tw Cen MT"/>
              </a:rPr>
              <a:t>ganancias</a:t>
            </a:r>
            <a:r>
              <a:rPr sz="2000" b="0" dirty="0">
                <a:solidFill>
                  <a:srgbClr val="FFFFFF"/>
                </a:solidFill>
                <a:latin typeface="Tw Cen MT"/>
              </a:rPr>
              <a:t> </a:t>
            </a:r>
            <a:r>
              <a:rPr sz="2000" b="0" dirty="0" err="1">
                <a:solidFill>
                  <a:srgbClr val="FFFFFF"/>
                </a:solidFill>
                <a:latin typeface="Tw Cen MT"/>
              </a:rPr>
              <a:t>promedio</a:t>
            </a:r>
            <a:r>
              <a:rPr sz="2000" b="0" dirty="0">
                <a:solidFill>
                  <a:srgbClr val="FFFFFF"/>
                </a:solidFill>
                <a:latin typeface="Tw Cen MT"/>
              </a:rPr>
              <a:t> </a:t>
            </a:r>
            <a:r>
              <a:rPr sz="2000" b="0" dirty="0" err="1">
                <a:solidFill>
                  <a:srgbClr val="FFFFFF"/>
                </a:solidFill>
                <a:latin typeface="Tw Cen MT"/>
              </a:rPr>
              <a:t>por</a:t>
            </a:r>
            <a:r>
              <a:rPr sz="2000" b="0" dirty="0">
                <a:solidFill>
                  <a:srgbClr val="FFFFFF"/>
                </a:solidFill>
                <a:latin typeface="Tw Cen MT"/>
              </a:rPr>
              <a:t> </a:t>
            </a:r>
            <a:r>
              <a:rPr sz="2000" b="0" dirty="0" err="1">
                <a:solidFill>
                  <a:srgbClr val="FFFFFF"/>
                </a:solidFill>
                <a:latin typeface="Tw Cen MT"/>
              </a:rPr>
              <a:t>acción</a:t>
            </a:r>
            <a:r>
              <a:rPr sz="2000" b="0" dirty="0">
                <a:solidFill>
                  <a:srgbClr val="FFFFFF"/>
                </a:solidFill>
                <a:latin typeface="Tw Cen MT"/>
              </a:rPr>
              <a:t> — </a:t>
            </a:r>
            <a:r>
              <a:rPr sz="2000" b="0" dirty="0" err="1">
                <a:solidFill>
                  <a:srgbClr val="FFFFFF"/>
                </a:solidFill>
                <a:latin typeface="Tw Cen MT"/>
              </a:rPr>
              <a:t>una</a:t>
            </a:r>
            <a:r>
              <a:rPr sz="2000" b="0" dirty="0">
                <a:solidFill>
                  <a:srgbClr val="FFFFFF"/>
                </a:solidFill>
                <a:latin typeface="Tw Cen MT"/>
              </a:rPr>
              <a:t> </a:t>
            </a:r>
            <a:r>
              <a:rPr sz="2000" b="0" dirty="0" err="1">
                <a:solidFill>
                  <a:srgbClr val="FFFFFF"/>
                </a:solidFill>
                <a:latin typeface="Tw Cen MT"/>
              </a:rPr>
              <a:t>medida</a:t>
            </a:r>
            <a:r>
              <a:rPr sz="2000" b="0" dirty="0">
                <a:solidFill>
                  <a:srgbClr val="FFFFFF"/>
                </a:solidFill>
                <a:latin typeface="Tw Cen MT"/>
              </a:rPr>
              <a:t> </a:t>
            </a:r>
            <a:r>
              <a:rPr sz="2000" b="0" dirty="0" err="1">
                <a:solidFill>
                  <a:srgbClr val="FFFFFF"/>
                </a:solidFill>
                <a:latin typeface="Tw Cen MT"/>
              </a:rPr>
              <a:t>según</a:t>
            </a:r>
            <a:r>
              <a:rPr sz="2000" b="0" dirty="0">
                <a:solidFill>
                  <a:srgbClr val="FFFFFF"/>
                </a:solidFill>
                <a:latin typeface="Tw Cen MT"/>
              </a:rPr>
              <a:t> la </a:t>
            </a:r>
            <a:r>
              <a:rPr sz="2000" b="0" dirty="0" err="1">
                <a:solidFill>
                  <a:srgbClr val="FFFFFF"/>
                </a:solidFill>
                <a:latin typeface="Tw Cen MT"/>
              </a:rPr>
              <a:t>cual</a:t>
            </a:r>
            <a:r>
              <a:rPr sz="2000" b="0" dirty="0">
                <a:solidFill>
                  <a:srgbClr val="FFFFFF"/>
                </a:solidFill>
                <a:latin typeface="Tw Cen MT"/>
              </a:rPr>
              <a:t> Home Depot </a:t>
            </a:r>
            <a:r>
              <a:rPr sz="2000" b="0" dirty="0" err="1">
                <a:solidFill>
                  <a:srgbClr val="FFFFFF"/>
                </a:solidFill>
                <a:latin typeface="Tw Cen MT"/>
              </a:rPr>
              <a:t>parecía</a:t>
            </a:r>
            <a:r>
              <a:rPr sz="2000" b="0" dirty="0">
                <a:solidFill>
                  <a:srgbClr val="FFFFFF"/>
                </a:solidFill>
                <a:latin typeface="Tw Cen MT"/>
              </a:rPr>
              <a:t> </a:t>
            </a:r>
            <a:r>
              <a:rPr sz="2000" b="0" dirty="0" err="1">
                <a:solidFill>
                  <a:srgbClr val="FFFFFF"/>
                </a:solidFill>
                <a:latin typeface="Tw Cen MT"/>
              </a:rPr>
              <a:t>mucho</a:t>
            </a:r>
            <a:r>
              <a:rPr sz="2000" b="0" dirty="0">
                <a:solidFill>
                  <a:srgbClr val="FFFFFF"/>
                </a:solidFill>
                <a:latin typeface="Tw Cen MT"/>
              </a:rPr>
              <a:t> </a:t>
            </a:r>
            <a:r>
              <a:rPr sz="2000" b="0" dirty="0" err="1">
                <a:solidFill>
                  <a:srgbClr val="FFFFFF"/>
                </a:solidFill>
                <a:latin typeface="Tw Cen MT"/>
              </a:rPr>
              <a:t>más</a:t>
            </a:r>
            <a:r>
              <a:rPr sz="2000" b="0" dirty="0">
                <a:solidFill>
                  <a:srgbClr val="FFFFFF"/>
                </a:solidFill>
                <a:latin typeface="Tw Cen MT"/>
              </a:rPr>
              <a:t> </a:t>
            </a:r>
            <a:r>
              <a:rPr sz="2000" b="0" dirty="0" err="1">
                <a:solidFill>
                  <a:srgbClr val="FFFFFF"/>
                </a:solidFill>
                <a:latin typeface="Tw Cen MT"/>
              </a:rPr>
              <a:t>exitoso</a:t>
            </a:r>
            <a:r>
              <a:rPr sz="2000" b="0" dirty="0">
                <a:solidFill>
                  <a:srgbClr val="FFFFFF"/>
                </a:solidFill>
                <a:latin typeface="Tw Cen MT"/>
              </a:rPr>
              <a:t>.</a:t>
            </a:r>
          </a:p>
          <a:p>
            <a:pPr algn="l">
              <a:spcBef>
                <a:spcPts val="400"/>
              </a:spcBef>
            </a:pPr>
            <a:r>
              <a:rPr sz="2000" b="1" dirty="0">
                <a:solidFill>
                  <a:srgbClr val="FFFFFF"/>
                </a:solidFill>
                <a:latin typeface="Tw Cen MT"/>
              </a:rPr>
              <a:t>A </a:t>
            </a:r>
            <a:r>
              <a:rPr sz="2000" b="1" dirty="0" err="1">
                <a:solidFill>
                  <a:srgbClr val="FFFFFF"/>
                </a:solidFill>
                <a:latin typeface="Tw Cen MT"/>
              </a:rPr>
              <a:t>esta</a:t>
            </a:r>
            <a:r>
              <a:rPr sz="2000" b="1" dirty="0">
                <a:solidFill>
                  <a:srgbClr val="FFFFFF"/>
                </a:solidFill>
                <a:latin typeface="Tw Cen MT"/>
              </a:rPr>
              <a:t> </a:t>
            </a:r>
            <a:r>
              <a:rPr sz="2000" b="1" dirty="0" err="1">
                <a:solidFill>
                  <a:srgbClr val="FFFFFF"/>
                </a:solidFill>
                <a:latin typeface="Tw Cen MT"/>
              </a:rPr>
              <a:t>acción</a:t>
            </a:r>
            <a:r>
              <a:rPr sz="2000" b="1" dirty="0">
                <a:solidFill>
                  <a:srgbClr val="FFFFFF"/>
                </a:solidFill>
                <a:latin typeface="Tw Cen MT"/>
              </a:rPr>
              <a:t> de </a:t>
            </a:r>
            <a:r>
              <a:rPr sz="2000" b="1" dirty="0" err="1">
                <a:solidFill>
                  <a:srgbClr val="FFFFFF"/>
                </a:solidFill>
                <a:latin typeface="Tw Cen MT"/>
              </a:rPr>
              <a:t>desplazar</a:t>
            </a:r>
            <a:r>
              <a:rPr sz="2000" b="1" dirty="0">
                <a:solidFill>
                  <a:srgbClr val="FFFFFF"/>
                </a:solidFill>
                <a:latin typeface="Tw Cen MT"/>
              </a:rPr>
              <a:t> ex post </a:t>
            </a:r>
            <a:r>
              <a:rPr sz="2000" b="1" dirty="0" err="1">
                <a:solidFill>
                  <a:srgbClr val="FFFFFF"/>
                </a:solidFill>
                <a:latin typeface="Tw Cen MT"/>
              </a:rPr>
              <a:t>el</a:t>
            </a:r>
            <a:r>
              <a:rPr sz="2000" b="1" dirty="0">
                <a:solidFill>
                  <a:srgbClr val="FFFFFF"/>
                </a:solidFill>
                <a:latin typeface="Tw Cen MT"/>
              </a:rPr>
              <a:t> peso </a:t>
            </a:r>
            <a:r>
              <a:rPr sz="2000" b="1" dirty="0" err="1">
                <a:solidFill>
                  <a:srgbClr val="FFFFFF"/>
                </a:solidFill>
                <a:latin typeface="Tw Cen MT"/>
              </a:rPr>
              <a:t>hacia</a:t>
            </a:r>
            <a:r>
              <a:rPr sz="2000" b="1" dirty="0">
                <a:solidFill>
                  <a:srgbClr val="FFFFFF"/>
                </a:solidFill>
                <a:latin typeface="Tw Cen MT"/>
              </a:rPr>
              <a:t> </a:t>
            </a:r>
            <a:r>
              <a:rPr sz="2000" b="1" dirty="0" err="1">
                <a:solidFill>
                  <a:srgbClr val="FFFFFF"/>
                </a:solidFill>
                <a:latin typeface="Tw Cen MT"/>
              </a:rPr>
              <a:t>medidas</a:t>
            </a:r>
            <a:r>
              <a:rPr sz="2000" b="1" dirty="0">
                <a:solidFill>
                  <a:srgbClr val="FFFFFF"/>
                </a:solidFill>
                <a:latin typeface="Tw Cen MT"/>
              </a:rPr>
              <a:t> de </a:t>
            </a:r>
            <a:r>
              <a:rPr sz="2000" b="1" dirty="0" err="1">
                <a:solidFill>
                  <a:srgbClr val="FFFFFF"/>
                </a:solidFill>
                <a:latin typeface="Tw Cen MT"/>
              </a:rPr>
              <a:t>mejor</a:t>
            </a:r>
            <a:r>
              <a:rPr sz="2000" b="1" dirty="0">
                <a:solidFill>
                  <a:srgbClr val="FFFFFF"/>
                </a:solidFill>
                <a:latin typeface="Tw Cen MT"/>
              </a:rPr>
              <a:t> </a:t>
            </a:r>
            <a:r>
              <a:rPr sz="2000" b="1" dirty="0" err="1">
                <a:solidFill>
                  <a:srgbClr val="FFFFFF"/>
                </a:solidFill>
                <a:latin typeface="Tw Cen MT"/>
              </a:rPr>
              <a:t>rendimiento</a:t>
            </a:r>
            <a:r>
              <a:rPr sz="2000" b="1" dirty="0">
                <a:solidFill>
                  <a:srgbClr val="FFFFFF"/>
                </a:solidFill>
                <a:latin typeface="Tw Cen MT"/>
              </a:rPr>
              <a:t> se la </a:t>
            </a:r>
            <a:r>
              <a:rPr sz="2000" b="1" dirty="0" err="1">
                <a:solidFill>
                  <a:srgbClr val="FFFFFF"/>
                </a:solidFill>
                <a:latin typeface="Tw Cen MT"/>
              </a:rPr>
              <a:t>denomina</a:t>
            </a:r>
            <a:r>
              <a:rPr sz="2000" b="1" dirty="0">
                <a:solidFill>
                  <a:srgbClr val="FFFFFF"/>
                </a:solidFill>
                <a:latin typeface="Tw Cen MT"/>
              </a:rPr>
              <a:t> "</a:t>
            </a:r>
            <a:r>
              <a:rPr sz="2000" b="1" dirty="0" err="1">
                <a:solidFill>
                  <a:srgbClr val="FFFFFF"/>
                </a:solidFill>
                <a:latin typeface="Tw Cen MT"/>
              </a:rPr>
              <a:t>manipulación</a:t>
            </a:r>
            <a:r>
              <a:rPr sz="2000" b="1" dirty="0">
                <a:solidFill>
                  <a:srgbClr val="FFFFFF"/>
                </a:solidFill>
                <a:latin typeface="Tw Cen MT"/>
              </a:rPr>
              <a:t> del </a:t>
            </a:r>
            <a:r>
              <a:rPr sz="2000" b="1" dirty="0" err="1">
                <a:solidFill>
                  <a:srgbClr val="FFFFFF"/>
                </a:solidFill>
                <a:latin typeface="Tw Cen MT"/>
              </a:rPr>
              <a:t>contrato</a:t>
            </a:r>
            <a:r>
              <a:rPr sz="2000" b="1" dirty="0">
                <a:solidFill>
                  <a:srgbClr val="FFFFFF"/>
                </a:solidFill>
                <a:latin typeface="Tw Cen MT"/>
              </a:rPr>
              <a:t> de </a:t>
            </a:r>
            <a:r>
              <a:rPr sz="2000" b="1" dirty="0" err="1">
                <a:solidFill>
                  <a:srgbClr val="FFFFFF"/>
                </a:solidFill>
                <a:latin typeface="Tw Cen MT"/>
              </a:rPr>
              <a:t>incentivos</a:t>
            </a:r>
            <a:r>
              <a:rPr sz="2000" b="1" dirty="0">
                <a:solidFill>
                  <a:srgbClr val="FFFFFF"/>
                </a:solidFill>
                <a:latin typeface="Tw Cen MT"/>
              </a:rPr>
              <a:t>".</a:t>
            </a:r>
            <a:endParaRPr lang="es-419" sz="2000" b="1" dirty="0">
              <a:solidFill>
                <a:srgbClr val="FFFFFF"/>
              </a:solidFill>
              <a:latin typeface="Tw Cen MT"/>
            </a:endParaRPr>
          </a:p>
          <a:p>
            <a:pPr algn="l">
              <a:spcBef>
                <a:spcPts val="400"/>
              </a:spcBef>
            </a:pPr>
            <a:endParaRPr sz="2000" b="1" dirty="0">
              <a:solidFill>
                <a:srgbClr val="FFFFFF"/>
              </a:solidFill>
              <a:latin typeface="Tw Cen MT"/>
            </a:endParaRPr>
          </a:p>
          <a:p>
            <a:pPr algn="ctr">
              <a:spcBef>
                <a:spcPts val="400"/>
              </a:spcBef>
            </a:pPr>
            <a:r>
              <a:rPr sz="2000" b="0" dirty="0">
                <a:solidFill>
                  <a:srgbClr val="FFFFFF"/>
                </a:solidFill>
                <a:latin typeface="Tw Cen MT"/>
              </a:rPr>
              <a:t>Fuente: Morse, Nanda &amp; Seru (2009). La </a:t>
            </a:r>
            <a:r>
              <a:rPr sz="2000" b="0" dirty="0" err="1">
                <a:solidFill>
                  <a:srgbClr val="FFFFFF"/>
                </a:solidFill>
                <a:latin typeface="Tw Cen MT"/>
              </a:rPr>
              <a:t>manipulación</a:t>
            </a:r>
            <a:r>
              <a:rPr sz="2000" b="0" dirty="0">
                <a:solidFill>
                  <a:srgbClr val="FFFFFF"/>
                </a:solidFill>
                <a:latin typeface="Tw Cen MT"/>
              </a:rPr>
              <a:t> </a:t>
            </a:r>
            <a:r>
              <a:rPr sz="2000" b="0" dirty="0" err="1">
                <a:solidFill>
                  <a:srgbClr val="FFFFFF"/>
                </a:solidFill>
                <a:latin typeface="Tw Cen MT"/>
              </a:rPr>
              <a:t>explica</a:t>
            </a:r>
            <a:r>
              <a:rPr sz="2000" b="0" dirty="0">
                <a:solidFill>
                  <a:srgbClr val="FFFFFF"/>
                </a:solidFill>
                <a:latin typeface="Tw Cen MT"/>
              </a:rPr>
              <a:t> entre </a:t>
            </a:r>
            <a:r>
              <a:rPr sz="2000" b="0" dirty="0" err="1">
                <a:solidFill>
                  <a:srgbClr val="FFFFFF"/>
                </a:solidFill>
                <a:latin typeface="Tw Cen MT"/>
              </a:rPr>
              <a:t>el</a:t>
            </a:r>
            <a:r>
              <a:rPr sz="2000" b="0" dirty="0">
                <a:solidFill>
                  <a:srgbClr val="FFFFFF"/>
                </a:solidFill>
                <a:latin typeface="Tw Cen MT"/>
              </a:rPr>
              <a:t> 10% y </a:t>
            </a:r>
            <a:r>
              <a:rPr sz="2000" b="0" dirty="0" err="1">
                <a:solidFill>
                  <a:srgbClr val="FFFFFF"/>
                </a:solidFill>
                <a:latin typeface="Tw Cen MT"/>
              </a:rPr>
              <a:t>el</a:t>
            </a:r>
            <a:r>
              <a:rPr sz="2000" b="0" dirty="0">
                <a:solidFill>
                  <a:srgbClr val="FFFFFF"/>
                </a:solidFill>
                <a:latin typeface="Tw Cen MT"/>
              </a:rPr>
              <a:t> 30% de la </a:t>
            </a:r>
            <a:r>
              <a:rPr sz="2000" b="0" dirty="0" err="1">
                <a:solidFill>
                  <a:srgbClr val="FFFFFF"/>
                </a:solidFill>
                <a:latin typeface="Tw Cen MT"/>
              </a:rPr>
              <a:t>sensibilidad</a:t>
            </a:r>
            <a:r>
              <a:rPr sz="2000" b="0" dirty="0">
                <a:solidFill>
                  <a:srgbClr val="FFFFFF"/>
                </a:solidFill>
                <a:latin typeface="Tw Cen MT"/>
              </a:rPr>
              <a:t> del </a:t>
            </a:r>
            <a:r>
              <a:rPr sz="2000" b="0" dirty="0" err="1">
                <a:solidFill>
                  <a:srgbClr val="FFFFFF"/>
                </a:solidFill>
                <a:latin typeface="Tw Cen MT"/>
              </a:rPr>
              <a:t>pago</a:t>
            </a:r>
            <a:r>
              <a:rPr sz="2000" b="0" dirty="0">
                <a:solidFill>
                  <a:srgbClr val="FFFFFF"/>
                </a:solidFill>
                <a:latin typeface="Tw Cen MT"/>
              </a:rPr>
              <a:t> de </a:t>
            </a:r>
            <a:r>
              <a:rPr sz="2000" b="0" dirty="0" err="1">
                <a:solidFill>
                  <a:srgbClr val="FFFFFF"/>
                </a:solidFill>
                <a:latin typeface="Tw Cen MT"/>
              </a:rPr>
              <a:t>incentivos</a:t>
            </a:r>
            <a:r>
              <a:rPr sz="2000" b="0" dirty="0">
                <a:solidFill>
                  <a:srgbClr val="FFFFFF"/>
                </a:solidFill>
                <a:latin typeface="Tw Cen MT"/>
              </a:rPr>
              <a:t> al </a:t>
            </a:r>
            <a:r>
              <a:rPr sz="2000" b="0" dirty="0" err="1">
                <a:solidFill>
                  <a:srgbClr val="FFFFFF"/>
                </a:solidFill>
                <a:latin typeface="Tw Cen MT"/>
              </a:rPr>
              <a:t>rendimiento</a:t>
            </a:r>
            <a:r>
              <a:rPr sz="2000" b="0" dirty="0">
                <a:solidFill>
                  <a:srgbClr val="FFFFFF"/>
                </a:solidFill>
                <a:latin typeface="Tw Cen MT"/>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A5550-B964-58F4-C7E7-76D89E6F898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12CCD2-43E6-EDB9-31A0-E029428FE0ED}"/>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B44EC9F-41A7-8D05-F0E2-0CA1A9D457BB}"/>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83E7C05-3DB6-36AC-3433-FC6686AF3A3D}"/>
              </a:ext>
            </a:extLst>
          </p:cNvPr>
          <p:cNvSpPr txBox="1"/>
          <p:nvPr/>
        </p:nvSpPr>
        <p:spPr>
          <a:xfrm>
            <a:off x="304800" y="287178"/>
            <a:ext cx="8534400" cy="492443"/>
          </a:xfrm>
          <a:prstGeom prst="rect">
            <a:avLst/>
          </a:prstGeom>
          <a:noFill/>
        </p:spPr>
        <p:txBody>
          <a:bodyPr wrap="square" anchor="ctr">
            <a:spAutoFit/>
          </a:bodyPr>
          <a:lstStyle>
            <a:defPPr>
              <a:defRPr lang="en-US"/>
            </a:defPPr>
            <a:lvl1pPr>
              <a:defRPr sz="2600" b="1" i="0">
                <a:solidFill>
                  <a:srgbClr val="FFFFFF"/>
                </a:solidFill>
                <a:latin typeface="Tw Cen MT"/>
              </a:defRPr>
            </a:lvl1pPr>
          </a:lstStyle>
          <a:p>
            <a:r>
              <a:rPr lang="es-AR" dirty="0"/>
              <a:t>Indicadores para asociar el bonus</a:t>
            </a:r>
          </a:p>
        </p:txBody>
      </p:sp>
      <p:sp>
        <p:nvSpPr>
          <p:cNvPr id="8" name="CuadroTexto 7">
            <a:extLst>
              <a:ext uri="{FF2B5EF4-FFF2-40B4-BE49-F238E27FC236}">
                <a16:creationId xmlns:a16="http://schemas.microsoft.com/office/drawing/2014/main" id="{E4FB9096-2D7C-F0BF-AAC1-63FD3CE3B1BB}"/>
              </a:ext>
            </a:extLst>
          </p:cNvPr>
          <p:cNvSpPr txBox="1"/>
          <p:nvPr/>
        </p:nvSpPr>
        <p:spPr>
          <a:xfrm>
            <a:off x="535968" y="1589567"/>
            <a:ext cx="8072064" cy="4883388"/>
          </a:xfrm>
          <a:prstGeom prst="rect">
            <a:avLst/>
          </a:prstGeom>
          <a:noFill/>
        </p:spPr>
        <p:txBody>
          <a:bodyPr wrap="square">
            <a:spAutoFit/>
          </a:bodyPr>
          <a:lstStyle/>
          <a:p>
            <a:pPr marL="0" marR="0" lvl="0" indent="0" algn="l" defTabSz="914400" rtl="0" eaLnBrk="1" fontAlgn="auto" latinLnBrk="0" hangingPunct="1">
              <a:lnSpc>
                <a:spcPct val="100000"/>
              </a:lnSpc>
              <a:spcBef>
                <a:spcPts val="700"/>
              </a:spcBef>
              <a:spcAft>
                <a:spcPts val="0"/>
              </a:spcAft>
              <a:buClr>
                <a:srgbClr val="DD8047"/>
              </a:buClr>
              <a:buSzPct val="60000"/>
              <a:buNone/>
              <a:tabLst/>
              <a:defRPr/>
            </a:pPr>
            <a:r>
              <a:rPr lang="es-AR" sz="2400" b="1" dirty="0">
                <a:latin typeface="Tw Cen MT" panose="020B0602020104020603" pitchFamily="34" charset="0"/>
              </a:rPr>
              <a:t>EBITDA</a:t>
            </a:r>
            <a:r>
              <a:rPr lang="es-AR" sz="2400" dirty="0">
                <a:latin typeface="Tw Cen MT" panose="020B0602020104020603" pitchFamily="34" charset="0"/>
              </a:rPr>
              <a:t>: Ganancias antes de intereses, impuestos, depreciación y amortización (mide rentabilidad operativa pura),</a:t>
            </a:r>
          </a:p>
          <a:p>
            <a:pPr marL="0" marR="0" lvl="0" indent="0" algn="l" defTabSz="914400" rtl="0" eaLnBrk="1" fontAlgn="auto" latinLnBrk="0" hangingPunct="1">
              <a:lnSpc>
                <a:spcPct val="100000"/>
              </a:lnSpc>
              <a:spcBef>
                <a:spcPts val="700"/>
              </a:spcBef>
              <a:spcAft>
                <a:spcPts val="0"/>
              </a:spcAft>
              <a:buClr>
                <a:srgbClr val="DD8047"/>
              </a:buClr>
              <a:buSzPct val="60000"/>
              <a:buNone/>
              <a:tabLst/>
              <a:defRPr/>
            </a:pPr>
            <a:r>
              <a:rPr lang="es-AR" sz="2400" b="1" dirty="0">
                <a:latin typeface="Tw Cen MT" panose="020B0602020104020603" pitchFamily="34" charset="0"/>
              </a:rPr>
              <a:t>Utilidad neta: </a:t>
            </a:r>
            <a:r>
              <a:rPr lang="es-AR" sz="2400" dirty="0">
                <a:latin typeface="Tw Cen MT" panose="020B0602020104020603" pitchFamily="34" charset="0"/>
              </a:rPr>
              <a:t>es lo que queda después de pagar todos los costos, gastos, impuestos e intereses (es lo que queda para reinvertir o pagar dividendos).</a:t>
            </a:r>
          </a:p>
          <a:p>
            <a:pPr marL="0" marR="0" lvl="0" indent="0" algn="l" defTabSz="914400" rtl="0" eaLnBrk="1" fontAlgn="auto" latinLnBrk="0" hangingPunct="1">
              <a:lnSpc>
                <a:spcPct val="100000"/>
              </a:lnSpc>
              <a:spcBef>
                <a:spcPts val="700"/>
              </a:spcBef>
              <a:spcAft>
                <a:spcPts val="0"/>
              </a:spcAft>
              <a:buClr>
                <a:srgbClr val="DD8047"/>
              </a:buClr>
              <a:buSzPct val="60000"/>
              <a:buNone/>
              <a:tabLst/>
              <a:defRPr/>
            </a:pPr>
            <a:r>
              <a:rPr lang="es-AR" sz="2400" b="1" dirty="0">
                <a:latin typeface="Tw Cen MT" panose="020B0602020104020603" pitchFamily="34" charset="0"/>
              </a:rPr>
              <a:t>Cash Flow operativo</a:t>
            </a:r>
            <a:r>
              <a:rPr lang="es-AR" sz="2400" dirty="0">
                <a:latin typeface="Tw Cen MT" panose="020B0602020104020603" pitchFamily="34" charset="0"/>
              </a:rPr>
              <a:t>: flujo de efectivo generado por la actividad principal del negocio. Utilidad neta + gastos no monetarios +_ variaciones de capital de trabajo.  </a:t>
            </a:r>
          </a:p>
          <a:p>
            <a:pPr marL="0" marR="0" lvl="0" indent="0" algn="l" defTabSz="914400" rtl="0" eaLnBrk="1" fontAlgn="auto" latinLnBrk="0" hangingPunct="1">
              <a:lnSpc>
                <a:spcPct val="100000"/>
              </a:lnSpc>
              <a:spcBef>
                <a:spcPts val="700"/>
              </a:spcBef>
              <a:spcAft>
                <a:spcPts val="0"/>
              </a:spcAft>
              <a:buClr>
                <a:srgbClr val="DD8047"/>
              </a:buClr>
              <a:buSzPct val="60000"/>
              <a:buNone/>
              <a:tabLst/>
              <a:defRPr/>
            </a:pPr>
            <a:r>
              <a:rPr lang="es-AR" sz="2400" b="1" dirty="0">
                <a:latin typeface="Tw Cen MT" panose="020B0602020104020603" pitchFamily="34" charset="0"/>
              </a:rPr>
              <a:t>EVA: </a:t>
            </a:r>
            <a:r>
              <a:rPr lang="es-AR" sz="2400" dirty="0">
                <a:latin typeface="Tw Cen MT" panose="020B0602020104020603" pitchFamily="34" charset="0"/>
              </a:rPr>
              <a:t>mide la creación de valor económico (indica si la empresa genera una rentabilidad mayor al costo de su capital).</a:t>
            </a:r>
          </a:p>
          <a:p>
            <a:pPr marL="0" marR="0" lvl="0" indent="0" algn="l" defTabSz="914400" rtl="0" eaLnBrk="1" fontAlgn="auto" latinLnBrk="0" hangingPunct="1">
              <a:lnSpc>
                <a:spcPct val="100000"/>
              </a:lnSpc>
              <a:spcBef>
                <a:spcPts val="700"/>
              </a:spcBef>
              <a:spcAft>
                <a:spcPts val="0"/>
              </a:spcAft>
              <a:buClr>
                <a:srgbClr val="DD8047"/>
              </a:buClr>
              <a:buSzPct val="60000"/>
              <a:buNone/>
              <a:tabLst/>
              <a:defRPr/>
            </a:pPr>
            <a:r>
              <a:rPr lang="es-AR" sz="2400" b="1" dirty="0">
                <a:latin typeface="Tw Cen MT" panose="020B0602020104020603" pitchFamily="34" charset="0"/>
              </a:rPr>
              <a:t>ROIC</a:t>
            </a:r>
            <a:r>
              <a:rPr lang="es-AR" sz="2400" dirty="0">
                <a:latin typeface="Tw Cen MT" panose="020B0602020104020603" pitchFamily="34" charset="0"/>
              </a:rPr>
              <a:t>: mide la rentabilidad que la empresa obtiene sobre el capital invertido</a:t>
            </a:r>
          </a:p>
        </p:txBody>
      </p:sp>
    </p:spTree>
    <p:extLst>
      <p:ext uri="{BB962C8B-B14F-4D97-AF65-F5344CB8AC3E}">
        <p14:creationId xmlns:p14="http://schemas.microsoft.com/office/powerpoint/2010/main" val="31285643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54D5E492-AB4C-BEA9-1790-C1377F5B8E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B98FBBE-44B5-29AA-2716-8970BC9430B0}"/>
              </a:ext>
            </a:extLst>
          </p:cNvPr>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086AF35-732E-B559-7EEF-AD0DA1189A5B}"/>
              </a:ext>
            </a:extLst>
          </p:cNvPr>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953B0E2-52C3-7AF9-8C8E-BCFFD8F15F42}"/>
              </a:ext>
            </a:extLst>
          </p:cNvPr>
          <p:cNvSpPr txBox="1"/>
          <p:nvPr/>
        </p:nvSpPr>
        <p:spPr>
          <a:xfrm>
            <a:off x="304800" y="271790"/>
            <a:ext cx="8534400" cy="523220"/>
          </a:xfrm>
          <a:prstGeom prst="rect">
            <a:avLst/>
          </a:prstGeom>
          <a:noFill/>
        </p:spPr>
        <p:txBody>
          <a:bodyPr wrap="square" anchor="ctr">
            <a:spAutoFit/>
          </a:bodyPr>
          <a:lstStyle>
            <a:defPPr>
              <a:defRPr lang="en-US"/>
            </a:defPPr>
            <a:lvl1pPr>
              <a:defRPr sz="2600" b="1" i="0">
                <a:solidFill>
                  <a:srgbClr val="FFFFFF"/>
                </a:solidFill>
                <a:latin typeface="Tw Cen MT"/>
              </a:defRPr>
            </a:lvl1pPr>
          </a:lstStyle>
          <a:p>
            <a:r>
              <a:rPr lang="es-AR" dirty="0"/>
              <a:t>Caso bonus asociado al EBIDTA</a:t>
            </a:r>
            <a:endParaRPr dirty="0"/>
          </a:p>
        </p:txBody>
      </p:sp>
      <p:sp>
        <p:nvSpPr>
          <p:cNvPr id="5" name="TextBox 4">
            <a:extLst>
              <a:ext uri="{FF2B5EF4-FFF2-40B4-BE49-F238E27FC236}">
                <a16:creationId xmlns:a16="http://schemas.microsoft.com/office/drawing/2014/main" id="{5C69CF3D-361E-EF4E-8057-CE06E2B4BF5F}"/>
              </a:ext>
            </a:extLst>
          </p:cNvPr>
          <p:cNvSpPr txBox="1"/>
          <p:nvPr/>
        </p:nvSpPr>
        <p:spPr>
          <a:xfrm>
            <a:off x="417816" y="1223073"/>
            <a:ext cx="8534400" cy="1426031"/>
          </a:xfrm>
          <a:prstGeom prst="rect">
            <a:avLst/>
          </a:prstGeom>
          <a:noFill/>
        </p:spPr>
        <p:txBody>
          <a:bodyPr wrap="square">
            <a:spAutoFit/>
          </a:bodyPr>
          <a:lstStyle/>
          <a:p>
            <a:pPr>
              <a:spcBef>
                <a:spcPts val="400"/>
              </a:spcBef>
            </a:pPr>
            <a:r>
              <a:rPr lang="es-AR" sz="2000" dirty="0">
                <a:solidFill>
                  <a:srgbClr val="FFFFFF"/>
                </a:solidFill>
                <a:latin typeface="Tw Cen MT"/>
              </a:rPr>
              <a:t>El gerente operativo de una empresa cobra un bonus del 10% del aumento del EBITDA respecto al año anterior.</a:t>
            </a:r>
          </a:p>
          <a:p>
            <a:pPr>
              <a:spcBef>
                <a:spcPts val="400"/>
              </a:spcBef>
            </a:pPr>
            <a:r>
              <a:rPr lang="es-AR" sz="2000" dirty="0">
                <a:solidFill>
                  <a:srgbClr val="FFFFFF"/>
                </a:solidFill>
                <a:latin typeface="Tw Cen MT"/>
              </a:rPr>
              <a:t>Veamos cuales son los intereses del Gerente asociados a este bonus.</a:t>
            </a:r>
          </a:p>
          <a:p>
            <a:pPr algn="l">
              <a:spcBef>
                <a:spcPts val="400"/>
              </a:spcBef>
              <a:buFont typeface="Tw Cen MT"/>
              <a:buChar char="■"/>
            </a:pPr>
            <a:endParaRPr sz="2000" b="0" dirty="0">
              <a:solidFill>
                <a:srgbClr val="FFFFFF"/>
              </a:solidFill>
              <a:latin typeface="Tw Cen MT"/>
            </a:endParaRPr>
          </a:p>
        </p:txBody>
      </p:sp>
      <p:sp>
        <p:nvSpPr>
          <p:cNvPr id="9" name="CuadroTexto 8">
            <a:extLst>
              <a:ext uri="{FF2B5EF4-FFF2-40B4-BE49-F238E27FC236}">
                <a16:creationId xmlns:a16="http://schemas.microsoft.com/office/drawing/2014/main" id="{3ED03115-0954-E04E-EF82-8BF303E30422}"/>
              </a:ext>
            </a:extLst>
          </p:cNvPr>
          <p:cNvSpPr txBox="1"/>
          <p:nvPr/>
        </p:nvSpPr>
        <p:spPr>
          <a:xfrm>
            <a:off x="734603" y="2723234"/>
            <a:ext cx="3354512" cy="369332"/>
          </a:xfrm>
          <a:prstGeom prst="rect">
            <a:avLst/>
          </a:prstGeom>
          <a:noFill/>
        </p:spPr>
        <p:txBody>
          <a:bodyPr wrap="square">
            <a:spAutoFit/>
          </a:bodyPr>
          <a:lstStyle/>
          <a:p>
            <a:r>
              <a:rPr lang="es-AR" sz="1800" dirty="0">
                <a:solidFill>
                  <a:srgbClr val="FFFFFF"/>
                </a:solidFill>
                <a:latin typeface="Tw Cen MT"/>
              </a:rPr>
              <a:t>Estado de Resultados - Año 2024</a:t>
            </a:r>
            <a:endParaRPr lang="en-US" dirty="0"/>
          </a:p>
        </p:txBody>
      </p:sp>
      <p:sp>
        <p:nvSpPr>
          <p:cNvPr id="11" name="CuadroTexto 10">
            <a:extLst>
              <a:ext uri="{FF2B5EF4-FFF2-40B4-BE49-F238E27FC236}">
                <a16:creationId xmlns:a16="http://schemas.microsoft.com/office/drawing/2014/main" id="{37CEA273-748F-38BE-E0B8-FF5CDA14ABA8}"/>
              </a:ext>
            </a:extLst>
          </p:cNvPr>
          <p:cNvSpPr txBox="1"/>
          <p:nvPr/>
        </p:nvSpPr>
        <p:spPr>
          <a:xfrm>
            <a:off x="819365" y="3143387"/>
            <a:ext cx="3547153" cy="3305520"/>
          </a:xfrm>
          <a:prstGeom prst="rect">
            <a:avLst/>
          </a:prstGeom>
          <a:noFill/>
        </p:spPr>
        <p:txBody>
          <a:bodyPr wrap="square">
            <a:spAutoFit/>
          </a:bodyPr>
          <a:lstStyle/>
          <a:p>
            <a:pPr marL="342900" marR="0" lvl="0" indent="-342900" algn="l" defTabSz="4572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s-AR" b="0" i="0" u="none" strike="noStrike" kern="1200" cap="none" spc="0" normalizeH="0" baseline="0" noProof="0" dirty="0">
                <a:ln>
                  <a:noFill/>
                </a:ln>
                <a:solidFill>
                  <a:schemeClr val="bg2"/>
                </a:solidFill>
                <a:effectLst/>
                <a:uLnTx/>
                <a:uFillTx/>
                <a:latin typeface="Tw Cen MT" panose="020B0602020104020603" pitchFamily="34" charset="0"/>
              </a:rPr>
              <a:t>Ventas netas: $10.000.000</a:t>
            </a:r>
          </a:p>
          <a:p>
            <a:pPr marL="342900" marR="0" lvl="0" indent="-342900" algn="l" defTabSz="4572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s-AR" b="0" i="0" u="none" strike="noStrike" kern="1200" cap="none" spc="0" normalizeH="0" baseline="0" noProof="0" dirty="0">
                <a:ln>
                  <a:noFill/>
                </a:ln>
                <a:solidFill>
                  <a:schemeClr val="bg2"/>
                </a:solidFill>
                <a:effectLst/>
                <a:uLnTx/>
                <a:uFillTx/>
                <a:latin typeface="Tw Cen MT" panose="020B0602020104020603" pitchFamily="34" charset="0"/>
              </a:rPr>
              <a:t>Costo de materiales: $3.500.000</a:t>
            </a:r>
          </a:p>
          <a:p>
            <a:pPr marL="342900" marR="0" lvl="0" indent="-342900" algn="l" defTabSz="4572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s-AR" b="0" i="0" u="none" strike="noStrike" kern="1200" cap="none" spc="0" normalizeH="0" baseline="0" noProof="0" dirty="0">
                <a:ln>
                  <a:noFill/>
                </a:ln>
                <a:solidFill>
                  <a:schemeClr val="bg2"/>
                </a:solidFill>
                <a:effectLst/>
                <a:uLnTx/>
                <a:uFillTx/>
                <a:latin typeface="Tw Cen MT" panose="020B0602020104020603" pitchFamily="34" charset="0"/>
              </a:rPr>
              <a:t>Sueldos operativos: $2.000.000</a:t>
            </a:r>
          </a:p>
          <a:p>
            <a:pPr marL="342900" marR="0" lvl="0" indent="-342900" algn="l" defTabSz="4572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s-AR" b="0" i="0" u="none" strike="noStrike" kern="1200" cap="none" spc="0" normalizeH="0" baseline="0" noProof="0" dirty="0">
                <a:ln>
                  <a:noFill/>
                </a:ln>
                <a:solidFill>
                  <a:schemeClr val="bg2"/>
                </a:solidFill>
                <a:effectLst/>
                <a:uLnTx/>
                <a:uFillTx/>
                <a:latin typeface="Tw Cen MT" panose="020B0602020104020603" pitchFamily="34" charset="0"/>
              </a:rPr>
              <a:t>Gastos generales: $1.000.000</a:t>
            </a:r>
          </a:p>
          <a:p>
            <a:pPr marL="342900" marR="0" lvl="0" indent="-342900" algn="l" defTabSz="4572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s-AR" b="0" i="0" u="none" strike="noStrike" kern="1200" cap="none" spc="0" normalizeH="0" baseline="0" noProof="0" dirty="0">
                <a:ln>
                  <a:noFill/>
                </a:ln>
                <a:solidFill>
                  <a:schemeClr val="bg2"/>
                </a:solidFill>
                <a:effectLst/>
                <a:uLnTx/>
                <a:uFillTx/>
                <a:latin typeface="Tw Cen MT" panose="020B0602020104020603" pitchFamily="34" charset="0"/>
              </a:rPr>
              <a:t>Depreciación: $500.000</a:t>
            </a:r>
          </a:p>
          <a:p>
            <a:pPr marL="342900" marR="0" lvl="0" indent="-342900" algn="l" defTabSz="4572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s-AR" b="0" i="0" u="none" strike="noStrike" kern="1200" cap="none" spc="0" normalizeH="0" baseline="0" noProof="0" dirty="0">
                <a:ln>
                  <a:noFill/>
                </a:ln>
                <a:solidFill>
                  <a:schemeClr val="bg2"/>
                </a:solidFill>
                <a:effectLst/>
                <a:uLnTx/>
                <a:uFillTx/>
                <a:latin typeface="Tw Cen MT" panose="020B0602020104020603" pitchFamily="34" charset="0"/>
              </a:rPr>
              <a:t>Intereses: $300.000</a:t>
            </a:r>
          </a:p>
          <a:p>
            <a:pPr marL="342900" marR="0" lvl="0" indent="-342900" algn="l" defTabSz="4572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s-AR" b="0" i="0" u="none" strike="noStrike" kern="1200" cap="none" spc="0" normalizeH="0" baseline="0" noProof="0" dirty="0">
                <a:ln>
                  <a:noFill/>
                </a:ln>
                <a:solidFill>
                  <a:schemeClr val="bg2"/>
                </a:solidFill>
                <a:effectLst/>
                <a:uLnTx/>
                <a:uFillTx/>
                <a:latin typeface="Tw Cen MT" panose="020B0602020104020603" pitchFamily="34" charset="0"/>
              </a:rPr>
              <a:t>Impuestos: $700.000</a:t>
            </a:r>
          </a:p>
          <a:p>
            <a:pPr marL="342900" marR="0" lvl="0" indent="-342900" algn="l" defTabSz="4572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s-AR" b="0" i="0" u="none" strike="noStrike" kern="1200" cap="none" spc="0" normalizeH="0" baseline="0" noProof="0" dirty="0">
              <a:ln>
                <a:noFill/>
              </a:ln>
              <a:solidFill>
                <a:schemeClr val="bg2"/>
              </a:solidFill>
              <a:effectLst/>
              <a:uLnTx/>
              <a:uFillTx/>
              <a:latin typeface="Tw Cen MT" panose="020B0602020104020603" pitchFamily="34" charset="0"/>
            </a:endParaRPr>
          </a:p>
          <a:p>
            <a:pPr marL="342900" marR="0" lvl="0" indent="-342900" algn="l" defTabSz="4572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s-AR" b="0" i="0" u="none" strike="noStrike" kern="1200" cap="none" spc="0" normalizeH="0" baseline="0" noProof="0" dirty="0">
                <a:ln>
                  <a:noFill/>
                </a:ln>
                <a:solidFill>
                  <a:schemeClr val="bg2"/>
                </a:solidFill>
                <a:effectLst/>
                <a:uLnTx/>
                <a:uFillTx/>
                <a:latin typeface="Tw Cen MT" panose="020B0602020104020603" pitchFamily="34" charset="0"/>
              </a:rPr>
              <a:t>EBIDTA 2023 = </a:t>
            </a:r>
            <a:r>
              <a:rPr kumimoji="0" lang="es-AR" b="1" i="0" u="none" strike="noStrike" kern="1200" cap="none" spc="0" normalizeH="0" baseline="0" noProof="0" dirty="0">
                <a:ln>
                  <a:noFill/>
                </a:ln>
                <a:solidFill>
                  <a:schemeClr val="bg2"/>
                </a:solidFill>
                <a:effectLst/>
                <a:uLnTx/>
                <a:uFillTx/>
                <a:latin typeface="Tw Cen MT" panose="020B0602020104020603" pitchFamily="34" charset="0"/>
              </a:rPr>
              <a:t>$2.800.000</a:t>
            </a:r>
            <a:r>
              <a:rPr kumimoji="0" lang="es-AR" b="0" i="0" u="none" strike="noStrike" kern="1200" cap="none" spc="0" normalizeH="0" baseline="0" noProof="0" dirty="0">
                <a:ln>
                  <a:noFill/>
                </a:ln>
                <a:solidFill>
                  <a:schemeClr val="bg2"/>
                </a:solidFill>
                <a:effectLst/>
                <a:uLnTx/>
                <a:uFillTx/>
                <a:latin typeface="Tw Cen MT" panose="020B0602020104020603" pitchFamily="34" charset="0"/>
              </a:rPr>
              <a:t>.</a:t>
            </a:r>
          </a:p>
        </p:txBody>
      </p:sp>
      <p:sp>
        <p:nvSpPr>
          <p:cNvPr id="13" name="CuadroTexto 12">
            <a:extLst>
              <a:ext uri="{FF2B5EF4-FFF2-40B4-BE49-F238E27FC236}">
                <a16:creationId xmlns:a16="http://schemas.microsoft.com/office/drawing/2014/main" id="{B2AACEC0-3B11-580F-BCA5-B05F5CD7E65A}"/>
              </a:ext>
            </a:extLst>
          </p:cNvPr>
          <p:cNvSpPr txBox="1"/>
          <p:nvPr/>
        </p:nvSpPr>
        <p:spPr>
          <a:xfrm>
            <a:off x="4405902" y="2962123"/>
            <a:ext cx="4613096" cy="2923877"/>
          </a:xfrm>
          <a:prstGeom prst="rect">
            <a:avLst/>
          </a:prstGeom>
          <a:noFill/>
        </p:spPr>
        <p:txBody>
          <a:bodyPr wrap="square">
            <a:spAutoFit/>
          </a:bodyPr>
          <a:lstStyle/>
          <a:p>
            <a:pPr marL="0" indent="0">
              <a:buNone/>
            </a:pPr>
            <a:r>
              <a:rPr lang="es-AR" dirty="0">
                <a:solidFill>
                  <a:schemeClr val="bg2"/>
                </a:solidFill>
                <a:latin typeface="Tw Cen MT" panose="020B0602020104020603" pitchFamily="34" charset="0"/>
              </a:rPr>
              <a:t>EBIDTA = Ventas netas - Costo de materiales - Sueldos operativos - Gastos generales </a:t>
            </a:r>
          </a:p>
          <a:p>
            <a:pPr marL="0" indent="0">
              <a:buNone/>
            </a:pPr>
            <a:endParaRPr lang="es-AR" dirty="0">
              <a:solidFill>
                <a:schemeClr val="bg2"/>
              </a:solidFill>
              <a:latin typeface="Tw Cen MT" panose="020B0602020104020603" pitchFamily="34" charset="0"/>
            </a:endParaRPr>
          </a:p>
          <a:p>
            <a:pPr marL="0" indent="0">
              <a:buNone/>
            </a:pPr>
            <a:r>
              <a:rPr lang="es-AR" dirty="0">
                <a:solidFill>
                  <a:schemeClr val="bg2"/>
                </a:solidFill>
                <a:latin typeface="Tw Cen MT" panose="020B0602020104020603" pitchFamily="34" charset="0"/>
              </a:rPr>
              <a:t>EBITDA 2024 (miles) = 10.000 – 3.500 – 2.000 – 1.000 = </a:t>
            </a:r>
            <a:r>
              <a:rPr lang="es-AR" b="1" dirty="0">
                <a:solidFill>
                  <a:schemeClr val="bg2"/>
                </a:solidFill>
                <a:latin typeface="Tw Cen MT" panose="020B0602020104020603" pitchFamily="34" charset="0"/>
              </a:rPr>
              <a:t>$3.500.000</a:t>
            </a:r>
          </a:p>
          <a:p>
            <a:pPr marL="0" indent="0">
              <a:buNone/>
            </a:pPr>
            <a:r>
              <a:rPr lang="es-AR" dirty="0">
                <a:solidFill>
                  <a:schemeClr val="bg2"/>
                </a:solidFill>
                <a:latin typeface="Tw Cen MT" panose="020B0602020104020603" pitchFamily="34" charset="0"/>
              </a:rPr>
              <a:t>Aumento respecto a 2023 = 3.500 – 2.800 = $700.000</a:t>
            </a:r>
          </a:p>
          <a:p>
            <a:pPr marL="0" indent="0">
              <a:buNone/>
            </a:pPr>
            <a:endParaRPr lang="es-AR" dirty="0">
              <a:solidFill>
                <a:schemeClr val="bg2"/>
              </a:solidFill>
              <a:latin typeface="Tw Cen MT" panose="020B0602020104020603" pitchFamily="34" charset="0"/>
            </a:endParaRPr>
          </a:p>
          <a:p>
            <a:pPr marL="0" indent="0">
              <a:buNone/>
            </a:pPr>
            <a:r>
              <a:rPr lang="es-AR" sz="2000" dirty="0">
                <a:solidFill>
                  <a:schemeClr val="bg2"/>
                </a:solidFill>
                <a:latin typeface="Tw Cen MT" panose="020B0602020104020603" pitchFamily="34" charset="0"/>
              </a:rPr>
              <a:t>Bonus del gerente = 10% de 700.000 = $70.000</a:t>
            </a:r>
          </a:p>
        </p:txBody>
      </p:sp>
    </p:spTree>
    <p:extLst>
      <p:ext uri="{BB962C8B-B14F-4D97-AF65-F5344CB8AC3E}">
        <p14:creationId xmlns:p14="http://schemas.microsoft.com/office/powerpoint/2010/main" val="2859782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D54A30DA-7874-52A4-2766-B219EB1FE4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32D773-0CC9-FC7F-9955-8A579A100D08}"/>
              </a:ext>
            </a:extLst>
          </p:cNvPr>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4CF8477-7FBE-9D71-99F3-3757567865F1}"/>
              </a:ext>
            </a:extLst>
          </p:cNvPr>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F151030-DB51-AB71-1C99-14CA92FC1057}"/>
              </a:ext>
            </a:extLst>
          </p:cNvPr>
          <p:cNvSpPr txBox="1"/>
          <p:nvPr/>
        </p:nvSpPr>
        <p:spPr>
          <a:xfrm>
            <a:off x="304800" y="271790"/>
            <a:ext cx="8534400" cy="523220"/>
          </a:xfrm>
          <a:prstGeom prst="rect">
            <a:avLst/>
          </a:prstGeom>
          <a:noFill/>
        </p:spPr>
        <p:txBody>
          <a:bodyPr wrap="square" anchor="ctr">
            <a:spAutoFit/>
          </a:bodyPr>
          <a:lstStyle>
            <a:defPPr>
              <a:defRPr lang="en-US"/>
            </a:defPPr>
            <a:lvl1pPr>
              <a:defRPr sz="2600" b="1" i="0">
                <a:solidFill>
                  <a:srgbClr val="FFFFFF"/>
                </a:solidFill>
                <a:latin typeface="Tw Cen MT"/>
              </a:defRPr>
            </a:lvl1pPr>
          </a:lstStyle>
          <a:p>
            <a:r>
              <a:rPr lang="es-AR" dirty="0"/>
              <a:t>Caso bonus asociado al EBIDTA</a:t>
            </a:r>
            <a:endParaRPr dirty="0"/>
          </a:p>
        </p:txBody>
      </p:sp>
      <p:sp>
        <p:nvSpPr>
          <p:cNvPr id="7" name="CuadroTexto 6">
            <a:extLst>
              <a:ext uri="{FF2B5EF4-FFF2-40B4-BE49-F238E27FC236}">
                <a16:creationId xmlns:a16="http://schemas.microsoft.com/office/drawing/2014/main" id="{B9CD5945-9C19-8FE2-AE1A-F2344692F21D}"/>
              </a:ext>
            </a:extLst>
          </p:cNvPr>
          <p:cNvSpPr txBox="1"/>
          <p:nvPr/>
        </p:nvSpPr>
        <p:spPr>
          <a:xfrm>
            <a:off x="955498" y="1861810"/>
            <a:ext cx="7150812" cy="2160591"/>
          </a:xfrm>
          <a:prstGeom prst="rect">
            <a:avLst/>
          </a:prstGeom>
          <a:noFill/>
        </p:spPr>
        <p:txBody>
          <a:bodyPr wrap="square">
            <a:sp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AR" sz="2400" b="0" i="0" u="none" strike="noStrike" kern="1200" cap="none" spc="0" normalizeH="0" baseline="0" noProof="0" dirty="0">
                <a:ln>
                  <a:noFill/>
                </a:ln>
                <a:solidFill>
                  <a:schemeClr val="bg2"/>
                </a:solidFill>
                <a:effectLst/>
                <a:uLnTx/>
                <a:uFillTx/>
                <a:latin typeface="Tw Cen MT" panose="020B0602020104020603" pitchFamily="34" charset="0"/>
              </a:rPr>
              <a:t>¿Qué incentivos genera este sistema de bonus?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AR" sz="2400" b="0" i="0" u="none" strike="noStrike" kern="1200" cap="none" spc="0" normalizeH="0" baseline="0" noProof="0" dirty="0">
                <a:ln>
                  <a:noFill/>
                </a:ln>
                <a:solidFill>
                  <a:schemeClr val="bg2"/>
                </a:solidFill>
                <a:effectLst/>
                <a:uLnTx/>
                <a:uFillTx/>
                <a:latin typeface="Tw Cen MT" panose="020B0602020104020603" pitchFamily="34" charset="0"/>
              </a:rPr>
              <a:t>¿Qué decisiones puede tomar el gerente para aumentar el EBITDA?</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AR" sz="2400" b="0" i="0" u="none" strike="noStrike" kern="1200" cap="none" spc="0" normalizeH="0" baseline="0" noProof="0" dirty="0">
                <a:ln>
                  <a:noFill/>
                </a:ln>
                <a:solidFill>
                  <a:schemeClr val="bg2"/>
                </a:solidFill>
                <a:effectLst/>
                <a:uLnTx/>
                <a:uFillTx/>
                <a:latin typeface="Tw Cen MT" panose="020B0602020104020603" pitchFamily="34" charset="0"/>
              </a:rPr>
              <a:t>¿Postergar mantenimiento? ¿Reducir calidad?</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AR" sz="2400" b="0" i="0" u="none" strike="noStrike" kern="1200" cap="none" spc="0" normalizeH="0" baseline="0" noProof="0" dirty="0">
                <a:ln>
                  <a:noFill/>
                </a:ln>
                <a:solidFill>
                  <a:schemeClr val="bg2"/>
                </a:solidFill>
                <a:effectLst/>
                <a:uLnTx/>
                <a:uFillTx/>
                <a:latin typeface="Tw Cen MT" panose="020B0602020104020603" pitchFamily="34" charset="0"/>
              </a:rPr>
              <a:t>¿Podrían estas decisiones perjudicar el largo plazo?</a:t>
            </a:r>
          </a:p>
        </p:txBody>
      </p:sp>
    </p:spTree>
    <p:extLst>
      <p:ext uri="{BB962C8B-B14F-4D97-AF65-F5344CB8AC3E}">
        <p14:creationId xmlns:p14="http://schemas.microsoft.com/office/powerpoint/2010/main" val="37906222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2D98A-F7ED-8AFF-8A7E-CB54B733EB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7427BB-B6A3-B71C-EB04-745967408328}"/>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4E2D687-B470-6285-5145-4A787DCD0DB0}"/>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9BD6BA4-1B7C-BF17-66FA-B0B699AA04BB}"/>
              </a:ext>
            </a:extLst>
          </p:cNvPr>
          <p:cNvSpPr txBox="1"/>
          <p:nvPr/>
        </p:nvSpPr>
        <p:spPr>
          <a:xfrm>
            <a:off x="304800" y="287178"/>
            <a:ext cx="8534400" cy="492443"/>
          </a:xfrm>
          <a:prstGeom prst="rect">
            <a:avLst/>
          </a:prstGeom>
          <a:noFill/>
        </p:spPr>
        <p:txBody>
          <a:bodyPr wrap="square" anchor="ctr">
            <a:spAutoFit/>
          </a:bodyPr>
          <a:lstStyle>
            <a:defPPr>
              <a:defRPr lang="en-US"/>
            </a:defPPr>
            <a:lvl1pPr>
              <a:defRPr sz="2600" b="1" i="0">
                <a:solidFill>
                  <a:srgbClr val="FFFFFF"/>
                </a:solidFill>
                <a:latin typeface="Tw Cen MT"/>
              </a:defRPr>
            </a:lvl1pPr>
          </a:lstStyle>
          <a:p>
            <a:r>
              <a:rPr lang="es-AR" dirty="0"/>
              <a:t>Sin embargo … Page Executive 2025</a:t>
            </a:r>
          </a:p>
        </p:txBody>
      </p:sp>
      <p:pic>
        <p:nvPicPr>
          <p:cNvPr id="6" name="Imagen 5" descr="Rentabilidad [EBITDA o ingreso neto]&#10;&#10;El contenido generado por IA puede ser incorrecto.">
            <a:extLst>
              <a:ext uri="{FF2B5EF4-FFF2-40B4-BE49-F238E27FC236}">
                <a16:creationId xmlns:a16="http://schemas.microsoft.com/office/drawing/2014/main" id="{8162E1EA-7EAD-CB03-4A7C-9AB3DDF38F9A}"/>
              </a:ext>
            </a:extLst>
          </p:cNvPr>
          <p:cNvPicPr>
            <a:picLocks noChangeAspect="1"/>
          </p:cNvPicPr>
          <p:nvPr/>
        </p:nvPicPr>
        <p:blipFill>
          <a:blip r:embed="rId2"/>
          <a:stretch>
            <a:fillRect/>
          </a:stretch>
        </p:blipFill>
        <p:spPr>
          <a:xfrm>
            <a:off x="883600" y="1626816"/>
            <a:ext cx="7376799" cy="4590686"/>
          </a:xfrm>
          <a:prstGeom prst="rect">
            <a:avLst/>
          </a:prstGeom>
        </p:spPr>
      </p:pic>
    </p:spTree>
    <p:extLst>
      <p:ext uri="{BB962C8B-B14F-4D97-AF65-F5344CB8AC3E}">
        <p14:creationId xmlns:p14="http://schemas.microsoft.com/office/powerpoint/2010/main" val="39391158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Comparación de Indicadores de Bonus</a:t>
            </a:r>
          </a:p>
        </p:txBody>
      </p:sp>
      <p:sp>
        <p:nvSpPr>
          <p:cNvPr id="5" name="TextBox 4"/>
          <p:cNvSpPr txBox="1"/>
          <p:nvPr/>
        </p:nvSpPr>
        <p:spPr>
          <a:xfrm>
            <a:off x="304800" y="1220000"/>
            <a:ext cx="8534400" cy="5042406"/>
          </a:xfrm>
          <a:prstGeom prst="rect">
            <a:avLst/>
          </a:prstGeom>
          <a:noFill/>
        </p:spPr>
        <p:txBody>
          <a:bodyPr wrap="square">
            <a:spAutoFit/>
          </a:bodyPr>
          <a:lstStyle/>
          <a:p>
            <a:pPr algn="l">
              <a:spcBef>
                <a:spcPts val="400"/>
              </a:spcBef>
              <a:buNone/>
            </a:pPr>
            <a:r>
              <a:rPr sz="2000" b="1" dirty="0">
                <a:solidFill>
                  <a:srgbClr val="8B0000"/>
                </a:solidFill>
                <a:latin typeface="Tw Cen MT"/>
              </a:rPr>
              <a:t>INDICADORES CONTABLES (EBITDA, </a:t>
            </a:r>
            <a:r>
              <a:rPr sz="2000" b="1" dirty="0" err="1">
                <a:solidFill>
                  <a:srgbClr val="8B0000"/>
                </a:solidFill>
                <a:latin typeface="Tw Cen MT"/>
              </a:rPr>
              <a:t>Utilidad</a:t>
            </a:r>
            <a:r>
              <a:rPr sz="2000" b="1" dirty="0">
                <a:solidFill>
                  <a:srgbClr val="8B0000"/>
                </a:solidFill>
                <a:latin typeface="Tw Cen MT"/>
              </a:rPr>
              <a:t> Neta)</a:t>
            </a:r>
          </a:p>
          <a:p>
            <a:pPr lvl="1" algn="l">
              <a:spcBef>
                <a:spcPts val="150"/>
              </a:spcBef>
              <a:buFont typeface="Tw Cen MT"/>
              <a:buChar char="▸"/>
            </a:pPr>
            <a:r>
              <a:rPr sz="2000" b="0" dirty="0" err="1">
                <a:solidFill>
                  <a:srgbClr val="222222"/>
                </a:solidFill>
                <a:latin typeface="Tw Cen MT"/>
              </a:rPr>
              <a:t>Ventaja</a:t>
            </a:r>
            <a:r>
              <a:rPr sz="2000" b="0" dirty="0">
                <a:solidFill>
                  <a:srgbClr val="222222"/>
                </a:solidFill>
                <a:latin typeface="Tw Cen MT"/>
              </a:rPr>
              <a:t>: </a:t>
            </a:r>
            <a:r>
              <a:rPr sz="2000" b="0" dirty="0" err="1">
                <a:solidFill>
                  <a:srgbClr val="222222"/>
                </a:solidFill>
                <a:latin typeface="Tw Cen MT"/>
              </a:rPr>
              <a:t>fáciles</a:t>
            </a:r>
            <a:r>
              <a:rPr sz="2000" b="0" dirty="0">
                <a:solidFill>
                  <a:srgbClr val="222222"/>
                </a:solidFill>
                <a:latin typeface="Tw Cen MT"/>
              </a:rPr>
              <a:t> de </a:t>
            </a:r>
            <a:r>
              <a:rPr sz="2000" b="0" dirty="0" err="1">
                <a:solidFill>
                  <a:srgbClr val="222222"/>
                </a:solidFill>
                <a:latin typeface="Tw Cen MT"/>
              </a:rPr>
              <a:t>medir</a:t>
            </a:r>
            <a:r>
              <a:rPr sz="2000" b="0" dirty="0">
                <a:solidFill>
                  <a:srgbClr val="222222"/>
                </a:solidFill>
                <a:latin typeface="Tw Cen MT"/>
              </a:rPr>
              <a:t> y </a:t>
            </a:r>
            <a:r>
              <a:rPr sz="2000" b="0" dirty="0" err="1">
                <a:solidFill>
                  <a:srgbClr val="222222"/>
                </a:solidFill>
                <a:latin typeface="Tw Cen MT"/>
              </a:rPr>
              <a:t>auditar</a:t>
            </a:r>
            <a:r>
              <a:rPr sz="2000" b="0" dirty="0">
                <a:solidFill>
                  <a:srgbClr val="222222"/>
                </a:solidFill>
                <a:latin typeface="Tw Cen MT"/>
              </a:rPr>
              <a:t>, </a:t>
            </a:r>
            <a:r>
              <a:rPr sz="2000" b="0" dirty="0" err="1">
                <a:solidFill>
                  <a:srgbClr val="222222"/>
                </a:solidFill>
                <a:latin typeface="Tw Cen MT"/>
              </a:rPr>
              <a:t>frecuentemente</a:t>
            </a:r>
            <a:r>
              <a:rPr sz="2000" b="0" dirty="0">
                <a:solidFill>
                  <a:srgbClr val="222222"/>
                </a:solidFill>
                <a:latin typeface="Tw Cen MT"/>
              </a:rPr>
              <a:t> </a:t>
            </a:r>
            <a:r>
              <a:rPr sz="2000" b="0" dirty="0" err="1">
                <a:solidFill>
                  <a:srgbClr val="222222"/>
                </a:solidFill>
                <a:latin typeface="Tw Cen MT"/>
              </a:rPr>
              <a:t>disponibles</a:t>
            </a:r>
            <a:r>
              <a:rPr sz="2000" b="0" dirty="0">
                <a:solidFill>
                  <a:srgbClr val="222222"/>
                </a:solidFill>
                <a:latin typeface="Tw Cen MT"/>
              </a:rPr>
              <a:t>.</a:t>
            </a:r>
          </a:p>
          <a:p>
            <a:pPr lvl="1" algn="l">
              <a:spcBef>
                <a:spcPts val="150"/>
              </a:spcBef>
              <a:buFont typeface="Tw Cen MT"/>
              <a:buChar char="▸"/>
            </a:pPr>
            <a:r>
              <a:rPr sz="2000" b="0" dirty="0" err="1">
                <a:solidFill>
                  <a:srgbClr val="222222"/>
                </a:solidFill>
                <a:latin typeface="Tw Cen MT"/>
              </a:rPr>
              <a:t>Desventaja</a:t>
            </a:r>
            <a:r>
              <a:rPr sz="2000" b="0" dirty="0">
                <a:solidFill>
                  <a:srgbClr val="222222"/>
                </a:solidFill>
                <a:latin typeface="Tw Cen MT"/>
              </a:rPr>
              <a:t>: </a:t>
            </a:r>
            <a:r>
              <a:rPr sz="2000" b="0" dirty="0" err="1">
                <a:solidFill>
                  <a:srgbClr val="222222"/>
                </a:solidFill>
                <a:latin typeface="Tw Cen MT"/>
              </a:rPr>
              <a:t>manipulables</a:t>
            </a:r>
            <a:r>
              <a:rPr sz="2000" b="0" dirty="0">
                <a:solidFill>
                  <a:srgbClr val="222222"/>
                </a:solidFill>
                <a:latin typeface="Tw Cen MT"/>
              </a:rPr>
              <a:t> </a:t>
            </a:r>
            <a:r>
              <a:rPr sz="2000" b="0" dirty="0" err="1">
                <a:solidFill>
                  <a:srgbClr val="222222"/>
                </a:solidFill>
                <a:latin typeface="Tw Cen MT"/>
              </a:rPr>
              <a:t>contablemente</a:t>
            </a:r>
            <a:r>
              <a:rPr sz="2000" b="0" dirty="0">
                <a:solidFill>
                  <a:srgbClr val="222222"/>
                </a:solidFill>
                <a:latin typeface="Tw Cen MT"/>
              </a:rPr>
              <a:t>, </a:t>
            </a:r>
            <a:r>
              <a:rPr sz="2000" b="0" dirty="0" err="1">
                <a:solidFill>
                  <a:srgbClr val="222222"/>
                </a:solidFill>
                <a:latin typeface="Tw Cen MT"/>
              </a:rPr>
              <a:t>pueden</a:t>
            </a:r>
            <a:r>
              <a:rPr sz="2000" b="0" dirty="0">
                <a:solidFill>
                  <a:srgbClr val="222222"/>
                </a:solidFill>
                <a:latin typeface="Tw Cen MT"/>
              </a:rPr>
              <a:t> no </a:t>
            </a:r>
            <a:r>
              <a:rPr sz="2000" b="0" dirty="0" err="1">
                <a:solidFill>
                  <a:srgbClr val="222222"/>
                </a:solidFill>
                <a:latin typeface="Tw Cen MT"/>
              </a:rPr>
              <a:t>reflejar</a:t>
            </a:r>
            <a:r>
              <a:rPr sz="2000" b="0" dirty="0">
                <a:solidFill>
                  <a:srgbClr val="222222"/>
                </a:solidFill>
                <a:latin typeface="Tw Cen MT"/>
              </a:rPr>
              <a:t> valor de largo </a:t>
            </a:r>
            <a:r>
              <a:rPr sz="2000" b="0" dirty="0" err="1">
                <a:solidFill>
                  <a:srgbClr val="222222"/>
                </a:solidFill>
                <a:latin typeface="Tw Cen MT"/>
              </a:rPr>
              <a:t>plazo</a:t>
            </a:r>
            <a:r>
              <a:rPr sz="2000" b="0" dirty="0">
                <a:solidFill>
                  <a:srgbClr val="222222"/>
                </a:solidFill>
                <a:latin typeface="Tw Cen MT"/>
              </a:rPr>
              <a:t>.</a:t>
            </a:r>
          </a:p>
          <a:p>
            <a:pPr algn="l">
              <a:spcBef>
                <a:spcPts val="400"/>
              </a:spcBef>
              <a:buNone/>
            </a:pPr>
            <a:r>
              <a:rPr sz="2000" b="1" dirty="0">
                <a:solidFill>
                  <a:srgbClr val="8B0000"/>
                </a:solidFill>
                <a:latin typeface="Tw Cen MT"/>
              </a:rPr>
              <a:t>FLUJO DE CAJA (Cash Flow </a:t>
            </a:r>
            <a:r>
              <a:rPr sz="2000" b="1" dirty="0" err="1">
                <a:solidFill>
                  <a:srgbClr val="8B0000"/>
                </a:solidFill>
                <a:latin typeface="Tw Cen MT"/>
              </a:rPr>
              <a:t>operativo</a:t>
            </a:r>
            <a:r>
              <a:rPr sz="2000" b="1" dirty="0">
                <a:solidFill>
                  <a:srgbClr val="8B0000"/>
                </a:solidFill>
                <a:latin typeface="Tw Cen MT"/>
              </a:rPr>
              <a:t>)</a:t>
            </a:r>
          </a:p>
          <a:p>
            <a:pPr lvl="1" algn="l">
              <a:spcBef>
                <a:spcPts val="150"/>
              </a:spcBef>
              <a:buFont typeface="Tw Cen MT"/>
              <a:buChar char="▸"/>
            </a:pPr>
            <a:r>
              <a:rPr sz="2000" b="0" dirty="0" err="1">
                <a:solidFill>
                  <a:srgbClr val="222222"/>
                </a:solidFill>
                <a:latin typeface="Tw Cen MT"/>
              </a:rPr>
              <a:t>Ventaja</a:t>
            </a:r>
            <a:r>
              <a:rPr sz="2000" b="0" dirty="0">
                <a:solidFill>
                  <a:srgbClr val="222222"/>
                </a:solidFill>
                <a:latin typeface="Tw Cen MT"/>
              </a:rPr>
              <a:t>: </a:t>
            </a:r>
            <a:r>
              <a:rPr sz="2000" b="0" dirty="0" err="1">
                <a:solidFill>
                  <a:srgbClr val="222222"/>
                </a:solidFill>
                <a:latin typeface="Tw Cen MT"/>
              </a:rPr>
              <a:t>más</a:t>
            </a:r>
            <a:r>
              <a:rPr sz="2000" b="0" dirty="0">
                <a:solidFill>
                  <a:srgbClr val="222222"/>
                </a:solidFill>
                <a:latin typeface="Tw Cen MT"/>
              </a:rPr>
              <a:t> </a:t>
            </a:r>
            <a:r>
              <a:rPr sz="2000" b="0" dirty="0" err="1">
                <a:solidFill>
                  <a:srgbClr val="222222"/>
                </a:solidFill>
                <a:latin typeface="Tw Cen MT"/>
              </a:rPr>
              <a:t>difícil</a:t>
            </a:r>
            <a:r>
              <a:rPr sz="2000" b="0" dirty="0">
                <a:solidFill>
                  <a:srgbClr val="222222"/>
                </a:solidFill>
                <a:latin typeface="Tw Cen MT"/>
              </a:rPr>
              <a:t> de manipular, </a:t>
            </a:r>
            <a:r>
              <a:rPr sz="2000" b="0" dirty="0" err="1">
                <a:solidFill>
                  <a:srgbClr val="222222"/>
                </a:solidFill>
                <a:latin typeface="Tw Cen MT"/>
              </a:rPr>
              <a:t>más</a:t>
            </a:r>
            <a:r>
              <a:rPr sz="2000" b="0" dirty="0">
                <a:solidFill>
                  <a:srgbClr val="222222"/>
                </a:solidFill>
                <a:latin typeface="Tw Cen MT"/>
              </a:rPr>
              <a:t> </a:t>
            </a:r>
            <a:r>
              <a:rPr sz="2000" b="0" dirty="0" err="1">
                <a:solidFill>
                  <a:srgbClr val="222222"/>
                </a:solidFill>
                <a:latin typeface="Tw Cen MT"/>
              </a:rPr>
              <a:t>cercano</a:t>
            </a:r>
            <a:r>
              <a:rPr sz="2000" b="0" dirty="0">
                <a:solidFill>
                  <a:srgbClr val="222222"/>
                </a:solidFill>
                <a:latin typeface="Tw Cen MT"/>
              </a:rPr>
              <a:t> al dinero real disponible.</a:t>
            </a:r>
          </a:p>
          <a:p>
            <a:pPr lvl="1" algn="l">
              <a:spcBef>
                <a:spcPts val="150"/>
              </a:spcBef>
              <a:buFont typeface="Tw Cen MT"/>
              <a:buChar char="▸"/>
            </a:pPr>
            <a:r>
              <a:rPr sz="2000" b="0" dirty="0" err="1">
                <a:solidFill>
                  <a:srgbClr val="222222"/>
                </a:solidFill>
                <a:latin typeface="Tw Cen MT"/>
              </a:rPr>
              <a:t>Desventaja</a:t>
            </a:r>
            <a:r>
              <a:rPr sz="2000" b="0" dirty="0">
                <a:solidFill>
                  <a:srgbClr val="222222"/>
                </a:solidFill>
                <a:latin typeface="Tw Cen MT"/>
              </a:rPr>
              <a:t>: </a:t>
            </a:r>
            <a:r>
              <a:rPr sz="2000" b="0" dirty="0" err="1">
                <a:solidFill>
                  <a:srgbClr val="222222"/>
                </a:solidFill>
                <a:latin typeface="Tw Cen MT"/>
              </a:rPr>
              <a:t>afectado</a:t>
            </a:r>
            <a:r>
              <a:rPr sz="2000" b="0" dirty="0">
                <a:solidFill>
                  <a:srgbClr val="222222"/>
                </a:solidFill>
                <a:latin typeface="Tw Cen MT"/>
              </a:rPr>
              <a:t> </a:t>
            </a:r>
            <a:r>
              <a:rPr sz="2000" b="0" dirty="0" err="1">
                <a:solidFill>
                  <a:srgbClr val="222222"/>
                </a:solidFill>
                <a:latin typeface="Tw Cen MT"/>
              </a:rPr>
              <a:t>por</a:t>
            </a:r>
            <a:r>
              <a:rPr sz="2000" b="0" dirty="0">
                <a:solidFill>
                  <a:srgbClr val="222222"/>
                </a:solidFill>
                <a:latin typeface="Tw Cen MT"/>
              </a:rPr>
              <a:t> </a:t>
            </a:r>
            <a:r>
              <a:rPr sz="2000" b="0" dirty="0" err="1">
                <a:solidFill>
                  <a:srgbClr val="222222"/>
                </a:solidFill>
                <a:latin typeface="Tw Cen MT"/>
              </a:rPr>
              <a:t>el</a:t>
            </a:r>
            <a:r>
              <a:rPr sz="2000" b="0" dirty="0">
                <a:solidFill>
                  <a:srgbClr val="222222"/>
                </a:solidFill>
                <a:latin typeface="Tw Cen MT"/>
              </a:rPr>
              <a:t> </a:t>
            </a:r>
            <a:r>
              <a:rPr sz="2000" b="0" dirty="0" err="1">
                <a:solidFill>
                  <a:srgbClr val="222222"/>
                </a:solidFill>
                <a:latin typeface="Tw Cen MT"/>
              </a:rPr>
              <a:t>ciclo</a:t>
            </a:r>
            <a:r>
              <a:rPr sz="2000" b="0" dirty="0">
                <a:solidFill>
                  <a:srgbClr val="222222"/>
                </a:solidFill>
                <a:latin typeface="Tw Cen MT"/>
              </a:rPr>
              <a:t> </a:t>
            </a:r>
            <a:r>
              <a:rPr sz="2000" b="0" dirty="0" err="1">
                <a:solidFill>
                  <a:srgbClr val="222222"/>
                </a:solidFill>
                <a:latin typeface="Tw Cen MT"/>
              </a:rPr>
              <a:t>operativo</a:t>
            </a:r>
            <a:r>
              <a:rPr sz="2000" b="0" dirty="0">
                <a:solidFill>
                  <a:srgbClr val="222222"/>
                </a:solidFill>
                <a:latin typeface="Tw Cen MT"/>
              </a:rPr>
              <a:t>, </a:t>
            </a:r>
            <a:r>
              <a:rPr sz="2000" b="0" dirty="0" err="1">
                <a:solidFill>
                  <a:srgbClr val="222222"/>
                </a:solidFill>
                <a:latin typeface="Tw Cen MT"/>
              </a:rPr>
              <a:t>puede</a:t>
            </a:r>
            <a:r>
              <a:rPr sz="2000" b="0" dirty="0">
                <a:solidFill>
                  <a:srgbClr val="222222"/>
                </a:solidFill>
                <a:latin typeface="Tw Cen MT"/>
              </a:rPr>
              <a:t> </a:t>
            </a:r>
            <a:r>
              <a:rPr sz="2000" b="0" dirty="0" err="1">
                <a:solidFill>
                  <a:srgbClr val="222222"/>
                </a:solidFill>
                <a:latin typeface="Tw Cen MT"/>
              </a:rPr>
              <a:t>llevar</a:t>
            </a:r>
            <a:r>
              <a:rPr sz="2000" b="0" dirty="0">
                <a:solidFill>
                  <a:srgbClr val="222222"/>
                </a:solidFill>
                <a:latin typeface="Tw Cen MT"/>
              </a:rPr>
              <a:t> a </a:t>
            </a:r>
            <a:r>
              <a:rPr sz="2000" b="0" dirty="0" err="1">
                <a:solidFill>
                  <a:srgbClr val="222222"/>
                </a:solidFill>
                <a:latin typeface="Tw Cen MT"/>
              </a:rPr>
              <a:t>postergar</a:t>
            </a:r>
            <a:r>
              <a:rPr sz="2000" b="0" dirty="0">
                <a:solidFill>
                  <a:srgbClr val="222222"/>
                </a:solidFill>
                <a:latin typeface="Tw Cen MT"/>
              </a:rPr>
              <a:t> </a:t>
            </a:r>
            <a:r>
              <a:rPr sz="2000" b="0" dirty="0" err="1">
                <a:solidFill>
                  <a:srgbClr val="222222"/>
                </a:solidFill>
                <a:latin typeface="Tw Cen MT"/>
              </a:rPr>
              <a:t>gastos</a:t>
            </a:r>
            <a:r>
              <a:rPr sz="2000" b="0" dirty="0">
                <a:solidFill>
                  <a:srgbClr val="222222"/>
                </a:solidFill>
                <a:latin typeface="Tw Cen MT"/>
              </a:rPr>
              <a:t> </a:t>
            </a:r>
            <a:r>
              <a:rPr sz="2000" b="0" dirty="0" err="1">
                <a:solidFill>
                  <a:srgbClr val="222222"/>
                </a:solidFill>
                <a:latin typeface="Tw Cen MT"/>
              </a:rPr>
              <a:t>necesarios</a:t>
            </a:r>
            <a:r>
              <a:rPr sz="2000" b="0" dirty="0">
                <a:solidFill>
                  <a:srgbClr val="222222"/>
                </a:solidFill>
                <a:latin typeface="Tw Cen MT"/>
              </a:rPr>
              <a:t>.</a:t>
            </a:r>
          </a:p>
          <a:p>
            <a:pPr algn="l">
              <a:spcBef>
                <a:spcPts val="400"/>
              </a:spcBef>
              <a:buNone/>
            </a:pPr>
            <a:r>
              <a:rPr sz="2000" b="1" dirty="0">
                <a:solidFill>
                  <a:srgbClr val="8B0000"/>
                </a:solidFill>
                <a:latin typeface="Tw Cen MT"/>
              </a:rPr>
              <a:t>CREACIÓN DE VALOR (EVA / ROIC)</a:t>
            </a:r>
          </a:p>
          <a:p>
            <a:pPr lvl="1" algn="l">
              <a:spcBef>
                <a:spcPts val="150"/>
              </a:spcBef>
              <a:buFont typeface="Tw Cen MT"/>
              <a:buChar char="▸"/>
            </a:pPr>
            <a:r>
              <a:rPr sz="2000" b="0" dirty="0" err="1">
                <a:solidFill>
                  <a:srgbClr val="222222"/>
                </a:solidFill>
                <a:latin typeface="Tw Cen MT"/>
              </a:rPr>
              <a:t>Ventaja</a:t>
            </a:r>
            <a:r>
              <a:rPr sz="2000" b="0" dirty="0">
                <a:solidFill>
                  <a:srgbClr val="222222"/>
                </a:solidFill>
                <a:latin typeface="Tw Cen MT"/>
              </a:rPr>
              <a:t>: </a:t>
            </a:r>
            <a:r>
              <a:rPr sz="2000" b="0" dirty="0" err="1">
                <a:solidFill>
                  <a:srgbClr val="222222"/>
                </a:solidFill>
                <a:latin typeface="Tw Cen MT"/>
              </a:rPr>
              <a:t>mide</a:t>
            </a:r>
            <a:r>
              <a:rPr sz="2000" b="0" dirty="0">
                <a:solidFill>
                  <a:srgbClr val="222222"/>
                </a:solidFill>
                <a:latin typeface="Tw Cen MT"/>
              </a:rPr>
              <a:t> </a:t>
            </a:r>
            <a:r>
              <a:rPr sz="2000" b="0" dirty="0" err="1">
                <a:solidFill>
                  <a:srgbClr val="222222"/>
                </a:solidFill>
                <a:latin typeface="Tw Cen MT"/>
              </a:rPr>
              <a:t>rentabilidad</a:t>
            </a:r>
            <a:r>
              <a:rPr sz="2000" b="0" dirty="0">
                <a:solidFill>
                  <a:srgbClr val="222222"/>
                </a:solidFill>
                <a:latin typeface="Tw Cen MT"/>
              </a:rPr>
              <a:t> real </a:t>
            </a:r>
            <a:r>
              <a:rPr sz="2000" b="0" dirty="0" err="1">
                <a:solidFill>
                  <a:srgbClr val="222222"/>
                </a:solidFill>
                <a:latin typeface="Tw Cen MT"/>
              </a:rPr>
              <a:t>considerando</a:t>
            </a:r>
            <a:r>
              <a:rPr sz="2000" b="0" dirty="0">
                <a:solidFill>
                  <a:srgbClr val="222222"/>
                </a:solidFill>
                <a:latin typeface="Tw Cen MT"/>
              </a:rPr>
              <a:t> </a:t>
            </a:r>
            <a:r>
              <a:rPr sz="2000" b="0" dirty="0" err="1">
                <a:solidFill>
                  <a:srgbClr val="222222"/>
                </a:solidFill>
                <a:latin typeface="Tw Cen MT"/>
              </a:rPr>
              <a:t>el</a:t>
            </a:r>
            <a:r>
              <a:rPr sz="2000" b="0" dirty="0">
                <a:solidFill>
                  <a:srgbClr val="222222"/>
                </a:solidFill>
                <a:latin typeface="Tw Cen MT"/>
              </a:rPr>
              <a:t> </a:t>
            </a:r>
            <a:r>
              <a:rPr sz="2000" b="0" dirty="0" err="1">
                <a:solidFill>
                  <a:srgbClr val="222222"/>
                </a:solidFill>
                <a:latin typeface="Tw Cen MT"/>
              </a:rPr>
              <a:t>costo</a:t>
            </a:r>
            <a:r>
              <a:rPr sz="2000" b="0" dirty="0">
                <a:solidFill>
                  <a:srgbClr val="222222"/>
                </a:solidFill>
                <a:latin typeface="Tw Cen MT"/>
              </a:rPr>
              <a:t> del capital.</a:t>
            </a:r>
          </a:p>
          <a:p>
            <a:pPr lvl="1" algn="l">
              <a:spcBef>
                <a:spcPts val="150"/>
              </a:spcBef>
              <a:buFont typeface="Tw Cen MT"/>
              <a:buChar char="▸"/>
            </a:pPr>
            <a:r>
              <a:rPr sz="2000" b="0" dirty="0" err="1">
                <a:solidFill>
                  <a:srgbClr val="222222"/>
                </a:solidFill>
                <a:latin typeface="Tw Cen MT"/>
              </a:rPr>
              <a:t>Desventaja</a:t>
            </a:r>
            <a:r>
              <a:rPr sz="2000" b="0" dirty="0">
                <a:solidFill>
                  <a:srgbClr val="222222"/>
                </a:solidFill>
                <a:latin typeface="Tw Cen MT"/>
              </a:rPr>
              <a:t>: </a:t>
            </a:r>
            <a:r>
              <a:rPr sz="2000" b="0" dirty="0" err="1">
                <a:solidFill>
                  <a:srgbClr val="222222"/>
                </a:solidFill>
                <a:latin typeface="Tw Cen MT"/>
              </a:rPr>
              <a:t>complejos</a:t>
            </a:r>
            <a:r>
              <a:rPr sz="2000" b="0" dirty="0">
                <a:solidFill>
                  <a:srgbClr val="222222"/>
                </a:solidFill>
                <a:latin typeface="Tw Cen MT"/>
              </a:rPr>
              <a:t> de </a:t>
            </a:r>
            <a:r>
              <a:rPr sz="2000" b="0" dirty="0" err="1">
                <a:solidFill>
                  <a:srgbClr val="222222"/>
                </a:solidFill>
                <a:latin typeface="Tw Cen MT"/>
              </a:rPr>
              <a:t>calcular</a:t>
            </a:r>
            <a:r>
              <a:rPr sz="2000" b="0" dirty="0">
                <a:solidFill>
                  <a:srgbClr val="222222"/>
                </a:solidFill>
                <a:latin typeface="Tw Cen MT"/>
              </a:rPr>
              <a:t>, </a:t>
            </a:r>
            <a:r>
              <a:rPr sz="2000" b="0" dirty="0" err="1">
                <a:solidFill>
                  <a:srgbClr val="222222"/>
                </a:solidFill>
                <a:latin typeface="Tw Cen MT"/>
              </a:rPr>
              <a:t>pueden</a:t>
            </a:r>
            <a:r>
              <a:rPr sz="2000" b="0" dirty="0">
                <a:solidFill>
                  <a:srgbClr val="222222"/>
                </a:solidFill>
                <a:latin typeface="Tw Cen MT"/>
              </a:rPr>
              <a:t> </a:t>
            </a:r>
            <a:r>
              <a:rPr sz="2000" b="0" dirty="0" err="1">
                <a:solidFill>
                  <a:srgbClr val="222222"/>
                </a:solidFill>
                <a:latin typeface="Tw Cen MT"/>
              </a:rPr>
              <a:t>desalentar</a:t>
            </a:r>
            <a:r>
              <a:rPr sz="2000" b="0" dirty="0">
                <a:solidFill>
                  <a:srgbClr val="222222"/>
                </a:solidFill>
                <a:latin typeface="Tw Cen MT"/>
              </a:rPr>
              <a:t> </a:t>
            </a:r>
            <a:r>
              <a:rPr sz="2000" b="0" dirty="0" err="1">
                <a:solidFill>
                  <a:srgbClr val="222222"/>
                </a:solidFill>
                <a:latin typeface="Tw Cen MT"/>
              </a:rPr>
              <a:t>inversiones</a:t>
            </a:r>
            <a:r>
              <a:rPr sz="2000" b="0" dirty="0">
                <a:solidFill>
                  <a:srgbClr val="222222"/>
                </a:solidFill>
                <a:latin typeface="Tw Cen MT"/>
              </a:rPr>
              <a:t> </a:t>
            </a:r>
            <a:r>
              <a:rPr sz="2000" b="0" dirty="0" err="1">
                <a:solidFill>
                  <a:srgbClr val="222222"/>
                </a:solidFill>
                <a:latin typeface="Tw Cen MT"/>
              </a:rPr>
              <a:t>necesarias</a:t>
            </a:r>
            <a:r>
              <a:rPr sz="2000" b="0" dirty="0">
                <a:solidFill>
                  <a:srgbClr val="222222"/>
                </a:solidFill>
                <a:latin typeface="Tw Cen MT"/>
              </a:rPr>
              <a:t>.</a:t>
            </a:r>
          </a:p>
          <a:p>
            <a:pPr algn="l">
              <a:spcBef>
                <a:spcPts val="400"/>
              </a:spcBef>
              <a:buNone/>
            </a:pPr>
            <a:r>
              <a:rPr sz="2000" b="1" dirty="0">
                <a:solidFill>
                  <a:srgbClr val="8B0000"/>
                </a:solidFill>
                <a:latin typeface="Tw Cen MT"/>
              </a:rPr>
              <a:t>KPIs NO FINANCIEROS (</a:t>
            </a:r>
            <a:r>
              <a:rPr sz="2000" b="1" dirty="0" err="1">
                <a:solidFill>
                  <a:srgbClr val="8B0000"/>
                </a:solidFill>
                <a:latin typeface="Tw Cen MT"/>
              </a:rPr>
              <a:t>calidad</a:t>
            </a:r>
            <a:r>
              <a:rPr sz="2000" b="1" dirty="0">
                <a:solidFill>
                  <a:srgbClr val="8B0000"/>
                </a:solidFill>
                <a:latin typeface="Tw Cen MT"/>
              </a:rPr>
              <a:t>, </a:t>
            </a:r>
            <a:r>
              <a:rPr sz="2000" b="1" dirty="0" err="1">
                <a:solidFill>
                  <a:srgbClr val="8B0000"/>
                </a:solidFill>
                <a:latin typeface="Tw Cen MT"/>
              </a:rPr>
              <a:t>satisfacción</a:t>
            </a:r>
            <a:r>
              <a:rPr sz="2000" b="1" dirty="0">
                <a:solidFill>
                  <a:srgbClr val="8B0000"/>
                </a:solidFill>
                <a:latin typeface="Tw Cen MT"/>
              </a:rPr>
              <a:t> de </a:t>
            </a:r>
            <a:r>
              <a:rPr sz="2000" b="1" dirty="0" err="1">
                <a:solidFill>
                  <a:srgbClr val="8B0000"/>
                </a:solidFill>
                <a:latin typeface="Tw Cen MT"/>
              </a:rPr>
              <a:t>clientes</a:t>
            </a:r>
            <a:r>
              <a:rPr sz="2000" b="1" dirty="0">
                <a:solidFill>
                  <a:srgbClr val="8B0000"/>
                </a:solidFill>
                <a:latin typeface="Tw Cen MT"/>
              </a:rPr>
              <a:t>)</a:t>
            </a:r>
          </a:p>
          <a:p>
            <a:pPr lvl="1" algn="l">
              <a:spcBef>
                <a:spcPts val="150"/>
              </a:spcBef>
              <a:buFont typeface="Tw Cen MT"/>
              <a:buChar char="▸"/>
            </a:pPr>
            <a:r>
              <a:rPr sz="2000" b="0" dirty="0" err="1">
                <a:solidFill>
                  <a:srgbClr val="222222"/>
                </a:solidFill>
                <a:latin typeface="Tw Cen MT"/>
              </a:rPr>
              <a:t>Ventaja</a:t>
            </a:r>
            <a:r>
              <a:rPr sz="2000" b="0" dirty="0">
                <a:solidFill>
                  <a:srgbClr val="222222"/>
                </a:solidFill>
                <a:latin typeface="Tw Cen MT"/>
              </a:rPr>
              <a:t>: </a:t>
            </a:r>
            <a:r>
              <a:rPr sz="2000" b="0" dirty="0" err="1">
                <a:solidFill>
                  <a:srgbClr val="222222"/>
                </a:solidFill>
                <a:latin typeface="Tw Cen MT"/>
              </a:rPr>
              <a:t>capturan</a:t>
            </a:r>
            <a:r>
              <a:rPr sz="2000" b="0" dirty="0">
                <a:solidFill>
                  <a:srgbClr val="222222"/>
                </a:solidFill>
                <a:latin typeface="Tw Cen MT"/>
              </a:rPr>
              <a:t> </a:t>
            </a:r>
            <a:r>
              <a:rPr sz="2000" b="0" dirty="0" err="1">
                <a:solidFill>
                  <a:srgbClr val="222222"/>
                </a:solidFill>
                <a:latin typeface="Tw Cen MT"/>
              </a:rPr>
              <a:t>aspectos</a:t>
            </a:r>
            <a:r>
              <a:rPr sz="2000" b="0" dirty="0">
                <a:solidFill>
                  <a:srgbClr val="222222"/>
                </a:solidFill>
                <a:latin typeface="Tw Cen MT"/>
              </a:rPr>
              <a:t> </a:t>
            </a:r>
            <a:r>
              <a:rPr sz="2000" b="0" dirty="0" err="1">
                <a:solidFill>
                  <a:srgbClr val="222222"/>
                </a:solidFill>
                <a:latin typeface="Tw Cen MT"/>
              </a:rPr>
              <a:t>cualitativos</a:t>
            </a:r>
            <a:r>
              <a:rPr sz="2000" b="0" dirty="0">
                <a:solidFill>
                  <a:srgbClr val="222222"/>
                </a:solidFill>
                <a:latin typeface="Tw Cen MT"/>
              </a:rPr>
              <a:t> clave.  </a:t>
            </a:r>
            <a:r>
              <a:rPr sz="2000" b="0" dirty="0" err="1">
                <a:solidFill>
                  <a:srgbClr val="222222"/>
                </a:solidFill>
                <a:latin typeface="Tw Cen MT"/>
              </a:rPr>
              <a:t>Desventaja</a:t>
            </a:r>
            <a:r>
              <a:rPr sz="2000" b="0" dirty="0">
                <a:solidFill>
                  <a:srgbClr val="222222"/>
                </a:solidFill>
                <a:latin typeface="Tw Cen MT"/>
              </a:rPr>
              <a:t>: </a:t>
            </a:r>
            <a:r>
              <a:rPr sz="2000" b="0" dirty="0" err="1">
                <a:solidFill>
                  <a:srgbClr val="222222"/>
                </a:solidFill>
                <a:latin typeface="Tw Cen MT"/>
              </a:rPr>
              <a:t>difíciles</a:t>
            </a:r>
            <a:r>
              <a:rPr sz="2000" b="0" dirty="0">
                <a:solidFill>
                  <a:srgbClr val="222222"/>
                </a:solidFill>
                <a:latin typeface="Tw Cen MT"/>
              </a:rPr>
              <a:t> de </a:t>
            </a:r>
            <a:r>
              <a:rPr sz="2000" b="0" dirty="0" err="1">
                <a:solidFill>
                  <a:srgbClr val="222222"/>
                </a:solidFill>
                <a:latin typeface="Tw Cen MT"/>
              </a:rPr>
              <a:t>medir</a:t>
            </a:r>
            <a:r>
              <a:rPr sz="2000" b="0" dirty="0">
                <a:solidFill>
                  <a:srgbClr val="222222"/>
                </a:solidFill>
                <a:latin typeface="Tw Cen MT"/>
              </a:rPr>
              <a:t> </a:t>
            </a:r>
            <a:r>
              <a:rPr sz="2000" b="0" dirty="0" err="1">
                <a:solidFill>
                  <a:srgbClr val="222222"/>
                </a:solidFill>
                <a:latin typeface="Tw Cen MT"/>
              </a:rPr>
              <a:t>objetivamente</a:t>
            </a:r>
            <a:r>
              <a:rPr sz="2000" b="0" dirty="0">
                <a:solidFill>
                  <a:srgbClr val="222222"/>
                </a:solidFill>
                <a:latin typeface="Tw Cen MT"/>
              </a:rPr>
              <a:t>, </a:t>
            </a:r>
            <a:r>
              <a:rPr sz="2000" b="0" dirty="0" err="1">
                <a:solidFill>
                  <a:srgbClr val="222222"/>
                </a:solidFill>
                <a:latin typeface="Tw Cen MT"/>
              </a:rPr>
              <a:t>riesgo</a:t>
            </a:r>
            <a:r>
              <a:rPr sz="2000" b="0" dirty="0">
                <a:solidFill>
                  <a:srgbClr val="222222"/>
                </a:solidFill>
                <a:latin typeface="Tw Cen MT"/>
              </a:rPr>
              <a:t> de </a:t>
            </a:r>
            <a:r>
              <a:rPr sz="2000" b="0" dirty="0" err="1">
                <a:solidFill>
                  <a:srgbClr val="222222"/>
                </a:solidFill>
                <a:latin typeface="Tw Cen MT"/>
              </a:rPr>
              <a:t>manipulación</a:t>
            </a:r>
            <a:r>
              <a:rPr sz="2000" b="0" dirty="0">
                <a:solidFill>
                  <a:srgbClr val="222222"/>
                </a:solidFill>
                <a:latin typeface="Tw Cen MT"/>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A017"/>
          </a:solidFill>
          <a:ln/>
        </p:spPr>
        <p:txBody>
          <a:bodyPr/>
          <a:lstStyle/>
          <a:p>
            <a:endParaRPr lang="es-419">
              <a:latin typeface="Tw Cen MT" panose="020B0602020104020603" pitchFamily="34" charset="0"/>
            </a:endParaRPr>
          </a:p>
        </p:txBody>
      </p:sp>
      <p:sp>
        <p:nvSpPr>
          <p:cNvPr id="5" name="Text 3"/>
          <p:cNvSpPr/>
          <p:nvPr/>
        </p:nvSpPr>
        <p:spPr>
          <a:xfrm>
            <a:off x="365760" y="658368"/>
            <a:ext cx="8412480" cy="640080"/>
          </a:xfrm>
          <a:prstGeom prst="rect">
            <a:avLst/>
          </a:prstGeom>
          <a:noFill/>
          <a:ln/>
        </p:spPr>
        <p:txBody>
          <a:bodyPr wrap="square" rtlCol="0" anchor="t"/>
          <a:lstStyle/>
          <a:p>
            <a:pPr marL="0" indent="0">
              <a:buNone/>
            </a:pPr>
            <a:r>
              <a:rPr lang="en-US" sz="2600" b="1" dirty="0">
                <a:solidFill>
                  <a:srgbClr val="1E2761"/>
                </a:solidFill>
                <a:latin typeface="Tw Cen MT" panose="020B0602020104020603" pitchFamily="34" charset="0"/>
                <a:ea typeface="Tw Cen MT" pitchFamily="34" charset="-122"/>
                <a:cs typeface="Tw Cen MT" pitchFamily="34" charset="-120"/>
              </a:rPr>
              <a:t>Principales características de cada instrumento</a:t>
            </a:r>
            <a:endParaRPr lang="en-US" sz="2600" dirty="0">
              <a:latin typeface="Tw Cen MT" panose="020B0602020104020603" pitchFamily="34" charset="0"/>
            </a:endParaRPr>
          </a:p>
        </p:txBody>
      </p:sp>
      <p:sp>
        <p:nvSpPr>
          <p:cNvPr id="6" name="Shape 4"/>
          <p:cNvSpPr/>
          <p:nvPr/>
        </p:nvSpPr>
        <p:spPr>
          <a:xfrm>
            <a:off x="365760" y="1298448"/>
            <a:ext cx="2651760" cy="457200"/>
          </a:xfrm>
          <a:prstGeom prst="rect">
            <a:avLst/>
          </a:prstGeom>
          <a:solidFill>
            <a:srgbClr val="8B0000"/>
          </a:solidFill>
          <a:ln/>
        </p:spPr>
        <p:txBody>
          <a:bodyPr/>
          <a:lstStyle/>
          <a:p>
            <a:endParaRPr lang="es-419" sz="1600">
              <a:latin typeface="Tw Cen MT" panose="020B0602020104020603" pitchFamily="34" charset="0"/>
            </a:endParaRPr>
          </a:p>
        </p:txBody>
      </p:sp>
      <p:sp>
        <p:nvSpPr>
          <p:cNvPr id="7" name="Text 5"/>
          <p:cNvSpPr/>
          <p:nvPr/>
        </p:nvSpPr>
        <p:spPr>
          <a:xfrm>
            <a:off x="365760" y="1298448"/>
            <a:ext cx="2651760" cy="457200"/>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Stock Options</a:t>
            </a:r>
            <a:endParaRPr lang="en-US" sz="1600" dirty="0">
              <a:latin typeface="Tw Cen MT" panose="020B0602020104020603" pitchFamily="34" charset="0"/>
            </a:endParaRPr>
          </a:p>
        </p:txBody>
      </p:sp>
      <p:sp>
        <p:nvSpPr>
          <p:cNvPr id="8" name="Shape 6"/>
          <p:cNvSpPr/>
          <p:nvPr/>
        </p:nvSpPr>
        <p:spPr>
          <a:xfrm>
            <a:off x="397764" y="2103120"/>
            <a:ext cx="2651760" cy="4096512"/>
          </a:xfrm>
          <a:prstGeom prst="rect">
            <a:avLst/>
          </a:prstGeom>
          <a:solidFill>
            <a:srgbClr val="F4F4F6"/>
          </a:solidFill>
          <a:ln/>
        </p:spPr>
        <p:txBody>
          <a:bodyPr/>
          <a:lstStyle/>
          <a:p>
            <a:pPr>
              <a:lnSpc>
                <a:spcPct val="115000"/>
              </a:lnSpc>
            </a:pPr>
            <a:r>
              <a:rPr lang="en-US" sz="1600" i="1" dirty="0">
                <a:solidFill>
                  <a:srgbClr val="1E2761"/>
                </a:solidFill>
                <a:latin typeface="Tw Cen MT" panose="020B0602020104020603" pitchFamily="34" charset="0"/>
                <a:ea typeface="Tw Cen MT" pitchFamily="34" charset="-122"/>
                <a:cs typeface="Tw Cen MT" pitchFamily="34" charset="-120"/>
              </a:rPr>
              <a:t>.</a:t>
            </a:r>
            <a:endParaRPr lang="en-US" sz="1600" dirty="0">
              <a:latin typeface="Tw Cen MT" panose="020B0602020104020603" pitchFamily="34" charset="0"/>
            </a:endParaRPr>
          </a:p>
        </p:txBody>
      </p:sp>
      <p:sp>
        <p:nvSpPr>
          <p:cNvPr id="9" name="Text 7"/>
          <p:cNvSpPr/>
          <p:nvPr/>
        </p:nvSpPr>
        <p:spPr>
          <a:xfrm>
            <a:off x="530352" y="2286000"/>
            <a:ext cx="2322576" cy="3566160"/>
          </a:xfrm>
          <a:prstGeom prst="rect">
            <a:avLst/>
          </a:prstGeom>
          <a:noFill/>
          <a:ln/>
        </p:spPr>
        <p:txBody>
          <a:bodyPr wrap="square" rtlCol="0" anchor="t"/>
          <a:lstStyle/>
          <a:p>
            <a:pPr>
              <a:lnSpc>
                <a:spcPct val="115000"/>
              </a:lnSpc>
            </a:pPr>
            <a:r>
              <a:rPr lang="en-US" sz="1600" dirty="0">
                <a:solidFill>
                  <a:srgbClr val="2B2B2B"/>
                </a:solidFill>
                <a:latin typeface="Tw Cen MT" panose="020B0602020104020603" pitchFamily="34" charset="0"/>
                <a:ea typeface="Tw Cen MT" pitchFamily="34" charset="-122"/>
                <a:cs typeface="Tw Cen MT" pitchFamily="34" charset="-120"/>
              </a:rPr>
              <a:t>Derecho (no </a:t>
            </a:r>
            <a:r>
              <a:rPr lang="en-US" sz="1600" dirty="0" err="1">
                <a:solidFill>
                  <a:srgbClr val="2B2B2B"/>
                </a:solidFill>
                <a:latin typeface="Tw Cen MT" panose="020B0602020104020603" pitchFamily="34" charset="0"/>
                <a:ea typeface="Tw Cen MT" pitchFamily="34" charset="-122"/>
                <a:cs typeface="Tw Cen MT" pitchFamily="34" charset="-120"/>
              </a:rPr>
              <a:t>obligación</a:t>
            </a:r>
            <a:r>
              <a:rPr lang="en-US" sz="1600" dirty="0">
                <a:solidFill>
                  <a:srgbClr val="2B2B2B"/>
                </a:solidFill>
                <a:latin typeface="Tw Cen MT" panose="020B0602020104020603" pitchFamily="34" charset="0"/>
                <a:ea typeface="Tw Cen MT" pitchFamily="34" charset="-122"/>
                <a:cs typeface="Tw Cen MT" pitchFamily="34" charset="-120"/>
              </a:rPr>
              <a:t>) de </a:t>
            </a:r>
            <a:r>
              <a:rPr lang="en-US" sz="1600" dirty="0" err="1">
                <a:solidFill>
                  <a:srgbClr val="2B2B2B"/>
                </a:solidFill>
                <a:latin typeface="Tw Cen MT" panose="020B0602020104020603" pitchFamily="34" charset="0"/>
                <a:ea typeface="Tw Cen MT" pitchFamily="34" charset="-122"/>
                <a:cs typeface="Tw Cen MT" pitchFamily="34" charset="-120"/>
              </a:rPr>
              <a:t>comprar</a:t>
            </a:r>
            <a:r>
              <a:rPr lang="en-US" sz="1600" dirty="0">
                <a:solidFill>
                  <a:srgbClr val="2B2B2B"/>
                </a:solidFill>
                <a:latin typeface="Tw Cen MT" panose="020B0602020104020603" pitchFamily="34" charset="0"/>
                <a:ea typeface="Tw Cen MT" pitchFamily="34" charset="-122"/>
                <a:cs typeface="Tw Cen MT" pitchFamily="34" charset="-120"/>
              </a:rPr>
              <a:t> </a:t>
            </a:r>
            <a:r>
              <a:rPr lang="en-US" sz="1600" dirty="0" err="1">
                <a:solidFill>
                  <a:srgbClr val="2B2B2B"/>
                </a:solidFill>
                <a:latin typeface="Tw Cen MT" panose="020B0602020104020603" pitchFamily="34" charset="0"/>
                <a:ea typeface="Tw Cen MT" pitchFamily="34" charset="-122"/>
                <a:cs typeface="Tw Cen MT" pitchFamily="34" charset="-120"/>
              </a:rPr>
              <a:t>acciones</a:t>
            </a:r>
            <a:r>
              <a:rPr lang="en-US" sz="1600" dirty="0">
                <a:solidFill>
                  <a:srgbClr val="2B2B2B"/>
                </a:solidFill>
                <a:latin typeface="Tw Cen MT" panose="020B0602020104020603" pitchFamily="34" charset="0"/>
                <a:ea typeface="Tw Cen MT" pitchFamily="34" charset="-122"/>
                <a:cs typeface="Tw Cen MT" pitchFamily="34" charset="-120"/>
              </a:rPr>
              <a:t> a un </a:t>
            </a:r>
            <a:r>
              <a:rPr lang="en-US" sz="1600" dirty="0" err="1">
                <a:solidFill>
                  <a:srgbClr val="2B2B2B"/>
                </a:solidFill>
                <a:latin typeface="Tw Cen MT" panose="020B0602020104020603" pitchFamily="34" charset="0"/>
                <a:ea typeface="Tw Cen MT" pitchFamily="34" charset="-122"/>
                <a:cs typeface="Tw Cen MT" pitchFamily="34" charset="-120"/>
              </a:rPr>
              <a:t>precio</a:t>
            </a:r>
            <a:r>
              <a:rPr lang="en-US" sz="1600" dirty="0">
                <a:solidFill>
                  <a:srgbClr val="2B2B2B"/>
                </a:solidFill>
                <a:latin typeface="Tw Cen MT" panose="020B0602020104020603" pitchFamily="34" charset="0"/>
                <a:ea typeface="Tw Cen MT" pitchFamily="34" charset="-122"/>
                <a:cs typeface="Tw Cen MT" pitchFamily="34" charset="-120"/>
              </a:rPr>
              <a:t> de </a:t>
            </a:r>
            <a:r>
              <a:rPr lang="en-US" sz="1600" dirty="0" err="1">
                <a:solidFill>
                  <a:srgbClr val="2B2B2B"/>
                </a:solidFill>
                <a:latin typeface="Tw Cen MT" panose="020B0602020104020603" pitchFamily="34" charset="0"/>
                <a:ea typeface="Tw Cen MT" pitchFamily="34" charset="-122"/>
                <a:cs typeface="Tw Cen MT" pitchFamily="34" charset="-120"/>
              </a:rPr>
              <a:t>establevido</a:t>
            </a:r>
            <a:r>
              <a:rPr lang="en-US" sz="1600" dirty="0">
                <a:solidFill>
                  <a:srgbClr val="2B2B2B"/>
                </a:solidFill>
                <a:latin typeface="Tw Cen MT" panose="020B0602020104020603" pitchFamily="34" charset="0"/>
                <a:ea typeface="Tw Cen MT" pitchFamily="34" charset="-122"/>
                <a:cs typeface="Tw Cen MT" pitchFamily="34" charset="-120"/>
              </a:rPr>
              <a:t>  </a:t>
            </a:r>
            <a:r>
              <a:rPr lang="en-US" sz="1600" dirty="0" err="1">
                <a:solidFill>
                  <a:srgbClr val="2B2B2B"/>
                </a:solidFill>
                <a:latin typeface="Tw Cen MT" panose="020B0602020104020603" pitchFamily="34" charset="0"/>
                <a:ea typeface="Tw Cen MT" pitchFamily="34" charset="-122"/>
                <a:cs typeface="Tw Cen MT" pitchFamily="34" charset="-120"/>
              </a:rPr>
              <a:t>Vigencia</a:t>
            </a:r>
            <a:r>
              <a:rPr lang="en-US" sz="1600" dirty="0">
                <a:solidFill>
                  <a:srgbClr val="2B2B2B"/>
                </a:solidFill>
                <a:latin typeface="Tw Cen MT" panose="020B0602020104020603" pitchFamily="34" charset="0"/>
                <a:ea typeface="Tw Cen MT" pitchFamily="34" charset="-122"/>
                <a:cs typeface="Tw Cen MT" pitchFamily="34" charset="-120"/>
              </a:rPr>
              <a:t> </a:t>
            </a:r>
            <a:r>
              <a:rPr lang="en-US" sz="1600" dirty="0" err="1">
                <a:solidFill>
                  <a:srgbClr val="2B2B2B"/>
                </a:solidFill>
                <a:latin typeface="Tw Cen MT" panose="020B0602020104020603" pitchFamily="34" charset="0"/>
                <a:ea typeface="Tw Cen MT" pitchFamily="34" charset="-122"/>
                <a:cs typeface="Tw Cen MT" pitchFamily="34" charset="-120"/>
              </a:rPr>
              <a:t>típica</a:t>
            </a:r>
            <a:r>
              <a:rPr lang="en-US" sz="1600" dirty="0">
                <a:solidFill>
                  <a:srgbClr val="2B2B2B"/>
                </a:solidFill>
                <a:latin typeface="Tw Cen MT" panose="020B0602020104020603" pitchFamily="34" charset="0"/>
                <a:ea typeface="Tw Cen MT" pitchFamily="34" charset="-122"/>
                <a:cs typeface="Tw Cen MT" pitchFamily="34" charset="-120"/>
              </a:rPr>
              <a:t> de 5/ 10 </a:t>
            </a:r>
            <a:r>
              <a:rPr lang="en-US" sz="1600" dirty="0" err="1">
                <a:solidFill>
                  <a:srgbClr val="2B2B2B"/>
                </a:solidFill>
                <a:latin typeface="Tw Cen MT" panose="020B0602020104020603" pitchFamily="34" charset="0"/>
                <a:ea typeface="Tw Cen MT" pitchFamily="34" charset="-122"/>
                <a:cs typeface="Tw Cen MT" pitchFamily="34" charset="-120"/>
              </a:rPr>
              <a:t>años</a:t>
            </a:r>
            <a:r>
              <a:rPr lang="en-US" sz="1600" dirty="0">
                <a:solidFill>
                  <a:srgbClr val="2B2B2B"/>
                </a:solidFill>
                <a:latin typeface="Tw Cen MT" panose="020B0602020104020603" pitchFamily="34" charset="0"/>
                <a:ea typeface="Tw Cen MT" pitchFamily="34" charset="-122"/>
                <a:cs typeface="Tw Cen MT" pitchFamily="34" charset="-120"/>
              </a:rPr>
              <a:t>.</a:t>
            </a:r>
          </a:p>
          <a:p>
            <a:pPr>
              <a:lnSpc>
                <a:spcPct val="115000"/>
              </a:lnSpc>
            </a:pPr>
            <a:endParaRPr lang="en-US" sz="1600" dirty="0">
              <a:solidFill>
                <a:srgbClr val="2B2B2B"/>
              </a:solidFill>
              <a:latin typeface="Tw Cen MT" panose="020B0602020104020603" pitchFamily="34" charset="0"/>
            </a:endParaRPr>
          </a:p>
          <a:p>
            <a:pPr>
              <a:lnSpc>
                <a:spcPct val="115000"/>
              </a:lnSpc>
            </a:pPr>
            <a:r>
              <a:rPr lang="en-US" sz="1600" i="1" dirty="0">
                <a:solidFill>
                  <a:srgbClr val="1E2761"/>
                </a:solidFill>
                <a:latin typeface="Tw Cen MT" panose="020B0602020104020603" pitchFamily="34" charset="0"/>
                <a:ea typeface="Tw Cen MT" pitchFamily="34" charset="-122"/>
                <a:cs typeface="Tw Cen MT" pitchFamily="34" charset="-120"/>
              </a:rPr>
              <a:t>Por </a:t>
            </a:r>
            <a:r>
              <a:rPr lang="en-US" sz="1600" i="1" dirty="0" err="1">
                <a:solidFill>
                  <a:srgbClr val="1E2761"/>
                </a:solidFill>
                <a:latin typeface="Tw Cen MT" panose="020B0602020104020603" pitchFamily="34" charset="0"/>
                <a:ea typeface="Tw Cen MT" pitchFamily="34" charset="-122"/>
                <a:cs typeface="Tw Cen MT" pitchFamily="34" charset="-120"/>
              </a:rPr>
              <a:t>qué</a:t>
            </a:r>
            <a:r>
              <a:rPr lang="en-US" sz="1600" i="1" dirty="0">
                <a:solidFill>
                  <a:srgbClr val="1E2761"/>
                </a:solidFill>
                <a:latin typeface="Tw Cen MT" panose="020B0602020104020603" pitchFamily="34" charset="0"/>
                <a:ea typeface="Tw Cen MT" pitchFamily="34" charset="-122"/>
                <a:cs typeface="Tw Cen MT" pitchFamily="34" charset="-120"/>
              </a:rPr>
              <a:t> </a:t>
            </a:r>
            <a:r>
              <a:rPr lang="en-US" sz="1600" i="1" dirty="0" err="1">
                <a:solidFill>
                  <a:srgbClr val="1E2761"/>
                </a:solidFill>
                <a:latin typeface="Tw Cen MT" panose="020B0602020104020603" pitchFamily="34" charset="0"/>
                <a:ea typeface="Tw Cen MT" pitchFamily="34" charset="-122"/>
                <a:cs typeface="Tw Cen MT" pitchFamily="34" charset="-120"/>
              </a:rPr>
              <a:t>importa</a:t>
            </a:r>
            <a:r>
              <a:rPr lang="en-US" sz="1600" i="1" dirty="0">
                <a:solidFill>
                  <a:srgbClr val="1E2761"/>
                </a:solidFill>
                <a:latin typeface="Tw Cen MT" panose="020B0602020104020603" pitchFamily="34" charset="0"/>
                <a:ea typeface="Tw Cen MT" pitchFamily="34" charset="-122"/>
                <a:cs typeface="Tw Cen MT" pitchFamily="34" charset="-120"/>
              </a:rPr>
              <a:t>: es el </a:t>
            </a:r>
            <a:r>
              <a:rPr lang="en-US" sz="1600" i="1" dirty="0" err="1">
                <a:solidFill>
                  <a:srgbClr val="1E2761"/>
                </a:solidFill>
                <a:latin typeface="Tw Cen MT" panose="020B0602020104020603" pitchFamily="34" charset="0"/>
                <a:ea typeface="Tw Cen MT" pitchFamily="34" charset="-122"/>
                <a:cs typeface="Tw Cen MT" pitchFamily="34" charset="-120"/>
              </a:rPr>
              <a:t>instrumento</a:t>
            </a:r>
            <a:r>
              <a:rPr lang="en-US" sz="1600" i="1" dirty="0">
                <a:solidFill>
                  <a:srgbClr val="1E2761"/>
                </a:solidFill>
                <a:latin typeface="Tw Cen MT" panose="020B0602020104020603" pitchFamily="34" charset="0"/>
                <a:ea typeface="Tw Cen MT" pitchFamily="34" charset="-122"/>
                <a:cs typeface="Tw Cen MT" pitchFamily="34" charset="-120"/>
              </a:rPr>
              <a:t> de mayor </a:t>
            </a:r>
            <a:r>
              <a:rPr lang="en-US" sz="1600" i="1" dirty="0" err="1">
                <a:solidFill>
                  <a:srgbClr val="1E2761"/>
                </a:solidFill>
                <a:latin typeface="Tw Cen MT" panose="020B0602020104020603" pitchFamily="34" charset="0"/>
                <a:ea typeface="Tw Cen MT" pitchFamily="34" charset="-122"/>
                <a:cs typeface="Tw Cen MT" pitchFamily="34" charset="-120"/>
              </a:rPr>
              <a:t>convexidad</a:t>
            </a:r>
            <a:r>
              <a:rPr lang="en-US" sz="1600" i="1" dirty="0">
                <a:solidFill>
                  <a:srgbClr val="1E2761"/>
                </a:solidFill>
                <a:latin typeface="Tw Cen MT" panose="020B0602020104020603" pitchFamily="34" charset="0"/>
                <a:ea typeface="Tw Cen MT" pitchFamily="34" charset="-122"/>
                <a:cs typeface="Tw Cen MT" pitchFamily="34" charset="-120"/>
              </a:rPr>
              <a:t>: solo genera valor </a:t>
            </a:r>
            <a:r>
              <a:rPr lang="en-US" sz="1600" i="1" dirty="0" err="1">
                <a:solidFill>
                  <a:srgbClr val="1E2761"/>
                </a:solidFill>
                <a:latin typeface="Tw Cen MT" panose="020B0602020104020603" pitchFamily="34" charset="0"/>
                <a:ea typeface="Tw Cen MT" pitchFamily="34" charset="-122"/>
                <a:cs typeface="Tw Cen MT" pitchFamily="34" charset="-120"/>
              </a:rPr>
              <a:t>si</a:t>
            </a:r>
            <a:r>
              <a:rPr lang="en-US" sz="1600" i="1" dirty="0">
                <a:solidFill>
                  <a:srgbClr val="1E2761"/>
                </a:solidFill>
                <a:latin typeface="Tw Cen MT" panose="020B0602020104020603" pitchFamily="34" charset="0"/>
                <a:ea typeface="Tw Cen MT" pitchFamily="34" charset="-122"/>
                <a:cs typeface="Tw Cen MT" pitchFamily="34" charset="-120"/>
              </a:rPr>
              <a:t> el </a:t>
            </a:r>
            <a:r>
              <a:rPr lang="en-US" sz="1600" i="1" dirty="0" err="1">
                <a:solidFill>
                  <a:srgbClr val="1E2761"/>
                </a:solidFill>
                <a:latin typeface="Tw Cen MT" panose="020B0602020104020603" pitchFamily="34" charset="0"/>
                <a:ea typeface="Tw Cen MT" pitchFamily="34" charset="-122"/>
                <a:cs typeface="Tw Cen MT" pitchFamily="34" charset="-120"/>
              </a:rPr>
              <a:t>precio</a:t>
            </a:r>
            <a:r>
              <a:rPr lang="en-US" sz="1600" i="1" dirty="0">
                <a:solidFill>
                  <a:srgbClr val="1E2761"/>
                </a:solidFill>
                <a:latin typeface="Tw Cen MT" panose="020B0602020104020603" pitchFamily="34" charset="0"/>
                <a:ea typeface="Tw Cen MT" pitchFamily="34" charset="-122"/>
                <a:cs typeface="Tw Cen MT" pitchFamily="34" charset="-120"/>
              </a:rPr>
              <a:t> de </a:t>
            </a:r>
            <a:r>
              <a:rPr lang="en-US" sz="1600" i="1" dirty="0" err="1">
                <a:solidFill>
                  <a:srgbClr val="1E2761"/>
                </a:solidFill>
                <a:latin typeface="Tw Cen MT" panose="020B0602020104020603" pitchFamily="34" charset="0"/>
                <a:ea typeface="Tw Cen MT" pitchFamily="34" charset="-122"/>
                <a:cs typeface="Tw Cen MT" pitchFamily="34" charset="-120"/>
              </a:rPr>
              <a:t>venta</a:t>
            </a:r>
            <a:r>
              <a:rPr lang="en-US" sz="1600" i="1" dirty="0">
                <a:solidFill>
                  <a:srgbClr val="1E2761"/>
                </a:solidFill>
                <a:latin typeface="Tw Cen MT" panose="020B0602020104020603" pitchFamily="34" charset="0"/>
                <a:ea typeface="Tw Cen MT" pitchFamily="34" charset="-122"/>
                <a:cs typeface="Tw Cen MT" pitchFamily="34" charset="-120"/>
              </a:rPr>
              <a:t> </a:t>
            </a:r>
            <a:r>
              <a:rPr lang="en-US" sz="1600" i="1" dirty="0" err="1">
                <a:solidFill>
                  <a:srgbClr val="1E2761"/>
                </a:solidFill>
                <a:latin typeface="Tw Cen MT" panose="020B0602020104020603" pitchFamily="34" charset="0"/>
                <a:ea typeface="Tw Cen MT" pitchFamily="34" charset="-122"/>
                <a:cs typeface="Tw Cen MT" pitchFamily="34" charset="-120"/>
              </a:rPr>
              <a:t>supera</a:t>
            </a:r>
            <a:r>
              <a:rPr lang="en-US" sz="1600" i="1" dirty="0">
                <a:solidFill>
                  <a:srgbClr val="1E2761"/>
                </a:solidFill>
                <a:latin typeface="Tw Cen MT" panose="020B0602020104020603" pitchFamily="34" charset="0"/>
                <a:ea typeface="Tw Cen MT" pitchFamily="34" charset="-122"/>
                <a:cs typeface="Tw Cen MT" pitchFamily="34" charset="-120"/>
              </a:rPr>
              <a:t> al de </a:t>
            </a:r>
            <a:r>
              <a:rPr lang="en-US" sz="1600" i="1" dirty="0" err="1">
                <a:solidFill>
                  <a:srgbClr val="1E2761"/>
                </a:solidFill>
                <a:latin typeface="Tw Cen MT" panose="020B0602020104020603" pitchFamily="34" charset="0"/>
                <a:ea typeface="Tw Cen MT" pitchFamily="34" charset="-122"/>
                <a:cs typeface="Tw Cen MT" pitchFamily="34" charset="-120"/>
              </a:rPr>
              <a:t>compra</a:t>
            </a:r>
            <a:r>
              <a:rPr lang="en-US" sz="1600" i="1" dirty="0">
                <a:solidFill>
                  <a:srgbClr val="1E2761"/>
                </a:solidFill>
                <a:latin typeface="Tw Cen MT" panose="020B0602020104020603" pitchFamily="34" charset="0"/>
                <a:ea typeface="Tw Cen MT" pitchFamily="34" charset="-122"/>
                <a:cs typeface="Tw Cen MT" pitchFamily="34" charset="-120"/>
              </a:rPr>
              <a:t>, </a:t>
            </a:r>
            <a:r>
              <a:rPr lang="en-US" sz="1600" i="1" dirty="0" err="1">
                <a:solidFill>
                  <a:srgbClr val="1E2761"/>
                </a:solidFill>
                <a:latin typeface="Tw Cen MT" panose="020B0602020104020603" pitchFamily="34" charset="0"/>
                <a:ea typeface="Tw Cen MT" pitchFamily="34" charset="-122"/>
                <a:cs typeface="Tw Cen MT" pitchFamily="34" charset="-120"/>
              </a:rPr>
              <a:t>alineando</a:t>
            </a:r>
            <a:r>
              <a:rPr lang="en-US" sz="1600" i="1" dirty="0">
                <a:solidFill>
                  <a:srgbClr val="1E2761"/>
                </a:solidFill>
                <a:latin typeface="Tw Cen MT" panose="020B0602020104020603" pitchFamily="34" charset="0"/>
                <a:ea typeface="Tw Cen MT" pitchFamily="34" charset="-122"/>
                <a:cs typeface="Tw Cen MT" pitchFamily="34" charset="-120"/>
              </a:rPr>
              <a:t> al </a:t>
            </a:r>
            <a:r>
              <a:rPr lang="en-US" sz="1600" i="1" dirty="0" err="1">
                <a:solidFill>
                  <a:srgbClr val="1E2761"/>
                </a:solidFill>
                <a:latin typeface="Tw Cen MT" panose="020B0602020104020603" pitchFamily="34" charset="0"/>
                <a:ea typeface="Tw Cen MT" pitchFamily="34" charset="-122"/>
                <a:cs typeface="Tw Cen MT" pitchFamily="34" charset="-120"/>
              </a:rPr>
              <a:t>ejecutivo</a:t>
            </a:r>
            <a:r>
              <a:rPr lang="en-US" sz="1600" i="1" dirty="0">
                <a:solidFill>
                  <a:srgbClr val="1E2761"/>
                </a:solidFill>
                <a:latin typeface="Tw Cen MT" panose="020B0602020104020603" pitchFamily="34" charset="0"/>
                <a:ea typeface="Tw Cen MT" pitchFamily="34" charset="-122"/>
                <a:cs typeface="Tw Cen MT" pitchFamily="34" charset="-120"/>
              </a:rPr>
              <a:t> con la </a:t>
            </a:r>
            <a:r>
              <a:rPr lang="en-US" sz="1600" i="1" dirty="0" err="1">
                <a:solidFill>
                  <a:srgbClr val="1E2761"/>
                </a:solidFill>
                <a:latin typeface="Tw Cen MT" panose="020B0602020104020603" pitchFamily="34" charset="0"/>
                <a:ea typeface="Tw Cen MT" pitchFamily="34" charset="-122"/>
                <a:cs typeface="Tw Cen MT" pitchFamily="34" charset="-120"/>
              </a:rPr>
              <a:t>creación</a:t>
            </a:r>
            <a:r>
              <a:rPr lang="en-US" sz="1600" i="1" dirty="0">
                <a:solidFill>
                  <a:srgbClr val="1E2761"/>
                </a:solidFill>
                <a:latin typeface="Tw Cen MT" panose="020B0602020104020603" pitchFamily="34" charset="0"/>
                <a:ea typeface="Tw Cen MT" pitchFamily="34" charset="-122"/>
                <a:cs typeface="Tw Cen MT" pitchFamily="34" charset="-120"/>
              </a:rPr>
              <a:t> de valor</a:t>
            </a:r>
            <a:endParaRPr lang="en-US" sz="1600" dirty="0">
              <a:latin typeface="Tw Cen MT" panose="020B0602020104020603" pitchFamily="34" charset="0"/>
            </a:endParaRPr>
          </a:p>
        </p:txBody>
      </p:sp>
      <p:sp>
        <p:nvSpPr>
          <p:cNvPr id="10" name="Shape 8"/>
          <p:cNvSpPr/>
          <p:nvPr/>
        </p:nvSpPr>
        <p:spPr>
          <a:xfrm>
            <a:off x="3246120" y="1298448"/>
            <a:ext cx="2651760" cy="457200"/>
          </a:xfrm>
          <a:prstGeom prst="rect">
            <a:avLst/>
          </a:prstGeom>
          <a:solidFill>
            <a:srgbClr val="1E2761"/>
          </a:solidFill>
          <a:ln/>
        </p:spPr>
        <p:txBody>
          <a:bodyPr/>
          <a:lstStyle/>
          <a:p>
            <a:endParaRPr lang="es-419" sz="1600">
              <a:latin typeface="Tw Cen MT" panose="020B0602020104020603" pitchFamily="34" charset="0"/>
            </a:endParaRPr>
          </a:p>
        </p:txBody>
      </p:sp>
      <p:sp>
        <p:nvSpPr>
          <p:cNvPr id="11" name="Text 9"/>
          <p:cNvSpPr/>
          <p:nvPr/>
        </p:nvSpPr>
        <p:spPr>
          <a:xfrm>
            <a:off x="3246120" y="1298448"/>
            <a:ext cx="2651760" cy="457200"/>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Restricted Stock / RSU</a:t>
            </a:r>
            <a:endParaRPr lang="en-US" sz="1600" dirty="0">
              <a:latin typeface="Tw Cen MT" panose="020B0602020104020603" pitchFamily="34" charset="0"/>
            </a:endParaRPr>
          </a:p>
        </p:txBody>
      </p:sp>
      <p:sp>
        <p:nvSpPr>
          <p:cNvPr id="12" name="Shape 10"/>
          <p:cNvSpPr/>
          <p:nvPr/>
        </p:nvSpPr>
        <p:spPr>
          <a:xfrm>
            <a:off x="3246120" y="2103120"/>
            <a:ext cx="2651760" cy="4096512"/>
          </a:xfrm>
          <a:prstGeom prst="rect">
            <a:avLst/>
          </a:prstGeom>
          <a:solidFill>
            <a:srgbClr val="F4F4F6"/>
          </a:solidFill>
          <a:ln/>
        </p:spPr>
        <p:txBody>
          <a:bodyPr/>
          <a:lstStyle/>
          <a:p>
            <a:pPr>
              <a:lnSpc>
                <a:spcPct val="115000"/>
              </a:lnSpc>
            </a:pPr>
            <a:r>
              <a:rPr lang="en-US" sz="1600" dirty="0">
                <a:solidFill>
                  <a:srgbClr val="2B2B2B"/>
                </a:solidFill>
                <a:latin typeface="Tw Cen MT" panose="020B0602020104020603" pitchFamily="34" charset="0"/>
                <a:ea typeface="Tw Cen MT" pitchFamily="34" charset="-122"/>
                <a:cs typeface="Tw Cen MT" pitchFamily="34" charset="-120"/>
              </a:rPr>
              <a:t>Acciones (o el derecho a </a:t>
            </a:r>
            <a:r>
              <a:rPr lang="en-US" sz="1600" dirty="0" err="1">
                <a:solidFill>
                  <a:srgbClr val="2B2B2B"/>
                </a:solidFill>
                <a:latin typeface="Tw Cen MT" panose="020B0602020104020603" pitchFamily="34" charset="0"/>
                <a:ea typeface="Tw Cen MT" pitchFamily="34" charset="-122"/>
                <a:cs typeface="Tw Cen MT" pitchFamily="34" charset="-120"/>
              </a:rPr>
              <a:t>recibirlas</a:t>
            </a:r>
            <a:r>
              <a:rPr lang="en-US" sz="1600" dirty="0">
                <a:solidFill>
                  <a:srgbClr val="2B2B2B"/>
                </a:solidFill>
                <a:latin typeface="Tw Cen MT" panose="020B0602020104020603" pitchFamily="34" charset="0"/>
                <a:ea typeface="Tw Cen MT" pitchFamily="34" charset="-122"/>
                <a:cs typeface="Tw Cen MT" pitchFamily="34" charset="-120"/>
              </a:rPr>
              <a:t>) </a:t>
            </a:r>
            <a:r>
              <a:rPr lang="en-US" sz="1600" dirty="0" err="1">
                <a:solidFill>
                  <a:srgbClr val="2B2B2B"/>
                </a:solidFill>
                <a:latin typeface="Tw Cen MT" panose="020B0602020104020603" pitchFamily="34" charset="0"/>
                <a:ea typeface="Tw Cen MT" pitchFamily="34" charset="-122"/>
                <a:cs typeface="Tw Cen MT" pitchFamily="34" charset="-120"/>
              </a:rPr>
              <a:t>otorgadas</a:t>
            </a:r>
            <a:r>
              <a:rPr lang="en-US" sz="1600" dirty="0">
                <a:solidFill>
                  <a:srgbClr val="2B2B2B"/>
                </a:solidFill>
                <a:latin typeface="Tw Cen MT" panose="020B0602020104020603" pitchFamily="34" charset="0"/>
                <a:ea typeface="Tw Cen MT" pitchFamily="34" charset="-122"/>
                <a:cs typeface="Tw Cen MT" pitchFamily="34" charset="-120"/>
              </a:rPr>
              <a:t> sin </a:t>
            </a:r>
            <a:r>
              <a:rPr lang="en-US" sz="1600" dirty="0" err="1">
                <a:solidFill>
                  <a:srgbClr val="2B2B2B"/>
                </a:solidFill>
                <a:latin typeface="Tw Cen MT" panose="020B0602020104020603" pitchFamily="34" charset="0"/>
                <a:ea typeface="Tw Cen MT" pitchFamily="34" charset="-122"/>
                <a:cs typeface="Tw Cen MT" pitchFamily="34" charset="-120"/>
              </a:rPr>
              <a:t>costo</a:t>
            </a:r>
            <a:r>
              <a:rPr lang="en-US" sz="1600" dirty="0">
                <a:solidFill>
                  <a:srgbClr val="2B2B2B"/>
                </a:solidFill>
                <a:latin typeface="Tw Cen MT" panose="020B0602020104020603" pitchFamily="34" charset="0"/>
                <a:ea typeface="Tw Cen MT" pitchFamily="34" charset="-122"/>
                <a:cs typeface="Tw Cen MT" pitchFamily="34" charset="-120"/>
              </a:rPr>
              <a:t> </a:t>
            </a:r>
            <a:r>
              <a:rPr lang="en-US" sz="1600" dirty="0" err="1">
                <a:solidFill>
                  <a:srgbClr val="2B2B2B"/>
                </a:solidFill>
                <a:latin typeface="Tw Cen MT" panose="020B0602020104020603" pitchFamily="34" charset="0"/>
                <a:ea typeface="Tw Cen MT" pitchFamily="34" charset="-122"/>
                <a:cs typeface="Tw Cen MT" pitchFamily="34" charset="-120"/>
              </a:rPr>
              <a:t>en</a:t>
            </a:r>
            <a:r>
              <a:rPr lang="en-US" sz="1600" dirty="0">
                <a:solidFill>
                  <a:srgbClr val="2B2B2B"/>
                </a:solidFill>
                <a:latin typeface="Tw Cen MT" panose="020B0602020104020603" pitchFamily="34" charset="0"/>
                <a:ea typeface="Tw Cen MT" pitchFamily="34" charset="-122"/>
                <a:cs typeface="Tw Cen MT" pitchFamily="34" charset="-120"/>
              </a:rPr>
              <a:t> el </a:t>
            </a:r>
            <a:r>
              <a:rPr lang="en-US" sz="1600" dirty="0" err="1">
                <a:solidFill>
                  <a:srgbClr val="2B2B2B"/>
                </a:solidFill>
                <a:latin typeface="Tw Cen MT" panose="020B0602020104020603" pitchFamily="34" charset="0"/>
                <a:ea typeface="Tw Cen MT" pitchFamily="34" charset="-122"/>
                <a:cs typeface="Tw Cen MT" pitchFamily="34" charset="-120"/>
              </a:rPr>
              <a:t>ejercicio</a:t>
            </a:r>
            <a:r>
              <a:rPr lang="en-US" sz="1600" dirty="0">
                <a:solidFill>
                  <a:srgbClr val="2B2B2B"/>
                </a:solidFill>
                <a:latin typeface="Tw Cen MT" panose="020B0602020104020603" pitchFamily="34" charset="0"/>
                <a:ea typeface="Tw Cen MT" pitchFamily="34" charset="-122"/>
                <a:cs typeface="Tw Cen MT" pitchFamily="34" charset="-120"/>
              </a:rPr>
              <a:t>. Vesting </a:t>
            </a:r>
            <a:r>
              <a:rPr lang="en-US" sz="1600" dirty="0" err="1">
                <a:solidFill>
                  <a:srgbClr val="2B2B2B"/>
                </a:solidFill>
                <a:latin typeface="Tw Cen MT" panose="020B0602020104020603" pitchFamily="34" charset="0"/>
                <a:ea typeface="Tw Cen MT" pitchFamily="34" charset="-122"/>
                <a:cs typeface="Tw Cen MT" pitchFamily="34" charset="-120"/>
              </a:rPr>
              <a:t>condicionado</a:t>
            </a:r>
            <a:r>
              <a:rPr lang="en-US" sz="1600" dirty="0">
                <a:solidFill>
                  <a:srgbClr val="2B2B2B"/>
                </a:solidFill>
                <a:latin typeface="Tw Cen MT" panose="020B0602020104020603" pitchFamily="34" charset="0"/>
                <a:ea typeface="Tw Cen MT" pitchFamily="34" charset="-122"/>
                <a:cs typeface="Tw Cen MT" pitchFamily="34" charset="-120"/>
              </a:rPr>
              <a:t> solo al paso del </a:t>
            </a:r>
            <a:r>
              <a:rPr lang="en-US" sz="1600" dirty="0" err="1">
                <a:solidFill>
                  <a:srgbClr val="2B2B2B"/>
                </a:solidFill>
                <a:latin typeface="Tw Cen MT" panose="020B0602020104020603" pitchFamily="34" charset="0"/>
                <a:ea typeface="Tw Cen MT" pitchFamily="34" charset="-122"/>
                <a:cs typeface="Tw Cen MT" pitchFamily="34" charset="-120"/>
              </a:rPr>
              <a:t>tiempo</a:t>
            </a:r>
            <a:r>
              <a:rPr lang="en-US" sz="1600" dirty="0">
                <a:solidFill>
                  <a:srgbClr val="2B2B2B"/>
                </a:solidFill>
                <a:latin typeface="Tw Cen MT" panose="020B0602020104020603" pitchFamily="34" charset="0"/>
                <a:ea typeface="Tw Cen MT" pitchFamily="34" charset="-122"/>
                <a:cs typeface="Tw Cen MT" pitchFamily="34" charset="-120"/>
              </a:rPr>
              <a:t>. </a:t>
            </a:r>
          </a:p>
          <a:p>
            <a:pPr>
              <a:lnSpc>
                <a:spcPct val="115000"/>
              </a:lnSpc>
            </a:pPr>
            <a:endParaRPr lang="en-US" sz="1600" dirty="0">
              <a:solidFill>
                <a:srgbClr val="2B2B2B"/>
              </a:solidFill>
              <a:latin typeface="Tw Cen MT" panose="020B0602020104020603" pitchFamily="34" charset="0"/>
            </a:endParaRPr>
          </a:p>
          <a:p>
            <a:pPr>
              <a:lnSpc>
                <a:spcPct val="115000"/>
              </a:lnSpc>
            </a:pPr>
            <a:endParaRPr lang="en-US" sz="1600" i="1" dirty="0">
              <a:solidFill>
                <a:srgbClr val="2B2B2B"/>
              </a:solidFill>
              <a:latin typeface="Tw Cen MT" pitchFamily="34" charset="0"/>
            </a:endParaRPr>
          </a:p>
          <a:p>
            <a:pPr>
              <a:lnSpc>
                <a:spcPct val="115000"/>
              </a:lnSpc>
            </a:pPr>
            <a:r>
              <a:rPr lang="en-US" sz="1600" i="1" dirty="0">
                <a:solidFill>
                  <a:srgbClr val="2B2B2B"/>
                </a:solidFill>
                <a:latin typeface="Tw Cen MT" pitchFamily="34" charset="0"/>
              </a:rPr>
              <a:t>Es </a:t>
            </a:r>
            <a:r>
              <a:rPr lang="es-419" sz="1600" i="1" dirty="0">
                <a:latin typeface="Tw Cen MT" panose="020B0602020104020603" pitchFamily="34" charset="0"/>
              </a:rPr>
              <a:t>parte del salario, pagado en acciones en lugar de efectivo, entregado de forma diferida y condicionado a que el empleado se quede el tiempo suficiente</a:t>
            </a:r>
            <a:endParaRPr lang="en-US" sz="1600" i="1" dirty="0">
              <a:latin typeface="Tw Cen MT" panose="020B0602020104020603" pitchFamily="34" charset="0"/>
            </a:endParaRPr>
          </a:p>
        </p:txBody>
      </p:sp>
      <p:sp>
        <p:nvSpPr>
          <p:cNvPr id="14" name="Shape 12"/>
          <p:cNvSpPr/>
          <p:nvPr/>
        </p:nvSpPr>
        <p:spPr>
          <a:xfrm>
            <a:off x="6126480" y="1298448"/>
            <a:ext cx="2651760" cy="457200"/>
          </a:xfrm>
          <a:prstGeom prst="rect">
            <a:avLst/>
          </a:prstGeom>
          <a:solidFill>
            <a:srgbClr val="1B4332"/>
          </a:solidFill>
          <a:ln/>
        </p:spPr>
        <p:txBody>
          <a:bodyPr/>
          <a:lstStyle/>
          <a:p>
            <a:endParaRPr lang="es-419" sz="1600">
              <a:latin typeface="Tw Cen MT" panose="020B0602020104020603" pitchFamily="34" charset="0"/>
            </a:endParaRPr>
          </a:p>
        </p:txBody>
      </p:sp>
      <p:sp>
        <p:nvSpPr>
          <p:cNvPr id="15" name="Text 13"/>
          <p:cNvSpPr/>
          <p:nvPr/>
        </p:nvSpPr>
        <p:spPr>
          <a:xfrm>
            <a:off x="6126480" y="1298448"/>
            <a:ext cx="2651760" cy="457200"/>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Performance Shares / PSU</a:t>
            </a:r>
            <a:endParaRPr lang="en-US" sz="1600" dirty="0">
              <a:latin typeface="Tw Cen MT" panose="020B0602020104020603" pitchFamily="34" charset="0"/>
            </a:endParaRPr>
          </a:p>
        </p:txBody>
      </p:sp>
      <p:sp>
        <p:nvSpPr>
          <p:cNvPr id="16" name="Shape 14"/>
          <p:cNvSpPr/>
          <p:nvPr/>
        </p:nvSpPr>
        <p:spPr>
          <a:xfrm>
            <a:off x="6291072" y="2133600"/>
            <a:ext cx="2651760" cy="4096512"/>
          </a:xfrm>
          <a:prstGeom prst="rect">
            <a:avLst/>
          </a:prstGeom>
          <a:solidFill>
            <a:srgbClr val="F4F4F6"/>
          </a:solidFill>
          <a:ln/>
        </p:spPr>
        <p:txBody>
          <a:bodyPr/>
          <a:lstStyle/>
          <a:p>
            <a:endParaRPr lang="es-419" sz="1600">
              <a:latin typeface="Tw Cen MT" panose="020B0602020104020603" pitchFamily="34" charset="0"/>
            </a:endParaRPr>
          </a:p>
        </p:txBody>
      </p:sp>
      <p:sp>
        <p:nvSpPr>
          <p:cNvPr id="17" name="Text 15"/>
          <p:cNvSpPr/>
          <p:nvPr/>
        </p:nvSpPr>
        <p:spPr>
          <a:xfrm>
            <a:off x="6291072" y="2286000"/>
            <a:ext cx="2322576" cy="3566160"/>
          </a:xfrm>
          <a:prstGeom prst="rect">
            <a:avLst/>
          </a:prstGeom>
          <a:noFill/>
          <a:ln/>
        </p:spPr>
        <p:txBody>
          <a:bodyPr wrap="square" rtlCol="0" anchor="t"/>
          <a:lstStyle/>
          <a:p>
            <a:pPr>
              <a:lnSpc>
                <a:spcPct val="110000"/>
              </a:lnSpc>
              <a:spcAft>
                <a:spcPts val="1000"/>
              </a:spcAft>
              <a:buSzPct val="100000"/>
            </a:pPr>
            <a:r>
              <a:rPr lang="es-419" sz="1600" dirty="0">
                <a:latin typeface="Tw Cen MT" panose="020B0602020104020603" pitchFamily="34" charset="0"/>
              </a:rPr>
              <a:t>El ejecutivo recibe acciones con valor pleno desde el inicio, pero la cantidad final que efectivamente cobra depende de cuánto se cumplan objetivos de desempeño  medidos a lo largo de varios años</a:t>
            </a:r>
            <a:endParaRPr lang="en-US" sz="1600" dirty="0">
              <a:latin typeface="Tw Cen MT" panose="020B0602020104020603" pitchFamily="34" charset="0"/>
            </a:endParaRPr>
          </a:p>
        </p:txBody>
      </p:sp>
      <p:sp>
        <p:nvSpPr>
          <p:cNvPr id="21" name="Rectangle 1">
            <a:extLst>
              <a:ext uri="{FF2B5EF4-FFF2-40B4-BE49-F238E27FC236}">
                <a16:creationId xmlns:a16="http://schemas.microsoft.com/office/drawing/2014/main" id="{F5F240DA-1EDB-0987-075F-C6536195B061}"/>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w Cen MT" panose="020B0602020104020603" pitchFamily="34" charset="0"/>
            </a:endParaRPr>
          </a:p>
        </p:txBody>
      </p:sp>
      <p:sp>
        <p:nvSpPr>
          <p:cNvPr id="23" name="Rectangle 2">
            <a:extLst>
              <a:ext uri="{FF2B5EF4-FFF2-40B4-BE49-F238E27FC236}">
                <a16:creationId xmlns:a16="http://schemas.microsoft.com/office/drawing/2014/main" id="{13D6A624-6AF0-C588-46E0-5786BAE180F3}"/>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w Cen MT" panose="020B0602020104020603" pitchFamily="34" charset="0"/>
            </a:endParaRPr>
          </a:p>
        </p:txBody>
      </p:sp>
      <p:sp>
        <p:nvSpPr>
          <p:cNvPr id="25" name="TextBox 3">
            <a:extLst>
              <a:ext uri="{FF2B5EF4-FFF2-40B4-BE49-F238E27FC236}">
                <a16:creationId xmlns:a16="http://schemas.microsoft.com/office/drawing/2014/main" id="{8A512124-69E8-8DF4-E134-4DAE273D1DF5}"/>
              </a:ext>
            </a:extLst>
          </p:cNvPr>
          <p:cNvSpPr txBox="1"/>
          <p:nvPr/>
        </p:nvSpPr>
        <p:spPr>
          <a:xfrm>
            <a:off x="304800" y="287180"/>
            <a:ext cx="8534400" cy="492443"/>
          </a:xfrm>
          <a:prstGeom prst="rect">
            <a:avLst/>
          </a:prstGeom>
          <a:noFill/>
        </p:spPr>
        <p:txBody>
          <a:bodyPr wrap="square" anchor="ctr">
            <a:spAutoFit/>
          </a:bodyPr>
          <a:lstStyle/>
          <a:p>
            <a:pPr algn="l"/>
            <a:r>
              <a:rPr lang="es-419" sz="2600" b="1" i="0" dirty="0">
                <a:solidFill>
                  <a:srgbClr val="FFFFFF"/>
                </a:solidFill>
                <a:latin typeface="Tw Cen MT" panose="020B0602020104020603" pitchFamily="34" charset="0"/>
              </a:rPr>
              <a:t>Incentivos a largo plazo</a:t>
            </a:r>
            <a:endParaRPr sz="2600" b="1" i="0" dirty="0">
              <a:solidFill>
                <a:srgbClr val="FFFFFF"/>
              </a:solidFill>
              <a:latin typeface="Tw Cen MT" panose="020B0602020104020603"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9">
            <a:extLst>
              <a:ext uri="{FF2B5EF4-FFF2-40B4-BE49-F238E27FC236}">
                <a16:creationId xmlns:a16="http://schemas.microsoft.com/office/drawing/2014/main" id="{A395D073-11D8-12AF-5E88-527FDF3628FC}"/>
              </a:ext>
            </a:extLst>
          </p:cNvPr>
          <p:cNvSpPr/>
          <p:nvPr/>
        </p:nvSpPr>
        <p:spPr>
          <a:xfrm>
            <a:off x="0" y="-160256"/>
            <a:ext cx="9144000" cy="7018255"/>
          </a:xfrm>
          <a:prstGeom prst="rect">
            <a:avLst/>
          </a:prstGeom>
          <a:solidFill>
            <a:srgbClr val="1E2761"/>
          </a:solidFill>
          <a:ln/>
        </p:spPr>
        <p:txBody>
          <a:bodyPr/>
          <a:lstStyle/>
          <a:p>
            <a:endParaRPr lang="es-419" sz="1200">
              <a:latin typeface="Tw Cen MT" panose="020B0602020104020603" pitchFamily="34" charset="0"/>
            </a:endParaRPr>
          </a:p>
        </p:txBody>
      </p:sp>
      <p:sp>
        <p:nvSpPr>
          <p:cNvPr id="5" name="Text 20">
            <a:extLst>
              <a:ext uri="{FF2B5EF4-FFF2-40B4-BE49-F238E27FC236}">
                <a16:creationId xmlns:a16="http://schemas.microsoft.com/office/drawing/2014/main" id="{D85972AA-FE21-1206-3889-1D34AF942CBF}"/>
              </a:ext>
            </a:extLst>
          </p:cNvPr>
          <p:cNvSpPr/>
          <p:nvPr/>
        </p:nvSpPr>
        <p:spPr>
          <a:xfrm>
            <a:off x="548640" y="323103"/>
            <a:ext cx="8046720" cy="320040"/>
          </a:xfrm>
          <a:prstGeom prst="rect">
            <a:avLst/>
          </a:prstGeom>
          <a:noFill/>
          <a:ln/>
        </p:spPr>
        <p:txBody>
          <a:bodyPr wrap="square" rtlCol="0" anchor="ctr"/>
          <a:lstStyle/>
          <a:p>
            <a:pPr marL="0" indent="0">
              <a:buNone/>
            </a:pPr>
            <a:r>
              <a:rPr lang="en-US" b="1" dirty="0">
                <a:solidFill>
                  <a:srgbClr val="D4A017"/>
                </a:solidFill>
                <a:latin typeface="Tw Cen MT" panose="020B0602020104020603" pitchFamily="34" charset="0"/>
                <a:ea typeface="Tw Cen MT" pitchFamily="34" charset="-122"/>
                <a:cs typeface="Tw Cen MT" pitchFamily="34" charset="-120"/>
              </a:rPr>
              <a:t>Compañías / etapas asociadas a </a:t>
            </a:r>
            <a:r>
              <a:rPr lang="en-US" sz="2000" b="1" dirty="0">
                <a:solidFill>
                  <a:srgbClr val="D4A017"/>
                </a:solidFill>
                <a:latin typeface="Tw Cen MT" panose="020B0602020104020603" pitchFamily="34" charset="0"/>
                <a:ea typeface="Tw Cen MT" pitchFamily="34" charset="-122"/>
                <a:cs typeface="Tw Cen MT" pitchFamily="34" charset="-120"/>
              </a:rPr>
              <a:t>cada</a:t>
            </a:r>
            <a:r>
              <a:rPr lang="en-US" b="1" dirty="0">
                <a:solidFill>
                  <a:srgbClr val="D4A017"/>
                </a:solidFill>
                <a:latin typeface="Tw Cen MT" panose="020B0602020104020603" pitchFamily="34" charset="0"/>
                <a:ea typeface="Tw Cen MT" pitchFamily="34" charset="-122"/>
                <a:cs typeface="Tw Cen MT" pitchFamily="34" charset="-120"/>
              </a:rPr>
              <a:t> instrumento</a:t>
            </a:r>
            <a:endParaRPr lang="en-US" dirty="0">
              <a:latin typeface="Tw Cen MT" panose="020B0602020104020603" pitchFamily="34" charset="0"/>
            </a:endParaRPr>
          </a:p>
        </p:txBody>
      </p:sp>
      <p:sp>
        <p:nvSpPr>
          <p:cNvPr id="7" name="Text 21">
            <a:extLst>
              <a:ext uri="{FF2B5EF4-FFF2-40B4-BE49-F238E27FC236}">
                <a16:creationId xmlns:a16="http://schemas.microsoft.com/office/drawing/2014/main" id="{3B13B288-124B-724C-55D7-F4C109F6078E}"/>
              </a:ext>
            </a:extLst>
          </p:cNvPr>
          <p:cNvSpPr/>
          <p:nvPr/>
        </p:nvSpPr>
        <p:spPr>
          <a:xfrm>
            <a:off x="306654" y="1410131"/>
            <a:ext cx="2679192" cy="274320"/>
          </a:xfrm>
          <a:prstGeom prst="rect">
            <a:avLst/>
          </a:prstGeom>
          <a:noFill/>
          <a:ln/>
        </p:spPr>
        <p:txBody>
          <a:bodyPr wrap="square" rtlCol="0" anchor="ctr"/>
          <a:lstStyle/>
          <a:p>
            <a:pPr marL="0" indent="0">
              <a:buNone/>
            </a:pPr>
            <a:r>
              <a:rPr lang="en-US" b="1" dirty="0">
                <a:solidFill>
                  <a:srgbClr val="D4A017"/>
                </a:solidFill>
                <a:latin typeface="Tw Cen MT" panose="020B0602020104020603" pitchFamily="34" charset="0"/>
                <a:ea typeface="Tw Cen MT" pitchFamily="34" charset="-122"/>
                <a:cs typeface="Tw Cen MT" pitchFamily="34" charset="-120"/>
              </a:rPr>
              <a:t>Stock Options</a:t>
            </a:r>
            <a:endParaRPr lang="en-US" dirty="0">
              <a:latin typeface="Tw Cen MT" panose="020B0602020104020603" pitchFamily="34" charset="0"/>
            </a:endParaRPr>
          </a:p>
        </p:txBody>
      </p:sp>
      <p:sp>
        <p:nvSpPr>
          <p:cNvPr id="9" name="Text 22">
            <a:extLst>
              <a:ext uri="{FF2B5EF4-FFF2-40B4-BE49-F238E27FC236}">
                <a16:creationId xmlns:a16="http://schemas.microsoft.com/office/drawing/2014/main" id="{9F1431DB-647D-6EC0-6216-4EFA963F334C}"/>
              </a:ext>
            </a:extLst>
          </p:cNvPr>
          <p:cNvSpPr/>
          <p:nvPr/>
        </p:nvSpPr>
        <p:spPr>
          <a:xfrm>
            <a:off x="306654" y="1684451"/>
            <a:ext cx="2679192" cy="1188720"/>
          </a:xfrm>
          <a:prstGeom prst="rect">
            <a:avLst/>
          </a:prstGeom>
          <a:noFill/>
          <a:ln/>
        </p:spPr>
        <p:txBody>
          <a:bodyPr wrap="square" rtlCol="0" anchor="t"/>
          <a:lstStyle/>
          <a:p>
            <a:pPr marL="0" indent="0">
              <a:lnSpc>
                <a:spcPct val="110000"/>
              </a:lnSpc>
              <a:buNone/>
            </a:pPr>
            <a:r>
              <a:rPr lang="en-US" dirty="0">
                <a:solidFill>
                  <a:srgbClr val="FFFFFF"/>
                </a:solidFill>
                <a:latin typeface="Tw Cen MT" panose="020B0602020104020603" pitchFamily="34" charset="0"/>
                <a:ea typeface="Tw Cen MT" pitchFamily="34" charset="-122"/>
                <a:cs typeface="Tw Cen MT" pitchFamily="34" charset="-120"/>
              </a:rPr>
              <a:t>Predominan en startups en </a:t>
            </a:r>
            <a:r>
              <a:rPr lang="en-US" dirty="0" err="1">
                <a:solidFill>
                  <a:srgbClr val="FFFFFF"/>
                </a:solidFill>
                <a:latin typeface="Tw Cen MT" panose="020B0602020104020603" pitchFamily="34" charset="0"/>
                <a:ea typeface="Tw Cen MT" pitchFamily="34" charset="-122"/>
                <a:cs typeface="Tw Cen MT" pitchFamily="34" charset="-120"/>
              </a:rPr>
              <a:t>etapa</a:t>
            </a:r>
            <a:r>
              <a:rPr lang="en-US" dirty="0">
                <a:solidFill>
                  <a:srgbClr val="FFFFFF"/>
                </a:solidFill>
                <a:latin typeface="Tw Cen MT" panose="020B0602020104020603" pitchFamily="34" charset="0"/>
                <a:ea typeface="Tw Cen MT" pitchFamily="34" charset="-122"/>
                <a:cs typeface="Tw Cen MT" pitchFamily="34" charset="-120"/>
              </a:rPr>
              <a:t> </a:t>
            </a:r>
            <a:r>
              <a:rPr lang="en-US" dirty="0" err="1">
                <a:solidFill>
                  <a:srgbClr val="FFFFFF"/>
                </a:solidFill>
                <a:latin typeface="Tw Cen MT" panose="020B0602020104020603" pitchFamily="34" charset="0"/>
                <a:ea typeface="Tw Cen MT" pitchFamily="34" charset="-122"/>
                <a:cs typeface="Tw Cen MT" pitchFamily="34" charset="-120"/>
              </a:rPr>
              <a:t>temprana</a:t>
            </a:r>
            <a:r>
              <a:rPr lang="en-US" dirty="0">
                <a:solidFill>
                  <a:srgbClr val="FFFFFF"/>
                </a:solidFill>
                <a:latin typeface="Tw Cen MT" panose="020B0602020104020603" pitchFamily="34" charset="0"/>
                <a:ea typeface="Tw Cen MT" pitchFamily="34" charset="-122"/>
                <a:cs typeface="Tw Cen MT" pitchFamily="34" charset="-120"/>
              </a:rPr>
              <a:t>, cuando el </a:t>
            </a:r>
            <a:r>
              <a:rPr lang="en-US" dirty="0" err="1">
                <a:solidFill>
                  <a:srgbClr val="FFFFFF"/>
                </a:solidFill>
                <a:latin typeface="Tw Cen MT" panose="020B0602020104020603" pitchFamily="34" charset="0"/>
                <a:ea typeface="Tw Cen MT" pitchFamily="34" charset="-122"/>
                <a:cs typeface="Tw Cen MT" pitchFamily="34" charset="-120"/>
              </a:rPr>
              <a:t>precio</a:t>
            </a:r>
            <a:r>
              <a:rPr lang="en-US" dirty="0">
                <a:solidFill>
                  <a:srgbClr val="FFFFFF"/>
                </a:solidFill>
                <a:latin typeface="Tw Cen MT" panose="020B0602020104020603" pitchFamily="34" charset="0"/>
                <a:ea typeface="Tw Cen MT" pitchFamily="34" charset="-122"/>
                <a:cs typeface="Tw Cen MT" pitchFamily="34" charset="-120"/>
              </a:rPr>
              <a:t> de </a:t>
            </a:r>
            <a:r>
              <a:rPr lang="en-US" dirty="0" err="1">
                <a:solidFill>
                  <a:srgbClr val="FFFFFF"/>
                </a:solidFill>
                <a:latin typeface="Tw Cen MT" panose="020B0602020104020603" pitchFamily="34" charset="0"/>
                <a:ea typeface="Tw Cen MT" pitchFamily="34" charset="-122"/>
                <a:cs typeface="Tw Cen MT" pitchFamily="34" charset="-120"/>
              </a:rPr>
              <a:t>compra</a:t>
            </a:r>
            <a:r>
              <a:rPr lang="en-US" dirty="0">
                <a:solidFill>
                  <a:srgbClr val="FFFFFF"/>
                </a:solidFill>
                <a:latin typeface="Tw Cen MT" panose="020B0602020104020603" pitchFamily="34" charset="0"/>
                <a:ea typeface="Tw Cen MT" pitchFamily="34" charset="-122"/>
                <a:cs typeface="Tw Cen MT" pitchFamily="34" charset="-120"/>
              </a:rPr>
              <a:t> es bajo y el cash es escaso. </a:t>
            </a:r>
          </a:p>
          <a:p>
            <a:pPr marL="0" indent="0">
              <a:lnSpc>
                <a:spcPct val="110000"/>
              </a:lnSpc>
              <a:buNone/>
            </a:pPr>
            <a:endParaRPr lang="en-US" dirty="0">
              <a:solidFill>
                <a:srgbClr val="FFFFFF"/>
              </a:solidFill>
              <a:latin typeface="Tw Cen MT" panose="020B0602020104020603" pitchFamily="34" charset="0"/>
              <a:ea typeface="Tw Cen MT" pitchFamily="34" charset="-122"/>
              <a:cs typeface="Tw Cen MT" pitchFamily="34" charset="-120"/>
            </a:endParaRPr>
          </a:p>
          <a:p>
            <a:pPr marL="0" indent="0">
              <a:lnSpc>
                <a:spcPct val="110000"/>
              </a:lnSpc>
              <a:buNone/>
            </a:pPr>
            <a:r>
              <a:rPr lang="en-US" dirty="0">
                <a:solidFill>
                  <a:srgbClr val="FFFFFF"/>
                </a:solidFill>
                <a:latin typeface="Tw Cen MT" panose="020B0602020104020603" pitchFamily="34" charset="0"/>
                <a:ea typeface="Tw Cen MT" pitchFamily="34" charset="-122"/>
                <a:cs typeface="Tw Cen MT" pitchFamily="34" charset="-120"/>
              </a:rPr>
              <a:t>Uso decreciente en compañías públicas grandes de EE.UU. </a:t>
            </a:r>
            <a:endParaRPr lang="en-US" dirty="0">
              <a:latin typeface="Tw Cen MT" panose="020B0602020104020603" pitchFamily="34" charset="0"/>
            </a:endParaRPr>
          </a:p>
        </p:txBody>
      </p:sp>
      <p:sp>
        <p:nvSpPr>
          <p:cNvPr id="11" name="Text 23">
            <a:extLst>
              <a:ext uri="{FF2B5EF4-FFF2-40B4-BE49-F238E27FC236}">
                <a16:creationId xmlns:a16="http://schemas.microsoft.com/office/drawing/2014/main" id="{2588CD44-FAE3-69C7-AF06-BB7D287CF767}"/>
              </a:ext>
            </a:extLst>
          </p:cNvPr>
          <p:cNvSpPr/>
          <p:nvPr/>
        </p:nvSpPr>
        <p:spPr>
          <a:xfrm>
            <a:off x="3385731" y="1374898"/>
            <a:ext cx="2679192" cy="274320"/>
          </a:xfrm>
          <a:prstGeom prst="rect">
            <a:avLst/>
          </a:prstGeom>
          <a:noFill/>
          <a:ln/>
        </p:spPr>
        <p:txBody>
          <a:bodyPr wrap="square" rtlCol="0" anchor="ctr"/>
          <a:lstStyle/>
          <a:p>
            <a:pPr marL="0" indent="0">
              <a:buNone/>
            </a:pPr>
            <a:r>
              <a:rPr lang="en-US" b="1" dirty="0">
                <a:solidFill>
                  <a:srgbClr val="D4A017"/>
                </a:solidFill>
                <a:latin typeface="Tw Cen MT" panose="020B0602020104020603" pitchFamily="34" charset="0"/>
                <a:ea typeface="Tw Cen MT" pitchFamily="34" charset="-122"/>
                <a:cs typeface="Tw Cen MT" pitchFamily="34" charset="-120"/>
              </a:rPr>
              <a:t>RSU</a:t>
            </a:r>
            <a:endParaRPr lang="en-US" dirty="0">
              <a:latin typeface="Tw Cen MT" panose="020B0602020104020603" pitchFamily="34" charset="0"/>
            </a:endParaRPr>
          </a:p>
        </p:txBody>
      </p:sp>
      <p:sp>
        <p:nvSpPr>
          <p:cNvPr id="13" name="Text 24">
            <a:extLst>
              <a:ext uri="{FF2B5EF4-FFF2-40B4-BE49-F238E27FC236}">
                <a16:creationId xmlns:a16="http://schemas.microsoft.com/office/drawing/2014/main" id="{B370A13D-2859-C08A-E6C4-5F62723E3D83}"/>
              </a:ext>
            </a:extLst>
          </p:cNvPr>
          <p:cNvSpPr/>
          <p:nvPr/>
        </p:nvSpPr>
        <p:spPr>
          <a:xfrm>
            <a:off x="3172968" y="1723807"/>
            <a:ext cx="2679192" cy="3759295"/>
          </a:xfrm>
          <a:prstGeom prst="rect">
            <a:avLst/>
          </a:prstGeom>
          <a:noFill/>
          <a:ln/>
        </p:spPr>
        <p:txBody>
          <a:bodyPr wrap="square" rtlCol="0" anchor="t"/>
          <a:lstStyle/>
          <a:p>
            <a:pPr>
              <a:lnSpc>
                <a:spcPct val="110000"/>
              </a:lnSpc>
            </a:pPr>
            <a:r>
              <a:rPr lang="en-US" dirty="0">
                <a:solidFill>
                  <a:schemeClr val="bg1"/>
                </a:solidFill>
                <a:latin typeface="Tw Cen MT" panose="020B0602020104020603" pitchFamily="34" charset="0"/>
                <a:ea typeface="Tw Cen MT" pitchFamily="34" charset="-122"/>
                <a:cs typeface="Tw Cen MT" pitchFamily="34" charset="-120"/>
              </a:rPr>
              <a:t>Predominan en grandes tecnológicas públicas y </a:t>
            </a:r>
            <a:r>
              <a:rPr lang="es-419" dirty="0">
                <a:solidFill>
                  <a:schemeClr val="bg1"/>
                </a:solidFill>
                <a:latin typeface="Tw Cen MT" panose="020B0602020104020603" pitchFamily="34" charset="0"/>
              </a:rPr>
              <a:t>que </a:t>
            </a:r>
            <a:r>
              <a:rPr lang="es-419" b="1" dirty="0">
                <a:solidFill>
                  <a:schemeClr val="bg1"/>
                </a:solidFill>
                <a:latin typeface="Tw Cen MT" panose="020B0602020104020603" pitchFamily="34" charset="0"/>
              </a:rPr>
              <a:t>todavía no cotizan en una bolsa de valores pública.</a:t>
            </a:r>
          </a:p>
          <a:p>
            <a:pPr>
              <a:lnSpc>
                <a:spcPct val="110000"/>
              </a:lnSpc>
            </a:pPr>
            <a:endParaRPr lang="es-419" b="1" dirty="0">
              <a:solidFill>
                <a:schemeClr val="bg1"/>
              </a:solidFill>
              <a:latin typeface="Tw Cen MT" panose="020B0602020104020603" pitchFamily="34" charset="0"/>
            </a:endParaRPr>
          </a:p>
          <a:p>
            <a:pPr>
              <a:lnSpc>
                <a:spcPct val="110000"/>
              </a:lnSpc>
            </a:pPr>
            <a:r>
              <a:rPr lang="en-US" dirty="0">
                <a:solidFill>
                  <a:schemeClr val="bg1"/>
                </a:solidFill>
                <a:latin typeface="Tw Cen MT" panose="020B0602020104020603" pitchFamily="34" charset="0"/>
                <a:ea typeface="Tw Cen MT" pitchFamily="34" charset="-122"/>
                <a:cs typeface="Tw Cen MT" pitchFamily="34" charset="-120"/>
              </a:rPr>
              <a:t>Meta/Facebook migró de options a RSU en 2011, antes de </a:t>
            </a:r>
            <a:r>
              <a:rPr lang="en-US" dirty="0" err="1">
                <a:solidFill>
                  <a:schemeClr val="bg1"/>
                </a:solidFill>
                <a:latin typeface="Tw Cen MT" panose="020B0602020104020603" pitchFamily="34" charset="0"/>
                <a:ea typeface="Tw Cen MT" pitchFamily="34" charset="-122"/>
                <a:cs typeface="Tw Cen MT" pitchFamily="34" charset="-120"/>
              </a:rPr>
              <a:t>su</a:t>
            </a:r>
            <a:r>
              <a:rPr lang="en-US" dirty="0">
                <a:solidFill>
                  <a:schemeClr val="bg1"/>
                </a:solidFill>
                <a:latin typeface="Tw Cen MT" panose="020B0602020104020603" pitchFamily="34" charset="0"/>
                <a:ea typeface="Tw Cen MT" pitchFamily="34" charset="-122"/>
                <a:cs typeface="Tw Cen MT" pitchFamily="34" charset="-120"/>
              </a:rPr>
              <a:t> IPO (2012). </a:t>
            </a:r>
            <a:r>
              <a:rPr lang="es-419" dirty="0">
                <a:solidFill>
                  <a:schemeClr val="bg1"/>
                </a:solidFill>
                <a:latin typeface="Tw Cen MT" panose="020B0602020104020603" pitchFamily="34" charset="0"/>
              </a:rPr>
              <a:t>Una vez que la empresa está madura y cerca de salir a bolsa, el valor de la compañía empieza a ser más predecible, y las RSU se vuelven más atractivas para los empleados.</a:t>
            </a:r>
            <a:endParaRPr lang="en-US" dirty="0">
              <a:solidFill>
                <a:schemeClr val="bg1"/>
              </a:solidFill>
              <a:latin typeface="Tw Cen MT" panose="020B0602020104020603" pitchFamily="34" charset="0"/>
            </a:endParaRPr>
          </a:p>
        </p:txBody>
      </p:sp>
      <p:sp>
        <p:nvSpPr>
          <p:cNvPr id="15" name="Text 25">
            <a:extLst>
              <a:ext uri="{FF2B5EF4-FFF2-40B4-BE49-F238E27FC236}">
                <a16:creationId xmlns:a16="http://schemas.microsoft.com/office/drawing/2014/main" id="{C99792AC-B4C6-7FCC-8DC7-E22A051A3DB7}"/>
              </a:ext>
            </a:extLst>
          </p:cNvPr>
          <p:cNvSpPr/>
          <p:nvPr/>
        </p:nvSpPr>
        <p:spPr>
          <a:xfrm>
            <a:off x="6252045" y="1459385"/>
            <a:ext cx="2679192" cy="274320"/>
          </a:xfrm>
          <a:prstGeom prst="rect">
            <a:avLst/>
          </a:prstGeom>
          <a:noFill/>
          <a:ln/>
        </p:spPr>
        <p:txBody>
          <a:bodyPr wrap="square" rtlCol="0" anchor="ctr"/>
          <a:lstStyle/>
          <a:p>
            <a:pPr marL="0" indent="0">
              <a:buNone/>
            </a:pPr>
            <a:r>
              <a:rPr lang="en-US" b="1" dirty="0">
                <a:solidFill>
                  <a:srgbClr val="D4A017"/>
                </a:solidFill>
                <a:latin typeface="Tw Cen MT" panose="020B0602020104020603" pitchFamily="34" charset="0"/>
                <a:ea typeface="Tw Cen MT" pitchFamily="34" charset="-122"/>
                <a:cs typeface="Tw Cen MT" pitchFamily="34" charset="-120"/>
              </a:rPr>
              <a:t>PSU</a:t>
            </a:r>
            <a:endParaRPr lang="en-US" dirty="0">
              <a:latin typeface="Tw Cen MT" panose="020B0602020104020603" pitchFamily="34" charset="0"/>
            </a:endParaRPr>
          </a:p>
        </p:txBody>
      </p:sp>
      <p:sp>
        <p:nvSpPr>
          <p:cNvPr id="17" name="Text 26">
            <a:extLst>
              <a:ext uri="{FF2B5EF4-FFF2-40B4-BE49-F238E27FC236}">
                <a16:creationId xmlns:a16="http://schemas.microsoft.com/office/drawing/2014/main" id="{52C29E88-CED2-0332-6B2A-1C1F0598DF5B}"/>
              </a:ext>
            </a:extLst>
          </p:cNvPr>
          <p:cNvSpPr/>
          <p:nvPr/>
        </p:nvSpPr>
        <p:spPr>
          <a:xfrm>
            <a:off x="5916168" y="1871100"/>
            <a:ext cx="2679192" cy="1188720"/>
          </a:xfrm>
          <a:prstGeom prst="rect">
            <a:avLst/>
          </a:prstGeom>
          <a:noFill/>
          <a:ln/>
        </p:spPr>
        <p:txBody>
          <a:bodyPr wrap="square" rtlCol="0" anchor="t"/>
          <a:lstStyle/>
          <a:p>
            <a:pPr marL="0" indent="0">
              <a:lnSpc>
                <a:spcPct val="110000"/>
              </a:lnSpc>
              <a:buNone/>
            </a:pPr>
            <a:r>
              <a:rPr lang="en-US" dirty="0">
                <a:solidFill>
                  <a:srgbClr val="FFFFFF"/>
                </a:solidFill>
                <a:latin typeface="Tw Cen MT" panose="020B0602020104020603" pitchFamily="34" charset="0"/>
                <a:ea typeface="Tw Cen MT" pitchFamily="34" charset="-122"/>
                <a:cs typeface="Tw Cen MT" pitchFamily="34" charset="-120"/>
              </a:rPr>
              <a:t>Predominan en el variable de largo </a:t>
            </a:r>
            <a:r>
              <a:rPr lang="en-US" dirty="0" err="1">
                <a:solidFill>
                  <a:srgbClr val="FFFFFF"/>
                </a:solidFill>
                <a:latin typeface="Tw Cen MT" panose="020B0602020104020603" pitchFamily="34" charset="0"/>
                <a:ea typeface="Tw Cen MT" pitchFamily="34" charset="-122"/>
                <a:cs typeface="Tw Cen MT" pitchFamily="34" charset="-120"/>
              </a:rPr>
              <a:t>plazo</a:t>
            </a:r>
            <a:r>
              <a:rPr lang="en-US" dirty="0">
                <a:solidFill>
                  <a:srgbClr val="FFFFFF"/>
                </a:solidFill>
                <a:latin typeface="Tw Cen MT" panose="020B0602020104020603" pitchFamily="34" charset="0"/>
                <a:ea typeface="Tw Cen MT" pitchFamily="34" charset="-122"/>
                <a:cs typeface="Tw Cen MT" pitchFamily="34" charset="-120"/>
              </a:rPr>
              <a:t> de CEOs de grandes compañías cotizantes de EE.UU. y Europa (S&amp;P 500 / Global Top 250; son el componente de mayor peso relativo del mix típico.</a:t>
            </a:r>
            <a:endParaRPr lang="en-US" dirty="0">
              <a:latin typeface="Tw Cen MT" panose="020B0602020104020603" pitchFamily="34" charset="0"/>
            </a:endParaRPr>
          </a:p>
        </p:txBody>
      </p:sp>
    </p:spTree>
    <p:extLst>
      <p:ext uri="{BB962C8B-B14F-4D97-AF65-F5344CB8AC3E}">
        <p14:creationId xmlns:p14="http://schemas.microsoft.com/office/powerpoint/2010/main" val="18872411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80B5D-48E7-8811-6D8A-4610998FE4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283E8C3-B7F9-4434-1B29-F894A846F669}"/>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ACE67CB-655F-E451-9106-7A09C5326146}"/>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E85551F-E1F2-159C-C3D8-A4C56893F6F9}"/>
              </a:ext>
            </a:extLst>
          </p:cNvPr>
          <p:cNvSpPr txBox="1"/>
          <p:nvPr/>
        </p:nvSpPr>
        <p:spPr>
          <a:xfrm>
            <a:off x="304800" y="117902"/>
            <a:ext cx="8534400" cy="830997"/>
          </a:xfrm>
          <a:prstGeom prst="rect">
            <a:avLst/>
          </a:prstGeom>
          <a:noFill/>
        </p:spPr>
        <p:txBody>
          <a:bodyPr wrap="square" anchor="ctr">
            <a:spAutoFit/>
          </a:bodyPr>
          <a:lstStyle/>
          <a:p>
            <a:r>
              <a:rPr lang="es-AR" sz="2400" dirty="0">
                <a:solidFill>
                  <a:schemeClr val="bg2"/>
                </a:solidFill>
              </a:rPr>
              <a:t>Composición de la compensación  a largo plazo – CEO– FW Cook 2024</a:t>
            </a:r>
          </a:p>
        </p:txBody>
      </p:sp>
      <p:pic>
        <p:nvPicPr>
          <p:cNvPr id="6" name="Imagen 5" descr="The diagram illustrates various long-term incentives available to the Chief Executive Officer and Chief Financial Officer, including stock options, performance awards, and restricted stock, with percentages and regions specified.&#10;&#10;El contenido generado por IA puede ser incorrecto.">
            <a:extLst>
              <a:ext uri="{FF2B5EF4-FFF2-40B4-BE49-F238E27FC236}">
                <a16:creationId xmlns:a16="http://schemas.microsoft.com/office/drawing/2014/main" id="{FC31544A-5AE0-D7A1-4A27-16B844DE8798}"/>
              </a:ext>
            </a:extLst>
          </p:cNvPr>
          <p:cNvPicPr>
            <a:picLocks noChangeAspect="1"/>
          </p:cNvPicPr>
          <p:nvPr/>
        </p:nvPicPr>
        <p:blipFill>
          <a:blip r:embed="rId2"/>
          <a:stretch>
            <a:fillRect/>
          </a:stretch>
        </p:blipFill>
        <p:spPr>
          <a:xfrm>
            <a:off x="590764" y="1445567"/>
            <a:ext cx="7962472" cy="3048134"/>
          </a:xfrm>
          <a:prstGeom prst="rect">
            <a:avLst/>
          </a:prstGeom>
        </p:spPr>
      </p:pic>
      <p:sp>
        <p:nvSpPr>
          <p:cNvPr id="9" name="CuadroTexto 8">
            <a:extLst>
              <a:ext uri="{FF2B5EF4-FFF2-40B4-BE49-F238E27FC236}">
                <a16:creationId xmlns:a16="http://schemas.microsoft.com/office/drawing/2014/main" id="{F0D8BA90-6D13-DCC7-3041-2AEE512A2D7F}"/>
              </a:ext>
            </a:extLst>
          </p:cNvPr>
          <p:cNvSpPr txBox="1"/>
          <p:nvPr/>
        </p:nvSpPr>
        <p:spPr>
          <a:xfrm>
            <a:off x="376720" y="5103907"/>
            <a:ext cx="8589195" cy="1200329"/>
          </a:xfrm>
          <a:prstGeom prst="rect">
            <a:avLst/>
          </a:prstGeom>
          <a:noFill/>
        </p:spPr>
        <p:txBody>
          <a:bodyPr wrap="square">
            <a:spAutoFit/>
          </a:bodyPr>
          <a:lstStyle/>
          <a:p>
            <a:r>
              <a:rPr lang="es-AR" dirty="0">
                <a:latin typeface="Tw Cen MT" panose="020B0602020104020603" pitchFamily="34" charset="0"/>
              </a:rPr>
              <a:t>• Acciones restringidas: concesión de acciones gratuitas que se adquieren únicamente en función del tiempo y no están sujetas a condiciones de rendimiento. (RSU)</a:t>
            </a:r>
          </a:p>
          <a:p>
            <a:r>
              <a:rPr lang="es-AR" dirty="0">
                <a:latin typeface="Tw Cen MT" panose="020B0602020104020603" pitchFamily="34" charset="0"/>
              </a:rPr>
              <a:t>• Acciones de rendimiento: concesión de acciones gratuitas que se adquieren en función del tiempo y están sujetas a condiciones de </a:t>
            </a:r>
            <a:r>
              <a:rPr lang="es-AR">
                <a:latin typeface="Tw Cen MT" panose="020B0602020104020603" pitchFamily="34" charset="0"/>
              </a:rPr>
              <a:t>rendimiento (PSU)</a:t>
            </a:r>
            <a:endParaRPr lang="en-US" dirty="0">
              <a:latin typeface="Tw Cen MT" panose="020B0602020104020603" pitchFamily="34" charset="0"/>
            </a:endParaRPr>
          </a:p>
        </p:txBody>
      </p:sp>
    </p:spTree>
    <p:extLst>
      <p:ext uri="{BB962C8B-B14F-4D97-AF65-F5344CB8AC3E}">
        <p14:creationId xmlns:p14="http://schemas.microsoft.com/office/powerpoint/2010/main" val="3891898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287179"/>
            <a:ext cx="8534400" cy="492443"/>
          </a:xfrm>
          <a:prstGeom prst="rect">
            <a:avLst/>
          </a:prstGeom>
          <a:noFill/>
        </p:spPr>
        <p:txBody>
          <a:bodyPr wrap="square" anchor="ctr">
            <a:spAutoFit/>
          </a:bodyPr>
          <a:lstStyle/>
          <a:p>
            <a:pPr algn="l"/>
            <a:r>
              <a:rPr lang="es-419" sz="2600" b="1" i="0" dirty="0">
                <a:solidFill>
                  <a:srgbClr val="FFFFFF"/>
                </a:solidFill>
                <a:latin typeface="Tw Cen MT"/>
              </a:rPr>
              <a:t>Incentivos a largo plazo: </a:t>
            </a:r>
            <a:r>
              <a:rPr sz="2600" b="1" i="0" dirty="0">
                <a:solidFill>
                  <a:srgbClr val="FFFFFF"/>
                </a:solidFill>
                <a:latin typeface="Tw Cen MT"/>
              </a:rPr>
              <a:t>Planes de Stock Options</a:t>
            </a:r>
          </a:p>
        </p:txBody>
      </p:sp>
      <p:sp>
        <p:nvSpPr>
          <p:cNvPr id="5" name="TextBox 4"/>
          <p:cNvSpPr txBox="1"/>
          <p:nvPr/>
        </p:nvSpPr>
        <p:spPr>
          <a:xfrm>
            <a:off x="304800" y="1220000"/>
            <a:ext cx="8534400" cy="5068054"/>
          </a:xfrm>
          <a:prstGeom prst="rect">
            <a:avLst/>
          </a:prstGeom>
          <a:noFill/>
        </p:spPr>
        <p:txBody>
          <a:bodyPr wrap="square">
            <a:spAutoFit/>
          </a:bodyPr>
          <a:lstStyle/>
          <a:p>
            <a:pPr algn="l">
              <a:spcBef>
                <a:spcPts val="400"/>
              </a:spcBef>
            </a:pPr>
            <a:r>
              <a:rPr sz="2000" b="0" dirty="0">
                <a:solidFill>
                  <a:srgbClr val="222222"/>
                </a:solidFill>
                <a:latin typeface="Tw Cen MT"/>
              </a:rPr>
              <a:t>Se </a:t>
            </a:r>
            <a:r>
              <a:rPr sz="2000" b="0" dirty="0" err="1">
                <a:solidFill>
                  <a:srgbClr val="222222"/>
                </a:solidFill>
                <a:latin typeface="Tw Cen MT"/>
              </a:rPr>
              <a:t>utilizan</a:t>
            </a:r>
            <a:r>
              <a:rPr sz="2000" b="0" dirty="0">
                <a:solidFill>
                  <a:srgbClr val="222222"/>
                </a:solidFill>
                <a:latin typeface="Tw Cen MT"/>
              </a:rPr>
              <a:t> para: </a:t>
            </a:r>
            <a:r>
              <a:rPr sz="2000" b="0" dirty="0" err="1">
                <a:solidFill>
                  <a:srgbClr val="222222"/>
                </a:solidFill>
                <a:latin typeface="Tw Cen MT"/>
              </a:rPr>
              <a:t>incentivar</a:t>
            </a:r>
            <a:r>
              <a:rPr sz="2000" b="0" dirty="0">
                <a:solidFill>
                  <a:srgbClr val="222222"/>
                </a:solidFill>
                <a:latin typeface="Tw Cen MT"/>
              </a:rPr>
              <a:t> </a:t>
            </a:r>
            <a:r>
              <a:rPr sz="2000" b="0" dirty="0" err="1">
                <a:solidFill>
                  <a:srgbClr val="222222"/>
                </a:solidFill>
                <a:latin typeface="Tw Cen MT"/>
              </a:rPr>
              <a:t>alineando</a:t>
            </a:r>
            <a:r>
              <a:rPr sz="2000" b="0" dirty="0">
                <a:solidFill>
                  <a:srgbClr val="222222"/>
                </a:solidFill>
                <a:latin typeface="Tw Cen MT"/>
              </a:rPr>
              <a:t> </a:t>
            </a:r>
            <a:r>
              <a:rPr sz="2000" b="0" dirty="0" err="1">
                <a:solidFill>
                  <a:srgbClr val="222222"/>
                </a:solidFill>
                <a:latin typeface="Tw Cen MT"/>
              </a:rPr>
              <a:t>intereses</a:t>
            </a:r>
            <a:r>
              <a:rPr sz="2000" b="0" dirty="0">
                <a:solidFill>
                  <a:srgbClr val="222222"/>
                </a:solidFill>
                <a:latin typeface="Tw Cen MT"/>
              </a:rPr>
              <a:t> del CEO y </a:t>
            </a:r>
            <a:r>
              <a:rPr sz="2000" b="0" dirty="0" err="1">
                <a:solidFill>
                  <a:srgbClr val="222222"/>
                </a:solidFill>
                <a:latin typeface="Tw Cen MT"/>
              </a:rPr>
              <a:t>los</a:t>
            </a:r>
            <a:r>
              <a:rPr sz="2000" b="0" dirty="0">
                <a:solidFill>
                  <a:srgbClr val="222222"/>
                </a:solidFill>
                <a:latin typeface="Tw Cen MT"/>
              </a:rPr>
              <a:t> </a:t>
            </a:r>
            <a:r>
              <a:rPr sz="2000" b="0" dirty="0" err="1">
                <a:solidFill>
                  <a:srgbClr val="222222"/>
                </a:solidFill>
                <a:latin typeface="Tw Cen MT"/>
              </a:rPr>
              <a:t>accionistas</a:t>
            </a:r>
            <a:r>
              <a:rPr sz="2000" b="0" dirty="0">
                <a:solidFill>
                  <a:srgbClr val="222222"/>
                </a:solidFill>
                <a:latin typeface="Tw Cen MT"/>
              </a:rPr>
              <a:t>, y </a:t>
            </a:r>
            <a:r>
              <a:rPr sz="2000" b="0" dirty="0" err="1">
                <a:solidFill>
                  <a:srgbClr val="222222"/>
                </a:solidFill>
                <a:latin typeface="Tw Cen MT"/>
              </a:rPr>
              <a:t>retener</a:t>
            </a:r>
            <a:r>
              <a:rPr sz="2000" b="0" dirty="0">
                <a:solidFill>
                  <a:srgbClr val="222222"/>
                </a:solidFill>
                <a:latin typeface="Tw Cen MT"/>
              </a:rPr>
              <a:t> dados </a:t>
            </a:r>
            <a:r>
              <a:rPr sz="2000" b="0" dirty="0" err="1">
                <a:solidFill>
                  <a:srgbClr val="222222"/>
                </a:solidFill>
                <a:latin typeface="Tw Cen MT"/>
              </a:rPr>
              <a:t>los</a:t>
            </a:r>
            <a:r>
              <a:rPr sz="2000" b="0" dirty="0">
                <a:solidFill>
                  <a:srgbClr val="222222"/>
                </a:solidFill>
                <a:latin typeface="Tw Cen MT"/>
              </a:rPr>
              <a:t> </a:t>
            </a:r>
            <a:r>
              <a:rPr sz="2000" b="0" dirty="0" err="1">
                <a:solidFill>
                  <a:srgbClr val="222222"/>
                </a:solidFill>
                <a:latin typeface="Tw Cen MT"/>
              </a:rPr>
              <a:t>diferentes</a:t>
            </a:r>
            <a:r>
              <a:rPr sz="2000" b="0" dirty="0">
                <a:solidFill>
                  <a:srgbClr val="222222"/>
                </a:solidFill>
                <a:latin typeface="Tw Cen MT"/>
              </a:rPr>
              <a:t> </a:t>
            </a:r>
            <a:r>
              <a:rPr sz="2000" b="0" dirty="0" err="1">
                <a:solidFill>
                  <a:srgbClr val="222222"/>
                </a:solidFill>
                <a:latin typeface="Tw Cen MT"/>
              </a:rPr>
              <a:t>plazos</a:t>
            </a:r>
            <a:r>
              <a:rPr sz="2000" b="0" dirty="0">
                <a:solidFill>
                  <a:srgbClr val="222222"/>
                </a:solidFill>
                <a:latin typeface="Tw Cen MT"/>
              </a:rPr>
              <a:t> y </a:t>
            </a:r>
            <a:r>
              <a:rPr sz="2000" b="0" dirty="0" err="1">
                <a:solidFill>
                  <a:srgbClr val="222222"/>
                </a:solidFill>
                <a:latin typeface="Tw Cen MT"/>
              </a:rPr>
              <a:t>vencimientos</a:t>
            </a:r>
            <a:r>
              <a:rPr sz="2000" b="0" dirty="0">
                <a:solidFill>
                  <a:srgbClr val="222222"/>
                </a:solidFill>
                <a:latin typeface="Tw Cen MT"/>
              </a:rPr>
              <a:t>.</a:t>
            </a:r>
            <a:endParaRPr lang="es-419" sz="2000" b="0" dirty="0">
              <a:solidFill>
                <a:srgbClr val="222222"/>
              </a:solidFill>
              <a:latin typeface="Tw Cen MT"/>
            </a:endParaRPr>
          </a:p>
          <a:p>
            <a:pPr algn="l">
              <a:spcBef>
                <a:spcPts val="400"/>
              </a:spcBef>
            </a:pPr>
            <a:endParaRPr sz="2000" b="0" dirty="0">
              <a:solidFill>
                <a:srgbClr val="222222"/>
              </a:solidFill>
              <a:latin typeface="Tw Cen MT"/>
            </a:endParaRPr>
          </a:p>
          <a:p>
            <a:pPr algn="l">
              <a:spcBef>
                <a:spcPts val="400"/>
              </a:spcBef>
              <a:buNone/>
            </a:pPr>
            <a:r>
              <a:rPr sz="2000" b="1" dirty="0">
                <a:solidFill>
                  <a:srgbClr val="8B0000"/>
                </a:solidFill>
                <a:latin typeface="Tw Cen MT"/>
              </a:rPr>
              <a:t>CARACTERÍSTICAS TÍPICAS</a:t>
            </a:r>
          </a:p>
          <a:p>
            <a:pPr lvl="1" algn="l">
              <a:spcBef>
                <a:spcPts val="150"/>
              </a:spcBef>
              <a:buFont typeface="Tw Cen MT"/>
              <a:buChar char="▸"/>
            </a:pPr>
            <a:r>
              <a:rPr sz="2000" b="0" dirty="0" err="1">
                <a:solidFill>
                  <a:srgbClr val="222222"/>
                </a:solidFill>
                <a:latin typeface="Tw Cen MT"/>
              </a:rPr>
              <a:t>Expiran</a:t>
            </a:r>
            <a:r>
              <a:rPr sz="2000" b="0" dirty="0">
                <a:solidFill>
                  <a:srgbClr val="222222"/>
                </a:solidFill>
                <a:latin typeface="Tw Cen MT"/>
              </a:rPr>
              <a:t> </a:t>
            </a:r>
            <a:r>
              <a:rPr sz="2000" b="0" dirty="0" err="1">
                <a:solidFill>
                  <a:srgbClr val="222222"/>
                </a:solidFill>
                <a:latin typeface="Tw Cen MT"/>
              </a:rPr>
              <a:t>en</a:t>
            </a:r>
            <a:r>
              <a:rPr sz="2000" b="0" dirty="0">
                <a:solidFill>
                  <a:srgbClr val="222222"/>
                </a:solidFill>
                <a:latin typeface="Tw Cen MT"/>
              </a:rPr>
              <a:t> 5 a 10 </a:t>
            </a:r>
            <a:r>
              <a:rPr sz="2000" b="0" dirty="0" err="1">
                <a:solidFill>
                  <a:srgbClr val="222222"/>
                </a:solidFill>
                <a:latin typeface="Tw Cen MT"/>
              </a:rPr>
              <a:t>años</a:t>
            </a:r>
            <a:r>
              <a:rPr sz="2000" b="0" dirty="0">
                <a:solidFill>
                  <a:srgbClr val="222222"/>
                </a:solidFill>
                <a:latin typeface="Tw Cen MT"/>
              </a:rPr>
              <a:t>.</a:t>
            </a:r>
          </a:p>
          <a:p>
            <a:pPr lvl="1" algn="l">
              <a:spcBef>
                <a:spcPts val="150"/>
              </a:spcBef>
              <a:buFont typeface="Tw Cen MT"/>
              <a:buChar char="▸"/>
            </a:pPr>
            <a:r>
              <a:rPr sz="2000" b="0" dirty="0" err="1">
                <a:solidFill>
                  <a:srgbClr val="222222"/>
                </a:solidFill>
                <a:latin typeface="Tw Cen MT"/>
              </a:rPr>
              <a:t>Opciones</a:t>
            </a:r>
            <a:r>
              <a:rPr sz="2000" b="0" dirty="0">
                <a:solidFill>
                  <a:srgbClr val="222222"/>
                </a:solidFill>
                <a:latin typeface="Tw Cen MT"/>
              </a:rPr>
              <a:t> </a:t>
            </a:r>
            <a:r>
              <a:rPr sz="2000" b="0" dirty="0" err="1">
                <a:solidFill>
                  <a:srgbClr val="222222"/>
                </a:solidFill>
                <a:latin typeface="Tw Cen MT"/>
              </a:rPr>
              <a:t>europeas</a:t>
            </a:r>
            <a:r>
              <a:rPr sz="2000" b="0" dirty="0">
                <a:solidFill>
                  <a:srgbClr val="222222"/>
                </a:solidFill>
                <a:latin typeface="Tw Cen MT"/>
              </a:rPr>
              <a:t> al principio y </a:t>
            </a:r>
            <a:r>
              <a:rPr sz="2000" b="0" dirty="0" err="1">
                <a:solidFill>
                  <a:srgbClr val="222222"/>
                </a:solidFill>
                <a:latin typeface="Tw Cen MT"/>
              </a:rPr>
              <a:t>americanas</a:t>
            </a:r>
            <a:r>
              <a:rPr sz="2000" b="0" dirty="0">
                <a:solidFill>
                  <a:srgbClr val="222222"/>
                </a:solidFill>
                <a:latin typeface="Tw Cen MT"/>
              </a:rPr>
              <a:t> al final (no </a:t>
            </a:r>
            <a:r>
              <a:rPr sz="2000" b="0" dirty="0" err="1">
                <a:solidFill>
                  <a:srgbClr val="222222"/>
                </a:solidFill>
                <a:latin typeface="Tw Cen MT"/>
              </a:rPr>
              <a:t>pueden</a:t>
            </a:r>
            <a:r>
              <a:rPr sz="2000" b="0" dirty="0">
                <a:solidFill>
                  <a:srgbClr val="222222"/>
                </a:solidFill>
                <a:latin typeface="Tw Cen MT"/>
              </a:rPr>
              <a:t> </a:t>
            </a:r>
            <a:r>
              <a:rPr sz="2000" b="0" dirty="0" err="1">
                <a:solidFill>
                  <a:srgbClr val="222222"/>
                </a:solidFill>
                <a:latin typeface="Tw Cen MT"/>
              </a:rPr>
              <a:t>ejercitarse</a:t>
            </a:r>
            <a:r>
              <a:rPr sz="2000" b="0" dirty="0">
                <a:solidFill>
                  <a:srgbClr val="222222"/>
                </a:solidFill>
                <a:latin typeface="Tw Cen MT"/>
              </a:rPr>
              <a:t> antes de </a:t>
            </a:r>
            <a:r>
              <a:rPr sz="2000" b="0" dirty="0" err="1">
                <a:solidFill>
                  <a:srgbClr val="222222"/>
                </a:solidFill>
                <a:latin typeface="Tw Cen MT"/>
              </a:rPr>
              <a:t>que</a:t>
            </a:r>
            <a:r>
              <a:rPr sz="2000" b="0" dirty="0">
                <a:solidFill>
                  <a:srgbClr val="222222"/>
                </a:solidFill>
                <a:latin typeface="Tw Cen MT"/>
              </a:rPr>
              <a:t> </a:t>
            </a:r>
            <a:r>
              <a:rPr sz="2000" b="0" dirty="0" err="1">
                <a:solidFill>
                  <a:srgbClr val="222222"/>
                </a:solidFill>
                <a:latin typeface="Tw Cen MT"/>
              </a:rPr>
              <a:t>expiren</a:t>
            </a:r>
            <a:r>
              <a:rPr sz="2000" b="0" dirty="0">
                <a:solidFill>
                  <a:srgbClr val="222222"/>
                </a:solidFill>
                <a:latin typeface="Tw Cen MT"/>
              </a:rPr>
              <a:t>).</a:t>
            </a:r>
          </a:p>
          <a:p>
            <a:pPr lvl="1" algn="l">
              <a:spcBef>
                <a:spcPts val="150"/>
              </a:spcBef>
              <a:buFont typeface="Tw Cen MT"/>
              <a:buChar char="▸"/>
            </a:pPr>
            <a:r>
              <a:rPr sz="2000" b="0" dirty="0" err="1">
                <a:solidFill>
                  <a:srgbClr val="222222"/>
                </a:solidFill>
                <a:latin typeface="Tw Cen MT"/>
              </a:rPr>
              <a:t>Restringidas</a:t>
            </a:r>
            <a:r>
              <a:rPr sz="2000" b="0" dirty="0">
                <a:solidFill>
                  <a:srgbClr val="222222"/>
                </a:solidFill>
                <a:latin typeface="Tw Cen MT"/>
              </a:rPr>
              <a:t>: no </a:t>
            </a:r>
            <a:r>
              <a:rPr sz="2000" b="0" dirty="0" err="1">
                <a:solidFill>
                  <a:srgbClr val="222222"/>
                </a:solidFill>
                <a:latin typeface="Tw Cen MT"/>
              </a:rPr>
              <a:t>pueden</a:t>
            </a:r>
            <a:r>
              <a:rPr sz="2000" b="0" dirty="0">
                <a:solidFill>
                  <a:srgbClr val="222222"/>
                </a:solidFill>
                <a:latin typeface="Tw Cen MT"/>
              </a:rPr>
              <a:t> </a:t>
            </a:r>
            <a:r>
              <a:rPr sz="2000" b="0" dirty="0" err="1">
                <a:solidFill>
                  <a:srgbClr val="222222"/>
                </a:solidFill>
                <a:latin typeface="Tw Cen MT"/>
              </a:rPr>
              <a:t>venderse</a:t>
            </a:r>
            <a:r>
              <a:rPr sz="2000" b="0" dirty="0">
                <a:solidFill>
                  <a:srgbClr val="222222"/>
                </a:solidFill>
                <a:latin typeface="Tw Cen MT"/>
              </a:rPr>
              <a:t> </a:t>
            </a:r>
            <a:r>
              <a:rPr sz="2000" b="0" dirty="0" err="1">
                <a:solidFill>
                  <a:srgbClr val="222222"/>
                </a:solidFill>
                <a:latin typeface="Tw Cen MT"/>
              </a:rPr>
              <a:t>por</a:t>
            </a:r>
            <a:r>
              <a:rPr sz="2000" b="0" dirty="0">
                <a:solidFill>
                  <a:srgbClr val="222222"/>
                </a:solidFill>
                <a:latin typeface="Tw Cen MT"/>
              </a:rPr>
              <a:t> un </a:t>
            </a:r>
            <a:r>
              <a:rPr sz="2000" b="0" dirty="0" err="1">
                <a:solidFill>
                  <a:srgbClr val="222222"/>
                </a:solidFill>
                <a:latin typeface="Tw Cen MT"/>
              </a:rPr>
              <a:t>período</a:t>
            </a:r>
            <a:r>
              <a:rPr sz="2000" b="0" dirty="0">
                <a:solidFill>
                  <a:srgbClr val="222222"/>
                </a:solidFill>
                <a:latin typeface="Tw Cen MT"/>
              </a:rPr>
              <a:t> </a:t>
            </a:r>
            <a:r>
              <a:rPr sz="2000" b="0" dirty="0" err="1">
                <a:solidFill>
                  <a:srgbClr val="222222"/>
                </a:solidFill>
                <a:latin typeface="Tw Cen MT"/>
              </a:rPr>
              <a:t>determinado</a:t>
            </a:r>
            <a:r>
              <a:rPr sz="2000" b="0" dirty="0">
                <a:solidFill>
                  <a:srgbClr val="222222"/>
                </a:solidFill>
                <a:latin typeface="Tw Cen MT"/>
              </a:rPr>
              <a:t> (</a:t>
            </a:r>
            <a:r>
              <a:rPr sz="2000" b="0" dirty="0" err="1">
                <a:solidFill>
                  <a:srgbClr val="222222"/>
                </a:solidFill>
                <a:latin typeface="Tw Cen MT"/>
              </a:rPr>
              <a:t>período</a:t>
            </a:r>
            <a:r>
              <a:rPr sz="2000" b="0" dirty="0">
                <a:solidFill>
                  <a:srgbClr val="222222"/>
                </a:solidFill>
                <a:latin typeface="Tw Cen MT"/>
              </a:rPr>
              <a:t> de vesting).</a:t>
            </a:r>
          </a:p>
          <a:p>
            <a:pPr algn="l">
              <a:spcBef>
                <a:spcPts val="400"/>
              </a:spcBef>
              <a:buNone/>
            </a:pPr>
            <a:r>
              <a:rPr sz="2000" b="1" dirty="0">
                <a:solidFill>
                  <a:srgbClr val="8B0000"/>
                </a:solidFill>
                <a:latin typeface="Tw Cen MT"/>
              </a:rPr>
              <a:t>LIMITACIONES</a:t>
            </a:r>
            <a:endParaRPr lang="es-419" sz="2000" b="1" dirty="0">
              <a:solidFill>
                <a:srgbClr val="8B0000"/>
              </a:solidFill>
              <a:latin typeface="Tw Cen MT"/>
            </a:endParaRPr>
          </a:p>
          <a:p>
            <a:pPr algn="l">
              <a:spcBef>
                <a:spcPts val="400"/>
              </a:spcBef>
              <a:buNone/>
            </a:pPr>
            <a:endParaRPr sz="2000" b="1" dirty="0">
              <a:solidFill>
                <a:srgbClr val="8B0000"/>
              </a:solidFill>
              <a:latin typeface="Tw Cen MT"/>
            </a:endParaRPr>
          </a:p>
          <a:p>
            <a:pPr lvl="1" algn="l">
              <a:spcBef>
                <a:spcPts val="150"/>
              </a:spcBef>
              <a:buFont typeface="Tw Cen MT"/>
              <a:buChar char="▸"/>
            </a:pPr>
            <a:r>
              <a:rPr sz="2000" b="0" dirty="0">
                <a:solidFill>
                  <a:srgbClr val="222222"/>
                </a:solidFill>
                <a:latin typeface="Tw Cen MT"/>
              </a:rPr>
              <a:t>En mercado </a:t>
            </a:r>
            <a:r>
              <a:rPr sz="2000" b="0" dirty="0" err="1">
                <a:solidFill>
                  <a:srgbClr val="222222"/>
                </a:solidFill>
                <a:latin typeface="Tw Cen MT"/>
              </a:rPr>
              <a:t>alcista</a:t>
            </a:r>
            <a:r>
              <a:rPr sz="2000" b="0" dirty="0">
                <a:solidFill>
                  <a:srgbClr val="222222"/>
                </a:solidFill>
                <a:latin typeface="Tw Cen MT"/>
              </a:rPr>
              <a:t>, </a:t>
            </a:r>
            <a:r>
              <a:rPr sz="2000" b="0" dirty="0" err="1">
                <a:solidFill>
                  <a:srgbClr val="222222"/>
                </a:solidFill>
                <a:latin typeface="Tw Cen MT"/>
              </a:rPr>
              <a:t>recompensan</a:t>
            </a:r>
            <a:r>
              <a:rPr sz="2000" b="0" dirty="0">
                <a:solidFill>
                  <a:srgbClr val="222222"/>
                </a:solidFill>
                <a:latin typeface="Tw Cen MT"/>
              </a:rPr>
              <a:t> </a:t>
            </a:r>
            <a:r>
              <a:rPr sz="2000" b="0" dirty="0" err="1">
                <a:solidFill>
                  <a:srgbClr val="222222"/>
                </a:solidFill>
                <a:latin typeface="Tw Cen MT"/>
              </a:rPr>
              <a:t>incluso</a:t>
            </a:r>
            <a:r>
              <a:rPr sz="2000" b="0" dirty="0">
                <a:solidFill>
                  <a:srgbClr val="222222"/>
                </a:solidFill>
                <a:latin typeface="Tw Cen MT"/>
              </a:rPr>
              <a:t> </a:t>
            </a:r>
            <a:r>
              <a:rPr sz="2000" b="0" dirty="0" err="1">
                <a:solidFill>
                  <a:srgbClr val="222222"/>
                </a:solidFill>
                <a:latin typeface="Tw Cen MT"/>
              </a:rPr>
              <a:t>el</a:t>
            </a:r>
            <a:r>
              <a:rPr sz="2000" b="0" dirty="0">
                <a:solidFill>
                  <a:srgbClr val="222222"/>
                </a:solidFill>
                <a:latin typeface="Tw Cen MT"/>
              </a:rPr>
              <a:t> </a:t>
            </a:r>
            <a:r>
              <a:rPr sz="2000" b="0" dirty="0" err="1">
                <a:solidFill>
                  <a:srgbClr val="222222"/>
                </a:solidFill>
                <a:latin typeface="Tw Cen MT"/>
              </a:rPr>
              <a:t>desempeño</a:t>
            </a:r>
            <a:r>
              <a:rPr sz="2000" b="0" dirty="0">
                <a:solidFill>
                  <a:srgbClr val="222222"/>
                </a:solidFill>
                <a:latin typeface="Tw Cen MT"/>
              </a:rPr>
              <a:t> mediocre.</a:t>
            </a:r>
          </a:p>
          <a:p>
            <a:pPr lvl="1" algn="l">
              <a:spcBef>
                <a:spcPts val="150"/>
              </a:spcBef>
              <a:buFont typeface="Tw Cen MT"/>
              <a:buChar char="▸"/>
            </a:pPr>
            <a:r>
              <a:rPr sz="2000" b="0" dirty="0">
                <a:solidFill>
                  <a:srgbClr val="222222"/>
                </a:solidFill>
                <a:latin typeface="Tw Cen MT"/>
              </a:rPr>
              <a:t>El </a:t>
            </a:r>
            <a:r>
              <a:rPr sz="2000" b="0" dirty="0" err="1">
                <a:solidFill>
                  <a:srgbClr val="222222"/>
                </a:solidFill>
                <a:latin typeface="Tw Cen MT"/>
              </a:rPr>
              <a:t>período</a:t>
            </a:r>
            <a:r>
              <a:rPr sz="2000" b="0" dirty="0">
                <a:solidFill>
                  <a:srgbClr val="222222"/>
                </a:solidFill>
                <a:latin typeface="Tw Cen MT"/>
              </a:rPr>
              <a:t> de vesting </a:t>
            </a:r>
            <a:r>
              <a:rPr sz="2000" b="0" dirty="0" err="1">
                <a:solidFill>
                  <a:srgbClr val="222222"/>
                </a:solidFill>
                <a:latin typeface="Tw Cen MT"/>
              </a:rPr>
              <a:t>combinado</a:t>
            </a:r>
            <a:r>
              <a:rPr sz="2000" b="0" dirty="0">
                <a:solidFill>
                  <a:srgbClr val="222222"/>
                </a:solidFill>
                <a:latin typeface="Tw Cen MT"/>
              </a:rPr>
              <a:t> con la </a:t>
            </a:r>
            <a:r>
              <a:rPr sz="2000" b="0" dirty="0" err="1">
                <a:solidFill>
                  <a:srgbClr val="222222"/>
                </a:solidFill>
                <a:latin typeface="Tw Cen MT"/>
              </a:rPr>
              <a:t>propensión</a:t>
            </a:r>
            <a:r>
              <a:rPr sz="2000" b="0" dirty="0">
                <a:solidFill>
                  <a:srgbClr val="222222"/>
                </a:solidFill>
                <a:latin typeface="Tw Cen MT"/>
              </a:rPr>
              <a:t> a </a:t>
            </a:r>
            <a:r>
              <a:rPr sz="2000" b="0" dirty="0" err="1">
                <a:solidFill>
                  <a:srgbClr val="222222"/>
                </a:solidFill>
                <a:latin typeface="Tw Cen MT"/>
              </a:rPr>
              <a:t>convertir</a:t>
            </a:r>
            <a:r>
              <a:rPr sz="2000" b="0" dirty="0">
                <a:solidFill>
                  <a:srgbClr val="222222"/>
                </a:solidFill>
                <a:latin typeface="Tw Cen MT"/>
              </a:rPr>
              <a:t> </a:t>
            </a:r>
            <a:r>
              <a:rPr sz="2000" b="0" dirty="0" err="1">
                <a:solidFill>
                  <a:srgbClr val="222222"/>
                </a:solidFill>
                <a:latin typeface="Tw Cen MT"/>
              </a:rPr>
              <a:t>activos</a:t>
            </a:r>
            <a:r>
              <a:rPr sz="2000" b="0" dirty="0">
                <a:solidFill>
                  <a:srgbClr val="222222"/>
                </a:solidFill>
                <a:latin typeface="Tw Cen MT"/>
              </a:rPr>
              <a:t> </a:t>
            </a:r>
            <a:r>
              <a:rPr sz="2000" b="0" dirty="0" err="1">
                <a:solidFill>
                  <a:srgbClr val="222222"/>
                </a:solidFill>
                <a:latin typeface="Tw Cen MT"/>
              </a:rPr>
              <a:t>en</a:t>
            </a:r>
            <a:r>
              <a:rPr sz="2000" b="0" dirty="0">
                <a:solidFill>
                  <a:srgbClr val="222222"/>
                </a:solidFill>
                <a:latin typeface="Tw Cen MT"/>
              </a:rPr>
              <a:t> </a:t>
            </a:r>
            <a:r>
              <a:rPr sz="2000" b="0" dirty="0" err="1">
                <a:solidFill>
                  <a:srgbClr val="222222"/>
                </a:solidFill>
                <a:latin typeface="Tw Cen MT"/>
              </a:rPr>
              <a:t>efectivo</a:t>
            </a:r>
            <a:r>
              <a:rPr sz="2000" b="0" dirty="0">
                <a:solidFill>
                  <a:srgbClr val="222222"/>
                </a:solidFill>
                <a:latin typeface="Tw Cen MT"/>
              </a:rPr>
              <a:t> reduce la </a:t>
            </a:r>
            <a:r>
              <a:rPr sz="2000" b="0" dirty="0" err="1">
                <a:solidFill>
                  <a:srgbClr val="222222"/>
                </a:solidFill>
                <a:latin typeface="Tw Cen MT"/>
              </a:rPr>
              <a:t>motivación</a:t>
            </a:r>
            <a:r>
              <a:rPr sz="2000" b="0" dirty="0">
                <a:solidFill>
                  <a:srgbClr val="222222"/>
                </a:solidFill>
                <a:latin typeface="Tw Cen MT"/>
              </a:rPr>
              <a:t> de largo </a:t>
            </a:r>
            <a:r>
              <a:rPr sz="2000" b="0" dirty="0" err="1">
                <a:solidFill>
                  <a:srgbClr val="222222"/>
                </a:solidFill>
                <a:latin typeface="Tw Cen MT"/>
              </a:rPr>
              <a:t>plazo</a:t>
            </a:r>
            <a:r>
              <a:rPr sz="2000" b="0" dirty="0">
                <a:solidFill>
                  <a:srgbClr val="222222"/>
                </a:solidFill>
                <a:latin typeface="Tw Cen MT"/>
              </a:rPr>
              <a:t>.</a:t>
            </a:r>
          </a:p>
          <a:p>
            <a:pPr lvl="1" algn="l">
              <a:spcBef>
                <a:spcPts val="150"/>
              </a:spcBef>
              <a:buFont typeface="Tw Cen MT"/>
              <a:buChar char="▸"/>
            </a:pPr>
            <a:r>
              <a:rPr sz="2000" b="0" dirty="0">
                <a:solidFill>
                  <a:srgbClr val="222222"/>
                </a:solidFill>
                <a:latin typeface="Tw Cen MT"/>
              </a:rPr>
              <a:t>En mercado </a:t>
            </a:r>
            <a:r>
              <a:rPr sz="2000" b="0" dirty="0" err="1">
                <a:solidFill>
                  <a:srgbClr val="222222"/>
                </a:solidFill>
                <a:latin typeface="Tw Cen MT"/>
              </a:rPr>
              <a:t>bajista</a:t>
            </a:r>
            <a:r>
              <a:rPr sz="2000" b="0" dirty="0">
                <a:solidFill>
                  <a:srgbClr val="222222"/>
                </a:solidFill>
                <a:latin typeface="Tw Cen MT"/>
              </a:rPr>
              <a:t>, </a:t>
            </a:r>
            <a:r>
              <a:rPr sz="2000" b="0" dirty="0" err="1">
                <a:solidFill>
                  <a:srgbClr val="222222"/>
                </a:solidFill>
                <a:latin typeface="Tw Cen MT"/>
              </a:rPr>
              <a:t>pierden</a:t>
            </a:r>
            <a:r>
              <a:rPr sz="2000" b="0" dirty="0">
                <a:solidFill>
                  <a:srgbClr val="222222"/>
                </a:solidFill>
                <a:latin typeface="Tw Cen MT"/>
              </a:rPr>
              <a:t> </a:t>
            </a:r>
            <a:r>
              <a:rPr sz="2000" b="0" dirty="0" err="1">
                <a:solidFill>
                  <a:srgbClr val="222222"/>
                </a:solidFill>
                <a:latin typeface="Tw Cen MT"/>
              </a:rPr>
              <a:t>su</a:t>
            </a:r>
            <a:r>
              <a:rPr sz="2000" b="0" dirty="0">
                <a:solidFill>
                  <a:srgbClr val="222222"/>
                </a:solidFill>
                <a:latin typeface="Tw Cen MT"/>
              </a:rPr>
              <a:t> factor de </a:t>
            </a:r>
            <a:r>
              <a:rPr sz="2000" b="0" dirty="0" err="1">
                <a:solidFill>
                  <a:srgbClr val="222222"/>
                </a:solidFill>
                <a:latin typeface="Tw Cen MT"/>
              </a:rPr>
              <a:t>motivación</a:t>
            </a:r>
            <a:r>
              <a:rPr sz="2000" b="0" dirty="0">
                <a:solidFill>
                  <a:srgbClr val="222222"/>
                </a:solidFill>
                <a:latin typeface="Tw Cen MT"/>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a:extLst>
            <a:ext uri="{FF2B5EF4-FFF2-40B4-BE49-F238E27FC236}">
              <a16:creationId xmlns:a16="http://schemas.microsoft.com/office/drawing/2014/main" id="{00BC6661-9716-0D53-09D7-5C03DF2DDA2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06AEF3-302B-B4AE-A293-3FA10E8DF3F2}"/>
              </a:ext>
            </a:extLst>
          </p:cNvPr>
          <p:cNvSpPr/>
          <p:nvPr/>
        </p:nvSpPr>
        <p:spPr>
          <a:xfrm>
            <a:off x="0" y="0"/>
            <a:ext cx="9144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2A8B578-F731-88B0-EB42-3C303B6A2A5E}"/>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D0583D7-9DC4-E0A7-090D-5A5DD22C1C4F}"/>
              </a:ext>
            </a:extLst>
          </p:cNvPr>
          <p:cNvSpPr txBox="1"/>
          <p:nvPr/>
        </p:nvSpPr>
        <p:spPr>
          <a:xfrm>
            <a:off x="304800" y="108175"/>
            <a:ext cx="8534400" cy="523220"/>
          </a:xfrm>
          <a:prstGeom prst="rect">
            <a:avLst/>
          </a:prstGeom>
          <a:noFill/>
        </p:spPr>
        <p:txBody>
          <a:bodyPr wrap="square" anchor="ctr">
            <a:spAutoFit/>
          </a:bodyPr>
          <a:lstStyle/>
          <a:p>
            <a:r>
              <a:rPr lang="en-US" sz="2800" b="1" dirty="0">
                <a:solidFill>
                  <a:srgbClr val="FFFFFF"/>
                </a:solidFill>
                <a:latin typeface="Tw Cen MT" pitchFamily="34" charset="0"/>
                <a:ea typeface="Tw Cen MT" pitchFamily="34" charset="-122"/>
                <a:cs typeface="Tw Cen MT" pitchFamily="34" charset="-120"/>
              </a:rPr>
              <a:t>Bank of America - (2022)</a:t>
            </a:r>
            <a:endParaRPr sz="2600" b="1" i="0" dirty="0">
              <a:solidFill>
                <a:srgbClr val="FFFFFF"/>
              </a:solidFill>
              <a:latin typeface="Tw Cen MT"/>
            </a:endParaRPr>
          </a:p>
        </p:txBody>
      </p:sp>
      <p:sp>
        <p:nvSpPr>
          <p:cNvPr id="8" name="Shape 6"/>
          <p:cNvSpPr/>
          <p:nvPr/>
        </p:nvSpPr>
        <p:spPr>
          <a:xfrm>
            <a:off x="109728" y="1581960"/>
            <a:ext cx="2834640" cy="5091224"/>
          </a:xfrm>
          <a:prstGeom prst="rect">
            <a:avLst/>
          </a:prstGeom>
          <a:solidFill>
            <a:srgbClr val="112040"/>
          </a:solidFill>
          <a:ln w="12700">
            <a:solidFill>
              <a:srgbClr val="112040"/>
            </a:solidFill>
            <a:prstDash val="solid"/>
          </a:ln>
        </p:spPr>
        <p:txBody>
          <a:bodyPr/>
          <a:lstStyle/>
          <a:p>
            <a:endParaRPr lang="en-US"/>
          </a:p>
        </p:txBody>
      </p:sp>
      <p:sp>
        <p:nvSpPr>
          <p:cNvPr id="10" name="Text 8"/>
          <p:cNvSpPr/>
          <p:nvPr/>
        </p:nvSpPr>
        <p:spPr>
          <a:xfrm>
            <a:off x="475488" y="1230430"/>
            <a:ext cx="2468880" cy="264100"/>
          </a:xfrm>
          <a:prstGeom prst="rect">
            <a:avLst/>
          </a:prstGeom>
          <a:noFill/>
          <a:ln/>
        </p:spPr>
        <p:txBody>
          <a:bodyPr wrap="square" lIns="0" tIns="0" rIns="0" bIns="0" rtlCol="0" anchor="ctr"/>
          <a:lstStyle/>
          <a:p>
            <a:r>
              <a:rPr lang="en-US" b="1" dirty="0">
                <a:solidFill>
                  <a:srgbClr val="D4A017"/>
                </a:solidFill>
                <a:latin typeface="Tw Cen MT" pitchFamily="34" charset="0"/>
                <a:ea typeface="Tw Cen MT" pitchFamily="34" charset="-122"/>
                <a:cs typeface="Tw Cen MT" pitchFamily="34" charset="-120"/>
              </a:rPr>
              <a:t>EL ACUERDO</a:t>
            </a:r>
            <a:endParaRPr lang="en-US" dirty="0"/>
          </a:p>
        </p:txBody>
      </p:sp>
      <p:sp>
        <p:nvSpPr>
          <p:cNvPr id="11" name="Text 9"/>
          <p:cNvSpPr/>
          <p:nvPr/>
        </p:nvSpPr>
        <p:spPr>
          <a:xfrm>
            <a:off x="388620" y="1588747"/>
            <a:ext cx="2555748" cy="3505325"/>
          </a:xfrm>
          <a:prstGeom prst="rect">
            <a:avLst/>
          </a:prstGeom>
          <a:noFill/>
          <a:ln/>
        </p:spPr>
        <p:txBody>
          <a:bodyPr wrap="square" lIns="25400" tIns="38100" rIns="38100" bIns="25400" rtlCol="0" anchor="t"/>
          <a:lstStyle/>
          <a:p>
            <a:r>
              <a:rPr lang="en-US" sz="1600" b="1" dirty="0">
                <a:solidFill>
                  <a:srgbClr val="D4A017"/>
                </a:solidFill>
                <a:latin typeface="Tw Cen MT" pitchFamily="34" charset="0"/>
                <a:ea typeface="Tw Cen MT" pitchFamily="34" charset="-122"/>
                <a:cs typeface="Tw Cen MT" pitchFamily="34" charset="-120"/>
              </a:rPr>
              <a:t>■  Escala: </a:t>
            </a:r>
            <a:r>
              <a:rPr lang="en-US" sz="1600" dirty="0">
                <a:solidFill>
                  <a:srgbClr val="FFFFFF"/>
                </a:solidFill>
                <a:latin typeface="Tw Cen MT" pitchFamily="34" charset="0"/>
                <a:ea typeface="Tw Cen MT" pitchFamily="34" charset="-122"/>
                <a:cs typeface="Tw Cen MT" pitchFamily="34" charset="-120"/>
              </a:rPr>
              <a:t>97% de la plantilla global (~200.000 empleados) </a:t>
            </a:r>
            <a:r>
              <a:rPr lang="en-US" sz="1600" dirty="0" err="1">
                <a:solidFill>
                  <a:srgbClr val="FFFFFF"/>
                </a:solidFill>
                <a:latin typeface="Tw Cen MT" pitchFamily="34" charset="0"/>
                <a:ea typeface="Tw Cen MT" pitchFamily="34" charset="-122"/>
                <a:cs typeface="Tw Cen MT" pitchFamily="34" charset="-120"/>
              </a:rPr>
              <a:t>recibió</a:t>
            </a:r>
            <a:r>
              <a:rPr lang="en-US" sz="1600" dirty="0">
                <a:solidFill>
                  <a:srgbClr val="FFFFFF"/>
                </a:solidFill>
                <a:latin typeface="Tw Cen MT" pitchFamily="34" charset="0"/>
                <a:ea typeface="Tw Cen MT" pitchFamily="34" charset="-122"/>
                <a:cs typeface="Tw Cen MT" pitchFamily="34" charset="-120"/>
              </a:rPr>
              <a:t> </a:t>
            </a:r>
            <a:r>
              <a:rPr lang="en-US" sz="1600" dirty="0" err="1">
                <a:solidFill>
                  <a:srgbClr val="FFFFFF"/>
                </a:solidFill>
                <a:latin typeface="Tw Cen MT" pitchFamily="34" charset="0"/>
                <a:ea typeface="Tw Cen MT" pitchFamily="34" charset="-122"/>
                <a:cs typeface="Tw Cen MT" pitchFamily="34" charset="-120"/>
              </a:rPr>
              <a:t>acciones</a:t>
            </a:r>
            <a:r>
              <a:rPr lang="en-US" sz="1600" dirty="0">
                <a:solidFill>
                  <a:srgbClr val="FFFFFF"/>
                </a:solidFill>
                <a:latin typeface="Tw Cen MT" pitchFamily="34" charset="0"/>
                <a:ea typeface="Tw Cen MT" pitchFamily="34" charset="-122"/>
                <a:cs typeface="Tw Cen MT" pitchFamily="34" charset="-120"/>
              </a:rPr>
              <a:t> </a:t>
            </a:r>
            <a:r>
              <a:rPr lang="en-US" sz="1600" dirty="0" err="1">
                <a:solidFill>
                  <a:srgbClr val="FFFFFF"/>
                </a:solidFill>
                <a:latin typeface="Tw Cen MT" pitchFamily="34" charset="0"/>
                <a:ea typeface="Tw Cen MT" pitchFamily="34" charset="-122"/>
                <a:cs typeface="Tw Cen MT" pitchFamily="34" charset="-120"/>
              </a:rPr>
              <a:t>restringidas</a:t>
            </a:r>
            <a:r>
              <a:rPr lang="en-US" sz="1600" dirty="0">
                <a:solidFill>
                  <a:srgbClr val="FFFFFF"/>
                </a:solidFill>
                <a:latin typeface="Tw Cen MT" pitchFamily="34" charset="0"/>
                <a:ea typeface="Tw Cen MT" pitchFamily="34" charset="-122"/>
                <a:cs typeface="Tw Cen MT" pitchFamily="34" charset="-120"/>
              </a:rPr>
              <a:t>.
</a:t>
            </a:r>
            <a:r>
              <a:rPr lang="en-US" sz="1600" dirty="0">
                <a:solidFill>
                  <a:srgbClr val="1A3050"/>
                </a:solidFill>
              </a:rPr>
              <a:t>
</a:t>
            </a:r>
            <a:r>
              <a:rPr lang="en-US" sz="1600" b="1" dirty="0">
                <a:solidFill>
                  <a:srgbClr val="D4A017"/>
                </a:solidFill>
                <a:latin typeface="Tw Cen MT" pitchFamily="34" charset="0"/>
                <a:ea typeface="Tw Cen MT" pitchFamily="34" charset="-122"/>
                <a:cs typeface="Tw Cen MT" pitchFamily="34" charset="-120"/>
              </a:rPr>
              <a:t>■  Monto: </a:t>
            </a:r>
            <a:r>
              <a:rPr lang="en-US" sz="1600" dirty="0">
                <a:solidFill>
                  <a:srgbClr val="FFFFFF"/>
                </a:solidFill>
                <a:latin typeface="Tw Cen MT" pitchFamily="34" charset="0"/>
                <a:ea typeface="Tw Cen MT" pitchFamily="34" charset="-122"/>
                <a:cs typeface="Tw Cen MT" pitchFamily="34" charset="-120"/>
              </a:rPr>
              <a:t>65–600 unidades por empleado según salario. Un cajero recibió ~USD 2.900; empleados senior hasta USD 27.000.
</a:t>
            </a:r>
            <a:r>
              <a:rPr lang="en-US" sz="1600" dirty="0">
                <a:solidFill>
                  <a:srgbClr val="1A3050"/>
                </a:solidFill>
              </a:rPr>
              <a:t>
</a:t>
            </a:r>
            <a:r>
              <a:rPr lang="en-US" sz="1600" b="1" dirty="0">
                <a:solidFill>
                  <a:srgbClr val="D4A017"/>
                </a:solidFill>
                <a:latin typeface="Tw Cen MT" pitchFamily="34" charset="0"/>
                <a:ea typeface="Tw Cen MT" pitchFamily="34" charset="-122"/>
                <a:cs typeface="Tw Cen MT" pitchFamily="34" charset="-120"/>
              </a:rPr>
              <a:t>■  Vesting: </a:t>
            </a:r>
            <a:r>
              <a:rPr lang="en-US" sz="1600" dirty="0">
                <a:solidFill>
                  <a:srgbClr val="FFFFFF"/>
                </a:solidFill>
                <a:latin typeface="Tw Cen MT" pitchFamily="34" charset="0"/>
                <a:ea typeface="Tw Cen MT" pitchFamily="34" charset="-122"/>
                <a:cs typeface="Tw Cen MT" pitchFamily="34" charset="-120"/>
              </a:rPr>
              <a:t>Otorgadas en marzo 2022, devengadas en 4 cuotas anuales iguales a partir de 2023.
</a:t>
            </a:r>
            <a:r>
              <a:rPr lang="en-US" sz="1600" dirty="0">
                <a:solidFill>
                  <a:srgbClr val="1A3050"/>
                </a:solidFill>
              </a:rPr>
              <a:t>
</a:t>
            </a:r>
            <a:r>
              <a:rPr lang="en-US" sz="1600" b="1" dirty="0">
                <a:solidFill>
                  <a:srgbClr val="D4A017"/>
                </a:solidFill>
                <a:latin typeface="Tw Cen MT" pitchFamily="34" charset="0"/>
                <a:ea typeface="Tw Cen MT" pitchFamily="34" charset="-122"/>
                <a:cs typeface="Tw Cen MT" pitchFamily="34" charset="-120"/>
              </a:rPr>
              <a:t>■  Condición: </a:t>
            </a:r>
            <a:r>
              <a:rPr lang="en-US" sz="1600" dirty="0">
                <a:solidFill>
                  <a:srgbClr val="FFFFFF"/>
                </a:solidFill>
                <a:latin typeface="Tw Cen MT" pitchFamily="34" charset="0"/>
                <a:ea typeface="Tw Cen MT" pitchFamily="34" charset="-122"/>
                <a:cs typeface="Tw Cen MT" pitchFamily="34" charset="-120"/>
              </a:rPr>
              <a:t>Quien abandona —o es despedido— antes de devengar pierde las acciones no vencidas.
</a:t>
            </a:r>
            <a:endParaRPr lang="en-US" sz="1600" dirty="0"/>
          </a:p>
        </p:txBody>
      </p:sp>
      <p:sp>
        <p:nvSpPr>
          <p:cNvPr id="14" name="Text 12"/>
          <p:cNvSpPr/>
          <p:nvPr/>
        </p:nvSpPr>
        <p:spPr>
          <a:xfrm>
            <a:off x="3278124" y="1185229"/>
            <a:ext cx="2551176" cy="301752"/>
          </a:xfrm>
          <a:prstGeom prst="rect">
            <a:avLst/>
          </a:prstGeom>
          <a:noFill/>
          <a:ln/>
        </p:spPr>
        <p:txBody>
          <a:bodyPr wrap="square" lIns="0" tIns="0" rIns="0" bIns="0" rtlCol="0" anchor="ctr"/>
          <a:lstStyle/>
          <a:p>
            <a:r>
              <a:rPr lang="en-US" b="1" dirty="0">
                <a:solidFill>
                  <a:srgbClr val="AAAAAA"/>
                </a:solidFill>
                <a:latin typeface="Tw Cen MT" pitchFamily="34" charset="0"/>
                <a:ea typeface="Tw Cen MT" pitchFamily="34" charset="-122"/>
                <a:cs typeface="Tw Cen MT" pitchFamily="34" charset="-120"/>
              </a:rPr>
              <a:t>EL CONTEXTO</a:t>
            </a:r>
            <a:endParaRPr lang="en-US" dirty="0"/>
          </a:p>
        </p:txBody>
      </p:sp>
      <p:sp>
        <p:nvSpPr>
          <p:cNvPr id="16" name="Shape 14"/>
          <p:cNvSpPr/>
          <p:nvPr/>
        </p:nvSpPr>
        <p:spPr>
          <a:xfrm>
            <a:off x="5993892" y="1532358"/>
            <a:ext cx="2834640" cy="5140826"/>
          </a:xfrm>
          <a:prstGeom prst="rect">
            <a:avLst/>
          </a:prstGeom>
          <a:solidFill>
            <a:srgbClr val="112040"/>
          </a:solidFill>
          <a:ln w="12700">
            <a:solidFill>
              <a:srgbClr val="112040"/>
            </a:solidFill>
            <a:prstDash val="solid"/>
          </a:ln>
        </p:spPr>
        <p:txBody>
          <a:bodyPr/>
          <a:lstStyle/>
          <a:p>
            <a:endParaRPr lang="en-US"/>
          </a:p>
        </p:txBody>
      </p:sp>
      <p:sp>
        <p:nvSpPr>
          <p:cNvPr id="18" name="Text 16"/>
          <p:cNvSpPr/>
          <p:nvPr/>
        </p:nvSpPr>
        <p:spPr>
          <a:xfrm>
            <a:off x="6185916" y="1193780"/>
            <a:ext cx="2670048" cy="301752"/>
          </a:xfrm>
          <a:prstGeom prst="rect">
            <a:avLst/>
          </a:prstGeom>
          <a:noFill/>
          <a:ln/>
        </p:spPr>
        <p:txBody>
          <a:bodyPr wrap="square" lIns="0" tIns="0" rIns="0" bIns="0" rtlCol="0" anchor="ctr"/>
          <a:lstStyle/>
          <a:p>
            <a:r>
              <a:rPr lang="en-US" b="1" dirty="0">
                <a:solidFill>
                  <a:srgbClr val="52B788"/>
                </a:solidFill>
                <a:latin typeface="Tw Cen MT" pitchFamily="34" charset="0"/>
                <a:ea typeface="Tw Cen MT" pitchFamily="34" charset="-122"/>
                <a:cs typeface="Tw Cen MT" pitchFamily="34" charset="-120"/>
              </a:rPr>
              <a:t>ANÁLISIS TEÓRICO</a:t>
            </a:r>
            <a:endParaRPr lang="en-US" dirty="0"/>
          </a:p>
        </p:txBody>
      </p:sp>
      <p:sp>
        <p:nvSpPr>
          <p:cNvPr id="19" name="Text 17"/>
          <p:cNvSpPr/>
          <p:nvPr/>
        </p:nvSpPr>
        <p:spPr>
          <a:xfrm>
            <a:off x="6158484" y="1675276"/>
            <a:ext cx="2670048" cy="4005072"/>
          </a:xfrm>
          <a:prstGeom prst="rect">
            <a:avLst/>
          </a:prstGeom>
          <a:noFill/>
          <a:ln/>
        </p:spPr>
        <p:txBody>
          <a:bodyPr wrap="square" lIns="25400" tIns="38100" rIns="38100" bIns="25400" rtlCol="0" anchor="t"/>
          <a:lstStyle/>
          <a:p>
            <a:r>
              <a:rPr lang="en-US" sz="1600" b="1" dirty="0">
                <a:solidFill>
                  <a:srgbClr val="52B788"/>
                </a:solidFill>
                <a:latin typeface="Tw Cen MT" pitchFamily="34" charset="0"/>
                <a:ea typeface="Tw Cen MT" pitchFamily="34" charset="-122"/>
                <a:cs typeface="Tw Cen MT" pitchFamily="34" charset="-120"/>
              </a:rPr>
              <a:t>■  </a:t>
            </a:r>
            <a:r>
              <a:rPr lang="en-US" sz="1600" b="1" dirty="0" err="1">
                <a:solidFill>
                  <a:srgbClr val="52B788"/>
                </a:solidFill>
                <a:latin typeface="Tw Cen MT" pitchFamily="34" charset="0"/>
                <a:ea typeface="Tw Cen MT" pitchFamily="34" charset="-122"/>
                <a:cs typeface="Tw Cen MT" pitchFamily="34" charset="-120"/>
              </a:rPr>
              <a:t>Alineación</a:t>
            </a:r>
            <a:r>
              <a:rPr lang="en-US" sz="1600" b="1" dirty="0">
                <a:solidFill>
                  <a:srgbClr val="52B788"/>
                </a:solidFill>
                <a:latin typeface="Tw Cen MT" pitchFamily="34" charset="0"/>
                <a:ea typeface="Tw Cen MT" pitchFamily="34" charset="-122"/>
                <a:cs typeface="Tw Cen MT" pitchFamily="34" charset="-120"/>
              </a:rPr>
              <a:t>  </a:t>
            </a:r>
            <a:r>
              <a:rPr lang="en-US" sz="1600" dirty="0">
                <a:solidFill>
                  <a:srgbClr val="FFFFFF"/>
                </a:solidFill>
                <a:latin typeface="Tw Cen MT" pitchFamily="34" charset="0"/>
                <a:ea typeface="Tw Cen MT" pitchFamily="34" charset="-122"/>
                <a:cs typeface="Tw Cen MT" pitchFamily="34" charset="-120"/>
              </a:rPr>
              <a:t>El agente se convierte en accionista parcial → reduce el conflicto principal-agente.
</a:t>
            </a:r>
            <a:r>
              <a:rPr lang="en-US" sz="1600" dirty="0">
                <a:solidFill>
                  <a:srgbClr val="1A3050"/>
                </a:solidFill>
              </a:rPr>
              <a:t>
</a:t>
            </a:r>
            <a:r>
              <a:rPr lang="en-US" sz="1600" b="1" dirty="0">
                <a:solidFill>
                  <a:srgbClr val="52B788"/>
                </a:solidFill>
                <a:latin typeface="Tw Cen MT" pitchFamily="34" charset="0"/>
                <a:ea typeface="Tw Cen MT" pitchFamily="34" charset="-122"/>
                <a:cs typeface="Tw Cen MT" pitchFamily="34" charset="-120"/>
              </a:rPr>
              <a:t>■  </a:t>
            </a:r>
            <a:r>
              <a:rPr lang="en-US" sz="1600" b="1" dirty="0" err="1">
                <a:solidFill>
                  <a:srgbClr val="52B788"/>
                </a:solidFill>
                <a:latin typeface="Tw Cen MT" pitchFamily="34" charset="0"/>
                <a:ea typeface="Tw Cen MT" pitchFamily="34" charset="-122"/>
                <a:cs typeface="Tw Cen MT" pitchFamily="34" charset="-120"/>
              </a:rPr>
              <a:t>Retención</a:t>
            </a:r>
            <a:r>
              <a:rPr lang="en-US" sz="1600" b="1" dirty="0">
                <a:solidFill>
                  <a:srgbClr val="52B788"/>
                </a:solidFill>
                <a:latin typeface="Tw Cen MT" pitchFamily="34" charset="0"/>
                <a:ea typeface="Tw Cen MT" pitchFamily="34" charset="-122"/>
                <a:cs typeface="Tw Cen MT" pitchFamily="34" charset="-120"/>
              </a:rPr>
              <a:t>: </a:t>
            </a:r>
            <a:r>
              <a:rPr lang="en-US" sz="1600" dirty="0">
                <a:solidFill>
                  <a:srgbClr val="FFFFFF"/>
                </a:solidFill>
                <a:latin typeface="Tw Cen MT" pitchFamily="34" charset="0"/>
                <a:ea typeface="Tw Cen MT" pitchFamily="34" charset="-122"/>
                <a:cs typeface="Tw Cen MT" pitchFamily="34" charset="-120"/>
              </a:rPr>
              <a:t>El empleado "deja dinero sobre la mesa" si se va antes de devengar. Incentivo sin aumentar costo fijo salarial.
</a:t>
            </a:r>
            <a:r>
              <a:rPr lang="en-US" sz="1600" dirty="0">
                <a:solidFill>
                  <a:srgbClr val="1A3050"/>
                </a:solidFill>
              </a:rPr>
              <a:t>
</a:t>
            </a:r>
            <a:r>
              <a:rPr lang="en-US" sz="1600" b="1" dirty="0">
                <a:solidFill>
                  <a:srgbClr val="52B788"/>
                </a:solidFill>
                <a:latin typeface="Tw Cen MT" pitchFamily="34" charset="0"/>
                <a:ea typeface="Tw Cen MT" pitchFamily="34" charset="-122"/>
                <a:cs typeface="Tw Cen MT" pitchFamily="34" charset="-120"/>
              </a:rPr>
              <a:t>■  Riesgo transferido: </a:t>
            </a:r>
            <a:r>
              <a:rPr lang="en-US" sz="1600" dirty="0">
                <a:solidFill>
                  <a:srgbClr val="FFFFFF"/>
                </a:solidFill>
                <a:latin typeface="Tw Cen MT" pitchFamily="34" charset="0"/>
                <a:ea typeface="Tw Cen MT" pitchFamily="34" charset="-122"/>
                <a:cs typeface="Tw Cen MT" pitchFamily="34" charset="-120"/>
              </a:rPr>
              <a:t>Las </a:t>
            </a:r>
            <a:r>
              <a:rPr lang="en-US" sz="1600" dirty="0" err="1">
                <a:solidFill>
                  <a:srgbClr val="FFFFFF"/>
                </a:solidFill>
                <a:latin typeface="Tw Cen MT" pitchFamily="34" charset="0"/>
                <a:ea typeface="Tw Cen MT" pitchFamily="34" charset="-122"/>
                <a:cs typeface="Tw Cen MT" pitchFamily="34" charset="-120"/>
              </a:rPr>
              <a:t>acciones</a:t>
            </a:r>
            <a:r>
              <a:rPr lang="en-US" sz="1600" dirty="0">
                <a:solidFill>
                  <a:srgbClr val="FFFFFF"/>
                </a:solidFill>
                <a:latin typeface="Tw Cen MT" pitchFamily="34" charset="0"/>
                <a:ea typeface="Tw Cen MT" pitchFamily="34" charset="-122"/>
                <a:cs typeface="Tw Cen MT" pitchFamily="34" charset="-120"/>
              </a:rPr>
              <a:t> </a:t>
            </a:r>
            <a:r>
              <a:rPr lang="en-US" sz="1600" dirty="0" err="1">
                <a:solidFill>
                  <a:srgbClr val="FFFFFF"/>
                </a:solidFill>
                <a:latin typeface="Tw Cen MT" pitchFamily="34" charset="0"/>
                <a:ea typeface="Tw Cen MT" pitchFamily="34" charset="-122"/>
                <a:cs typeface="Tw Cen MT" pitchFamily="34" charset="-120"/>
              </a:rPr>
              <a:t>fluctúan</a:t>
            </a:r>
            <a:r>
              <a:rPr lang="en-US" sz="1600" dirty="0">
                <a:solidFill>
                  <a:srgbClr val="FFFFFF"/>
                </a:solidFill>
                <a:latin typeface="Tw Cen MT" pitchFamily="34" charset="0"/>
                <a:ea typeface="Tw Cen MT" pitchFamily="34" charset="-122"/>
                <a:cs typeface="Tw Cen MT" pitchFamily="34" charset="-120"/>
              </a:rPr>
              <a:t>. A diferencia del aumento en efectivo, el empleado asume riesgo de mercado que no </a:t>
            </a:r>
            <a:r>
              <a:rPr lang="en-US" sz="1600" dirty="0" err="1">
                <a:solidFill>
                  <a:srgbClr val="FFFFFF"/>
                </a:solidFill>
                <a:latin typeface="Tw Cen MT" pitchFamily="34" charset="0"/>
                <a:ea typeface="Tw Cen MT" pitchFamily="34" charset="-122"/>
                <a:cs typeface="Tw Cen MT" pitchFamily="34" charset="-120"/>
              </a:rPr>
              <a:t>controla</a:t>
            </a:r>
            <a:r>
              <a:rPr lang="en-US" sz="1600" dirty="0">
                <a:solidFill>
                  <a:srgbClr val="FFFFFF"/>
                </a:solidFill>
                <a:latin typeface="Tw Cen MT" pitchFamily="34" charset="0"/>
                <a:ea typeface="Tw Cen MT" pitchFamily="34" charset="-122"/>
                <a:cs typeface="Tw Cen MT" pitchFamily="34" charset="-120"/>
              </a:rPr>
              <a:t>.</a:t>
            </a:r>
          </a:p>
          <a:p>
            <a:endParaRPr lang="en-US" sz="1600" dirty="0">
              <a:solidFill>
                <a:srgbClr val="FFFFFF"/>
              </a:solidFill>
              <a:latin typeface="Tw Cen MT" pitchFamily="34" charset="0"/>
              <a:ea typeface="Tw Cen MT" pitchFamily="34" charset="-122"/>
              <a:cs typeface="Tw Cen MT" pitchFamily="34" charset="-120"/>
            </a:endParaRPr>
          </a:p>
          <a:p>
            <a:r>
              <a:rPr lang="en-US" sz="1600" dirty="0">
                <a:solidFill>
                  <a:srgbClr val="FFFFFF"/>
                </a:solidFill>
                <a:latin typeface="Tw Cen MT" pitchFamily="34" charset="0"/>
                <a:ea typeface="Tw Cen MT" pitchFamily="34" charset="-122"/>
                <a:cs typeface="Tw Cen MT" pitchFamily="34" charset="-120"/>
              </a:rPr>
              <a:t>Si se premia la retención (A) esperando productividad (B), puede haber permanencia sin compromiso real.
</a:t>
            </a:r>
            <a:endParaRPr lang="en-US" sz="1600" dirty="0"/>
          </a:p>
        </p:txBody>
      </p:sp>
      <p:sp>
        <p:nvSpPr>
          <p:cNvPr id="7" name="Text 5">
            <a:extLst>
              <a:ext uri="{FF2B5EF4-FFF2-40B4-BE49-F238E27FC236}">
                <a16:creationId xmlns:a16="http://schemas.microsoft.com/office/drawing/2014/main" id="{9C60B8C9-22DC-584A-7158-EABCF579D9EC}"/>
              </a:ext>
            </a:extLst>
          </p:cNvPr>
          <p:cNvSpPr/>
          <p:nvPr/>
        </p:nvSpPr>
        <p:spPr>
          <a:xfrm>
            <a:off x="310896" y="649494"/>
            <a:ext cx="8631936" cy="21945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i="1" dirty="0">
                <a:solidFill>
                  <a:srgbClr val="AAAAAA"/>
                </a:solidFill>
                <a:latin typeface="Tw Cen MT" pitchFamily="34" charset="0"/>
                <a:ea typeface="Tw Cen MT" pitchFamily="34" charset="-122"/>
                <a:cs typeface="Tw Cen MT" pitchFamily="34" charset="-120"/>
              </a:rPr>
              <a:t>USD 1.000 M en acciones restringidas · vesting 4 años · pérdida por salida anticipada · ~200.000 empleados elegibles</a:t>
            </a:r>
            <a:endParaRPr lang="en-US" sz="1400" dirty="0"/>
          </a:p>
        </p:txBody>
      </p:sp>
      <p:pic>
        <p:nvPicPr>
          <p:cNvPr id="21" name="Imagen 20" descr="The image is a solid, unadorned, and uniformly dark blue background.&#10;&#10;El contenido generado por IA puede ser incorrecto.">
            <a:extLst>
              <a:ext uri="{FF2B5EF4-FFF2-40B4-BE49-F238E27FC236}">
                <a16:creationId xmlns:a16="http://schemas.microsoft.com/office/drawing/2014/main" id="{ADE30599-9F89-AB26-35B5-D61F1E30ABBC}"/>
              </a:ext>
            </a:extLst>
          </p:cNvPr>
          <p:cNvPicPr>
            <a:picLocks noChangeAspect="1"/>
          </p:cNvPicPr>
          <p:nvPr/>
        </p:nvPicPr>
        <p:blipFill>
          <a:blip r:embed="rId3"/>
          <a:stretch>
            <a:fillRect/>
          </a:stretch>
        </p:blipFill>
        <p:spPr>
          <a:xfrm>
            <a:off x="3149990" y="1588747"/>
            <a:ext cx="2725148" cy="5091224"/>
          </a:xfrm>
          <a:prstGeom prst="rect">
            <a:avLst/>
          </a:prstGeom>
        </p:spPr>
      </p:pic>
      <p:sp>
        <p:nvSpPr>
          <p:cNvPr id="22" name="Text 13"/>
          <p:cNvSpPr/>
          <p:nvPr/>
        </p:nvSpPr>
        <p:spPr>
          <a:xfrm>
            <a:off x="3360420" y="1588747"/>
            <a:ext cx="2551176" cy="4005072"/>
          </a:xfrm>
          <a:prstGeom prst="rect">
            <a:avLst/>
          </a:prstGeom>
          <a:noFill/>
          <a:ln/>
        </p:spPr>
        <p:txBody>
          <a:bodyPr wrap="square" lIns="25400" tIns="38100" rIns="38100" bIns="25400" rtlCol="0" anchor="t"/>
          <a:lstStyle/>
          <a:p>
            <a:r>
              <a:rPr lang="en-US" sz="1600" b="1" dirty="0">
                <a:solidFill>
                  <a:srgbClr val="AAAAAA"/>
                </a:solidFill>
                <a:latin typeface="Tw Cen MT" pitchFamily="34" charset="0"/>
                <a:ea typeface="Tw Cen MT" pitchFamily="34" charset="-122"/>
                <a:cs typeface="Tw Cen MT" pitchFamily="34" charset="-120"/>
              </a:rPr>
              <a:t>■  </a:t>
            </a:r>
            <a:r>
              <a:rPr lang="en-US" sz="1600" b="1" dirty="0" err="1">
                <a:solidFill>
                  <a:srgbClr val="AAAAAA"/>
                </a:solidFill>
                <a:latin typeface="Tw Cen MT" pitchFamily="34" charset="0"/>
                <a:ea typeface="Tw Cen MT" pitchFamily="34" charset="-122"/>
                <a:cs typeface="Tw Cen MT" pitchFamily="34" charset="-120"/>
              </a:rPr>
              <a:t>Renuncias</a:t>
            </a:r>
            <a:r>
              <a:rPr lang="en-US" sz="1600" b="1" dirty="0">
                <a:solidFill>
                  <a:srgbClr val="AAAAAA"/>
                </a:solidFill>
                <a:latin typeface="Tw Cen MT" pitchFamily="34" charset="0"/>
                <a:ea typeface="Tw Cen MT" pitchFamily="34" charset="-122"/>
                <a:cs typeface="Tw Cen MT" pitchFamily="34" charset="-120"/>
              </a:rPr>
              <a:t> </a:t>
            </a:r>
            <a:r>
              <a:rPr lang="en-US" sz="1600" b="1" dirty="0" err="1">
                <a:solidFill>
                  <a:srgbClr val="AAAAAA"/>
                </a:solidFill>
                <a:latin typeface="Tw Cen MT" pitchFamily="34" charset="0"/>
                <a:ea typeface="Tw Cen MT" pitchFamily="34" charset="-122"/>
                <a:cs typeface="Tw Cen MT" pitchFamily="34" charset="-120"/>
              </a:rPr>
              <a:t>masivas</a:t>
            </a:r>
            <a:r>
              <a:rPr lang="en-US" sz="1600" b="1" dirty="0">
                <a:solidFill>
                  <a:srgbClr val="AAAAAA"/>
                </a:solidFill>
                <a:latin typeface="Tw Cen MT" pitchFamily="34" charset="0"/>
                <a:ea typeface="Tw Cen MT" pitchFamily="34" charset="-122"/>
                <a:cs typeface="Tw Cen MT" pitchFamily="34" charset="-120"/>
              </a:rPr>
              <a:t>: </a:t>
            </a:r>
            <a:r>
              <a:rPr lang="en-US" sz="1600" dirty="0">
                <a:solidFill>
                  <a:srgbClr val="FFFFFF"/>
                </a:solidFill>
                <a:latin typeface="Tw Cen MT" pitchFamily="34" charset="0"/>
                <a:ea typeface="Tw Cen MT" pitchFamily="34" charset="-122"/>
                <a:cs typeface="Tw Cen MT" pitchFamily="34" charset="-120"/>
              </a:rPr>
              <a:t>Guerra por talento en el sector bancario.
</a:t>
            </a:r>
            <a:r>
              <a:rPr lang="en-US" sz="1600" dirty="0">
                <a:solidFill>
                  <a:srgbClr val="1A3050"/>
                </a:solidFill>
              </a:rPr>
              <a:t>
</a:t>
            </a:r>
            <a:r>
              <a:rPr lang="en-US" sz="1600" b="1" dirty="0">
                <a:solidFill>
                  <a:srgbClr val="AAAAAA"/>
                </a:solidFill>
                <a:latin typeface="Tw Cen MT" pitchFamily="34" charset="0"/>
                <a:ea typeface="Tw Cen MT" pitchFamily="34" charset="-122"/>
                <a:cs typeface="Tw Cen MT" pitchFamily="34" charset="-120"/>
              </a:rPr>
              <a:t>■ </a:t>
            </a:r>
            <a:r>
              <a:rPr lang="en-US" sz="1600" dirty="0">
                <a:solidFill>
                  <a:srgbClr val="FFFFFF"/>
                </a:solidFill>
                <a:latin typeface="Tw Cen MT" pitchFamily="34" charset="0"/>
                <a:ea typeface="Tw Cen MT" pitchFamily="34" charset="-122"/>
                <a:cs typeface="Tw Cen MT" pitchFamily="34" charset="-120"/>
              </a:rPr>
              <a:t>"Las acciones restringidas crean un gancho de retención a largo plazo, más que un bono en efectivo." (CFO Borthwick, 2022)
</a:t>
            </a:r>
            <a:r>
              <a:rPr lang="en-US" sz="1600" dirty="0">
                <a:solidFill>
                  <a:srgbClr val="1A3050"/>
                </a:solidFill>
              </a:rPr>
              <a:t>
</a:t>
            </a:r>
            <a:r>
              <a:rPr lang="en-US" sz="1600" dirty="0">
                <a:solidFill>
                  <a:srgbClr val="FFFFFF"/>
                </a:solidFill>
                <a:latin typeface="Tw Cen MT" pitchFamily="34" charset="0"/>
                <a:ea typeface="Tw Cen MT" pitchFamily="34" charset="-122"/>
                <a:cs typeface="Tw Cen MT" pitchFamily="34" charset="-120"/>
              </a:rPr>
              <a:t>
</a:t>
            </a:r>
            <a:endParaRPr lang="en-US" sz="1600" dirty="0"/>
          </a:p>
        </p:txBody>
      </p:sp>
    </p:spTree>
    <p:extLst>
      <p:ext uri="{BB962C8B-B14F-4D97-AF65-F5344CB8AC3E}">
        <p14:creationId xmlns:p14="http://schemas.microsoft.com/office/powerpoint/2010/main" val="31460008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Paracaídas de Oro (Golden Parachute)</a:t>
            </a:r>
          </a:p>
        </p:txBody>
      </p:sp>
      <p:sp>
        <p:nvSpPr>
          <p:cNvPr id="5" name="TextBox 4"/>
          <p:cNvSpPr txBox="1"/>
          <p:nvPr/>
        </p:nvSpPr>
        <p:spPr>
          <a:xfrm>
            <a:off x="304800" y="1220000"/>
            <a:ext cx="8534400" cy="5401479"/>
          </a:xfrm>
          <a:prstGeom prst="rect">
            <a:avLst/>
          </a:prstGeom>
          <a:noFill/>
        </p:spPr>
        <p:txBody>
          <a:bodyPr wrap="square">
            <a:spAutoFit/>
          </a:bodyPr>
          <a:lstStyle/>
          <a:p>
            <a:pPr algn="l">
              <a:spcBef>
                <a:spcPts val="400"/>
              </a:spcBef>
            </a:pPr>
            <a:r>
              <a:rPr sz="2000" b="0" dirty="0">
                <a:solidFill>
                  <a:srgbClr val="222222"/>
                </a:solidFill>
                <a:latin typeface="Tw Cen MT"/>
              </a:rPr>
              <a:t>Los altos </a:t>
            </a:r>
            <a:r>
              <a:rPr sz="2000" b="0" dirty="0" err="1">
                <a:solidFill>
                  <a:srgbClr val="222222"/>
                </a:solidFill>
                <a:latin typeface="Tw Cen MT"/>
              </a:rPr>
              <a:t>ejecutivos</a:t>
            </a:r>
            <a:r>
              <a:rPr sz="2000" b="0" dirty="0">
                <a:solidFill>
                  <a:srgbClr val="222222"/>
                </a:solidFill>
                <a:latin typeface="Tw Cen MT"/>
              </a:rPr>
              <a:t> </a:t>
            </a:r>
            <a:r>
              <a:rPr sz="2000" b="0" dirty="0" err="1">
                <a:solidFill>
                  <a:srgbClr val="222222"/>
                </a:solidFill>
                <a:latin typeface="Tw Cen MT"/>
              </a:rPr>
              <a:t>pueden</a:t>
            </a:r>
            <a:r>
              <a:rPr sz="2000" b="0" dirty="0">
                <a:solidFill>
                  <a:srgbClr val="222222"/>
                </a:solidFill>
                <a:latin typeface="Tw Cen MT"/>
              </a:rPr>
              <a:t> </a:t>
            </a:r>
            <a:r>
              <a:rPr sz="2000" b="0" dirty="0" err="1">
                <a:solidFill>
                  <a:srgbClr val="222222"/>
                </a:solidFill>
                <a:latin typeface="Tw Cen MT"/>
              </a:rPr>
              <a:t>resistirse</a:t>
            </a:r>
            <a:r>
              <a:rPr sz="2000" b="0" dirty="0">
                <a:solidFill>
                  <a:srgbClr val="222222"/>
                </a:solidFill>
                <a:latin typeface="Tw Cen MT"/>
              </a:rPr>
              <a:t> a </a:t>
            </a:r>
            <a:r>
              <a:rPr sz="2000" b="0" dirty="0" err="1">
                <a:solidFill>
                  <a:srgbClr val="222222"/>
                </a:solidFill>
                <a:latin typeface="Tw Cen MT"/>
              </a:rPr>
              <a:t>los</a:t>
            </a:r>
            <a:r>
              <a:rPr sz="2000" b="0" dirty="0">
                <a:solidFill>
                  <a:srgbClr val="222222"/>
                </a:solidFill>
                <a:latin typeface="Tw Cen MT"/>
              </a:rPr>
              <a:t> </a:t>
            </a:r>
            <a:r>
              <a:rPr sz="2000" b="0" dirty="0" err="1">
                <a:solidFill>
                  <a:srgbClr val="222222"/>
                </a:solidFill>
                <a:latin typeface="Tw Cen MT"/>
              </a:rPr>
              <a:t>intentos</a:t>
            </a:r>
            <a:r>
              <a:rPr sz="2000" b="0" dirty="0">
                <a:solidFill>
                  <a:srgbClr val="222222"/>
                </a:solidFill>
                <a:latin typeface="Tw Cen MT"/>
              </a:rPr>
              <a:t> de </a:t>
            </a:r>
            <a:r>
              <a:rPr sz="2000" b="0" dirty="0" err="1">
                <a:solidFill>
                  <a:srgbClr val="222222"/>
                </a:solidFill>
                <a:latin typeface="Tw Cen MT"/>
              </a:rPr>
              <a:t>adquisición</a:t>
            </a:r>
            <a:r>
              <a:rPr sz="2000" b="0" dirty="0">
                <a:solidFill>
                  <a:srgbClr val="222222"/>
                </a:solidFill>
                <a:latin typeface="Tw Cen MT"/>
              </a:rPr>
              <a:t> para </a:t>
            </a:r>
            <a:r>
              <a:rPr sz="2000" b="0" dirty="0" err="1">
                <a:solidFill>
                  <a:srgbClr val="222222"/>
                </a:solidFill>
                <a:latin typeface="Tw Cen MT"/>
              </a:rPr>
              <a:t>proteger</a:t>
            </a:r>
            <a:r>
              <a:rPr sz="2000" b="0" dirty="0">
                <a:solidFill>
                  <a:srgbClr val="222222"/>
                </a:solidFill>
                <a:latin typeface="Tw Cen MT"/>
              </a:rPr>
              <a:t> sus </a:t>
            </a:r>
            <a:r>
              <a:rPr sz="2000" b="0" dirty="0" err="1">
                <a:solidFill>
                  <a:srgbClr val="222222"/>
                </a:solidFill>
                <a:latin typeface="Tw Cen MT"/>
              </a:rPr>
              <a:t>puestos</a:t>
            </a:r>
            <a:r>
              <a:rPr sz="2000" b="0" dirty="0">
                <a:solidFill>
                  <a:srgbClr val="222222"/>
                </a:solidFill>
                <a:latin typeface="Tw Cen MT"/>
              </a:rPr>
              <a:t> de </a:t>
            </a:r>
            <a:r>
              <a:rPr sz="2000" b="0" dirty="0" err="1">
                <a:solidFill>
                  <a:srgbClr val="222222"/>
                </a:solidFill>
                <a:latin typeface="Tw Cen MT"/>
              </a:rPr>
              <a:t>trabajo</a:t>
            </a:r>
            <a:r>
              <a:rPr sz="2000" b="0" dirty="0">
                <a:solidFill>
                  <a:srgbClr val="222222"/>
                </a:solidFill>
                <a:latin typeface="Tw Cen MT"/>
              </a:rPr>
              <a:t>, </a:t>
            </a:r>
            <a:r>
              <a:rPr sz="2000" b="0" dirty="0" err="1">
                <a:solidFill>
                  <a:srgbClr val="222222"/>
                </a:solidFill>
                <a:latin typeface="Tw Cen MT"/>
              </a:rPr>
              <a:t>aunque</a:t>
            </a:r>
            <a:r>
              <a:rPr sz="2000" b="0" dirty="0">
                <a:solidFill>
                  <a:srgbClr val="222222"/>
                </a:solidFill>
                <a:latin typeface="Tw Cen MT"/>
              </a:rPr>
              <a:t> tales </a:t>
            </a:r>
            <a:r>
              <a:rPr sz="2000" b="0" dirty="0" err="1">
                <a:solidFill>
                  <a:srgbClr val="222222"/>
                </a:solidFill>
                <a:latin typeface="Tw Cen MT"/>
              </a:rPr>
              <a:t>intentos</a:t>
            </a:r>
            <a:r>
              <a:rPr sz="2000" b="0" dirty="0">
                <a:solidFill>
                  <a:srgbClr val="222222"/>
                </a:solidFill>
                <a:latin typeface="Tw Cen MT"/>
              </a:rPr>
              <a:t> </a:t>
            </a:r>
            <a:r>
              <a:rPr sz="2000" b="0" dirty="0" err="1">
                <a:solidFill>
                  <a:srgbClr val="222222"/>
                </a:solidFill>
                <a:latin typeface="Tw Cen MT"/>
              </a:rPr>
              <a:t>puedan</a:t>
            </a:r>
            <a:r>
              <a:rPr sz="2000" b="0" dirty="0">
                <a:solidFill>
                  <a:srgbClr val="222222"/>
                </a:solidFill>
                <a:latin typeface="Tw Cen MT"/>
              </a:rPr>
              <a:t> </a:t>
            </a:r>
            <a:r>
              <a:rPr sz="2000" b="0" dirty="0" err="1">
                <a:solidFill>
                  <a:srgbClr val="222222"/>
                </a:solidFill>
                <a:latin typeface="Tw Cen MT"/>
              </a:rPr>
              <a:t>ir</a:t>
            </a:r>
            <a:r>
              <a:rPr sz="2000" b="0" dirty="0">
                <a:solidFill>
                  <a:srgbClr val="222222"/>
                </a:solidFill>
                <a:latin typeface="Tw Cen MT"/>
              </a:rPr>
              <a:t> contra </a:t>
            </a:r>
            <a:r>
              <a:rPr sz="2000" b="0" dirty="0" err="1">
                <a:solidFill>
                  <a:srgbClr val="222222"/>
                </a:solidFill>
                <a:latin typeface="Tw Cen MT"/>
              </a:rPr>
              <a:t>el</a:t>
            </a:r>
            <a:r>
              <a:rPr sz="2000" b="0" dirty="0">
                <a:solidFill>
                  <a:srgbClr val="222222"/>
                </a:solidFill>
                <a:latin typeface="Tw Cen MT"/>
              </a:rPr>
              <a:t> </a:t>
            </a:r>
            <a:r>
              <a:rPr sz="2000" b="0" dirty="0" err="1">
                <a:solidFill>
                  <a:srgbClr val="222222"/>
                </a:solidFill>
                <a:latin typeface="Tw Cen MT"/>
              </a:rPr>
              <a:t>interés</a:t>
            </a:r>
            <a:r>
              <a:rPr sz="2000" b="0" dirty="0">
                <a:solidFill>
                  <a:srgbClr val="222222"/>
                </a:solidFill>
                <a:latin typeface="Tw Cen MT"/>
              </a:rPr>
              <a:t> de </a:t>
            </a:r>
            <a:r>
              <a:rPr sz="2000" b="0" dirty="0" err="1">
                <a:solidFill>
                  <a:srgbClr val="222222"/>
                </a:solidFill>
                <a:latin typeface="Tw Cen MT"/>
              </a:rPr>
              <a:t>los</a:t>
            </a:r>
            <a:r>
              <a:rPr sz="2000" b="0" dirty="0">
                <a:solidFill>
                  <a:srgbClr val="222222"/>
                </a:solidFill>
                <a:latin typeface="Tw Cen MT"/>
              </a:rPr>
              <a:t> </a:t>
            </a:r>
            <a:r>
              <a:rPr sz="2000" b="0" dirty="0" err="1">
                <a:solidFill>
                  <a:srgbClr val="222222"/>
                </a:solidFill>
                <a:latin typeface="Tw Cen MT"/>
              </a:rPr>
              <a:t>accionistas</a:t>
            </a:r>
            <a:r>
              <a:rPr sz="2000" b="0" dirty="0">
                <a:solidFill>
                  <a:srgbClr val="222222"/>
                </a:solidFill>
                <a:latin typeface="Tw Cen MT"/>
              </a:rPr>
              <a:t>.</a:t>
            </a:r>
          </a:p>
          <a:p>
            <a:pPr algn="l">
              <a:spcBef>
                <a:spcPts val="400"/>
              </a:spcBef>
            </a:pPr>
            <a:r>
              <a:rPr sz="2000" b="0" dirty="0">
                <a:solidFill>
                  <a:srgbClr val="222222"/>
                </a:solidFill>
                <a:latin typeface="Tw Cen MT"/>
              </a:rPr>
              <a:t>Un </a:t>
            </a:r>
            <a:r>
              <a:rPr sz="2000" b="0" dirty="0" err="1">
                <a:solidFill>
                  <a:srgbClr val="222222"/>
                </a:solidFill>
                <a:latin typeface="Tw Cen MT"/>
              </a:rPr>
              <a:t>paracaídas</a:t>
            </a:r>
            <a:r>
              <a:rPr sz="2000" b="0" dirty="0">
                <a:solidFill>
                  <a:srgbClr val="222222"/>
                </a:solidFill>
                <a:latin typeface="Tw Cen MT"/>
              </a:rPr>
              <a:t> dorado </a:t>
            </a:r>
            <a:r>
              <a:rPr sz="2000" b="0" dirty="0" err="1">
                <a:solidFill>
                  <a:srgbClr val="222222"/>
                </a:solidFill>
                <a:latin typeface="Tw Cen MT"/>
              </a:rPr>
              <a:t>proporciona</a:t>
            </a:r>
            <a:r>
              <a:rPr sz="2000" b="0" dirty="0">
                <a:solidFill>
                  <a:srgbClr val="222222"/>
                </a:solidFill>
                <a:latin typeface="Tw Cen MT"/>
              </a:rPr>
              <a:t> </a:t>
            </a:r>
            <a:r>
              <a:rPr sz="2000" b="0" dirty="0" err="1">
                <a:solidFill>
                  <a:srgbClr val="222222"/>
                </a:solidFill>
                <a:latin typeface="Tw Cen MT"/>
              </a:rPr>
              <a:t>liquidaciones</a:t>
            </a:r>
            <a:r>
              <a:rPr sz="2000" b="0" dirty="0">
                <a:solidFill>
                  <a:srgbClr val="222222"/>
                </a:solidFill>
                <a:latin typeface="Tw Cen MT"/>
              </a:rPr>
              <a:t> </a:t>
            </a:r>
            <a:r>
              <a:rPr sz="2000" b="0" dirty="0" err="1">
                <a:solidFill>
                  <a:srgbClr val="222222"/>
                </a:solidFill>
                <a:latin typeface="Tw Cen MT"/>
              </a:rPr>
              <a:t>en</a:t>
            </a:r>
            <a:r>
              <a:rPr sz="2000" b="0" dirty="0">
                <a:solidFill>
                  <a:srgbClr val="222222"/>
                </a:solidFill>
                <a:latin typeface="Tw Cen MT"/>
              </a:rPr>
              <a:t> </a:t>
            </a:r>
            <a:r>
              <a:rPr sz="2000" b="0" dirty="0" err="1">
                <a:solidFill>
                  <a:srgbClr val="222222"/>
                </a:solidFill>
                <a:latin typeface="Tw Cen MT"/>
              </a:rPr>
              <a:t>efectivo</a:t>
            </a:r>
            <a:r>
              <a:rPr sz="2000" b="0" dirty="0">
                <a:solidFill>
                  <a:srgbClr val="222222"/>
                </a:solidFill>
                <a:latin typeface="Tw Cen MT"/>
              </a:rPr>
              <a:t> </a:t>
            </a:r>
            <a:r>
              <a:rPr sz="2000" b="0" dirty="0" err="1">
                <a:solidFill>
                  <a:srgbClr val="222222"/>
                </a:solidFill>
                <a:latin typeface="Tw Cen MT"/>
              </a:rPr>
              <a:t>equivalentes</a:t>
            </a:r>
            <a:r>
              <a:rPr sz="2000" b="0" dirty="0">
                <a:solidFill>
                  <a:srgbClr val="222222"/>
                </a:solidFill>
                <a:latin typeface="Tw Cen MT"/>
              </a:rPr>
              <a:t> a </a:t>
            </a:r>
            <a:r>
              <a:rPr sz="2000" b="0" dirty="0" err="1">
                <a:solidFill>
                  <a:srgbClr val="222222"/>
                </a:solidFill>
                <a:latin typeface="Tw Cen MT"/>
              </a:rPr>
              <a:t>varios</a:t>
            </a:r>
            <a:r>
              <a:rPr sz="2000" b="0" dirty="0">
                <a:solidFill>
                  <a:srgbClr val="222222"/>
                </a:solidFill>
                <a:latin typeface="Tw Cen MT"/>
              </a:rPr>
              <a:t> </a:t>
            </a:r>
            <a:r>
              <a:rPr sz="2000" b="0" dirty="0" err="1">
                <a:solidFill>
                  <a:srgbClr val="222222"/>
                </a:solidFill>
                <a:latin typeface="Tw Cen MT"/>
              </a:rPr>
              <a:t>años</a:t>
            </a:r>
            <a:r>
              <a:rPr sz="2000" b="0" dirty="0">
                <a:solidFill>
                  <a:srgbClr val="222222"/>
                </a:solidFill>
                <a:latin typeface="Tw Cen MT"/>
              </a:rPr>
              <a:t> de </a:t>
            </a:r>
            <a:r>
              <a:rPr sz="2000" b="0" dirty="0" err="1">
                <a:solidFill>
                  <a:srgbClr val="222222"/>
                </a:solidFill>
                <a:latin typeface="Tw Cen MT"/>
              </a:rPr>
              <a:t>salario</a:t>
            </a:r>
            <a:r>
              <a:rPr sz="2000" b="0" dirty="0">
                <a:solidFill>
                  <a:srgbClr val="222222"/>
                </a:solidFill>
                <a:latin typeface="Tw Cen MT"/>
              </a:rPr>
              <a:t>.</a:t>
            </a:r>
          </a:p>
          <a:p>
            <a:pPr algn="l">
              <a:spcBef>
                <a:spcPts val="400"/>
              </a:spcBef>
              <a:buNone/>
            </a:pPr>
            <a:endParaRPr lang="es-419" sz="2000" b="1" dirty="0">
              <a:solidFill>
                <a:srgbClr val="8B0000"/>
              </a:solidFill>
              <a:latin typeface="Tw Cen MT"/>
            </a:endParaRPr>
          </a:p>
          <a:p>
            <a:pPr algn="l">
              <a:spcBef>
                <a:spcPts val="400"/>
              </a:spcBef>
              <a:buNone/>
            </a:pPr>
            <a:r>
              <a:rPr sz="2000" b="1" dirty="0">
                <a:solidFill>
                  <a:srgbClr val="8B0000"/>
                </a:solidFill>
                <a:latin typeface="Tw Cen MT"/>
              </a:rPr>
              <a:t>DOS CARACTERÍSTICAS TÍPICAS</a:t>
            </a:r>
          </a:p>
          <a:p>
            <a:pPr lvl="1" algn="l">
              <a:spcBef>
                <a:spcPts val="150"/>
              </a:spcBef>
              <a:buFont typeface="Tw Cen MT"/>
              <a:buChar char="▸"/>
            </a:pPr>
            <a:r>
              <a:rPr sz="2000" b="0" dirty="0" err="1">
                <a:solidFill>
                  <a:srgbClr val="222222"/>
                </a:solidFill>
                <a:latin typeface="Tw Cen MT"/>
              </a:rPr>
              <a:t>Cláusula</a:t>
            </a:r>
            <a:r>
              <a:rPr sz="2000" b="0" dirty="0">
                <a:solidFill>
                  <a:srgbClr val="222222"/>
                </a:solidFill>
                <a:latin typeface="Tw Cen MT"/>
              </a:rPr>
              <a:t> de </a:t>
            </a:r>
            <a:r>
              <a:rPr sz="2000" b="0" dirty="0" err="1">
                <a:solidFill>
                  <a:srgbClr val="222222"/>
                </a:solidFill>
                <a:latin typeface="Tw Cen MT"/>
              </a:rPr>
              <a:t>cambio</a:t>
            </a:r>
            <a:r>
              <a:rPr sz="2000" b="0" dirty="0">
                <a:solidFill>
                  <a:srgbClr val="222222"/>
                </a:solidFill>
                <a:latin typeface="Tw Cen MT"/>
              </a:rPr>
              <a:t> de control de la </a:t>
            </a:r>
            <a:r>
              <a:rPr sz="2000" b="0" dirty="0" err="1">
                <a:solidFill>
                  <a:srgbClr val="222222"/>
                </a:solidFill>
                <a:latin typeface="Tw Cen MT"/>
              </a:rPr>
              <a:t>compañía</a:t>
            </a:r>
            <a:r>
              <a:rPr sz="2000" b="0" dirty="0">
                <a:solidFill>
                  <a:srgbClr val="222222"/>
                </a:solidFill>
                <a:latin typeface="Tw Cen MT"/>
              </a:rPr>
              <a:t>.</a:t>
            </a:r>
          </a:p>
          <a:p>
            <a:pPr lvl="1" algn="l">
              <a:spcBef>
                <a:spcPts val="150"/>
              </a:spcBef>
              <a:buFont typeface="Tw Cen MT"/>
              <a:buChar char="▸"/>
            </a:pPr>
            <a:r>
              <a:rPr sz="2000" b="0" dirty="0" err="1">
                <a:solidFill>
                  <a:srgbClr val="222222"/>
                </a:solidFill>
                <a:latin typeface="Tw Cen MT"/>
              </a:rPr>
              <a:t>Cláusula</a:t>
            </a:r>
            <a:r>
              <a:rPr sz="2000" b="0" dirty="0">
                <a:solidFill>
                  <a:srgbClr val="222222"/>
                </a:solidFill>
                <a:latin typeface="Tw Cen MT"/>
              </a:rPr>
              <a:t> de </a:t>
            </a:r>
            <a:r>
              <a:rPr sz="2000" b="0" dirty="0" err="1">
                <a:solidFill>
                  <a:srgbClr val="222222"/>
                </a:solidFill>
                <a:latin typeface="Tw Cen MT"/>
              </a:rPr>
              <a:t>rescisión</a:t>
            </a:r>
            <a:r>
              <a:rPr sz="2000" b="0" dirty="0">
                <a:solidFill>
                  <a:srgbClr val="222222"/>
                </a:solidFill>
                <a:latin typeface="Tw Cen MT"/>
              </a:rPr>
              <a:t>: </a:t>
            </a:r>
            <a:r>
              <a:rPr sz="2000" b="0" dirty="0" err="1">
                <a:solidFill>
                  <a:srgbClr val="222222"/>
                </a:solidFill>
                <a:latin typeface="Tw Cen MT"/>
              </a:rPr>
              <a:t>si</a:t>
            </a:r>
            <a:r>
              <a:rPr sz="2000" b="0" dirty="0">
                <a:solidFill>
                  <a:srgbClr val="222222"/>
                </a:solidFill>
                <a:latin typeface="Tw Cen MT"/>
              </a:rPr>
              <a:t> </a:t>
            </a:r>
            <a:r>
              <a:rPr sz="2000" b="0" dirty="0" err="1">
                <a:solidFill>
                  <a:srgbClr val="222222"/>
                </a:solidFill>
                <a:latin typeface="Tw Cen MT"/>
              </a:rPr>
              <a:t>el</a:t>
            </a:r>
            <a:r>
              <a:rPr sz="2000" b="0" dirty="0">
                <a:solidFill>
                  <a:srgbClr val="222222"/>
                </a:solidFill>
                <a:latin typeface="Tw Cen MT"/>
              </a:rPr>
              <a:t> </a:t>
            </a:r>
            <a:r>
              <a:rPr sz="2000" b="0" dirty="0" err="1">
                <a:solidFill>
                  <a:srgbClr val="222222"/>
                </a:solidFill>
                <a:latin typeface="Tw Cen MT"/>
              </a:rPr>
              <a:t>ejecutivo</a:t>
            </a:r>
            <a:r>
              <a:rPr sz="2000" b="0" dirty="0">
                <a:solidFill>
                  <a:srgbClr val="222222"/>
                </a:solidFill>
                <a:latin typeface="Tw Cen MT"/>
              </a:rPr>
              <a:t> es </a:t>
            </a:r>
            <a:r>
              <a:rPr sz="2000" b="0" dirty="0" err="1">
                <a:solidFill>
                  <a:srgbClr val="222222"/>
                </a:solidFill>
                <a:latin typeface="Tw Cen MT"/>
              </a:rPr>
              <a:t>despedido</a:t>
            </a:r>
            <a:r>
              <a:rPr sz="2000" b="0" dirty="0">
                <a:solidFill>
                  <a:srgbClr val="222222"/>
                </a:solidFill>
                <a:latin typeface="Tw Cen MT"/>
              </a:rPr>
              <a:t> o sus </a:t>
            </a:r>
            <a:r>
              <a:rPr sz="2000" b="0" dirty="0" err="1">
                <a:solidFill>
                  <a:srgbClr val="222222"/>
                </a:solidFill>
                <a:latin typeface="Tw Cen MT"/>
              </a:rPr>
              <a:t>responsabilidades</a:t>
            </a:r>
            <a:r>
              <a:rPr sz="2000" b="0" dirty="0">
                <a:solidFill>
                  <a:srgbClr val="222222"/>
                </a:solidFill>
                <a:latin typeface="Tw Cen MT"/>
              </a:rPr>
              <a:t> </a:t>
            </a:r>
            <a:r>
              <a:rPr sz="2000" b="0" dirty="0" err="1">
                <a:solidFill>
                  <a:srgbClr val="222222"/>
                </a:solidFill>
                <a:latin typeface="Tw Cen MT"/>
              </a:rPr>
              <a:t>laborales</a:t>
            </a:r>
            <a:r>
              <a:rPr sz="2000" b="0" dirty="0">
                <a:solidFill>
                  <a:srgbClr val="222222"/>
                </a:solidFill>
                <a:latin typeface="Tw Cen MT"/>
              </a:rPr>
              <a:t> </a:t>
            </a:r>
            <a:r>
              <a:rPr sz="2000" b="0" dirty="0" err="1">
                <a:solidFill>
                  <a:srgbClr val="222222"/>
                </a:solidFill>
                <a:latin typeface="Tw Cen MT"/>
              </a:rPr>
              <a:t>disminuyen</a:t>
            </a:r>
            <a:r>
              <a:rPr sz="2000" b="0" dirty="0">
                <a:solidFill>
                  <a:srgbClr val="222222"/>
                </a:solidFill>
                <a:latin typeface="Tw Cen MT"/>
              </a:rPr>
              <a:t>.</a:t>
            </a:r>
          </a:p>
          <a:p>
            <a:pPr algn="l">
              <a:spcBef>
                <a:spcPts val="400"/>
              </a:spcBef>
              <a:buNone/>
            </a:pPr>
            <a:endParaRPr lang="es-419" sz="2000" b="1" dirty="0">
              <a:solidFill>
                <a:srgbClr val="8B0000"/>
              </a:solidFill>
              <a:latin typeface="Tw Cen MT"/>
            </a:endParaRPr>
          </a:p>
          <a:p>
            <a:pPr algn="l">
              <a:spcBef>
                <a:spcPts val="400"/>
              </a:spcBef>
              <a:buNone/>
            </a:pPr>
            <a:r>
              <a:rPr sz="2000" b="1" dirty="0">
                <a:solidFill>
                  <a:srgbClr val="8B0000"/>
                </a:solidFill>
                <a:latin typeface="Tw Cen MT"/>
              </a:rPr>
              <a:t>EJEMPLOS</a:t>
            </a:r>
          </a:p>
          <a:p>
            <a:pPr lvl="1" algn="l">
              <a:spcBef>
                <a:spcPts val="150"/>
              </a:spcBef>
              <a:buFont typeface="Tw Cen MT"/>
              <a:buChar char="▸"/>
            </a:pPr>
            <a:r>
              <a:rPr sz="2000" b="0" dirty="0">
                <a:solidFill>
                  <a:srgbClr val="222222"/>
                </a:solidFill>
                <a:latin typeface="Tw Cen MT"/>
              </a:rPr>
              <a:t>Marissa Mayer (Yahoo → Verizon): U$S 23 </a:t>
            </a:r>
            <a:r>
              <a:rPr sz="2000" b="0" dirty="0" err="1">
                <a:solidFill>
                  <a:srgbClr val="222222"/>
                </a:solidFill>
                <a:latin typeface="Tw Cen MT"/>
              </a:rPr>
              <a:t>millones</a:t>
            </a:r>
            <a:r>
              <a:rPr sz="2000" b="0" dirty="0">
                <a:solidFill>
                  <a:srgbClr val="222222"/>
                </a:solidFill>
                <a:latin typeface="Tw Cen MT"/>
              </a:rPr>
              <a:t>.</a:t>
            </a:r>
          </a:p>
          <a:p>
            <a:pPr lvl="1" algn="l">
              <a:spcBef>
                <a:spcPts val="150"/>
              </a:spcBef>
              <a:buFont typeface="Tw Cen MT"/>
              <a:buChar char="▸"/>
            </a:pPr>
            <a:r>
              <a:rPr sz="2000" b="0" dirty="0">
                <a:solidFill>
                  <a:srgbClr val="222222"/>
                </a:solidFill>
                <a:latin typeface="Tw Cen MT"/>
              </a:rPr>
              <a:t>Andrew Liveris (Dow, </a:t>
            </a:r>
            <a:r>
              <a:rPr sz="2000" b="0" dirty="0" err="1">
                <a:solidFill>
                  <a:srgbClr val="222222"/>
                </a:solidFill>
                <a:latin typeface="Tw Cen MT"/>
              </a:rPr>
              <a:t>fusión</a:t>
            </a:r>
            <a:r>
              <a:rPr sz="2000" b="0" dirty="0">
                <a:solidFill>
                  <a:srgbClr val="222222"/>
                </a:solidFill>
                <a:latin typeface="Tw Cen MT"/>
              </a:rPr>
              <a:t> con DuPont): U$S 52,8 </a:t>
            </a:r>
            <a:r>
              <a:rPr sz="2000" b="0" dirty="0" err="1">
                <a:solidFill>
                  <a:srgbClr val="222222"/>
                </a:solidFill>
                <a:latin typeface="Tw Cen MT"/>
              </a:rPr>
              <a:t>millones</a:t>
            </a:r>
            <a:r>
              <a:rPr sz="2000" b="0" dirty="0">
                <a:solidFill>
                  <a:srgbClr val="222222"/>
                </a:solidFill>
                <a:latin typeface="Tw Cen MT"/>
              </a:rPr>
              <a:t>.</a:t>
            </a:r>
          </a:p>
          <a:p>
            <a:pPr lvl="1" algn="l">
              <a:spcBef>
                <a:spcPts val="150"/>
              </a:spcBef>
              <a:buFont typeface="Tw Cen MT"/>
              <a:buChar char="▸"/>
            </a:pPr>
            <a:r>
              <a:rPr sz="2000" b="0" dirty="0">
                <a:solidFill>
                  <a:srgbClr val="222222"/>
                </a:solidFill>
                <a:latin typeface="Tw Cen MT"/>
              </a:rPr>
              <a:t>Carly Fiorina (HP, despedida </a:t>
            </a:r>
            <a:r>
              <a:rPr sz="2000" b="0" dirty="0" err="1">
                <a:solidFill>
                  <a:srgbClr val="222222"/>
                </a:solidFill>
                <a:latin typeface="Tw Cen MT"/>
              </a:rPr>
              <a:t>por</a:t>
            </a:r>
            <a:r>
              <a:rPr sz="2000" b="0" dirty="0">
                <a:solidFill>
                  <a:srgbClr val="222222"/>
                </a:solidFill>
                <a:latin typeface="Tw Cen MT"/>
              </a:rPr>
              <a:t> </a:t>
            </a:r>
            <a:r>
              <a:rPr sz="2000" b="0" dirty="0" err="1">
                <a:solidFill>
                  <a:srgbClr val="222222"/>
                </a:solidFill>
                <a:latin typeface="Tw Cen MT"/>
              </a:rPr>
              <a:t>desempeño</a:t>
            </a:r>
            <a:r>
              <a:rPr sz="2000" b="0" dirty="0">
                <a:solidFill>
                  <a:srgbClr val="222222"/>
                </a:solidFill>
                <a:latin typeface="Tw Cen MT"/>
              </a:rPr>
              <a:t>): U$S 45 </a:t>
            </a:r>
            <a:r>
              <a:rPr sz="2000" b="0" dirty="0" err="1">
                <a:solidFill>
                  <a:srgbClr val="222222"/>
                </a:solidFill>
                <a:latin typeface="Tw Cen MT"/>
              </a:rPr>
              <a:t>millones</a:t>
            </a:r>
            <a:r>
              <a:rPr sz="2000" b="0" dirty="0">
                <a:solidFill>
                  <a:srgbClr val="222222"/>
                </a:solidFill>
                <a:latin typeface="Tw Cen MT"/>
              </a:rPr>
              <a:t> (U$S 21 </a:t>
            </a:r>
            <a:r>
              <a:rPr sz="2000" b="0" dirty="0" err="1">
                <a:solidFill>
                  <a:srgbClr val="222222"/>
                </a:solidFill>
                <a:latin typeface="Tw Cen MT"/>
              </a:rPr>
              <a:t>millones</a:t>
            </a:r>
            <a:r>
              <a:rPr sz="2000" b="0" dirty="0">
                <a:solidFill>
                  <a:srgbClr val="222222"/>
                </a:solidFill>
                <a:latin typeface="Tw Cen MT"/>
              </a:rPr>
              <a:t> de </a:t>
            </a:r>
            <a:r>
              <a:rPr sz="2000" b="0" dirty="0" err="1">
                <a:solidFill>
                  <a:srgbClr val="222222"/>
                </a:solidFill>
                <a:latin typeface="Tw Cen MT"/>
              </a:rPr>
              <a:t>indemnización</a:t>
            </a:r>
            <a:r>
              <a:rPr sz="2000" b="0" dirty="0">
                <a:solidFill>
                  <a:srgbClr val="222222"/>
                </a:solidFill>
                <a:latin typeface="Tw Cen MT"/>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27A67-74A7-7B91-271D-5B871BC9E72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0537216-7EAC-A548-DDB2-7794864082B1}"/>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556486C-059D-920C-9414-83C4F5A3EEDC}"/>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B748695-2C98-5F19-113A-6ED53F4D4906}"/>
              </a:ext>
            </a:extLst>
          </p:cNvPr>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Cómo se Arma el Salario del CEO</a:t>
            </a:r>
          </a:p>
        </p:txBody>
      </p:sp>
      <p:sp>
        <p:nvSpPr>
          <p:cNvPr id="6" name="CuadroTexto 5">
            <a:extLst>
              <a:ext uri="{FF2B5EF4-FFF2-40B4-BE49-F238E27FC236}">
                <a16:creationId xmlns:a16="http://schemas.microsoft.com/office/drawing/2014/main" id="{1D4A1BFA-6B7D-395A-5A67-DA2BF1415CCA}"/>
              </a:ext>
            </a:extLst>
          </p:cNvPr>
          <p:cNvSpPr txBox="1"/>
          <p:nvPr/>
        </p:nvSpPr>
        <p:spPr>
          <a:xfrm>
            <a:off x="674670" y="1266049"/>
            <a:ext cx="7965897" cy="4401205"/>
          </a:xfrm>
          <a:prstGeom prst="rect">
            <a:avLst/>
          </a:prstGeom>
          <a:noFill/>
        </p:spPr>
        <p:txBody>
          <a:bodyPr wrap="square">
            <a:spAutoFit/>
          </a:bodyPr>
          <a:lstStyle/>
          <a:p>
            <a:endParaRPr lang="es-AR" sz="2000" dirty="0">
              <a:latin typeface="Tw Cen MT" panose="020B0602020104020603" pitchFamily="34" charset="0"/>
            </a:endParaRPr>
          </a:p>
          <a:p>
            <a:r>
              <a:rPr lang="es-AR" sz="2000" dirty="0">
                <a:latin typeface="Tw Cen MT" panose="020B0602020104020603" pitchFamily="34" charset="0"/>
              </a:rPr>
              <a:t>- El salario del CEO tiene tres componentes. Una suma fija mensual asegurada (que suele representar el 72%), una parte variable de corto plazo (22%) y un porcentaje variable de largo plazo (6%)”, especifica </a:t>
            </a:r>
            <a:r>
              <a:rPr lang="es-AR" sz="2000" dirty="0" err="1">
                <a:latin typeface="Tw Cen MT" panose="020B0602020104020603" pitchFamily="34" charset="0"/>
              </a:rPr>
              <a:t>Mondelli</a:t>
            </a:r>
            <a:r>
              <a:rPr lang="es-AR" sz="2000" dirty="0">
                <a:latin typeface="Tw Cen MT" panose="020B0602020104020603" pitchFamily="34" charset="0"/>
              </a:rPr>
              <a:t>.</a:t>
            </a:r>
          </a:p>
          <a:p>
            <a:endParaRPr lang="es-AR" sz="2000" dirty="0">
              <a:latin typeface="Tw Cen MT" panose="020B0602020104020603" pitchFamily="34" charset="0"/>
            </a:endParaRPr>
          </a:p>
          <a:p>
            <a:r>
              <a:rPr lang="es-AR" sz="2000" dirty="0">
                <a:latin typeface="Tw Cen MT" panose="020B0602020104020603" pitchFamily="34" charset="0"/>
              </a:rPr>
              <a:t>– Las porciones variables de corto y largo plazo fueron tomando más preponderancia, porque en los últimos 15 años hubo mucho énfasis en la gestión del desempeño. Sin embargo, en Argentina y Brasil, desde 2010, el porcentaje de sueldo fijo fue creciendo sobre el variable.</a:t>
            </a:r>
          </a:p>
          <a:p>
            <a:endParaRPr lang="es-AR" sz="2000" dirty="0">
              <a:latin typeface="Tw Cen MT" panose="020B0602020104020603" pitchFamily="34" charset="0"/>
            </a:endParaRPr>
          </a:p>
          <a:p>
            <a:r>
              <a:rPr lang="es-AR" sz="2000" dirty="0">
                <a:latin typeface="Tw Cen MT" panose="020B0602020104020603" pitchFamily="34" charset="0"/>
              </a:rPr>
              <a:t>– Beneficios: En Latinoamérica el más valorado es el plan de salud, plan de pensión, seguro de vida, automóvil, y membresías de club, de asociaciones de golf y de gimnasios.</a:t>
            </a:r>
          </a:p>
        </p:txBody>
      </p:sp>
      <p:sp>
        <p:nvSpPr>
          <p:cNvPr id="7" name="CuadroTexto 6">
            <a:extLst>
              <a:ext uri="{FF2B5EF4-FFF2-40B4-BE49-F238E27FC236}">
                <a16:creationId xmlns:a16="http://schemas.microsoft.com/office/drawing/2014/main" id="{AB09E6BC-433B-7B9E-531C-12E061CC0219}"/>
              </a:ext>
            </a:extLst>
          </p:cNvPr>
          <p:cNvSpPr txBox="1"/>
          <p:nvPr/>
        </p:nvSpPr>
        <p:spPr>
          <a:xfrm>
            <a:off x="575352" y="5336738"/>
            <a:ext cx="8263847" cy="923330"/>
          </a:xfrm>
          <a:prstGeom prst="rect">
            <a:avLst/>
          </a:prstGeom>
          <a:noFill/>
        </p:spPr>
        <p:txBody>
          <a:bodyPr wrap="square">
            <a:spAutoFit/>
          </a:bodyPr>
          <a:lstStyle/>
          <a:p>
            <a:pPr algn="r"/>
            <a:endParaRPr lang="es-AR" dirty="0">
              <a:latin typeface="ClarinvarVF"/>
            </a:endParaRPr>
          </a:p>
          <a:p>
            <a:pPr algn="r"/>
            <a:endParaRPr lang="es-AR" b="0" i="0" dirty="0">
              <a:effectLst/>
              <a:latin typeface="ClarinvarVF"/>
            </a:endParaRPr>
          </a:p>
          <a:p>
            <a:pPr algn="r"/>
            <a:r>
              <a:rPr lang="es-AR" b="0" i="0" dirty="0">
                <a:effectLst/>
                <a:latin typeface="ClarinvarVF"/>
              </a:rPr>
              <a:t>Alberto </a:t>
            </a:r>
            <a:r>
              <a:rPr lang="es-AR" b="0" i="0" dirty="0" err="1">
                <a:effectLst/>
                <a:latin typeface="ClarinvarVF"/>
              </a:rPr>
              <a:t>Mondelli</a:t>
            </a:r>
            <a:r>
              <a:rPr lang="es-AR" b="0" i="0" dirty="0">
                <a:effectLst/>
                <a:latin typeface="ClarinvarVF"/>
              </a:rPr>
              <a:t>, director de la consultora Mercer,</a:t>
            </a:r>
            <a:endParaRPr lang="es-AR" dirty="0"/>
          </a:p>
        </p:txBody>
      </p:sp>
      <p:sp>
        <p:nvSpPr>
          <p:cNvPr id="8" name="CuadroTexto 7">
            <a:extLst>
              <a:ext uri="{FF2B5EF4-FFF2-40B4-BE49-F238E27FC236}">
                <a16:creationId xmlns:a16="http://schemas.microsoft.com/office/drawing/2014/main" id="{E6FB987A-A887-65FF-76B7-7BC5AEBFAFC9}"/>
              </a:ext>
            </a:extLst>
          </p:cNvPr>
          <p:cNvSpPr txBox="1"/>
          <p:nvPr/>
        </p:nvSpPr>
        <p:spPr>
          <a:xfrm>
            <a:off x="3786294" y="6189702"/>
            <a:ext cx="5193320" cy="369332"/>
          </a:xfrm>
          <a:prstGeom prst="rect">
            <a:avLst/>
          </a:prstGeom>
          <a:noFill/>
        </p:spPr>
        <p:txBody>
          <a:bodyPr wrap="square">
            <a:spAutoFit/>
          </a:bodyPr>
          <a:lstStyle/>
          <a:p>
            <a:r>
              <a:rPr lang="es-AR" dirty="0"/>
              <a:t>https://www.clarin.com/economia/arma-salario-CEO</a:t>
            </a:r>
          </a:p>
        </p:txBody>
      </p:sp>
    </p:spTree>
    <p:extLst>
      <p:ext uri="{BB962C8B-B14F-4D97-AF65-F5344CB8AC3E}">
        <p14:creationId xmlns:p14="http://schemas.microsoft.com/office/powerpoint/2010/main" val="2639565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Composición de la Remuneración del CEO</a:t>
            </a:r>
          </a:p>
        </p:txBody>
      </p:sp>
      <p:sp>
        <p:nvSpPr>
          <p:cNvPr id="5" name="TextBox 4"/>
          <p:cNvSpPr txBox="1"/>
          <p:nvPr/>
        </p:nvSpPr>
        <p:spPr>
          <a:xfrm>
            <a:off x="304800" y="1220000"/>
            <a:ext cx="8534400" cy="4555093"/>
          </a:xfrm>
          <a:prstGeom prst="rect">
            <a:avLst/>
          </a:prstGeom>
          <a:noFill/>
        </p:spPr>
        <p:txBody>
          <a:bodyPr wrap="square">
            <a:spAutoFit/>
          </a:bodyPr>
          <a:lstStyle/>
          <a:p>
            <a:pPr algn="l">
              <a:spcBef>
                <a:spcPts val="400"/>
              </a:spcBef>
            </a:pPr>
            <a:r>
              <a:rPr sz="2000" b="0" dirty="0">
                <a:solidFill>
                  <a:srgbClr val="222222"/>
                </a:solidFill>
                <a:latin typeface="Tw Cen MT"/>
              </a:rPr>
              <a:t>1. Salario.</a:t>
            </a:r>
          </a:p>
          <a:p>
            <a:pPr algn="l">
              <a:spcBef>
                <a:spcPts val="400"/>
              </a:spcBef>
            </a:pPr>
            <a:r>
              <a:rPr sz="2000" b="0" dirty="0">
                <a:solidFill>
                  <a:srgbClr val="222222"/>
                </a:solidFill>
                <a:latin typeface="Tw Cen MT"/>
              </a:rPr>
              <a:t>2. Bonus </a:t>
            </a:r>
            <a:r>
              <a:rPr sz="2000" b="0" dirty="0" err="1">
                <a:solidFill>
                  <a:srgbClr val="222222"/>
                </a:solidFill>
                <a:latin typeface="Tw Cen MT"/>
              </a:rPr>
              <a:t>anual</a:t>
            </a:r>
            <a:r>
              <a:rPr sz="2000" b="0" dirty="0">
                <a:solidFill>
                  <a:srgbClr val="222222"/>
                </a:solidFill>
                <a:latin typeface="Tw Cen MT"/>
              </a:rPr>
              <a:t> </a:t>
            </a:r>
            <a:r>
              <a:rPr sz="2000" b="0" dirty="0" err="1">
                <a:solidFill>
                  <a:srgbClr val="222222"/>
                </a:solidFill>
                <a:latin typeface="Tw Cen MT"/>
              </a:rPr>
              <a:t>sujeto</a:t>
            </a:r>
            <a:r>
              <a:rPr sz="2000" b="0" dirty="0">
                <a:solidFill>
                  <a:srgbClr val="222222"/>
                </a:solidFill>
                <a:latin typeface="Tw Cen MT"/>
              </a:rPr>
              <a:t> a </a:t>
            </a:r>
            <a:r>
              <a:rPr sz="2000" b="0" dirty="0" err="1">
                <a:solidFill>
                  <a:srgbClr val="222222"/>
                </a:solidFill>
                <a:latin typeface="Tw Cen MT"/>
              </a:rPr>
              <a:t>objetivos</a:t>
            </a:r>
            <a:r>
              <a:rPr sz="2000" b="0" dirty="0">
                <a:solidFill>
                  <a:srgbClr val="222222"/>
                </a:solidFill>
                <a:latin typeface="Tw Cen MT"/>
              </a:rPr>
              <a:t> (corto </a:t>
            </a:r>
            <a:r>
              <a:rPr sz="2000" b="0" dirty="0" err="1">
                <a:solidFill>
                  <a:srgbClr val="222222"/>
                </a:solidFill>
                <a:latin typeface="Tw Cen MT"/>
              </a:rPr>
              <a:t>plazo</a:t>
            </a:r>
            <a:r>
              <a:rPr sz="2000" b="0" dirty="0">
                <a:solidFill>
                  <a:srgbClr val="222222"/>
                </a:solidFill>
                <a:latin typeface="Tw Cen MT"/>
              </a:rPr>
              <a:t>).</a:t>
            </a:r>
          </a:p>
          <a:p>
            <a:pPr algn="l">
              <a:spcBef>
                <a:spcPts val="400"/>
              </a:spcBef>
            </a:pPr>
            <a:r>
              <a:rPr sz="2000" b="0" dirty="0">
                <a:solidFill>
                  <a:srgbClr val="222222"/>
                </a:solidFill>
                <a:latin typeface="Tw Cen MT"/>
              </a:rPr>
              <a:t>3. Acciones / stock options para </a:t>
            </a:r>
            <a:r>
              <a:rPr sz="2000" b="0" dirty="0" err="1">
                <a:solidFill>
                  <a:srgbClr val="222222"/>
                </a:solidFill>
                <a:latin typeface="Tw Cen MT"/>
              </a:rPr>
              <a:t>incentivar</a:t>
            </a:r>
            <a:r>
              <a:rPr sz="2000" b="0" dirty="0">
                <a:solidFill>
                  <a:srgbClr val="222222"/>
                </a:solidFill>
                <a:latin typeface="Tw Cen MT"/>
              </a:rPr>
              <a:t> al largo </a:t>
            </a:r>
            <a:r>
              <a:rPr sz="2000" b="0" dirty="0" err="1">
                <a:solidFill>
                  <a:srgbClr val="222222"/>
                </a:solidFill>
                <a:latin typeface="Tw Cen MT"/>
              </a:rPr>
              <a:t>plazo</a:t>
            </a:r>
            <a:r>
              <a:rPr sz="2000" b="0" dirty="0">
                <a:solidFill>
                  <a:srgbClr val="222222"/>
                </a:solidFill>
                <a:latin typeface="Tw Cen MT"/>
              </a:rPr>
              <a:t>.</a:t>
            </a:r>
          </a:p>
          <a:p>
            <a:pPr algn="l">
              <a:spcBef>
                <a:spcPts val="400"/>
              </a:spcBef>
            </a:pPr>
            <a:r>
              <a:rPr sz="2000" b="0" dirty="0">
                <a:solidFill>
                  <a:srgbClr val="222222"/>
                </a:solidFill>
                <a:latin typeface="Tw Cen MT"/>
              </a:rPr>
              <a:t>4. Planes </a:t>
            </a:r>
            <a:r>
              <a:rPr sz="2000" b="0" dirty="0" err="1">
                <a:solidFill>
                  <a:srgbClr val="222222"/>
                </a:solidFill>
                <a:latin typeface="Tw Cen MT"/>
              </a:rPr>
              <a:t>suplementarios</a:t>
            </a:r>
            <a:r>
              <a:rPr sz="2000" b="0" dirty="0">
                <a:solidFill>
                  <a:srgbClr val="222222"/>
                </a:solidFill>
                <a:latin typeface="Tw Cen MT"/>
              </a:rPr>
              <a:t> de </a:t>
            </a:r>
            <a:r>
              <a:rPr sz="2000" b="0" dirty="0" err="1">
                <a:solidFill>
                  <a:srgbClr val="222222"/>
                </a:solidFill>
                <a:latin typeface="Tw Cen MT"/>
              </a:rPr>
              <a:t>retiro</a:t>
            </a:r>
            <a:r>
              <a:rPr sz="2000" b="0" dirty="0">
                <a:solidFill>
                  <a:srgbClr val="222222"/>
                </a:solidFill>
                <a:latin typeface="Tw Cen MT"/>
              </a:rPr>
              <a:t>.</a:t>
            </a:r>
          </a:p>
          <a:p>
            <a:pPr algn="l">
              <a:spcBef>
                <a:spcPts val="400"/>
              </a:spcBef>
            </a:pPr>
            <a:r>
              <a:rPr sz="2000" b="0" dirty="0">
                <a:solidFill>
                  <a:srgbClr val="222222"/>
                </a:solidFill>
                <a:latin typeface="Tw Cen MT"/>
              </a:rPr>
              <a:t>5. </a:t>
            </a:r>
            <a:r>
              <a:rPr sz="2000" b="0" dirty="0" err="1">
                <a:solidFill>
                  <a:srgbClr val="222222"/>
                </a:solidFill>
                <a:latin typeface="Tw Cen MT"/>
              </a:rPr>
              <a:t>Remuneraciones</a:t>
            </a:r>
            <a:r>
              <a:rPr sz="2000" b="0" dirty="0">
                <a:solidFill>
                  <a:srgbClr val="222222"/>
                </a:solidFill>
                <a:latin typeface="Tw Cen MT"/>
              </a:rPr>
              <a:t> </a:t>
            </a:r>
            <a:r>
              <a:rPr sz="2000" b="0" dirty="0" err="1">
                <a:solidFill>
                  <a:srgbClr val="222222"/>
                </a:solidFill>
                <a:latin typeface="Tw Cen MT"/>
              </a:rPr>
              <a:t>diferidas</a:t>
            </a:r>
            <a:r>
              <a:rPr sz="2000" b="0" dirty="0">
                <a:solidFill>
                  <a:srgbClr val="222222"/>
                </a:solidFill>
                <a:latin typeface="Tw Cen MT"/>
              </a:rPr>
              <a:t>: </a:t>
            </a:r>
            <a:r>
              <a:rPr sz="2000" b="0" dirty="0" err="1">
                <a:solidFill>
                  <a:srgbClr val="222222"/>
                </a:solidFill>
                <a:latin typeface="Tw Cen MT"/>
              </a:rPr>
              <a:t>pago</a:t>
            </a:r>
            <a:r>
              <a:rPr sz="2000" b="0" dirty="0">
                <a:solidFill>
                  <a:srgbClr val="222222"/>
                </a:solidFill>
                <a:latin typeface="Tw Cen MT"/>
              </a:rPr>
              <a:t> </a:t>
            </a:r>
            <a:r>
              <a:rPr sz="2000" b="0" dirty="0" err="1">
                <a:solidFill>
                  <a:srgbClr val="222222"/>
                </a:solidFill>
                <a:latin typeface="Tw Cen MT"/>
              </a:rPr>
              <a:t>diferido</a:t>
            </a:r>
            <a:r>
              <a:rPr sz="2000" b="0" dirty="0">
                <a:solidFill>
                  <a:srgbClr val="222222"/>
                </a:solidFill>
                <a:latin typeface="Tw Cen MT"/>
              </a:rPr>
              <a:t> de un </a:t>
            </a:r>
            <a:r>
              <a:rPr sz="2000" b="0" dirty="0" err="1">
                <a:solidFill>
                  <a:srgbClr val="222222"/>
                </a:solidFill>
                <a:latin typeface="Tw Cen MT"/>
              </a:rPr>
              <a:t>porcentaje</a:t>
            </a:r>
            <a:r>
              <a:rPr sz="2000" b="0" dirty="0">
                <a:solidFill>
                  <a:srgbClr val="222222"/>
                </a:solidFill>
                <a:latin typeface="Tw Cen MT"/>
              </a:rPr>
              <a:t> del bono, </a:t>
            </a:r>
            <a:r>
              <a:rPr sz="2000" b="0" dirty="0" err="1">
                <a:solidFill>
                  <a:srgbClr val="222222"/>
                </a:solidFill>
                <a:latin typeface="Tw Cen MT"/>
              </a:rPr>
              <a:t>prorrateado</a:t>
            </a:r>
            <a:r>
              <a:rPr sz="2000" b="0" dirty="0">
                <a:solidFill>
                  <a:srgbClr val="222222"/>
                </a:solidFill>
                <a:latin typeface="Tw Cen MT"/>
              </a:rPr>
              <a:t> </a:t>
            </a:r>
            <a:r>
              <a:rPr sz="2000" b="0" dirty="0" err="1">
                <a:solidFill>
                  <a:srgbClr val="222222"/>
                </a:solidFill>
                <a:latin typeface="Tw Cen MT"/>
              </a:rPr>
              <a:t>en</a:t>
            </a:r>
            <a:r>
              <a:rPr sz="2000" b="0" dirty="0">
                <a:solidFill>
                  <a:srgbClr val="222222"/>
                </a:solidFill>
                <a:latin typeface="Tw Cen MT"/>
              </a:rPr>
              <a:t> dos o </a:t>
            </a:r>
            <a:r>
              <a:rPr sz="2000" b="0" dirty="0" err="1">
                <a:solidFill>
                  <a:srgbClr val="222222"/>
                </a:solidFill>
                <a:latin typeface="Tw Cen MT"/>
              </a:rPr>
              <a:t>tres</a:t>
            </a:r>
            <a:r>
              <a:rPr sz="2000" b="0" dirty="0">
                <a:solidFill>
                  <a:srgbClr val="222222"/>
                </a:solidFill>
                <a:latin typeface="Tw Cen MT"/>
              </a:rPr>
              <a:t> </a:t>
            </a:r>
            <a:r>
              <a:rPr sz="2000" b="0" dirty="0" err="1">
                <a:solidFill>
                  <a:srgbClr val="222222"/>
                </a:solidFill>
                <a:latin typeface="Tw Cen MT"/>
              </a:rPr>
              <a:t>años</a:t>
            </a:r>
            <a:r>
              <a:rPr sz="2000" b="0" dirty="0">
                <a:solidFill>
                  <a:srgbClr val="222222"/>
                </a:solidFill>
                <a:latin typeface="Tw Cen MT"/>
              </a:rPr>
              <a:t> para </a:t>
            </a:r>
            <a:r>
              <a:rPr sz="2000" b="0" dirty="0" err="1">
                <a:solidFill>
                  <a:srgbClr val="222222"/>
                </a:solidFill>
                <a:latin typeface="Tw Cen MT"/>
              </a:rPr>
              <a:t>controlar</a:t>
            </a:r>
            <a:r>
              <a:rPr sz="2000" b="0" dirty="0">
                <a:solidFill>
                  <a:srgbClr val="222222"/>
                </a:solidFill>
                <a:latin typeface="Tw Cen MT"/>
              </a:rPr>
              <a:t> </a:t>
            </a:r>
            <a:r>
              <a:rPr sz="2000" b="0" dirty="0" err="1">
                <a:solidFill>
                  <a:srgbClr val="222222"/>
                </a:solidFill>
                <a:latin typeface="Tw Cen MT"/>
              </a:rPr>
              <a:t>el</a:t>
            </a:r>
            <a:r>
              <a:rPr sz="2000" b="0" dirty="0">
                <a:solidFill>
                  <a:srgbClr val="222222"/>
                </a:solidFill>
                <a:latin typeface="Tw Cen MT"/>
              </a:rPr>
              <a:t> </a:t>
            </a:r>
            <a:r>
              <a:rPr sz="2000" b="0" dirty="0" err="1">
                <a:solidFill>
                  <a:srgbClr val="222222"/>
                </a:solidFill>
                <a:latin typeface="Tw Cen MT"/>
              </a:rPr>
              <a:t>riesgo</a:t>
            </a:r>
            <a:r>
              <a:rPr sz="2000" b="0" dirty="0">
                <a:solidFill>
                  <a:srgbClr val="222222"/>
                </a:solidFill>
                <a:latin typeface="Tw Cen MT"/>
              </a:rPr>
              <a:t> y </a:t>
            </a:r>
            <a:r>
              <a:rPr sz="2000" b="0" dirty="0" err="1">
                <a:solidFill>
                  <a:srgbClr val="222222"/>
                </a:solidFill>
                <a:latin typeface="Tw Cen MT"/>
              </a:rPr>
              <a:t>garantizar</a:t>
            </a:r>
            <a:r>
              <a:rPr sz="2000" b="0" dirty="0">
                <a:solidFill>
                  <a:srgbClr val="222222"/>
                </a:solidFill>
                <a:latin typeface="Tw Cen MT"/>
              </a:rPr>
              <a:t> la </a:t>
            </a:r>
            <a:r>
              <a:rPr sz="2000" b="0" dirty="0" err="1">
                <a:solidFill>
                  <a:srgbClr val="222222"/>
                </a:solidFill>
                <a:latin typeface="Tw Cen MT"/>
              </a:rPr>
              <a:t>sustentabilidad</a:t>
            </a:r>
            <a:r>
              <a:rPr sz="2000" b="0" dirty="0">
                <a:solidFill>
                  <a:srgbClr val="222222"/>
                </a:solidFill>
                <a:latin typeface="Tw Cen MT"/>
              </a:rPr>
              <a:t>.</a:t>
            </a:r>
          </a:p>
          <a:p>
            <a:pPr algn="l">
              <a:spcBef>
                <a:spcPts val="400"/>
              </a:spcBef>
            </a:pPr>
            <a:r>
              <a:rPr sz="2000" b="0" dirty="0">
                <a:solidFill>
                  <a:srgbClr val="222222"/>
                </a:solidFill>
                <a:latin typeface="Tw Cen MT"/>
              </a:rPr>
              <a:t>6. </a:t>
            </a:r>
            <a:r>
              <a:rPr sz="2000" b="0" dirty="0" err="1">
                <a:solidFill>
                  <a:srgbClr val="222222"/>
                </a:solidFill>
                <a:latin typeface="Tw Cen MT"/>
              </a:rPr>
              <a:t>Paracaídas</a:t>
            </a:r>
            <a:r>
              <a:rPr sz="2000" b="0" dirty="0">
                <a:solidFill>
                  <a:srgbClr val="222222"/>
                </a:solidFill>
                <a:latin typeface="Tw Cen MT"/>
              </a:rPr>
              <a:t> de </a:t>
            </a:r>
            <a:r>
              <a:rPr sz="2000" b="0" dirty="0" err="1">
                <a:solidFill>
                  <a:srgbClr val="222222"/>
                </a:solidFill>
                <a:latin typeface="Tw Cen MT"/>
              </a:rPr>
              <a:t>oro</a:t>
            </a:r>
            <a:r>
              <a:rPr sz="2000" b="0" dirty="0">
                <a:solidFill>
                  <a:srgbClr val="222222"/>
                </a:solidFill>
                <a:latin typeface="Tw Cen MT"/>
              </a:rPr>
              <a:t>.</a:t>
            </a:r>
          </a:p>
          <a:p>
            <a:pPr algn="l">
              <a:spcBef>
                <a:spcPts val="400"/>
              </a:spcBef>
            </a:pPr>
            <a:r>
              <a:rPr lang="es-419" sz="2000" dirty="0">
                <a:solidFill>
                  <a:srgbClr val="222222"/>
                </a:solidFill>
                <a:latin typeface="Tw Cen MT"/>
              </a:rPr>
              <a:t>7</a:t>
            </a:r>
            <a:r>
              <a:rPr sz="2000" b="0" dirty="0">
                <a:solidFill>
                  <a:srgbClr val="222222"/>
                </a:solidFill>
                <a:latin typeface="Tw Cen MT"/>
              </a:rPr>
              <a:t>. </a:t>
            </a:r>
            <a:r>
              <a:rPr sz="2000" b="0" dirty="0" err="1">
                <a:solidFill>
                  <a:srgbClr val="222222"/>
                </a:solidFill>
                <a:latin typeface="Tw Cen MT"/>
              </a:rPr>
              <a:t>Beneficios</a:t>
            </a:r>
            <a:r>
              <a:rPr sz="2000" b="0" dirty="0">
                <a:solidFill>
                  <a:srgbClr val="222222"/>
                </a:solidFill>
                <a:latin typeface="Tw Cen MT"/>
              </a:rPr>
              <a:t> </a:t>
            </a:r>
            <a:r>
              <a:rPr sz="2000" b="0" dirty="0" err="1">
                <a:solidFill>
                  <a:srgbClr val="222222"/>
                </a:solidFill>
                <a:latin typeface="Tw Cen MT"/>
              </a:rPr>
              <a:t>varios</a:t>
            </a:r>
            <a:r>
              <a:rPr sz="2000" b="0" dirty="0">
                <a:solidFill>
                  <a:srgbClr val="222222"/>
                </a:solidFill>
                <a:latin typeface="Tw Cen MT"/>
              </a:rPr>
              <a:t>: </a:t>
            </a:r>
            <a:r>
              <a:rPr sz="2000" b="0" dirty="0" err="1">
                <a:solidFill>
                  <a:srgbClr val="222222"/>
                </a:solidFill>
                <a:latin typeface="Tw Cen MT"/>
              </a:rPr>
              <a:t>automóvil</a:t>
            </a:r>
            <a:r>
              <a:rPr sz="2000" b="0" dirty="0">
                <a:solidFill>
                  <a:srgbClr val="222222"/>
                </a:solidFill>
                <a:latin typeface="Tw Cen MT"/>
              </a:rPr>
              <a:t>, </a:t>
            </a:r>
            <a:r>
              <a:rPr sz="2000" b="0" dirty="0" err="1">
                <a:solidFill>
                  <a:srgbClr val="222222"/>
                </a:solidFill>
                <a:latin typeface="Tw Cen MT"/>
              </a:rPr>
              <a:t>aviones</a:t>
            </a:r>
            <a:r>
              <a:rPr sz="2000" b="0" dirty="0">
                <a:solidFill>
                  <a:srgbClr val="222222"/>
                </a:solidFill>
                <a:latin typeface="Tw Cen MT"/>
              </a:rPr>
              <a:t>, </a:t>
            </a:r>
            <a:r>
              <a:rPr sz="2000" b="0" dirty="0" err="1">
                <a:solidFill>
                  <a:srgbClr val="222222"/>
                </a:solidFill>
                <a:latin typeface="Tw Cen MT"/>
              </a:rPr>
              <a:t>membresías</a:t>
            </a:r>
            <a:r>
              <a:rPr sz="2000" b="0" dirty="0">
                <a:solidFill>
                  <a:srgbClr val="222222"/>
                </a:solidFill>
                <a:latin typeface="Tw Cen MT"/>
              </a:rPr>
              <a:t>, etc.</a:t>
            </a:r>
          </a:p>
          <a:p>
            <a:pPr algn="l">
              <a:spcBef>
                <a:spcPts val="400"/>
              </a:spcBef>
              <a:buNone/>
            </a:pPr>
            <a:endParaRPr lang="es-419" sz="2000" b="1" dirty="0">
              <a:solidFill>
                <a:srgbClr val="8B0000"/>
              </a:solidFill>
              <a:latin typeface="Tw Cen MT"/>
            </a:endParaRPr>
          </a:p>
          <a:p>
            <a:pPr algn="l">
              <a:spcBef>
                <a:spcPts val="400"/>
              </a:spcBef>
              <a:buNone/>
            </a:pPr>
            <a:r>
              <a:rPr sz="2000" b="1" dirty="0">
                <a:solidFill>
                  <a:srgbClr val="8B0000"/>
                </a:solidFill>
                <a:latin typeface="Tw Cen MT"/>
              </a:rPr>
              <a:t>PRINCIPIO SUBYACENTE</a:t>
            </a:r>
          </a:p>
          <a:p>
            <a:pPr algn="l">
              <a:spcBef>
                <a:spcPts val="400"/>
              </a:spcBef>
            </a:pPr>
            <a:r>
              <a:rPr sz="2000" b="0" dirty="0">
                <a:solidFill>
                  <a:srgbClr val="222222"/>
                </a:solidFill>
                <a:latin typeface="Tw Cen MT"/>
              </a:rPr>
              <a:t>La </a:t>
            </a:r>
            <a:r>
              <a:rPr sz="2000" b="0" dirty="0" err="1">
                <a:solidFill>
                  <a:srgbClr val="222222"/>
                </a:solidFill>
                <a:latin typeface="Tw Cen MT"/>
              </a:rPr>
              <a:t>combinación</a:t>
            </a:r>
            <a:r>
              <a:rPr sz="2000" b="0" dirty="0">
                <a:solidFill>
                  <a:srgbClr val="222222"/>
                </a:solidFill>
                <a:latin typeface="Tw Cen MT"/>
              </a:rPr>
              <a:t> </a:t>
            </a:r>
            <a:r>
              <a:rPr sz="2000" b="0" dirty="0" err="1">
                <a:solidFill>
                  <a:srgbClr val="222222"/>
                </a:solidFill>
                <a:latin typeface="Tw Cen MT"/>
              </a:rPr>
              <a:t>debe</a:t>
            </a:r>
            <a:r>
              <a:rPr sz="2000" b="0" dirty="0">
                <a:solidFill>
                  <a:srgbClr val="222222"/>
                </a:solidFill>
                <a:latin typeface="Tw Cen MT"/>
              </a:rPr>
              <a:t> </a:t>
            </a:r>
            <a:r>
              <a:rPr sz="2000" b="0" dirty="0" err="1">
                <a:solidFill>
                  <a:srgbClr val="222222"/>
                </a:solidFill>
                <a:latin typeface="Tw Cen MT"/>
              </a:rPr>
              <a:t>equilibrar</a:t>
            </a:r>
            <a:r>
              <a:rPr sz="2000" b="0" dirty="0">
                <a:solidFill>
                  <a:srgbClr val="222222"/>
                </a:solidFill>
                <a:latin typeface="Tw Cen MT"/>
              </a:rPr>
              <a:t> la </a:t>
            </a:r>
            <a:r>
              <a:rPr sz="2000" b="0" dirty="0" err="1">
                <a:solidFill>
                  <a:srgbClr val="222222"/>
                </a:solidFill>
                <a:latin typeface="Tw Cen MT"/>
              </a:rPr>
              <a:t>atracción</a:t>
            </a:r>
            <a:r>
              <a:rPr sz="2000" b="0" dirty="0">
                <a:solidFill>
                  <a:srgbClr val="222222"/>
                </a:solidFill>
                <a:latin typeface="Tw Cen MT"/>
              </a:rPr>
              <a:t> de </a:t>
            </a:r>
            <a:r>
              <a:rPr sz="2000" b="0" dirty="0" err="1">
                <a:solidFill>
                  <a:srgbClr val="222222"/>
                </a:solidFill>
                <a:latin typeface="Tw Cen MT"/>
              </a:rPr>
              <a:t>talento</a:t>
            </a:r>
            <a:r>
              <a:rPr sz="2000" b="0" dirty="0">
                <a:solidFill>
                  <a:srgbClr val="222222"/>
                </a:solidFill>
                <a:latin typeface="Tw Cen MT"/>
              </a:rPr>
              <a:t>, la </a:t>
            </a:r>
            <a:r>
              <a:rPr sz="2000" b="0" dirty="0" err="1">
                <a:solidFill>
                  <a:srgbClr val="222222"/>
                </a:solidFill>
                <a:latin typeface="Tw Cen MT"/>
              </a:rPr>
              <a:t>alineación</a:t>
            </a:r>
            <a:r>
              <a:rPr sz="2000" b="0" dirty="0">
                <a:solidFill>
                  <a:srgbClr val="222222"/>
                </a:solidFill>
                <a:latin typeface="Tw Cen MT"/>
              </a:rPr>
              <a:t> de </a:t>
            </a:r>
            <a:r>
              <a:rPr sz="2000" b="0" dirty="0" err="1">
                <a:solidFill>
                  <a:srgbClr val="222222"/>
                </a:solidFill>
                <a:latin typeface="Tw Cen MT"/>
              </a:rPr>
              <a:t>incentivos</a:t>
            </a:r>
            <a:r>
              <a:rPr sz="2000" b="0" dirty="0">
                <a:solidFill>
                  <a:srgbClr val="222222"/>
                </a:solidFill>
                <a:latin typeface="Tw Cen MT"/>
              </a:rPr>
              <a:t> y </a:t>
            </a:r>
            <a:r>
              <a:rPr sz="2000" b="0" dirty="0" err="1">
                <a:solidFill>
                  <a:srgbClr val="222222"/>
                </a:solidFill>
                <a:latin typeface="Tw Cen MT"/>
              </a:rPr>
              <a:t>el</a:t>
            </a:r>
            <a:r>
              <a:rPr sz="2000" b="0" dirty="0">
                <a:solidFill>
                  <a:srgbClr val="222222"/>
                </a:solidFill>
                <a:latin typeface="Tw Cen MT"/>
              </a:rPr>
              <a:t> control del </a:t>
            </a:r>
            <a:r>
              <a:rPr sz="2000" b="0" dirty="0" err="1">
                <a:solidFill>
                  <a:srgbClr val="222222"/>
                </a:solidFill>
                <a:latin typeface="Tw Cen MT"/>
              </a:rPr>
              <a:t>riesgo</a:t>
            </a:r>
            <a:r>
              <a:rPr sz="2000" b="0" dirty="0">
                <a:solidFill>
                  <a:srgbClr val="222222"/>
                </a:solidFill>
                <a:latin typeface="Tw Cen MT"/>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62D08-4B57-9E74-809F-521BDBB4F77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FB57708-A910-516D-79F0-C20A1F6AFF75}"/>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AED658A-5CFC-380F-6499-4CD332093703}"/>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976297E-4ACD-696C-6A95-33A8BD49C8D6}"/>
              </a:ext>
            </a:extLst>
          </p:cNvPr>
          <p:cNvSpPr txBox="1"/>
          <p:nvPr/>
        </p:nvSpPr>
        <p:spPr>
          <a:xfrm>
            <a:off x="304800" y="117902"/>
            <a:ext cx="8534400" cy="830997"/>
          </a:xfrm>
          <a:prstGeom prst="rect">
            <a:avLst/>
          </a:prstGeom>
          <a:noFill/>
        </p:spPr>
        <p:txBody>
          <a:bodyPr wrap="square" anchor="ctr">
            <a:spAutoFit/>
          </a:bodyPr>
          <a:lstStyle/>
          <a:p>
            <a:r>
              <a:rPr lang="en-US" sz="2400" dirty="0">
                <a:solidFill>
                  <a:schemeClr val="bg2"/>
                </a:solidFill>
              </a:rPr>
              <a:t>Executive Compensation Insights 2025 / Latam Edition – Executive Page</a:t>
            </a:r>
            <a:endParaRPr lang="es-AR" sz="2400" dirty="0">
              <a:solidFill>
                <a:schemeClr val="bg2"/>
              </a:solidFill>
            </a:endParaRPr>
          </a:p>
        </p:txBody>
      </p:sp>
      <p:pic>
        <p:nvPicPr>
          <p:cNvPr id="6" name="Imagen 5" descr="The image presents a pie chart detailing the distribution of various types of variable compensation in Latin America, with the majority being annual bonuses based on individual or company performance (79%), followed by long-term incentive bonuses based on performance (12%), and others.&#10;&#10;El contenido generado por IA puede ser incorrecto.">
            <a:extLst>
              <a:ext uri="{FF2B5EF4-FFF2-40B4-BE49-F238E27FC236}">
                <a16:creationId xmlns:a16="http://schemas.microsoft.com/office/drawing/2014/main" id="{F5C66DA1-E568-3334-C464-428CBD714995}"/>
              </a:ext>
            </a:extLst>
          </p:cNvPr>
          <p:cNvPicPr>
            <a:picLocks noChangeAspect="1"/>
          </p:cNvPicPr>
          <p:nvPr/>
        </p:nvPicPr>
        <p:blipFill>
          <a:blip r:embed="rId2"/>
          <a:stretch>
            <a:fillRect/>
          </a:stretch>
        </p:blipFill>
        <p:spPr>
          <a:xfrm>
            <a:off x="276996" y="1680226"/>
            <a:ext cx="8590008" cy="4956478"/>
          </a:xfrm>
          <a:prstGeom prst="rect">
            <a:avLst/>
          </a:prstGeom>
        </p:spPr>
      </p:pic>
    </p:spTree>
    <p:extLst>
      <p:ext uri="{BB962C8B-B14F-4D97-AF65-F5344CB8AC3E}">
        <p14:creationId xmlns:p14="http://schemas.microsoft.com/office/powerpoint/2010/main" val="42050335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TALLER — Brecha Salarial CEO / Empleado Promedio</a:t>
            </a:r>
          </a:p>
        </p:txBody>
      </p:sp>
      <p:pic>
        <p:nvPicPr>
          <p:cNvPr id="7" name="Imagen 6" descr="The image displays a bar chart comparing the average salaries of various multinational corporations, with Microsoft leading at $190.302, followed by Verizon, Visa, AT&amp;T, Apple, Oracle, IBM, UPS, Accenture, Nike, Amazon, The Home Depot, and Coca-Cola.&#10;&#10;El contenido generado por IA puede ser incorrecto.">
            <a:extLst>
              <a:ext uri="{FF2B5EF4-FFF2-40B4-BE49-F238E27FC236}">
                <a16:creationId xmlns:a16="http://schemas.microsoft.com/office/drawing/2014/main" id="{03A80987-C348-4859-A161-41F0A230F71F}"/>
              </a:ext>
            </a:extLst>
          </p:cNvPr>
          <p:cNvPicPr>
            <a:picLocks noChangeAspect="1"/>
          </p:cNvPicPr>
          <p:nvPr/>
        </p:nvPicPr>
        <p:blipFill>
          <a:blip r:embed="rId2"/>
          <a:stretch>
            <a:fillRect/>
          </a:stretch>
        </p:blipFill>
        <p:spPr>
          <a:xfrm>
            <a:off x="1222625" y="1256425"/>
            <a:ext cx="6811766" cy="544658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A2744"/>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286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9144000" cy="2286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457200"/>
            <a:ext cx="8534400" cy="457200"/>
          </a:xfrm>
          <a:prstGeom prst="rect">
            <a:avLst/>
          </a:prstGeom>
          <a:noFill/>
        </p:spPr>
        <p:txBody>
          <a:bodyPr wrap="square" anchor="ctr">
            <a:spAutoFit/>
          </a:bodyPr>
          <a:lstStyle/>
          <a:p>
            <a:pPr algn="ctr"/>
            <a:r>
              <a:rPr sz="1600" b="1" i="1">
                <a:solidFill>
                  <a:srgbClr val="D4A017"/>
                </a:solidFill>
                <a:latin typeface="Tw Cen MT"/>
              </a:rPr>
              <a:t>RESUMEN DE LA CLASE</a:t>
            </a:r>
          </a:p>
        </p:txBody>
      </p:sp>
      <p:sp>
        <p:nvSpPr>
          <p:cNvPr id="5" name="Rectangle 4"/>
          <p:cNvSpPr/>
          <p:nvPr/>
        </p:nvSpPr>
        <p:spPr>
          <a:xfrm>
            <a:off x="457200" y="1066800"/>
            <a:ext cx="2743200" cy="5486400"/>
          </a:xfrm>
          <a:prstGeom prst="rect">
            <a:avLst/>
          </a:prstGeom>
          <a:solidFill>
            <a:srgbClr val="1E3060"/>
          </a:solidFill>
          <a:ln w="9525">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3400" y="1219200"/>
            <a:ext cx="2590800" cy="380000"/>
          </a:xfrm>
          <a:prstGeom prst="rect">
            <a:avLst/>
          </a:prstGeom>
          <a:noFill/>
        </p:spPr>
        <p:txBody>
          <a:bodyPr wrap="square" anchor="ctr">
            <a:spAutoFit/>
          </a:bodyPr>
          <a:lstStyle/>
          <a:p>
            <a:pPr algn="ctr"/>
            <a:r>
              <a:rPr sz="1500" b="1" i="0">
                <a:solidFill>
                  <a:srgbClr val="D4A017"/>
                </a:solidFill>
                <a:latin typeface="Tw Cen MT"/>
              </a:rPr>
              <a:t>COMPENSACIÓN CEO</a:t>
            </a:r>
          </a:p>
        </p:txBody>
      </p:sp>
      <p:sp>
        <p:nvSpPr>
          <p:cNvPr id="7" name="TextBox 6"/>
          <p:cNvSpPr txBox="1"/>
          <p:nvPr/>
        </p:nvSpPr>
        <p:spPr>
          <a:xfrm>
            <a:off x="533400" y="1676400"/>
            <a:ext cx="2590800" cy="954107"/>
          </a:xfrm>
          <a:prstGeom prst="rect">
            <a:avLst/>
          </a:prstGeom>
          <a:noFill/>
        </p:spPr>
        <p:txBody>
          <a:bodyPr wrap="square">
            <a:spAutoFit/>
          </a:bodyPr>
          <a:lstStyle/>
          <a:p>
            <a:pPr algn="l"/>
            <a:r>
              <a:rPr lang="es-419" sz="1400" b="0" i="0" dirty="0">
                <a:solidFill>
                  <a:srgbClr val="C8D8F0"/>
                </a:solidFill>
                <a:latin typeface="Tw Cen MT"/>
              </a:rPr>
              <a:t>Tendencias de salarios variables a corto y largo plazo.</a:t>
            </a:r>
          </a:p>
          <a:p>
            <a:pPr algn="l"/>
            <a:r>
              <a:rPr sz="1400" b="0" i="0" dirty="0">
                <a:solidFill>
                  <a:srgbClr val="C8D8F0"/>
                </a:solidFill>
                <a:latin typeface="Tw Cen MT"/>
              </a:rPr>
              <a:t>
</a:t>
            </a:r>
            <a:r>
              <a:rPr lang="es-419" sz="1400" b="0" i="0" dirty="0">
                <a:solidFill>
                  <a:srgbClr val="C8D8F0"/>
                </a:solidFill>
                <a:latin typeface="Tw Cen MT"/>
              </a:rPr>
              <a:t>Incentivos de cada componente.</a:t>
            </a:r>
            <a:endParaRPr sz="1400" b="0" i="0" dirty="0">
              <a:solidFill>
                <a:srgbClr val="C8D8F0"/>
              </a:solidFill>
              <a:latin typeface="Tw Cen MT"/>
            </a:endParaRPr>
          </a:p>
        </p:txBody>
      </p:sp>
      <p:sp>
        <p:nvSpPr>
          <p:cNvPr id="8" name="Rectangle 7"/>
          <p:cNvSpPr/>
          <p:nvPr/>
        </p:nvSpPr>
        <p:spPr>
          <a:xfrm>
            <a:off x="3314700" y="1066800"/>
            <a:ext cx="2743200" cy="5486400"/>
          </a:xfrm>
          <a:prstGeom prst="rect">
            <a:avLst/>
          </a:prstGeom>
          <a:solidFill>
            <a:srgbClr val="1E3060"/>
          </a:solidFill>
          <a:ln w="9525">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90900" y="1219200"/>
            <a:ext cx="2590800" cy="380000"/>
          </a:xfrm>
          <a:prstGeom prst="rect">
            <a:avLst/>
          </a:prstGeom>
          <a:noFill/>
        </p:spPr>
        <p:txBody>
          <a:bodyPr wrap="square" anchor="ctr">
            <a:spAutoFit/>
          </a:bodyPr>
          <a:lstStyle/>
          <a:p>
            <a:pPr algn="ctr"/>
            <a:r>
              <a:rPr sz="1500" b="1" i="0">
                <a:solidFill>
                  <a:srgbClr val="D4A017"/>
                </a:solidFill>
                <a:latin typeface="Tw Cen MT"/>
              </a:rPr>
              <a:t>TRADE-OFF FIJO / VARIABLE</a:t>
            </a:r>
          </a:p>
        </p:txBody>
      </p:sp>
      <p:sp>
        <p:nvSpPr>
          <p:cNvPr id="10" name="TextBox 9"/>
          <p:cNvSpPr txBox="1"/>
          <p:nvPr/>
        </p:nvSpPr>
        <p:spPr>
          <a:xfrm>
            <a:off x="3390900" y="1676400"/>
            <a:ext cx="2590800" cy="4758000"/>
          </a:xfrm>
          <a:prstGeom prst="rect">
            <a:avLst/>
          </a:prstGeom>
          <a:noFill/>
        </p:spPr>
        <p:txBody>
          <a:bodyPr wrap="square">
            <a:spAutoFit/>
          </a:bodyPr>
          <a:lstStyle/>
          <a:p>
            <a:pPr algn="l"/>
            <a:r>
              <a:rPr sz="1400" b="0" i="0">
                <a:solidFill>
                  <a:srgbClr val="C8D8F0"/>
                </a:solidFill>
                <a:latin typeface="Tw Cen MT"/>
              </a:rPr>
              <a:t>Salario fijo: óptimo para el reparto del riesgo (empleados son aversos al riesgo).
Salario variable: óptimo para alinear incentivos.
La elección del indicador (EBITDA, EVA, KPIs) define qué decisiones tomará el gerente.</a:t>
            </a:r>
          </a:p>
        </p:txBody>
      </p:sp>
      <p:sp>
        <p:nvSpPr>
          <p:cNvPr id="11" name="Rectangle 10"/>
          <p:cNvSpPr/>
          <p:nvPr/>
        </p:nvSpPr>
        <p:spPr>
          <a:xfrm>
            <a:off x="6172200" y="1066800"/>
            <a:ext cx="2743200" cy="5486400"/>
          </a:xfrm>
          <a:prstGeom prst="rect">
            <a:avLst/>
          </a:prstGeom>
          <a:solidFill>
            <a:srgbClr val="1E3060"/>
          </a:solidFill>
          <a:ln w="9525">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48400" y="1219200"/>
            <a:ext cx="2590800" cy="380000"/>
          </a:xfrm>
          <a:prstGeom prst="rect">
            <a:avLst/>
          </a:prstGeom>
          <a:noFill/>
        </p:spPr>
        <p:txBody>
          <a:bodyPr wrap="square" anchor="ctr">
            <a:spAutoFit/>
          </a:bodyPr>
          <a:lstStyle/>
          <a:p>
            <a:pPr algn="ctr"/>
            <a:r>
              <a:rPr sz="1500" b="1" i="0">
                <a:solidFill>
                  <a:srgbClr val="D4A017"/>
                </a:solidFill>
                <a:latin typeface="Tw Cen MT"/>
              </a:rPr>
              <a:t>INSTRUMENTOS DE LARGO PLAZO</a:t>
            </a:r>
          </a:p>
        </p:txBody>
      </p:sp>
      <p:sp>
        <p:nvSpPr>
          <p:cNvPr id="13" name="TextBox 12"/>
          <p:cNvSpPr txBox="1"/>
          <p:nvPr/>
        </p:nvSpPr>
        <p:spPr>
          <a:xfrm>
            <a:off x="6248400" y="1676400"/>
            <a:ext cx="2590800" cy="4758000"/>
          </a:xfrm>
          <a:prstGeom prst="rect">
            <a:avLst/>
          </a:prstGeom>
          <a:noFill/>
        </p:spPr>
        <p:txBody>
          <a:bodyPr wrap="square">
            <a:spAutoFit/>
          </a:bodyPr>
          <a:lstStyle/>
          <a:p>
            <a:pPr algn="l"/>
            <a:r>
              <a:rPr sz="1400" b="0" i="0">
                <a:solidFill>
                  <a:srgbClr val="C8D8F0"/>
                </a:solidFill>
                <a:latin typeface="Tw Cen MT"/>
              </a:rPr>
              <a:t>Stock options: alinean con accionistas pero con limitaciones (mercados alcistas y vesting).
Remuneraciones diferidas: controlan el riesgo.
Paracaídas de oro: reducen resistencia a adquisiciones.
→ Clase 5: Evaluación del Desempeño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547</TotalTime>
  <Words>5088</Words>
  <Application>Microsoft Office PowerPoint</Application>
  <PresentationFormat>Presentación en pantalla (4:3)</PresentationFormat>
  <Paragraphs>421</Paragraphs>
  <Slides>49</Slides>
  <Notes>10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49</vt:i4>
      </vt:variant>
    </vt:vector>
  </HeadingPairs>
  <TitlesOfParts>
    <vt:vector size="55" baseType="lpstr">
      <vt:lpstr>Aptos</vt:lpstr>
      <vt:lpstr>Arial</vt:lpstr>
      <vt:lpstr>Calibri</vt:lpstr>
      <vt:lpstr>ClarinvarVF</vt:lpstr>
      <vt:lpstr>Tw Cen MT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adriana delle donne</dc:creator>
  <cp:keywords/>
  <dc:description>generated using python-pptx</dc:description>
  <cp:lastModifiedBy>adriana delle donne</cp:lastModifiedBy>
  <cp:revision>2</cp:revision>
  <dcterms:created xsi:type="dcterms:W3CDTF">2013-01-27T09:14:16Z</dcterms:created>
  <dcterms:modified xsi:type="dcterms:W3CDTF">2026-08-24T12:01:27Z</dcterms:modified>
  <cp:category/>
</cp:coreProperties>
</file>