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6" r:id="rId20"/>
    <p:sldId id="275" r:id="rId21"/>
    <p:sldId id="287" r:id="rId22"/>
    <p:sldId id="274" r:id="rId23"/>
    <p:sldId id="276" r:id="rId24"/>
    <p:sldId id="277" r:id="rId25"/>
    <p:sldId id="288" r:id="rId26"/>
    <p:sldId id="289" r:id="rId27"/>
    <p:sldId id="291" r:id="rId28"/>
    <p:sldId id="292" r:id="rId29"/>
    <p:sldId id="293" r:id="rId30"/>
    <p:sldId id="296" r:id="rId31"/>
    <p:sldId id="295" r:id="rId32"/>
    <p:sldId id="294" r:id="rId33"/>
    <p:sldId id="278" r:id="rId34"/>
    <p:sldId id="279" r:id="rId35"/>
    <p:sldId id="280" r:id="rId36"/>
    <p:sldId id="281" r:id="rId37"/>
    <p:sldId id="282" r:id="rId38"/>
    <p:sldId id="283" r:id="rId39"/>
    <p:sldId id="284" r:id="rId40"/>
    <p:sldId id="285" r:id="rId41"/>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0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delle donne" userId="bccfde87c812eabf" providerId="LiveId" clId="{5446FB72-EC65-40E1-8EA2-6F1413C9410F}"/>
    <pc:docChg chg="modSld">
      <pc:chgData name="adriana delle donne" userId="bccfde87c812eabf" providerId="LiveId" clId="{5446FB72-EC65-40E1-8EA2-6F1413C9410F}" dt="2026-06-10T19:12:53.083" v="6" actId="20577"/>
      <pc:docMkLst>
        <pc:docMk/>
      </pc:docMkLst>
      <pc:sldChg chg="modSp mod">
        <pc:chgData name="adriana delle donne" userId="bccfde87c812eabf" providerId="LiveId" clId="{5446FB72-EC65-40E1-8EA2-6F1413C9410F}" dt="2026-06-10T19:12:37.070" v="5" actId="20577"/>
        <pc:sldMkLst>
          <pc:docMk/>
          <pc:sldMk cId="207830148" sldId="286"/>
        </pc:sldMkLst>
        <pc:spChg chg="mod">
          <ac:chgData name="adriana delle donne" userId="bccfde87c812eabf" providerId="LiveId" clId="{5446FB72-EC65-40E1-8EA2-6F1413C9410F}" dt="2026-06-10T19:12:37.070" v="5" actId="20577"/>
          <ac:spMkLst>
            <pc:docMk/>
            <pc:sldMk cId="207830148" sldId="286"/>
            <ac:spMk id="4" creationId="{42C35941-2240-854C-5596-416F8FE2399C}"/>
          </ac:spMkLst>
        </pc:spChg>
      </pc:sldChg>
      <pc:sldChg chg="modSp mod">
        <pc:chgData name="adriana delle donne" userId="bccfde87c812eabf" providerId="LiveId" clId="{5446FB72-EC65-40E1-8EA2-6F1413C9410F}" dt="2026-06-10T19:12:53.083" v="6" actId="20577"/>
        <pc:sldMkLst>
          <pc:docMk/>
          <pc:sldMk cId="2287840531" sldId="287"/>
        </pc:sldMkLst>
        <pc:spChg chg="mod">
          <ac:chgData name="adriana delle donne" userId="bccfde87c812eabf" providerId="LiveId" clId="{5446FB72-EC65-40E1-8EA2-6F1413C9410F}" dt="2026-06-10T19:12:53.083" v="6" actId="20577"/>
          <ac:spMkLst>
            <pc:docMk/>
            <pc:sldMk cId="2287840531" sldId="287"/>
            <ac:spMk id="5" creationId="{A6E851DA-7F82-0D12-E554-F675C611DC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224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68447-DF39-F5E9-383F-1A21A48F5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D4126-CFD5-B27C-A2F8-E8587E572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9A77-7056-A0EE-B7F1-641F443511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2D7E01-C2AC-603D-97D7-70515BB5E5E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73338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F6B29-323D-00B9-8232-35AE4C90C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60C5D-E46B-B97E-16BD-6312CB202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1119F-F929-8D2C-55A8-B30361ADAE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85E23E-4DF3-B7AF-5708-B9407E9A77F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16248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348B3-9CFA-0744-515B-B2F0CFD9C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29425-AD3B-23C6-419B-4A360F494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195853-5029-FFEE-B7DE-9C6F63A91D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E5EE46-5D9B-FA84-EE47-A30CB1303911}"/>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380843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0937-B74E-BE41-F10A-4D9A376FE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7A5F8-0720-6BB2-B1B7-AFF86F16D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B390C-A8B8-4102-6317-70F68F547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1596E-97A2-144E-61A2-A7A23644763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195767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hbr.org/2020/11/how-to-actually-encourage-employee-accountabilit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2286000"/>
            <a:ext cx="8229600" cy="731520"/>
          </a:xfrm>
          <a:prstGeom prst="rect">
            <a:avLst/>
          </a:prstGeom>
          <a:noFill/>
          <a:ln/>
        </p:spPr>
        <p:txBody>
          <a:bodyPr wrap="square" rtlCol="0" anchor="ctr"/>
          <a:lstStyle/>
          <a:p>
            <a:pPr marL="0" indent="0" algn="ctr">
              <a:buNone/>
            </a:pPr>
            <a:r>
              <a:rPr lang="en-US" sz="3400" b="1" dirty="0">
                <a:solidFill>
                  <a:srgbClr val="222222"/>
                </a:solidFill>
                <a:latin typeface="Tw Cen MT" pitchFamily="34" charset="0"/>
                <a:ea typeface="Tw Cen MT" pitchFamily="34" charset="-122"/>
                <a:cs typeface="Tw Cen MT" pitchFamily="34" charset="-120"/>
              </a:rPr>
              <a:t>DISEÑO ORGANIZACIONAL</a:t>
            </a:r>
            <a:endParaRPr lang="en-US" sz="3400" dirty="0"/>
          </a:p>
        </p:txBody>
      </p:sp>
      <p:sp>
        <p:nvSpPr>
          <p:cNvPr id="4" name="Text 1"/>
          <p:cNvSpPr/>
          <p:nvPr/>
        </p:nvSpPr>
        <p:spPr>
          <a:xfrm>
            <a:off x="914400" y="3200400"/>
            <a:ext cx="7315200" cy="914400"/>
          </a:xfrm>
          <a:prstGeom prst="rect">
            <a:avLst/>
          </a:prstGeom>
          <a:noFill/>
          <a:ln/>
        </p:spPr>
        <p:txBody>
          <a:bodyPr wrap="square" rtlCol="0" anchor="ctr"/>
          <a:lstStyle/>
          <a:p>
            <a:pPr marL="0" indent="0" algn="ctr">
              <a:buNone/>
            </a:pPr>
            <a:r>
              <a:rPr lang="en-US" sz="2200" b="1" dirty="0">
                <a:solidFill>
                  <a:srgbClr val="8B0000"/>
                </a:solidFill>
                <a:latin typeface="Tw Cen MT" pitchFamily="34" charset="0"/>
                <a:ea typeface="Tw Cen MT" pitchFamily="34" charset="-122"/>
                <a:cs typeface="Tw Cen MT" pitchFamily="34" charset="-120"/>
              </a:rPr>
              <a:t>Clase N 5</a:t>
            </a:r>
            <a:endParaRPr lang="en-US" sz="2200" dirty="0"/>
          </a:p>
          <a:p>
            <a:pPr marL="0" indent="0" algn="ctr">
              <a:buNone/>
            </a:pPr>
            <a:r>
              <a:rPr lang="en-US" sz="2200" b="1" dirty="0">
                <a:solidFill>
                  <a:srgbClr val="8B0000"/>
                </a:solidFill>
                <a:latin typeface="Tw Cen MT" pitchFamily="34" charset="0"/>
                <a:ea typeface="Tw Cen MT" pitchFamily="34" charset="-122"/>
                <a:cs typeface="Tw Cen MT" pitchFamily="34" charset="-120"/>
              </a:rPr>
              <a:t>AO – Medición de Desempeño</a:t>
            </a:r>
            <a:endParaRPr lang="en-US" sz="2200" dirty="0"/>
          </a:p>
        </p:txBody>
      </p:sp>
      <p:sp>
        <p:nvSpPr>
          <p:cNvPr id="5" name="Text 2"/>
          <p:cNvSpPr/>
          <p:nvPr/>
        </p:nvSpPr>
        <p:spPr>
          <a:xfrm>
            <a:off x="1371600" y="4572000"/>
            <a:ext cx="6400800" cy="822960"/>
          </a:xfrm>
          <a:prstGeom prst="rect">
            <a:avLst/>
          </a:prstGeom>
          <a:noFill/>
          <a:ln/>
        </p:spPr>
        <p:txBody>
          <a:bodyPr wrap="square" rtlCol="0" anchor="ctr"/>
          <a:lstStyle/>
          <a:p>
            <a:pPr marL="0" indent="0" algn="ctr">
              <a:buNone/>
            </a:pPr>
            <a:r>
              <a:rPr lang="en-US" sz="1800" b="1" dirty="0">
                <a:solidFill>
                  <a:srgbClr val="222222"/>
                </a:solidFill>
                <a:latin typeface="Tw Cen MT" panose="020B0602020104020603" pitchFamily="34" charset="0"/>
                <a:ea typeface="Tw Cen MT" pitchFamily="34" charset="-122"/>
                <a:cs typeface="Tw Cen MT" pitchFamily="34" charset="-120"/>
              </a:rPr>
              <a:t>Profesora</a:t>
            </a:r>
            <a:endParaRPr lang="en-US" sz="1800" dirty="0">
              <a:latin typeface="Tw Cen MT" panose="020B0602020104020603" pitchFamily="34" charset="0"/>
            </a:endParaRPr>
          </a:p>
          <a:p>
            <a:pPr marL="0" indent="0" algn="ctr">
              <a:buNone/>
            </a:pPr>
            <a:r>
              <a:rPr lang="en-US" sz="1800" b="1" dirty="0">
                <a:solidFill>
                  <a:srgbClr val="222222"/>
                </a:solidFill>
                <a:latin typeface="Tw Cen MT" panose="020B0602020104020603" pitchFamily="34" charset="0"/>
                <a:ea typeface="Tw Cen MT" pitchFamily="34" charset="-122"/>
                <a:cs typeface="Tw Cen MT" pitchFamily="34" charset="-120"/>
              </a:rPr>
              <a:t>Dra. Adriana Delle Donne</a:t>
            </a:r>
            <a:endParaRPr lang="en-US" sz="1800" dirty="0">
              <a:latin typeface="Tw Cen MT" panose="020B0602020104020603" pitchFamily="34" charset="0"/>
            </a:endParaRPr>
          </a:p>
        </p:txBody>
      </p:sp>
      <p:pic>
        <p:nvPicPr>
          <p:cNvPr id="7" name="Imagen 6" descr="UCEMA&#10;&#10;El contenido generado por IA puede ser incorrecto.">
            <a:extLst>
              <a:ext uri="{FF2B5EF4-FFF2-40B4-BE49-F238E27FC236}">
                <a16:creationId xmlns:a16="http://schemas.microsoft.com/office/drawing/2014/main" id="{664B951C-BB29-A3FE-4C93-0CFD861EF8B2}"/>
              </a:ext>
            </a:extLst>
          </p:cNvPr>
          <p:cNvPicPr>
            <a:picLocks noChangeAspect="1"/>
          </p:cNvPicPr>
          <p:nvPr/>
        </p:nvPicPr>
        <p:blipFill>
          <a:blip r:embed="rId3"/>
          <a:stretch>
            <a:fillRect/>
          </a:stretch>
        </p:blipFill>
        <p:spPr>
          <a:xfrm>
            <a:off x="3819874" y="399144"/>
            <a:ext cx="1658256" cy="16582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693408"/>
            <a:ext cx="9144000" cy="164592"/>
          </a:xfrm>
          <a:prstGeom prst="rect">
            <a:avLst/>
          </a:prstGeom>
          <a:solidFill>
            <a:srgbClr val="8B0000"/>
          </a:solidFill>
          <a:ln w="12700">
            <a:solidFill>
              <a:srgbClr val="8B0000"/>
            </a:solidFill>
            <a:prstDash val="solid"/>
          </a:ln>
        </p:spPr>
        <p:txBody>
          <a:bodyPr/>
          <a:lstStyle/>
          <a:p>
            <a:endParaRPr lang="en-US"/>
          </a:p>
        </p:txBody>
      </p:sp>
      <p:sp>
        <p:nvSpPr>
          <p:cNvPr id="4" name="Shape 2"/>
          <p:cNvSpPr/>
          <p:nvPr/>
        </p:nvSpPr>
        <p:spPr>
          <a:xfrm>
            <a:off x="0" y="164592"/>
            <a:ext cx="9144000" cy="54864"/>
          </a:xfrm>
          <a:prstGeom prst="rect">
            <a:avLst/>
          </a:prstGeom>
          <a:solidFill>
            <a:srgbClr val="D4A017"/>
          </a:solidFill>
          <a:ln w="12700">
            <a:solidFill>
              <a:srgbClr val="D4A017"/>
            </a:solidFill>
            <a:prstDash val="solid"/>
          </a:ln>
        </p:spPr>
        <p:txBody>
          <a:bodyPr/>
          <a:lstStyle/>
          <a:p>
            <a:endParaRPr lang="en-US"/>
          </a:p>
        </p:txBody>
      </p:sp>
      <p:sp>
        <p:nvSpPr>
          <p:cNvPr id="5" name="Shape 3"/>
          <p:cNvSpPr/>
          <p:nvPr/>
        </p:nvSpPr>
        <p:spPr>
          <a:xfrm>
            <a:off x="0" y="6638544"/>
            <a:ext cx="9144000" cy="54864"/>
          </a:xfrm>
          <a:prstGeom prst="rect">
            <a:avLst/>
          </a:prstGeom>
          <a:solidFill>
            <a:srgbClr val="D4A017"/>
          </a:solidFill>
          <a:ln w="12700">
            <a:solidFill>
              <a:srgbClr val="D4A017"/>
            </a:solidFill>
            <a:prstDash val="solid"/>
          </a:ln>
        </p:spPr>
        <p:txBody>
          <a:bodyPr/>
          <a:lstStyle/>
          <a:p>
            <a:endParaRPr lang="en-US"/>
          </a:p>
        </p:txBody>
      </p:sp>
      <p:sp>
        <p:nvSpPr>
          <p:cNvPr id="6" name="Text 4"/>
          <p:cNvSpPr/>
          <p:nvPr/>
        </p:nvSpPr>
        <p:spPr>
          <a:xfrm>
            <a:off x="457200" y="457200"/>
            <a:ext cx="8229600" cy="365760"/>
          </a:xfrm>
          <a:prstGeom prst="rect">
            <a:avLst/>
          </a:prstGeom>
          <a:noFill/>
          <a:ln/>
        </p:spPr>
        <p:txBody>
          <a:bodyPr wrap="square" rtlCol="0" anchor="ctr"/>
          <a:lstStyle/>
          <a:p>
            <a:pPr marL="0" indent="0" algn="ctr">
              <a:buNone/>
            </a:pPr>
            <a:r>
              <a:rPr lang="en-US" sz="1400" b="1" i="1" dirty="0">
                <a:solidFill>
                  <a:srgbClr val="D4A017"/>
                </a:solidFill>
                <a:latin typeface="Tw Cen MT" pitchFamily="34" charset="0"/>
                <a:ea typeface="Tw Cen MT" pitchFamily="34" charset="-122"/>
                <a:cs typeface="Tw Cen MT" pitchFamily="34" charset="-120"/>
              </a:rPr>
              <a:t>PREGUNTA CENTRAL DE LA CLASE</a:t>
            </a:r>
            <a:endParaRPr lang="en-US" sz="1400" dirty="0"/>
          </a:p>
        </p:txBody>
      </p:sp>
      <p:sp>
        <p:nvSpPr>
          <p:cNvPr id="7" name="Text 5"/>
          <p:cNvSpPr/>
          <p:nvPr/>
        </p:nvSpPr>
        <p:spPr>
          <a:xfrm>
            <a:off x="731520" y="1005840"/>
            <a:ext cx="7680960" cy="2011680"/>
          </a:xfrm>
          <a:prstGeom prst="rect">
            <a:avLst/>
          </a:prstGeom>
          <a:noFill/>
          <a:ln/>
        </p:spPr>
        <p:txBody>
          <a:bodyPr wrap="square" rtlCol="0" anchor="ctr"/>
          <a:lstStyle/>
          <a:p>
            <a:pPr marL="0" indent="0" algn="ctr">
              <a:buNone/>
            </a:pPr>
            <a:r>
              <a:rPr lang="en-US" sz="2600" b="1" dirty="0">
                <a:solidFill>
                  <a:srgbClr val="FFFFFF"/>
                </a:solidFill>
                <a:latin typeface="Tw Cen MT" pitchFamily="34" charset="0"/>
                <a:ea typeface="Tw Cen MT" pitchFamily="34" charset="-122"/>
                <a:cs typeface="Tw Cen MT" pitchFamily="34" charset="-120"/>
              </a:rPr>
              <a:t>¿Cómo medir el desempeño de los empleados de manera que los incentivos estén alineados con los objetivos de la firma?</a:t>
            </a:r>
            <a:endParaRPr lang="en-US" sz="2600" dirty="0"/>
          </a:p>
        </p:txBody>
      </p:sp>
      <p:sp>
        <p:nvSpPr>
          <p:cNvPr id="8" name="Shape 6"/>
          <p:cNvSpPr/>
          <p:nvPr/>
        </p:nvSpPr>
        <p:spPr>
          <a:xfrm>
            <a:off x="1371600" y="3200400"/>
            <a:ext cx="6400800" cy="45720"/>
          </a:xfrm>
          <a:prstGeom prst="rect">
            <a:avLst/>
          </a:prstGeom>
          <a:solidFill>
            <a:srgbClr val="D4A017"/>
          </a:solidFill>
          <a:ln w="12700">
            <a:solidFill>
              <a:srgbClr val="D4A017"/>
            </a:solidFill>
            <a:prstDash val="solid"/>
          </a:ln>
        </p:spPr>
        <p:txBody>
          <a:bodyPr/>
          <a:lstStyle/>
          <a:p>
            <a:endParaRPr lang="en-US"/>
          </a:p>
        </p:txBody>
      </p:sp>
      <p:sp>
        <p:nvSpPr>
          <p:cNvPr id="9" name="Text 7"/>
          <p:cNvSpPr/>
          <p:nvPr/>
        </p:nvSpPr>
        <p:spPr>
          <a:xfrm>
            <a:off x="457200" y="3383280"/>
            <a:ext cx="8229600" cy="365760"/>
          </a:xfrm>
          <a:prstGeom prst="rect">
            <a:avLst/>
          </a:prstGeom>
          <a:noFill/>
          <a:ln/>
        </p:spPr>
        <p:txBody>
          <a:bodyPr wrap="square" rtlCol="0" anchor="ctr"/>
          <a:lstStyle/>
          <a:p>
            <a:pPr marL="0" indent="0" algn="ctr">
              <a:buNone/>
            </a:pPr>
            <a:r>
              <a:rPr lang="en-US" sz="1600" b="1" dirty="0">
                <a:solidFill>
                  <a:srgbClr val="D4A017"/>
                </a:solidFill>
                <a:latin typeface="Tw Cen MT" pitchFamily="34" charset="0"/>
                <a:ea typeface="Tw Cen MT" pitchFamily="34" charset="-122"/>
                <a:cs typeface="Tw Cen MT" pitchFamily="34" charset="-120"/>
              </a:rPr>
              <a:t>El dilema central:</a:t>
            </a:r>
            <a:endParaRPr lang="en-US" sz="1600" dirty="0"/>
          </a:p>
        </p:txBody>
      </p:sp>
      <p:sp>
        <p:nvSpPr>
          <p:cNvPr id="10" name="Text 8"/>
          <p:cNvSpPr/>
          <p:nvPr/>
        </p:nvSpPr>
        <p:spPr>
          <a:xfrm>
            <a:off x="914400" y="3840480"/>
            <a:ext cx="7315200" cy="1280160"/>
          </a:xfrm>
          <a:prstGeom prst="rect">
            <a:avLst/>
          </a:prstGeom>
          <a:noFill/>
          <a:ln/>
        </p:spPr>
        <p:txBody>
          <a:bodyPr wrap="square" rtlCol="0" anchor="ctr"/>
          <a:lstStyle/>
          <a:p>
            <a:pPr marL="0" indent="0" algn="ctr">
              <a:buNone/>
            </a:pPr>
            <a:r>
              <a:rPr lang="en-US" sz="2000" b="1" dirty="0">
                <a:solidFill>
                  <a:srgbClr val="FFFFFF"/>
                </a:solidFill>
                <a:latin typeface="Tw Cen MT" pitchFamily="34" charset="0"/>
                <a:ea typeface="Tw Cen MT" pitchFamily="34" charset="-122"/>
                <a:cs typeface="Tw Cen MT" pitchFamily="34" charset="-120"/>
              </a:rPr>
              <a:t>Medición objetiva</a:t>
            </a:r>
            <a:endParaRPr lang="en-US" sz="2000" dirty="0"/>
          </a:p>
          <a:p>
            <a:pPr marL="0" indent="0" algn="ctr">
              <a:buNone/>
            </a:pPr>
            <a:r>
              <a:rPr lang="en-US" sz="2000" b="1" dirty="0">
                <a:solidFill>
                  <a:srgbClr val="FFFFFF"/>
                </a:solidFill>
                <a:latin typeface="Tw Cen MT" pitchFamily="34" charset="0"/>
                <a:ea typeface="Tw Cen MT" pitchFamily="34" charset="-122"/>
                <a:cs typeface="Tw Cen MT" pitchFamily="34" charset="-120"/>
              </a:rPr>
              <a:t>vs.</a:t>
            </a:r>
            <a:endParaRPr lang="en-US" sz="2000" dirty="0"/>
          </a:p>
          <a:p>
            <a:pPr marL="0" indent="0" algn="ctr">
              <a:buNone/>
            </a:pPr>
            <a:r>
              <a:rPr lang="en-US" sz="2000" b="1" dirty="0">
                <a:solidFill>
                  <a:srgbClr val="FFFFFF"/>
                </a:solidFill>
                <a:latin typeface="Tw Cen MT" pitchFamily="34" charset="0"/>
                <a:ea typeface="Tw Cen MT" pitchFamily="34" charset="-122"/>
                <a:cs typeface="Tw Cen MT" pitchFamily="34" charset="-120"/>
              </a:rPr>
              <a:t>Medición subjetiva</a:t>
            </a:r>
            <a:endParaRPr lang="en-US" sz="2000" dirty="0"/>
          </a:p>
        </p:txBody>
      </p:sp>
      <p:sp>
        <p:nvSpPr>
          <p:cNvPr id="11" name="Text 9"/>
          <p:cNvSpPr/>
          <p:nvPr/>
        </p:nvSpPr>
        <p:spPr>
          <a:xfrm>
            <a:off x="457200" y="5303520"/>
            <a:ext cx="8229600" cy="457200"/>
          </a:xfrm>
          <a:prstGeom prst="rect">
            <a:avLst/>
          </a:prstGeom>
          <a:noFill/>
          <a:ln/>
        </p:spPr>
        <p:txBody>
          <a:bodyPr wrap="square" rtlCol="0" anchor="ctr"/>
          <a:lstStyle/>
          <a:p>
            <a:pPr marL="0" indent="0" algn="ctr">
              <a:buNone/>
            </a:pPr>
            <a:r>
              <a:rPr lang="en-US" sz="1500" dirty="0">
                <a:solidFill>
                  <a:srgbClr val="C8D8F0"/>
                </a:solidFill>
                <a:latin typeface="Tw Cen MT" pitchFamily="34" charset="0"/>
                <a:ea typeface="Tw Cen MT" pitchFamily="34" charset="-122"/>
                <a:cs typeface="Tw Cen MT" pitchFamily="34" charset="-120"/>
              </a:rPr>
              <a:t>TRADE-OFF entre costo de medición e incentivos eficientes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Arquitectura Organizacional — Los Tres Pilares</a:t>
            </a:r>
            <a:endParaRPr lang="en-US" sz="2200" dirty="0"/>
          </a:p>
        </p:txBody>
      </p:sp>
      <p:sp>
        <p:nvSpPr>
          <p:cNvPr id="5" name="Shape 3"/>
          <p:cNvSpPr/>
          <p:nvPr/>
        </p:nvSpPr>
        <p:spPr>
          <a:xfrm>
            <a:off x="365760" y="1005840"/>
            <a:ext cx="2743200" cy="1188720"/>
          </a:xfrm>
          <a:prstGeom prst="rect">
            <a:avLst/>
          </a:prstGeom>
          <a:solidFill>
            <a:srgbClr val="1A2744"/>
          </a:solidFill>
          <a:ln w="12700">
            <a:solidFill>
              <a:srgbClr val="1A2744"/>
            </a:solidFill>
            <a:prstDash val="solid"/>
          </a:ln>
        </p:spPr>
        <p:txBody>
          <a:bodyPr/>
          <a:lstStyle/>
          <a:p>
            <a:endParaRPr lang="en-US"/>
          </a:p>
        </p:txBody>
      </p:sp>
      <p:sp>
        <p:nvSpPr>
          <p:cNvPr id="6" name="Text 4"/>
          <p:cNvSpPr/>
          <p:nvPr/>
        </p:nvSpPr>
        <p:spPr>
          <a:xfrm>
            <a:off x="365760" y="1005840"/>
            <a:ext cx="2743200" cy="1188720"/>
          </a:xfrm>
          <a:prstGeom prst="rect">
            <a:avLst/>
          </a:prstGeom>
          <a:noFill/>
          <a:ln/>
        </p:spPr>
        <p:txBody>
          <a:bodyPr wrap="square" rtlCol="0" anchor="ctr"/>
          <a:lstStyle/>
          <a:p>
            <a:pPr marL="0" indent="0" algn="ctr">
              <a:buNone/>
            </a:pPr>
            <a:r>
              <a:rPr lang="en-US" sz="1500" b="1" dirty="0">
                <a:solidFill>
                  <a:srgbClr val="FFFFFF"/>
                </a:solidFill>
                <a:latin typeface="Tw Cen MT" pitchFamily="34" charset="0"/>
                <a:ea typeface="Tw Cen MT" pitchFamily="34" charset="-122"/>
                <a:cs typeface="Tw Cen MT" pitchFamily="34" charset="-120"/>
              </a:rPr>
              <a:t>Asignación de Autoridad</a:t>
            </a:r>
            <a:endParaRPr lang="en-US" sz="1500" dirty="0"/>
          </a:p>
        </p:txBody>
      </p:sp>
      <p:sp>
        <p:nvSpPr>
          <p:cNvPr id="7" name="Shape 5"/>
          <p:cNvSpPr/>
          <p:nvPr/>
        </p:nvSpPr>
        <p:spPr>
          <a:xfrm>
            <a:off x="3246120" y="1005840"/>
            <a:ext cx="2743200" cy="1188720"/>
          </a:xfrm>
          <a:prstGeom prst="rect">
            <a:avLst/>
          </a:prstGeom>
          <a:solidFill>
            <a:srgbClr val="8B0000"/>
          </a:solidFill>
          <a:ln w="12700">
            <a:solidFill>
              <a:srgbClr val="8B0000"/>
            </a:solidFill>
            <a:prstDash val="solid"/>
          </a:ln>
        </p:spPr>
        <p:txBody>
          <a:bodyPr/>
          <a:lstStyle/>
          <a:p>
            <a:endParaRPr lang="en-US"/>
          </a:p>
        </p:txBody>
      </p:sp>
      <p:sp>
        <p:nvSpPr>
          <p:cNvPr id="8" name="Text 6"/>
          <p:cNvSpPr/>
          <p:nvPr/>
        </p:nvSpPr>
        <p:spPr>
          <a:xfrm>
            <a:off x="3246120" y="1005840"/>
            <a:ext cx="2743200" cy="1188720"/>
          </a:xfrm>
          <a:prstGeom prst="rect">
            <a:avLst/>
          </a:prstGeom>
          <a:noFill/>
          <a:ln/>
        </p:spPr>
        <p:txBody>
          <a:bodyPr wrap="square" rtlCol="0" anchor="ctr"/>
          <a:lstStyle/>
          <a:p>
            <a:pPr marL="0" indent="0" algn="ctr">
              <a:buNone/>
            </a:pPr>
            <a:r>
              <a:rPr lang="en-US" sz="1500" b="1" dirty="0">
                <a:solidFill>
                  <a:srgbClr val="FFFFFF"/>
                </a:solidFill>
                <a:latin typeface="Tw Cen MT" pitchFamily="34" charset="0"/>
                <a:ea typeface="Tw Cen MT" pitchFamily="34" charset="-122"/>
                <a:cs typeface="Tw Cen MT" pitchFamily="34" charset="-120"/>
              </a:rPr>
              <a:t>Medición del Desempeño</a:t>
            </a:r>
            <a:endParaRPr lang="en-US" sz="1500" dirty="0"/>
          </a:p>
        </p:txBody>
      </p:sp>
      <p:sp>
        <p:nvSpPr>
          <p:cNvPr id="9" name="Shape 7"/>
          <p:cNvSpPr/>
          <p:nvPr/>
        </p:nvSpPr>
        <p:spPr>
          <a:xfrm>
            <a:off x="6126480" y="1005840"/>
            <a:ext cx="2743200" cy="1188720"/>
          </a:xfrm>
          <a:prstGeom prst="rect">
            <a:avLst/>
          </a:prstGeom>
          <a:solidFill>
            <a:srgbClr val="145230"/>
          </a:solidFill>
          <a:ln w="12700">
            <a:solidFill>
              <a:srgbClr val="145230"/>
            </a:solidFill>
            <a:prstDash val="solid"/>
          </a:ln>
        </p:spPr>
        <p:txBody>
          <a:bodyPr/>
          <a:lstStyle/>
          <a:p>
            <a:endParaRPr lang="en-US"/>
          </a:p>
        </p:txBody>
      </p:sp>
      <p:sp>
        <p:nvSpPr>
          <p:cNvPr id="10" name="Text 8"/>
          <p:cNvSpPr/>
          <p:nvPr/>
        </p:nvSpPr>
        <p:spPr>
          <a:xfrm>
            <a:off x="6126480" y="1005840"/>
            <a:ext cx="2743200" cy="1188720"/>
          </a:xfrm>
          <a:prstGeom prst="rect">
            <a:avLst/>
          </a:prstGeom>
          <a:noFill/>
          <a:ln/>
        </p:spPr>
        <p:txBody>
          <a:bodyPr wrap="square" rtlCol="0" anchor="ctr"/>
          <a:lstStyle/>
          <a:p>
            <a:pPr marL="0" indent="0" algn="ctr">
              <a:buNone/>
            </a:pPr>
            <a:r>
              <a:rPr lang="en-US" sz="1500" b="1" dirty="0">
                <a:solidFill>
                  <a:srgbClr val="FFFFFF"/>
                </a:solidFill>
                <a:latin typeface="Tw Cen MT" pitchFamily="34" charset="0"/>
                <a:ea typeface="Tw Cen MT" pitchFamily="34" charset="-122"/>
                <a:cs typeface="Tw Cen MT" pitchFamily="34" charset="-120"/>
              </a:rPr>
              <a:t>Política Compensatoria</a:t>
            </a:r>
            <a:endParaRPr lang="en-US" sz="1500" dirty="0"/>
          </a:p>
        </p:txBody>
      </p:sp>
      <p:sp>
        <p:nvSpPr>
          <p:cNvPr id="11" name="Shape 9"/>
          <p:cNvSpPr/>
          <p:nvPr/>
        </p:nvSpPr>
        <p:spPr>
          <a:xfrm>
            <a:off x="3108960" y="1600200"/>
            <a:ext cx="137160" cy="0"/>
          </a:xfrm>
          <a:prstGeom prst="line">
            <a:avLst/>
          </a:prstGeom>
          <a:noFill/>
          <a:ln w="25400">
            <a:solidFill>
              <a:srgbClr val="D4A017"/>
            </a:solidFill>
            <a:prstDash val="solid"/>
          </a:ln>
        </p:spPr>
        <p:txBody>
          <a:bodyPr/>
          <a:lstStyle/>
          <a:p>
            <a:endParaRPr lang="en-US"/>
          </a:p>
        </p:txBody>
      </p:sp>
      <p:sp>
        <p:nvSpPr>
          <p:cNvPr id="12" name="Shape 10"/>
          <p:cNvSpPr/>
          <p:nvPr/>
        </p:nvSpPr>
        <p:spPr>
          <a:xfrm>
            <a:off x="5989320" y="1600200"/>
            <a:ext cx="137160" cy="0"/>
          </a:xfrm>
          <a:prstGeom prst="line">
            <a:avLst/>
          </a:prstGeom>
          <a:noFill/>
          <a:ln w="25400">
            <a:solidFill>
              <a:srgbClr val="D4A017"/>
            </a:solidFill>
            <a:prstDash val="solid"/>
          </a:ln>
        </p:spPr>
        <p:txBody>
          <a:bodyPr/>
          <a:lstStyle/>
          <a:p>
            <a:endParaRPr lang="en-US"/>
          </a:p>
        </p:txBody>
      </p:sp>
      <p:sp>
        <p:nvSpPr>
          <p:cNvPr id="13" name="Text 11"/>
          <p:cNvSpPr/>
          <p:nvPr/>
        </p:nvSpPr>
        <p:spPr>
          <a:xfrm>
            <a:off x="365760" y="2423160"/>
            <a:ext cx="8412480" cy="365760"/>
          </a:xfrm>
          <a:prstGeom prst="rect">
            <a:avLst/>
          </a:prstGeom>
          <a:noFill/>
          <a:ln/>
        </p:spPr>
        <p:txBody>
          <a:bodyPr wrap="square" rtlCol="0" anchor="ctr"/>
          <a:lstStyle/>
          <a:p>
            <a:pPr marL="0" indent="0" algn="ctr">
              <a:buNone/>
            </a:pPr>
            <a:r>
              <a:rPr lang="en-US" sz="1600" b="1" i="1" dirty="0" err="1">
                <a:solidFill>
                  <a:srgbClr val="8B0000"/>
                </a:solidFill>
                <a:latin typeface="Tw Cen MT" pitchFamily="34" charset="0"/>
                <a:ea typeface="Tw Cen MT" pitchFamily="34" charset="-122"/>
                <a:cs typeface="Tw Cen MT" pitchFamily="34" charset="-120"/>
              </a:rPr>
              <a:t>Medición</a:t>
            </a:r>
            <a:r>
              <a:rPr lang="en-US" sz="1600" b="1" i="1" dirty="0">
                <a:solidFill>
                  <a:srgbClr val="8B0000"/>
                </a:solidFill>
                <a:latin typeface="Tw Cen MT" pitchFamily="34" charset="0"/>
                <a:ea typeface="Tw Cen MT" pitchFamily="34" charset="-122"/>
                <a:cs typeface="Tw Cen MT" pitchFamily="34" charset="-120"/>
              </a:rPr>
              <a:t> del Desempeño</a:t>
            </a:r>
            <a:endParaRPr lang="en-US" sz="1600" dirty="0"/>
          </a:p>
        </p:txBody>
      </p:sp>
      <p:sp>
        <p:nvSpPr>
          <p:cNvPr id="14" name="Text 12"/>
          <p:cNvSpPr/>
          <p:nvPr/>
        </p:nvSpPr>
        <p:spPr>
          <a:xfrm>
            <a:off x="365760" y="2926080"/>
            <a:ext cx="8412480" cy="731520"/>
          </a:xfrm>
          <a:prstGeom prst="rect">
            <a:avLst/>
          </a:prstGeom>
          <a:noFill/>
          <a:ln/>
        </p:spPr>
        <p:txBody>
          <a:bodyPr wrap="square" rtlCol="0" anchor="ctr"/>
          <a:lstStyle/>
          <a:p>
            <a:pPr marL="0" indent="0" algn="ctr">
              <a:buNone/>
            </a:pPr>
            <a:r>
              <a:rPr lang="en-US" sz="2000" dirty="0">
                <a:solidFill>
                  <a:srgbClr val="222222"/>
                </a:solidFill>
                <a:latin typeface="Tw Cen MT" panose="020B0602020104020603" pitchFamily="34" charset="0"/>
                <a:ea typeface="Tw Cen MT" pitchFamily="34" charset="-122"/>
                <a:cs typeface="Tw Cen MT" pitchFamily="34" charset="-120"/>
              </a:rPr>
              <a:t>La compensación por performance usa como input el output de la evaluación de la performance.</a:t>
            </a:r>
            <a:endParaRPr lang="en-US" sz="2000" dirty="0">
              <a:latin typeface="Tw Cen MT" panose="020B0602020104020603" pitchFamily="34" charset="0"/>
            </a:endParaRPr>
          </a:p>
          <a:p>
            <a:pPr marL="0" indent="0" algn="ctr">
              <a:buNone/>
            </a:pPr>
            <a:r>
              <a:rPr lang="en-US" sz="2000" dirty="0">
                <a:solidFill>
                  <a:srgbClr val="222222"/>
                </a:solidFill>
                <a:latin typeface="Tw Cen MT" panose="020B0602020104020603" pitchFamily="34" charset="0"/>
                <a:ea typeface="Tw Cen MT" pitchFamily="34" charset="-122"/>
                <a:cs typeface="Tw Cen MT" pitchFamily="34" charset="-120"/>
              </a:rPr>
              <a:t>Los dos sistemas están íntimamente relacionados.</a:t>
            </a:r>
            <a:endParaRPr lang="en-US" sz="2000" dirty="0">
              <a:latin typeface="Tw Cen MT" panose="020B0602020104020603" pitchFamily="34" charset="0"/>
            </a:endParaRPr>
          </a:p>
        </p:txBody>
      </p:sp>
      <p:sp>
        <p:nvSpPr>
          <p:cNvPr id="15" name="Text 13"/>
          <p:cNvSpPr/>
          <p:nvPr/>
        </p:nvSpPr>
        <p:spPr>
          <a:xfrm>
            <a:off x="300789" y="4369869"/>
            <a:ext cx="8412480" cy="457200"/>
          </a:xfrm>
          <a:prstGeom prst="rect">
            <a:avLst/>
          </a:prstGeom>
          <a:noFill/>
          <a:ln/>
        </p:spPr>
        <p:txBody>
          <a:bodyPr wrap="square" rtlCol="0" anchor="ctr"/>
          <a:lstStyle/>
          <a:p>
            <a:pPr marL="0" indent="0" algn="ctr">
              <a:buNone/>
            </a:pPr>
            <a:r>
              <a:rPr lang="en-US" sz="2000" dirty="0">
                <a:solidFill>
                  <a:srgbClr val="222222"/>
                </a:solidFill>
                <a:latin typeface="Tw Cen MT" pitchFamily="34" charset="0"/>
                <a:ea typeface="Tw Cen MT" pitchFamily="34" charset="-122"/>
                <a:cs typeface="Tw Cen MT" pitchFamily="34" charset="-120"/>
              </a:rPr>
              <a:t>Las empresas suelen tener mediciones de desempeño objetivas y subjetivas.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dirty="0">
              <a:latin typeface="Tw Cen MT" panose="020B0602020104020603" pitchFamily="34" charset="0"/>
            </a:endParaRPr>
          </a:p>
        </p:txBody>
      </p:sp>
      <p:sp>
        <p:nvSpPr>
          <p:cNvPr id="3" name="Shape 1"/>
          <p:cNvSpPr/>
          <p:nvPr/>
        </p:nvSpPr>
        <p:spPr>
          <a:xfrm>
            <a:off x="0" y="658368"/>
            <a:ext cx="9144000" cy="54864"/>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anose="020B0602020104020603" pitchFamily="34" charset="0"/>
                <a:ea typeface="Tw Cen MT" pitchFamily="34" charset="-122"/>
                <a:cs typeface="Tw Cen MT" pitchFamily="34" charset="-120"/>
              </a:rPr>
              <a:t>TALLER — La Cocina y las Expectativas</a:t>
            </a:r>
            <a:endParaRPr lang="en-US" sz="2200" dirty="0">
              <a:latin typeface="Tw Cen MT" panose="020B0602020104020603" pitchFamily="34" charset="0"/>
            </a:endParaRPr>
          </a:p>
        </p:txBody>
      </p:sp>
      <p:sp>
        <p:nvSpPr>
          <p:cNvPr id="5" name="Text 3"/>
          <p:cNvSpPr/>
          <p:nvPr/>
        </p:nvSpPr>
        <p:spPr>
          <a:xfrm>
            <a:off x="365760" y="868680"/>
            <a:ext cx="8412480" cy="3200400"/>
          </a:xfrm>
          <a:prstGeom prst="rect">
            <a:avLst/>
          </a:prstGeom>
          <a:noFill/>
          <a:ln/>
        </p:spPr>
        <p:txBody>
          <a:bodyPr wrap="square" rtlCol="0" anchor="t"/>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La familia acaba de terminar de cenar y tu pareja te pregunta si podés limpiar la cocina. Le respondés "no hay problema" y empezás a recoger los platos de la mesa, </a:t>
            </a:r>
            <a:r>
              <a:rPr lang="en-US" sz="2000" dirty="0" err="1">
                <a:solidFill>
                  <a:srgbClr val="FFFFFF"/>
                </a:solidFill>
                <a:latin typeface="Tw Cen MT" panose="020B0602020104020603" pitchFamily="34" charset="0"/>
                <a:ea typeface="Tw Cen MT" pitchFamily="34" charset="-122"/>
                <a:cs typeface="Tw Cen MT" pitchFamily="34" charset="-120"/>
              </a:rPr>
              <a:t>los</a:t>
            </a:r>
            <a:r>
              <a:rPr lang="en-US" sz="2000" dirty="0">
                <a:solidFill>
                  <a:srgbClr val="FFFFFF"/>
                </a:solidFill>
                <a:latin typeface="Tw Cen MT" panose="020B0602020104020603" pitchFamily="34" charset="0"/>
                <a:ea typeface="Tw Cen MT" pitchFamily="34" charset="-122"/>
                <a:cs typeface="Tw Cen MT" pitchFamily="34" charset="-120"/>
              </a:rPr>
              <a:t> </a:t>
            </a:r>
            <a:r>
              <a:rPr lang="en-US" sz="2000" dirty="0" err="1">
                <a:solidFill>
                  <a:srgbClr val="FFFFFF"/>
                </a:solidFill>
                <a:latin typeface="Tw Cen MT" panose="020B0602020104020603" pitchFamily="34" charset="0"/>
                <a:ea typeface="Tw Cen MT" pitchFamily="34" charset="-122"/>
                <a:cs typeface="Tw Cen MT" pitchFamily="34" charset="-120"/>
              </a:rPr>
              <a:t>enjuagás</a:t>
            </a:r>
            <a:r>
              <a:rPr lang="en-US" sz="2000" dirty="0">
                <a:solidFill>
                  <a:srgbClr val="FFFFFF"/>
                </a:solidFill>
                <a:latin typeface="Tw Cen MT" panose="020B0602020104020603" pitchFamily="34" charset="0"/>
                <a:ea typeface="Tw Cen MT" pitchFamily="34" charset="-122"/>
                <a:cs typeface="Tw Cen MT" pitchFamily="34" charset="-120"/>
              </a:rPr>
              <a:t>, </a:t>
            </a:r>
            <a:r>
              <a:rPr lang="en-US" sz="2000" dirty="0" err="1">
                <a:solidFill>
                  <a:srgbClr val="FFFFFF"/>
                </a:solidFill>
                <a:latin typeface="Tw Cen MT" panose="020B0602020104020603" pitchFamily="34" charset="0"/>
                <a:ea typeface="Tw Cen MT" pitchFamily="34" charset="-122"/>
                <a:cs typeface="Tw Cen MT" pitchFamily="34" charset="-120"/>
              </a:rPr>
              <a:t>ponés</a:t>
            </a:r>
            <a:r>
              <a:rPr lang="en-US" sz="2000" dirty="0">
                <a:solidFill>
                  <a:srgbClr val="FFFFFF"/>
                </a:solidFill>
                <a:latin typeface="Tw Cen MT" panose="020B0602020104020603" pitchFamily="34" charset="0"/>
                <a:ea typeface="Tw Cen MT" pitchFamily="34" charset="-122"/>
                <a:cs typeface="Tw Cen MT" pitchFamily="34" charset="-120"/>
              </a:rPr>
              <a:t> en el lavavajillas, </a:t>
            </a:r>
            <a:r>
              <a:rPr lang="en-US" sz="2000" dirty="0" err="1">
                <a:solidFill>
                  <a:srgbClr val="FFFFFF"/>
                </a:solidFill>
                <a:latin typeface="Tw Cen MT" panose="020B0602020104020603" pitchFamily="34" charset="0"/>
                <a:ea typeface="Tw Cen MT" pitchFamily="34" charset="-122"/>
                <a:cs typeface="Tw Cen MT" pitchFamily="34" charset="-120"/>
              </a:rPr>
              <a:t>guardás</a:t>
            </a:r>
            <a:r>
              <a:rPr lang="en-US" sz="2000" dirty="0">
                <a:solidFill>
                  <a:srgbClr val="FFFFFF"/>
                </a:solidFill>
                <a:latin typeface="Tw Cen MT" panose="020B0602020104020603" pitchFamily="34" charset="0"/>
                <a:ea typeface="Tw Cen MT" pitchFamily="34" charset="-122"/>
                <a:cs typeface="Tw Cen MT" pitchFamily="34" charset="-120"/>
              </a:rPr>
              <a:t> la comida en la heladera, rociás y limpiás las superficies con desinfectante, recoges la </a:t>
            </a:r>
            <a:r>
              <a:rPr lang="en-US" sz="2000" dirty="0" err="1">
                <a:solidFill>
                  <a:srgbClr val="FFFFFF"/>
                </a:solidFill>
                <a:latin typeface="Tw Cen MT" panose="020B0602020104020603" pitchFamily="34" charset="0"/>
                <a:ea typeface="Tw Cen MT" pitchFamily="34" charset="-122"/>
                <a:cs typeface="Tw Cen MT" pitchFamily="34" charset="-120"/>
              </a:rPr>
              <a:t>basura</a:t>
            </a:r>
            <a:r>
              <a:rPr lang="en-US" sz="2000" dirty="0">
                <a:solidFill>
                  <a:srgbClr val="FFFFFF"/>
                </a:solidFill>
                <a:latin typeface="Tw Cen MT" panose="020B0602020104020603" pitchFamily="34" charset="0"/>
                <a:ea typeface="Tw Cen MT" pitchFamily="34" charset="-122"/>
                <a:cs typeface="Tw Cen MT" pitchFamily="34" charset="-120"/>
              </a:rPr>
              <a:t> y la llevás al garaje. Barrés el piso, acomodás la mesa y las sillas,  cambiás el agua de las flores.</a:t>
            </a:r>
            <a:endParaRPr lang="en-US" sz="2000"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Tu pareja entra en la cocina, le sonreís y le decís: "¡Todo listo!"</a:t>
            </a:r>
            <a:endParaRPr lang="en-US" sz="2000"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Te responde: </a:t>
            </a:r>
            <a:endParaRPr lang="en-US" sz="2000" dirty="0">
              <a:latin typeface="Tw Cen MT" panose="020B0602020104020603" pitchFamily="34" charset="0"/>
            </a:endParaRPr>
          </a:p>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"Bien. Cumpliste las expectativas".</a:t>
            </a:r>
            <a:endParaRPr lang="en-US" sz="2400" dirty="0">
              <a:latin typeface="Tw Cen MT" panose="020B0602020104020603" pitchFamily="34" charset="0"/>
            </a:endParaRPr>
          </a:p>
        </p:txBody>
      </p:sp>
      <p:sp>
        <p:nvSpPr>
          <p:cNvPr id="6" name="Shape 4"/>
          <p:cNvSpPr/>
          <p:nvPr/>
        </p:nvSpPr>
        <p:spPr>
          <a:xfrm>
            <a:off x="201168" y="4824663"/>
            <a:ext cx="8412480" cy="45720"/>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7" name="Text 5"/>
          <p:cNvSpPr/>
          <p:nvPr/>
        </p:nvSpPr>
        <p:spPr>
          <a:xfrm>
            <a:off x="365760" y="5452712"/>
            <a:ext cx="8412480" cy="640080"/>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CONSIGNA: ¿Qué reflexión dispara esta situación sobre la medición del desempeño en las organizaciones?</a:t>
            </a:r>
            <a:endParaRPr lang="en-US" dirty="0">
              <a:latin typeface="Tw Cen MT" panose="020B06020201040206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Algunos Números — La Realidad de la Evaluación</a:t>
            </a:r>
            <a:endParaRPr lang="en-US" sz="2200" dirty="0"/>
          </a:p>
        </p:txBody>
      </p:sp>
      <p:sp>
        <p:nvSpPr>
          <p:cNvPr id="5" name="Text 3"/>
          <p:cNvSpPr/>
          <p:nvPr/>
        </p:nvSpPr>
        <p:spPr>
          <a:xfrm>
            <a:off x="365760" y="777240"/>
            <a:ext cx="8412480" cy="365760"/>
          </a:xfrm>
          <a:prstGeom prst="rect">
            <a:avLst/>
          </a:prstGeom>
          <a:noFill/>
          <a:ln/>
        </p:spPr>
        <p:txBody>
          <a:bodyPr wrap="square" rtlCol="0" anchor="ctr"/>
          <a:lstStyle/>
          <a:p>
            <a:pPr marL="0" indent="0">
              <a:buNone/>
            </a:pPr>
            <a:r>
              <a:rPr lang="en-US" sz="1600" i="1" dirty="0">
                <a:solidFill>
                  <a:srgbClr val="666666"/>
                </a:solidFill>
                <a:latin typeface="Tw Cen MT" pitchFamily="34" charset="0"/>
                <a:ea typeface="Tw Cen MT" pitchFamily="34" charset="-122"/>
                <a:cs typeface="Tw Cen MT" pitchFamily="34" charset="-120"/>
              </a:rPr>
              <a:t>"How to Actually Encourage Employee Accountability" — Harvard Business Review, 2020</a:t>
            </a:r>
            <a:endParaRPr lang="en-US" sz="1600" dirty="0"/>
          </a:p>
        </p:txBody>
      </p:sp>
      <p:sp>
        <p:nvSpPr>
          <p:cNvPr id="6" name="Shape 4"/>
          <p:cNvSpPr/>
          <p:nvPr/>
        </p:nvSpPr>
        <p:spPr>
          <a:xfrm>
            <a:off x="320040" y="1325880"/>
            <a:ext cx="4160520" cy="1280160"/>
          </a:xfrm>
          <a:prstGeom prst="rect">
            <a:avLst/>
          </a:prstGeom>
          <a:solidFill>
            <a:srgbClr val="F5F5F5"/>
          </a:solidFill>
          <a:ln w="12700">
            <a:solidFill>
              <a:srgbClr val="DDDDDD"/>
            </a:solidFill>
            <a:prstDash val="solid"/>
          </a:ln>
        </p:spPr>
        <p:txBody>
          <a:bodyPr/>
          <a:lstStyle/>
          <a:p>
            <a:endParaRPr lang="en-US"/>
          </a:p>
        </p:txBody>
      </p:sp>
      <p:sp>
        <p:nvSpPr>
          <p:cNvPr id="7" name="Text 5"/>
          <p:cNvSpPr/>
          <p:nvPr/>
        </p:nvSpPr>
        <p:spPr>
          <a:xfrm>
            <a:off x="320040" y="139903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14%</a:t>
            </a:r>
            <a:endParaRPr lang="en-US" dirty="0"/>
          </a:p>
        </p:txBody>
      </p:sp>
      <p:sp>
        <p:nvSpPr>
          <p:cNvPr id="8" name="Text 6"/>
          <p:cNvSpPr/>
          <p:nvPr/>
        </p:nvSpPr>
        <p:spPr>
          <a:xfrm>
            <a:off x="1325880" y="141732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de los empleados siente que su desempeño se administra de manera que los motiva.</a:t>
            </a:r>
            <a:endParaRPr lang="en-US" dirty="0"/>
          </a:p>
        </p:txBody>
      </p:sp>
      <p:sp>
        <p:nvSpPr>
          <p:cNvPr id="9" name="Shape 7"/>
          <p:cNvSpPr/>
          <p:nvPr/>
        </p:nvSpPr>
        <p:spPr>
          <a:xfrm>
            <a:off x="320040" y="2788920"/>
            <a:ext cx="4160520" cy="1280160"/>
          </a:xfrm>
          <a:prstGeom prst="rect">
            <a:avLst/>
          </a:prstGeom>
          <a:solidFill>
            <a:srgbClr val="F5F5F5"/>
          </a:solidFill>
          <a:ln w="12700">
            <a:solidFill>
              <a:srgbClr val="DDDDDD"/>
            </a:solidFill>
            <a:prstDash val="solid"/>
          </a:ln>
        </p:spPr>
        <p:txBody>
          <a:bodyPr/>
          <a:lstStyle/>
          <a:p>
            <a:endParaRPr lang="en-US"/>
          </a:p>
        </p:txBody>
      </p:sp>
      <p:sp>
        <p:nvSpPr>
          <p:cNvPr id="10" name="Text 8"/>
          <p:cNvSpPr/>
          <p:nvPr/>
        </p:nvSpPr>
        <p:spPr>
          <a:xfrm>
            <a:off x="320040" y="286207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26%</a:t>
            </a:r>
            <a:endParaRPr lang="en-US" dirty="0"/>
          </a:p>
        </p:txBody>
      </p:sp>
      <p:sp>
        <p:nvSpPr>
          <p:cNvPr id="11" name="Text 9"/>
          <p:cNvSpPr/>
          <p:nvPr/>
        </p:nvSpPr>
        <p:spPr>
          <a:xfrm>
            <a:off x="1325880" y="288036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recibe comentarios menos de una vez al año.</a:t>
            </a:r>
            <a:endParaRPr lang="en-US" dirty="0"/>
          </a:p>
        </p:txBody>
      </p:sp>
      <p:sp>
        <p:nvSpPr>
          <p:cNvPr id="12" name="Shape 10"/>
          <p:cNvSpPr/>
          <p:nvPr/>
        </p:nvSpPr>
        <p:spPr>
          <a:xfrm>
            <a:off x="320040" y="4251960"/>
            <a:ext cx="4160520" cy="1280160"/>
          </a:xfrm>
          <a:prstGeom prst="rect">
            <a:avLst/>
          </a:prstGeom>
          <a:solidFill>
            <a:srgbClr val="F5F5F5"/>
          </a:solidFill>
          <a:ln w="12700">
            <a:solidFill>
              <a:srgbClr val="DDDDDD"/>
            </a:solidFill>
            <a:prstDash val="solid"/>
          </a:ln>
        </p:spPr>
        <p:txBody>
          <a:bodyPr/>
          <a:lstStyle/>
          <a:p>
            <a:endParaRPr lang="en-US"/>
          </a:p>
        </p:txBody>
      </p:sp>
      <p:sp>
        <p:nvSpPr>
          <p:cNvPr id="13" name="Text 11"/>
          <p:cNvSpPr/>
          <p:nvPr/>
        </p:nvSpPr>
        <p:spPr>
          <a:xfrm>
            <a:off x="320040" y="432511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21%</a:t>
            </a:r>
            <a:endParaRPr lang="en-US" dirty="0"/>
          </a:p>
        </p:txBody>
      </p:sp>
      <p:sp>
        <p:nvSpPr>
          <p:cNvPr id="14" name="Text 12"/>
          <p:cNvSpPr/>
          <p:nvPr/>
        </p:nvSpPr>
        <p:spPr>
          <a:xfrm>
            <a:off x="1325880" y="434340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siente que las métricas de desempeño están bajo su control.</a:t>
            </a:r>
            <a:endParaRPr lang="en-US" dirty="0"/>
          </a:p>
        </p:txBody>
      </p:sp>
      <p:sp>
        <p:nvSpPr>
          <p:cNvPr id="15" name="Shape 13"/>
          <p:cNvSpPr/>
          <p:nvPr/>
        </p:nvSpPr>
        <p:spPr>
          <a:xfrm>
            <a:off x="4663440" y="1325880"/>
            <a:ext cx="4160520" cy="1280160"/>
          </a:xfrm>
          <a:prstGeom prst="rect">
            <a:avLst/>
          </a:prstGeom>
          <a:solidFill>
            <a:srgbClr val="FDF5E0"/>
          </a:solidFill>
          <a:ln w="12700">
            <a:solidFill>
              <a:srgbClr val="D4A017"/>
            </a:solidFill>
            <a:prstDash val="solid"/>
          </a:ln>
        </p:spPr>
        <p:txBody>
          <a:bodyPr/>
          <a:lstStyle/>
          <a:p>
            <a:endParaRPr lang="en-US"/>
          </a:p>
        </p:txBody>
      </p:sp>
      <p:sp>
        <p:nvSpPr>
          <p:cNvPr id="16" name="Text 14"/>
          <p:cNvSpPr/>
          <p:nvPr/>
        </p:nvSpPr>
        <p:spPr>
          <a:xfrm>
            <a:off x="4663440" y="139903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40%</a:t>
            </a:r>
            <a:endParaRPr lang="en-US" dirty="0"/>
          </a:p>
        </p:txBody>
      </p:sp>
      <p:sp>
        <p:nvSpPr>
          <p:cNvPr id="17" name="Text 15"/>
          <p:cNvSpPr/>
          <p:nvPr/>
        </p:nvSpPr>
        <p:spPr>
          <a:xfrm>
            <a:off x="5669280" y="141732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siente que el gerente es responsable de las metas establecidas.</a:t>
            </a:r>
            <a:endParaRPr lang="en-US" dirty="0"/>
          </a:p>
        </p:txBody>
      </p:sp>
      <p:sp>
        <p:nvSpPr>
          <p:cNvPr id="18" name="Shape 16"/>
          <p:cNvSpPr/>
          <p:nvPr/>
        </p:nvSpPr>
        <p:spPr>
          <a:xfrm>
            <a:off x="4663440" y="2788920"/>
            <a:ext cx="4160520" cy="1280160"/>
          </a:xfrm>
          <a:prstGeom prst="rect">
            <a:avLst/>
          </a:prstGeom>
          <a:solidFill>
            <a:srgbClr val="FDF5E0"/>
          </a:solidFill>
          <a:ln w="12700">
            <a:solidFill>
              <a:srgbClr val="D4A017"/>
            </a:solidFill>
            <a:prstDash val="solid"/>
          </a:ln>
        </p:spPr>
        <p:txBody>
          <a:bodyPr/>
          <a:lstStyle/>
          <a:p>
            <a:endParaRPr lang="en-US"/>
          </a:p>
        </p:txBody>
      </p:sp>
      <p:sp>
        <p:nvSpPr>
          <p:cNvPr id="19" name="Text 17"/>
          <p:cNvSpPr/>
          <p:nvPr/>
        </p:nvSpPr>
        <p:spPr>
          <a:xfrm>
            <a:off x="4663440" y="286207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70%</a:t>
            </a:r>
            <a:endParaRPr lang="en-US" dirty="0"/>
          </a:p>
        </p:txBody>
      </p:sp>
      <p:sp>
        <p:nvSpPr>
          <p:cNvPr id="20" name="Text 18"/>
          <p:cNvSpPr/>
          <p:nvPr/>
        </p:nvSpPr>
        <p:spPr>
          <a:xfrm>
            <a:off x="5669280" y="288036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no percibe objetividad en la forma en que su gerente los evalúa.</a:t>
            </a:r>
            <a:endParaRPr lang="en-US" dirty="0"/>
          </a:p>
        </p:txBody>
      </p:sp>
      <p:sp>
        <p:nvSpPr>
          <p:cNvPr id="21" name="Shape 19"/>
          <p:cNvSpPr/>
          <p:nvPr/>
        </p:nvSpPr>
        <p:spPr>
          <a:xfrm>
            <a:off x="4663440" y="4251960"/>
            <a:ext cx="4160520" cy="1280160"/>
          </a:xfrm>
          <a:prstGeom prst="rect">
            <a:avLst/>
          </a:prstGeom>
          <a:solidFill>
            <a:srgbClr val="FDF5E0"/>
          </a:solidFill>
          <a:ln w="12700">
            <a:solidFill>
              <a:srgbClr val="D4A017"/>
            </a:solidFill>
            <a:prstDash val="solid"/>
          </a:ln>
        </p:spPr>
        <p:txBody>
          <a:bodyPr/>
          <a:lstStyle/>
          <a:p>
            <a:endParaRPr lang="en-US"/>
          </a:p>
        </p:txBody>
      </p:sp>
      <p:sp>
        <p:nvSpPr>
          <p:cNvPr id="22" name="Text 20"/>
          <p:cNvSpPr/>
          <p:nvPr/>
        </p:nvSpPr>
        <p:spPr>
          <a:xfrm>
            <a:off x="4663440" y="4325112"/>
            <a:ext cx="1005840" cy="1133856"/>
          </a:xfrm>
          <a:prstGeom prst="rect">
            <a:avLst/>
          </a:prstGeom>
          <a:noFill/>
          <a:ln/>
        </p:spPr>
        <p:txBody>
          <a:bodyPr wrap="square" rtlCol="0" anchor="ctr"/>
          <a:lstStyle/>
          <a:p>
            <a:pPr marL="0" indent="0" algn="ctr">
              <a:buNone/>
            </a:pPr>
            <a:r>
              <a:rPr lang="en-US" b="1" dirty="0">
                <a:solidFill>
                  <a:srgbClr val="8B0000"/>
                </a:solidFill>
                <a:latin typeface="Tw Cen MT" pitchFamily="34" charset="0"/>
                <a:ea typeface="Tw Cen MT" pitchFamily="34" charset="-122"/>
                <a:cs typeface="Tw Cen MT" pitchFamily="34" charset="-120"/>
              </a:rPr>
              <a:t>69%</a:t>
            </a:r>
            <a:endParaRPr lang="en-US" dirty="0"/>
          </a:p>
        </p:txBody>
      </p:sp>
      <p:sp>
        <p:nvSpPr>
          <p:cNvPr id="23" name="Text 21"/>
          <p:cNvSpPr/>
          <p:nvPr/>
        </p:nvSpPr>
        <p:spPr>
          <a:xfrm>
            <a:off x="5669280" y="4343400"/>
            <a:ext cx="3063240" cy="1097280"/>
          </a:xfrm>
          <a:prstGeom prst="rect">
            <a:avLst/>
          </a:prstGeom>
          <a:noFill/>
          <a:ln/>
        </p:spPr>
        <p:txBody>
          <a:bodyPr wrap="square" rtlCol="0" anchor="ctr"/>
          <a:lstStyle/>
          <a:p>
            <a:pPr marL="0" indent="0">
              <a:buNone/>
            </a:pPr>
            <a:r>
              <a:rPr lang="en-US" dirty="0">
                <a:solidFill>
                  <a:srgbClr val="222222"/>
                </a:solidFill>
                <a:latin typeface="Tw Cen MT" pitchFamily="34" charset="0"/>
                <a:ea typeface="Tw Cen MT" pitchFamily="34" charset="-122"/>
                <a:cs typeface="Tw Cen MT" pitchFamily="34" charset="-120"/>
              </a:rPr>
              <a:t>no siente que está desarrollando su potencial en el trabajo.</a:t>
            </a:r>
            <a:endParaRPr lang="en-US" dirty="0"/>
          </a:p>
        </p:txBody>
      </p:sp>
      <p:sp>
        <p:nvSpPr>
          <p:cNvPr id="25" name="CuadroTexto 24">
            <a:extLst>
              <a:ext uri="{FF2B5EF4-FFF2-40B4-BE49-F238E27FC236}">
                <a16:creationId xmlns:a16="http://schemas.microsoft.com/office/drawing/2014/main" id="{30C65C59-BA8A-BEDE-E8AF-DCE343C710FA}"/>
              </a:ext>
            </a:extLst>
          </p:cNvPr>
          <p:cNvSpPr txBox="1"/>
          <p:nvPr/>
        </p:nvSpPr>
        <p:spPr>
          <a:xfrm>
            <a:off x="457200" y="5999577"/>
            <a:ext cx="841248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700"/>
              </a:spcBef>
              <a:spcAft>
                <a:spcPts val="0"/>
              </a:spcAft>
              <a:buClr>
                <a:srgbClr val="DD8047"/>
              </a:buClr>
              <a:buSzPct val="60000"/>
              <a:buFont typeface="Wingdings"/>
              <a:buNone/>
              <a:tabLst/>
              <a:defRPr/>
            </a:pPr>
            <a:r>
              <a:rPr kumimoji="0" lang="es-ES_tradnl" sz="2000" b="0" i="0" u="none" strike="noStrike" kern="1200" cap="none" spc="0" normalizeH="0" baseline="0" noProof="0" dirty="0">
                <a:ln>
                  <a:noFill/>
                </a:ln>
                <a:solidFill>
                  <a:prstClr val="black"/>
                </a:solidFill>
                <a:effectLst/>
                <a:uLnTx/>
                <a:uFillTx/>
                <a:latin typeface="Tw Cen MT"/>
                <a:ea typeface="+mn-ea"/>
                <a:cs typeface="+mn-cs"/>
                <a:hlinkClick r:id="rId3"/>
              </a:rPr>
              <a:t>https://hbr.org/2020/11/how-to-actually-encourage-employee-accountability</a:t>
            </a:r>
            <a:endParaRPr kumimoji="0" lang="es-ES_tradnl" sz="2000" b="0" i="0" u="none" strike="noStrike" kern="1200" cap="none" spc="0" normalizeH="0" baseline="0" noProof="0" dirty="0">
              <a:ln>
                <a:noFill/>
              </a:ln>
              <a:solidFill>
                <a:prstClr val="black"/>
              </a:solidFill>
              <a:effectLst/>
              <a:uLnTx/>
              <a:uFillTx/>
              <a:latin typeface="Tw Cen M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4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4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Tendencias en la Evaluación del Desempeño</a:t>
            </a:r>
            <a:endParaRPr lang="en-US" sz="2400" dirty="0">
              <a:latin typeface="Tw Cen MT" panose="020B0602020104020603" pitchFamily="34" charset="0"/>
            </a:endParaRPr>
          </a:p>
        </p:txBody>
      </p:sp>
      <p:sp>
        <p:nvSpPr>
          <p:cNvPr id="5" name="Shape 3"/>
          <p:cNvSpPr/>
          <p:nvPr/>
        </p:nvSpPr>
        <p:spPr>
          <a:xfrm>
            <a:off x="274320" y="777240"/>
            <a:ext cx="3749040" cy="347472"/>
          </a:xfrm>
          <a:prstGeom prst="rect">
            <a:avLst/>
          </a:prstGeom>
          <a:solidFill>
            <a:srgbClr val="8B0000"/>
          </a:solidFill>
          <a:ln w="12700">
            <a:solidFill>
              <a:srgbClr val="8B0000"/>
            </a:solidFill>
            <a:prstDash val="solid"/>
          </a:ln>
        </p:spPr>
        <p:txBody>
          <a:bodyPr/>
          <a:lstStyle/>
          <a:p>
            <a:endParaRPr lang="en-US" sz="2400">
              <a:latin typeface="Tw Cen MT" panose="020B0602020104020603" pitchFamily="34" charset="0"/>
            </a:endParaRPr>
          </a:p>
        </p:txBody>
      </p:sp>
      <p:sp>
        <p:nvSpPr>
          <p:cNvPr id="6" name="Text 4"/>
          <p:cNvSpPr/>
          <p:nvPr/>
        </p:nvSpPr>
        <p:spPr>
          <a:xfrm>
            <a:off x="274320" y="777240"/>
            <a:ext cx="3749040" cy="347472"/>
          </a:xfrm>
          <a:prstGeom prst="rect">
            <a:avLst/>
          </a:prstGeom>
          <a:noFill/>
          <a:ln/>
        </p:spPr>
        <p:txBody>
          <a:bodyPr wrap="square" rtlCol="0" anchor="ctr"/>
          <a:lstStyle/>
          <a:p>
            <a:pPr marL="0" indent="0" algn="ctr">
              <a:buNone/>
            </a:pPr>
            <a:r>
              <a:rPr lang="en-US" sz="2400" b="1" dirty="0">
                <a:solidFill>
                  <a:srgbClr val="FFFFFF"/>
                </a:solidFill>
                <a:latin typeface="Tw Cen MT" panose="020B0602020104020603" pitchFamily="34" charset="0"/>
                <a:ea typeface="Tw Cen MT" pitchFamily="34" charset="-122"/>
                <a:cs typeface="Tw Cen MT" pitchFamily="34" charset="-120"/>
              </a:rPr>
              <a:t>DE</a:t>
            </a:r>
            <a:endParaRPr lang="en-US" sz="2400" dirty="0">
              <a:latin typeface="Tw Cen MT" panose="020B0602020104020603" pitchFamily="34" charset="0"/>
            </a:endParaRPr>
          </a:p>
        </p:txBody>
      </p:sp>
      <p:sp>
        <p:nvSpPr>
          <p:cNvPr id="7" name="Shape 5"/>
          <p:cNvSpPr/>
          <p:nvPr/>
        </p:nvSpPr>
        <p:spPr>
          <a:xfrm>
            <a:off x="5120640" y="777240"/>
            <a:ext cx="3749040" cy="347472"/>
          </a:xfrm>
          <a:prstGeom prst="rect">
            <a:avLst/>
          </a:prstGeom>
          <a:solidFill>
            <a:srgbClr val="1B4332"/>
          </a:solidFill>
          <a:ln w="12700">
            <a:solidFill>
              <a:srgbClr val="1B4332"/>
            </a:solidFill>
            <a:prstDash val="solid"/>
          </a:ln>
        </p:spPr>
        <p:txBody>
          <a:bodyPr/>
          <a:lstStyle/>
          <a:p>
            <a:endParaRPr lang="en-US" sz="2400">
              <a:latin typeface="Tw Cen MT" panose="020B0602020104020603" pitchFamily="34" charset="0"/>
            </a:endParaRPr>
          </a:p>
        </p:txBody>
      </p:sp>
      <p:sp>
        <p:nvSpPr>
          <p:cNvPr id="8" name="Text 6"/>
          <p:cNvSpPr/>
          <p:nvPr/>
        </p:nvSpPr>
        <p:spPr>
          <a:xfrm>
            <a:off x="5120640" y="777240"/>
            <a:ext cx="3749040" cy="347472"/>
          </a:xfrm>
          <a:prstGeom prst="rect">
            <a:avLst/>
          </a:prstGeom>
          <a:noFill/>
          <a:ln/>
        </p:spPr>
        <p:txBody>
          <a:bodyPr wrap="square" rtlCol="0" anchor="ctr"/>
          <a:lstStyle/>
          <a:p>
            <a:pPr marL="0" indent="0" algn="ctr">
              <a:buNone/>
            </a:pPr>
            <a:r>
              <a:rPr lang="en-US" sz="2400" b="1" dirty="0">
                <a:solidFill>
                  <a:srgbClr val="FFFFFF"/>
                </a:solidFill>
                <a:latin typeface="Tw Cen MT" panose="020B0602020104020603" pitchFamily="34" charset="0"/>
                <a:ea typeface="Tw Cen MT" pitchFamily="34" charset="-122"/>
                <a:cs typeface="Tw Cen MT" pitchFamily="34" charset="-120"/>
              </a:rPr>
              <a:t>A</a:t>
            </a:r>
            <a:endParaRPr lang="en-US" sz="2400" dirty="0">
              <a:latin typeface="Tw Cen MT" panose="020B0602020104020603" pitchFamily="34" charset="0"/>
            </a:endParaRPr>
          </a:p>
        </p:txBody>
      </p:sp>
      <p:sp>
        <p:nvSpPr>
          <p:cNvPr id="9" name="Shape 7"/>
          <p:cNvSpPr/>
          <p:nvPr/>
        </p:nvSpPr>
        <p:spPr>
          <a:xfrm>
            <a:off x="274320" y="1234440"/>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10" name="Text 8"/>
          <p:cNvSpPr/>
          <p:nvPr/>
        </p:nvSpPr>
        <p:spPr>
          <a:xfrm>
            <a:off x="320040" y="1234440"/>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Evaluador único</a:t>
            </a:r>
            <a:endParaRPr lang="en-US" sz="2400" dirty="0">
              <a:latin typeface="Tw Cen MT" panose="020B0602020104020603" pitchFamily="34" charset="0"/>
            </a:endParaRPr>
          </a:p>
        </p:txBody>
      </p:sp>
      <p:sp>
        <p:nvSpPr>
          <p:cNvPr id="11" name="Shape 9"/>
          <p:cNvSpPr/>
          <p:nvPr/>
        </p:nvSpPr>
        <p:spPr>
          <a:xfrm>
            <a:off x="5120640" y="1234440"/>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12" name="Text 10"/>
          <p:cNvSpPr/>
          <p:nvPr/>
        </p:nvSpPr>
        <p:spPr>
          <a:xfrm>
            <a:off x="5166360" y="1234440"/>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Varios evaluadores</a:t>
            </a:r>
            <a:endParaRPr lang="en-US" sz="2400" dirty="0">
              <a:latin typeface="Tw Cen MT" panose="020B0602020104020603" pitchFamily="34" charset="0"/>
            </a:endParaRPr>
          </a:p>
        </p:txBody>
      </p:sp>
      <p:sp>
        <p:nvSpPr>
          <p:cNvPr id="13" name="Text 11"/>
          <p:cNvSpPr/>
          <p:nvPr/>
        </p:nvSpPr>
        <p:spPr>
          <a:xfrm>
            <a:off x="4023360" y="1234440"/>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14" name="Shape 12"/>
          <p:cNvSpPr/>
          <p:nvPr/>
        </p:nvSpPr>
        <p:spPr>
          <a:xfrm>
            <a:off x="274320" y="1892808"/>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15" name="Text 13"/>
          <p:cNvSpPr/>
          <p:nvPr/>
        </p:nvSpPr>
        <p:spPr>
          <a:xfrm>
            <a:off x="320040" y="1892808"/>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Competencias duras</a:t>
            </a:r>
            <a:endParaRPr lang="en-US" sz="2400" dirty="0">
              <a:latin typeface="Tw Cen MT" panose="020B0602020104020603" pitchFamily="34" charset="0"/>
            </a:endParaRPr>
          </a:p>
        </p:txBody>
      </p:sp>
      <p:sp>
        <p:nvSpPr>
          <p:cNvPr id="16" name="Shape 14"/>
          <p:cNvSpPr/>
          <p:nvPr/>
        </p:nvSpPr>
        <p:spPr>
          <a:xfrm>
            <a:off x="5120640" y="1892808"/>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17" name="Text 15"/>
          <p:cNvSpPr/>
          <p:nvPr/>
        </p:nvSpPr>
        <p:spPr>
          <a:xfrm>
            <a:off x="5166360" y="1892808"/>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Duras + blandas</a:t>
            </a:r>
            <a:endParaRPr lang="en-US" sz="2400" dirty="0">
              <a:latin typeface="Tw Cen MT" panose="020B0602020104020603" pitchFamily="34" charset="0"/>
            </a:endParaRPr>
          </a:p>
        </p:txBody>
      </p:sp>
      <p:sp>
        <p:nvSpPr>
          <p:cNvPr id="18" name="Text 16"/>
          <p:cNvSpPr/>
          <p:nvPr/>
        </p:nvSpPr>
        <p:spPr>
          <a:xfrm>
            <a:off x="4023360" y="1892808"/>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19" name="Shape 17"/>
          <p:cNvSpPr/>
          <p:nvPr/>
        </p:nvSpPr>
        <p:spPr>
          <a:xfrm>
            <a:off x="274320" y="2551176"/>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20" name="Text 18"/>
          <p:cNvSpPr/>
          <p:nvPr/>
        </p:nvSpPr>
        <p:spPr>
          <a:xfrm>
            <a:off x="320040" y="2551176"/>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Rol del evaluado: pasivo</a:t>
            </a:r>
            <a:endParaRPr lang="en-US" sz="2400" dirty="0">
              <a:latin typeface="Tw Cen MT" panose="020B0602020104020603" pitchFamily="34" charset="0"/>
            </a:endParaRPr>
          </a:p>
        </p:txBody>
      </p:sp>
      <p:sp>
        <p:nvSpPr>
          <p:cNvPr id="21" name="Shape 19"/>
          <p:cNvSpPr/>
          <p:nvPr/>
        </p:nvSpPr>
        <p:spPr>
          <a:xfrm>
            <a:off x="5120640" y="2551176"/>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22" name="Text 20"/>
          <p:cNvSpPr/>
          <p:nvPr/>
        </p:nvSpPr>
        <p:spPr>
          <a:xfrm>
            <a:off x="5166360" y="2551176"/>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Rol del evaluado: activo</a:t>
            </a:r>
            <a:endParaRPr lang="en-US" sz="2400" dirty="0">
              <a:latin typeface="Tw Cen MT" panose="020B0602020104020603" pitchFamily="34" charset="0"/>
            </a:endParaRPr>
          </a:p>
        </p:txBody>
      </p:sp>
      <p:sp>
        <p:nvSpPr>
          <p:cNvPr id="23" name="Text 21"/>
          <p:cNvSpPr/>
          <p:nvPr/>
        </p:nvSpPr>
        <p:spPr>
          <a:xfrm>
            <a:off x="4023360" y="2551176"/>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24" name="Shape 22"/>
          <p:cNvSpPr/>
          <p:nvPr/>
        </p:nvSpPr>
        <p:spPr>
          <a:xfrm>
            <a:off x="274320" y="3209544"/>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25" name="Text 23"/>
          <p:cNvSpPr/>
          <p:nvPr/>
        </p:nvSpPr>
        <p:spPr>
          <a:xfrm>
            <a:off x="320040" y="3209544"/>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Proceso simple</a:t>
            </a:r>
            <a:endParaRPr lang="en-US" sz="2400" dirty="0">
              <a:latin typeface="Tw Cen MT" panose="020B0602020104020603" pitchFamily="34" charset="0"/>
            </a:endParaRPr>
          </a:p>
        </p:txBody>
      </p:sp>
      <p:sp>
        <p:nvSpPr>
          <p:cNvPr id="26" name="Shape 24"/>
          <p:cNvSpPr/>
          <p:nvPr/>
        </p:nvSpPr>
        <p:spPr>
          <a:xfrm>
            <a:off x="5120640" y="3209544"/>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27" name="Text 25"/>
          <p:cNvSpPr/>
          <p:nvPr/>
        </p:nvSpPr>
        <p:spPr>
          <a:xfrm>
            <a:off x="5166360" y="3209544"/>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Proceso complejo</a:t>
            </a:r>
            <a:endParaRPr lang="en-US" sz="2400" dirty="0">
              <a:latin typeface="Tw Cen MT" panose="020B0602020104020603" pitchFamily="34" charset="0"/>
            </a:endParaRPr>
          </a:p>
        </p:txBody>
      </p:sp>
      <p:sp>
        <p:nvSpPr>
          <p:cNvPr id="28" name="Text 26"/>
          <p:cNvSpPr/>
          <p:nvPr/>
        </p:nvSpPr>
        <p:spPr>
          <a:xfrm>
            <a:off x="4023360" y="3209544"/>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29" name="Shape 27"/>
          <p:cNvSpPr/>
          <p:nvPr/>
        </p:nvSpPr>
        <p:spPr>
          <a:xfrm>
            <a:off x="274320" y="3867912"/>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30" name="Text 28"/>
          <p:cNvSpPr/>
          <p:nvPr/>
        </p:nvSpPr>
        <p:spPr>
          <a:xfrm>
            <a:off x="320040" y="3867912"/>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Diseño aleatorio</a:t>
            </a:r>
            <a:endParaRPr lang="en-US" sz="2400" dirty="0">
              <a:latin typeface="Tw Cen MT" panose="020B0602020104020603" pitchFamily="34" charset="0"/>
            </a:endParaRPr>
          </a:p>
        </p:txBody>
      </p:sp>
      <p:sp>
        <p:nvSpPr>
          <p:cNvPr id="31" name="Shape 29"/>
          <p:cNvSpPr/>
          <p:nvPr/>
        </p:nvSpPr>
        <p:spPr>
          <a:xfrm>
            <a:off x="5120640" y="3867912"/>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32" name="Text 30"/>
          <p:cNvSpPr/>
          <p:nvPr/>
        </p:nvSpPr>
        <p:spPr>
          <a:xfrm>
            <a:off x="5166360" y="3867912"/>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Diseño sistémico</a:t>
            </a:r>
            <a:endParaRPr lang="en-US" sz="2400" dirty="0">
              <a:latin typeface="Tw Cen MT" panose="020B0602020104020603" pitchFamily="34" charset="0"/>
            </a:endParaRPr>
          </a:p>
        </p:txBody>
      </p:sp>
      <p:sp>
        <p:nvSpPr>
          <p:cNvPr id="33" name="Text 31"/>
          <p:cNvSpPr/>
          <p:nvPr/>
        </p:nvSpPr>
        <p:spPr>
          <a:xfrm>
            <a:off x="4023360" y="3867912"/>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34" name="Shape 32"/>
          <p:cNvSpPr/>
          <p:nvPr/>
        </p:nvSpPr>
        <p:spPr>
          <a:xfrm>
            <a:off x="274320" y="4526280"/>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35" name="Text 33"/>
          <p:cNvSpPr/>
          <p:nvPr/>
        </p:nvSpPr>
        <p:spPr>
          <a:xfrm>
            <a:off x="320040" y="4526280"/>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Tiempo escaso</a:t>
            </a:r>
            <a:endParaRPr lang="en-US" sz="2400" dirty="0">
              <a:latin typeface="Tw Cen MT" panose="020B0602020104020603" pitchFamily="34" charset="0"/>
            </a:endParaRPr>
          </a:p>
        </p:txBody>
      </p:sp>
      <p:sp>
        <p:nvSpPr>
          <p:cNvPr id="36" name="Shape 34"/>
          <p:cNvSpPr/>
          <p:nvPr/>
        </p:nvSpPr>
        <p:spPr>
          <a:xfrm>
            <a:off x="5120640" y="4526280"/>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37" name="Text 35"/>
          <p:cNvSpPr/>
          <p:nvPr/>
        </p:nvSpPr>
        <p:spPr>
          <a:xfrm>
            <a:off x="5166360" y="4526280"/>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Tiempo considerable</a:t>
            </a:r>
            <a:endParaRPr lang="en-US" sz="2400" dirty="0">
              <a:latin typeface="Tw Cen MT" panose="020B0602020104020603" pitchFamily="34" charset="0"/>
            </a:endParaRPr>
          </a:p>
        </p:txBody>
      </p:sp>
      <p:sp>
        <p:nvSpPr>
          <p:cNvPr id="38" name="Text 36"/>
          <p:cNvSpPr/>
          <p:nvPr/>
        </p:nvSpPr>
        <p:spPr>
          <a:xfrm>
            <a:off x="4023360" y="4526280"/>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39" name="Shape 37"/>
          <p:cNvSpPr/>
          <p:nvPr/>
        </p:nvSpPr>
        <p:spPr>
          <a:xfrm>
            <a:off x="274320" y="5184648"/>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40" name="Text 38"/>
          <p:cNvSpPr/>
          <p:nvPr/>
        </p:nvSpPr>
        <p:spPr>
          <a:xfrm>
            <a:off x="320040" y="5184648"/>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Retroalimentación escasa</a:t>
            </a:r>
            <a:endParaRPr lang="en-US" sz="2400" dirty="0">
              <a:latin typeface="Tw Cen MT" panose="020B0602020104020603" pitchFamily="34" charset="0"/>
            </a:endParaRPr>
          </a:p>
        </p:txBody>
      </p:sp>
      <p:sp>
        <p:nvSpPr>
          <p:cNvPr id="41" name="Shape 39"/>
          <p:cNvSpPr/>
          <p:nvPr/>
        </p:nvSpPr>
        <p:spPr>
          <a:xfrm>
            <a:off x="5120640" y="5184648"/>
            <a:ext cx="3749040" cy="594360"/>
          </a:xfrm>
          <a:prstGeom prst="rect">
            <a:avLst/>
          </a:prstGeom>
          <a:solidFill>
            <a:srgbClr val="F8F8F8"/>
          </a:solidFill>
          <a:ln w="6350">
            <a:solidFill>
              <a:srgbClr val="DDDDDD"/>
            </a:solidFill>
            <a:prstDash val="solid"/>
          </a:ln>
        </p:spPr>
        <p:txBody>
          <a:bodyPr/>
          <a:lstStyle/>
          <a:p>
            <a:endParaRPr lang="en-US" sz="2400">
              <a:latin typeface="Tw Cen MT" panose="020B0602020104020603" pitchFamily="34" charset="0"/>
            </a:endParaRPr>
          </a:p>
        </p:txBody>
      </p:sp>
      <p:sp>
        <p:nvSpPr>
          <p:cNvPr id="42" name="Text 40"/>
          <p:cNvSpPr/>
          <p:nvPr/>
        </p:nvSpPr>
        <p:spPr>
          <a:xfrm>
            <a:off x="5166360" y="5184648"/>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Retroalimentación importante</a:t>
            </a:r>
            <a:endParaRPr lang="en-US" sz="2400" dirty="0">
              <a:latin typeface="Tw Cen MT" panose="020B0602020104020603" pitchFamily="34" charset="0"/>
            </a:endParaRPr>
          </a:p>
        </p:txBody>
      </p:sp>
      <p:sp>
        <p:nvSpPr>
          <p:cNvPr id="43" name="Text 41"/>
          <p:cNvSpPr/>
          <p:nvPr/>
        </p:nvSpPr>
        <p:spPr>
          <a:xfrm>
            <a:off x="4023360" y="5184648"/>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
        <p:nvSpPr>
          <p:cNvPr id="44" name="Shape 42"/>
          <p:cNvSpPr/>
          <p:nvPr/>
        </p:nvSpPr>
        <p:spPr>
          <a:xfrm>
            <a:off x="274320" y="5843016"/>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45" name="Text 43"/>
          <p:cNvSpPr/>
          <p:nvPr/>
        </p:nvSpPr>
        <p:spPr>
          <a:xfrm>
            <a:off x="320040" y="5843016"/>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Seguimiento nulo</a:t>
            </a:r>
            <a:endParaRPr lang="en-US" sz="2400" dirty="0">
              <a:latin typeface="Tw Cen MT" panose="020B0602020104020603" pitchFamily="34" charset="0"/>
            </a:endParaRPr>
          </a:p>
        </p:txBody>
      </p:sp>
      <p:sp>
        <p:nvSpPr>
          <p:cNvPr id="46" name="Shape 44"/>
          <p:cNvSpPr/>
          <p:nvPr/>
        </p:nvSpPr>
        <p:spPr>
          <a:xfrm>
            <a:off x="5120640" y="5843016"/>
            <a:ext cx="3749040" cy="594360"/>
          </a:xfrm>
          <a:prstGeom prst="rect">
            <a:avLst/>
          </a:prstGeom>
          <a:solidFill>
            <a:srgbClr val="FFFFFF"/>
          </a:solidFill>
          <a:ln w="6350">
            <a:solidFill>
              <a:srgbClr val="DDDDDD"/>
            </a:solidFill>
            <a:prstDash val="solid"/>
          </a:ln>
        </p:spPr>
        <p:txBody>
          <a:bodyPr/>
          <a:lstStyle/>
          <a:p>
            <a:endParaRPr lang="en-US" sz="2400">
              <a:latin typeface="Tw Cen MT" panose="020B0602020104020603" pitchFamily="34" charset="0"/>
            </a:endParaRPr>
          </a:p>
        </p:txBody>
      </p:sp>
      <p:sp>
        <p:nvSpPr>
          <p:cNvPr id="47" name="Text 45"/>
          <p:cNvSpPr/>
          <p:nvPr/>
        </p:nvSpPr>
        <p:spPr>
          <a:xfrm>
            <a:off x="5166360" y="5843016"/>
            <a:ext cx="3657600" cy="594360"/>
          </a:xfrm>
          <a:prstGeom prst="rect">
            <a:avLst/>
          </a:prstGeom>
          <a:noFill/>
          <a:ln/>
        </p:spPr>
        <p:txBody>
          <a:bodyPr wrap="square" rtlCol="0" anchor="ctr"/>
          <a:lstStyle/>
          <a:p>
            <a:pPr marL="0" indent="0" algn="ctr">
              <a:buNone/>
            </a:pPr>
            <a:r>
              <a:rPr lang="en-US" sz="2400" dirty="0">
                <a:solidFill>
                  <a:srgbClr val="222222"/>
                </a:solidFill>
                <a:latin typeface="Tw Cen MT" panose="020B0602020104020603" pitchFamily="34" charset="0"/>
                <a:ea typeface="Tw Cen MT" pitchFamily="34" charset="-122"/>
                <a:cs typeface="Tw Cen MT" pitchFamily="34" charset="-120"/>
              </a:rPr>
              <a:t>Seguimiento alto</a:t>
            </a:r>
            <a:endParaRPr lang="en-US" sz="2400" dirty="0">
              <a:latin typeface="Tw Cen MT" panose="020B0602020104020603" pitchFamily="34" charset="0"/>
            </a:endParaRPr>
          </a:p>
        </p:txBody>
      </p:sp>
      <p:sp>
        <p:nvSpPr>
          <p:cNvPr id="48" name="Text 46"/>
          <p:cNvSpPr/>
          <p:nvPr/>
        </p:nvSpPr>
        <p:spPr>
          <a:xfrm>
            <a:off x="4023360" y="5843016"/>
            <a:ext cx="1097280" cy="594360"/>
          </a:xfrm>
          <a:prstGeom prst="rect">
            <a:avLst/>
          </a:prstGeom>
          <a:noFill/>
          <a:ln/>
        </p:spPr>
        <p:txBody>
          <a:bodyPr wrap="square" rtlCol="0" anchor="ctr"/>
          <a:lstStyle/>
          <a:p>
            <a:pPr marL="0" indent="0" algn="ctr">
              <a:buNone/>
            </a:pPr>
            <a:r>
              <a:rPr lang="en-US" sz="2400" b="1" dirty="0">
                <a:solidFill>
                  <a:srgbClr val="D4A017"/>
                </a:solidFill>
                <a:latin typeface="Tw Cen MT" panose="020B0602020104020603" pitchFamily="34" charset="0"/>
                <a:ea typeface="Tw Cen MT" pitchFamily="34" charset="-122"/>
                <a:cs typeface="Tw Cen MT" pitchFamily="34" charset="-120"/>
              </a:rPr>
              <a:t>→</a:t>
            </a:r>
            <a:endParaRPr lang="en-US" sz="2400" dirty="0">
              <a:latin typeface="Tw Cen MT" panose="020B06020201040206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Medición del Desempeño — Fundamentos</a:t>
            </a:r>
            <a:endParaRPr lang="en-US" sz="2400" dirty="0">
              <a:latin typeface="Tw Cen MT" panose="020B0602020104020603" pitchFamily="34" charset="0"/>
            </a:endParaRPr>
          </a:p>
        </p:txBody>
      </p:sp>
      <p:sp>
        <p:nvSpPr>
          <p:cNvPr id="5" name="Text 3"/>
          <p:cNvSpPr/>
          <p:nvPr/>
        </p:nvSpPr>
        <p:spPr>
          <a:xfrm>
            <a:off x="365760" y="822960"/>
            <a:ext cx="8412480" cy="365760"/>
          </a:xfrm>
          <a:prstGeom prst="rect">
            <a:avLst/>
          </a:prstGeom>
          <a:noFill/>
          <a:ln/>
        </p:spPr>
        <p:txBody>
          <a:bodyPr wrap="square" rtlCol="0" anchor="ctr"/>
          <a:lstStyle/>
          <a:p>
            <a:pPr marL="0" indent="0">
              <a:buNone/>
            </a:pPr>
            <a:r>
              <a:rPr lang="en-US" sz="2000" b="1" dirty="0">
                <a:solidFill>
                  <a:srgbClr val="222222"/>
                </a:solidFill>
                <a:latin typeface="Tw Cen MT" panose="020B0602020104020603" pitchFamily="34" charset="0"/>
                <a:ea typeface="Tw Cen MT" pitchFamily="34" charset="-122"/>
                <a:cs typeface="Tw Cen MT" pitchFamily="34" charset="-120"/>
              </a:rPr>
              <a:t>La evaluación del desempeño tiene al menos dos razones de ser:</a:t>
            </a:r>
            <a:endParaRPr lang="en-US" sz="2000" dirty="0">
              <a:latin typeface="Tw Cen MT" panose="020B0602020104020603" pitchFamily="34" charset="0"/>
            </a:endParaRPr>
          </a:p>
        </p:txBody>
      </p:sp>
      <p:sp>
        <p:nvSpPr>
          <p:cNvPr id="6" name="Shape 4"/>
          <p:cNvSpPr/>
          <p:nvPr/>
        </p:nvSpPr>
        <p:spPr>
          <a:xfrm>
            <a:off x="365760" y="1325880"/>
            <a:ext cx="4160520" cy="457200"/>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7" name="Text 5"/>
          <p:cNvSpPr/>
          <p:nvPr/>
        </p:nvSpPr>
        <p:spPr>
          <a:xfrm>
            <a:off x="365760" y="1325880"/>
            <a:ext cx="4160520" cy="45720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1. Información para el empleado</a:t>
            </a:r>
            <a:endParaRPr lang="en-US" sz="2000" dirty="0">
              <a:latin typeface="Tw Cen MT" panose="020B0602020104020603" pitchFamily="34" charset="0"/>
            </a:endParaRPr>
          </a:p>
        </p:txBody>
      </p:sp>
      <p:sp>
        <p:nvSpPr>
          <p:cNvPr id="8" name="Shape 6"/>
          <p:cNvSpPr/>
          <p:nvPr/>
        </p:nvSpPr>
        <p:spPr>
          <a:xfrm>
            <a:off x="365760" y="1783080"/>
            <a:ext cx="4160520" cy="237744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9" name="Text 7"/>
          <p:cNvSpPr/>
          <p:nvPr/>
        </p:nvSpPr>
        <p:spPr>
          <a:xfrm>
            <a:off x="502920" y="1874520"/>
            <a:ext cx="3886200" cy="2194560"/>
          </a:xfrm>
          <a:prstGeom prst="rect">
            <a:avLst/>
          </a:prstGeom>
          <a:noFill/>
          <a:ln/>
        </p:spPr>
        <p:txBody>
          <a:bodyPr wrap="square" rtlCol="0" anchor="t"/>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Proveer al evaluado de información útil sobre cómo mejorar su productividad.</a:t>
            </a:r>
            <a:endParaRPr lang="en-US" sz="2000"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El empleado no tiene incentivos para distorsionar la evaluación porque no afecta su compensación.</a:t>
            </a:r>
            <a:endParaRPr lang="en-US" sz="2000" dirty="0">
              <a:latin typeface="Tw Cen MT" panose="020B0602020104020603" pitchFamily="34" charset="0"/>
            </a:endParaRPr>
          </a:p>
        </p:txBody>
      </p:sp>
      <p:sp>
        <p:nvSpPr>
          <p:cNvPr id="10" name="Shape 8"/>
          <p:cNvSpPr/>
          <p:nvPr/>
        </p:nvSpPr>
        <p:spPr>
          <a:xfrm>
            <a:off x="4663440" y="1325880"/>
            <a:ext cx="4160520" cy="457200"/>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1" name="Text 9"/>
          <p:cNvSpPr/>
          <p:nvPr/>
        </p:nvSpPr>
        <p:spPr>
          <a:xfrm>
            <a:off x="4663440" y="1325880"/>
            <a:ext cx="4160520" cy="45720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2. Premios y castigos</a:t>
            </a:r>
            <a:endParaRPr lang="en-US" sz="2000" dirty="0">
              <a:latin typeface="Tw Cen MT" panose="020B0602020104020603" pitchFamily="34" charset="0"/>
            </a:endParaRPr>
          </a:p>
        </p:txBody>
      </p:sp>
      <p:sp>
        <p:nvSpPr>
          <p:cNvPr id="12" name="Shape 10"/>
          <p:cNvSpPr/>
          <p:nvPr/>
        </p:nvSpPr>
        <p:spPr>
          <a:xfrm>
            <a:off x="4663440" y="1783080"/>
            <a:ext cx="4160520" cy="237744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3" name="Text 11"/>
          <p:cNvSpPr/>
          <p:nvPr/>
        </p:nvSpPr>
        <p:spPr>
          <a:xfrm>
            <a:off x="4800600" y="1874520"/>
            <a:ext cx="3886200" cy="2194560"/>
          </a:xfrm>
          <a:prstGeom prst="rect">
            <a:avLst/>
          </a:prstGeom>
          <a:noFill/>
          <a:ln/>
        </p:spPr>
        <p:txBody>
          <a:bodyPr wrap="square" rtlCol="0" anchor="t"/>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Determinar recompensas y sanciones basadas en el desempeño.</a:t>
            </a:r>
            <a:endParaRPr lang="en-US" sz="2000"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El empleado tiene incentivos para distorsionar la evaluación a su favor.</a:t>
            </a:r>
            <a:endParaRPr lang="en-US" sz="2000" dirty="0">
              <a:latin typeface="Tw Cen MT" panose="020B0602020104020603" pitchFamily="34" charset="0"/>
            </a:endParaRPr>
          </a:p>
        </p:txBody>
      </p:sp>
      <p:sp>
        <p:nvSpPr>
          <p:cNvPr id="14" name="Shape 12"/>
          <p:cNvSpPr/>
          <p:nvPr/>
        </p:nvSpPr>
        <p:spPr>
          <a:xfrm>
            <a:off x="365760" y="4297680"/>
            <a:ext cx="8412480" cy="45720"/>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15" name="Text 13"/>
          <p:cNvSpPr/>
          <p:nvPr/>
        </p:nvSpPr>
        <p:spPr>
          <a:xfrm>
            <a:off x="365760" y="4617720"/>
            <a:ext cx="8412480" cy="365760"/>
          </a:xfrm>
          <a:prstGeom prst="rect">
            <a:avLst/>
          </a:prstGeom>
          <a:noFill/>
          <a:ln/>
        </p:spPr>
        <p:txBody>
          <a:bodyPr wrap="square" rtlCol="0" anchor="ctr"/>
          <a:lstStyle/>
          <a:p>
            <a:pPr marL="0" indent="0">
              <a:buNone/>
            </a:pPr>
            <a:r>
              <a:rPr lang="en-US" sz="2000" b="1" i="1" dirty="0">
                <a:solidFill>
                  <a:srgbClr val="8B0000"/>
                </a:solidFill>
                <a:latin typeface="Tw Cen MT" panose="020B0602020104020603" pitchFamily="34" charset="0"/>
                <a:ea typeface="Tw Cen MT" pitchFamily="34" charset="-122"/>
                <a:cs typeface="Tw Cen MT" pitchFamily="34" charset="-120"/>
              </a:rPr>
              <a:t>→ En esta clase nos concentramos en la evaluación como forma de determinar premios y castigos.</a:t>
            </a:r>
            <a:endParaRPr lang="en-US" sz="2000" dirty="0">
              <a:latin typeface="Tw Cen MT" panose="020B0602020104020603" pitchFamily="34" charset="0"/>
            </a:endParaRPr>
          </a:p>
        </p:txBody>
      </p:sp>
      <p:sp>
        <p:nvSpPr>
          <p:cNvPr id="16" name="Text 14"/>
          <p:cNvSpPr/>
          <p:nvPr/>
        </p:nvSpPr>
        <p:spPr>
          <a:xfrm>
            <a:off x="365760" y="5458968"/>
            <a:ext cx="8412480" cy="32004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La evaluación del desempeño puede ser individual o de sub-unidades de la firma.</a:t>
            </a:r>
            <a:endParaRPr lang="en-US" sz="2000" dirty="0">
              <a:latin typeface="Tw Cen MT" panose="020B06020201040206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400" dirty="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Reinventing Performance Management — Deloitte</a:t>
            </a:r>
            <a:endParaRPr lang="en-US" sz="2400" dirty="0">
              <a:latin typeface="Tw Cen MT" panose="020B0602020104020603" pitchFamily="34" charset="0"/>
            </a:endParaRPr>
          </a:p>
        </p:txBody>
      </p:sp>
      <p:sp>
        <p:nvSpPr>
          <p:cNvPr id="5" name="Text 3"/>
          <p:cNvSpPr/>
          <p:nvPr/>
        </p:nvSpPr>
        <p:spPr>
          <a:xfrm>
            <a:off x="365760" y="777240"/>
            <a:ext cx="8412480" cy="320040"/>
          </a:xfrm>
          <a:prstGeom prst="rect">
            <a:avLst/>
          </a:prstGeom>
          <a:noFill/>
          <a:ln/>
        </p:spPr>
        <p:txBody>
          <a:bodyPr wrap="square" rtlCol="0" anchor="ctr"/>
          <a:lstStyle/>
          <a:p>
            <a:pPr marL="0" indent="0">
              <a:buNone/>
            </a:pPr>
            <a:r>
              <a:rPr lang="en-US" i="1" dirty="0">
                <a:solidFill>
                  <a:srgbClr val="666666"/>
                </a:solidFill>
                <a:latin typeface="Tw Cen MT" panose="020B0602020104020603" pitchFamily="34" charset="0"/>
                <a:ea typeface="Tw Cen MT" pitchFamily="34" charset="-122"/>
                <a:cs typeface="Tw Cen MT" pitchFamily="34" charset="-120"/>
              </a:rPr>
              <a:t>Lectura complementaria: Reinventing Performance Management — Harvard Business Review</a:t>
            </a:r>
            <a:endParaRPr lang="en-US" dirty="0">
              <a:latin typeface="Tw Cen MT" panose="020B0602020104020603" pitchFamily="34" charset="0"/>
            </a:endParaRPr>
          </a:p>
        </p:txBody>
      </p:sp>
      <p:sp>
        <p:nvSpPr>
          <p:cNvPr id="6" name="Shape 4"/>
          <p:cNvSpPr/>
          <p:nvPr/>
        </p:nvSpPr>
        <p:spPr>
          <a:xfrm>
            <a:off x="411480" y="1347545"/>
            <a:ext cx="8412480" cy="347472"/>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7" name="Text 5"/>
          <p:cNvSpPr/>
          <p:nvPr/>
        </p:nvSpPr>
        <p:spPr>
          <a:xfrm>
            <a:off x="411480" y="1347545"/>
            <a:ext cx="8412480" cy="347472"/>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El problema en Deloitte (65.000 empleados)</a:t>
            </a:r>
            <a:endParaRPr lang="en-US" sz="2000" dirty="0">
              <a:latin typeface="Tw Cen MT" panose="020B0602020104020603" pitchFamily="34" charset="0"/>
            </a:endParaRPr>
          </a:p>
        </p:txBody>
      </p:sp>
      <p:sp>
        <p:nvSpPr>
          <p:cNvPr id="8" name="Shape 6"/>
          <p:cNvSpPr/>
          <p:nvPr/>
        </p:nvSpPr>
        <p:spPr>
          <a:xfrm>
            <a:off x="365760" y="1941905"/>
            <a:ext cx="411480" cy="41148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9" name="Text 7"/>
          <p:cNvSpPr/>
          <p:nvPr/>
        </p:nvSpPr>
        <p:spPr>
          <a:xfrm>
            <a:off x="365760" y="1941905"/>
            <a:ext cx="411480" cy="41148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1</a:t>
            </a:r>
            <a:endParaRPr lang="en-US" sz="2000" dirty="0">
              <a:latin typeface="Tw Cen MT" panose="020B0602020104020603" pitchFamily="34" charset="0"/>
            </a:endParaRPr>
          </a:p>
        </p:txBody>
      </p:sp>
      <p:sp>
        <p:nvSpPr>
          <p:cNvPr id="10" name="Text 8"/>
          <p:cNvSpPr/>
          <p:nvPr/>
        </p:nvSpPr>
        <p:spPr>
          <a:xfrm>
            <a:off x="914400" y="1850465"/>
            <a:ext cx="7909560" cy="868680"/>
          </a:xfrm>
          <a:prstGeom prst="rect">
            <a:avLst/>
          </a:prstGeom>
          <a:noFill/>
          <a:ln/>
        </p:spPr>
        <p:txBody>
          <a:bodyPr wrap="square" rtlCol="0" anchor="ctr"/>
          <a:lstStyle/>
          <a:p>
            <a:pPr marL="0" indent="0">
              <a:buNone/>
            </a:pPr>
            <a:r>
              <a:rPr lang="en-US" sz="2000" b="1" dirty="0">
                <a:solidFill>
                  <a:srgbClr val="FF0000"/>
                </a:solidFill>
                <a:latin typeface="Tw Cen MT" panose="020B0602020104020603" pitchFamily="34" charset="0"/>
                <a:ea typeface="Tw Cen MT" pitchFamily="34" charset="-122"/>
                <a:cs typeface="Tw Cen MT" pitchFamily="34" charset="-120"/>
              </a:rPr>
              <a:t>El 58% de los Gerentes cree que el enfoque actual de gestión del desempeño no impulsa ni el compromiso ni el alto desempeño</a:t>
            </a:r>
            <a:r>
              <a:rPr lang="en-US" sz="2000" dirty="0">
                <a:solidFill>
                  <a:srgbClr val="222222"/>
                </a:solidFill>
                <a:latin typeface="Tw Cen MT" panose="020B0602020104020603" pitchFamily="34" charset="0"/>
                <a:ea typeface="Tw Cen MT" pitchFamily="34" charset="-122"/>
                <a:cs typeface="Tw Cen MT" pitchFamily="34" charset="-120"/>
              </a:rPr>
              <a:t>.</a:t>
            </a:r>
            <a:endParaRPr lang="en-US" sz="2000" dirty="0">
              <a:latin typeface="Tw Cen MT" panose="020B0602020104020603" pitchFamily="34" charset="0"/>
            </a:endParaRPr>
          </a:p>
        </p:txBody>
      </p:sp>
      <p:sp>
        <p:nvSpPr>
          <p:cNvPr id="11" name="Shape 9"/>
          <p:cNvSpPr/>
          <p:nvPr/>
        </p:nvSpPr>
        <p:spPr>
          <a:xfrm>
            <a:off x="365760" y="2947745"/>
            <a:ext cx="411480" cy="41148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2" name="Text 10"/>
          <p:cNvSpPr/>
          <p:nvPr/>
        </p:nvSpPr>
        <p:spPr>
          <a:xfrm>
            <a:off x="365760" y="2947745"/>
            <a:ext cx="411480" cy="41148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2</a:t>
            </a:r>
            <a:endParaRPr lang="en-US" sz="2000" dirty="0">
              <a:latin typeface="Tw Cen MT" panose="020B0602020104020603" pitchFamily="34" charset="0"/>
            </a:endParaRPr>
          </a:p>
        </p:txBody>
      </p:sp>
      <p:sp>
        <p:nvSpPr>
          <p:cNvPr id="13" name="Text 11"/>
          <p:cNvSpPr/>
          <p:nvPr/>
        </p:nvSpPr>
        <p:spPr>
          <a:xfrm>
            <a:off x="914400" y="2856305"/>
            <a:ext cx="7909560" cy="8686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Se establecen objetivos para cada empleado a principios de año; al finalizar un proyecto, el Gerente califica el nivel de cumplimiento.</a:t>
            </a:r>
            <a:endParaRPr lang="en-US" sz="2000" dirty="0">
              <a:latin typeface="Tw Cen MT" panose="020B0602020104020603" pitchFamily="34" charset="0"/>
            </a:endParaRPr>
          </a:p>
        </p:txBody>
      </p:sp>
      <p:sp>
        <p:nvSpPr>
          <p:cNvPr id="14" name="Shape 12"/>
          <p:cNvSpPr/>
          <p:nvPr/>
        </p:nvSpPr>
        <p:spPr>
          <a:xfrm>
            <a:off x="365760" y="3953585"/>
            <a:ext cx="411480" cy="41148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5" name="Text 13"/>
          <p:cNvSpPr/>
          <p:nvPr/>
        </p:nvSpPr>
        <p:spPr>
          <a:xfrm>
            <a:off x="365760" y="3953585"/>
            <a:ext cx="411480" cy="41148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3</a:t>
            </a:r>
            <a:endParaRPr lang="en-US" sz="2000" dirty="0">
              <a:latin typeface="Tw Cen MT" panose="020B0602020104020603" pitchFamily="34" charset="0"/>
            </a:endParaRPr>
          </a:p>
        </p:txBody>
      </p:sp>
      <p:sp>
        <p:nvSpPr>
          <p:cNvPr id="16" name="Text 14"/>
          <p:cNvSpPr/>
          <p:nvPr/>
        </p:nvSpPr>
        <p:spPr>
          <a:xfrm>
            <a:off x="914400" y="3862145"/>
            <a:ext cx="7909560" cy="8686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Las evaluaciones se consolidan en una calificación de fin de año a través de largas "reuniones de consenso" donde grupos de consejeros discuten sobre cientos de personas.</a:t>
            </a:r>
            <a:endParaRPr lang="en-US" sz="2000" dirty="0">
              <a:latin typeface="Tw Cen MT" panose="020B0602020104020603" pitchFamily="34" charset="0"/>
            </a:endParaRPr>
          </a:p>
        </p:txBody>
      </p:sp>
      <p:sp>
        <p:nvSpPr>
          <p:cNvPr id="17" name="Shape 15"/>
          <p:cNvSpPr/>
          <p:nvPr/>
        </p:nvSpPr>
        <p:spPr>
          <a:xfrm>
            <a:off x="365760" y="4959425"/>
            <a:ext cx="411480" cy="41148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8" name="Text 16"/>
          <p:cNvSpPr/>
          <p:nvPr/>
        </p:nvSpPr>
        <p:spPr>
          <a:xfrm>
            <a:off x="365760" y="4959425"/>
            <a:ext cx="411480" cy="41148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4</a:t>
            </a:r>
            <a:endParaRPr lang="en-US" sz="2000" dirty="0">
              <a:latin typeface="Tw Cen MT" panose="020B0602020104020603" pitchFamily="34" charset="0"/>
            </a:endParaRPr>
          </a:p>
        </p:txBody>
      </p:sp>
      <p:sp>
        <p:nvSpPr>
          <p:cNvPr id="19" name="Text 17"/>
          <p:cNvSpPr/>
          <p:nvPr/>
        </p:nvSpPr>
        <p:spPr>
          <a:xfrm>
            <a:off x="914400" y="4867985"/>
            <a:ext cx="7909560" cy="8686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Completar formularios, realizar reuniones y crear calificaciones consumía cerca de 2 millones de horas </a:t>
            </a:r>
            <a:r>
              <a:rPr lang="en-US" sz="2000" dirty="0" err="1">
                <a:solidFill>
                  <a:srgbClr val="222222"/>
                </a:solidFill>
                <a:latin typeface="Tw Cen MT" panose="020B0602020104020603" pitchFamily="34" charset="0"/>
                <a:ea typeface="Tw Cen MT" pitchFamily="34" charset="-122"/>
                <a:cs typeface="Tw Cen MT" pitchFamily="34" charset="-120"/>
              </a:rPr>
              <a:t>por</a:t>
            </a:r>
            <a:r>
              <a:rPr lang="en-US" sz="2000" dirty="0">
                <a:solidFill>
                  <a:srgbClr val="222222"/>
                </a:solidFill>
                <a:latin typeface="Tw Cen MT" panose="020B0602020104020603" pitchFamily="34" charset="0"/>
                <a:ea typeface="Tw Cen MT" pitchFamily="34" charset="-122"/>
                <a:cs typeface="Tw Cen MT" pitchFamily="34" charset="-120"/>
              </a:rPr>
              <a:t> </a:t>
            </a:r>
            <a:r>
              <a:rPr lang="en-US" sz="2000" dirty="0" err="1">
                <a:solidFill>
                  <a:srgbClr val="222222"/>
                </a:solidFill>
                <a:latin typeface="Tw Cen MT" panose="020B0602020104020603" pitchFamily="34" charset="0"/>
                <a:ea typeface="Tw Cen MT" pitchFamily="34" charset="-122"/>
                <a:cs typeface="Tw Cen MT" pitchFamily="34" charset="-120"/>
              </a:rPr>
              <a:t>año</a:t>
            </a:r>
            <a:r>
              <a:rPr lang="en-US" sz="2000" dirty="0">
                <a:solidFill>
                  <a:srgbClr val="222222"/>
                </a:solidFill>
                <a:latin typeface="Tw Cen MT" panose="020B0602020104020603" pitchFamily="34" charset="0"/>
                <a:ea typeface="Tw Cen MT" pitchFamily="34" charset="-122"/>
                <a:cs typeface="Tw Cen MT" pitchFamily="34" charset="-120"/>
              </a:rPr>
              <a:t> (</a:t>
            </a:r>
            <a:r>
              <a:rPr lang="en-US" sz="2000" dirty="0" err="1">
                <a:solidFill>
                  <a:srgbClr val="222222"/>
                </a:solidFill>
                <a:latin typeface="Tw Cen MT" panose="020B0602020104020603" pitchFamily="34" charset="0"/>
                <a:ea typeface="Tw Cen MT" pitchFamily="34" charset="-122"/>
                <a:cs typeface="Tw Cen MT" pitchFamily="34" charset="-120"/>
              </a:rPr>
              <a:t>promedio</a:t>
            </a:r>
            <a:r>
              <a:rPr lang="en-US" sz="2000" dirty="0">
                <a:solidFill>
                  <a:srgbClr val="222222"/>
                </a:solidFill>
                <a:latin typeface="Tw Cen MT" panose="020B0602020104020603" pitchFamily="34" charset="0"/>
                <a:ea typeface="Tw Cen MT" pitchFamily="34" charset="-122"/>
                <a:cs typeface="Tw Cen MT" pitchFamily="34" charset="-120"/>
              </a:rPr>
              <a:t> 4 días/</a:t>
            </a:r>
            <a:r>
              <a:rPr lang="en-US" sz="2000" dirty="0" err="1">
                <a:solidFill>
                  <a:srgbClr val="222222"/>
                </a:solidFill>
                <a:latin typeface="Tw Cen MT" panose="020B0602020104020603" pitchFamily="34" charset="0"/>
                <a:ea typeface="Tw Cen MT" pitchFamily="34" charset="-122"/>
                <a:cs typeface="Tw Cen MT" pitchFamily="34" charset="-120"/>
              </a:rPr>
              <a:t>año</a:t>
            </a:r>
            <a:r>
              <a:rPr lang="en-US" sz="2000" dirty="0">
                <a:solidFill>
                  <a:srgbClr val="222222"/>
                </a:solidFill>
                <a:latin typeface="Tw Cen MT" panose="020B0602020104020603" pitchFamily="34" charset="0"/>
                <a:ea typeface="Tw Cen MT" pitchFamily="34" charset="-122"/>
                <a:cs typeface="Tw Cen MT" pitchFamily="34" charset="-120"/>
              </a:rPr>
              <a:t> </a:t>
            </a:r>
            <a:r>
              <a:rPr lang="en-US" sz="2000" dirty="0" err="1">
                <a:solidFill>
                  <a:srgbClr val="222222"/>
                </a:solidFill>
                <a:latin typeface="Tw Cen MT" panose="020B0602020104020603" pitchFamily="34" charset="0"/>
                <a:ea typeface="Tw Cen MT" pitchFamily="34" charset="-122"/>
                <a:cs typeface="Tw Cen MT" pitchFamily="34" charset="-120"/>
              </a:rPr>
              <a:t>empleado</a:t>
            </a:r>
            <a:r>
              <a:rPr lang="en-US" sz="2000" dirty="0">
                <a:solidFill>
                  <a:srgbClr val="222222"/>
                </a:solidFill>
                <a:latin typeface="Tw Cen MT" panose="020B0602020104020603" pitchFamily="34" charset="0"/>
                <a:ea typeface="Tw Cen MT" pitchFamily="34" charset="-122"/>
                <a:cs typeface="Tw Cen MT" pitchFamily="34" charset="-120"/>
              </a:rPr>
              <a:t>). </a:t>
            </a:r>
            <a:endParaRPr lang="en-US" sz="2000" dirty="0">
              <a:latin typeface="Tw Cen MT" panose="020B06020201040206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itchFamily="34" charset="0"/>
                <a:ea typeface="Tw Cen MT" pitchFamily="34" charset="-122"/>
                <a:cs typeface="Tw Cen MT" pitchFamily="34" charset="-120"/>
              </a:rPr>
              <a:t>¿Qué hizo Deloitte? — El Nuevo Sistema</a:t>
            </a:r>
            <a:endParaRPr lang="en-US" sz="2400" dirty="0"/>
          </a:p>
        </p:txBody>
      </p:sp>
      <p:sp>
        <p:nvSpPr>
          <p:cNvPr id="6" name="Shape 4"/>
          <p:cNvSpPr/>
          <p:nvPr/>
        </p:nvSpPr>
        <p:spPr>
          <a:xfrm>
            <a:off x="365760" y="1143000"/>
            <a:ext cx="8412480" cy="347472"/>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7" name="Text 5"/>
          <p:cNvSpPr/>
          <p:nvPr/>
        </p:nvSpPr>
        <p:spPr>
          <a:xfrm>
            <a:off x="365760" y="1143000"/>
            <a:ext cx="8412480" cy="347472"/>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Tres objetivos del nuevo sistema</a:t>
            </a:r>
            <a:endParaRPr lang="en-US" sz="2000" dirty="0">
              <a:latin typeface="Tw Cen MT" panose="020B0602020104020603" pitchFamily="34" charset="0"/>
            </a:endParaRPr>
          </a:p>
        </p:txBody>
      </p:sp>
      <p:sp>
        <p:nvSpPr>
          <p:cNvPr id="8" name="Shape 6"/>
          <p:cNvSpPr/>
          <p:nvPr/>
        </p:nvSpPr>
        <p:spPr>
          <a:xfrm>
            <a:off x="365760" y="1600200"/>
            <a:ext cx="8412480" cy="109728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9" name="Shape 7"/>
          <p:cNvSpPr/>
          <p:nvPr/>
        </p:nvSpPr>
        <p:spPr>
          <a:xfrm>
            <a:off x="365760" y="1600200"/>
            <a:ext cx="109728" cy="1097280"/>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0" name="Text 8"/>
          <p:cNvSpPr/>
          <p:nvPr/>
        </p:nvSpPr>
        <p:spPr>
          <a:xfrm>
            <a:off x="594360" y="1664208"/>
            <a:ext cx="8092440" cy="320040"/>
          </a:xfrm>
          <a:prstGeom prst="rect">
            <a:avLst/>
          </a:prstGeom>
          <a:noFill/>
          <a:ln/>
        </p:spPr>
        <p:txBody>
          <a:bodyPr wrap="square" rtlCol="0" anchor="ctr"/>
          <a:lstStyle/>
          <a:p>
            <a:pPr marL="0" indent="0">
              <a:buNone/>
            </a:pPr>
            <a:r>
              <a:rPr lang="en-US" sz="2000" b="1" dirty="0">
                <a:solidFill>
                  <a:srgbClr val="8B0000"/>
                </a:solidFill>
                <a:latin typeface="Tw Cen MT" panose="020B0602020104020603" pitchFamily="34" charset="0"/>
                <a:ea typeface="Tw Cen MT" pitchFamily="34" charset="-122"/>
                <a:cs typeface="Tw Cen MT" pitchFamily="34" charset="-120"/>
              </a:rPr>
              <a:t>a) Reconocer el desempeño</a:t>
            </a:r>
            <a:endParaRPr lang="en-US" sz="2000" dirty="0">
              <a:latin typeface="Tw Cen MT" panose="020B0602020104020603" pitchFamily="34" charset="0"/>
            </a:endParaRPr>
          </a:p>
        </p:txBody>
      </p:sp>
      <p:sp>
        <p:nvSpPr>
          <p:cNvPr id="11" name="Text 9"/>
          <p:cNvSpPr/>
          <p:nvPr/>
        </p:nvSpPr>
        <p:spPr>
          <a:xfrm>
            <a:off x="594360" y="1993392"/>
            <a:ext cx="8092440" cy="6400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A través de la compensación variable, vinculando resultados concretos a la remuneración.</a:t>
            </a:r>
            <a:endParaRPr lang="en-US" sz="2000" dirty="0">
              <a:latin typeface="Tw Cen MT" panose="020B0602020104020603" pitchFamily="34" charset="0"/>
            </a:endParaRPr>
          </a:p>
        </p:txBody>
      </p:sp>
      <p:sp>
        <p:nvSpPr>
          <p:cNvPr id="12" name="Shape 10"/>
          <p:cNvSpPr/>
          <p:nvPr/>
        </p:nvSpPr>
        <p:spPr>
          <a:xfrm>
            <a:off x="365760" y="2834640"/>
            <a:ext cx="8412480" cy="1097280"/>
          </a:xfrm>
          <a:prstGeom prst="rect">
            <a:avLst/>
          </a:prstGeom>
          <a:solidFill>
            <a:srgbClr val="FAFAFA"/>
          </a:solidFill>
          <a:ln w="12700">
            <a:solidFill>
              <a:srgbClr val="DDDDDD"/>
            </a:solidFill>
            <a:prstDash val="solid"/>
          </a:ln>
        </p:spPr>
        <p:txBody>
          <a:bodyPr/>
          <a:lstStyle/>
          <a:p>
            <a:endParaRPr lang="en-US" sz="2000">
              <a:latin typeface="Tw Cen MT" panose="020B0602020104020603" pitchFamily="34" charset="0"/>
            </a:endParaRPr>
          </a:p>
        </p:txBody>
      </p:sp>
      <p:sp>
        <p:nvSpPr>
          <p:cNvPr id="13" name="Shape 11"/>
          <p:cNvSpPr/>
          <p:nvPr/>
        </p:nvSpPr>
        <p:spPr>
          <a:xfrm>
            <a:off x="365760" y="2834640"/>
            <a:ext cx="109728" cy="1097280"/>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4" name="Text 12"/>
          <p:cNvSpPr/>
          <p:nvPr/>
        </p:nvSpPr>
        <p:spPr>
          <a:xfrm>
            <a:off x="594360" y="2898648"/>
            <a:ext cx="8092440" cy="320040"/>
          </a:xfrm>
          <a:prstGeom prst="rect">
            <a:avLst/>
          </a:prstGeom>
          <a:noFill/>
          <a:ln/>
        </p:spPr>
        <p:txBody>
          <a:bodyPr wrap="square" rtlCol="0" anchor="ctr"/>
          <a:lstStyle/>
          <a:p>
            <a:pPr marL="0" indent="0">
              <a:buNone/>
            </a:pPr>
            <a:r>
              <a:rPr lang="en-US" sz="2000" b="1" dirty="0">
                <a:solidFill>
                  <a:srgbClr val="8B0000"/>
                </a:solidFill>
                <a:latin typeface="Tw Cen MT" panose="020B0602020104020603" pitchFamily="34" charset="0"/>
                <a:ea typeface="Tw Cen MT" pitchFamily="34" charset="-122"/>
                <a:cs typeface="Tw Cen MT" pitchFamily="34" charset="-120"/>
              </a:rPr>
              <a:t>b) Ver el desempeño claramente</a:t>
            </a:r>
            <a:endParaRPr lang="en-US" sz="2000" dirty="0">
              <a:latin typeface="Tw Cen MT" panose="020B0602020104020603" pitchFamily="34" charset="0"/>
            </a:endParaRPr>
          </a:p>
        </p:txBody>
      </p:sp>
      <p:sp>
        <p:nvSpPr>
          <p:cNvPr id="15" name="Text 13"/>
          <p:cNvSpPr/>
          <p:nvPr/>
        </p:nvSpPr>
        <p:spPr>
          <a:xfrm>
            <a:off x="594360" y="3227832"/>
            <a:ext cx="8092440" cy="6400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Reducir el efecto de sesgo del evaluador y agilizar el proceso tradicional de evaluación-calificación-reunión-calificación final.</a:t>
            </a:r>
            <a:endParaRPr lang="en-US" sz="2000" dirty="0">
              <a:latin typeface="Tw Cen MT" panose="020B0602020104020603" pitchFamily="34" charset="0"/>
            </a:endParaRPr>
          </a:p>
        </p:txBody>
      </p:sp>
      <p:sp>
        <p:nvSpPr>
          <p:cNvPr id="16" name="Shape 14"/>
          <p:cNvSpPr/>
          <p:nvPr/>
        </p:nvSpPr>
        <p:spPr>
          <a:xfrm>
            <a:off x="365760" y="4069080"/>
            <a:ext cx="8412480" cy="109728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7" name="Shape 15"/>
          <p:cNvSpPr/>
          <p:nvPr/>
        </p:nvSpPr>
        <p:spPr>
          <a:xfrm>
            <a:off x="365760" y="4069080"/>
            <a:ext cx="109728" cy="1097280"/>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8" name="Text 16"/>
          <p:cNvSpPr/>
          <p:nvPr/>
        </p:nvSpPr>
        <p:spPr>
          <a:xfrm>
            <a:off x="594360" y="4133088"/>
            <a:ext cx="8092440" cy="320040"/>
          </a:xfrm>
          <a:prstGeom prst="rect">
            <a:avLst/>
          </a:prstGeom>
          <a:noFill/>
          <a:ln/>
        </p:spPr>
        <p:txBody>
          <a:bodyPr wrap="square" rtlCol="0" anchor="ctr"/>
          <a:lstStyle/>
          <a:p>
            <a:pPr marL="0" indent="0">
              <a:buNone/>
            </a:pPr>
            <a:r>
              <a:rPr lang="en-US" sz="2000" b="1" dirty="0">
                <a:solidFill>
                  <a:srgbClr val="8B0000"/>
                </a:solidFill>
                <a:latin typeface="Tw Cen MT" panose="020B0602020104020603" pitchFamily="34" charset="0"/>
                <a:ea typeface="Tw Cen MT" pitchFamily="34" charset="-122"/>
                <a:cs typeface="Tw Cen MT" pitchFamily="34" charset="-120"/>
              </a:rPr>
              <a:t>c) Mejorar el rendimiento</a:t>
            </a:r>
            <a:endParaRPr lang="en-US" sz="2000" dirty="0">
              <a:latin typeface="Tw Cen MT" panose="020B0602020104020603" pitchFamily="34" charset="0"/>
            </a:endParaRPr>
          </a:p>
        </p:txBody>
      </p:sp>
      <p:sp>
        <p:nvSpPr>
          <p:cNvPr id="19" name="Text 17"/>
          <p:cNvSpPr/>
          <p:nvPr/>
        </p:nvSpPr>
        <p:spPr>
          <a:xfrm>
            <a:off x="594360" y="4462272"/>
            <a:ext cx="8092440" cy="64008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Proveer al empleado de retroalimentación accionable y continua, no sólo una calificación anual.</a:t>
            </a:r>
            <a:endParaRPr lang="en-US" sz="2000" dirty="0">
              <a:latin typeface="Tw Cen MT" panose="020B0602020104020603" pitchFamily="34" charset="0"/>
            </a:endParaRPr>
          </a:p>
        </p:txBody>
      </p:sp>
      <p:sp>
        <p:nvSpPr>
          <p:cNvPr id="20" name="Text 18"/>
          <p:cNvSpPr/>
          <p:nvPr/>
        </p:nvSpPr>
        <p:spPr>
          <a:xfrm>
            <a:off x="434340" y="5646420"/>
            <a:ext cx="8412480" cy="502920"/>
          </a:xfrm>
          <a:prstGeom prst="rect">
            <a:avLst/>
          </a:prstGeom>
          <a:noFill/>
          <a:ln/>
        </p:spPr>
        <p:txBody>
          <a:bodyPr wrap="square" rtlCol="0" anchor="ctr"/>
          <a:lstStyle/>
          <a:p>
            <a:pPr marL="0" indent="0">
              <a:buNone/>
            </a:pPr>
            <a:r>
              <a:rPr lang="en-US" sz="2000" i="1" dirty="0">
                <a:solidFill>
                  <a:srgbClr val="222222"/>
                </a:solidFill>
                <a:latin typeface="Tw Cen MT" panose="020B0602020104020603" pitchFamily="34" charset="0"/>
                <a:ea typeface="Tw Cen MT" pitchFamily="34" charset="-122"/>
                <a:cs typeface="Tw Cen MT" pitchFamily="34" charset="-120"/>
              </a:rPr>
              <a:t>Solución al sesgo: en lugar de preguntar a más personas su opinión, se pregunta sólo al líder inmediato — pero sobre sus propias acciones futuras respecto a esa persona.</a:t>
            </a:r>
            <a:endParaRPr lang="en-US" sz="2000" dirty="0">
              <a:latin typeface="Tw Cen MT" panose="020B06020201040206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a:t>
            </a:r>
            <a:r>
              <a:rPr lang="en-US" sz="2400" b="1" dirty="0">
                <a:solidFill>
                  <a:srgbClr val="FFFFFF"/>
                </a:solidFill>
                <a:latin typeface="Tw Cen MT" pitchFamily="34" charset="0"/>
                <a:ea typeface="Tw Cen MT" pitchFamily="34" charset="-122"/>
                <a:cs typeface="Tw Cen MT" pitchFamily="34" charset="-120"/>
              </a:rPr>
              <a:t>Qué hizo Deloitte? — Las 4 Preguntas Clave</a:t>
            </a:r>
            <a:endParaRPr lang="en-US" sz="2400" dirty="0"/>
          </a:p>
        </p:txBody>
      </p:sp>
      <p:sp>
        <p:nvSpPr>
          <p:cNvPr id="5" name="Text 3"/>
          <p:cNvSpPr/>
          <p:nvPr/>
        </p:nvSpPr>
        <p:spPr>
          <a:xfrm>
            <a:off x="365760" y="777240"/>
            <a:ext cx="8412480" cy="4572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Al final de cada proyecto, los líderes responden 4 afirmaciones sobre cada miembro del equipo (escala 1–5):</a:t>
            </a:r>
            <a:endParaRPr lang="en-US" sz="2000" dirty="0">
              <a:latin typeface="Tw Cen MT" panose="020B0602020104020603" pitchFamily="34" charset="0"/>
            </a:endParaRPr>
          </a:p>
        </p:txBody>
      </p:sp>
      <p:sp>
        <p:nvSpPr>
          <p:cNvPr id="6" name="Shape 4"/>
          <p:cNvSpPr/>
          <p:nvPr/>
        </p:nvSpPr>
        <p:spPr>
          <a:xfrm>
            <a:off x="320040" y="1371600"/>
            <a:ext cx="8503920" cy="109728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7" name="Shape 5"/>
          <p:cNvSpPr/>
          <p:nvPr/>
        </p:nvSpPr>
        <p:spPr>
          <a:xfrm>
            <a:off x="411480" y="1645920"/>
            <a:ext cx="548640" cy="54864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8" name="Text 6"/>
          <p:cNvSpPr/>
          <p:nvPr/>
        </p:nvSpPr>
        <p:spPr>
          <a:xfrm>
            <a:off x="411480" y="1645920"/>
            <a:ext cx="548640" cy="54864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1</a:t>
            </a:r>
            <a:endParaRPr lang="en-US" sz="2000" dirty="0">
              <a:latin typeface="Tw Cen MT" panose="020B0602020104020603" pitchFamily="34" charset="0"/>
            </a:endParaRPr>
          </a:p>
        </p:txBody>
      </p:sp>
      <p:sp>
        <p:nvSpPr>
          <p:cNvPr id="9" name="Text 7"/>
          <p:cNvSpPr/>
          <p:nvPr/>
        </p:nvSpPr>
        <p:spPr>
          <a:xfrm>
            <a:off x="1097280" y="1463040"/>
            <a:ext cx="758952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Dado lo que conozco del desempeño de esta persona, si fuera mi dinero, le otorgaría el mayor aumento de compensación y bonificación posibles.</a:t>
            </a:r>
            <a:endParaRPr lang="en-US" sz="2000" dirty="0">
              <a:latin typeface="Tw Cen MT" panose="020B0602020104020603" pitchFamily="34" charset="0"/>
            </a:endParaRPr>
          </a:p>
        </p:txBody>
      </p:sp>
      <p:sp>
        <p:nvSpPr>
          <p:cNvPr id="10" name="Shape 8"/>
          <p:cNvSpPr/>
          <p:nvPr/>
        </p:nvSpPr>
        <p:spPr>
          <a:xfrm>
            <a:off x="320040" y="2606040"/>
            <a:ext cx="8503920" cy="109728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11" name="Shape 9"/>
          <p:cNvSpPr/>
          <p:nvPr/>
        </p:nvSpPr>
        <p:spPr>
          <a:xfrm>
            <a:off x="411480" y="2880360"/>
            <a:ext cx="548640" cy="54864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2" name="Text 10"/>
          <p:cNvSpPr/>
          <p:nvPr/>
        </p:nvSpPr>
        <p:spPr>
          <a:xfrm>
            <a:off x="411480" y="2880360"/>
            <a:ext cx="548640" cy="54864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2</a:t>
            </a:r>
            <a:endParaRPr lang="en-US" sz="2000" dirty="0">
              <a:latin typeface="Tw Cen MT" panose="020B0602020104020603" pitchFamily="34" charset="0"/>
            </a:endParaRPr>
          </a:p>
        </p:txBody>
      </p:sp>
      <p:sp>
        <p:nvSpPr>
          <p:cNvPr id="13" name="Text 11"/>
          <p:cNvSpPr/>
          <p:nvPr/>
        </p:nvSpPr>
        <p:spPr>
          <a:xfrm>
            <a:off x="1097280" y="2697480"/>
            <a:ext cx="758952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Dado lo que conozco del desempeño de esta persona, siempre la querría en mi equipo.</a:t>
            </a:r>
            <a:endParaRPr lang="en-US" sz="2000" dirty="0">
              <a:latin typeface="Tw Cen MT" panose="020B0602020104020603" pitchFamily="34" charset="0"/>
            </a:endParaRPr>
          </a:p>
        </p:txBody>
      </p:sp>
      <p:sp>
        <p:nvSpPr>
          <p:cNvPr id="14" name="Shape 12"/>
          <p:cNvSpPr/>
          <p:nvPr/>
        </p:nvSpPr>
        <p:spPr>
          <a:xfrm>
            <a:off x="320040" y="3840480"/>
            <a:ext cx="8503920" cy="109728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5" name="Shape 13"/>
          <p:cNvSpPr/>
          <p:nvPr/>
        </p:nvSpPr>
        <p:spPr>
          <a:xfrm>
            <a:off x="411480" y="4114800"/>
            <a:ext cx="548640" cy="54864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6" name="Text 14"/>
          <p:cNvSpPr/>
          <p:nvPr/>
        </p:nvSpPr>
        <p:spPr>
          <a:xfrm>
            <a:off x="411480" y="4114800"/>
            <a:ext cx="548640" cy="54864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3</a:t>
            </a:r>
            <a:endParaRPr lang="en-US" sz="2000" dirty="0">
              <a:latin typeface="Tw Cen MT" panose="020B0602020104020603" pitchFamily="34" charset="0"/>
            </a:endParaRPr>
          </a:p>
        </p:txBody>
      </p:sp>
      <p:sp>
        <p:nvSpPr>
          <p:cNvPr id="17" name="Text 15"/>
          <p:cNvSpPr/>
          <p:nvPr/>
        </p:nvSpPr>
        <p:spPr>
          <a:xfrm>
            <a:off x="1097280" y="3931920"/>
            <a:ext cx="758952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Esta persona corre el riesgo de tener un bajo rendimiento.</a:t>
            </a:r>
            <a:endParaRPr lang="en-US" sz="2000" dirty="0">
              <a:latin typeface="Tw Cen MT" panose="020B0602020104020603" pitchFamily="34" charset="0"/>
            </a:endParaRPr>
          </a:p>
        </p:txBody>
      </p:sp>
      <p:sp>
        <p:nvSpPr>
          <p:cNvPr id="18" name="Shape 16"/>
          <p:cNvSpPr/>
          <p:nvPr/>
        </p:nvSpPr>
        <p:spPr>
          <a:xfrm>
            <a:off x="320040" y="5074920"/>
            <a:ext cx="8503920" cy="109728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19" name="Shape 17"/>
          <p:cNvSpPr/>
          <p:nvPr/>
        </p:nvSpPr>
        <p:spPr>
          <a:xfrm>
            <a:off x="411480" y="5349240"/>
            <a:ext cx="548640" cy="548640"/>
          </a:xfrm>
          <a:prstGeom prst="ellipse">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20" name="Text 18"/>
          <p:cNvSpPr/>
          <p:nvPr/>
        </p:nvSpPr>
        <p:spPr>
          <a:xfrm>
            <a:off x="411480" y="5349240"/>
            <a:ext cx="548640" cy="54864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4</a:t>
            </a:r>
            <a:endParaRPr lang="en-US" sz="2000" dirty="0">
              <a:latin typeface="Tw Cen MT" panose="020B0602020104020603" pitchFamily="34" charset="0"/>
            </a:endParaRPr>
          </a:p>
        </p:txBody>
      </p:sp>
      <p:sp>
        <p:nvSpPr>
          <p:cNvPr id="21" name="Text 19"/>
          <p:cNvSpPr/>
          <p:nvPr/>
        </p:nvSpPr>
        <p:spPr>
          <a:xfrm>
            <a:off x="1097280" y="5166360"/>
            <a:ext cx="758952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Esta persona está lista para un ascenso hoy.</a:t>
            </a:r>
            <a:endParaRPr lang="en-US" sz="2000" dirty="0">
              <a:latin typeface="Tw Cen MT" panose="020B06020201040206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¿Qué Medimos Realmente?</a:t>
            </a:r>
            <a:endParaRPr lang="en-US" sz="2400" dirty="0">
              <a:latin typeface="Tw Cen MT" panose="020B0602020104020603" pitchFamily="34" charset="0"/>
            </a:endParaRPr>
          </a:p>
        </p:txBody>
      </p:sp>
      <p:sp>
        <p:nvSpPr>
          <p:cNvPr id="5" name="Text 3"/>
          <p:cNvSpPr/>
          <p:nvPr/>
        </p:nvSpPr>
        <p:spPr>
          <a:xfrm>
            <a:off x="365760" y="777240"/>
            <a:ext cx="8412480" cy="320040"/>
          </a:xfrm>
          <a:prstGeom prst="rect">
            <a:avLst/>
          </a:prstGeom>
          <a:noFill/>
          <a:ln/>
        </p:spPr>
        <p:txBody>
          <a:bodyPr wrap="square" rtlCol="0" anchor="ctr"/>
          <a:lstStyle/>
          <a:p>
            <a:pPr marL="0" indent="0">
              <a:buNone/>
            </a:pPr>
            <a:r>
              <a:rPr lang="en-US" sz="1600" i="1" dirty="0">
                <a:solidFill>
                  <a:srgbClr val="666666"/>
                </a:solidFill>
                <a:latin typeface="Tw Cen MT" panose="020B0602020104020603" pitchFamily="34" charset="0"/>
                <a:ea typeface="Tw Cen MT" pitchFamily="34" charset="-122"/>
                <a:cs typeface="Tw Cen MT" pitchFamily="34" charset="-120"/>
              </a:rPr>
              <a:t>Lectura complementaria: Reinventing Performance Management — HBR | Toward Fairer Data-Driven Performance Management — HBR, 2022</a:t>
            </a:r>
            <a:endParaRPr lang="en-US" sz="1600" dirty="0">
              <a:latin typeface="Tw Cen MT" panose="020B0602020104020603" pitchFamily="34" charset="0"/>
            </a:endParaRPr>
          </a:p>
        </p:txBody>
      </p:sp>
      <p:sp>
        <p:nvSpPr>
          <p:cNvPr id="6" name="Shape 4"/>
          <p:cNvSpPr/>
          <p:nvPr/>
        </p:nvSpPr>
        <p:spPr>
          <a:xfrm>
            <a:off x="365760" y="1627632"/>
            <a:ext cx="8412480" cy="2286000"/>
          </a:xfrm>
          <a:prstGeom prst="rect">
            <a:avLst/>
          </a:prstGeom>
          <a:solidFill>
            <a:srgbClr val="F0F4F8"/>
          </a:solidFill>
          <a:ln w="12700">
            <a:solidFill>
              <a:srgbClr val="CCCCCC"/>
            </a:solidFill>
            <a:prstDash val="solid"/>
          </a:ln>
        </p:spPr>
        <p:txBody>
          <a:bodyPr/>
          <a:lstStyle/>
          <a:p>
            <a:endParaRPr lang="en-US" sz="2000">
              <a:latin typeface="Tw Cen MT" panose="020B0602020104020603" pitchFamily="34" charset="0"/>
            </a:endParaRPr>
          </a:p>
        </p:txBody>
      </p:sp>
      <p:sp>
        <p:nvSpPr>
          <p:cNvPr id="7" name="Shape 5"/>
          <p:cNvSpPr/>
          <p:nvPr/>
        </p:nvSpPr>
        <p:spPr>
          <a:xfrm>
            <a:off x="365760" y="1627632"/>
            <a:ext cx="109728" cy="2286000"/>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8" name="Text 6"/>
          <p:cNvSpPr/>
          <p:nvPr/>
        </p:nvSpPr>
        <p:spPr>
          <a:xfrm>
            <a:off x="594360" y="1691640"/>
            <a:ext cx="8092440" cy="320040"/>
          </a:xfrm>
          <a:prstGeom prst="rect">
            <a:avLst/>
          </a:prstGeom>
          <a:noFill/>
          <a:ln/>
        </p:spPr>
        <p:txBody>
          <a:bodyPr wrap="square" rtlCol="0" anchor="ctr"/>
          <a:lstStyle/>
          <a:p>
            <a:pPr marL="0" indent="0">
              <a:buNone/>
            </a:pPr>
            <a:r>
              <a:rPr lang="en-US" sz="2000" b="1" dirty="0">
                <a:solidFill>
                  <a:srgbClr val="1A2744"/>
                </a:solidFill>
                <a:latin typeface="Tw Cen MT" panose="020B0602020104020603" pitchFamily="34" charset="0"/>
                <a:ea typeface="Tw Cen MT" pitchFamily="34" charset="-122"/>
                <a:cs typeface="Tw Cen MT" pitchFamily="34" charset="-120"/>
              </a:rPr>
              <a:t>Ben Waber — Humanyze / Harvard Business Review:</a:t>
            </a:r>
            <a:endParaRPr lang="en-US" sz="2000" dirty="0">
              <a:latin typeface="Tw Cen MT" panose="020B0602020104020603" pitchFamily="34" charset="0"/>
            </a:endParaRPr>
          </a:p>
        </p:txBody>
      </p:sp>
      <p:sp>
        <p:nvSpPr>
          <p:cNvPr id="9" name="Text 7"/>
          <p:cNvSpPr/>
          <p:nvPr/>
        </p:nvSpPr>
        <p:spPr>
          <a:xfrm>
            <a:off x="594360" y="2057400"/>
            <a:ext cx="8092440" cy="1737360"/>
          </a:xfrm>
          <a:prstGeom prst="rect">
            <a:avLst/>
          </a:prstGeom>
          <a:noFill/>
          <a:ln/>
        </p:spPr>
        <p:txBody>
          <a:bodyPr wrap="square" rtlCol="0" anchor="t"/>
          <a:lstStyle/>
          <a:p>
            <a:pPr marL="0" indent="0">
              <a:buNone/>
            </a:pPr>
            <a:r>
              <a:rPr lang="en-US" sz="2000" i="1" dirty="0">
                <a:solidFill>
                  <a:srgbClr val="222222"/>
                </a:solidFill>
                <a:latin typeface="Tw Cen MT" panose="020B0602020104020603" pitchFamily="34" charset="0"/>
                <a:ea typeface="Tw Cen MT" pitchFamily="34" charset="-122"/>
                <a:cs typeface="Tw Cen MT" pitchFamily="34" charset="-120"/>
              </a:rPr>
              <a:t>"Las medidas confiables, precisas y libres de sesgos del desempeño laboral son notoriamente difíciles de alcanzar. Las investigaciones muestran que las autoevaluaciones y las calificaciones de supervisión se superponen en apenas un 4%. Si bien la verdadera meritocracia es imposible y el desempeño nunca será completamente mensurable, las organizaciones pueden volverse más basadas en el mérito si identifican KPIs concretos y utilizan datos correctos para medirlos."</a:t>
            </a:r>
            <a:endParaRPr lang="en-US" sz="2000" dirty="0">
              <a:latin typeface="Tw Cen MT" panose="020B0602020104020603" pitchFamily="34" charset="0"/>
            </a:endParaRPr>
          </a:p>
        </p:txBody>
      </p:sp>
      <p:sp>
        <p:nvSpPr>
          <p:cNvPr id="10" name="Shape 8"/>
          <p:cNvSpPr/>
          <p:nvPr/>
        </p:nvSpPr>
        <p:spPr>
          <a:xfrm>
            <a:off x="365760" y="4176402"/>
            <a:ext cx="8412480" cy="233172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11" name="Shape 9"/>
          <p:cNvSpPr/>
          <p:nvPr/>
        </p:nvSpPr>
        <p:spPr>
          <a:xfrm>
            <a:off x="365760" y="4148970"/>
            <a:ext cx="109728" cy="2331720"/>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12" name="Text 10"/>
          <p:cNvSpPr/>
          <p:nvPr/>
        </p:nvSpPr>
        <p:spPr>
          <a:xfrm>
            <a:off x="594360" y="4359282"/>
            <a:ext cx="8092440" cy="347472"/>
          </a:xfrm>
          <a:prstGeom prst="rect">
            <a:avLst/>
          </a:prstGeom>
          <a:noFill/>
          <a:ln/>
        </p:spPr>
        <p:txBody>
          <a:bodyPr wrap="square" rtlCol="0" anchor="ctr"/>
          <a:lstStyle/>
          <a:p>
            <a:pPr marL="0" indent="0">
              <a:buNone/>
            </a:pPr>
            <a:r>
              <a:rPr lang="en-US" sz="2000" b="1" dirty="0">
                <a:solidFill>
                  <a:srgbClr val="8B0000"/>
                </a:solidFill>
                <a:latin typeface="Tw Cen MT" panose="020B0602020104020603" pitchFamily="34" charset="0"/>
                <a:ea typeface="Tw Cen MT" pitchFamily="34" charset="-122"/>
                <a:cs typeface="Tw Cen MT" pitchFamily="34" charset="-120"/>
              </a:rPr>
              <a:t>Hallazgo clave — Mount, Scullen y Goff (Journal of Applied Psychology, 2000):</a:t>
            </a:r>
            <a:endParaRPr lang="en-US" sz="2000" dirty="0">
              <a:latin typeface="Tw Cen MT" panose="020B0602020104020603" pitchFamily="34" charset="0"/>
            </a:endParaRPr>
          </a:p>
        </p:txBody>
      </p:sp>
      <p:sp>
        <p:nvSpPr>
          <p:cNvPr id="13" name="Text 11"/>
          <p:cNvSpPr/>
          <p:nvPr/>
        </p:nvSpPr>
        <p:spPr>
          <a:xfrm>
            <a:off x="594360" y="4752474"/>
            <a:ext cx="8092440" cy="1783080"/>
          </a:xfrm>
          <a:prstGeom prst="rect">
            <a:avLst/>
          </a:prstGeom>
          <a:noFill/>
          <a:ln/>
        </p:spPr>
        <p:txBody>
          <a:bodyPr wrap="square" rtlCol="0" anchor="t"/>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Estudio con 4.492 gerentes evaluados por jefes, pares y subordinados:</a:t>
            </a: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 El 62% de la variación en las calificaciones se explica por las peculiaridades de percepción de cada evaluador.</a:t>
            </a: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 El desempeño real explica solo el 21% de la variación.</a:t>
            </a: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 Las calificaciones revelan más sobre el evaluador que sobre el evaluado.</a:t>
            </a:r>
            <a:endParaRPr lang="en-US" sz="2000" dirty="0">
              <a:latin typeface="Tw Cen MT" panose="020B06020201040206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La Brecha entre Desempeño y Éxito Profesional</a:t>
            </a:r>
            <a:endParaRPr lang="en-US" sz="2400" dirty="0">
              <a:latin typeface="Tw Cen MT" panose="020B0602020104020603" pitchFamily="34" charset="0"/>
            </a:endParaRPr>
          </a:p>
        </p:txBody>
      </p:sp>
      <p:sp>
        <p:nvSpPr>
          <p:cNvPr id="5" name="Text 3"/>
          <p:cNvSpPr/>
          <p:nvPr/>
        </p:nvSpPr>
        <p:spPr>
          <a:xfrm>
            <a:off x="77002" y="6352254"/>
            <a:ext cx="8412480" cy="320040"/>
          </a:xfrm>
          <a:prstGeom prst="rect">
            <a:avLst/>
          </a:prstGeom>
          <a:noFill/>
          <a:ln/>
        </p:spPr>
        <p:txBody>
          <a:bodyPr wrap="square" rtlCol="0" anchor="ctr"/>
          <a:lstStyle/>
          <a:p>
            <a:pPr marL="0" indent="0">
              <a:buNone/>
            </a:pPr>
            <a:r>
              <a:rPr lang="en-US" i="1" dirty="0">
                <a:solidFill>
                  <a:srgbClr val="666666"/>
                </a:solidFill>
                <a:latin typeface="Tw Cen MT" panose="020B0602020104020603" pitchFamily="34" charset="0"/>
                <a:ea typeface="Tw Cen MT" pitchFamily="34" charset="-122"/>
                <a:cs typeface="Tw Cen MT" pitchFamily="34" charset="-120"/>
              </a:rPr>
              <a:t>Lectura complementaria: Toward Fairer Data-Driven Performance Management — Chamorro-Premuzic &amp; Waber, HBR, 2022</a:t>
            </a:r>
            <a:endParaRPr lang="en-US" dirty="0">
              <a:latin typeface="Tw Cen MT" panose="020B0602020104020603" pitchFamily="34" charset="0"/>
            </a:endParaRPr>
          </a:p>
        </p:txBody>
      </p:sp>
      <p:sp>
        <p:nvSpPr>
          <p:cNvPr id="6" name="Shape 4"/>
          <p:cNvSpPr/>
          <p:nvPr/>
        </p:nvSpPr>
        <p:spPr>
          <a:xfrm>
            <a:off x="365760" y="1181721"/>
            <a:ext cx="8412480" cy="3036771"/>
          </a:xfrm>
          <a:prstGeom prst="rect">
            <a:avLst/>
          </a:prstGeom>
          <a:solidFill>
            <a:srgbClr val="F0F4F8"/>
          </a:solidFill>
          <a:ln w="12700">
            <a:solidFill>
              <a:srgbClr val="CCCCCC"/>
            </a:solidFill>
            <a:prstDash val="solid"/>
          </a:ln>
        </p:spPr>
        <p:txBody>
          <a:bodyPr/>
          <a:lstStyle/>
          <a:p>
            <a:endParaRPr lang="en-US" sz="2000">
              <a:latin typeface="Tw Cen MT" panose="020B0602020104020603" pitchFamily="34" charset="0"/>
            </a:endParaRPr>
          </a:p>
        </p:txBody>
      </p:sp>
      <p:sp>
        <p:nvSpPr>
          <p:cNvPr id="7" name="Shape 5"/>
          <p:cNvSpPr/>
          <p:nvPr/>
        </p:nvSpPr>
        <p:spPr>
          <a:xfrm>
            <a:off x="365760" y="1181721"/>
            <a:ext cx="91440" cy="3036771"/>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8" name="Text 6"/>
          <p:cNvSpPr/>
          <p:nvPr/>
        </p:nvSpPr>
        <p:spPr>
          <a:xfrm>
            <a:off x="594360" y="1273161"/>
            <a:ext cx="8092440" cy="2530482"/>
          </a:xfrm>
          <a:prstGeom prst="rect">
            <a:avLst/>
          </a:prstGeom>
          <a:noFill/>
          <a:ln/>
        </p:spPr>
        <p:txBody>
          <a:bodyPr wrap="square" rtlCol="0" anchor="t"/>
          <a:lstStyle/>
          <a:p>
            <a:r>
              <a:rPr lang="es-AR" i="1" dirty="0">
                <a:latin typeface="Tw Cen MT" panose="020B0602020104020603" pitchFamily="34" charset="0"/>
              </a:rPr>
              <a:t>“Las medidas confiables , precisas y libres de sesgos del desempeño laboral de los empleados son notoriamente difíciles de alcanzar. Y si bien las empresas están inundadas de datos sobre sus empleados, su capacidad para traducirlos en marcadores confiables de desempeño es, en el mejor de los casos, un trabajo en progreso. Las investigaciones muestran que las autoevaluaciones y las calificaciones de supervisión del desempeño laboral se superponen en apenas un 4% . Si bien la verdadera meritocracia en las organizaciones es imposible y el desempeño nunca será completamente mensurable, las organizaciones pueden volverse más basadas en el mérito, más justas y, en general, más exitosas si identifican KPI sobre el desempeño dentro de sus organizaciones y utilizan los datos correctos para medirlos</a:t>
            </a:r>
            <a:r>
              <a:rPr lang="en-US" i="1" dirty="0">
                <a:solidFill>
                  <a:srgbClr val="222222"/>
                </a:solidFill>
                <a:latin typeface="Tw Cen MT" panose="020B0602020104020603" pitchFamily="34" charset="0"/>
              </a:rPr>
              <a:t>”. </a:t>
            </a:r>
            <a:endParaRPr lang="en-US" dirty="0">
              <a:latin typeface="Tw Cen MT" panose="020B0602020104020603" pitchFamily="34" charset="0"/>
            </a:endParaRPr>
          </a:p>
        </p:txBody>
      </p:sp>
      <p:sp>
        <p:nvSpPr>
          <p:cNvPr id="9" name="Shape 7"/>
          <p:cNvSpPr/>
          <p:nvPr/>
        </p:nvSpPr>
        <p:spPr>
          <a:xfrm>
            <a:off x="365760" y="4309932"/>
            <a:ext cx="8412480" cy="545814"/>
          </a:xfrm>
          <a:prstGeom prst="rect">
            <a:avLst/>
          </a:prstGeom>
          <a:solidFill>
            <a:srgbClr val="8B0000"/>
          </a:solidFill>
          <a:ln w="12700">
            <a:solidFill>
              <a:srgbClr val="8B0000"/>
            </a:solidFill>
            <a:prstDash val="solid"/>
          </a:ln>
        </p:spPr>
        <p:txBody>
          <a:bodyPr/>
          <a:lstStyle/>
          <a:p>
            <a:r>
              <a:rPr lang="es-AR" sz="2400" b="1" dirty="0" err="1">
                <a:solidFill>
                  <a:schemeClr val="bg1">
                    <a:lumMod val="95000"/>
                  </a:schemeClr>
                </a:solidFill>
                <a:latin typeface="Tw Cen MT" panose="020B0602020104020603" pitchFamily="34" charset="0"/>
              </a:rPr>
              <a:t>Implicanicas</a:t>
            </a:r>
            <a:endParaRPr lang="es-AR" sz="2400" b="1" dirty="0">
              <a:solidFill>
                <a:schemeClr val="bg1">
                  <a:lumMod val="95000"/>
                </a:schemeClr>
              </a:solidFill>
              <a:latin typeface="Tw Cen MT" panose="020B0602020104020603" pitchFamily="34" charset="0"/>
            </a:endParaRPr>
          </a:p>
        </p:txBody>
      </p:sp>
      <p:sp>
        <p:nvSpPr>
          <p:cNvPr id="10" name="Text 8"/>
          <p:cNvSpPr/>
          <p:nvPr/>
        </p:nvSpPr>
        <p:spPr>
          <a:xfrm>
            <a:off x="365760" y="5367528"/>
            <a:ext cx="8412480" cy="347472"/>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Implicancia para la Evaluación del Desempeño</a:t>
            </a:r>
            <a:endParaRPr lang="en-US" sz="2000" dirty="0">
              <a:latin typeface="Tw Cen MT" panose="020B0602020104020603" pitchFamily="34" charset="0"/>
            </a:endParaRPr>
          </a:p>
        </p:txBody>
      </p:sp>
      <p:sp>
        <p:nvSpPr>
          <p:cNvPr id="11" name="Text 9"/>
          <p:cNvSpPr/>
          <p:nvPr/>
        </p:nvSpPr>
        <p:spPr>
          <a:xfrm>
            <a:off x="434340" y="5127639"/>
            <a:ext cx="841248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Si el sistema de evaluación no es válido ni confiable, los incentivos diseñados sobre él serán igualmente distorsionados. </a:t>
            </a:r>
            <a:endParaRPr lang="en-US" sz="2000" dirty="0">
              <a:latin typeface="Tw Cen MT" panose="020B0602020104020603" pitchFamily="34" charset="0"/>
            </a:endParaRPr>
          </a:p>
          <a:p>
            <a:pPr marL="0" indent="0">
              <a:buNone/>
            </a:pPr>
            <a:r>
              <a:rPr lang="en-US" sz="2000" b="1" dirty="0">
                <a:solidFill>
                  <a:srgbClr val="222222"/>
                </a:solidFill>
                <a:latin typeface="Tw Cen MT" panose="020B0602020104020603" pitchFamily="34" charset="0"/>
                <a:ea typeface="Tw Cen MT" pitchFamily="34" charset="-122"/>
                <a:cs typeface="Tw Cen MT" pitchFamily="34" charset="-120"/>
              </a:rPr>
              <a:t>La inversión en sistemas de medición precisos es una condición necesaria para la eficiencia organizacional.</a:t>
            </a:r>
            <a:endParaRPr lang="en-US" sz="2000" dirty="0">
              <a:latin typeface="Tw Cen MT" panose="020B0602020104020603" pitchFamily="34" charset="0"/>
            </a:endParaRPr>
          </a:p>
        </p:txBody>
      </p:sp>
      <p:sp>
        <p:nvSpPr>
          <p:cNvPr id="14" name="CuadroTexto 13">
            <a:extLst>
              <a:ext uri="{FF2B5EF4-FFF2-40B4-BE49-F238E27FC236}">
                <a16:creationId xmlns:a16="http://schemas.microsoft.com/office/drawing/2014/main" id="{21401AE4-3656-75F4-2DFE-A1BCF24753A6}"/>
              </a:ext>
            </a:extLst>
          </p:cNvPr>
          <p:cNvSpPr txBox="1"/>
          <p:nvPr/>
        </p:nvSpPr>
        <p:spPr>
          <a:xfrm>
            <a:off x="365760" y="804672"/>
            <a:ext cx="8577072" cy="338554"/>
          </a:xfrm>
          <a:prstGeom prst="rect">
            <a:avLst/>
          </a:prstGeom>
          <a:noFill/>
        </p:spPr>
        <p:txBody>
          <a:bodyPr wrap="square">
            <a:spAutoFit/>
          </a:bodyPr>
          <a:lstStyle/>
          <a:p>
            <a:r>
              <a:rPr lang="es-AR" sz="1600" dirty="0"/>
              <a:t>El presidente y cofundador de </a:t>
            </a:r>
            <a:r>
              <a:rPr lang="es-AR" sz="1600" dirty="0" err="1"/>
              <a:t>Humanyze</a:t>
            </a:r>
            <a:r>
              <a:rPr lang="es-AR" sz="1600" dirty="0"/>
              <a:t>, Ben </a:t>
            </a:r>
            <a:r>
              <a:rPr lang="es-AR" sz="1600" dirty="0" err="1"/>
              <a:t>Waber</a:t>
            </a:r>
            <a:r>
              <a:rPr lang="es-AR" sz="1600" dirty="0"/>
              <a:t> , escribe para Harvard Business </a:t>
            </a:r>
            <a:r>
              <a:rPr lang="es-AR" sz="1600" dirty="0" err="1"/>
              <a:t>Review</a:t>
            </a:r>
            <a:r>
              <a:rPr lang="es-AR" sz="16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Eficacia del Sistema de </a:t>
            </a:r>
            <a:r>
              <a:rPr lang="en-US" sz="2400" b="1" dirty="0" err="1">
                <a:solidFill>
                  <a:srgbClr val="FFFFFF"/>
                </a:solidFill>
                <a:latin typeface="Tw Cen MT" panose="020B0602020104020603" pitchFamily="34" charset="0"/>
                <a:ea typeface="Tw Cen MT" pitchFamily="34" charset="-122"/>
                <a:cs typeface="Tw Cen MT" pitchFamily="34" charset="-120"/>
              </a:rPr>
              <a:t>Evaluación</a:t>
            </a:r>
            <a:r>
              <a:rPr lang="en-US" sz="2400" b="1" dirty="0">
                <a:solidFill>
                  <a:srgbClr val="FFFFFF"/>
                </a:solidFill>
                <a:latin typeface="Tw Cen MT" panose="020B0602020104020603" pitchFamily="34" charset="0"/>
                <a:ea typeface="Tw Cen MT" pitchFamily="34" charset="-122"/>
                <a:cs typeface="Tw Cen MT" pitchFamily="34" charset="-120"/>
              </a:rPr>
              <a:t> </a:t>
            </a:r>
            <a:endParaRPr lang="en-US" sz="2400" dirty="0">
              <a:latin typeface="Tw Cen MT" panose="020B0602020104020603" pitchFamily="34" charset="0"/>
            </a:endParaRPr>
          </a:p>
        </p:txBody>
      </p:sp>
      <p:sp>
        <p:nvSpPr>
          <p:cNvPr id="5" name="Shape 3"/>
          <p:cNvSpPr/>
          <p:nvPr/>
        </p:nvSpPr>
        <p:spPr>
          <a:xfrm>
            <a:off x="320040" y="804672"/>
            <a:ext cx="8503920" cy="38404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6" name="Text 4"/>
          <p:cNvSpPr/>
          <p:nvPr/>
        </p:nvSpPr>
        <p:spPr>
          <a:xfrm>
            <a:off x="320040" y="804672"/>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(1) VALIDEZ</a:t>
            </a:r>
            <a:endParaRPr lang="en-US" sz="2000" dirty="0">
              <a:latin typeface="Tw Cen MT" panose="020B0602020104020603" pitchFamily="34" charset="0"/>
            </a:endParaRPr>
          </a:p>
        </p:txBody>
      </p:sp>
      <p:sp>
        <p:nvSpPr>
          <p:cNvPr id="7" name="Shape 5"/>
          <p:cNvSpPr/>
          <p:nvPr/>
        </p:nvSpPr>
        <p:spPr>
          <a:xfrm>
            <a:off x="320040" y="1188720"/>
            <a:ext cx="8503920" cy="233172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8" name="Text 6"/>
          <p:cNvSpPr/>
          <p:nvPr/>
        </p:nvSpPr>
        <p:spPr>
          <a:xfrm>
            <a:off x="502920" y="1280160"/>
            <a:ext cx="8229600" cy="2148840"/>
          </a:xfrm>
          <a:prstGeom prst="rect">
            <a:avLst/>
          </a:prstGeom>
          <a:noFill/>
          <a:ln/>
        </p:spPr>
        <p:txBody>
          <a:bodyPr wrap="square" rtlCol="0" anchor="t"/>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¿Realmente estamos midiendo las cosas correctas para este </a:t>
            </a:r>
            <a:r>
              <a:rPr lang="en-US" b="1" dirty="0" err="1">
                <a:solidFill>
                  <a:srgbClr val="222222"/>
                </a:solidFill>
                <a:latin typeface="Tw Cen MT" panose="020B0602020104020603" pitchFamily="34" charset="0"/>
                <a:ea typeface="Tw Cen MT" pitchFamily="34" charset="-122"/>
                <a:cs typeface="Tw Cen MT" pitchFamily="34" charset="-120"/>
              </a:rPr>
              <a:t>rol</a:t>
            </a:r>
            <a:r>
              <a:rPr lang="en-US" b="1" dirty="0">
                <a:solidFill>
                  <a:srgbClr val="222222"/>
                </a:solidFill>
                <a:latin typeface="Tw Cen MT" panose="020B0602020104020603" pitchFamily="34" charset="0"/>
                <a:ea typeface="Tw Cen MT" pitchFamily="34" charset="-122"/>
                <a:cs typeface="Tw Cen MT" pitchFamily="34" charset="-120"/>
              </a:rPr>
              <a:t>?</a:t>
            </a: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Criterios por los cuales se define el "desempeño" en términos de los estándares deseados.</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Precisión con que las medidas aplicadas reflejan o predicen el desempeño real.</a:t>
            </a:r>
          </a:p>
          <a:p>
            <a:pPr marL="0" indent="0">
              <a:buNone/>
            </a:pPr>
            <a:endParaRPr lang="en-US" dirty="0">
              <a:latin typeface="Tw Cen MT" panose="020B0602020104020603" pitchFamily="34" charset="0"/>
            </a:endParaRPr>
          </a:p>
          <a:p>
            <a:r>
              <a:rPr lang="en-US" dirty="0">
                <a:solidFill>
                  <a:srgbClr val="222222"/>
                </a:solidFill>
                <a:latin typeface="Tw Cen MT" panose="020B0602020104020603" pitchFamily="34" charset="0"/>
                <a:ea typeface="Tw Cen MT" pitchFamily="34" charset="-122"/>
                <a:cs typeface="Tw Cen MT" pitchFamily="34" charset="-120"/>
              </a:rPr>
              <a:t>• </a:t>
            </a:r>
            <a:r>
              <a:rPr lang="es-AR" b="1" dirty="0">
                <a:latin typeface="Tw Cen MT" panose="020B0602020104020603" pitchFamily="34" charset="0"/>
              </a:rPr>
              <a:t>Un sistema es válido si los estándares y medidas de desempeño son directamente relevantes para lo que se requiere en el trabajo, posición o rol involucrado. ¿Realmente estamos midiendo las cosas correctas para este rol?</a:t>
            </a: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9" name="Shape 7"/>
          <p:cNvSpPr/>
          <p:nvPr/>
        </p:nvSpPr>
        <p:spPr>
          <a:xfrm>
            <a:off x="320040" y="3639312"/>
            <a:ext cx="8503920" cy="384048"/>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10" name="Text 8"/>
          <p:cNvSpPr/>
          <p:nvPr/>
        </p:nvSpPr>
        <p:spPr>
          <a:xfrm>
            <a:off x="320040" y="3639312"/>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(2) FIABILIDAD</a:t>
            </a:r>
            <a:endParaRPr lang="en-US" sz="2000" dirty="0">
              <a:latin typeface="Tw Cen MT" panose="020B0602020104020603" pitchFamily="34" charset="0"/>
            </a:endParaRPr>
          </a:p>
        </p:txBody>
      </p:sp>
      <p:sp>
        <p:nvSpPr>
          <p:cNvPr id="11" name="Shape 9"/>
          <p:cNvSpPr/>
          <p:nvPr/>
        </p:nvSpPr>
        <p:spPr>
          <a:xfrm>
            <a:off x="320040" y="4023360"/>
            <a:ext cx="8503920" cy="233172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2" name="Text 10"/>
          <p:cNvSpPr/>
          <p:nvPr/>
        </p:nvSpPr>
        <p:spPr>
          <a:xfrm>
            <a:off x="502920" y="4114800"/>
            <a:ext cx="8229600" cy="2148840"/>
          </a:xfrm>
          <a:prstGeom prst="rect">
            <a:avLst/>
          </a:prstGeom>
          <a:noFill/>
          <a:ln/>
        </p:spPr>
        <p:txBody>
          <a:bodyPr wrap="square" rtlCol="0" anchor="t"/>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a:t>
            </a:r>
            <a:r>
              <a:rPr lang="en-US" sz="2000" b="1" dirty="0">
                <a:solidFill>
                  <a:srgbClr val="222222"/>
                </a:solidFill>
                <a:latin typeface="Tw Cen MT" panose="020B0602020104020603" pitchFamily="34" charset="0"/>
                <a:ea typeface="Tw Cen MT" pitchFamily="34" charset="-122"/>
                <a:cs typeface="Tw Cen MT" pitchFamily="34" charset="-120"/>
              </a:rPr>
              <a:t>Produce el instrumento los mismos resultados en condiciones equivalentes?</a:t>
            </a:r>
            <a:endParaRPr lang="en-US" sz="2000" b="1"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 </a:t>
            </a:r>
            <a:r>
              <a:rPr lang="en-US" sz="2000" b="1" dirty="0">
                <a:solidFill>
                  <a:srgbClr val="222222"/>
                </a:solidFill>
                <a:latin typeface="Tw Cen MT" panose="020B0602020104020603" pitchFamily="34" charset="0"/>
                <a:ea typeface="Tw Cen MT" pitchFamily="34" charset="-122"/>
                <a:cs typeface="Tw Cen MT" pitchFamily="34" charset="-120"/>
              </a:rPr>
              <a:t>Alta fiabilidad</a:t>
            </a:r>
            <a:r>
              <a:rPr lang="en-US" sz="2000" dirty="0">
                <a:solidFill>
                  <a:srgbClr val="222222"/>
                </a:solidFill>
                <a:latin typeface="Tw Cen MT" panose="020B0602020104020603" pitchFamily="34" charset="0"/>
                <a:ea typeface="Tw Cen MT" pitchFamily="34" charset="-122"/>
                <a:cs typeface="Tw Cen MT" pitchFamily="34" charset="-120"/>
              </a:rPr>
              <a:t>: produce repetidamente las mismas puntuaciones a lo largo del tiempo para un mismo nivel de rendimiento.</a:t>
            </a:r>
            <a:endParaRPr lang="en-US" sz="2000" dirty="0">
              <a:latin typeface="Tw Cen MT" panose="020B0602020104020603" pitchFamily="34" charset="0"/>
            </a:endParaRPr>
          </a:p>
          <a:p>
            <a:pPr marL="0" indent="0">
              <a:buNone/>
            </a:pPr>
            <a:r>
              <a:rPr lang="en-US" sz="2000" b="1" dirty="0">
                <a:solidFill>
                  <a:srgbClr val="222222"/>
                </a:solidFill>
                <a:latin typeface="Tw Cen MT" panose="020B0602020104020603" pitchFamily="34" charset="0"/>
                <a:ea typeface="Tw Cen MT" pitchFamily="34" charset="-122"/>
                <a:cs typeface="Tw Cen MT" pitchFamily="34" charset="-120"/>
              </a:rPr>
              <a:t>• Alta fiabilidad</a:t>
            </a:r>
            <a:r>
              <a:rPr lang="en-US" sz="2000" dirty="0">
                <a:solidFill>
                  <a:srgbClr val="222222"/>
                </a:solidFill>
                <a:latin typeface="Tw Cen MT" panose="020B0602020104020603" pitchFamily="34" charset="0"/>
                <a:ea typeface="Tw Cen MT" pitchFamily="34" charset="-122"/>
                <a:cs typeface="Tw Cen MT" pitchFamily="34" charset="-120"/>
              </a:rPr>
              <a:t>: produce las mismas puntuaciones cuando es administrado por diferentes evaluadores.</a:t>
            </a:r>
            <a:endParaRPr lang="en-US" sz="2000" dirty="0">
              <a:latin typeface="Tw Cen MT" panose="020B0602020104020603" pitchFamily="34" charset="0"/>
            </a:endParaRPr>
          </a:p>
        </p:txBody>
      </p:sp>
      <p:sp>
        <p:nvSpPr>
          <p:cNvPr id="13" name="Text 11"/>
          <p:cNvSpPr/>
          <p:nvPr/>
        </p:nvSpPr>
        <p:spPr>
          <a:xfrm>
            <a:off x="274320" y="6446520"/>
            <a:ext cx="8686800" cy="274320"/>
          </a:xfrm>
          <a:prstGeom prst="rect">
            <a:avLst/>
          </a:prstGeom>
          <a:noFill/>
          <a:ln/>
        </p:spPr>
        <p:txBody>
          <a:bodyPr wrap="square" rtlCol="0" anchor="ctr"/>
          <a:lstStyle/>
          <a:p>
            <a:pPr marL="0" indent="0">
              <a:buNone/>
            </a:pPr>
            <a:r>
              <a:rPr lang="en-US" sz="2000" i="1" dirty="0">
                <a:solidFill>
                  <a:srgbClr val="888888"/>
                </a:solidFill>
                <a:latin typeface="Tw Cen MT" panose="020B0602020104020603" pitchFamily="34" charset="0"/>
                <a:ea typeface="Tw Cen MT" pitchFamily="34" charset="-122"/>
                <a:cs typeface="Tw Cen MT" pitchFamily="34" charset="-120"/>
              </a:rPr>
              <a:t>Shields, J. Managing Employee Performance and Reward. Cambridge University Press.</a:t>
            </a:r>
            <a:endParaRPr lang="en-US" sz="2000" dirty="0">
              <a:latin typeface="Tw Cen MT" panose="020B06020201040206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Eficacia del Sistema de </a:t>
            </a:r>
            <a:r>
              <a:rPr lang="en-US" sz="2000" b="1" dirty="0" err="1">
                <a:solidFill>
                  <a:srgbClr val="FFFFFF"/>
                </a:solidFill>
                <a:latin typeface="Tw Cen MT" panose="020B0602020104020603" pitchFamily="34" charset="0"/>
                <a:ea typeface="Tw Cen MT" pitchFamily="34" charset="-122"/>
                <a:cs typeface="Tw Cen MT" pitchFamily="34" charset="-120"/>
              </a:rPr>
              <a:t>Evaluación</a:t>
            </a:r>
            <a:endParaRPr lang="en-US" sz="2000" dirty="0">
              <a:latin typeface="Tw Cen MT" panose="020B0602020104020603" pitchFamily="34" charset="0"/>
            </a:endParaRPr>
          </a:p>
        </p:txBody>
      </p:sp>
      <p:sp>
        <p:nvSpPr>
          <p:cNvPr id="5" name="Shape 3"/>
          <p:cNvSpPr/>
          <p:nvPr/>
        </p:nvSpPr>
        <p:spPr>
          <a:xfrm>
            <a:off x="320040" y="804672"/>
            <a:ext cx="8503920" cy="384048"/>
          </a:xfrm>
          <a:prstGeom prst="rect">
            <a:avLst/>
          </a:prstGeom>
          <a:solidFill>
            <a:srgbClr val="1B4332"/>
          </a:solidFill>
          <a:ln w="12700">
            <a:solidFill>
              <a:srgbClr val="1B4332"/>
            </a:solidFill>
            <a:prstDash val="solid"/>
          </a:ln>
        </p:spPr>
        <p:txBody>
          <a:bodyPr/>
          <a:lstStyle/>
          <a:p>
            <a:endParaRPr lang="en-US">
              <a:latin typeface="Tw Cen MT" panose="020B0602020104020603" pitchFamily="34" charset="0"/>
            </a:endParaRPr>
          </a:p>
        </p:txBody>
      </p:sp>
      <p:sp>
        <p:nvSpPr>
          <p:cNvPr id="6" name="Text 4"/>
          <p:cNvSpPr/>
          <p:nvPr/>
        </p:nvSpPr>
        <p:spPr>
          <a:xfrm>
            <a:off x="320040" y="804672"/>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(3) COSTOS</a:t>
            </a:r>
            <a:endParaRPr lang="en-US" dirty="0">
              <a:latin typeface="Tw Cen MT" panose="020B0602020104020603" pitchFamily="34" charset="0"/>
            </a:endParaRPr>
          </a:p>
        </p:txBody>
      </p:sp>
      <p:sp>
        <p:nvSpPr>
          <p:cNvPr id="7" name="Shape 5"/>
          <p:cNvSpPr/>
          <p:nvPr/>
        </p:nvSpPr>
        <p:spPr>
          <a:xfrm>
            <a:off x="320040" y="1188720"/>
            <a:ext cx="8503920" cy="233172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8" name="Text 6"/>
          <p:cNvSpPr/>
          <p:nvPr/>
        </p:nvSpPr>
        <p:spPr>
          <a:xfrm>
            <a:off x="502920" y="1280160"/>
            <a:ext cx="8229600" cy="2148840"/>
          </a:xfrm>
          <a:prstGeom prst="rect">
            <a:avLst/>
          </a:prstGeom>
          <a:noFill/>
          <a:ln/>
        </p:spPr>
        <p:txBody>
          <a:bodyPr wrap="square" rtlCol="0" anchor="t"/>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¿Vale la pena la inversión en precisión?</a:t>
            </a:r>
            <a:endParaRPr lang="en-US" b="1"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Evaluar el tiempo y los gastos que conlleva la búsqueda de instrumentos de medición cada vez más fiables.</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Los altos costos de medición pueden reducir los beneficios netos de vincular la paga al rendimiento.</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El aumento de la compensación de incentivos debe ir acompañado del aumento en la precisión con que se mide </a:t>
            </a:r>
            <a:r>
              <a:rPr lang="en-US" dirty="0" err="1">
                <a:solidFill>
                  <a:srgbClr val="222222"/>
                </a:solidFill>
                <a:latin typeface="Tw Cen MT" panose="020B0602020104020603" pitchFamily="34" charset="0"/>
                <a:ea typeface="Tw Cen MT" pitchFamily="34" charset="-122"/>
                <a:cs typeface="Tw Cen MT" pitchFamily="34" charset="-120"/>
              </a:rPr>
              <a:t>el</a:t>
            </a:r>
            <a:r>
              <a:rPr lang="en-US" dirty="0">
                <a:solidFill>
                  <a:srgbClr val="222222"/>
                </a:solidFill>
                <a:latin typeface="Tw Cen MT" panose="020B0602020104020603" pitchFamily="34" charset="0"/>
                <a:ea typeface="Tw Cen MT" pitchFamily="34" charset="-122"/>
                <a:cs typeface="Tw Cen MT" pitchFamily="34" charset="-120"/>
              </a:rPr>
              <a:t> </a:t>
            </a:r>
            <a:r>
              <a:rPr lang="en-US" dirty="0" err="1">
                <a:solidFill>
                  <a:srgbClr val="222222"/>
                </a:solidFill>
                <a:latin typeface="Tw Cen MT" panose="020B0602020104020603" pitchFamily="34" charset="0"/>
                <a:ea typeface="Tw Cen MT" pitchFamily="34" charset="-122"/>
                <a:cs typeface="Tw Cen MT" pitchFamily="34" charset="-120"/>
              </a:rPr>
              <a:t>esfuerzo</a:t>
            </a:r>
            <a:r>
              <a:rPr lang="en-US" dirty="0">
                <a:solidFill>
                  <a:srgbClr val="222222"/>
                </a:solidFill>
                <a:latin typeface="Tw Cen MT" panose="020B0602020104020603" pitchFamily="34" charset="0"/>
                <a:ea typeface="Tw Cen MT" pitchFamily="34" charset="-122"/>
                <a:cs typeface="Tw Cen MT" pitchFamily="34" charset="-120"/>
              </a:rPr>
              <a:t> (VER </a:t>
            </a:r>
            <a:r>
              <a:rPr lang="en-US" dirty="0" err="1">
                <a:solidFill>
                  <a:srgbClr val="222222"/>
                </a:solidFill>
                <a:latin typeface="Tw Cen MT" panose="020B0602020104020603" pitchFamily="34" charset="0"/>
                <a:ea typeface="Tw Cen MT" pitchFamily="34" charset="-122"/>
                <a:cs typeface="Tw Cen MT" pitchFamily="34" charset="-120"/>
              </a:rPr>
              <a:t>modelo</a:t>
            </a:r>
            <a:r>
              <a:rPr lang="en-US" dirty="0">
                <a:solidFill>
                  <a:srgbClr val="222222"/>
                </a:solidFill>
                <a:latin typeface="Tw Cen MT" panose="020B0602020104020603" pitchFamily="34" charset="0"/>
                <a:ea typeface="Tw Cen MT" pitchFamily="34" charset="-122"/>
                <a:cs typeface="Tw Cen MT" pitchFamily="34" charset="-120"/>
              </a:rPr>
              <a:t> de </a:t>
            </a:r>
            <a:r>
              <a:rPr lang="en-US" dirty="0" err="1">
                <a:solidFill>
                  <a:srgbClr val="222222"/>
                </a:solidFill>
                <a:latin typeface="Tw Cen MT" panose="020B0602020104020603" pitchFamily="34" charset="0"/>
                <a:ea typeface="Tw Cen MT" pitchFamily="34" charset="-122"/>
                <a:cs typeface="Tw Cen MT" pitchFamily="34" charset="-120"/>
              </a:rPr>
              <a:t>compensación</a:t>
            </a:r>
            <a:r>
              <a:rPr lang="en-US" dirty="0">
                <a:solidFill>
                  <a:srgbClr val="222222"/>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9" name="Shape 7"/>
          <p:cNvSpPr/>
          <p:nvPr/>
        </p:nvSpPr>
        <p:spPr>
          <a:xfrm>
            <a:off x="320040" y="3639312"/>
            <a:ext cx="8503920" cy="384048"/>
          </a:xfrm>
          <a:prstGeom prst="rect">
            <a:avLst/>
          </a:prstGeom>
          <a:solidFill>
            <a:srgbClr val="5C4033"/>
          </a:solidFill>
          <a:ln w="12700">
            <a:solidFill>
              <a:srgbClr val="5C4033"/>
            </a:solidFill>
            <a:prstDash val="solid"/>
          </a:ln>
        </p:spPr>
        <p:txBody>
          <a:bodyPr/>
          <a:lstStyle/>
          <a:p>
            <a:endParaRPr lang="en-US">
              <a:latin typeface="Tw Cen MT" panose="020B0602020104020603" pitchFamily="34" charset="0"/>
            </a:endParaRPr>
          </a:p>
        </p:txBody>
      </p:sp>
      <p:sp>
        <p:nvSpPr>
          <p:cNvPr id="10" name="Text 8"/>
          <p:cNvSpPr/>
          <p:nvPr/>
        </p:nvSpPr>
        <p:spPr>
          <a:xfrm>
            <a:off x="320040" y="3639312"/>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(4) EQUIDAD — "Justicia Organizacional"</a:t>
            </a:r>
            <a:endParaRPr lang="en-US" dirty="0">
              <a:latin typeface="Tw Cen MT" panose="020B0602020104020603" pitchFamily="34" charset="0"/>
            </a:endParaRPr>
          </a:p>
        </p:txBody>
      </p:sp>
      <p:sp>
        <p:nvSpPr>
          <p:cNvPr id="11" name="Shape 9"/>
          <p:cNvSpPr/>
          <p:nvPr/>
        </p:nvSpPr>
        <p:spPr>
          <a:xfrm>
            <a:off x="320040" y="4023360"/>
            <a:ext cx="8503920" cy="233172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2" name="Text 10"/>
          <p:cNvSpPr/>
          <p:nvPr/>
        </p:nvSpPr>
        <p:spPr>
          <a:xfrm>
            <a:off x="502920" y="4114800"/>
            <a:ext cx="8229600" cy="2148840"/>
          </a:xfrm>
          <a:prstGeom prst="rect">
            <a:avLst/>
          </a:prstGeom>
          <a:noFill/>
          <a:ln/>
        </p:spPr>
        <p:txBody>
          <a:bodyPr wrap="square" rtlCol="0" anchor="t"/>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¿Los empleados perciben el sistema como justo?</a:t>
            </a:r>
            <a:endParaRPr lang="en-US" b="1"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Se centra en la justicia percibida por los evaluados, no solo en la objetividad técnica del instrumento.</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Un sistema técnicamente válido pero percibido como injusto genera desmotivación y resistencia.</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La legitimidad del proceso es tan importante como la precisión del resultado.</a:t>
            </a:r>
            <a:endParaRPr lang="en-US" dirty="0">
              <a:latin typeface="Tw Cen MT" panose="020B0602020104020603" pitchFamily="34" charset="0"/>
            </a:endParaRPr>
          </a:p>
        </p:txBody>
      </p:sp>
      <p:sp>
        <p:nvSpPr>
          <p:cNvPr id="13" name="Text 11"/>
          <p:cNvSpPr/>
          <p:nvPr/>
        </p:nvSpPr>
        <p:spPr>
          <a:xfrm>
            <a:off x="320040" y="6436895"/>
            <a:ext cx="8686800" cy="274320"/>
          </a:xfrm>
          <a:prstGeom prst="rect">
            <a:avLst/>
          </a:prstGeom>
          <a:noFill/>
          <a:ln/>
        </p:spPr>
        <p:txBody>
          <a:bodyPr wrap="square" rtlCol="0" anchor="ctr"/>
          <a:lstStyle/>
          <a:p>
            <a:pPr marL="0" indent="0">
              <a:buNone/>
            </a:pPr>
            <a:r>
              <a:rPr lang="en-US" i="1" dirty="0">
                <a:solidFill>
                  <a:srgbClr val="888888"/>
                </a:solidFill>
                <a:latin typeface="Tw Cen MT" panose="020B0602020104020603" pitchFamily="34" charset="0"/>
                <a:ea typeface="Tw Cen MT" pitchFamily="34" charset="-122"/>
                <a:cs typeface="Tw Cen MT" pitchFamily="34" charset="-120"/>
              </a:rPr>
              <a:t>Shields, J. Managing Employee Performance and Reward. Cambridge University Press.</a:t>
            </a:r>
            <a:endParaRPr lang="en-US" dirty="0">
              <a:latin typeface="Tw Cen MT" panose="020B06020201040206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45719"/>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Modelo de Producción y Compensación</a:t>
            </a:r>
            <a:endParaRPr lang="en-US" sz="2400" dirty="0">
              <a:latin typeface="Tw Cen MT" panose="020B0602020104020603" pitchFamily="34" charset="0"/>
            </a:endParaRPr>
          </a:p>
        </p:txBody>
      </p:sp>
      <p:sp>
        <p:nvSpPr>
          <p:cNvPr id="5" name="Shape 3"/>
          <p:cNvSpPr/>
          <p:nvPr/>
        </p:nvSpPr>
        <p:spPr>
          <a:xfrm>
            <a:off x="320040" y="777240"/>
            <a:ext cx="8503920" cy="229755"/>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6" name="Text 4"/>
          <p:cNvSpPr/>
          <p:nvPr/>
        </p:nvSpPr>
        <p:spPr>
          <a:xfrm>
            <a:off x="320040" y="777240"/>
            <a:ext cx="8503920" cy="229755"/>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Variables del Modelo</a:t>
            </a:r>
            <a:endParaRPr lang="en-US" sz="2000" dirty="0">
              <a:latin typeface="Tw Cen MT" panose="020B0602020104020603" pitchFamily="34" charset="0"/>
            </a:endParaRPr>
          </a:p>
        </p:txBody>
      </p:sp>
      <p:sp>
        <p:nvSpPr>
          <p:cNvPr id="7" name="Shape 5"/>
          <p:cNvSpPr/>
          <p:nvPr/>
        </p:nvSpPr>
        <p:spPr>
          <a:xfrm>
            <a:off x="320040" y="1298448"/>
            <a:ext cx="822960" cy="328221"/>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8" name="Text 6"/>
          <p:cNvSpPr/>
          <p:nvPr/>
        </p:nvSpPr>
        <p:spPr>
          <a:xfrm>
            <a:off x="320040" y="1298448"/>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Q</a:t>
            </a:r>
            <a:endParaRPr lang="en-US" sz="2000" dirty="0">
              <a:latin typeface="Tw Cen MT" panose="020B0602020104020603" pitchFamily="34" charset="0"/>
            </a:endParaRPr>
          </a:p>
        </p:txBody>
      </p:sp>
      <p:sp>
        <p:nvSpPr>
          <p:cNvPr id="9" name="Shape 7"/>
          <p:cNvSpPr/>
          <p:nvPr/>
        </p:nvSpPr>
        <p:spPr>
          <a:xfrm>
            <a:off x="1143000" y="1298448"/>
            <a:ext cx="7680960" cy="328221"/>
          </a:xfrm>
          <a:prstGeom prst="rect">
            <a:avLst/>
          </a:prstGeom>
          <a:solidFill>
            <a:srgbClr val="F8F8F8"/>
          </a:solidFill>
          <a:ln w="12700">
            <a:solidFill>
              <a:srgbClr val="DDDDDD"/>
            </a:solidFill>
            <a:prstDash val="solid"/>
          </a:ln>
        </p:spPr>
        <p:txBody>
          <a:bodyPr/>
          <a:lstStyle/>
          <a:p>
            <a:endParaRPr lang="en-US" sz="2000">
              <a:latin typeface="Tw Cen MT" panose="020B0602020104020603" pitchFamily="34" charset="0"/>
            </a:endParaRPr>
          </a:p>
        </p:txBody>
      </p:sp>
      <p:sp>
        <p:nvSpPr>
          <p:cNvPr id="10" name="Text 8"/>
          <p:cNvSpPr/>
          <p:nvPr/>
        </p:nvSpPr>
        <p:spPr>
          <a:xfrm>
            <a:off x="1280160" y="1298448"/>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Output producido por el empleado</a:t>
            </a:r>
            <a:endParaRPr lang="en-US" sz="2000" dirty="0">
              <a:latin typeface="Tw Cen MT" panose="020B0602020104020603" pitchFamily="34" charset="0"/>
            </a:endParaRPr>
          </a:p>
        </p:txBody>
      </p:sp>
      <p:sp>
        <p:nvSpPr>
          <p:cNvPr id="11" name="Shape 9"/>
          <p:cNvSpPr/>
          <p:nvPr/>
        </p:nvSpPr>
        <p:spPr>
          <a:xfrm>
            <a:off x="320040" y="1956816"/>
            <a:ext cx="822960" cy="328221"/>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12" name="Text 10"/>
          <p:cNvSpPr/>
          <p:nvPr/>
        </p:nvSpPr>
        <p:spPr>
          <a:xfrm>
            <a:off x="320040" y="1956816"/>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a:t>
            </a:r>
            <a:endParaRPr lang="en-US" sz="2000" dirty="0">
              <a:latin typeface="Tw Cen MT" panose="020B0602020104020603" pitchFamily="34" charset="0"/>
            </a:endParaRPr>
          </a:p>
        </p:txBody>
      </p:sp>
      <p:sp>
        <p:nvSpPr>
          <p:cNvPr id="13" name="Shape 11"/>
          <p:cNvSpPr/>
          <p:nvPr/>
        </p:nvSpPr>
        <p:spPr>
          <a:xfrm>
            <a:off x="1143000" y="1956816"/>
            <a:ext cx="7680960" cy="328221"/>
          </a:xfrm>
          <a:prstGeom prst="rect">
            <a:avLst/>
          </a:prstGeom>
          <a:solidFill>
            <a:srgbClr val="F0F4F8"/>
          </a:solidFill>
          <a:ln w="12700">
            <a:solidFill>
              <a:srgbClr val="DDDDDD"/>
            </a:solidFill>
            <a:prstDash val="solid"/>
          </a:ln>
        </p:spPr>
        <p:txBody>
          <a:bodyPr/>
          <a:lstStyle/>
          <a:p>
            <a:endParaRPr lang="en-US" sz="2000">
              <a:latin typeface="Tw Cen MT" panose="020B0602020104020603" pitchFamily="34" charset="0"/>
            </a:endParaRPr>
          </a:p>
        </p:txBody>
      </p:sp>
      <p:sp>
        <p:nvSpPr>
          <p:cNvPr id="14" name="Text 12"/>
          <p:cNvSpPr/>
          <p:nvPr/>
        </p:nvSpPr>
        <p:spPr>
          <a:xfrm>
            <a:off x="1280160" y="1956816"/>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Esfuerzo realizado por el empleado (no observable)</a:t>
            </a:r>
            <a:endParaRPr lang="en-US" sz="2000" dirty="0">
              <a:latin typeface="Tw Cen MT" panose="020B0602020104020603" pitchFamily="34" charset="0"/>
            </a:endParaRPr>
          </a:p>
        </p:txBody>
      </p:sp>
      <p:sp>
        <p:nvSpPr>
          <p:cNvPr id="15" name="Shape 13"/>
          <p:cNvSpPr/>
          <p:nvPr/>
        </p:nvSpPr>
        <p:spPr>
          <a:xfrm>
            <a:off x="320040" y="2615184"/>
            <a:ext cx="822960" cy="328221"/>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6" name="Text 14"/>
          <p:cNvSpPr/>
          <p:nvPr/>
        </p:nvSpPr>
        <p:spPr>
          <a:xfrm>
            <a:off x="320040" y="2615184"/>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μ</a:t>
            </a:r>
            <a:endParaRPr lang="en-US" sz="2000" dirty="0">
              <a:latin typeface="Tw Cen MT" panose="020B0602020104020603" pitchFamily="34" charset="0"/>
            </a:endParaRPr>
          </a:p>
        </p:txBody>
      </p:sp>
      <p:sp>
        <p:nvSpPr>
          <p:cNvPr id="17" name="Shape 15"/>
          <p:cNvSpPr/>
          <p:nvPr/>
        </p:nvSpPr>
        <p:spPr>
          <a:xfrm>
            <a:off x="1143000" y="2483318"/>
            <a:ext cx="7680960" cy="669276"/>
          </a:xfrm>
          <a:prstGeom prst="rect">
            <a:avLst/>
          </a:prstGeom>
          <a:solidFill>
            <a:srgbClr val="F8F8F8"/>
          </a:solidFill>
          <a:ln w="12700">
            <a:solidFill>
              <a:srgbClr val="DDDDDD"/>
            </a:solidFill>
            <a:prstDash val="solid"/>
          </a:ln>
        </p:spPr>
        <p:txBody>
          <a:bodyPr/>
          <a:lstStyle/>
          <a:p>
            <a:endParaRPr lang="en-US" sz="2000">
              <a:latin typeface="Tw Cen MT" panose="020B0602020104020603" pitchFamily="34" charset="0"/>
            </a:endParaRPr>
          </a:p>
        </p:txBody>
      </p:sp>
      <p:sp>
        <p:nvSpPr>
          <p:cNvPr id="18" name="Text 16"/>
          <p:cNvSpPr/>
          <p:nvPr/>
        </p:nvSpPr>
        <p:spPr>
          <a:xfrm>
            <a:off x="1280160" y="2615184"/>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Variable aleatoria — factores impredecibles que influyen en el output (no observable)</a:t>
            </a:r>
            <a:endParaRPr lang="en-US" sz="2000" dirty="0">
              <a:latin typeface="Tw Cen MT" panose="020B0602020104020603" pitchFamily="34" charset="0"/>
            </a:endParaRPr>
          </a:p>
        </p:txBody>
      </p:sp>
      <p:sp>
        <p:nvSpPr>
          <p:cNvPr id="19" name="Shape 17"/>
          <p:cNvSpPr/>
          <p:nvPr/>
        </p:nvSpPr>
        <p:spPr>
          <a:xfrm>
            <a:off x="320040" y="3273552"/>
            <a:ext cx="822960" cy="328221"/>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20" name="Text 18"/>
          <p:cNvSpPr/>
          <p:nvPr/>
        </p:nvSpPr>
        <p:spPr>
          <a:xfrm>
            <a:off x="320040" y="3273552"/>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α</a:t>
            </a:r>
            <a:endParaRPr lang="en-US" sz="2000" dirty="0">
              <a:latin typeface="Tw Cen MT" panose="020B0602020104020603" pitchFamily="34" charset="0"/>
            </a:endParaRPr>
          </a:p>
        </p:txBody>
      </p:sp>
      <p:sp>
        <p:nvSpPr>
          <p:cNvPr id="21" name="Shape 19"/>
          <p:cNvSpPr/>
          <p:nvPr/>
        </p:nvSpPr>
        <p:spPr>
          <a:xfrm>
            <a:off x="1143000" y="3273552"/>
            <a:ext cx="7680960" cy="328221"/>
          </a:xfrm>
          <a:prstGeom prst="rect">
            <a:avLst/>
          </a:prstGeom>
          <a:solidFill>
            <a:srgbClr val="F0F4F8"/>
          </a:solidFill>
          <a:ln w="12700">
            <a:solidFill>
              <a:srgbClr val="DDDDDD"/>
            </a:solidFill>
            <a:prstDash val="solid"/>
          </a:ln>
        </p:spPr>
        <p:txBody>
          <a:bodyPr/>
          <a:lstStyle/>
          <a:p>
            <a:endParaRPr lang="en-US" sz="2000">
              <a:latin typeface="Tw Cen MT" panose="020B0602020104020603" pitchFamily="34" charset="0"/>
            </a:endParaRPr>
          </a:p>
        </p:txBody>
      </p:sp>
      <p:sp>
        <p:nvSpPr>
          <p:cNvPr id="22" name="Text 20"/>
          <p:cNvSpPr/>
          <p:nvPr/>
        </p:nvSpPr>
        <p:spPr>
          <a:xfrm>
            <a:off x="1280160" y="3273552"/>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Productividad marginal del empleado (estimable)</a:t>
            </a:r>
            <a:endParaRPr lang="en-US" sz="2000" dirty="0">
              <a:latin typeface="Tw Cen MT" panose="020B0602020104020603" pitchFamily="34" charset="0"/>
            </a:endParaRPr>
          </a:p>
        </p:txBody>
      </p:sp>
      <p:sp>
        <p:nvSpPr>
          <p:cNvPr id="23" name="Shape 21"/>
          <p:cNvSpPr/>
          <p:nvPr/>
        </p:nvSpPr>
        <p:spPr>
          <a:xfrm>
            <a:off x="320040" y="3931920"/>
            <a:ext cx="822960" cy="328221"/>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24" name="Text 22"/>
          <p:cNvSpPr/>
          <p:nvPr/>
        </p:nvSpPr>
        <p:spPr>
          <a:xfrm>
            <a:off x="320040" y="3931920"/>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W</a:t>
            </a:r>
            <a:endParaRPr lang="en-US" sz="2000" dirty="0">
              <a:latin typeface="Tw Cen MT" panose="020B0602020104020603" pitchFamily="34" charset="0"/>
            </a:endParaRPr>
          </a:p>
        </p:txBody>
      </p:sp>
      <p:sp>
        <p:nvSpPr>
          <p:cNvPr id="25" name="Shape 23"/>
          <p:cNvSpPr/>
          <p:nvPr/>
        </p:nvSpPr>
        <p:spPr>
          <a:xfrm>
            <a:off x="1143000" y="3931920"/>
            <a:ext cx="7680960" cy="328221"/>
          </a:xfrm>
          <a:prstGeom prst="rect">
            <a:avLst/>
          </a:prstGeom>
          <a:solidFill>
            <a:srgbClr val="F8F8F8"/>
          </a:solidFill>
          <a:ln w="12700">
            <a:solidFill>
              <a:srgbClr val="DDDDDD"/>
            </a:solidFill>
            <a:prstDash val="solid"/>
          </a:ln>
        </p:spPr>
        <p:txBody>
          <a:bodyPr/>
          <a:lstStyle/>
          <a:p>
            <a:endParaRPr lang="en-US" sz="2000">
              <a:latin typeface="Tw Cen MT" panose="020B0602020104020603" pitchFamily="34" charset="0"/>
            </a:endParaRPr>
          </a:p>
        </p:txBody>
      </p:sp>
      <p:sp>
        <p:nvSpPr>
          <p:cNvPr id="26" name="Text 24"/>
          <p:cNvSpPr/>
          <p:nvPr/>
        </p:nvSpPr>
        <p:spPr>
          <a:xfrm>
            <a:off x="1280160" y="3931920"/>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Parte fija de la compensación</a:t>
            </a:r>
            <a:endParaRPr lang="en-US" sz="2000" dirty="0">
              <a:latin typeface="Tw Cen MT" panose="020B0602020104020603" pitchFamily="34" charset="0"/>
            </a:endParaRPr>
          </a:p>
        </p:txBody>
      </p:sp>
      <p:sp>
        <p:nvSpPr>
          <p:cNvPr id="27" name="Shape 25"/>
          <p:cNvSpPr/>
          <p:nvPr/>
        </p:nvSpPr>
        <p:spPr>
          <a:xfrm>
            <a:off x="320040" y="4590288"/>
            <a:ext cx="822960" cy="328221"/>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28" name="Text 26"/>
          <p:cNvSpPr/>
          <p:nvPr/>
        </p:nvSpPr>
        <p:spPr>
          <a:xfrm>
            <a:off x="320040" y="4590288"/>
            <a:ext cx="822960" cy="328221"/>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β</a:t>
            </a:r>
            <a:endParaRPr lang="en-US" sz="2000" dirty="0">
              <a:latin typeface="Tw Cen MT" panose="020B0602020104020603" pitchFamily="34" charset="0"/>
            </a:endParaRPr>
          </a:p>
        </p:txBody>
      </p:sp>
      <p:sp>
        <p:nvSpPr>
          <p:cNvPr id="29" name="Shape 27"/>
          <p:cNvSpPr/>
          <p:nvPr/>
        </p:nvSpPr>
        <p:spPr>
          <a:xfrm>
            <a:off x="1143000" y="4590288"/>
            <a:ext cx="7680960" cy="328221"/>
          </a:xfrm>
          <a:prstGeom prst="rect">
            <a:avLst/>
          </a:prstGeom>
          <a:solidFill>
            <a:srgbClr val="F0F4F8"/>
          </a:solidFill>
          <a:ln w="12700">
            <a:solidFill>
              <a:srgbClr val="DDDDDD"/>
            </a:solidFill>
            <a:prstDash val="solid"/>
          </a:ln>
        </p:spPr>
        <p:txBody>
          <a:bodyPr/>
          <a:lstStyle/>
          <a:p>
            <a:endParaRPr lang="en-US" sz="2000">
              <a:latin typeface="Tw Cen MT" panose="020B0602020104020603" pitchFamily="34" charset="0"/>
            </a:endParaRPr>
          </a:p>
        </p:txBody>
      </p:sp>
      <p:sp>
        <p:nvSpPr>
          <p:cNvPr id="30" name="Text 28"/>
          <p:cNvSpPr/>
          <p:nvPr/>
        </p:nvSpPr>
        <p:spPr>
          <a:xfrm>
            <a:off x="1280160" y="4590288"/>
            <a:ext cx="7406640" cy="328221"/>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Sensibilidad del pago a la performance</a:t>
            </a:r>
            <a:endParaRPr lang="en-US" sz="2000" dirty="0">
              <a:latin typeface="Tw Cen MT" panose="020B0602020104020603" pitchFamily="34" charset="0"/>
            </a:endParaRPr>
          </a:p>
        </p:txBody>
      </p:sp>
      <p:sp>
        <p:nvSpPr>
          <p:cNvPr id="31" name="Shape 29"/>
          <p:cNvSpPr/>
          <p:nvPr/>
        </p:nvSpPr>
        <p:spPr>
          <a:xfrm>
            <a:off x="320040" y="5128821"/>
            <a:ext cx="8503920" cy="45720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32" name="Text 30"/>
          <p:cNvSpPr/>
          <p:nvPr/>
        </p:nvSpPr>
        <p:spPr>
          <a:xfrm>
            <a:off x="201168" y="5121923"/>
            <a:ext cx="8503920" cy="457200"/>
          </a:xfrm>
          <a:prstGeom prst="rect">
            <a:avLst/>
          </a:prstGeom>
          <a:noFill/>
          <a:ln/>
        </p:spPr>
        <p:txBody>
          <a:bodyPr wrap="square" rtlCol="0" anchor="ctr"/>
          <a:lstStyle/>
          <a:p>
            <a:pPr algn="ctr"/>
            <a:r>
              <a:rPr lang="en-US" sz="2000" b="1" dirty="0" err="1">
                <a:solidFill>
                  <a:srgbClr val="222222"/>
                </a:solidFill>
                <a:latin typeface="Tw Cen MT" panose="020B0602020104020603" pitchFamily="34" charset="0"/>
                <a:ea typeface="Tw Cen MT" pitchFamily="34" charset="-122"/>
                <a:cs typeface="Tw Cen MT" pitchFamily="34" charset="-120"/>
              </a:rPr>
              <a:t>Cantidad</a:t>
            </a:r>
            <a:r>
              <a:rPr lang="en-US" sz="2000" b="1" dirty="0">
                <a:solidFill>
                  <a:srgbClr val="222222"/>
                </a:solidFill>
                <a:latin typeface="Tw Cen MT" panose="020B0602020104020603" pitchFamily="34" charset="0"/>
                <a:ea typeface="Tw Cen MT" pitchFamily="34" charset="-122"/>
                <a:cs typeface="Tw Cen MT" pitchFamily="34" charset="-120"/>
              </a:rPr>
              <a:t> </a:t>
            </a:r>
            <a:r>
              <a:rPr lang="en-US" sz="2000" b="1" dirty="0" err="1">
                <a:solidFill>
                  <a:srgbClr val="222222"/>
                </a:solidFill>
                <a:latin typeface="Tw Cen MT" panose="020B0602020104020603" pitchFamily="34" charset="0"/>
                <a:ea typeface="Tw Cen MT" pitchFamily="34" charset="-122"/>
                <a:cs typeface="Tw Cen MT" pitchFamily="34" charset="-120"/>
              </a:rPr>
              <a:t>producida</a:t>
            </a:r>
            <a:r>
              <a:rPr lang="en-US" sz="2000" b="1" dirty="0">
                <a:solidFill>
                  <a:srgbClr val="222222"/>
                </a:solidFill>
                <a:latin typeface="Tw Cen MT" panose="020B0602020104020603" pitchFamily="34" charset="0"/>
                <a:ea typeface="Tw Cen MT" pitchFamily="34" charset="-122"/>
                <a:cs typeface="Tw Cen MT" pitchFamily="34" charset="-120"/>
              </a:rPr>
              <a:t>:   Q = </a:t>
            </a:r>
            <a:r>
              <a:rPr lang="en-US" sz="2000" b="1" dirty="0">
                <a:latin typeface="Tw Cen MT" panose="020B0602020104020603" pitchFamily="34" charset="0"/>
                <a:ea typeface="Tw Cen MT" pitchFamily="34" charset="-122"/>
                <a:cs typeface="Tw Cen MT" pitchFamily="34" charset="-120"/>
              </a:rPr>
              <a:t>α </a:t>
            </a:r>
            <a:r>
              <a:rPr lang="en-US" sz="2000" b="1" dirty="0">
                <a:solidFill>
                  <a:srgbClr val="222222"/>
                </a:solidFill>
                <a:latin typeface="Tw Cen MT" pitchFamily="34" charset="0"/>
                <a:ea typeface="Tw Cen MT" pitchFamily="34" charset="-122"/>
                <a:cs typeface="Tw Cen MT" pitchFamily="34" charset="-120"/>
              </a:rPr>
              <a:t>e + μ </a:t>
            </a:r>
            <a:endParaRPr lang="en-US" sz="2000" b="1" dirty="0">
              <a:latin typeface="Tw Cen MT" panose="020B0602020104020603" pitchFamily="34" charset="0"/>
            </a:endParaRPr>
          </a:p>
        </p:txBody>
      </p:sp>
      <p:sp>
        <p:nvSpPr>
          <p:cNvPr id="34" name="Shape 29">
            <a:extLst>
              <a:ext uri="{FF2B5EF4-FFF2-40B4-BE49-F238E27FC236}">
                <a16:creationId xmlns:a16="http://schemas.microsoft.com/office/drawing/2014/main" id="{5CD8CB88-E5AB-FA95-456B-20A491DEF57E}"/>
              </a:ext>
            </a:extLst>
          </p:cNvPr>
          <p:cNvSpPr/>
          <p:nvPr/>
        </p:nvSpPr>
        <p:spPr>
          <a:xfrm>
            <a:off x="320040" y="5700081"/>
            <a:ext cx="8503920" cy="45720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35" name="Text 30">
            <a:extLst>
              <a:ext uri="{FF2B5EF4-FFF2-40B4-BE49-F238E27FC236}">
                <a16:creationId xmlns:a16="http://schemas.microsoft.com/office/drawing/2014/main" id="{1A6E78B7-E2CA-B3EC-812D-AACFA7BB9625}"/>
              </a:ext>
            </a:extLst>
          </p:cNvPr>
          <p:cNvSpPr/>
          <p:nvPr/>
        </p:nvSpPr>
        <p:spPr>
          <a:xfrm>
            <a:off x="320040" y="5684841"/>
            <a:ext cx="8503920" cy="457200"/>
          </a:xfrm>
          <a:prstGeom prst="rect">
            <a:avLst/>
          </a:prstGeom>
          <a:noFill/>
          <a:ln/>
        </p:spPr>
        <p:txBody>
          <a:bodyPr wrap="square" rtlCol="0" anchor="ctr"/>
          <a:lstStyle/>
          <a:p>
            <a:pPr marL="0" indent="0" algn="ctr">
              <a:buNone/>
            </a:pPr>
            <a:r>
              <a:rPr lang="en-US" sz="2000" b="1" dirty="0">
                <a:solidFill>
                  <a:srgbClr val="222222"/>
                </a:solidFill>
                <a:latin typeface="Tw Cen MT" panose="020B0602020104020603" pitchFamily="34" charset="0"/>
                <a:ea typeface="Tw Cen MT" pitchFamily="34" charset="-122"/>
                <a:cs typeface="Tw Cen MT" pitchFamily="34" charset="-120"/>
              </a:rPr>
              <a:t>Función de compensación:   W(Q) = W + β·Q</a:t>
            </a:r>
            <a:endParaRPr lang="en-US" sz="2000" dirty="0">
              <a:latin typeface="Tw Cen MT" panose="020B0602020104020603" pitchFamily="34" charset="0"/>
            </a:endParaRPr>
          </a:p>
        </p:txBody>
      </p:sp>
      <p:sp>
        <p:nvSpPr>
          <p:cNvPr id="36" name="Shape 29">
            <a:extLst>
              <a:ext uri="{FF2B5EF4-FFF2-40B4-BE49-F238E27FC236}">
                <a16:creationId xmlns:a16="http://schemas.microsoft.com/office/drawing/2014/main" id="{E1CC50CB-DD19-2C56-8F58-C7BA632CB0CB}"/>
              </a:ext>
            </a:extLst>
          </p:cNvPr>
          <p:cNvSpPr/>
          <p:nvPr/>
        </p:nvSpPr>
        <p:spPr>
          <a:xfrm>
            <a:off x="320040" y="6278721"/>
            <a:ext cx="8503920" cy="457200"/>
          </a:xfrm>
          <a:prstGeom prst="rect">
            <a:avLst/>
          </a:prstGeom>
          <a:solidFill>
            <a:srgbClr val="FDF5E0"/>
          </a:solidFill>
          <a:ln w="12700">
            <a:solidFill>
              <a:srgbClr val="D4A017"/>
            </a:solidFill>
            <a:prstDash val="solid"/>
          </a:ln>
        </p:spPr>
        <p:txBody>
          <a:bodyPr/>
          <a:lstStyle/>
          <a:p>
            <a:endParaRPr lang="en-US" sz="2000">
              <a:latin typeface="Tw Cen MT" panose="020B0602020104020603" pitchFamily="34" charset="0"/>
            </a:endParaRPr>
          </a:p>
        </p:txBody>
      </p:sp>
      <p:sp>
        <p:nvSpPr>
          <p:cNvPr id="37" name="Text 30">
            <a:extLst>
              <a:ext uri="{FF2B5EF4-FFF2-40B4-BE49-F238E27FC236}">
                <a16:creationId xmlns:a16="http://schemas.microsoft.com/office/drawing/2014/main" id="{2E38D5CB-8D1F-FF37-0222-3C5B5FC1C50C}"/>
              </a:ext>
            </a:extLst>
          </p:cNvPr>
          <p:cNvSpPr/>
          <p:nvPr/>
        </p:nvSpPr>
        <p:spPr>
          <a:xfrm>
            <a:off x="320040" y="6263481"/>
            <a:ext cx="8503920" cy="457200"/>
          </a:xfrm>
          <a:prstGeom prst="rect">
            <a:avLst/>
          </a:prstGeom>
          <a:noFill/>
          <a:ln/>
        </p:spPr>
        <p:txBody>
          <a:bodyPr wrap="square" rtlCol="0" anchor="ctr"/>
          <a:lstStyle/>
          <a:p>
            <a:pPr algn="ctr"/>
            <a:r>
              <a:rPr lang="en-US" sz="2000" b="1" dirty="0">
                <a:solidFill>
                  <a:srgbClr val="222222"/>
                </a:solidFill>
                <a:latin typeface="Tw Cen MT" panose="020B0602020104020603" pitchFamily="34" charset="0"/>
                <a:ea typeface="Tw Cen MT" pitchFamily="34" charset="-122"/>
                <a:cs typeface="Tw Cen MT" pitchFamily="34" charset="-120"/>
              </a:rPr>
              <a:t>Función de compensación:   W(Q) = W + β·</a:t>
            </a:r>
            <a:r>
              <a:rPr lang="en-US" sz="2000" b="1" dirty="0">
                <a:latin typeface="Tw Cen MT" panose="020B0602020104020603" pitchFamily="34" charset="0"/>
                <a:ea typeface="Tw Cen MT" pitchFamily="34" charset="-122"/>
                <a:cs typeface="Tw Cen MT" pitchFamily="34" charset="-120"/>
              </a:rPr>
              <a:t> α </a:t>
            </a:r>
            <a:r>
              <a:rPr lang="en-US" sz="2000" b="1" dirty="0">
                <a:solidFill>
                  <a:srgbClr val="222222"/>
                </a:solidFill>
                <a:latin typeface="Tw Cen MT" pitchFamily="34" charset="0"/>
                <a:ea typeface="Tw Cen MT" pitchFamily="34" charset="-122"/>
                <a:cs typeface="Tw Cen MT" pitchFamily="34" charset="-120"/>
              </a:rPr>
              <a:t>e + β· μ</a:t>
            </a:r>
            <a:endParaRPr lang="en-US" sz="2000" dirty="0">
              <a:latin typeface="Tw Cen MT" panose="020B06020201040206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Hipótesis del Modelo (Holmström, 1979)</a:t>
            </a:r>
            <a:endParaRPr lang="en-US" sz="2200" dirty="0"/>
          </a:p>
        </p:txBody>
      </p:sp>
      <p:sp>
        <p:nvSpPr>
          <p:cNvPr id="5" name="Shape 3"/>
          <p:cNvSpPr/>
          <p:nvPr/>
        </p:nvSpPr>
        <p:spPr>
          <a:xfrm>
            <a:off x="320040" y="896112"/>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6" name="Text 4"/>
          <p:cNvSpPr/>
          <p:nvPr/>
        </p:nvSpPr>
        <p:spPr>
          <a:xfrm>
            <a:off x="320040" y="896112"/>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1</a:t>
            </a:r>
            <a:endParaRPr lang="en-US" dirty="0">
              <a:latin typeface="Tw Cen MT" panose="020B0602020104020603" pitchFamily="34" charset="0"/>
            </a:endParaRPr>
          </a:p>
        </p:txBody>
      </p:sp>
      <p:sp>
        <p:nvSpPr>
          <p:cNvPr id="7" name="Text 5"/>
          <p:cNvSpPr/>
          <p:nvPr/>
        </p:nvSpPr>
        <p:spPr>
          <a:xfrm>
            <a:off x="777240" y="804672"/>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Un solo período.</a:t>
            </a:r>
            <a:endParaRPr lang="en-US" dirty="0">
              <a:latin typeface="Tw Cen MT" panose="020B0602020104020603" pitchFamily="34" charset="0"/>
            </a:endParaRPr>
          </a:p>
        </p:txBody>
      </p:sp>
      <p:sp>
        <p:nvSpPr>
          <p:cNvPr id="8" name="Shape 6"/>
          <p:cNvSpPr/>
          <p:nvPr/>
        </p:nvSpPr>
        <p:spPr>
          <a:xfrm>
            <a:off x="320040" y="1517904"/>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9" name="Text 7"/>
          <p:cNvSpPr/>
          <p:nvPr/>
        </p:nvSpPr>
        <p:spPr>
          <a:xfrm>
            <a:off x="320040" y="1517904"/>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2</a:t>
            </a:r>
            <a:endParaRPr lang="en-US" dirty="0">
              <a:latin typeface="Tw Cen MT" panose="020B0602020104020603" pitchFamily="34" charset="0"/>
            </a:endParaRPr>
          </a:p>
        </p:txBody>
      </p:sp>
      <p:sp>
        <p:nvSpPr>
          <p:cNvPr id="10" name="Text 8"/>
          <p:cNvSpPr/>
          <p:nvPr/>
        </p:nvSpPr>
        <p:spPr>
          <a:xfrm>
            <a:off x="777240" y="1426464"/>
            <a:ext cx="8046720" cy="566928"/>
          </a:xfrm>
          <a:prstGeom prst="rect">
            <a:avLst/>
          </a:prstGeom>
          <a:noFill/>
          <a:ln/>
        </p:spPr>
        <p:txBody>
          <a:bodyPr wrap="square" rtlCol="0" anchor="ctr"/>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Q (el output) es observable y es la única medida objetiva de performance. El principal conoce Q, pero no los valores reales de e ni de μ.</a:t>
            </a:r>
            <a:endParaRPr lang="en-US" b="1" dirty="0">
              <a:latin typeface="Tw Cen MT" panose="020B0602020104020603" pitchFamily="34" charset="0"/>
            </a:endParaRPr>
          </a:p>
        </p:txBody>
      </p:sp>
      <p:sp>
        <p:nvSpPr>
          <p:cNvPr id="11" name="Shape 9"/>
          <p:cNvSpPr/>
          <p:nvPr/>
        </p:nvSpPr>
        <p:spPr>
          <a:xfrm>
            <a:off x="320040" y="2139696"/>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2" name="Text 10"/>
          <p:cNvSpPr/>
          <p:nvPr/>
        </p:nvSpPr>
        <p:spPr>
          <a:xfrm>
            <a:off x="320040" y="2139696"/>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3</a:t>
            </a:r>
            <a:endParaRPr lang="en-US" dirty="0">
              <a:latin typeface="Tw Cen MT" panose="020B0602020104020603" pitchFamily="34" charset="0"/>
            </a:endParaRPr>
          </a:p>
        </p:txBody>
      </p:sp>
      <p:sp>
        <p:nvSpPr>
          <p:cNvPr id="13" name="Text 11"/>
          <p:cNvSpPr/>
          <p:nvPr/>
        </p:nvSpPr>
        <p:spPr>
          <a:xfrm>
            <a:off x="777240" y="2048256"/>
            <a:ext cx="8046720" cy="566928"/>
          </a:xfrm>
          <a:prstGeom prst="rect">
            <a:avLst/>
          </a:prstGeom>
          <a:noFill/>
          <a:ln/>
        </p:spPr>
        <p:txBody>
          <a:bodyPr wrap="square" rtlCol="0" anchor="ctr"/>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α (productividad marginal del empleado) puede estimarse.</a:t>
            </a:r>
            <a:endParaRPr lang="en-US" b="1" dirty="0">
              <a:latin typeface="Tw Cen MT" panose="020B0602020104020603" pitchFamily="34" charset="0"/>
            </a:endParaRPr>
          </a:p>
        </p:txBody>
      </p:sp>
      <p:sp>
        <p:nvSpPr>
          <p:cNvPr id="14" name="Shape 12"/>
          <p:cNvSpPr/>
          <p:nvPr/>
        </p:nvSpPr>
        <p:spPr>
          <a:xfrm>
            <a:off x="320040" y="2761488"/>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5" name="Text 13"/>
          <p:cNvSpPr/>
          <p:nvPr/>
        </p:nvSpPr>
        <p:spPr>
          <a:xfrm>
            <a:off x="320040" y="2761488"/>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4</a:t>
            </a:r>
            <a:endParaRPr lang="en-US" dirty="0">
              <a:latin typeface="Tw Cen MT" panose="020B0602020104020603" pitchFamily="34" charset="0"/>
            </a:endParaRPr>
          </a:p>
        </p:txBody>
      </p:sp>
      <p:sp>
        <p:nvSpPr>
          <p:cNvPr id="16" name="Text 14"/>
          <p:cNvSpPr/>
          <p:nvPr/>
        </p:nvSpPr>
        <p:spPr>
          <a:xfrm>
            <a:off x="777240" y="2670048"/>
            <a:ext cx="8046720" cy="566928"/>
          </a:xfrm>
          <a:prstGeom prst="rect">
            <a:avLst/>
          </a:prstGeom>
          <a:noFill/>
          <a:ln/>
        </p:spPr>
        <p:txBody>
          <a:bodyPr wrap="square" rtlCol="0" anchor="ctr"/>
          <a:lstStyle/>
          <a:p>
            <a:pPr marL="0" indent="0">
              <a:buNone/>
            </a:pPr>
            <a:r>
              <a:rPr lang="en-US" b="1" dirty="0">
                <a:solidFill>
                  <a:srgbClr val="222222"/>
                </a:solidFill>
                <a:latin typeface="Tw Cen MT" panose="020B0602020104020603" pitchFamily="34" charset="0"/>
                <a:ea typeface="Tw Cen MT" pitchFamily="34" charset="-122"/>
                <a:cs typeface="Tw Cen MT" pitchFamily="34" charset="-120"/>
              </a:rPr>
              <a:t>e (esfuerzo) y μ (influencias aleatorias) no son observables</a:t>
            </a:r>
            <a:r>
              <a:rPr lang="en-US" dirty="0">
                <a:solidFill>
                  <a:srgbClr val="222222"/>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17" name="Shape 15"/>
          <p:cNvSpPr/>
          <p:nvPr/>
        </p:nvSpPr>
        <p:spPr>
          <a:xfrm>
            <a:off x="320040" y="3383280"/>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8" name="Text 16"/>
          <p:cNvSpPr/>
          <p:nvPr/>
        </p:nvSpPr>
        <p:spPr>
          <a:xfrm>
            <a:off x="320040" y="3383280"/>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5</a:t>
            </a:r>
            <a:endParaRPr lang="en-US" dirty="0">
              <a:latin typeface="Tw Cen MT" panose="020B0602020104020603" pitchFamily="34" charset="0"/>
            </a:endParaRPr>
          </a:p>
        </p:txBody>
      </p:sp>
      <p:sp>
        <p:nvSpPr>
          <p:cNvPr id="19" name="Text 17"/>
          <p:cNvSpPr/>
          <p:nvPr/>
        </p:nvSpPr>
        <p:spPr>
          <a:xfrm>
            <a:off x="777240" y="3291840"/>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No hay otra medida de performance que Q.</a:t>
            </a:r>
            <a:endParaRPr lang="en-US" dirty="0">
              <a:latin typeface="Tw Cen MT" panose="020B0602020104020603" pitchFamily="34" charset="0"/>
            </a:endParaRPr>
          </a:p>
        </p:txBody>
      </p:sp>
      <p:sp>
        <p:nvSpPr>
          <p:cNvPr id="20" name="Shape 18"/>
          <p:cNvSpPr/>
          <p:nvPr/>
        </p:nvSpPr>
        <p:spPr>
          <a:xfrm>
            <a:off x="320040" y="4005072"/>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21" name="Text 19"/>
          <p:cNvSpPr/>
          <p:nvPr/>
        </p:nvSpPr>
        <p:spPr>
          <a:xfrm>
            <a:off x="320040" y="4005072"/>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6</a:t>
            </a:r>
            <a:endParaRPr lang="en-US" dirty="0">
              <a:latin typeface="Tw Cen MT" panose="020B0602020104020603" pitchFamily="34" charset="0"/>
            </a:endParaRPr>
          </a:p>
        </p:txBody>
      </p:sp>
      <p:sp>
        <p:nvSpPr>
          <p:cNvPr id="22" name="Text 20"/>
          <p:cNvSpPr/>
          <p:nvPr/>
        </p:nvSpPr>
        <p:spPr>
          <a:xfrm>
            <a:off x="777240" y="3913632"/>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El empleado no puede 'hacer trampa' con la medida de performance.</a:t>
            </a:r>
            <a:endParaRPr lang="en-US" dirty="0">
              <a:latin typeface="Tw Cen MT" panose="020B0602020104020603" pitchFamily="34" charset="0"/>
            </a:endParaRPr>
          </a:p>
        </p:txBody>
      </p:sp>
      <p:sp>
        <p:nvSpPr>
          <p:cNvPr id="23" name="Shape 21"/>
          <p:cNvSpPr/>
          <p:nvPr/>
        </p:nvSpPr>
        <p:spPr>
          <a:xfrm>
            <a:off x="320040" y="4626864"/>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24" name="Text 22"/>
          <p:cNvSpPr/>
          <p:nvPr/>
        </p:nvSpPr>
        <p:spPr>
          <a:xfrm>
            <a:off x="320040" y="4626864"/>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7</a:t>
            </a:r>
            <a:endParaRPr lang="en-US" dirty="0">
              <a:latin typeface="Tw Cen MT" panose="020B0602020104020603" pitchFamily="34" charset="0"/>
            </a:endParaRPr>
          </a:p>
        </p:txBody>
      </p:sp>
      <p:sp>
        <p:nvSpPr>
          <p:cNvPr id="25" name="Text 23"/>
          <p:cNvSpPr/>
          <p:nvPr/>
        </p:nvSpPr>
        <p:spPr>
          <a:xfrm>
            <a:off x="777240" y="4535424"/>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No hay otra tarea asignada al empleado que producir Q.</a:t>
            </a:r>
            <a:endParaRPr lang="en-US" dirty="0">
              <a:latin typeface="Tw Cen MT" panose="020B0602020104020603" pitchFamily="34" charset="0"/>
            </a:endParaRPr>
          </a:p>
        </p:txBody>
      </p:sp>
      <p:sp>
        <p:nvSpPr>
          <p:cNvPr id="26" name="Shape 24"/>
          <p:cNvSpPr/>
          <p:nvPr/>
        </p:nvSpPr>
        <p:spPr>
          <a:xfrm>
            <a:off x="320040" y="5248656"/>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27" name="Text 25"/>
          <p:cNvSpPr/>
          <p:nvPr/>
        </p:nvSpPr>
        <p:spPr>
          <a:xfrm>
            <a:off x="320040" y="5248656"/>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8</a:t>
            </a:r>
            <a:endParaRPr lang="en-US" dirty="0">
              <a:latin typeface="Tw Cen MT" panose="020B0602020104020603" pitchFamily="34" charset="0"/>
            </a:endParaRPr>
          </a:p>
        </p:txBody>
      </p:sp>
      <p:sp>
        <p:nvSpPr>
          <p:cNvPr id="28" name="Text 26"/>
          <p:cNvSpPr/>
          <p:nvPr/>
        </p:nvSpPr>
        <p:spPr>
          <a:xfrm>
            <a:off x="777240" y="5157216"/>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Cualquier contrato mutuamente beneficioso es posible (mercado laboral desregulado).</a:t>
            </a:r>
            <a:endParaRPr lang="en-US" dirty="0">
              <a:latin typeface="Tw Cen MT" panose="020B0602020104020603" pitchFamily="34" charset="0"/>
            </a:endParaRPr>
          </a:p>
        </p:txBody>
      </p:sp>
      <p:sp>
        <p:nvSpPr>
          <p:cNvPr id="29" name="Shape 27"/>
          <p:cNvSpPr/>
          <p:nvPr/>
        </p:nvSpPr>
        <p:spPr>
          <a:xfrm>
            <a:off x="320040" y="5870448"/>
            <a:ext cx="347472"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0" name="Text 28"/>
          <p:cNvSpPr/>
          <p:nvPr/>
        </p:nvSpPr>
        <p:spPr>
          <a:xfrm>
            <a:off x="320040" y="5870448"/>
            <a:ext cx="347472"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9</a:t>
            </a:r>
            <a:endParaRPr lang="en-US" dirty="0">
              <a:latin typeface="Tw Cen MT" panose="020B0602020104020603" pitchFamily="34" charset="0"/>
            </a:endParaRPr>
          </a:p>
        </p:txBody>
      </p:sp>
      <p:sp>
        <p:nvSpPr>
          <p:cNvPr id="31" name="Text 29"/>
          <p:cNvSpPr/>
          <p:nvPr/>
        </p:nvSpPr>
        <p:spPr>
          <a:xfrm>
            <a:off x="777240" y="5779008"/>
            <a:ext cx="804672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El empleado trabaja solo — no hay producción en grupo.</a:t>
            </a:r>
            <a:endParaRPr lang="en-US" dirty="0">
              <a:latin typeface="Tw Cen MT" panose="020B0602020104020603" pitchFamily="34" charset="0"/>
            </a:endParaRPr>
          </a:p>
        </p:txBody>
      </p:sp>
      <p:sp>
        <p:nvSpPr>
          <p:cNvPr id="32" name="Text 30"/>
          <p:cNvSpPr/>
          <p:nvPr/>
        </p:nvSpPr>
        <p:spPr>
          <a:xfrm>
            <a:off x="256032" y="6537960"/>
            <a:ext cx="8686800" cy="274320"/>
          </a:xfrm>
          <a:prstGeom prst="rect">
            <a:avLst/>
          </a:prstGeom>
          <a:noFill/>
          <a:ln/>
        </p:spPr>
        <p:txBody>
          <a:bodyPr wrap="square" rtlCol="0" anchor="ctr"/>
          <a:lstStyle/>
          <a:p>
            <a:pPr marL="0" indent="0">
              <a:buNone/>
            </a:pPr>
            <a:r>
              <a:rPr lang="en-US" i="1" dirty="0">
                <a:solidFill>
                  <a:srgbClr val="888888"/>
                </a:solidFill>
                <a:latin typeface="Tw Cen MT" panose="020B0602020104020603" pitchFamily="34" charset="0"/>
                <a:ea typeface="Tw Cen MT" pitchFamily="34" charset="-122"/>
                <a:cs typeface="Tw Cen MT" pitchFamily="34" charset="-120"/>
              </a:rPr>
              <a:t>Holmström, B. (1979). Moral Hazard and Observability. Bell Journal of Economics, 10(1), 74–91.</a:t>
            </a:r>
            <a:endParaRPr lang="en-US" dirty="0">
              <a:latin typeface="Tw Cen MT" panose="020B06020201040206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43315" y="662230"/>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Consecuencias del Modelo — El Trade-off Central</a:t>
            </a:r>
            <a:endParaRPr lang="en-US" sz="2400" dirty="0">
              <a:latin typeface="Tw Cen MT" panose="020B0602020104020603" pitchFamily="34" charset="0"/>
            </a:endParaRPr>
          </a:p>
        </p:txBody>
      </p:sp>
      <p:sp>
        <p:nvSpPr>
          <p:cNvPr id="5" name="Shape 3"/>
          <p:cNvSpPr/>
          <p:nvPr/>
        </p:nvSpPr>
        <p:spPr>
          <a:xfrm>
            <a:off x="411480" y="1204602"/>
            <a:ext cx="8503920" cy="384048"/>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6" name="Text 4"/>
          <p:cNvSpPr/>
          <p:nvPr/>
        </p:nvSpPr>
        <p:spPr>
          <a:xfrm>
            <a:off x="411480" y="1204602"/>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El contrato de incentivos impone riesgo al empleado</a:t>
            </a:r>
            <a:endParaRPr lang="en-US" sz="2000" dirty="0">
              <a:latin typeface="Tw Cen MT" panose="020B0602020104020603" pitchFamily="34" charset="0"/>
            </a:endParaRPr>
          </a:p>
        </p:txBody>
      </p:sp>
      <p:sp>
        <p:nvSpPr>
          <p:cNvPr id="7" name="Shape 5"/>
          <p:cNvSpPr/>
          <p:nvPr/>
        </p:nvSpPr>
        <p:spPr>
          <a:xfrm>
            <a:off x="411480" y="1588650"/>
            <a:ext cx="8503920" cy="114300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8" name="Text 6"/>
          <p:cNvSpPr/>
          <p:nvPr/>
        </p:nvSpPr>
        <p:spPr>
          <a:xfrm>
            <a:off x="594360" y="1680090"/>
            <a:ext cx="8229600" cy="100584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El pago se convierte en función de μ (variable que el empleado no controla). Como el empleado es averso al riesgo, la firma debe compensarlo con una compensación diferencial por riesgo.</a:t>
            </a:r>
            <a:endParaRPr lang="en-US" sz="2000" dirty="0">
              <a:latin typeface="Tw Cen MT" panose="020B0602020104020603" pitchFamily="34" charset="0"/>
            </a:endParaRPr>
          </a:p>
        </p:txBody>
      </p:sp>
      <p:sp>
        <p:nvSpPr>
          <p:cNvPr id="9" name="Shape 7"/>
          <p:cNvSpPr/>
          <p:nvPr/>
        </p:nvSpPr>
        <p:spPr>
          <a:xfrm>
            <a:off x="411480" y="3026665"/>
            <a:ext cx="8503920" cy="38404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10" name="Text 8"/>
          <p:cNvSpPr/>
          <p:nvPr/>
        </p:nvSpPr>
        <p:spPr>
          <a:xfrm>
            <a:off x="411480" y="3026665"/>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El sueldo fijo elimina incentivos al esfuerzo</a:t>
            </a:r>
            <a:endParaRPr lang="en-US" sz="2000" dirty="0">
              <a:latin typeface="Tw Cen MT" panose="020B0602020104020603" pitchFamily="34" charset="0"/>
            </a:endParaRPr>
          </a:p>
        </p:txBody>
      </p:sp>
      <p:sp>
        <p:nvSpPr>
          <p:cNvPr id="11" name="Shape 9"/>
          <p:cNvSpPr/>
          <p:nvPr/>
        </p:nvSpPr>
        <p:spPr>
          <a:xfrm>
            <a:off x="411480" y="3410713"/>
            <a:ext cx="8503920" cy="114300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2" name="Text 10"/>
          <p:cNvSpPr/>
          <p:nvPr/>
        </p:nvSpPr>
        <p:spPr>
          <a:xfrm>
            <a:off x="594360" y="3502153"/>
            <a:ext cx="8229600" cy="100584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Si la compensación es fija e independiente de Q, el empleado tiene incentivos para reducir el esfuerzo. Ni "e" ni "μ" son observables → el empleado puede culpar a un "μ" negativo para justificar un Q pequeño.</a:t>
            </a:r>
            <a:endParaRPr lang="en-US" sz="2000" dirty="0">
              <a:latin typeface="Tw Cen MT" panose="020B0602020104020603" pitchFamily="34" charset="0"/>
            </a:endParaRPr>
          </a:p>
        </p:txBody>
      </p:sp>
      <p:sp>
        <p:nvSpPr>
          <p:cNvPr id="13" name="Shape 11"/>
          <p:cNvSpPr/>
          <p:nvPr/>
        </p:nvSpPr>
        <p:spPr>
          <a:xfrm>
            <a:off x="411480" y="4814556"/>
            <a:ext cx="8503920" cy="384048"/>
          </a:xfrm>
          <a:prstGeom prst="rect">
            <a:avLst/>
          </a:prstGeom>
          <a:solidFill>
            <a:srgbClr val="1B4332"/>
          </a:solidFill>
          <a:ln w="12700">
            <a:solidFill>
              <a:srgbClr val="1B4332"/>
            </a:solidFill>
            <a:prstDash val="solid"/>
          </a:ln>
        </p:spPr>
        <p:txBody>
          <a:bodyPr/>
          <a:lstStyle/>
          <a:p>
            <a:endParaRPr lang="en-US" sz="2000">
              <a:latin typeface="Tw Cen MT" panose="020B0602020104020603" pitchFamily="34" charset="0"/>
            </a:endParaRPr>
          </a:p>
        </p:txBody>
      </p:sp>
      <p:sp>
        <p:nvSpPr>
          <p:cNvPr id="14" name="Text 12"/>
          <p:cNvSpPr/>
          <p:nvPr/>
        </p:nvSpPr>
        <p:spPr>
          <a:xfrm>
            <a:off x="411480" y="4814556"/>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Conclusión: siempre existe un trade-off</a:t>
            </a:r>
            <a:endParaRPr lang="en-US" sz="2000" dirty="0">
              <a:latin typeface="Tw Cen MT" panose="020B0602020104020603" pitchFamily="34" charset="0"/>
            </a:endParaRPr>
          </a:p>
        </p:txBody>
      </p:sp>
      <p:sp>
        <p:nvSpPr>
          <p:cNvPr id="15" name="Shape 13"/>
          <p:cNvSpPr/>
          <p:nvPr/>
        </p:nvSpPr>
        <p:spPr>
          <a:xfrm>
            <a:off x="411480" y="5198604"/>
            <a:ext cx="8503920" cy="1143000"/>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6" name="Text 14"/>
          <p:cNvSpPr/>
          <p:nvPr/>
        </p:nvSpPr>
        <p:spPr>
          <a:xfrm>
            <a:off x="594360" y="5290044"/>
            <a:ext cx="8229600" cy="100584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Entre compensaciones incentivadoras (aumentar esfuerzo) y el costo de una distribución ineficiente del riesgo. El contrato óptimo combina una parte fija (W) y una parte variable basada en performance (β·Q).</a:t>
            </a:r>
            <a:endParaRPr lang="en-US" sz="2000" dirty="0">
              <a:latin typeface="Tw Cen MT" panose="020B0602020104020603" pitchFamily="34" charset="0"/>
            </a:endParaRPr>
          </a:p>
        </p:txBody>
      </p:sp>
      <p:sp>
        <p:nvSpPr>
          <p:cNvPr id="19" name="CuadroTexto 18">
            <a:extLst>
              <a:ext uri="{FF2B5EF4-FFF2-40B4-BE49-F238E27FC236}">
                <a16:creationId xmlns:a16="http://schemas.microsoft.com/office/drawing/2014/main" id="{356ED2B6-196F-CFFC-9F23-FE63ED16EAE1}"/>
              </a:ext>
            </a:extLst>
          </p:cNvPr>
          <p:cNvSpPr txBox="1"/>
          <p:nvPr/>
        </p:nvSpPr>
        <p:spPr>
          <a:xfrm>
            <a:off x="2144026" y="744741"/>
            <a:ext cx="5921944" cy="369332"/>
          </a:xfrm>
          <a:prstGeom prst="rect">
            <a:avLst/>
          </a:prstGeom>
          <a:noFill/>
        </p:spPr>
        <p:txBody>
          <a:bodyPr wrap="square">
            <a:spAutoFit/>
          </a:bodyPr>
          <a:lstStyle/>
          <a:p>
            <a:r>
              <a:rPr lang="es-AR" b="1" dirty="0">
                <a:latin typeface="Tw Cen MT" panose="020B0602020104020603" pitchFamily="34" charset="0"/>
              </a:rPr>
              <a:t>Función de compensación:   W(Q) = W + β· α e + β· μ</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400" b="1" dirty="0">
                <a:solidFill>
                  <a:srgbClr val="FFFFFF"/>
                </a:solidFill>
                <a:latin typeface="Tw Cen MT" panose="020B0602020104020603" pitchFamily="34" charset="0"/>
                <a:ea typeface="Tw Cen MT" pitchFamily="34" charset="-122"/>
                <a:cs typeface="Tw Cen MT" pitchFamily="34" charset="-120"/>
              </a:rPr>
              <a:t>El Contrato Óptimo y el Efecto Trinquete</a:t>
            </a:r>
            <a:endParaRPr lang="en-US" sz="2400" dirty="0">
              <a:latin typeface="Tw Cen MT" panose="020B0602020104020603" pitchFamily="34" charset="0"/>
            </a:endParaRPr>
          </a:p>
        </p:txBody>
      </p:sp>
      <p:sp>
        <p:nvSpPr>
          <p:cNvPr id="5" name="Shape 3"/>
          <p:cNvSpPr/>
          <p:nvPr/>
        </p:nvSpPr>
        <p:spPr>
          <a:xfrm>
            <a:off x="411480" y="1245510"/>
            <a:ext cx="8503920" cy="384048"/>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6" name="Text 4"/>
          <p:cNvSpPr/>
          <p:nvPr/>
        </p:nvSpPr>
        <p:spPr>
          <a:xfrm>
            <a:off x="411480" y="1245510"/>
            <a:ext cx="850392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Determinación del contrato óptimo</a:t>
            </a:r>
            <a:endParaRPr lang="en-US" sz="2000" dirty="0">
              <a:latin typeface="Tw Cen MT" panose="020B0602020104020603" pitchFamily="34" charset="0"/>
            </a:endParaRPr>
          </a:p>
        </p:txBody>
      </p:sp>
      <p:sp>
        <p:nvSpPr>
          <p:cNvPr id="7" name="Text 5"/>
          <p:cNvSpPr/>
          <p:nvPr/>
        </p:nvSpPr>
        <p:spPr>
          <a:xfrm>
            <a:off x="411480" y="1838907"/>
            <a:ext cx="8412480" cy="73152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El empleador debe hallar el β óptimo (sensibilidad del pago a la performance) y W (parte fija).</a:t>
            </a:r>
            <a:endParaRPr lang="en-US" sz="2000" dirty="0">
              <a:latin typeface="Tw Cen MT" panose="020B0602020104020603" pitchFamily="34" charset="0"/>
            </a:endParaRPr>
          </a:p>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Para ello necesita conocer α (productividad marginal). Se requieren dos métodos:</a:t>
            </a:r>
            <a:endParaRPr lang="en-US" sz="2000" dirty="0">
              <a:latin typeface="Tw Cen MT" panose="020B0602020104020603" pitchFamily="34" charset="0"/>
            </a:endParaRPr>
          </a:p>
        </p:txBody>
      </p:sp>
      <p:sp>
        <p:nvSpPr>
          <p:cNvPr id="8" name="Shape 6"/>
          <p:cNvSpPr/>
          <p:nvPr/>
        </p:nvSpPr>
        <p:spPr>
          <a:xfrm>
            <a:off x="411480" y="2927043"/>
            <a:ext cx="8503920" cy="365760"/>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9" name="Text 7"/>
          <p:cNvSpPr/>
          <p:nvPr/>
        </p:nvSpPr>
        <p:spPr>
          <a:xfrm>
            <a:off x="411480" y="2927043"/>
            <a:ext cx="8503920" cy="36576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Estudios de movimiento y tiempo</a:t>
            </a:r>
            <a:endParaRPr lang="en-US" sz="2000" dirty="0">
              <a:latin typeface="Tw Cen MT" panose="020B0602020104020603" pitchFamily="34" charset="0"/>
            </a:endParaRPr>
          </a:p>
        </p:txBody>
      </p:sp>
      <p:sp>
        <p:nvSpPr>
          <p:cNvPr id="10" name="Shape 8"/>
          <p:cNvSpPr/>
          <p:nvPr/>
        </p:nvSpPr>
        <p:spPr>
          <a:xfrm>
            <a:off x="411480" y="3292803"/>
            <a:ext cx="8503920" cy="1078992"/>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1" name="Text 9"/>
          <p:cNvSpPr/>
          <p:nvPr/>
        </p:nvSpPr>
        <p:spPr>
          <a:xfrm>
            <a:off x="594360" y="3384243"/>
            <a:ext cx="822960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Costosos. Sujetos a cambios de condiciones. Riesgo de que los empleados ajusten la producción para que la cuota baje (y así superarla fácilmente).</a:t>
            </a:r>
            <a:endParaRPr lang="en-US" sz="2000" dirty="0">
              <a:latin typeface="Tw Cen MT" panose="020B0602020104020603" pitchFamily="34" charset="0"/>
            </a:endParaRPr>
          </a:p>
        </p:txBody>
      </p:sp>
      <p:sp>
        <p:nvSpPr>
          <p:cNvPr id="12" name="Shape 10"/>
          <p:cNvSpPr/>
          <p:nvPr/>
        </p:nvSpPr>
        <p:spPr>
          <a:xfrm>
            <a:off x="365760" y="4599432"/>
            <a:ext cx="8503920" cy="365760"/>
          </a:xfrm>
          <a:prstGeom prst="rect">
            <a:avLst/>
          </a:prstGeom>
          <a:solidFill>
            <a:srgbClr val="B8860B"/>
          </a:solidFill>
          <a:ln w="12700">
            <a:solidFill>
              <a:srgbClr val="B8860B"/>
            </a:solidFill>
            <a:prstDash val="solid"/>
          </a:ln>
        </p:spPr>
        <p:txBody>
          <a:bodyPr/>
          <a:lstStyle/>
          <a:p>
            <a:endParaRPr lang="en-US" sz="2000">
              <a:latin typeface="Tw Cen MT" panose="020B0602020104020603" pitchFamily="34" charset="0"/>
            </a:endParaRPr>
          </a:p>
        </p:txBody>
      </p:sp>
      <p:sp>
        <p:nvSpPr>
          <p:cNvPr id="13" name="Text 11"/>
          <p:cNvSpPr/>
          <p:nvPr/>
        </p:nvSpPr>
        <p:spPr>
          <a:xfrm>
            <a:off x="365760" y="4599432"/>
            <a:ext cx="8503920" cy="365760"/>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Performance pasada — y el Efecto Trinquete</a:t>
            </a:r>
            <a:endParaRPr lang="en-US" sz="2000" dirty="0">
              <a:latin typeface="Tw Cen MT" panose="020B0602020104020603" pitchFamily="34" charset="0"/>
            </a:endParaRPr>
          </a:p>
        </p:txBody>
      </p:sp>
      <p:sp>
        <p:nvSpPr>
          <p:cNvPr id="14" name="Shape 12"/>
          <p:cNvSpPr/>
          <p:nvPr/>
        </p:nvSpPr>
        <p:spPr>
          <a:xfrm>
            <a:off x="365760" y="4965192"/>
            <a:ext cx="8503920" cy="1078992"/>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5" name="Text 13"/>
          <p:cNvSpPr/>
          <p:nvPr/>
        </p:nvSpPr>
        <p:spPr>
          <a:xfrm>
            <a:off x="548640" y="5056632"/>
            <a:ext cx="8229600" cy="914400"/>
          </a:xfrm>
          <a:prstGeom prst="rect">
            <a:avLst/>
          </a:prstGeom>
          <a:noFill/>
          <a:ln/>
        </p:spPr>
        <p:txBody>
          <a:bodyPr wrap="square" rtlCol="0" anchor="ctr"/>
          <a:lstStyle/>
          <a:p>
            <a:pPr marL="0" indent="0">
              <a:buNone/>
            </a:pPr>
            <a:r>
              <a:rPr lang="en-US" sz="2000" dirty="0">
                <a:solidFill>
                  <a:srgbClr val="222222"/>
                </a:solidFill>
                <a:latin typeface="Tw Cen MT" panose="020B0602020104020603" pitchFamily="34" charset="0"/>
                <a:ea typeface="Tw Cen MT" pitchFamily="34" charset="-122"/>
                <a:cs typeface="Tw Cen MT" pitchFamily="34" charset="-120"/>
              </a:rPr>
              <a:t>Usa el desempeño real del año como base para el siguiente. Problema: el empleado sabe que si supera la meta, la meta del año siguiente aumenta → tiene incentivos para moderar el esfuerzo.</a:t>
            </a:r>
            <a:endParaRPr lang="en-US" sz="2000" dirty="0">
              <a:latin typeface="Tw Cen MT" panose="020B0602020104020603" pitchFamily="34" charset="0"/>
            </a:endParaRPr>
          </a:p>
        </p:txBody>
      </p:sp>
      <p:sp>
        <p:nvSpPr>
          <p:cNvPr id="19" name="CuadroTexto 18">
            <a:extLst>
              <a:ext uri="{FF2B5EF4-FFF2-40B4-BE49-F238E27FC236}">
                <a16:creationId xmlns:a16="http://schemas.microsoft.com/office/drawing/2014/main" id="{D91E12FD-274E-745C-5212-C5CAADBF85C2}"/>
              </a:ext>
            </a:extLst>
          </p:cNvPr>
          <p:cNvSpPr txBox="1"/>
          <p:nvPr/>
        </p:nvSpPr>
        <p:spPr>
          <a:xfrm>
            <a:off x="1836018" y="713232"/>
            <a:ext cx="5921944" cy="369332"/>
          </a:xfrm>
          <a:prstGeom prst="rect">
            <a:avLst/>
          </a:prstGeom>
          <a:noFill/>
        </p:spPr>
        <p:txBody>
          <a:bodyPr wrap="square">
            <a:spAutoFit/>
          </a:bodyPr>
          <a:lstStyle/>
          <a:p>
            <a:r>
              <a:rPr lang="es-AR" b="1" dirty="0">
                <a:latin typeface="Tw Cen MT" panose="020B0602020104020603" pitchFamily="34" charset="0"/>
              </a:rPr>
              <a:t>Función de compensación:   W(Q) = W + β· α e + β· μ</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AD24FA-CF42-86B7-B2A9-8056B3E14C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39E109-D216-0552-6389-286F3AD01FC3}"/>
              </a:ext>
            </a:extLst>
          </p:cNvPr>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3" name="Shape 1">
            <a:extLst>
              <a:ext uri="{FF2B5EF4-FFF2-40B4-BE49-F238E27FC236}">
                <a16:creationId xmlns:a16="http://schemas.microsoft.com/office/drawing/2014/main" id="{8320599E-614D-4C5E-DA55-002A8C2623F0}"/>
              </a:ext>
            </a:extLst>
          </p:cNvPr>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4" name="Text 2">
            <a:extLst>
              <a:ext uri="{FF2B5EF4-FFF2-40B4-BE49-F238E27FC236}">
                <a16:creationId xmlns:a16="http://schemas.microsoft.com/office/drawing/2014/main" id="{42C35941-2240-854C-5596-416F8FE2399C}"/>
              </a:ext>
            </a:extLst>
          </p:cNvPr>
          <p:cNvSpPr/>
          <p:nvPr/>
        </p:nvSpPr>
        <p:spPr>
          <a:xfrm>
            <a:off x="201168" y="45720"/>
            <a:ext cx="8741664" cy="594360"/>
          </a:xfrm>
          <a:prstGeom prst="rect">
            <a:avLst/>
          </a:prstGeom>
          <a:noFill/>
          <a:ln/>
        </p:spPr>
        <p:txBody>
          <a:bodyPr wrap="square" rtlCol="0" anchor="ctr"/>
          <a:lstStyle/>
          <a:p>
            <a:pPr marL="0" indent="0">
              <a:buNone/>
            </a:pPr>
            <a:r>
              <a:rPr lang="en-US" sz="2400" b="1" dirty="0" err="1">
                <a:solidFill>
                  <a:srgbClr val="FFFFFF"/>
                </a:solidFill>
                <a:latin typeface="Tw Cen MT" panose="020B0602020104020603" pitchFamily="34" charset="0"/>
                <a:ea typeface="Tw Cen MT" pitchFamily="34" charset="-122"/>
                <a:cs typeface="Tw Cen MT" pitchFamily="34" charset="-120"/>
              </a:rPr>
              <a:t>Precisión</a:t>
            </a:r>
            <a:r>
              <a:rPr lang="en-US" sz="2400" b="1" dirty="0">
                <a:solidFill>
                  <a:srgbClr val="FFFFFF"/>
                </a:solidFill>
                <a:latin typeface="Tw Cen MT" panose="020B0602020104020603" pitchFamily="34" charset="0"/>
                <a:ea typeface="Tw Cen MT" pitchFamily="34" charset="-122"/>
                <a:cs typeface="Tw Cen MT" pitchFamily="34" charset="-120"/>
              </a:rPr>
              <a:t> de la </a:t>
            </a:r>
            <a:r>
              <a:rPr lang="en-US" sz="2400" b="1" dirty="0" err="1">
                <a:solidFill>
                  <a:srgbClr val="FFFFFF"/>
                </a:solidFill>
                <a:latin typeface="Tw Cen MT" panose="020B0602020104020603" pitchFamily="34" charset="0"/>
                <a:ea typeface="Tw Cen MT" pitchFamily="34" charset="-122"/>
                <a:cs typeface="Tw Cen MT" pitchFamily="34" charset="-120"/>
              </a:rPr>
              <a:t>medición</a:t>
            </a:r>
            <a:endParaRPr lang="en-US" sz="2400" dirty="0">
              <a:latin typeface="Tw Cen MT" panose="020B0602020104020603" pitchFamily="34" charset="0"/>
            </a:endParaRPr>
          </a:p>
        </p:txBody>
      </p:sp>
      <p:sp>
        <p:nvSpPr>
          <p:cNvPr id="5" name="Shape 3">
            <a:extLst>
              <a:ext uri="{FF2B5EF4-FFF2-40B4-BE49-F238E27FC236}">
                <a16:creationId xmlns:a16="http://schemas.microsoft.com/office/drawing/2014/main" id="{889A76A0-358E-490C-FC25-EA443BBE88FB}"/>
              </a:ext>
            </a:extLst>
          </p:cNvPr>
          <p:cNvSpPr/>
          <p:nvPr/>
        </p:nvSpPr>
        <p:spPr>
          <a:xfrm>
            <a:off x="365760" y="1290328"/>
            <a:ext cx="8549640" cy="402615"/>
          </a:xfrm>
          <a:prstGeom prst="rect">
            <a:avLst/>
          </a:prstGeom>
          <a:solidFill>
            <a:srgbClr val="1A2744"/>
          </a:solidFill>
          <a:ln w="12700">
            <a:solidFill>
              <a:srgbClr val="1A2744"/>
            </a:solidFill>
            <a:prstDash val="solid"/>
          </a:ln>
        </p:spPr>
        <p:txBody>
          <a:bodyPr/>
          <a:lstStyle/>
          <a:p>
            <a:endParaRPr lang="en-US" sz="2000">
              <a:latin typeface="Tw Cen MT" panose="020B0602020104020603" pitchFamily="34" charset="0"/>
            </a:endParaRPr>
          </a:p>
        </p:txBody>
      </p:sp>
      <p:sp>
        <p:nvSpPr>
          <p:cNvPr id="6" name="Text 4">
            <a:extLst>
              <a:ext uri="{FF2B5EF4-FFF2-40B4-BE49-F238E27FC236}">
                <a16:creationId xmlns:a16="http://schemas.microsoft.com/office/drawing/2014/main" id="{9561DCC7-C337-6190-80B3-583AB7E0A721}"/>
              </a:ext>
            </a:extLst>
          </p:cNvPr>
          <p:cNvSpPr/>
          <p:nvPr/>
        </p:nvSpPr>
        <p:spPr>
          <a:xfrm>
            <a:off x="411480" y="1290329"/>
            <a:ext cx="8503920" cy="384048"/>
          </a:xfrm>
          <a:prstGeom prst="rect">
            <a:avLst/>
          </a:prstGeom>
          <a:noFill/>
          <a:ln/>
        </p:spPr>
        <p:txBody>
          <a:bodyPr wrap="square" rtlCol="0" anchor="ctr"/>
          <a:lstStyle/>
          <a:p>
            <a:pPr algn="ctr"/>
            <a:r>
              <a:rPr lang="es-AR" sz="2000" b="1" dirty="0">
                <a:solidFill>
                  <a:schemeClr val="bg1">
                    <a:lumMod val="95000"/>
                  </a:schemeClr>
                </a:solidFill>
              </a:rPr>
              <a:t>Firma paga incentivos (β &gt; 0)</a:t>
            </a:r>
            <a:endParaRPr lang="en-US" sz="2000" b="1" dirty="0">
              <a:solidFill>
                <a:schemeClr val="bg1">
                  <a:lumMod val="95000"/>
                </a:schemeClr>
              </a:solidFill>
              <a:latin typeface="Tw Cen MT" panose="020B0602020104020603" pitchFamily="34" charset="0"/>
            </a:endParaRPr>
          </a:p>
        </p:txBody>
      </p:sp>
      <p:sp>
        <p:nvSpPr>
          <p:cNvPr id="8" name="Shape 6">
            <a:extLst>
              <a:ext uri="{FF2B5EF4-FFF2-40B4-BE49-F238E27FC236}">
                <a16:creationId xmlns:a16="http://schemas.microsoft.com/office/drawing/2014/main" id="{9D18876A-261C-79F8-F771-210A29052C90}"/>
              </a:ext>
            </a:extLst>
          </p:cNvPr>
          <p:cNvSpPr/>
          <p:nvPr/>
        </p:nvSpPr>
        <p:spPr>
          <a:xfrm>
            <a:off x="365760" y="2910261"/>
            <a:ext cx="8549640" cy="343544"/>
          </a:xfrm>
          <a:prstGeom prst="rect">
            <a:avLst/>
          </a:prstGeom>
          <a:solidFill>
            <a:srgbClr val="8B0000"/>
          </a:solidFill>
          <a:ln w="12700">
            <a:solidFill>
              <a:srgbClr val="8B0000"/>
            </a:solidFill>
            <a:prstDash val="solid"/>
          </a:ln>
        </p:spPr>
        <p:txBody>
          <a:bodyPr/>
          <a:lstStyle/>
          <a:p>
            <a:endParaRPr lang="en-US" sz="2000">
              <a:latin typeface="Tw Cen MT" panose="020B0602020104020603" pitchFamily="34" charset="0"/>
            </a:endParaRPr>
          </a:p>
        </p:txBody>
      </p:sp>
      <p:sp>
        <p:nvSpPr>
          <p:cNvPr id="9" name="Text 7">
            <a:extLst>
              <a:ext uri="{FF2B5EF4-FFF2-40B4-BE49-F238E27FC236}">
                <a16:creationId xmlns:a16="http://schemas.microsoft.com/office/drawing/2014/main" id="{31EE3B18-66AB-3D43-4A08-E13A437B5E5A}"/>
              </a:ext>
            </a:extLst>
          </p:cNvPr>
          <p:cNvSpPr/>
          <p:nvPr/>
        </p:nvSpPr>
        <p:spPr>
          <a:xfrm>
            <a:off x="411480" y="2910261"/>
            <a:ext cx="8503920" cy="365760"/>
          </a:xfrm>
          <a:prstGeom prst="rect">
            <a:avLst/>
          </a:prstGeom>
          <a:noFill/>
          <a:ln/>
        </p:spPr>
        <p:txBody>
          <a:bodyPr wrap="square" rtlCol="0" anchor="ctr"/>
          <a:lstStyle/>
          <a:p>
            <a:pPr algn="ctr"/>
            <a:r>
              <a:rPr lang="en-US" sz="2000" b="1" dirty="0">
                <a:solidFill>
                  <a:schemeClr val="bg1">
                    <a:lumMod val="95000"/>
                  </a:schemeClr>
                </a:solidFill>
              </a:rPr>
              <a:t>El output Q </a:t>
            </a:r>
            <a:r>
              <a:rPr lang="en-US" sz="2000" b="1" dirty="0" err="1">
                <a:solidFill>
                  <a:schemeClr val="bg1">
                    <a:lumMod val="95000"/>
                  </a:schemeClr>
                </a:solidFill>
              </a:rPr>
              <a:t>que</a:t>
            </a:r>
            <a:r>
              <a:rPr lang="en-US" sz="2000" b="1" dirty="0">
                <a:solidFill>
                  <a:schemeClr val="bg1">
                    <a:lumMod val="95000"/>
                  </a:schemeClr>
                </a:solidFill>
              </a:rPr>
              <a:t> se </a:t>
            </a:r>
            <a:r>
              <a:rPr lang="en-US" sz="2000" b="1" dirty="0" err="1">
                <a:solidFill>
                  <a:schemeClr val="bg1">
                    <a:lumMod val="95000"/>
                  </a:schemeClr>
                </a:solidFill>
              </a:rPr>
              <a:t>observa</a:t>
            </a:r>
            <a:r>
              <a:rPr lang="en-US" sz="2000" b="1" dirty="0">
                <a:solidFill>
                  <a:schemeClr val="bg1">
                    <a:lumMod val="95000"/>
                  </a:schemeClr>
                </a:solidFill>
              </a:rPr>
              <a:t> es Q = </a:t>
            </a:r>
            <a:r>
              <a:rPr lang="el-GR" sz="2000" b="1" dirty="0">
                <a:solidFill>
                  <a:schemeClr val="bg1">
                    <a:lumMod val="95000"/>
                  </a:schemeClr>
                </a:solidFill>
              </a:rPr>
              <a:t>α·</a:t>
            </a:r>
            <a:r>
              <a:rPr lang="en-US" sz="2000" b="1" dirty="0">
                <a:solidFill>
                  <a:schemeClr val="bg1">
                    <a:lumMod val="95000"/>
                  </a:schemeClr>
                </a:solidFill>
              </a:rPr>
              <a:t>e + </a:t>
            </a:r>
            <a:r>
              <a:rPr lang="el-GR" sz="2000" b="1" dirty="0">
                <a:solidFill>
                  <a:schemeClr val="bg1">
                    <a:lumMod val="95000"/>
                  </a:schemeClr>
                </a:solidFill>
              </a:rPr>
              <a:t>μ</a:t>
            </a:r>
            <a:endParaRPr lang="en-US" sz="2000" b="1" dirty="0">
              <a:solidFill>
                <a:schemeClr val="bg1">
                  <a:lumMod val="95000"/>
                </a:schemeClr>
              </a:solidFill>
              <a:latin typeface="Tw Cen MT" panose="020B0602020104020603" pitchFamily="34" charset="0"/>
            </a:endParaRPr>
          </a:p>
        </p:txBody>
      </p:sp>
      <p:sp>
        <p:nvSpPr>
          <p:cNvPr id="10" name="Shape 8">
            <a:extLst>
              <a:ext uri="{FF2B5EF4-FFF2-40B4-BE49-F238E27FC236}">
                <a16:creationId xmlns:a16="http://schemas.microsoft.com/office/drawing/2014/main" id="{D5AEAC8E-4BE3-44DC-FA8D-3816948C65B4}"/>
              </a:ext>
            </a:extLst>
          </p:cNvPr>
          <p:cNvSpPr/>
          <p:nvPr/>
        </p:nvSpPr>
        <p:spPr>
          <a:xfrm>
            <a:off x="365760" y="3276021"/>
            <a:ext cx="8503920" cy="1705394"/>
          </a:xfrm>
          <a:prstGeom prst="rect">
            <a:avLst/>
          </a:prstGeom>
          <a:solidFill>
            <a:srgbClr val="F5F5F5"/>
          </a:solidFill>
          <a:ln w="12700">
            <a:solidFill>
              <a:srgbClr val="DDDDDD"/>
            </a:solidFill>
            <a:prstDash val="solid"/>
          </a:ln>
        </p:spPr>
        <p:txBody>
          <a:bodyPr/>
          <a:lstStyle/>
          <a:p>
            <a:endParaRPr lang="en-US" dirty="0">
              <a:latin typeface="Tw Cen MT" panose="020B0602020104020603" pitchFamily="34" charset="0"/>
            </a:endParaRPr>
          </a:p>
        </p:txBody>
      </p:sp>
      <p:sp>
        <p:nvSpPr>
          <p:cNvPr id="11" name="Text 9">
            <a:extLst>
              <a:ext uri="{FF2B5EF4-FFF2-40B4-BE49-F238E27FC236}">
                <a16:creationId xmlns:a16="http://schemas.microsoft.com/office/drawing/2014/main" id="{662BC40C-B65D-CC57-D4C5-97703EDA74E9}"/>
              </a:ext>
            </a:extLst>
          </p:cNvPr>
          <p:cNvSpPr/>
          <p:nvPr/>
        </p:nvSpPr>
        <p:spPr>
          <a:xfrm>
            <a:off x="298383" y="3673747"/>
            <a:ext cx="8296977" cy="770779"/>
          </a:xfrm>
          <a:prstGeom prst="rect">
            <a:avLst/>
          </a:prstGeom>
          <a:noFill/>
          <a:ln/>
        </p:spPr>
        <p:txBody>
          <a:bodyPr wrap="square" rtlCol="0" anchor="ctr"/>
          <a:lstStyle/>
          <a:p>
            <a:pPr marL="285750" indent="-285750">
              <a:buFontTx/>
              <a:buChar char="-"/>
            </a:pPr>
            <a:r>
              <a:rPr lang="es-AR" dirty="0"/>
              <a:t>Cuanto más "ruido" hay en la medición (cuanto mayor sea la varianza de μ), más difícil es distinguir si un Q alto se debe al esfuerzo del empleado o a factores externos favorables. Y viceversa.</a:t>
            </a:r>
          </a:p>
          <a:p>
            <a:pPr marL="285750" indent="-285750">
              <a:buFontTx/>
              <a:buChar char="-"/>
            </a:pPr>
            <a:r>
              <a:rPr lang="es-AR" dirty="0"/>
              <a:t>- Si la medición es imprecisa, el empleado carga con mucho riesgo que no controla. Para compensarlo, la firma debe pagarle más o reducir β.</a:t>
            </a:r>
          </a:p>
        </p:txBody>
      </p:sp>
      <p:sp>
        <p:nvSpPr>
          <p:cNvPr id="12" name="Shape 10">
            <a:extLst>
              <a:ext uri="{FF2B5EF4-FFF2-40B4-BE49-F238E27FC236}">
                <a16:creationId xmlns:a16="http://schemas.microsoft.com/office/drawing/2014/main" id="{8E5BFD11-C520-34DA-19E1-9CD5728B7805}"/>
              </a:ext>
            </a:extLst>
          </p:cNvPr>
          <p:cNvSpPr/>
          <p:nvPr/>
        </p:nvSpPr>
        <p:spPr>
          <a:xfrm>
            <a:off x="365760" y="4838478"/>
            <a:ext cx="8503920" cy="391750"/>
          </a:xfrm>
          <a:prstGeom prst="rect">
            <a:avLst/>
          </a:prstGeom>
          <a:solidFill>
            <a:srgbClr val="B8860B"/>
          </a:solidFill>
          <a:ln w="12700">
            <a:solidFill>
              <a:srgbClr val="B8860B"/>
            </a:solidFill>
            <a:prstDash val="solid"/>
          </a:ln>
        </p:spPr>
        <p:txBody>
          <a:bodyPr/>
          <a:lstStyle/>
          <a:p>
            <a:endParaRPr lang="en-US" sz="2000">
              <a:latin typeface="Tw Cen MT" panose="020B0602020104020603" pitchFamily="34" charset="0"/>
            </a:endParaRPr>
          </a:p>
        </p:txBody>
      </p:sp>
      <p:sp>
        <p:nvSpPr>
          <p:cNvPr id="13" name="Text 11">
            <a:extLst>
              <a:ext uri="{FF2B5EF4-FFF2-40B4-BE49-F238E27FC236}">
                <a16:creationId xmlns:a16="http://schemas.microsoft.com/office/drawing/2014/main" id="{6B295D6A-687B-37D6-0EA9-C12B119FB1E8}"/>
              </a:ext>
            </a:extLst>
          </p:cNvPr>
          <p:cNvSpPr/>
          <p:nvPr/>
        </p:nvSpPr>
        <p:spPr>
          <a:xfrm>
            <a:off x="298383" y="4761275"/>
            <a:ext cx="8503920" cy="514673"/>
          </a:xfrm>
          <a:prstGeom prst="rect">
            <a:avLst/>
          </a:prstGeom>
          <a:noFill/>
          <a:ln/>
        </p:spPr>
        <p:txBody>
          <a:bodyPr wrap="square" rtlCol="0" anchor="ctr"/>
          <a:lstStyle/>
          <a:p>
            <a:pPr algn="ctr"/>
            <a:r>
              <a:rPr lang="es-AR" sz="2000" b="1" dirty="0">
                <a:solidFill>
                  <a:schemeClr val="bg1">
                    <a:lumMod val="95000"/>
                  </a:schemeClr>
                </a:solidFill>
                <a:latin typeface="Tw Cen MT" panose="020B0602020104020603" pitchFamily="34" charset="0"/>
              </a:rPr>
              <a:t>Solución:</a:t>
            </a:r>
            <a:endParaRPr lang="en-US" sz="2000" b="1" dirty="0">
              <a:solidFill>
                <a:schemeClr val="bg1">
                  <a:lumMod val="95000"/>
                </a:schemeClr>
              </a:solidFill>
              <a:latin typeface="Tw Cen MT" panose="020B0602020104020603" pitchFamily="34" charset="0"/>
            </a:endParaRPr>
          </a:p>
        </p:txBody>
      </p:sp>
      <p:sp>
        <p:nvSpPr>
          <p:cNvPr id="14" name="Shape 12">
            <a:extLst>
              <a:ext uri="{FF2B5EF4-FFF2-40B4-BE49-F238E27FC236}">
                <a16:creationId xmlns:a16="http://schemas.microsoft.com/office/drawing/2014/main" id="{DFB0DCEE-A0F6-0EE0-FA7F-5215A03A50CB}"/>
              </a:ext>
            </a:extLst>
          </p:cNvPr>
          <p:cNvSpPr/>
          <p:nvPr/>
        </p:nvSpPr>
        <p:spPr>
          <a:xfrm>
            <a:off x="365760" y="5230228"/>
            <a:ext cx="8503920" cy="1426464"/>
          </a:xfrm>
          <a:prstGeom prst="rect">
            <a:avLst/>
          </a:prstGeom>
          <a:solidFill>
            <a:srgbClr val="F5F5F5"/>
          </a:solidFill>
          <a:ln w="12700">
            <a:solidFill>
              <a:srgbClr val="DDDDDD"/>
            </a:solidFill>
            <a:prstDash val="solid"/>
          </a:ln>
        </p:spPr>
        <p:txBody>
          <a:bodyPr/>
          <a:lstStyle/>
          <a:p>
            <a:endParaRPr lang="en-US" sz="2000">
              <a:latin typeface="Tw Cen MT" panose="020B0602020104020603" pitchFamily="34" charset="0"/>
            </a:endParaRPr>
          </a:p>
        </p:txBody>
      </p:sp>
      <p:sp>
        <p:nvSpPr>
          <p:cNvPr id="15" name="Text 13">
            <a:extLst>
              <a:ext uri="{FF2B5EF4-FFF2-40B4-BE49-F238E27FC236}">
                <a16:creationId xmlns:a16="http://schemas.microsoft.com/office/drawing/2014/main" id="{3D70C69E-E5E4-739C-70BF-8FA770E3EA62}"/>
              </a:ext>
            </a:extLst>
          </p:cNvPr>
          <p:cNvSpPr/>
          <p:nvPr/>
        </p:nvSpPr>
        <p:spPr>
          <a:xfrm>
            <a:off x="572703" y="5472580"/>
            <a:ext cx="8229600" cy="914400"/>
          </a:xfrm>
          <a:prstGeom prst="rect">
            <a:avLst/>
          </a:prstGeom>
          <a:noFill/>
          <a:ln/>
        </p:spPr>
        <p:txBody>
          <a:bodyPr wrap="square" rtlCol="0" anchor="ctr"/>
          <a:lstStyle/>
          <a:p>
            <a:r>
              <a:rPr lang="es-AR" b="1" dirty="0">
                <a:latin typeface="Tw Cen MT" panose="020B0602020104020603" pitchFamily="34" charset="0"/>
              </a:rPr>
              <a:t>Reducir la varianza de μ</a:t>
            </a:r>
            <a:r>
              <a:rPr lang="es-AR" dirty="0">
                <a:latin typeface="Tw Cen MT" panose="020B0602020104020603" pitchFamily="34" charset="0"/>
              </a:rPr>
              <a:t> mejorando la precisión del instrumento de medición. </a:t>
            </a:r>
          </a:p>
          <a:p>
            <a:r>
              <a:rPr lang="es-AR" dirty="0">
                <a:latin typeface="Tw Cen MT" panose="020B0602020104020603" pitchFamily="34" charset="0"/>
              </a:rPr>
              <a:t>Cuando se mide con más precisión, una mayor proporción de la variación en Q se explica por el esfuerzo real del empleado y menos por factores aleatorios. </a:t>
            </a:r>
          </a:p>
          <a:p>
            <a:r>
              <a:rPr lang="es-AR" dirty="0">
                <a:latin typeface="Tw Cen MT" panose="020B0602020104020603" pitchFamily="34" charset="0"/>
              </a:rPr>
              <a:t>Entonces el empleado asume menos riesgo, la compensación diferencial se reduce, y el incentivo transmite mejor la señal correcta.</a:t>
            </a:r>
            <a:endParaRPr lang="en-US" dirty="0">
              <a:latin typeface="Tw Cen MT" panose="020B0602020104020603" pitchFamily="34" charset="0"/>
            </a:endParaRPr>
          </a:p>
        </p:txBody>
      </p:sp>
      <p:sp>
        <p:nvSpPr>
          <p:cNvPr id="19" name="CuadroTexto 18">
            <a:extLst>
              <a:ext uri="{FF2B5EF4-FFF2-40B4-BE49-F238E27FC236}">
                <a16:creationId xmlns:a16="http://schemas.microsoft.com/office/drawing/2014/main" id="{40C8A906-E730-0376-77BA-25B16CFB9669}"/>
              </a:ext>
            </a:extLst>
          </p:cNvPr>
          <p:cNvSpPr txBox="1"/>
          <p:nvPr/>
        </p:nvSpPr>
        <p:spPr>
          <a:xfrm>
            <a:off x="1354754" y="801720"/>
            <a:ext cx="5921944" cy="369332"/>
          </a:xfrm>
          <a:prstGeom prst="rect">
            <a:avLst/>
          </a:prstGeom>
          <a:noFill/>
        </p:spPr>
        <p:txBody>
          <a:bodyPr wrap="square">
            <a:spAutoFit/>
          </a:bodyPr>
          <a:lstStyle/>
          <a:p>
            <a:r>
              <a:rPr lang="es-AR" b="1" dirty="0">
                <a:latin typeface="Tw Cen MT" panose="020B0602020104020603" pitchFamily="34" charset="0"/>
              </a:rPr>
              <a:t>Función de compensación:   W(Q) = W + β· α e + β· μ</a:t>
            </a:r>
          </a:p>
        </p:txBody>
      </p:sp>
      <p:sp>
        <p:nvSpPr>
          <p:cNvPr id="16" name="Shape 8">
            <a:extLst>
              <a:ext uri="{FF2B5EF4-FFF2-40B4-BE49-F238E27FC236}">
                <a16:creationId xmlns:a16="http://schemas.microsoft.com/office/drawing/2014/main" id="{AB222139-BDA6-6390-745A-1A5280959C53}"/>
              </a:ext>
            </a:extLst>
          </p:cNvPr>
          <p:cNvSpPr/>
          <p:nvPr/>
        </p:nvSpPr>
        <p:spPr>
          <a:xfrm>
            <a:off x="365760" y="1670907"/>
            <a:ext cx="8503920" cy="1239354"/>
          </a:xfrm>
          <a:prstGeom prst="rect">
            <a:avLst/>
          </a:prstGeom>
          <a:solidFill>
            <a:srgbClr val="F5F5F5"/>
          </a:solidFill>
          <a:ln w="12700">
            <a:solidFill>
              <a:srgbClr val="DDDDDD"/>
            </a:solidFill>
            <a:prstDash val="solid"/>
          </a:ln>
        </p:spPr>
        <p:txBody>
          <a:bodyPr/>
          <a:lstStyle/>
          <a:p>
            <a:endParaRPr lang="en-US" dirty="0">
              <a:latin typeface="Tw Cen MT" panose="020B0602020104020603" pitchFamily="34" charset="0"/>
            </a:endParaRPr>
          </a:p>
        </p:txBody>
      </p:sp>
      <p:sp>
        <p:nvSpPr>
          <p:cNvPr id="17" name="Text 5">
            <a:extLst>
              <a:ext uri="{FF2B5EF4-FFF2-40B4-BE49-F238E27FC236}">
                <a16:creationId xmlns:a16="http://schemas.microsoft.com/office/drawing/2014/main" id="{7137034A-DB65-F51E-3812-944394079901}"/>
              </a:ext>
            </a:extLst>
          </p:cNvPr>
          <p:cNvSpPr/>
          <p:nvPr/>
        </p:nvSpPr>
        <p:spPr>
          <a:xfrm>
            <a:off x="457200" y="1951104"/>
            <a:ext cx="8412480" cy="731520"/>
          </a:xfrm>
          <a:prstGeom prst="rect">
            <a:avLst/>
          </a:prstGeom>
          <a:noFill/>
          <a:ln/>
        </p:spPr>
        <p:txBody>
          <a:bodyPr wrap="square" rtlCol="0" anchor="ctr"/>
          <a:lstStyle/>
          <a:p>
            <a:pPr marL="285750" indent="-285750">
              <a:buFontTx/>
              <a:buChar char="-"/>
            </a:pPr>
            <a:r>
              <a:rPr lang="es-AR" dirty="0"/>
              <a:t>El empleado asume riesgo porque su compensación queda expuesta a factores aleatorios μ que no controla.</a:t>
            </a:r>
          </a:p>
          <a:p>
            <a:pPr marL="285750" indent="-285750">
              <a:buFontTx/>
              <a:buChar char="-"/>
            </a:pPr>
            <a:r>
              <a:rPr lang="es-AR" dirty="0"/>
              <a:t>Como el empleado es averso al riesgo, exige una </a:t>
            </a:r>
            <a:r>
              <a:rPr lang="es-AR" b="1" dirty="0"/>
              <a:t>compensación diferencial</a:t>
            </a:r>
            <a:r>
              <a:rPr lang="es-AR" dirty="0"/>
              <a:t> por soportarlo. Eso tiene un costo para la firma</a:t>
            </a:r>
            <a:endParaRPr lang="en-US" dirty="0">
              <a:latin typeface="Tw Cen MT" panose="020B0602020104020603" pitchFamily="34" charset="0"/>
            </a:endParaRPr>
          </a:p>
        </p:txBody>
      </p:sp>
    </p:spTree>
    <p:extLst>
      <p:ext uri="{BB962C8B-B14F-4D97-AF65-F5344CB8AC3E}">
        <p14:creationId xmlns:p14="http://schemas.microsoft.com/office/powerpoint/2010/main" val="20783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TALLER — Maestros y Exámenes Estandarizados</a:t>
            </a:r>
            <a:endParaRPr lang="en-US" sz="2000" dirty="0">
              <a:latin typeface="Tw Cen MT" panose="020B0602020104020603" pitchFamily="34" charset="0"/>
            </a:endParaRPr>
          </a:p>
        </p:txBody>
      </p:sp>
      <p:sp>
        <p:nvSpPr>
          <p:cNvPr id="5" name="Text 3"/>
          <p:cNvSpPr/>
          <p:nvPr/>
        </p:nvSpPr>
        <p:spPr>
          <a:xfrm>
            <a:off x="365760" y="868680"/>
            <a:ext cx="8412480" cy="1828800"/>
          </a:xfrm>
          <a:prstGeom prst="rect">
            <a:avLst/>
          </a:prstGeom>
          <a:noFill/>
          <a:ln/>
        </p:spPr>
        <p:txBody>
          <a:bodyPr wrap="square" rtlCol="0" anchor="t"/>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En las escuelas primarias de algunas regiones de EE.UU. se vincula la compensación de los maestros con los resultados que obtienen sus alumnos en exámenes estandarizados. El objetivo es mejorar el rendimiento académico y fomentar una mayor dedicación de los maestros. Quienes logran que sus estudiantes superen cierto umbral de rendimiento reciben bonificaciones salariales adicionales.</a:t>
            </a:r>
            <a:endParaRPr lang="en-US" sz="2000" dirty="0">
              <a:latin typeface="Tw Cen MT" panose="020B0602020104020603" pitchFamily="34" charset="0"/>
            </a:endParaRPr>
          </a:p>
        </p:txBody>
      </p:sp>
      <p:sp>
        <p:nvSpPr>
          <p:cNvPr id="6" name="Shape 4"/>
          <p:cNvSpPr/>
          <p:nvPr/>
        </p:nvSpPr>
        <p:spPr>
          <a:xfrm>
            <a:off x="365760" y="2788920"/>
            <a:ext cx="8412480" cy="45720"/>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7" name="Text 5"/>
          <p:cNvSpPr/>
          <p:nvPr/>
        </p:nvSpPr>
        <p:spPr>
          <a:xfrm>
            <a:off x="365760" y="2907792"/>
            <a:ext cx="8412480" cy="347472"/>
          </a:xfrm>
          <a:prstGeom prst="rect">
            <a:avLst/>
          </a:prstGeom>
          <a:noFill/>
          <a:ln/>
        </p:spPr>
        <p:txBody>
          <a:bodyPr wrap="square" rtlCol="0" anchor="ctr"/>
          <a:lstStyle/>
          <a:p>
            <a:pPr marL="0" indent="0">
              <a:buNone/>
            </a:pPr>
            <a:r>
              <a:rPr lang="en-US" sz="2000" b="1" dirty="0">
                <a:solidFill>
                  <a:srgbClr val="D4A017"/>
                </a:solidFill>
                <a:latin typeface="Tw Cen MT" panose="020B0602020104020603" pitchFamily="34" charset="0"/>
                <a:ea typeface="Tw Cen MT" pitchFamily="34" charset="-122"/>
                <a:cs typeface="Tw Cen MT" pitchFamily="34" charset="-120"/>
              </a:rPr>
              <a:t>CONSIGNA — Reunión plenaria (asuman el rol asignado):</a:t>
            </a:r>
            <a:endParaRPr lang="en-US" sz="2000" dirty="0">
              <a:latin typeface="Tw Cen MT" panose="020B0602020104020603" pitchFamily="34" charset="0"/>
            </a:endParaRPr>
          </a:p>
        </p:txBody>
      </p:sp>
      <p:sp>
        <p:nvSpPr>
          <p:cNvPr id="8" name="Shape 6"/>
          <p:cNvSpPr/>
          <p:nvPr/>
        </p:nvSpPr>
        <p:spPr>
          <a:xfrm>
            <a:off x="411480" y="3383280"/>
            <a:ext cx="347472" cy="347472"/>
          </a:xfrm>
          <a:prstGeom prst="ellipse">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9" name="Text 7"/>
          <p:cNvSpPr/>
          <p:nvPr/>
        </p:nvSpPr>
        <p:spPr>
          <a:xfrm>
            <a:off x="411480" y="3383280"/>
            <a:ext cx="347472" cy="347472"/>
          </a:xfrm>
          <a:prstGeom prst="rect">
            <a:avLst/>
          </a:prstGeom>
          <a:noFill/>
          <a:ln/>
        </p:spPr>
        <p:txBody>
          <a:bodyPr wrap="square" rtlCol="0" anchor="ctr"/>
          <a:lstStyle/>
          <a:p>
            <a:pPr marL="0" indent="0" algn="ctr">
              <a:buNone/>
            </a:pPr>
            <a:r>
              <a:rPr lang="en-US" sz="2000" b="1" dirty="0">
                <a:solidFill>
                  <a:srgbClr val="1B4332"/>
                </a:solidFill>
                <a:latin typeface="Tw Cen MT" panose="020B0602020104020603" pitchFamily="34" charset="0"/>
                <a:ea typeface="Tw Cen MT" pitchFamily="34" charset="-122"/>
                <a:cs typeface="Tw Cen MT" pitchFamily="34" charset="-120"/>
              </a:rPr>
              <a:t>1</a:t>
            </a:r>
            <a:endParaRPr lang="en-US" sz="2000" dirty="0">
              <a:latin typeface="Tw Cen MT" panose="020B0602020104020603" pitchFamily="34" charset="0"/>
            </a:endParaRPr>
          </a:p>
        </p:txBody>
      </p:sp>
      <p:sp>
        <p:nvSpPr>
          <p:cNvPr id="10" name="Text 8"/>
          <p:cNvSpPr/>
          <p:nvPr/>
        </p:nvSpPr>
        <p:spPr>
          <a:xfrm>
            <a:off x="896112" y="3383280"/>
            <a:ext cx="7863840" cy="566928"/>
          </a:xfrm>
          <a:prstGeom prst="rect">
            <a:avLst/>
          </a:prstGeom>
          <a:noFill/>
          <a:ln/>
        </p:spPr>
        <p:txBody>
          <a:bodyPr wrap="square" rtlCol="0" anchor="ctr"/>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Autoridades del gobierno y del colegio.</a:t>
            </a:r>
            <a:endParaRPr lang="en-US" sz="2000" dirty="0">
              <a:latin typeface="Tw Cen MT" panose="020B0602020104020603" pitchFamily="34" charset="0"/>
            </a:endParaRPr>
          </a:p>
        </p:txBody>
      </p:sp>
      <p:sp>
        <p:nvSpPr>
          <p:cNvPr id="11" name="Shape 9"/>
          <p:cNvSpPr/>
          <p:nvPr/>
        </p:nvSpPr>
        <p:spPr>
          <a:xfrm>
            <a:off x="411480" y="4069080"/>
            <a:ext cx="347472" cy="347472"/>
          </a:xfrm>
          <a:prstGeom prst="ellipse">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12" name="Text 10"/>
          <p:cNvSpPr/>
          <p:nvPr/>
        </p:nvSpPr>
        <p:spPr>
          <a:xfrm>
            <a:off x="411480" y="4069080"/>
            <a:ext cx="347472" cy="347472"/>
          </a:xfrm>
          <a:prstGeom prst="rect">
            <a:avLst/>
          </a:prstGeom>
          <a:noFill/>
          <a:ln/>
        </p:spPr>
        <p:txBody>
          <a:bodyPr wrap="square" rtlCol="0" anchor="ctr"/>
          <a:lstStyle/>
          <a:p>
            <a:pPr marL="0" indent="0" algn="ctr">
              <a:buNone/>
            </a:pPr>
            <a:r>
              <a:rPr lang="en-US" sz="2000" b="1" dirty="0">
                <a:solidFill>
                  <a:srgbClr val="1B4332"/>
                </a:solidFill>
                <a:latin typeface="Tw Cen MT" panose="020B0602020104020603" pitchFamily="34" charset="0"/>
                <a:ea typeface="Tw Cen MT" pitchFamily="34" charset="-122"/>
                <a:cs typeface="Tw Cen MT" pitchFamily="34" charset="-120"/>
              </a:rPr>
              <a:t>2</a:t>
            </a:r>
            <a:endParaRPr lang="en-US" sz="2000" dirty="0">
              <a:latin typeface="Tw Cen MT" panose="020B0602020104020603" pitchFamily="34" charset="0"/>
            </a:endParaRPr>
          </a:p>
        </p:txBody>
      </p:sp>
      <p:sp>
        <p:nvSpPr>
          <p:cNvPr id="13" name="Text 11"/>
          <p:cNvSpPr/>
          <p:nvPr/>
        </p:nvSpPr>
        <p:spPr>
          <a:xfrm>
            <a:off x="896112" y="4069080"/>
            <a:ext cx="7863840" cy="566928"/>
          </a:xfrm>
          <a:prstGeom prst="rect">
            <a:avLst/>
          </a:prstGeom>
          <a:noFill/>
          <a:ln/>
        </p:spPr>
        <p:txBody>
          <a:bodyPr wrap="square" rtlCol="0" anchor="ctr"/>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Sindicatos de maestros.</a:t>
            </a:r>
            <a:endParaRPr lang="en-US" sz="2000" dirty="0">
              <a:latin typeface="Tw Cen MT" panose="020B0602020104020603" pitchFamily="34" charset="0"/>
            </a:endParaRPr>
          </a:p>
        </p:txBody>
      </p:sp>
      <p:sp>
        <p:nvSpPr>
          <p:cNvPr id="14" name="Shape 12"/>
          <p:cNvSpPr/>
          <p:nvPr/>
        </p:nvSpPr>
        <p:spPr>
          <a:xfrm>
            <a:off x="411480" y="4754880"/>
            <a:ext cx="347472" cy="347472"/>
          </a:xfrm>
          <a:prstGeom prst="ellipse">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15" name="Text 13"/>
          <p:cNvSpPr/>
          <p:nvPr/>
        </p:nvSpPr>
        <p:spPr>
          <a:xfrm>
            <a:off x="411480" y="4754880"/>
            <a:ext cx="347472" cy="347472"/>
          </a:xfrm>
          <a:prstGeom prst="rect">
            <a:avLst/>
          </a:prstGeom>
          <a:noFill/>
          <a:ln/>
        </p:spPr>
        <p:txBody>
          <a:bodyPr wrap="square" rtlCol="0" anchor="ctr"/>
          <a:lstStyle/>
          <a:p>
            <a:pPr marL="0" indent="0" algn="ctr">
              <a:buNone/>
            </a:pPr>
            <a:r>
              <a:rPr lang="en-US" sz="2000" b="1" dirty="0">
                <a:solidFill>
                  <a:srgbClr val="1B4332"/>
                </a:solidFill>
                <a:latin typeface="Tw Cen MT" panose="020B0602020104020603" pitchFamily="34" charset="0"/>
                <a:ea typeface="Tw Cen MT" pitchFamily="34" charset="-122"/>
                <a:cs typeface="Tw Cen MT" pitchFamily="34" charset="-120"/>
              </a:rPr>
              <a:t>3</a:t>
            </a:r>
            <a:endParaRPr lang="en-US" sz="2000" dirty="0">
              <a:latin typeface="Tw Cen MT" panose="020B0602020104020603" pitchFamily="34" charset="0"/>
            </a:endParaRPr>
          </a:p>
        </p:txBody>
      </p:sp>
      <p:sp>
        <p:nvSpPr>
          <p:cNvPr id="16" name="Text 14"/>
          <p:cNvSpPr/>
          <p:nvPr/>
        </p:nvSpPr>
        <p:spPr>
          <a:xfrm>
            <a:off x="896112" y="4754880"/>
            <a:ext cx="7863840" cy="566928"/>
          </a:xfrm>
          <a:prstGeom prst="rect">
            <a:avLst/>
          </a:prstGeom>
          <a:noFill/>
          <a:ln/>
        </p:spPr>
        <p:txBody>
          <a:bodyPr wrap="square" rtlCol="0" anchor="ctr"/>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Padres de estudiantes.</a:t>
            </a:r>
            <a:endParaRPr lang="en-US" sz="2000" dirty="0">
              <a:latin typeface="Tw Cen MT" panose="020B0602020104020603" pitchFamily="34" charset="0"/>
            </a:endParaRPr>
          </a:p>
        </p:txBody>
      </p:sp>
      <p:sp>
        <p:nvSpPr>
          <p:cNvPr id="17" name="Shape 15"/>
          <p:cNvSpPr/>
          <p:nvPr/>
        </p:nvSpPr>
        <p:spPr>
          <a:xfrm>
            <a:off x="411480" y="5440680"/>
            <a:ext cx="347472" cy="347472"/>
          </a:xfrm>
          <a:prstGeom prst="ellipse">
            <a:avLst/>
          </a:prstGeom>
          <a:solidFill>
            <a:srgbClr val="D4A017"/>
          </a:solidFill>
          <a:ln w="12700">
            <a:solidFill>
              <a:srgbClr val="D4A017"/>
            </a:solidFill>
            <a:prstDash val="solid"/>
          </a:ln>
        </p:spPr>
        <p:txBody>
          <a:bodyPr/>
          <a:lstStyle/>
          <a:p>
            <a:endParaRPr lang="en-US" sz="2000">
              <a:latin typeface="Tw Cen MT" panose="020B0602020104020603" pitchFamily="34" charset="0"/>
            </a:endParaRPr>
          </a:p>
        </p:txBody>
      </p:sp>
      <p:sp>
        <p:nvSpPr>
          <p:cNvPr id="18" name="Text 16"/>
          <p:cNvSpPr/>
          <p:nvPr/>
        </p:nvSpPr>
        <p:spPr>
          <a:xfrm>
            <a:off x="411480" y="5440680"/>
            <a:ext cx="347472" cy="347472"/>
          </a:xfrm>
          <a:prstGeom prst="rect">
            <a:avLst/>
          </a:prstGeom>
          <a:noFill/>
          <a:ln/>
        </p:spPr>
        <p:txBody>
          <a:bodyPr wrap="square" rtlCol="0" anchor="ctr"/>
          <a:lstStyle/>
          <a:p>
            <a:pPr marL="0" indent="0" algn="ctr">
              <a:buNone/>
            </a:pPr>
            <a:r>
              <a:rPr lang="en-US" sz="2000" b="1" dirty="0">
                <a:solidFill>
                  <a:srgbClr val="1B4332"/>
                </a:solidFill>
                <a:latin typeface="Tw Cen MT" panose="020B0602020104020603" pitchFamily="34" charset="0"/>
                <a:ea typeface="Tw Cen MT" pitchFamily="34" charset="-122"/>
                <a:cs typeface="Tw Cen MT" pitchFamily="34" charset="-120"/>
              </a:rPr>
              <a:t>4</a:t>
            </a:r>
            <a:endParaRPr lang="en-US" sz="2000" dirty="0">
              <a:latin typeface="Tw Cen MT" panose="020B0602020104020603" pitchFamily="34" charset="0"/>
            </a:endParaRPr>
          </a:p>
        </p:txBody>
      </p:sp>
      <p:sp>
        <p:nvSpPr>
          <p:cNvPr id="19" name="Text 17"/>
          <p:cNvSpPr/>
          <p:nvPr/>
        </p:nvSpPr>
        <p:spPr>
          <a:xfrm>
            <a:off x="896112" y="5440680"/>
            <a:ext cx="7863840" cy="566928"/>
          </a:xfrm>
          <a:prstGeom prst="rect">
            <a:avLst/>
          </a:prstGeom>
          <a:noFill/>
          <a:ln/>
        </p:spPr>
        <p:txBody>
          <a:bodyPr wrap="square" rtlCol="0" anchor="ctr"/>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Maestros.</a:t>
            </a:r>
            <a:endParaRPr lang="en-US" sz="2000" dirty="0">
              <a:latin typeface="Tw Cen MT" panose="020B0602020104020603"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8C7727DD-158F-EA87-6EA5-804335D77B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E448D04-26FF-448B-B56B-9B4AD7B05A69}"/>
              </a:ext>
            </a:extLst>
          </p:cNvPr>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a:latin typeface="Tw Cen MT" panose="020B0602020104020603" pitchFamily="34" charset="0"/>
            </a:endParaRPr>
          </a:p>
        </p:txBody>
      </p:sp>
      <p:sp>
        <p:nvSpPr>
          <p:cNvPr id="3" name="Shape 1">
            <a:extLst>
              <a:ext uri="{FF2B5EF4-FFF2-40B4-BE49-F238E27FC236}">
                <a16:creationId xmlns:a16="http://schemas.microsoft.com/office/drawing/2014/main" id="{BC7566ED-8DA0-C03A-8E4A-2C1C0E990BD3}"/>
              </a:ext>
            </a:extLst>
          </p:cNvPr>
          <p:cNvSpPr/>
          <p:nvPr/>
        </p:nvSpPr>
        <p:spPr>
          <a:xfrm>
            <a:off x="0" y="717563"/>
            <a:ext cx="9144000" cy="54864"/>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4" name="Text 2">
            <a:extLst>
              <a:ext uri="{FF2B5EF4-FFF2-40B4-BE49-F238E27FC236}">
                <a16:creationId xmlns:a16="http://schemas.microsoft.com/office/drawing/2014/main" id="{6838DB2F-0410-408F-F866-04CD2086DADB}"/>
              </a:ext>
            </a:extLst>
          </p:cNvPr>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Maestros y Exámenes Estandarizados</a:t>
            </a:r>
            <a:endParaRPr lang="en-US" sz="2000" dirty="0">
              <a:latin typeface="Tw Cen MT" panose="020B0602020104020603" pitchFamily="34" charset="0"/>
            </a:endParaRPr>
          </a:p>
        </p:txBody>
      </p:sp>
      <p:sp>
        <p:nvSpPr>
          <p:cNvPr id="5" name="Text 3">
            <a:extLst>
              <a:ext uri="{FF2B5EF4-FFF2-40B4-BE49-F238E27FC236}">
                <a16:creationId xmlns:a16="http://schemas.microsoft.com/office/drawing/2014/main" id="{A6E851DA-7F82-0D12-E554-F675C611DC06}"/>
              </a:ext>
            </a:extLst>
          </p:cNvPr>
          <p:cNvSpPr/>
          <p:nvPr/>
        </p:nvSpPr>
        <p:spPr>
          <a:xfrm>
            <a:off x="365760" y="1234440"/>
            <a:ext cx="8412480" cy="1828800"/>
          </a:xfrm>
          <a:prstGeom prst="rect">
            <a:avLst/>
          </a:prstGeom>
          <a:noFill/>
          <a:ln/>
        </p:spPr>
        <p:txBody>
          <a:bodyPr wrap="square" rtlCol="0" anchor="t"/>
          <a:lstStyle/>
          <a:p>
            <a:pPr marL="342900" indent="-342900">
              <a:buFontTx/>
              <a:buChar char="-"/>
            </a:pPr>
            <a:r>
              <a:rPr lang="es-AR" sz="2000" dirty="0">
                <a:solidFill>
                  <a:schemeClr val="bg1">
                    <a:lumMod val="95000"/>
                  </a:schemeClr>
                </a:solidFill>
                <a:latin typeface="Tw Cen MT" panose="020B0602020104020603" pitchFamily="34" charset="0"/>
              </a:rPr>
              <a:t>Se paga a un maestro en función del aprendizaje de sus alumnos.</a:t>
            </a:r>
          </a:p>
          <a:p>
            <a:pPr marL="342900" indent="-342900">
              <a:buFontTx/>
              <a:buChar char="-"/>
            </a:pPr>
            <a:r>
              <a:rPr lang="es-AR" sz="2000">
                <a:solidFill>
                  <a:schemeClr val="bg1">
                    <a:lumMod val="95000"/>
                  </a:schemeClr>
                </a:solidFill>
                <a:latin typeface="Tw Cen MT" panose="020B0602020104020603" pitchFamily="34" charset="0"/>
              </a:rPr>
              <a:t>La </a:t>
            </a:r>
            <a:r>
              <a:rPr lang="es-AR" sz="2000" dirty="0">
                <a:solidFill>
                  <a:schemeClr val="bg1">
                    <a:lumMod val="95000"/>
                  </a:schemeClr>
                </a:solidFill>
                <a:latin typeface="Tw Cen MT" panose="020B0602020104020603" pitchFamily="34" charset="0"/>
              </a:rPr>
              <a:t>única medida disponible es un examen estandarizado anual.</a:t>
            </a:r>
          </a:p>
          <a:p>
            <a:pPr marL="342900" indent="-342900">
              <a:buFontTx/>
              <a:buChar char="-"/>
            </a:pPr>
            <a:r>
              <a:rPr lang="es-AR" sz="2000" dirty="0">
                <a:solidFill>
                  <a:schemeClr val="bg1">
                    <a:lumMod val="95000"/>
                  </a:schemeClr>
                </a:solidFill>
                <a:latin typeface="Tw Cen MT" panose="020B0602020104020603" pitchFamily="34" charset="0"/>
              </a:rPr>
              <a:t>Consecuencia: hay muchísimo ruido: la familia del alumno, su contexto socioeconómico, si ese día estaba enfermo, si el examen cubrió los temas que el maestro enseñó…</a:t>
            </a:r>
          </a:p>
          <a:p>
            <a:pPr algn="ctr"/>
            <a:endParaRPr lang="es-AR" sz="2000" b="1" i="1" dirty="0">
              <a:solidFill>
                <a:schemeClr val="bg1">
                  <a:lumMod val="95000"/>
                </a:schemeClr>
              </a:solidFill>
              <a:latin typeface="Tw Cen MT" panose="020B0602020104020603" pitchFamily="34" charset="0"/>
            </a:endParaRPr>
          </a:p>
          <a:p>
            <a:pPr algn="ctr"/>
            <a:r>
              <a:rPr lang="es-AR" sz="2000" b="1" i="1" dirty="0">
                <a:solidFill>
                  <a:schemeClr val="bg1">
                    <a:lumMod val="95000"/>
                  </a:schemeClr>
                </a:solidFill>
                <a:latin typeface="Tw Cen MT" panose="020B0602020104020603" pitchFamily="34" charset="0"/>
              </a:rPr>
              <a:t>El maestro asume riesgo que no controla. </a:t>
            </a:r>
          </a:p>
          <a:p>
            <a:endParaRPr lang="es-AR" sz="2000" dirty="0">
              <a:solidFill>
                <a:schemeClr val="bg1">
                  <a:lumMod val="95000"/>
                </a:schemeClr>
              </a:solidFill>
              <a:latin typeface="Tw Cen MT" panose="020B0602020104020603" pitchFamily="34" charset="0"/>
            </a:endParaRPr>
          </a:p>
          <a:p>
            <a:r>
              <a:rPr lang="es-AR" sz="2000" dirty="0">
                <a:solidFill>
                  <a:schemeClr val="bg1">
                    <a:lumMod val="95000"/>
                  </a:schemeClr>
                </a:solidFill>
                <a:latin typeface="Tw Cen MT" panose="020B0602020104020603" pitchFamily="34" charset="0"/>
              </a:rPr>
              <a:t>Si se aumenta el bono sin mejorar la medición, el maestro soporta más riesgo y los incentivos son caros y distorsionados. </a:t>
            </a:r>
          </a:p>
          <a:p>
            <a:endParaRPr lang="es-AR" sz="2000" dirty="0">
              <a:solidFill>
                <a:schemeClr val="bg1">
                  <a:lumMod val="95000"/>
                </a:schemeClr>
              </a:solidFill>
              <a:latin typeface="Tw Cen MT" panose="020B0602020104020603" pitchFamily="34" charset="0"/>
            </a:endParaRPr>
          </a:p>
          <a:p>
            <a:r>
              <a:rPr lang="es-AR" sz="2000" dirty="0">
                <a:solidFill>
                  <a:schemeClr val="bg1">
                    <a:lumMod val="95000"/>
                  </a:schemeClr>
                </a:solidFill>
                <a:latin typeface="Tw Cen MT" panose="020B0602020104020603" pitchFamily="34" charset="0"/>
              </a:rPr>
              <a:t>Si se mejoran los instrumentos de medición —evaluaciones más frecuentes, múltiples dimensiones, control por contexto socioeconómico— la medición captura mejor el verdadero aporte del maestro. </a:t>
            </a:r>
          </a:p>
          <a:p>
            <a:endParaRPr lang="es-AR" sz="2000" dirty="0">
              <a:solidFill>
                <a:schemeClr val="bg1">
                  <a:lumMod val="95000"/>
                </a:schemeClr>
              </a:solidFill>
              <a:latin typeface="Tw Cen MT" panose="020B0602020104020603" pitchFamily="34" charset="0"/>
            </a:endParaRPr>
          </a:p>
          <a:p>
            <a:pPr algn="ctr"/>
            <a:r>
              <a:rPr lang="es-AR" sz="2000" b="1" dirty="0">
                <a:solidFill>
                  <a:schemeClr val="bg1">
                    <a:lumMod val="95000"/>
                  </a:schemeClr>
                </a:solidFill>
                <a:latin typeface="Tw Cen MT" panose="020B0602020104020603" pitchFamily="34" charset="0"/>
              </a:rPr>
              <a:t>Ahí tiene sentido aumentar el componente variable</a:t>
            </a:r>
            <a:r>
              <a:rPr lang="en-US" sz="2000" dirty="0">
                <a:solidFill>
                  <a:schemeClr val="bg1">
                    <a:lumMod val="95000"/>
                  </a:schemeClr>
                </a:solidFill>
                <a:latin typeface="Tw Cen MT" panose="020B0602020104020603" pitchFamily="34" charset="0"/>
                <a:ea typeface="Tw Cen MT" pitchFamily="34" charset="-122"/>
                <a:cs typeface="Tw Cen MT" pitchFamily="34" charset="-120"/>
              </a:rPr>
              <a:t>.</a:t>
            </a:r>
            <a:endParaRPr lang="en-US" sz="2000" dirty="0">
              <a:solidFill>
                <a:schemeClr val="bg1">
                  <a:lumMod val="95000"/>
                </a:schemeClr>
              </a:solidFill>
              <a:latin typeface="Tw Cen MT" panose="020B0602020104020603" pitchFamily="34" charset="0"/>
            </a:endParaRPr>
          </a:p>
        </p:txBody>
      </p:sp>
      <p:sp>
        <p:nvSpPr>
          <p:cNvPr id="6" name="Shape 4">
            <a:extLst>
              <a:ext uri="{FF2B5EF4-FFF2-40B4-BE49-F238E27FC236}">
                <a16:creationId xmlns:a16="http://schemas.microsoft.com/office/drawing/2014/main" id="{FD423BF4-02FB-86D8-2D96-5BCBBD25963A}"/>
              </a:ext>
            </a:extLst>
          </p:cNvPr>
          <p:cNvSpPr/>
          <p:nvPr/>
        </p:nvSpPr>
        <p:spPr>
          <a:xfrm>
            <a:off x="279132" y="6215514"/>
            <a:ext cx="8412480" cy="45720"/>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Tree>
    <p:extLst>
      <p:ext uri="{BB962C8B-B14F-4D97-AF65-F5344CB8AC3E}">
        <p14:creationId xmlns:p14="http://schemas.microsoft.com/office/powerpoint/2010/main" val="2287840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Costos de la Medición — Barzel (1982)</a:t>
            </a:r>
            <a:endParaRPr lang="en-US" sz="2200" dirty="0"/>
          </a:p>
        </p:txBody>
      </p:sp>
      <p:sp>
        <p:nvSpPr>
          <p:cNvPr id="5" name="Shape 3"/>
          <p:cNvSpPr/>
          <p:nvPr/>
        </p:nvSpPr>
        <p:spPr>
          <a:xfrm>
            <a:off x="320040" y="777240"/>
            <a:ext cx="8503920" cy="1572768"/>
          </a:xfrm>
          <a:prstGeom prst="rect">
            <a:avLst/>
          </a:prstGeom>
          <a:solidFill>
            <a:srgbClr val="F0F4F8"/>
          </a:solidFill>
          <a:ln w="12700">
            <a:solidFill>
              <a:srgbClr val="CCCCCC"/>
            </a:solidFill>
            <a:prstDash val="solid"/>
          </a:ln>
        </p:spPr>
        <p:txBody>
          <a:bodyPr/>
          <a:lstStyle/>
          <a:p>
            <a:endParaRPr lang="en-US">
              <a:latin typeface="Tw Cen MT" panose="020B0602020104020603" pitchFamily="34" charset="0"/>
            </a:endParaRPr>
          </a:p>
        </p:txBody>
      </p:sp>
      <p:sp>
        <p:nvSpPr>
          <p:cNvPr id="7" name="Text 5"/>
          <p:cNvSpPr/>
          <p:nvPr/>
        </p:nvSpPr>
        <p:spPr>
          <a:xfrm>
            <a:off x="548640" y="822960"/>
            <a:ext cx="8229600" cy="1472184"/>
          </a:xfrm>
          <a:prstGeom prst="rect">
            <a:avLst/>
          </a:prstGeom>
          <a:noFill/>
          <a:ln/>
        </p:spPr>
        <p:txBody>
          <a:bodyPr wrap="square" rtlCol="0" anchor="ctr"/>
          <a:lstStyle/>
          <a:p>
            <a:pPr marL="0" indent="0">
              <a:buNone/>
            </a:pPr>
            <a:r>
              <a:rPr lang="en-US" i="1" dirty="0">
                <a:solidFill>
                  <a:srgbClr val="222222"/>
                </a:solidFill>
                <a:latin typeface="Tw Cen MT" panose="020B0602020104020603" pitchFamily="34" charset="0"/>
                <a:ea typeface="Tw Cen MT" pitchFamily="34" charset="-122"/>
                <a:cs typeface="Tw Cen MT" pitchFamily="34" charset="-120"/>
              </a:rPr>
              <a:t>"Las personas intercambiarán bienes solo si perciben que lo que obtienen es más valioso que lo que dan. Para formar tales percepciones, los atributos de los artículos comercializados deben medirse. Determinar el peso de una naranja puede ser preciso y de bajo costo. Sin embargo, lo que se pesa es rara vez lo que se valora: el sabor y la cantidad de jugo son una sorpresa para el comprador."</a:t>
            </a:r>
            <a:endParaRPr lang="en-US" dirty="0">
              <a:latin typeface="Tw Cen MT" panose="020B0602020104020603" pitchFamily="34" charset="0"/>
            </a:endParaRPr>
          </a:p>
        </p:txBody>
      </p:sp>
      <p:sp>
        <p:nvSpPr>
          <p:cNvPr id="8" name="Shape 6"/>
          <p:cNvSpPr/>
          <p:nvPr/>
        </p:nvSpPr>
        <p:spPr>
          <a:xfrm>
            <a:off x="320040" y="2404872"/>
            <a:ext cx="384048"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9" name="Text 7"/>
          <p:cNvSpPr/>
          <p:nvPr/>
        </p:nvSpPr>
        <p:spPr>
          <a:xfrm>
            <a:off x="320040" y="2404872"/>
            <a:ext cx="384048" cy="384048"/>
          </a:xfrm>
          <a:prstGeom prst="rect">
            <a:avLst/>
          </a:prstGeom>
          <a:noFill/>
          <a:ln/>
        </p:spPr>
        <p:txBody>
          <a:bodyPr wrap="square" rtlCol="0" anchor="ctr"/>
          <a:lstStyle/>
          <a:p>
            <a:pPr marL="0" indent="0" algn="ctr">
              <a:buNone/>
            </a:pPr>
            <a:r>
              <a:rPr lang="en-US" dirty="0">
                <a:solidFill>
                  <a:srgbClr val="FFFFFF"/>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10" name="Text 8"/>
          <p:cNvSpPr/>
          <p:nvPr/>
        </p:nvSpPr>
        <p:spPr>
          <a:xfrm>
            <a:off x="804672" y="2295144"/>
            <a:ext cx="8028432" cy="74980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Casi todo es observable, incluso el esfuerzo, a algún costo.</a:t>
            </a:r>
            <a:endParaRPr lang="en-US" dirty="0">
              <a:latin typeface="Tw Cen MT" panose="020B0602020104020603" pitchFamily="34" charset="0"/>
            </a:endParaRPr>
          </a:p>
        </p:txBody>
      </p:sp>
      <p:sp>
        <p:nvSpPr>
          <p:cNvPr id="11" name="Shape 9"/>
          <p:cNvSpPr/>
          <p:nvPr/>
        </p:nvSpPr>
        <p:spPr>
          <a:xfrm>
            <a:off x="320040" y="3246120"/>
            <a:ext cx="384048"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2" name="Text 10"/>
          <p:cNvSpPr/>
          <p:nvPr/>
        </p:nvSpPr>
        <p:spPr>
          <a:xfrm>
            <a:off x="320040" y="3246120"/>
            <a:ext cx="384048" cy="384048"/>
          </a:xfrm>
          <a:prstGeom prst="rect">
            <a:avLst/>
          </a:prstGeom>
          <a:noFill/>
          <a:ln/>
        </p:spPr>
        <p:txBody>
          <a:bodyPr wrap="square" rtlCol="0" anchor="ctr"/>
          <a:lstStyle/>
          <a:p>
            <a:pPr marL="0" indent="0" algn="ctr">
              <a:buNone/>
            </a:pPr>
            <a:r>
              <a:rPr lang="en-US" dirty="0">
                <a:solidFill>
                  <a:srgbClr val="FFFFFF"/>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13" name="Text 11"/>
          <p:cNvSpPr/>
          <p:nvPr/>
        </p:nvSpPr>
        <p:spPr>
          <a:xfrm>
            <a:off x="804672" y="3136392"/>
            <a:ext cx="8028432" cy="74980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Los altos costos de medición pueden reducir los beneficios netos de vincular la paga al rendimiento.</a:t>
            </a:r>
            <a:endParaRPr lang="en-US" dirty="0">
              <a:latin typeface="Tw Cen MT" panose="020B0602020104020603" pitchFamily="34" charset="0"/>
            </a:endParaRPr>
          </a:p>
        </p:txBody>
      </p:sp>
      <p:sp>
        <p:nvSpPr>
          <p:cNvPr id="14" name="Shape 12"/>
          <p:cNvSpPr/>
          <p:nvPr/>
        </p:nvSpPr>
        <p:spPr>
          <a:xfrm>
            <a:off x="320040" y="4087368"/>
            <a:ext cx="384048"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5" name="Text 13"/>
          <p:cNvSpPr/>
          <p:nvPr/>
        </p:nvSpPr>
        <p:spPr>
          <a:xfrm>
            <a:off x="320040" y="4087368"/>
            <a:ext cx="384048" cy="384048"/>
          </a:xfrm>
          <a:prstGeom prst="rect">
            <a:avLst/>
          </a:prstGeom>
          <a:noFill/>
          <a:ln/>
        </p:spPr>
        <p:txBody>
          <a:bodyPr wrap="square" rtlCol="0" anchor="ctr"/>
          <a:lstStyle/>
          <a:p>
            <a:pPr marL="0" indent="0" algn="ctr">
              <a:buNone/>
            </a:pPr>
            <a:r>
              <a:rPr lang="en-US" dirty="0">
                <a:solidFill>
                  <a:srgbClr val="FFFFFF"/>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16" name="Text 14"/>
          <p:cNvSpPr/>
          <p:nvPr/>
        </p:nvSpPr>
        <p:spPr>
          <a:xfrm>
            <a:off x="804672" y="3977640"/>
            <a:ext cx="8028432" cy="74980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Cuanto mayor es el pago de incentivos, más riesgo asume el empleado y más debe gastar la empresa en sistemas de medición para cuantificar los factores aleatorios.</a:t>
            </a:r>
            <a:endParaRPr lang="en-US" dirty="0">
              <a:latin typeface="Tw Cen MT" panose="020B0602020104020603" pitchFamily="34" charset="0"/>
            </a:endParaRPr>
          </a:p>
        </p:txBody>
      </p:sp>
      <p:sp>
        <p:nvSpPr>
          <p:cNvPr id="17" name="Shape 15"/>
          <p:cNvSpPr/>
          <p:nvPr/>
        </p:nvSpPr>
        <p:spPr>
          <a:xfrm>
            <a:off x="320040" y="4928616"/>
            <a:ext cx="384048"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8" name="Text 16"/>
          <p:cNvSpPr/>
          <p:nvPr/>
        </p:nvSpPr>
        <p:spPr>
          <a:xfrm>
            <a:off x="320040" y="4928616"/>
            <a:ext cx="384048" cy="384048"/>
          </a:xfrm>
          <a:prstGeom prst="rect">
            <a:avLst/>
          </a:prstGeom>
          <a:noFill/>
          <a:ln/>
        </p:spPr>
        <p:txBody>
          <a:bodyPr wrap="square" rtlCol="0" anchor="ctr"/>
          <a:lstStyle/>
          <a:p>
            <a:pPr marL="0" indent="0" algn="ctr">
              <a:buNone/>
            </a:pPr>
            <a:r>
              <a:rPr lang="en-US" dirty="0">
                <a:solidFill>
                  <a:srgbClr val="FFFFFF"/>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19" name="Text 17"/>
          <p:cNvSpPr/>
          <p:nvPr/>
        </p:nvSpPr>
        <p:spPr>
          <a:xfrm>
            <a:off x="804672" y="4818888"/>
            <a:ext cx="8028432" cy="74980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Si la observación y medición de la producción es cara, se buscan variables proxy. Ej: maestros de escuela evaluados por resultados de alumnos en pruebas estandarizadas.</a:t>
            </a:r>
            <a:endParaRPr lang="en-US" dirty="0">
              <a:latin typeface="Tw Cen MT" panose="020B0602020104020603" pitchFamily="34" charset="0"/>
            </a:endParaRPr>
          </a:p>
        </p:txBody>
      </p:sp>
      <p:sp>
        <p:nvSpPr>
          <p:cNvPr id="20" name="Shape 18"/>
          <p:cNvSpPr/>
          <p:nvPr/>
        </p:nvSpPr>
        <p:spPr>
          <a:xfrm>
            <a:off x="320040" y="5769864"/>
            <a:ext cx="384048"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21" name="Text 19"/>
          <p:cNvSpPr/>
          <p:nvPr/>
        </p:nvSpPr>
        <p:spPr>
          <a:xfrm>
            <a:off x="320040" y="5769864"/>
            <a:ext cx="384048" cy="384048"/>
          </a:xfrm>
          <a:prstGeom prst="rect">
            <a:avLst/>
          </a:prstGeom>
          <a:noFill/>
          <a:ln/>
        </p:spPr>
        <p:txBody>
          <a:bodyPr wrap="square" rtlCol="0" anchor="ctr"/>
          <a:lstStyle/>
          <a:p>
            <a:pPr marL="0" indent="0" algn="ctr">
              <a:buNone/>
            </a:pPr>
            <a:r>
              <a:rPr lang="en-US" dirty="0">
                <a:solidFill>
                  <a:srgbClr val="FFFFFF"/>
                </a:solidFill>
                <a:latin typeface="Tw Cen MT" panose="020B0602020104020603" pitchFamily="34" charset="0"/>
                <a:ea typeface="Tw Cen MT" pitchFamily="34" charset="-122"/>
                <a:cs typeface="Tw Cen MT" pitchFamily="34" charset="-120"/>
              </a:rPr>
              <a:t>▸</a:t>
            </a:r>
            <a:endParaRPr lang="en-US" dirty="0">
              <a:latin typeface="Tw Cen MT" panose="020B0602020104020603" pitchFamily="34" charset="0"/>
            </a:endParaRPr>
          </a:p>
        </p:txBody>
      </p:sp>
      <p:sp>
        <p:nvSpPr>
          <p:cNvPr id="22" name="Text 20"/>
          <p:cNvSpPr/>
          <p:nvPr/>
        </p:nvSpPr>
        <p:spPr>
          <a:xfrm>
            <a:off x="804672" y="5660136"/>
            <a:ext cx="8028432" cy="74980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Medidas mal diseñadas fomentan el oportunismo: el engaño y el problema de horizonte.</a:t>
            </a:r>
            <a:endParaRPr lang="en-US" dirty="0">
              <a:latin typeface="Tw Cen MT" panose="020B0602020104020603"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Stack Ranking — Evaluación por Forzamiento de Distribución</a:t>
            </a:r>
            <a:endParaRPr lang="en-US" sz="2000" dirty="0">
              <a:latin typeface="Tw Cen MT" panose="020B0602020104020603" pitchFamily="34" charset="0"/>
            </a:endParaRPr>
          </a:p>
        </p:txBody>
      </p:sp>
      <p:sp>
        <p:nvSpPr>
          <p:cNvPr id="5" name="Shape 3"/>
          <p:cNvSpPr/>
          <p:nvPr/>
        </p:nvSpPr>
        <p:spPr>
          <a:xfrm>
            <a:off x="320040" y="777240"/>
            <a:ext cx="8503920" cy="384048"/>
          </a:xfrm>
          <a:prstGeom prst="rect">
            <a:avLst/>
          </a:prstGeom>
          <a:solidFill>
            <a:srgbClr val="1A2744"/>
          </a:solidFill>
          <a:ln w="12700">
            <a:solidFill>
              <a:srgbClr val="1A2744"/>
            </a:solidFill>
            <a:prstDash val="solid"/>
          </a:ln>
        </p:spPr>
        <p:txBody>
          <a:bodyPr/>
          <a:lstStyle/>
          <a:p>
            <a:endParaRPr lang="en-US">
              <a:latin typeface="Tw Cen MT" panose="020B0602020104020603" pitchFamily="34" charset="0"/>
            </a:endParaRPr>
          </a:p>
        </p:txBody>
      </p:sp>
      <p:sp>
        <p:nvSpPr>
          <p:cNvPr id="6" name="Text 4"/>
          <p:cNvSpPr/>
          <p:nvPr/>
        </p:nvSpPr>
        <p:spPr>
          <a:xfrm>
            <a:off x="320040" y="777240"/>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¿Qué es el Stack Ranking?</a:t>
            </a:r>
            <a:endParaRPr lang="en-US" dirty="0">
              <a:latin typeface="Tw Cen MT" panose="020B0602020104020603" pitchFamily="34" charset="0"/>
            </a:endParaRPr>
          </a:p>
        </p:txBody>
      </p:sp>
      <p:sp>
        <p:nvSpPr>
          <p:cNvPr id="7" name="Text 5"/>
          <p:cNvSpPr/>
          <p:nvPr/>
        </p:nvSpPr>
        <p:spPr>
          <a:xfrm>
            <a:off x="365760" y="1298448"/>
            <a:ext cx="8412480" cy="59436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Sistema de evaluación que fuerza a clasificar a todos los empleados en una curva de distribución predefinida. Popularizado por GE (Jack Welch) y utilizado por Microsoft hasta 2013.</a:t>
            </a:r>
            <a:endParaRPr lang="en-US" dirty="0">
              <a:latin typeface="Tw Cen MT" panose="020B0602020104020603" pitchFamily="34" charset="0"/>
            </a:endParaRPr>
          </a:p>
        </p:txBody>
      </p:sp>
      <p:sp>
        <p:nvSpPr>
          <p:cNvPr id="8" name="Shape 6"/>
          <p:cNvSpPr/>
          <p:nvPr/>
        </p:nvSpPr>
        <p:spPr>
          <a:xfrm>
            <a:off x="320040" y="2400541"/>
            <a:ext cx="4160520" cy="347472"/>
          </a:xfrm>
          <a:prstGeom prst="rect">
            <a:avLst/>
          </a:prstGeom>
          <a:solidFill>
            <a:srgbClr val="1B4332"/>
          </a:solidFill>
          <a:ln w="12700">
            <a:solidFill>
              <a:srgbClr val="1B4332"/>
            </a:solidFill>
            <a:prstDash val="solid"/>
          </a:ln>
        </p:spPr>
        <p:txBody>
          <a:bodyPr/>
          <a:lstStyle/>
          <a:p>
            <a:endParaRPr lang="en-US">
              <a:latin typeface="Tw Cen MT" panose="020B0602020104020603" pitchFamily="34" charset="0"/>
            </a:endParaRPr>
          </a:p>
        </p:txBody>
      </p:sp>
      <p:sp>
        <p:nvSpPr>
          <p:cNvPr id="9" name="Text 7"/>
          <p:cNvSpPr/>
          <p:nvPr/>
        </p:nvSpPr>
        <p:spPr>
          <a:xfrm>
            <a:off x="320040" y="2400541"/>
            <a:ext cx="4160520"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VENTAJAS</a:t>
            </a:r>
            <a:endParaRPr lang="en-US" dirty="0">
              <a:latin typeface="Tw Cen MT" panose="020B0602020104020603" pitchFamily="34" charset="0"/>
            </a:endParaRPr>
          </a:p>
        </p:txBody>
      </p:sp>
      <p:sp>
        <p:nvSpPr>
          <p:cNvPr id="10" name="Shape 8"/>
          <p:cNvSpPr/>
          <p:nvPr/>
        </p:nvSpPr>
        <p:spPr>
          <a:xfrm>
            <a:off x="320040" y="2748013"/>
            <a:ext cx="4160520" cy="274320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1" name="Text 9"/>
          <p:cNvSpPr/>
          <p:nvPr/>
        </p:nvSpPr>
        <p:spPr>
          <a:xfrm>
            <a:off x="484632" y="285774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Diferencia claramente el desempeño.</a:t>
            </a:r>
            <a:endParaRPr lang="en-US" dirty="0">
              <a:latin typeface="Tw Cen MT" panose="020B0602020104020603" pitchFamily="34" charset="0"/>
            </a:endParaRPr>
          </a:p>
        </p:txBody>
      </p:sp>
      <p:sp>
        <p:nvSpPr>
          <p:cNvPr id="12" name="Text 10"/>
          <p:cNvSpPr/>
          <p:nvPr/>
        </p:nvSpPr>
        <p:spPr>
          <a:xfrm>
            <a:off x="484632" y="349782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Evita la compresión de calificaciones (todos 'buenos').</a:t>
            </a:r>
            <a:endParaRPr lang="en-US" dirty="0">
              <a:latin typeface="Tw Cen MT" panose="020B0602020104020603" pitchFamily="34" charset="0"/>
            </a:endParaRPr>
          </a:p>
        </p:txBody>
      </p:sp>
      <p:sp>
        <p:nvSpPr>
          <p:cNvPr id="13" name="Text 11"/>
          <p:cNvSpPr/>
          <p:nvPr/>
        </p:nvSpPr>
        <p:spPr>
          <a:xfrm>
            <a:off x="484632" y="413790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Obliga a conversaciones difíciles sobre desempeño.</a:t>
            </a:r>
            <a:endParaRPr lang="en-US" dirty="0">
              <a:latin typeface="Tw Cen MT" panose="020B0602020104020603" pitchFamily="34" charset="0"/>
            </a:endParaRPr>
          </a:p>
        </p:txBody>
      </p:sp>
      <p:sp>
        <p:nvSpPr>
          <p:cNvPr id="14" name="Text 12"/>
          <p:cNvSpPr/>
          <p:nvPr/>
        </p:nvSpPr>
        <p:spPr>
          <a:xfrm>
            <a:off x="484632" y="477798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Identifica y retiene el talento superior.</a:t>
            </a:r>
            <a:endParaRPr lang="en-US" dirty="0">
              <a:latin typeface="Tw Cen MT" panose="020B0602020104020603" pitchFamily="34" charset="0"/>
            </a:endParaRPr>
          </a:p>
        </p:txBody>
      </p:sp>
      <p:sp>
        <p:nvSpPr>
          <p:cNvPr id="15" name="Shape 13"/>
          <p:cNvSpPr/>
          <p:nvPr/>
        </p:nvSpPr>
        <p:spPr>
          <a:xfrm>
            <a:off x="4663440" y="2400541"/>
            <a:ext cx="4160520" cy="3474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6" name="Text 14"/>
          <p:cNvSpPr/>
          <p:nvPr/>
        </p:nvSpPr>
        <p:spPr>
          <a:xfrm>
            <a:off x="4663440" y="2400541"/>
            <a:ext cx="4160520" cy="3474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DESVENTAJAS</a:t>
            </a:r>
            <a:endParaRPr lang="en-US" dirty="0">
              <a:latin typeface="Tw Cen MT" panose="020B0602020104020603" pitchFamily="34" charset="0"/>
            </a:endParaRPr>
          </a:p>
        </p:txBody>
      </p:sp>
      <p:sp>
        <p:nvSpPr>
          <p:cNvPr id="17" name="Shape 15"/>
          <p:cNvSpPr/>
          <p:nvPr/>
        </p:nvSpPr>
        <p:spPr>
          <a:xfrm>
            <a:off x="4663440" y="2748013"/>
            <a:ext cx="4160520" cy="274320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8" name="Text 16"/>
          <p:cNvSpPr/>
          <p:nvPr/>
        </p:nvSpPr>
        <p:spPr>
          <a:xfrm>
            <a:off x="4828032" y="285774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Destruye el trabajo en equipo y la cooperación.</a:t>
            </a:r>
            <a:endParaRPr lang="en-US" dirty="0">
              <a:latin typeface="Tw Cen MT" panose="020B0602020104020603" pitchFamily="34" charset="0"/>
            </a:endParaRPr>
          </a:p>
        </p:txBody>
      </p:sp>
      <p:sp>
        <p:nvSpPr>
          <p:cNvPr id="19" name="Text 17"/>
          <p:cNvSpPr/>
          <p:nvPr/>
        </p:nvSpPr>
        <p:spPr>
          <a:xfrm>
            <a:off x="4828032" y="349782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Genera competencia destructiva entre pares.</a:t>
            </a:r>
            <a:endParaRPr lang="en-US" dirty="0">
              <a:latin typeface="Tw Cen MT" panose="020B0602020104020603" pitchFamily="34" charset="0"/>
            </a:endParaRPr>
          </a:p>
        </p:txBody>
      </p:sp>
      <p:sp>
        <p:nvSpPr>
          <p:cNvPr id="20" name="Text 18"/>
          <p:cNvSpPr/>
          <p:nvPr/>
        </p:nvSpPr>
        <p:spPr>
          <a:xfrm>
            <a:off x="4828032" y="413790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Obliga a despedir a buenos empleados en equipos excelentes.</a:t>
            </a:r>
            <a:endParaRPr lang="en-US" dirty="0">
              <a:latin typeface="Tw Cen MT" panose="020B0602020104020603" pitchFamily="34" charset="0"/>
            </a:endParaRPr>
          </a:p>
        </p:txBody>
      </p:sp>
      <p:sp>
        <p:nvSpPr>
          <p:cNvPr id="21" name="Text 19"/>
          <p:cNvSpPr/>
          <p:nvPr/>
        </p:nvSpPr>
        <p:spPr>
          <a:xfrm>
            <a:off x="4828032" y="4777981"/>
            <a:ext cx="3840480" cy="566928"/>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Sesgo del evaluador amplificado por el sistema.</a:t>
            </a:r>
            <a:endParaRPr lang="en-US" dirty="0">
              <a:latin typeface="Tw Cen MT" panose="020B0602020104020603" pitchFamily="34" charset="0"/>
            </a:endParaRPr>
          </a:p>
        </p:txBody>
      </p:sp>
      <p:sp>
        <p:nvSpPr>
          <p:cNvPr id="22" name="Shape 20"/>
          <p:cNvSpPr/>
          <p:nvPr/>
        </p:nvSpPr>
        <p:spPr>
          <a:xfrm>
            <a:off x="365760" y="5838684"/>
            <a:ext cx="8503920" cy="855205"/>
          </a:xfrm>
          <a:prstGeom prst="rect">
            <a:avLst/>
          </a:prstGeom>
          <a:solidFill>
            <a:srgbClr val="FDF5E0"/>
          </a:solidFill>
          <a:ln w="12700">
            <a:solidFill>
              <a:srgbClr val="D4A017"/>
            </a:solidFill>
            <a:prstDash val="solid"/>
          </a:ln>
        </p:spPr>
        <p:txBody>
          <a:bodyPr/>
          <a:lstStyle/>
          <a:p>
            <a:endParaRPr lang="en-US" sz="2000" b="1" dirty="0">
              <a:latin typeface="Tw Cen MT" panose="020B0602020104020603" pitchFamily="34" charset="0"/>
            </a:endParaRPr>
          </a:p>
        </p:txBody>
      </p:sp>
      <p:sp>
        <p:nvSpPr>
          <p:cNvPr id="23" name="Text 21"/>
          <p:cNvSpPr/>
          <p:nvPr/>
        </p:nvSpPr>
        <p:spPr>
          <a:xfrm>
            <a:off x="365760" y="5838685"/>
            <a:ext cx="8503920" cy="731520"/>
          </a:xfrm>
          <a:prstGeom prst="rect">
            <a:avLst/>
          </a:prstGeom>
          <a:noFill/>
          <a:ln/>
        </p:spPr>
        <p:txBody>
          <a:bodyPr wrap="square" rtlCol="0" anchor="ctr"/>
          <a:lstStyle/>
          <a:p>
            <a:pPr marL="0" indent="0" algn="ctr">
              <a:buNone/>
            </a:pPr>
            <a:r>
              <a:rPr lang="en-US" sz="2000" b="1" i="1" dirty="0">
                <a:solidFill>
                  <a:srgbClr val="222222"/>
                </a:solidFill>
                <a:latin typeface="Tw Cen MT" panose="020B0602020104020603" pitchFamily="34" charset="0"/>
                <a:ea typeface="Tw Cen MT" pitchFamily="34" charset="-122"/>
                <a:cs typeface="Tw Cen MT" pitchFamily="34" charset="-120"/>
              </a:rPr>
              <a:t>Microsoft abandonó el stack ranking en 2013 tras constatar su impacto negativo en la cultura y la innovación.</a:t>
            </a:r>
            <a:endParaRPr lang="en-US" sz="2000" b="1" dirty="0">
              <a:latin typeface="Tw Cen MT" panose="020B0602020104020603"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El Experimento de las Gallinas </a:t>
            </a:r>
            <a:endParaRPr lang="en-US" dirty="0">
              <a:latin typeface="Tw Cen MT" panose="020B0602020104020603" pitchFamily="34" charset="0"/>
            </a:endParaRPr>
          </a:p>
        </p:txBody>
      </p:sp>
      <p:sp>
        <p:nvSpPr>
          <p:cNvPr id="5" name="Text 3"/>
          <p:cNvSpPr/>
          <p:nvPr/>
        </p:nvSpPr>
        <p:spPr>
          <a:xfrm>
            <a:off x="365760" y="1248516"/>
            <a:ext cx="8412480" cy="68580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William Muir, biólogo evolutivo en la Universidad de Purdue, llevó a cabo un experimento sobre la producción y el trabajo en grupo utilizando gallinas, cuya productividad es fácilmente medible (contando huevos).</a:t>
            </a:r>
            <a:endParaRPr lang="en-US" dirty="0">
              <a:latin typeface="Tw Cen MT" panose="020B0602020104020603" pitchFamily="34" charset="0"/>
            </a:endParaRPr>
          </a:p>
        </p:txBody>
      </p:sp>
      <p:sp>
        <p:nvSpPr>
          <p:cNvPr id="6" name="Shape 4"/>
          <p:cNvSpPr/>
          <p:nvPr/>
        </p:nvSpPr>
        <p:spPr>
          <a:xfrm>
            <a:off x="365760" y="2418107"/>
            <a:ext cx="4160520"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7" name="Text 5"/>
          <p:cNvSpPr/>
          <p:nvPr/>
        </p:nvSpPr>
        <p:spPr>
          <a:xfrm>
            <a:off x="365760" y="2418107"/>
            <a:ext cx="41605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JAULA A — Súper Gallinas</a:t>
            </a:r>
            <a:endParaRPr lang="en-US" dirty="0">
              <a:latin typeface="Tw Cen MT" panose="020B0602020104020603" pitchFamily="34" charset="0"/>
            </a:endParaRPr>
          </a:p>
        </p:txBody>
      </p:sp>
      <p:sp>
        <p:nvSpPr>
          <p:cNvPr id="8" name="Shape 6"/>
          <p:cNvSpPr/>
          <p:nvPr/>
        </p:nvSpPr>
        <p:spPr>
          <a:xfrm>
            <a:off x="365760" y="2802155"/>
            <a:ext cx="4160520" cy="320040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9" name="Text 7"/>
          <p:cNvSpPr/>
          <p:nvPr/>
        </p:nvSpPr>
        <p:spPr>
          <a:xfrm>
            <a:off x="502920" y="2902739"/>
            <a:ext cx="3886200" cy="3017520"/>
          </a:xfrm>
          <a:prstGeom prst="rect">
            <a:avLst/>
          </a:prstGeom>
          <a:noFill/>
          <a:ln/>
        </p:spPr>
        <p:txBody>
          <a:bodyPr wrap="square" rtlCol="0" anchor="t"/>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Puso en la misma jaula a las gallinas MÁS productoras de huevos en forma individual.</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Resultado: Se picoteaban entre ellas hasta matarse. Al final del experimento, solo quedaron 3 gallinas malheridas y casi sin plumas.</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Tasa de mortalidad: 89%</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Productividad: ↓↓↓</a:t>
            </a:r>
            <a:endParaRPr lang="en-US" dirty="0">
              <a:latin typeface="Tw Cen MT" panose="020B0602020104020603" pitchFamily="34" charset="0"/>
            </a:endParaRPr>
          </a:p>
        </p:txBody>
      </p:sp>
      <p:sp>
        <p:nvSpPr>
          <p:cNvPr id="10" name="Shape 8"/>
          <p:cNvSpPr/>
          <p:nvPr/>
        </p:nvSpPr>
        <p:spPr>
          <a:xfrm>
            <a:off x="4709160" y="2418107"/>
            <a:ext cx="4160520" cy="384048"/>
          </a:xfrm>
          <a:prstGeom prst="rect">
            <a:avLst/>
          </a:prstGeom>
          <a:solidFill>
            <a:srgbClr val="1B4332"/>
          </a:solidFill>
          <a:ln w="12700">
            <a:solidFill>
              <a:srgbClr val="1B4332"/>
            </a:solidFill>
            <a:prstDash val="solid"/>
          </a:ln>
        </p:spPr>
        <p:txBody>
          <a:bodyPr/>
          <a:lstStyle/>
          <a:p>
            <a:endParaRPr lang="en-US">
              <a:latin typeface="Tw Cen MT" panose="020B0602020104020603" pitchFamily="34" charset="0"/>
            </a:endParaRPr>
          </a:p>
        </p:txBody>
      </p:sp>
      <p:sp>
        <p:nvSpPr>
          <p:cNvPr id="11" name="Text 9"/>
          <p:cNvSpPr/>
          <p:nvPr/>
        </p:nvSpPr>
        <p:spPr>
          <a:xfrm>
            <a:off x="4709160" y="2418107"/>
            <a:ext cx="41605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JAULA B — Mejor Grupo</a:t>
            </a:r>
            <a:endParaRPr lang="en-US" dirty="0">
              <a:latin typeface="Tw Cen MT" panose="020B0602020104020603" pitchFamily="34" charset="0"/>
            </a:endParaRPr>
          </a:p>
        </p:txBody>
      </p:sp>
      <p:sp>
        <p:nvSpPr>
          <p:cNvPr id="12" name="Shape 10"/>
          <p:cNvSpPr/>
          <p:nvPr/>
        </p:nvSpPr>
        <p:spPr>
          <a:xfrm>
            <a:off x="4709160" y="2802155"/>
            <a:ext cx="4160520" cy="3200400"/>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3" name="Text 11"/>
          <p:cNvSpPr/>
          <p:nvPr/>
        </p:nvSpPr>
        <p:spPr>
          <a:xfrm>
            <a:off x="4846320" y="2902739"/>
            <a:ext cx="3886200" cy="3017520"/>
          </a:xfrm>
          <a:prstGeom prst="rect">
            <a:avLst/>
          </a:prstGeom>
          <a:noFill/>
          <a:ln/>
        </p:spPr>
        <p:txBody>
          <a:bodyPr wrap="square" rtlCol="0" anchor="t"/>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Colocó el mejor GRUPO de gallinas productoras (podía contener gallinas poco productivas individualmente).</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Resultado: No se agredían entre ellas. La productividad colectiva de la jaula se incrementó en un 160% en el mismo período.</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Tasa de mortalidad: baja</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Productividad: ↑↑↑</a:t>
            </a:r>
            <a:endParaRPr lang="en-US" dirty="0">
              <a:latin typeface="Tw Cen MT" panose="020B0602020104020603"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E527FC2C-90D5-0FB8-F093-497D3C6808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323C2E-965B-FB39-2588-7DCF3391E389}"/>
              </a:ext>
            </a:extLst>
          </p:cNvPr>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a:latin typeface="Tw Cen MT" panose="020B0602020104020603" pitchFamily="34" charset="0"/>
            </a:endParaRPr>
          </a:p>
        </p:txBody>
      </p:sp>
      <p:sp>
        <p:nvSpPr>
          <p:cNvPr id="3" name="Shape 1">
            <a:extLst>
              <a:ext uri="{FF2B5EF4-FFF2-40B4-BE49-F238E27FC236}">
                <a16:creationId xmlns:a16="http://schemas.microsoft.com/office/drawing/2014/main" id="{F3027194-FD9B-D7AD-D1C9-7F711082CC4C}"/>
              </a:ext>
            </a:extLst>
          </p:cNvPr>
          <p:cNvSpPr/>
          <p:nvPr/>
        </p:nvSpPr>
        <p:spPr>
          <a:xfrm>
            <a:off x="0" y="669438"/>
            <a:ext cx="9144000" cy="54864"/>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4" name="Text 2">
            <a:extLst>
              <a:ext uri="{FF2B5EF4-FFF2-40B4-BE49-F238E27FC236}">
                <a16:creationId xmlns:a16="http://schemas.microsoft.com/office/drawing/2014/main" id="{4EFDD2A3-CE60-9550-8DAC-9D35B34DA947}"/>
              </a:ext>
            </a:extLst>
          </p:cNvPr>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Maestros y Exámenes Estandarizados</a:t>
            </a:r>
            <a:endParaRPr lang="en-US" sz="2000" dirty="0">
              <a:latin typeface="Tw Cen MT" panose="020B0602020104020603" pitchFamily="34" charset="0"/>
            </a:endParaRPr>
          </a:p>
        </p:txBody>
      </p:sp>
      <p:sp>
        <p:nvSpPr>
          <p:cNvPr id="6" name="Shape 4">
            <a:extLst>
              <a:ext uri="{FF2B5EF4-FFF2-40B4-BE49-F238E27FC236}">
                <a16:creationId xmlns:a16="http://schemas.microsoft.com/office/drawing/2014/main" id="{3275DE25-C4FF-5919-2429-C030F69C0BF4}"/>
              </a:ext>
            </a:extLst>
          </p:cNvPr>
          <p:cNvSpPr/>
          <p:nvPr/>
        </p:nvSpPr>
        <p:spPr>
          <a:xfrm>
            <a:off x="279132" y="6215514"/>
            <a:ext cx="8412480" cy="45720"/>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7" name="Shape 0">
            <a:extLst>
              <a:ext uri="{FF2B5EF4-FFF2-40B4-BE49-F238E27FC236}">
                <a16:creationId xmlns:a16="http://schemas.microsoft.com/office/drawing/2014/main" id="{3EB194C7-E945-17A1-83A1-67B86AA76D83}"/>
              </a:ext>
            </a:extLst>
          </p:cNvPr>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a:p>
        </p:txBody>
      </p:sp>
      <p:sp>
        <p:nvSpPr>
          <p:cNvPr id="9" name="Text 2">
            <a:extLst>
              <a:ext uri="{FF2B5EF4-FFF2-40B4-BE49-F238E27FC236}">
                <a16:creationId xmlns:a16="http://schemas.microsoft.com/office/drawing/2014/main" id="{09453830-A6E0-64E1-02DB-11B37DF332B9}"/>
              </a:ext>
            </a:extLst>
          </p:cNvPr>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itchFamily="34" charset="0"/>
                <a:ea typeface="Tw Cen MT" pitchFamily="34" charset="-122"/>
                <a:cs typeface="Tw Cen MT" pitchFamily="34" charset="-120"/>
              </a:rPr>
              <a:t>TALLER — Memo a Jeff Bezos: El Stack Ranking en Amazon</a:t>
            </a:r>
            <a:endParaRPr lang="en-US" sz="2200" dirty="0"/>
          </a:p>
        </p:txBody>
      </p:sp>
      <p:sp>
        <p:nvSpPr>
          <p:cNvPr id="10" name="Shape 3">
            <a:extLst>
              <a:ext uri="{FF2B5EF4-FFF2-40B4-BE49-F238E27FC236}">
                <a16:creationId xmlns:a16="http://schemas.microsoft.com/office/drawing/2014/main" id="{F6A3E027-02F6-4D82-F908-65B85026F736}"/>
              </a:ext>
            </a:extLst>
          </p:cNvPr>
          <p:cNvSpPr/>
          <p:nvPr/>
        </p:nvSpPr>
        <p:spPr>
          <a:xfrm>
            <a:off x="365760" y="841248"/>
            <a:ext cx="8412480" cy="2148840"/>
          </a:xfrm>
          <a:prstGeom prst="rect">
            <a:avLst/>
          </a:prstGeom>
          <a:solidFill>
            <a:srgbClr val="145230"/>
          </a:solidFill>
          <a:ln w="12700">
            <a:solidFill>
              <a:srgbClr val="52B788"/>
            </a:solidFill>
            <a:prstDash val="solid"/>
          </a:ln>
        </p:spPr>
        <p:txBody>
          <a:bodyPr/>
          <a:lstStyle/>
          <a:p>
            <a:endParaRPr lang="en-US"/>
          </a:p>
        </p:txBody>
      </p:sp>
      <p:sp>
        <p:nvSpPr>
          <p:cNvPr id="11" name="Text 4">
            <a:extLst>
              <a:ext uri="{FF2B5EF4-FFF2-40B4-BE49-F238E27FC236}">
                <a16:creationId xmlns:a16="http://schemas.microsoft.com/office/drawing/2014/main" id="{8C0A9B82-8150-8D37-0F20-C92F30D3A2E9}"/>
              </a:ext>
            </a:extLst>
          </p:cNvPr>
          <p:cNvSpPr/>
          <p:nvPr/>
        </p:nvSpPr>
        <p:spPr>
          <a:xfrm>
            <a:off x="548640" y="896112"/>
            <a:ext cx="8229600" cy="347472"/>
          </a:xfrm>
          <a:prstGeom prst="rect">
            <a:avLst/>
          </a:prstGeom>
          <a:noFill/>
          <a:ln/>
        </p:spPr>
        <p:txBody>
          <a:bodyPr wrap="square" rtlCol="0" anchor="ctr"/>
          <a:lstStyle/>
          <a:p>
            <a:pPr marL="0" indent="0">
              <a:buNone/>
            </a:pPr>
            <a:r>
              <a:rPr lang="en-US" sz="2000" b="1" dirty="0">
                <a:solidFill>
                  <a:srgbClr val="D4A017"/>
                </a:solidFill>
                <a:latin typeface="Tw Cen MT" pitchFamily="34" charset="0"/>
                <a:ea typeface="Tw Cen MT" pitchFamily="34" charset="-122"/>
                <a:cs typeface="Tw Cen MT" pitchFamily="34" charset="-120"/>
              </a:rPr>
              <a:t>El contexto</a:t>
            </a:r>
            <a:endParaRPr lang="en-US" sz="2000" dirty="0"/>
          </a:p>
        </p:txBody>
      </p:sp>
      <p:sp>
        <p:nvSpPr>
          <p:cNvPr id="12" name="Text 5">
            <a:extLst>
              <a:ext uri="{FF2B5EF4-FFF2-40B4-BE49-F238E27FC236}">
                <a16:creationId xmlns:a16="http://schemas.microsoft.com/office/drawing/2014/main" id="{DD82C0D8-60BC-2068-9D68-E3B0613275BE}"/>
              </a:ext>
            </a:extLst>
          </p:cNvPr>
          <p:cNvSpPr/>
          <p:nvPr/>
        </p:nvSpPr>
        <p:spPr>
          <a:xfrm>
            <a:off x="548640" y="1261872"/>
            <a:ext cx="8046720" cy="1627632"/>
          </a:xfrm>
          <a:prstGeom prst="rect">
            <a:avLst/>
          </a:prstGeom>
          <a:noFill/>
          <a:ln/>
        </p:spPr>
        <p:txBody>
          <a:bodyPr wrap="square" rtlCol="0" anchor="t"/>
          <a:lstStyle/>
          <a:p>
            <a:pPr marL="0" indent="0">
              <a:buNone/>
            </a:pPr>
            <a:r>
              <a:rPr lang="en-US" dirty="0">
                <a:solidFill>
                  <a:srgbClr val="FFFFFF"/>
                </a:solidFill>
                <a:latin typeface="Tw Cen MT" pitchFamily="34" charset="0"/>
                <a:ea typeface="Tw Cen MT" pitchFamily="34" charset="-122"/>
                <a:cs typeface="Tw Cen MT" pitchFamily="34" charset="-120"/>
              </a:rPr>
              <a:t>En 2015, el New York Times publicó una investigación sobre las condiciones laborales en Amazon describiéndolas como 'despiadadas' y 'exigentes'. Bezos respondió negando esa caracterización. En ese marco, el artículo 'Memo to Jeff Bezos: Stack-Ranking is a Destructive Employee Practice’ (Economics) le señala una contradicción: Amazon exige cero tolerancia con la falta de empatía, pero usa el sistema de evaluación que más la destruye.</a:t>
            </a:r>
            <a:endParaRPr lang="en-US" dirty="0"/>
          </a:p>
        </p:txBody>
      </p:sp>
      <p:sp>
        <p:nvSpPr>
          <p:cNvPr id="13" name="Shape 6">
            <a:extLst>
              <a:ext uri="{FF2B5EF4-FFF2-40B4-BE49-F238E27FC236}">
                <a16:creationId xmlns:a16="http://schemas.microsoft.com/office/drawing/2014/main" id="{2A2EC0A3-6B75-0828-326E-B371A58A660D}"/>
              </a:ext>
            </a:extLst>
          </p:cNvPr>
          <p:cNvSpPr/>
          <p:nvPr/>
        </p:nvSpPr>
        <p:spPr>
          <a:xfrm>
            <a:off x="365760" y="3108960"/>
            <a:ext cx="8412480" cy="45720"/>
          </a:xfrm>
          <a:prstGeom prst="rect">
            <a:avLst/>
          </a:prstGeom>
          <a:solidFill>
            <a:srgbClr val="52B788"/>
          </a:solidFill>
          <a:ln w="12700">
            <a:solidFill>
              <a:srgbClr val="52B788"/>
            </a:solidFill>
            <a:prstDash val="solid"/>
          </a:ln>
        </p:spPr>
        <p:txBody>
          <a:bodyPr/>
          <a:lstStyle/>
          <a:p>
            <a:endParaRPr lang="en-US"/>
          </a:p>
        </p:txBody>
      </p:sp>
      <p:sp>
        <p:nvSpPr>
          <p:cNvPr id="14" name="Text 7">
            <a:extLst>
              <a:ext uri="{FF2B5EF4-FFF2-40B4-BE49-F238E27FC236}">
                <a16:creationId xmlns:a16="http://schemas.microsoft.com/office/drawing/2014/main" id="{5AA45B7F-DBD8-DC44-DBF8-AE01DA6C022B}"/>
              </a:ext>
            </a:extLst>
          </p:cNvPr>
          <p:cNvSpPr/>
          <p:nvPr/>
        </p:nvSpPr>
        <p:spPr>
          <a:xfrm>
            <a:off x="365760" y="3246120"/>
            <a:ext cx="8412480" cy="347472"/>
          </a:xfrm>
          <a:prstGeom prst="rect">
            <a:avLst/>
          </a:prstGeom>
          <a:noFill/>
          <a:ln/>
        </p:spPr>
        <p:txBody>
          <a:bodyPr wrap="square" rtlCol="0" anchor="ctr"/>
          <a:lstStyle/>
          <a:p>
            <a:pPr marL="0" indent="0">
              <a:buNone/>
            </a:pPr>
            <a:r>
              <a:rPr lang="en-US" sz="2000" b="1" dirty="0">
                <a:solidFill>
                  <a:srgbClr val="D4A017"/>
                </a:solidFill>
                <a:latin typeface="Tw Cen MT" pitchFamily="34" charset="0"/>
                <a:ea typeface="Tw Cen MT" pitchFamily="34" charset="-122"/>
                <a:cs typeface="Tw Cen MT" pitchFamily="34" charset="-120"/>
              </a:rPr>
              <a:t>Lo que hacía Amazon (y muchas empresas)</a:t>
            </a:r>
            <a:endParaRPr lang="en-US" sz="2000" dirty="0"/>
          </a:p>
        </p:txBody>
      </p:sp>
      <p:sp>
        <p:nvSpPr>
          <p:cNvPr id="15" name="Shape 8">
            <a:extLst>
              <a:ext uri="{FF2B5EF4-FFF2-40B4-BE49-F238E27FC236}">
                <a16:creationId xmlns:a16="http://schemas.microsoft.com/office/drawing/2014/main" id="{A4454528-2C1D-7591-7738-DD80E3159920}"/>
              </a:ext>
            </a:extLst>
          </p:cNvPr>
          <p:cNvSpPr/>
          <p:nvPr/>
        </p:nvSpPr>
        <p:spPr>
          <a:xfrm>
            <a:off x="384048" y="3703320"/>
            <a:ext cx="274320" cy="274320"/>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6" name="Text 9">
            <a:extLst>
              <a:ext uri="{FF2B5EF4-FFF2-40B4-BE49-F238E27FC236}">
                <a16:creationId xmlns:a16="http://schemas.microsoft.com/office/drawing/2014/main" id="{BAD242FB-9FDA-515B-7E5C-AFFA60243396}"/>
              </a:ext>
            </a:extLst>
          </p:cNvPr>
          <p:cNvSpPr/>
          <p:nvPr/>
        </p:nvSpPr>
        <p:spPr>
          <a:xfrm>
            <a:off x="384048" y="3703320"/>
            <a:ext cx="274320" cy="274320"/>
          </a:xfrm>
          <a:prstGeom prst="rect">
            <a:avLst/>
          </a:prstGeom>
          <a:noFill/>
          <a:ln/>
        </p:spPr>
        <p:txBody>
          <a:bodyPr wrap="square" rtlCol="0" anchor="ctr"/>
          <a:lstStyle/>
          <a:p>
            <a:pPr marL="0" indent="0" algn="ctr">
              <a:buNone/>
            </a:pPr>
            <a:r>
              <a:rPr lang="en-US" b="1" dirty="0">
                <a:solidFill>
                  <a:srgbClr val="1B4332"/>
                </a:solidFill>
                <a:latin typeface="Tw Cen MT" panose="020B0602020104020603" pitchFamily="34" charset="0"/>
                <a:ea typeface="Tw Cen MT" pitchFamily="34" charset="-122"/>
                <a:cs typeface="Tw Cen MT" pitchFamily="34" charset="-120"/>
              </a:rPr>
              <a:t>1</a:t>
            </a:r>
            <a:endParaRPr lang="en-US" dirty="0">
              <a:latin typeface="Tw Cen MT" panose="020B0602020104020603" pitchFamily="34" charset="0"/>
            </a:endParaRPr>
          </a:p>
        </p:txBody>
      </p:sp>
      <p:sp>
        <p:nvSpPr>
          <p:cNvPr id="17" name="Text 10">
            <a:extLst>
              <a:ext uri="{FF2B5EF4-FFF2-40B4-BE49-F238E27FC236}">
                <a16:creationId xmlns:a16="http://schemas.microsoft.com/office/drawing/2014/main" id="{D5C97B3B-11C2-D491-32C0-68DEB1107B60}"/>
              </a:ext>
            </a:extLst>
          </p:cNvPr>
          <p:cNvSpPr/>
          <p:nvPr/>
        </p:nvSpPr>
        <p:spPr>
          <a:xfrm>
            <a:off x="777240" y="3579876"/>
            <a:ext cx="8001000" cy="54864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Todos los empleados son rankeados entre sí al final de cada período.</a:t>
            </a:r>
            <a:endParaRPr lang="en-US" dirty="0">
              <a:latin typeface="Tw Cen MT" panose="020B0602020104020603" pitchFamily="34" charset="0"/>
            </a:endParaRPr>
          </a:p>
        </p:txBody>
      </p:sp>
      <p:sp>
        <p:nvSpPr>
          <p:cNvPr id="18" name="Shape 11">
            <a:extLst>
              <a:ext uri="{FF2B5EF4-FFF2-40B4-BE49-F238E27FC236}">
                <a16:creationId xmlns:a16="http://schemas.microsoft.com/office/drawing/2014/main" id="{E893C280-D665-87AD-ECC9-9E8C42A8CC27}"/>
              </a:ext>
            </a:extLst>
          </p:cNvPr>
          <p:cNvSpPr/>
          <p:nvPr/>
        </p:nvSpPr>
        <p:spPr>
          <a:xfrm>
            <a:off x="384048" y="4325112"/>
            <a:ext cx="274320" cy="274320"/>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9" name="Text 12">
            <a:extLst>
              <a:ext uri="{FF2B5EF4-FFF2-40B4-BE49-F238E27FC236}">
                <a16:creationId xmlns:a16="http://schemas.microsoft.com/office/drawing/2014/main" id="{59CB0A2E-0650-D8AB-A59F-100F2BD207AE}"/>
              </a:ext>
            </a:extLst>
          </p:cNvPr>
          <p:cNvSpPr/>
          <p:nvPr/>
        </p:nvSpPr>
        <p:spPr>
          <a:xfrm>
            <a:off x="384048" y="4325112"/>
            <a:ext cx="274320" cy="274320"/>
          </a:xfrm>
          <a:prstGeom prst="rect">
            <a:avLst/>
          </a:prstGeom>
          <a:noFill/>
          <a:ln/>
        </p:spPr>
        <p:txBody>
          <a:bodyPr wrap="square" rtlCol="0" anchor="ctr"/>
          <a:lstStyle/>
          <a:p>
            <a:pPr marL="0" indent="0" algn="ctr">
              <a:buNone/>
            </a:pPr>
            <a:r>
              <a:rPr lang="en-US" b="1" dirty="0">
                <a:solidFill>
                  <a:srgbClr val="1B4332"/>
                </a:solidFill>
                <a:latin typeface="Tw Cen MT" panose="020B0602020104020603" pitchFamily="34" charset="0"/>
                <a:ea typeface="Tw Cen MT" pitchFamily="34" charset="-122"/>
                <a:cs typeface="Tw Cen MT" pitchFamily="34" charset="-120"/>
              </a:rPr>
              <a:t>2</a:t>
            </a:r>
            <a:endParaRPr lang="en-US" dirty="0">
              <a:latin typeface="Tw Cen MT" panose="020B0602020104020603" pitchFamily="34" charset="0"/>
            </a:endParaRPr>
          </a:p>
        </p:txBody>
      </p:sp>
      <p:sp>
        <p:nvSpPr>
          <p:cNvPr id="20" name="Text 13">
            <a:extLst>
              <a:ext uri="{FF2B5EF4-FFF2-40B4-BE49-F238E27FC236}">
                <a16:creationId xmlns:a16="http://schemas.microsoft.com/office/drawing/2014/main" id="{BB4165A9-C131-7D15-F281-846979A667FC}"/>
              </a:ext>
            </a:extLst>
          </p:cNvPr>
          <p:cNvSpPr/>
          <p:nvPr/>
        </p:nvSpPr>
        <p:spPr>
          <a:xfrm>
            <a:off x="768096" y="4271451"/>
            <a:ext cx="8001000" cy="54864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Un porcentaje fijo queda siempre en la categoría inferior — independientemente de su desempeño absoluto.</a:t>
            </a:r>
            <a:endParaRPr lang="en-US" dirty="0">
              <a:latin typeface="Tw Cen MT" panose="020B0602020104020603" pitchFamily="34" charset="0"/>
            </a:endParaRPr>
          </a:p>
        </p:txBody>
      </p:sp>
      <p:sp>
        <p:nvSpPr>
          <p:cNvPr id="21" name="Shape 14">
            <a:extLst>
              <a:ext uri="{FF2B5EF4-FFF2-40B4-BE49-F238E27FC236}">
                <a16:creationId xmlns:a16="http://schemas.microsoft.com/office/drawing/2014/main" id="{8DC35071-8EDC-2956-25F6-7B24AA2A4EF3}"/>
              </a:ext>
            </a:extLst>
          </p:cNvPr>
          <p:cNvSpPr/>
          <p:nvPr/>
        </p:nvSpPr>
        <p:spPr>
          <a:xfrm>
            <a:off x="384048" y="4946904"/>
            <a:ext cx="274320" cy="274320"/>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22" name="Text 15">
            <a:extLst>
              <a:ext uri="{FF2B5EF4-FFF2-40B4-BE49-F238E27FC236}">
                <a16:creationId xmlns:a16="http://schemas.microsoft.com/office/drawing/2014/main" id="{E53A76A4-90ED-DAD0-F731-D600216C3BB9}"/>
              </a:ext>
            </a:extLst>
          </p:cNvPr>
          <p:cNvSpPr/>
          <p:nvPr/>
        </p:nvSpPr>
        <p:spPr>
          <a:xfrm>
            <a:off x="384048" y="4946904"/>
            <a:ext cx="274320" cy="274320"/>
          </a:xfrm>
          <a:prstGeom prst="rect">
            <a:avLst/>
          </a:prstGeom>
          <a:noFill/>
          <a:ln/>
        </p:spPr>
        <p:txBody>
          <a:bodyPr wrap="square" rtlCol="0" anchor="ctr"/>
          <a:lstStyle/>
          <a:p>
            <a:pPr marL="0" indent="0" algn="ctr">
              <a:buNone/>
            </a:pPr>
            <a:r>
              <a:rPr lang="en-US" b="1" dirty="0">
                <a:solidFill>
                  <a:srgbClr val="1B4332"/>
                </a:solidFill>
                <a:latin typeface="Tw Cen MT" panose="020B0602020104020603" pitchFamily="34" charset="0"/>
                <a:ea typeface="Tw Cen MT" pitchFamily="34" charset="-122"/>
                <a:cs typeface="Tw Cen MT" pitchFamily="34" charset="-120"/>
              </a:rPr>
              <a:t>3</a:t>
            </a:r>
            <a:endParaRPr lang="en-US" dirty="0">
              <a:latin typeface="Tw Cen MT" panose="020B0602020104020603" pitchFamily="34" charset="0"/>
            </a:endParaRPr>
          </a:p>
        </p:txBody>
      </p:sp>
      <p:sp>
        <p:nvSpPr>
          <p:cNvPr id="23" name="Text 16">
            <a:extLst>
              <a:ext uri="{FF2B5EF4-FFF2-40B4-BE49-F238E27FC236}">
                <a16:creationId xmlns:a16="http://schemas.microsoft.com/office/drawing/2014/main" id="{ECC85DBC-AD2F-B27B-4515-FCD6C7F691FA}"/>
              </a:ext>
            </a:extLst>
          </p:cNvPr>
          <p:cNvSpPr/>
          <p:nvPr/>
        </p:nvSpPr>
        <p:spPr>
          <a:xfrm>
            <a:off x="777240" y="4843914"/>
            <a:ext cx="8001000" cy="54864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Quienes quedan abajo sistemáticamente son despedidos ("rank and yank").</a:t>
            </a:r>
            <a:endParaRPr lang="en-US" dirty="0">
              <a:latin typeface="Tw Cen MT" panose="020B0602020104020603" pitchFamily="34" charset="0"/>
            </a:endParaRPr>
          </a:p>
        </p:txBody>
      </p:sp>
      <p:sp>
        <p:nvSpPr>
          <p:cNvPr id="24" name="Shape 17">
            <a:extLst>
              <a:ext uri="{FF2B5EF4-FFF2-40B4-BE49-F238E27FC236}">
                <a16:creationId xmlns:a16="http://schemas.microsoft.com/office/drawing/2014/main" id="{8A1A348F-5C03-DE36-E083-072588F10B96}"/>
              </a:ext>
            </a:extLst>
          </p:cNvPr>
          <p:cNvSpPr/>
          <p:nvPr/>
        </p:nvSpPr>
        <p:spPr>
          <a:xfrm>
            <a:off x="384048" y="5568696"/>
            <a:ext cx="274320" cy="274320"/>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25" name="Text 18">
            <a:extLst>
              <a:ext uri="{FF2B5EF4-FFF2-40B4-BE49-F238E27FC236}">
                <a16:creationId xmlns:a16="http://schemas.microsoft.com/office/drawing/2014/main" id="{1062B143-FD1F-B718-7B3A-2DE32D7070A4}"/>
              </a:ext>
            </a:extLst>
          </p:cNvPr>
          <p:cNvSpPr/>
          <p:nvPr/>
        </p:nvSpPr>
        <p:spPr>
          <a:xfrm>
            <a:off x="384048" y="5568696"/>
            <a:ext cx="274320" cy="274320"/>
          </a:xfrm>
          <a:prstGeom prst="rect">
            <a:avLst/>
          </a:prstGeom>
          <a:noFill/>
          <a:ln/>
        </p:spPr>
        <p:txBody>
          <a:bodyPr wrap="square" rtlCol="0" anchor="ctr"/>
          <a:lstStyle/>
          <a:p>
            <a:pPr marL="0" indent="0" algn="ctr">
              <a:buNone/>
            </a:pPr>
            <a:r>
              <a:rPr lang="en-US" b="1" dirty="0">
                <a:solidFill>
                  <a:srgbClr val="1B4332"/>
                </a:solidFill>
                <a:latin typeface="Tw Cen MT" panose="020B0602020104020603" pitchFamily="34" charset="0"/>
                <a:ea typeface="Tw Cen MT" pitchFamily="34" charset="-122"/>
                <a:cs typeface="Tw Cen MT" pitchFamily="34" charset="-120"/>
              </a:rPr>
              <a:t>4</a:t>
            </a:r>
            <a:endParaRPr lang="en-US" dirty="0">
              <a:latin typeface="Tw Cen MT" panose="020B0602020104020603" pitchFamily="34" charset="0"/>
            </a:endParaRPr>
          </a:p>
        </p:txBody>
      </p:sp>
      <p:sp>
        <p:nvSpPr>
          <p:cNvPr id="26" name="Text 19">
            <a:extLst>
              <a:ext uri="{FF2B5EF4-FFF2-40B4-BE49-F238E27FC236}">
                <a16:creationId xmlns:a16="http://schemas.microsoft.com/office/drawing/2014/main" id="{E92912EB-B845-644E-7096-A0ECC4D8D5E8}"/>
              </a:ext>
            </a:extLst>
          </p:cNvPr>
          <p:cNvSpPr/>
          <p:nvPr/>
        </p:nvSpPr>
        <p:spPr>
          <a:xfrm>
            <a:off x="768096" y="5541264"/>
            <a:ext cx="8001000" cy="54864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Microsoft lo usó una década y lo abandonó en 2013. GE, Accenture y Deloitte también lo eliminaron.</a:t>
            </a:r>
            <a:endParaRPr lang="en-US" dirty="0">
              <a:latin typeface="Tw Cen MT" panose="020B0602020104020603" pitchFamily="34" charset="0"/>
            </a:endParaRPr>
          </a:p>
        </p:txBody>
      </p:sp>
      <p:sp>
        <p:nvSpPr>
          <p:cNvPr id="27" name="Text 20">
            <a:extLst>
              <a:ext uri="{FF2B5EF4-FFF2-40B4-BE49-F238E27FC236}">
                <a16:creationId xmlns:a16="http://schemas.microsoft.com/office/drawing/2014/main" id="{F7AB8EBB-7168-B3C1-0D07-F558DC3268B4}"/>
              </a:ext>
            </a:extLst>
          </p:cNvPr>
          <p:cNvSpPr/>
          <p:nvPr/>
        </p:nvSpPr>
        <p:spPr>
          <a:xfrm>
            <a:off x="274320" y="6441226"/>
            <a:ext cx="8686800" cy="256032"/>
          </a:xfrm>
          <a:prstGeom prst="rect">
            <a:avLst/>
          </a:prstGeom>
          <a:noFill/>
          <a:ln/>
        </p:spPr>
        <p:txBody>
          <a:bodyPr wrap="square" rtlCol="0" anchor="ctr"/>
          <a:lstStyle/>
          <a:p>
            <a:pPr marL="0" indent="0">
              <a:buNone/>
            </a:pPr>
            <a:r>
              <a:rPr lang="en-US" sz="1400" i="1" dirty="0">
                <a:solidFill>
                  <a:srgbClr val="52B788"/>
                </a:solidFill>
                <a:latin typeface="Tw Cen MT" pitchFamily="34" charset="0"/>
                <a:ea typeface="Tw Cen MT" pitchFamily="34" charset="-122"/>
                <a:cs typeface="Tw Cen MT" pitchFamily="34" charset="-120"/>
              </a:rPr>
              <a:t>Evonomics — "Memo to Jeff Bezos: Stack-Ranking is a Destructive Employee Practice" | Muir, W.M. (1996). Poultry Science, 75(4), 447–458.</a:t>
            </a:r>
            <a:endParaRPr lang="en-US" sz="1400" dirty="0"/>
          </a:p>
        </p:txBody>
      </p:sp>
    </p:spTree>
    <p:extLst>
      <p:ext uri="{BB962C8B-B14F-4D97-AF65-F5344CB8AC3E}">
        <p14:creationId xmlns:p14="http://schemas.microsoft.com/office/powerpoint/2010/main" val="3840846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8FA93AF3-B114-97E7-580B-D6CE90ED26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6F8AF3-F086-D4BA-64EC-D5610C4CE4CB}"/>
              </a:ext>
            </a:extLst>
          </p:cNvPr>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a:latin typeface="Tw Cen MT" panose="020B0602020104020603" pitchFamily="34" charset="0"/>
            </a:endParaRPr>
          </a:p>
        </p:txBody>
      </p:sp>
      <p:sp>
        <p:nvSpPr>
          <p:cNvPr id="3" name="Shape 1">
            <a:extLst>
              <a:ext uri="{FF2B5EF4-FFF2-40B4-BE49-F238E27FC236}">
                <a16:creationId xmlns:a16="http://schemas.microsoft.com/office/drawing/2014/main" id="{C4EB2532-1B2F-F3A7-69D6-F4ADA252B15B}"/>
              </a:ext>
            </a:extLst>
          </p:cNvPr>
          <p:cNvSpPr/>
          <p:nvPr/>
        </p:nvSpPr>
        <p:spPr>
          <a:xfrm>
            <a:off x="0" y="717563"/>
            <a:ext cx="9144000" cy="54864"/>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6" name="Shape 4">
            <a:extLst>
              <a:ext uri="{FF2B5EF4-FFF2-40B4-BE49-F238E27FC236}">
                <a16:creationId xmlns:a16="http://schemas.microsoft.com/office/drawing/2014/main" id="{EF89C843-7627-1DAA-37D2-D8C1BC849F20}"/>
              </a:ext>
            </a:extLst>
          </p:cNvPr>
          <p:cNvSpPr/>
          <p:nvPr/>
        </p:nvSpPr>
        <p:spPr>
          <a:xfrm>
            <a:off x="274320" y="6369037"/>
            <a:ext cx="8412480" cy="45720"/>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7" name="Shape 0">
            <a:extLst>
              <a:ext uri="{FF2B5EF4-FFF2-40B4-BE49-F238E27FC236}">
                <a16:creationId xmlns:a16="http://schemas.microsoft.com/office/drawing/2014/main" id="{E07ED279-D98A-B540-04B7-83DE3B51BD6C}"/>
              </a:ext>
            </a:extLst>
          </p:cNvPr>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a:latin typeface="Tw Cen MT" panose="020B0602020104020603" pitchFamily="34" charset="0"/>
            </a:endParaRPr>
          </a:p>
        </p:txBody>
      </p:sp>
      <p:sp>
        <p:nvSpPr>
          <p:cNvPr id="8" name="Shape 1">
            <a:extLst>
              <a:ext uri="{FF2B5EF4-FFF2-40B4-BE49-F238E27FC236}">
                <a16:creationId xmlns:a16="http://schemas.microsoft.com/office/drawing/2014/main" id="{BD390005-B742-9C5E-2C2D-990363991F1C}"/>
              </a:ext>
            </a:extLst>
          </p:cNvPr>
          <p:cNvSpPr/>
          <p:nvPr/>
        </p:nvSpPr>
        <p:spPr>
          <a:xfrm>
            <a:off x="0" y="658368"/>
            <a:ext cx="9144000" cy="54864"/>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9" name="Text 2">
            <a:extLst>
              <a:ext uri="{FF2B5EF4-FFF2-40B4-BE49-F238E27FC236}">
                <a16:creationId xmlns:a16="http://schemas.microsoft.com/office/drawing/2014/main" id="{57509A50-BEB4-976C-4A53-90F344A31C98}"/>
              </a:ext>
            </a:extLst>
          </p:cNvPr>
          <p:cNvSpPr/>
          <p:nvPr/>
        </p:nvSpPr>
        <p:spPr>
          <a:xfrm>
            <a:off x="201168" y="45720"/>
            <a:ext cx="8741664" cy="594360"/>
          </a:xfrm>
          <a:prstGeom prst="rect">
            <a:avLst/>
          </a:prstGeom>
          <a:noFill/>
          <a:ln/>
        </p:spPr>
        <p:txBody>
          <a:bodyPr wrap="square" rtlCol="0" anchor="ctr"/>
          <a:lstStyle/>
          <a:p>
            <a:pPr marL="0" indent="0">
              <a:buNone/>
            </a:pPr>
            <a:r>
              <a:rPr lang="en-US" sz="2200" b="1" dirty="0">
                <a:solidFill>
                  <a:srgbClr val="FFFFFF"/>
                </a:solidFill>
                <a:latin typeface="Tw Cen MT" panose="020B0602020104020603" pitchFamily="34" charset="0"/>
                <a:ea typeface="Tw Cen MT" pitchFamily="34" charset="-122"/>
                <a:cs typeface="Tw Cen MT" pitchFamily="34" charset="-120"/>
              </a:rPr>
              <a:t>TALLER — Stack Ranking: El Problema Estructural</a:t>
            </a:r>
            <a:endParaRPr lang="en-US" sz="2200" dirty="0">
              <a:latin typeface="Tw Cen MT" panose="020B0602020104020603" pitchFamily="34" charset="0"/>
            </a:endParaRPr>
          </a:p>
        </p:txBody>
      </p:sp>
      <p:sp>
        <p:nvSpPr>
          <p:cNvPr id="10" name="Text 3">
            <a:extLst>
              <a:ext uri="{FF2B5EF4-FFF2-40B4-BE49-F238E27FC236}">
                <a16:creationId xmlns:a16="http://schemas.microsoft.com/office/drawing/2014/main" id="{33B1414F-9AD2-543A-4176-927B306D5DE2}"/>
              </a:ext>
            </a:extLst>
          </p:cNvPr>
          <p:cNvSpPr/>
          <p:nvPr/>
        </p:nvSpPr>
        <p:spPr>
          <a:xfrm>
            <a:off x="365760" y="841248"/>
            <a:ext cx="8412480" cy="347472"/>
          </a:xfrm>
          <a:prstGeom prst="rect">
            <a:avLst/>
          </a:prstGeom>
          <a:noFill/>
          <a:ln/>
        </p:spPr>
        <p:txBody>
          <a:bodyPr wrap="square" rtlCol="0" anchor="ctr"/>
          <a:lstStyle/>
          <a:p>
            <a:pPr marL="0" indent="0">
              <a:buNone/>
            </a:pPr>
            <a:r>
              <a:rPr lang="en-US" sz="2000" b="1" dirty="0">
                <a:solidFill>
                  <a:srgbClr val="D4A017"/>
                </a:solidFill>
                <a:latin typeface="Tw Cen MT" panose="020B0602020104020603" pitchFamily="34" charset="0"/>
                <a:ea typeface="Tw Cen MT" pitchFamily="34" charset="-122"/>
                <a:cs typeface="Tw Cen MT" pitchFamily="34" charset="-120"/>
              </a:rPr>
              <a:t>El argumento central del memo</a:t>
            </a:r>
            <a:endParaRPr lang="en-US" sz="2000" dirty="0">
              <a:latin typeface="Tw Cen MT" panose="020B0602020104020603" pitchFamily="34" charset="0"/>
            </a:endParaRPr>
          </a:p>
        </p:txBody>
      </p:sp>
      <p:sp>
        <p:nvSpPr>
          <p:cNvPr id="11" name="Shape 4">
            <a:extLst>
              <a:ext uri="{FF2B5EF4-FFF2-40B4-BE49-F238E27FC236}">
                <a16:creationId xmlns:a16="http://schemas.microsoft.com/office/drawing/2014/main" id="{180B101F-4A03-45F0-2F59-838B53DE4444}"/>
              </a:ext>
            </a:extLst>
          </p:cNvPr>
          <p:cNvSpPr/>
          <p:nvPr/>
        </p:nvSpPr>
        <p:spPr>
          <a:xfrm>
            <a:off x="365760" y="1234440"/>
            <a:ext cx="8412480" cy="1508760"/>
          </a:xfrm>
          <a:prstGeom prst="rect">
            <a:avLst/>
          </a:prstGeom>
          <a:solidFill>
            <a:srgbClr val="145230"/>
          </a:solidFill>
          <a:ln w="12700">
            <a:solidFill>
              <a:srgbClr val="52B788"/>
            </a:solidFill>
            <a:prstDash val="solid"/>
          </a:ln>
        </p:spPr>
        <p:txBody>
          <a:bodyPr/>
          <a:lstStyle/>
          <a:p>
            <a:endParaRPr lang="en-US">
              <a:latin typeface="Tw Cen MT" panose="020B0602020104020603" pitchFamily="34" charset="0"/>
            </a:endParaRPr>
          </a:p>
        </p:txBody>
      </p:sp>
      <p:sp>
        <p:nvSpPr>
          <p:cNvPr id="12" name="Text 5">
            <a:extLst>
              <a:ext uri="{FF2B5EF4-FFF2-40B4-BE49-F238E27FC236}">
                <a16:creationId xmlns:a16="http://schemas.microsoft.com/office/drawing/2014/main" id="{6A36D31A-8C42-7780-5B03-E6C143420C05}"/>
              </a:ext>
            </a:extLst>
          </p:cNvPr>
          <p:cNvSpPr/>
          <p:nvPr/>
        </p:nvSpPr>
        <p:spPr>
          <a:xfrm>
            <a:off x="548640" y="1325880"/>
            <a:ext cx="8046720" cy="1325880"/>
          </a:xfrm>
          <a:prstGeom prst="rect">
            <a:avLst/>
          </a:prstGeom>
          <a:noFill/>
          <a:ln/>
        </p:spPr>
        <p:txBody>
          <a:bodyPr wrap="square" rtlCol="0" anchor="ctr"/>
          <a:lstStyle/>
          <a:p>
            <a:pPr marL="0" indent="0">
              <a:buNone/>
            </a:pPr>
            <a:r>
              <a:rPr lang="en-US" sz="2000" i="1" dirty="0">
                <a:solidFill>
                  <a:srgbClr val="FFFFFF"/>
                </a:solidFill>
                <a:latin typeface="Tw Cen MT" panose="020B0602020104020603" pitchFamily="34" charset="0"/>
                <a:ea typeface="Tw Cen MT" pitchFamily="34" charset="-122"/>
                <a:cs typeface="Tw Cen MT" pitchFamily="34" charset="-120"/>
              </a:rPr>
              <a:t>Así como los criadores eligen a las súper gallinas individualmente — y el resultado es que se destruyen entre sí — las empresas hacen exactamente lo mismo con el stack ranking. Seleccionar solo por desempeño individual maximiza la competencia interna y destruye la cooperación que hace productivo al grupo.</a:t>
            </a:r>
            <a:endParaRPr lang="en-US" sz="2000" dirty="0">
              <a:latin typeface="Tw Cen MT" panose="020B0602020104020603" pitchFamily="34" charset="0"/>
            </a:endParaRPr>
          </a:p>
        </p:txBody>
      </p:sp>
      <p:sp>
        <p:nvSpPr>
          <p:cNvPr id="13" name="Shape 6">
            <a:extLst>
              <a:ext uri="{FF2B5EF4-FFF2-40B4-BE49-F238E27FC236}">
                <a16:creationId xmlns:a16="http://schemas.microsoft.com/office/drawing/2014/main" id="{9DD4CA8A-F63C-C7FE-7172-FFA2F626C856}"/>
              </a:ext>
            </a:extLst>
          </p:cNvPr>
          <p:cNvSpPr/>
          <p:nvPr/>
        </p:nvSpPr>
        <p:spPr>
          <a:xfrm>
            <a:off x="365760" y="2852928"/>
            <a:ext cx="8412480"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4" name="Text 7">
            <a:extLst>
              <a:ext uri="{FF2B5EF4-FFF2-40B4-BE49-F238E27FC236}">
                <a16:creationId xmlns:a16="http://schemas.microsoft.com/office/drawing/2014/main" id="{477FA489-AE31-8BB7-D9EA-17450E227923}"/>
              </a:ext>
            </a:extLst>
          </p:cNvPr>
          <p:cNvSpPr/>
          <p:nvPr/>
        </p:nvSpPr>
        <p:spPr>
          <a:xfrm>
            <a:off x="365760" y="2852928"/>
            <a:ext cx="8412480" cy="384048"/>
          </a:xfrm>
          <a:prstGeom prst="rect">
            <a:avLst/>
          </a:prstGeom>
          <a:noFill/>
          <a:ln/>
        </p:spPr>
        <p:txBody>
          <a:bodyPr wrap="square" rtlCol="0" anchor="ctr"/>
          <a:lstStyle/>
          <a:p>
            <a:pPr marL="0" indent="0" algn="ctr">
              <a:buNone/>
            </a:pPr>
            <a:r>
              <a:rPr lang="en-US" sz="2000" b="1" dirty="0">
                <a:solidFill>
                  <a:srgbClr val="FFFFFF"/>
                </a:solidFill>
                <a:latin typeface="Tw Cen MT" panose="020B0602020104020603" pitchFamily="34" charset="0"/>
                <a:ea typeface="Tw Cen MT" pitchFamily="34" charset="-122"/>
                <a:cs typeface="Tw Cen MT" pitchFamily="34" charset="-120"/>
              </a:rPr>
              <a:t>El experimento mental (Kurt Eichenwald — Vanity Fair, 2012)</a:t>
            </a:r>
            <a:endParaRPr lang="en-US" sz="2000" dirty="0">
              <a:latin typeface="Tw Cen MT" panose="020B0602020104020603" pitchFamily="34" charset="0"/>
            </a:endParaRPr>
          </a:p>
        </p:txBody>
      </p:sp>
      <p:sp>
        <p:nvSpPr>
          <p:cNvPr id="15" name="Shape 8">
            <a:extLst>
              <a:ext uri="{FF2B5EF4-FFF2-40B4-BE49-F238E27FC236}">
                <a16:creationId xmlns:a16="http://schemas.microsoft.com/office/drawing/2014/main" id="{7D0B6C1A-F380-0333-3AC7-C12684728C88}"/>
              </a:ext>
            </a:extLst>
          </p:cNvPr>
          <p:cNvSpPr/>
          <p:nvPr/>
        </p:nvSpPr>
        <p:spPr>
          <a:xfrm>
            <a:off x="365760" y="3236976"/>
            <a:ext cx="8412480" cy="1965960"/>
          </a:xfrm>
          <a:prstGeom prst="rect">
            <a:avLst/>
          </a:prstGeom>
          <a:solidFill>
            <a:srgbClr val="145230"/>
          </a:solidFill>
          <a:ln w="12700">
            <a:solidFill>
              <a:srgbClr val="CC3333"/>
            </a:solidFill>
            <a:prstDash val="solid"/>
          </a:ln>
        </p:spPr>
        <p:txBody>
          <a:bodyPr/>
          <a:lstStyle/>
          <a:p>
            <a:endParaRPr lang="en-US">
              <a:latin typeface="Tw Cen MT" panose="020B0602020104020603" pitchFamily="34" charset="0"/>
            </a:endParaRPr>
          </a:p>
        </p:txBody>
      </p:sp>
      <p:sp>
        <p:nvSpPr>
          <p:cNvPr id="16" name="Text 9">
            <a:extLst>
              <a:ext uri="{FF2B5EF4-FFF2-40B4-BE49-F238E27FC236}">
                <a16:creationId xmlns:a16="http://schemas.microsoft.com/office/drawing/2014/main" id="{8C51796B-642A-71BA-E207-AA4FD934F4D9}"/>
              </a:ext>
            </a:extLst>
          </p:cNvPr>
          <p:cNvSpPr/>
          <p:nvPr/>
        </p:nvSpPr>
        <p:spPr>
          <a:xfrm>
            <a:off x="365760" y="3300984"/>
            <a:ext cx="8325852" cy="1783080"/>
          </a:xfrm>
          <a:prstGeom prst="rect">
            <a:avLst/>
          </a:prstGeom>
          <a:noFill/>
          <a:ln/>
        </p:spPr>
        <p:txBody>
          <a:bodyPr wrap="square" rtlCol="0" anchor="t"/>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Imaginá que Microsoft hubiera contratado a Steve Jobs, Mark Zuckerberg, Larry Page, Larry Ellison y Jeff Bezos en el mismo equipo, antes de que se hicieran famosos.</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FFFFFF"/>
                </a:solidFill>
                <a:latin typeface="Tw Cen MT" panose="020B0602020104020603" pitchFamily="34" charset="0"/>
                <a:ea typeface="Tw Cen MT" pitchFamily="34" charset="-122"/>
                <a:cs typeface="Tw Cen MT" pitchFamily="34" charset="-120"/>
              </a:rPr>
              <a:t>Bajo el sistema de stack ranking, dos de ellos habrían sido calificados como por debajo del promedio. Uno habría sido considerado desastroso.</a:t>
            </a:r>
            <a:endParaRPr lang="en-US" dirty="0">
              <a:latin typeface="Tw Cen MT" panose="020B0602020104020603" pitchFamily="34" charset="0"/>
            </a:endParaRPr>
          </a:p>
          <a:p>
            <a:pPr marL="0" indent="0">
              <a:buNone/>
            </a:pPr>
            <a:endParaRPr lang="en-US" dirty="0">
              <a:latin typeface="Tw Cen MT" panose="020B0602020104020603" pitchFamily="34" charset="0"/>
            </a:endParaRPr>
          </a:p>
          <a:p>
            <a:pPr marL="0" indent="0">
              <a:buNone/>
            </a:pPr>
            <a:r>
              <a:rPr lang="en-US" dirty="0">
                <a:solidFill>
                  <a:srgbClr val="FFFFFF"/>
                </a:solidFill>
                <a:latin typeface="Tw Cen MT" panose="020B0602020104020603" pitchFamily="34" charset="0"/>
                <a:ea typeface="Tw Cen MT" pitchFamily="34" charset="-122"/>
                <a:cs typeface="Tw Cen MT" pitchFamily="34" charset="-120"/>
              </a:rPr>
              <a:t>Eso no es un sistema de evaluación del desempeño — es fabricar el fracaso.</a:t>
            </a:r>
            <a:endParaRPr lang="en-US" dirty="0">
              <a:latin typeface="Tw Cen MT" panose="020B0602020104020603" pitchFamily="34" charset="0"/>
            </a:endParaRPr>
          </a:p>
        </p:txBody>
      </p:sp>
      <p:sp>
        <p:nvSpPr>
          <p:cNvPr id="17" name="Shape 10">
            <a:extLst>
              <a:ext uri="{FF2B5EF4-FFF2-40B4-BE49-F238E27FC236}">
                <a16:creationId xmlns:a16="http://schemas.microsoft.com/office/drawing/2014/main" id="{791A11B8-80F3-5848-AA66-94ECC32EA9F1}"/>
              </a:ext>
            </a:extLst>
          </p:cNvPr>
          <p:cNvSpPr/>
          <p:nvPr/>
        </p:nvSpPr>
        <p:spPr>
          <a:xfrm>
            <a:off x="365760" y="5321807"/>
            <a:ext cx="8412480" cy="928358"/>
          </a:xfrm>
          <a:prstGeom prst="rect">
            <a:avLst/>
          </a:prstGeom>
          <a:solidFill>
            <a:srgbClr val="0D3320"/>
          </a:solidFill>
          <a:ln w="12700">
            <a:solidFill>
              <a:srgbClr val="52B788"/>
            </a:solidFill>
            <a:prstDash val="solid"/>
          </a:ln>
        </p:spPr>
        <p:txBody>
          <a:bodyPr/>
          <a:lstStyle/>
          <a:p>
            <a:endParaRPr lang="en-US">
              <a:latin typeface="Tw Cen MT" panose="020B0602020104020603" pitchFamily="34" charset="0"/>
            </a:endParaRPr>
          </a:p>
        </p:txBody>
      </p:sp>
      <p:sp>
        <p:nvSpPr>
          <p:cNvPr id="18" name="Text 11">
            <a:extLst>
              <a:ext uri="{FF2B5EF4-FFF2-40B4-BE49-F238E27FC236}">
                <a16:creationId xmlns:a16="http://schemas.microsoft.com/office/drawing/2014/main" id="{284D7EDA-8278-1A2D-13D4-398FC884256F}"/>
              </a:ext>
            </a:extLst>
          </p:cNvPr>
          <p:cNvSpPr/>
          <p:nvPr/>
        </p:nvSpPr>
        <p:spPr>
          <a:xfrm>
            <a:off x="502920" y="5600459"/>
            <a:ext cx="8138160" cy="393192"/>
          </a:xfrm>
          <a:prstGeom prst="rect">
            <a:avLst/>
          </a:prstGeom>
          <a:noFill/>
          <a:ln/>
        </p:spPr>
        <p:txBody>
          <a:bodyPr wrap="square" rtlCol="0" anchor="ctr"/>
          <a:lstStyle/>
          <a:p>
            <a:pPr marL="0" indent="0">
              <a:buNone/>
            </a:pPr>
            <a:r>
              <a:rPr lang="en-US" i="1" dirty="0">
                <a:solidFill>
                  <a:srgbClr val="C8D8F0"/>
                </a:solidFill>
                <a:latin typeface="Tw Cen MT" panose="020B0602020104020603" pitchFamily="34" charset="0"/>
                <a:ea typeface="Tw Cen MT" pitchFamily="34" charset="-122"/>
                <a:cs typeface="Tw Cen MT" pitchFamily="34" charset="-120"/>
              </a:rPr>
              <a:t>Entre 2000 y 2010, Microsoft se estancó mientras sus competidores crecían. Lo eliminó en noviembre de 2013. Su resurgimiento como empresa de nube e innovación siguió poco después.</a:t>
            </a:r>
            <a:endParaRPr lang="en-US" dirty="0">
              <a:latin typeface="Tw Cen MT" panose="020B0602020104020603" pitchFamily="34" charset="0"/>
            </a:endParaRPr>
          </a:p>
        </p:txBody>
      </p:sp>
      <p:sp>
        <p:nvSpPr>
          <p:cNvPr id="19" name="Text 12">
            <a:extLst>
              <a:ext uri="{FF2B5EF4-FFF2-40B4-BE49-F238E27FC236}">
                <a16:creationId xmlns:a16="http://schemas.microsoft.com/office/drawing/2014/main" id="{1261C54F-9F0C-E910-0FF9-A8EE1CDB7844}"/>
              </a:ext>
            </a:extLst>
          </p:cNvPr>
          <p:cNvSpPr/>
          <p:nvPr/>
        </p:nvSpPr>
        <p:spPr>
          <a:xfrm>
            <a:off x="274320" y="6473952"/>
            <a:ext cx="8686800" cy="256032"/>
          </a:xfrm>
          <a:prstGeom prst="rect">
            <a:avLst/>
          </a:prstGeom>
          <a:noFill/>
          <a:ln/>
        </p:spPr>
        <p:txBody>
          <a:bodyPr wrap="square" rtlCol="0" anchor="ctr"/>
          <a:lstStyle/>
          <a:p>
            <a:pPr marL="0" indent="0">
              <a:buNone/>
            </a:pPr>
            <a:r>
              <a:rPr lang="en-US" sz="850" i="1" dirty="0">
                <a:solidFill>
                  <a:srgbClr val="52B788"/>
                </a:solidFill>
                <a:latin typeface="Tw Cen MT" panose="020B0602020104020603" pitchFamily="34" charset="0"/>
                <a:ea typeface="Tw Cen MT" pitchFamily="34" charset="-122"/>
                <a:cs typeface="Tw Cen MT" pitchFamily="34" charset="-120"/>
              </a:rPr>
              <a:t>Eichenwald, K. (2012). Microsoft's Lost Decade. Vanity Fair. | Evonomics — Stack-Ranking is a Destructive Employee Practice.</a:t>
            </a:r>
            <a:endParaRPr lang="en-US" sz="850" dirty="0">
              <a:latin typeface="Tw Cen MT" panose="020B0602020104020603" pitchFamily="34" charset="0"/>
            </a:endParaRPr>
          </a:p>
        </p:txBody>
      </p:sp>
    </p:spTree>
    <p:extLst>
      <p:ext uri="{BB962C8B-B14F-4D97-AF65-F5344CB8AC3E}">
        <p14:creationId xmlns:p14="http://schemas.microsoft.com/office/powerpoint/2010/main" val="1980639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¿Stack Ranking: Medición del Desempeño o Sistema de Incentivos?</a:t>
            </a:r>
            <a:endParaRPr kumimoji="0" lang="en-US" sz="20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7" name="Text 5"/>
          <p:cNvSpPr/>
          <p:nvPr/>
        </p:nvSpPr>
        <p:spPr>
          <a:xfrm>
            <a:off x="777240" y="786384"/>
            <a:ext cx="790956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8B0000"/>
                </a:solidFill>
                <a:effectLst/>
                <a:uLnTx/>
                <a:uFillTx/>
                <a:latin typeface="Tw Cen MT" panose="020B0602020104020603" pitchFamily="34" charset="0"/>
                <a:ea typeface="Tw Cen MT" pitchFamily="34" charset="-122"/>
                <a:cs typeface="Tw Cen MT" pitchFamily="34" charset="-120"/>
              </a:rPr>
              <a:t>¿Es un sistema de medición del desempeño o un sistema de incentivos?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8B0000"/>
                </a:solidFill>
                <a:effectLst/>
                <a:uLnTx/>
                <a:uFillTx/>
                <a:latin typeface="Tw Cen MT" panose="020B0602020104020603" pitchFamily="34" charset="0"/>
                <a:ea typeface="Tw Cen MT" pitchFamily="34" charset="-122"/>
                <a:cs typeface="Tw Cen MT" pitchFamily="34" charset="-120"/>
              </a:rPr>
              <a:t>¿Cuál es la diferencia?</a:t>
            </a:r>
            <a:endParaRPr kumimoji="0" lang="en-US"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8" name="Shape 6"/>
          <p:cNvSpPr/>
          <p:nvPr/>
        </p:nvSpPr>
        <p:spPr>
          <a:xfrm>
            <a:off x="320040" y="1417320"/>
            <a:ext cx="8503920" cy="384048"/>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9" name="Text 7"/>
          <p:cNvSpPr/>
          <p:nvPr/>
        </p:nvSpPr>
        <p:spPr>
          <a:xfrm>
            <a:off x="320040" y="1417320"/>
            <a:ext cx="85039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4A017"/>
                </a:solidFill>
                <a:effectLst/>
                <a:uLnTx/>
                <a:uFillTx/>
                <a:latin typeface="Tw Cen MT" panose="020B0602020104020603" pitchFamily="34" charset="0"/>
                <a:ea typeface="Tw Cen MT" pitchFamily="34" charset="-122"/>
                <a:cs typeface="Tw Cen MT" pitchFamily="34" charset="-120"/>
              </a:rPr>
              <a:t>RESPUESTA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0" name="Text 8"/>
          <p:cNvSpPr/>
          <p:nvPr/>
        </p:nvSpPr>
        <p:spPr>
          <a:xfrm>
            <a:off x="320040" y="1901952"/>
            <a:ext cx="8503920"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El stack ranking es fundamentalmente un sistema de incentivos disfrazado de medición.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La distinción es clave:</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1" name="Shape 9"/>
          <p:cNvSpPr/>
          <p:nvPr/>
        </p:nvSpPr>
        <p:spPr>
          <a:xfrm>
            <a:off x="320040" y="2395728"/>
            <a:ext cx="4160520" cy="384048"/>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2" name="Text 10"/>
          <p:cNvSpPr/>
          <p:nvPr/>
        </p:nvSpPr>
        <p:spPr>
          <a:xfrm>
            <a:off x="320040" y="2395728"/>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MEDICIÓN DEL DESEMPEÑO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3" name="Shape 11"/>
          <p:cNvSpPr/>
          <p:nvPr/>
        </p:nvSpPr>
        <p:spPr>
          <a:xfrm>
            <a:off x="320040" y="2779776"/>
            <a:ext cx="4160520" cy="242316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4" name="Text 12"/>
          <p:cNvSpPr/>
          <p:nvPr/>
        </p:nvSpPr>
        <p:spPr>
          <a:xfrm>
            <a:off x="457200" y="2871216"/>
            <a:ext cx="3886200" cy="2240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Observa y cuantifica lo que el empleado hizo. Produce información sobre </a:t>
            </a:r>
            <a:r>
              <a:rPr kumimoji="0" lang="en-US" sz="1600" b="0" i="0" u="none" strike="noStrike" kern="1200" cap="none" spc="0" normalizeH="0" baseline="0" noProof="0" dirty="0" err="1">
                <a:ln>
                  <a:noFill/>
                </a:ln>
                <a:solidFill>
                  <a:srgbClr val="222222"/>
                </a:solidFill>
                <a:effectLst/>
                <a:uLnTx/>
                <a:uFillTx/>
                <a:latin typeface="Tw Cen MT" panose="020B0602020104020603" pitchFamily="34" charset="0"/>
                <a:ea typeface="Tw Cen MT" pitchFamily="34" charset="-122"/>
                <a:cs typeface="Tw Cen MT" pitchFamily="34" charset="-120"/>
              </a:rPr>
              <a:t>el</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a:t>
            </a:r>
            <a:r>
              <a:rPr kumimoji="0" lang="en-US" sz="1600" b="0" i="0" u="none" strike="noStrike" kern="1200" cap="none" spc="0" normalizeH="0" baseline="0" noProof="0" dirty="0" err="1">
                <a:ln>
                  <a:noFill/>
                </a:ln>
                <a:solidFill>
                  <a:srgbClr val="222222"/>
                </a:solidFill>
                <a:effectLst/>
                <a:uLnTx/>
                <a:uFillTx/>
                <a:latin typeface="Tw Cen MT" panose="020B0602020104020603" pitchFamily="34" charset="0"/>
                <a:ea typeface="Tw Cen MT" pitchFamily="34" charset="-122"/>
                <a:cs typeface="Tw Cen MT" pitchFamily="34" charset="-120"/>
              </a:rPr>
              <a:t>desempeño</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Su validez depende de qué tan bien captura lo que realmente valoriza la firma.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Puede existir sin consecuencias directas sobre la compensación (función informativa).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5" name="Shape 13"/>
          <p:cNvSpPr/>
          <p:nvPr/>
        </p:nvSpPr>
        <p:spPr>
          <a:xfrm>
            <a:off x="4663440" y="2395728"/>
            <a:ext cx="4160520" cy="38404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6" name="Text 14"/>
          <p:cNvSpPr/>
          <p:nvPr/>
        </p:nvSpPr>
        <p:spPr>
          <a:xfrm>
            <a:off x="4663440" y="2395728"/>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SISTEMA DE INCENTIVOS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7" name="Shape 15"/>
          <p:cNvSpPr/>
          <p:nvPr/>
        </p:nvSpPr>
        <p:spPr>
          <a:xfrm>
            <a:off x="4663440" y="2779776"/>
            <a:ext cx="4160520" cy="242316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8" name="Text 16"/>
          <p:cNvSpPr/>
          <p:nvPr/>
        </p:nvSpPr>
        <p:spPr>
          <a:xfrm>
            <a:off x="4800600" y="2871216"/>
            <a:ext cx="3886200" cy="2240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Usa esa información para moldear el comportamiento futuro. Vincula la compensación al desempeño medido. Crea un juego estratégico: el empleado optimiza lo que se mide.</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El stack ranking hace esto en modo relativo: lo que importa no es tu desempeño absoluto sino superar a tus colegas.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9" name="Shape 17"/>
          <p:cNvSpPr/>
          <p:nvPr/>
        </p:nvSpPr>
        <p:spPr>
          <a:xfrm>
            <a:off x="320040" y="5349240"/>
            <a:ext cx="8503920" cy="1051560"/>
          </a:xfrm>
          <a:prstGeom prst="rect">
            <a:avLst/>
          </a:prstGeom>
          <a:solidFill>
            <a:srgbClr val="FDF5E0"/>
          </a:solidFill>
          <a:ln w="12700">
            <a:solidFill>
              <a:srgbClr val="D4A01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0" name="Text 18"/>
          <p:cNvSpPr/>
          <p:nvPr/>
        </p:nvSpPr>
        <p:spPr>
          <a:xfrm>
            <a:off x="457200" y="5376672"/>
            <a:ext cx="82296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El problema del stack ranking es que convierte la evaluación en un juego de suma cero: lo que uno gana en ranking, otro lo pierde. Eso destruye la cooperación independientemente de cuán buena sea la medición subyacente.</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1" name="Text 19"/>
          <p:cNvSpPr/>
          <p:nvPr/>
        </p:nvSpPr>
        <p:spPr>
          <a:xfrm>
            <a:off x="274320" y="6473952"/>
            <a:ext cx="86868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888888"/>
                </a:solidFill>
                <a:effectLst/>
                <a:uLnTx/>
                <a:uFillTx/>
                <a:latin typeface="Tw Cen MT" panose="020B0602020104020603" pitchFamily="34" charset="0"/>
                <a:ea typeface="Tw Cen MT" pitchFamily="34" charset="-122"/>
                <a:cs typeface="Tw Cen MT" pitchFamily="34" charset="-120"/>
              </a:rPr>
              <a:t>Kerr, S. (1975). On the Folly of Rewarding A, While Hoping for B. Academy of Management Journal. | Jensen &amp; Meckling (1976). Theory of the Firm. Journal of Financial Economics.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¿Qué Tipo de Empleado Atrae y Retiene el Stack Ranking?</a:t>
            </a:r>
            <a:endParaRPr kumimoji="0" lang="en-US" sz="20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7" name="Text 5"/>
          <p:cNvSpPr/>
          <p:nvPr/>
        </p:nvSpPr>
        <p:spPr>
          <a:xfrm>
            <a:off x="932688" y="804672"/>
            <a:ext cx="790956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8B0000"/>
                </a:solidFill>
                <a:effectLst/>
                <a:uLnTx/>
                <a:uFillTx/>
                <a:latin typeface="Tw Cen MT" panose="020B0602020104020603" pitchFamily="34" charset="0"/>
                <a:ea typeface="Tw Cen MT" pitchFamily="34" charset="-122"/>
                <a:cs typeface="Tw Cen MT" pitchFamily="34" charset="-120"/>
              </a:rPr>
              <a:t>¿Qué tipo de empleado atrae y retiene el stack ranking?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8B0000"/>
                </a:solidFill>
                <a:effectLst/>
                <a:uLnTx/>
                <a:uFillTx/>
                <a:latin typeface="Tw Cen MT" panose="020B0602020104020603" pitchFamily="34" charset="0"/>
                <a:ea typeface="Tw Cen MT" pitchFamily="34" charset="-122"/>
                <a:cs typeface="Tw Cen MT" pitchFamily="34" charset="-120"/>
              </a:rPr>
              <a:t>¿Qué tipo expulsa?</a:t>
            </a:r>
            <a:endParaRPr kumimoji="0" lang="en-US"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8" name="Shape 6"/>
          <p:cNvSpPr/>
          <p:nvPr/>
        </p:nvSpPr>
        <p:spPr>
          <a:xfrm>
            <a:off x="320040" y="1417320"/>
            <a:ext cx="8503920" cy="384048"/>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9" name="Text 7"/>
          <p:cNvSpPr/>
          <p:nvPr/>
        </p:nvSpPr>
        <p:spPr>
          <a:xfrm>
            <a:off x="320040" y="1417320"/>
            <a:ext cx="85039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D4A017"/>
                </a:solidFill>
                <a:effectLst/>
                <a:uLnTx/>
                <a:uFillTx/>
                <a:latin typeface="Tw Cen MT" panose="020B0602020104020603" pitchFamily="34" charset="0"/>
                <a:ea typeface="Tw Cen MT" pitchFamily="34" charset="-122"/>
                <a:cs typeface="Tw Cen MT" pitchFamily="34" charset="-120"/>
              </a:rPr>
              <a:t>RESPUESTA</a:t>
            </a:r>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0" name="Text 8"/>
          <p:cNvSpPr/>
          <p:nvPr/>
        </p:nvSpPr>
        <p:spPr>
          <a:xfrm>
            <a:off x="320040" y="1901952"/>
            <a:ext cx="8503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El stack ranking genera selección adversa: atrae el perfil equivocado y expulsa el que la firma más necesita.</a:t>
            </a:r>
            <a:endParaRPr kumimoji="0" lang="en-US" sz="150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1" name="Shape 9"/>
          <p:cNvSpPr/>
          <p:nvPr/>
        </p:nvSpPr>
        <p:spPr>
          <a:xfrm>
            <a:off x="320040" y="2359152"/>
            <a:ext cx="4160520" cy="384048"/>
          </a:xfrm>
          <a:prstGeom prst="rect">
            <a:avLst/>
          </a:prstGeom>
          <a:solidFill>
            <a:srgbClr val="1B4332"/>
          </a:solidFill>
          <a:ln w="12700">
            <a:solidFill>
              <a:srgbClr val="1B43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2" name="Text 10"/>
          <p:cNvSpPr/>
          <p:nvPr/>
        </p:nvSpPr>
        <p:spPr>
          <a:xfrm>
            <a:off x="320040" y="2359152"/>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ATRAE Y RETIENE</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3" name="Shape 11"/>
          <p:cNvSpPr/>
          <p:nvPr/>
        </p:nvSpPr>
        <p:spPr>
          <a:xfrm>
            <a:off x="320040" y="2743200"/>
            <a:ext cx="4160520" cy="3456432"/>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4" name="Text 12"/>
          <p:cNvSpPr/>
          <p:nvPr/>
        </p:nvSpPr>
        <p:spPr>
          <a:xfrm>
            <a:off x="457200" y="283464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Empleados con alta tolerancia a la competencia interna y baja aversión al riesgo relativo.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5" name="Text 13"/>
          <p:cNvSpPr/>
          <p:nvPr/>
        </p:nvSpPr>
        <p:spPr>
          <a:xfrm>
            <a:off x="457200" y="361188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Personas con habilidades políticas: saben cómo quedar bien en el ranking sin necesariamente producir más.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6" name="Text 14"/>
          <p:cNvSpPr/>
          <p:nvPr/>
        </p:nvSpPr>
        <p:spPr>
          <a:xfrm>
            <a:off x="457200" y="438912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Individuos que priorizan el logro personal por sobre el del equipo — las 'súper gallinas' de Muir.</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7" name="Text 15"/>
          <p:cNvSpPr/>
          <p:nvPr/>
        </p:nvSpPr>
        <p:spPr>
          <a:xfrm>
            <a:off x="457200" y="516636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Quienes están dispuestos a retener información y sabotear a colegas si eso mejora su posición.</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8" name="Shape 16"/>
          <p:cNvSpPr/>
          <p:nvPr/>
        </p:nvSpPr>
        <p:spPr>
          <a:xfrm>
            <a:off x="4663440" y="2359152"/>
            <a:ext cx="4160520" cy="38404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9" name="Text 17"/>
          <p:cNvSpPr/>
          <p:nvPr/>
        </p:nvSpPr>
        <p:spPr>
          <a:xfrm>
            <a:off x="4663440" y="2359152"/>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EXPULSA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0" name="Shape 18"/>
          <p:cNvSpPr/>
          <p:nvPr/>
        </p:nvSpPr>
        <p:spPr>
          <a:xfrm>
            <a:off x="4663440" y="2743200"/>
            <a:ext cx="4160520" cy="3456432"/>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1" name="Text 19"/>
          <p:cNvSpPr/>
          <p:nvPr/>
        </p:nvSpPr>
        <p:spPr>
          <a:xfrm>
            <a:off x="4800600" y="283464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Empleados cooperativos y orientados al equipo, que no quieren competir contra sus propios colegas.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2" name="Text 20"/>
          <p:cNvSpPr/>
          <p:nvPr/>
        </p:nvSpPr>
        <p:spPr>
          <a:xfrm>
            <a:off x="4800600" y="3611880"/>
            <a:ext cx="3886200" cy="7132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Los mejores en equipos de alto desempeño — donde la distribución forzada los penaliza aunque sean excelentes.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3" name="Text 21"/>
          <p:cNvSpPr/>
          <p:nvPr/>
        </p:nvSpPr>
        <p:spPr>
          <a:xfrm>
            <a:off x="4800600" y="4389120"/>
            <a:ext cx="3886200" cy="9235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Personas con alta aversión al riesgo relativo: prefieren entornos donde el esfuerzo se recompensa en términos absolutos.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4" name="Text 22"/>
          <p:cNvSpPr/>
          <p:nvPr/>
        </p:nvSpPr>
        <p:spPr>
          <a:xfrm>
            <a:off x="4800600" y="5166360"/>
            <a:ext cx="3886200" cy="10332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Quienes valoran la estabilidad y la colaboración como condición para trabajar bien.</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5" name="Text 23"/>
          <p:cNvSpPr/>
          <p:nvPr/>
        </p:nvSpPr>
        <p:spPr>
          <a:xfrm>
            <a:off x="274320" y="6473952"/>
            <a:ext cx="86868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888888"/>
                </a:solidFill>
                <a:effectLst/>
                <a:uLnTx/>
                <a:uFillTx/>
                <a:latin typeface="Tw Cen MT" panose="020B0602020104020603" pitchFamily="34" charset="0"/>
                <a:ea typeface="Tw Cen MT" pitchFamily="34" charset="-122"/>
                <a:cs typeface="Tw Cen MT" pitchFamily="34" charset="-120"/>
              </a:rPr>
              <a:t>Lazear, E. (1981). Agency, Earnings Profiles, Productivity and Hours Restrictions. AER. | Muir, W.M. (1996). Poultry Science, 75(4), 447–458.</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01168" y="45720"/>
            <a:ext cx="8741664"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w Cen MT" pitchFamily="34" charset="0"/>
                <a:ea typeface="Tw Cen MT" pitchFamily="34" charset="-122"/>
                <a:cs typeface="Tw Cen MT" pitchFamily="34" charset="-120"/>
              </a:rPr>
              <a:t>¿Cuándo Tiene Sentido el Stack Ranking y Cuándo No?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32688" y="804672"/>
            <a:ext cx="790956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8B0000"/>
                </a:solidFill>
                <a:effectLst/>
                <a:uLnTx/>
                <a:uFillTx/>
                <a:latin typeface="Tw Cen MT" pitchFamily="34" charset="0"/>
                <a:ea typeface="Tw Cen MT" pitchFamily="34" charset="-122"/>
                <a:cs typeface="Tw Cen MT" pitchFamily="34" charset="-120"/>
              </a:rPr>
              <a:t>¿En qué tipos de organizaciones o tareas podría tener sentido?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8B0000"/>
                </a:solidFill>
                <a:effectLst/>
                <a:uLnTx/>
                <a:uFillTx/>
                <a:latin typeface="Tw Cen MT" pitchFamily="34" charset="0"/>
                <a:ea typeface="Tw Cen MT" pitchFamily="34" charset="-122"/>
                <a:cs typeface="Tw Cen MT" pitchFamily="34" charset="-120"/>
              </a:rPr>
              <a:t>¿En cuáles claramente no?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417320"/>
            <a:ext cx="8503920" cy="384048"/>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20040" y="1417320"/>
            <a:ext cx="85039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D4A017"/>
                </a:solidFill>
                <a:effectLst/>
                <a:uLnTx/>
                <a:uFillTx/>
                <a:latin typeface="Tw Cen MT" pitchFamily="34" charset="0"/>
                <a:ea typeface="Tw Cen MT" pitchFamily="34" charset="-122"/>
                <a:cs typeface="Tw Cen MT" pitchFamily="34" charset="-120"/>
              </a:rPr>
              <a:t>RESPUESTA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20040" y="1901952"/>
            <a:ext cx="8503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22222"/>
                </a:solidFill>
                <a:effectLst/>
                <a:uLnTx/>
                <a:uFillTx/>
                <a:latin typeface="Tw Cen MT" pitchFamily="34" charset="0"/>
                <a:ea typeface="Tw Cen MT" pitchFamily="34" charset="-122"/>
                <a:cs typeface="Tw Cen MT" pitchFamily="34" charset="-120"/>
              </a:rPr>
              <a:t>La clave es el grado de interdependencia entre </a:t>
            </a:r>
            <a:r>
              <a:rPr kumimoji="0" lang="en-US" b="0" i="0" u="none" strike="noStrike" kern="1200" cap="none" spc="0" normalizeH="0" baseline="0" noProof="0" dirty="0" err="1">
                <a:ln>
                  <a:noFill/>
                </a:ln>
                <a:solidFill>
                  <a:srgbClr val="222222"/>
                </a:solidFill>
                <a:effectLst/>
                <a:uLnTx/>
                <a:uFillTx/>
                <a:latin typeface="Tw Cen MT" pitchFamily="34" charset="0"/>
                <a:ea typeface="Tw Cen MT" pitchFamily="34" charset="-122"/>
                <a:cs typeface="Tw Cen MT" pitchFamily="34" charset="-120"/>
              </a:rPr>
              <a:t>tareas</a:t>
            </a:r>
            <a:r>
              <a:rPr kumimoji="0" lang="en-US" b="0" i="0" u="none" strike="noStrike" kern="1200" cap="none" spc="0" normalizeH="0" baseline="0" noProof="0" dirty="0">
                <a:ln>
                  <a:noFill/>
                </a:ln>
                <a:solidFill>
                  <a:srgbClr val="222222"/>
                </a:solidFill>
                <a:effectLst/>
                <a:uLnTx/>
                <a:uFillTx/>
                <a:latin typeface="Tw Cen MT" pitchFamily="34" charset="0"/>
                <a:ea typeface="Tw Cen MT" pitchFamily="34" charset="-122"/>
                <a:cs typeface="Tw Cen MT"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22222"/>
                </a:solidFill>
                <a:effectLst/>
                <a:uLnTx/>
                <a:uFillTx/>
                <a:latin typeface="Tw Cen MT" pitchFamily="34" charset="0"/>
                <a:ea typeface="Tw Cen MT" pitchFamily="34" charset="-122"/>
                <a:cs typeface="Tw Cen MT" pitchFamily="34" charset="-120"/>
              </a:rPr>
              <a:t> A mayor interdependencia, mayor el daño del stack ranking.</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38328" y="2536738"/>
            <a:ext cx="4160520" cy="384048"/>
          </a:xfrm>
          <a:prstGeom prst="rect">
            <a:avLst/>
          </a:prstGeom>
          <a:solidFill>
            <a:srgbClr val="1B4332"/>
          </a:solidFill>
          <a:ln w="12700">
            <a:solidFill>
              <a:srgbClr val="1B43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2" name="Text 10"/>
          <p:cNvSpPr/>
          <p:nvPr/>
        </p:nvSpPr>
        <p:spPr>
          <a:xfrm>
            <a:off x="338328" y="2536738"/>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PUEDE TENER SENTIDO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3" name="Shape 11"/>
          <p:cNvSpPr/>
          <p:nvPr/>
        </p:nvSpPr>
        <p:spPr>
          <a:xfrm>
            <a:off x="338328" y="2920786"/>
            <a:ext cx="4160520" cy="324612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4" name="Text 12"/>
          <p:cNvSpPr/>
          <p:nvPr/>
        </p:nvSpPr>
        <p:spPr>
          <a:xfrm>
            <a:off x="475488" y="3012226"/>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Tareas puramente individuales y medibles:</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ventas puerta a puerta, trading de activos, trabajo a destajo. El output individual es observable y no depende de otros.</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5" name="Text 13"/>
          <p:cNvSpPr/>
          <p:nvPr/>
        </p:nvSpPr>
        <p:spPr>
          <a:xfrm>
            <a:off x="475488" y="4054642"/>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Procesos de selección inicial:</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identificar talento entre muchos candidatos con características similares, donde la firma aún no sabe quién es quién.</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6" name="Text 14"/>
          <p:cNvSpPr/>
          <p:nvPr/>
        </p:nvSpPr>
        <p:spPr>
          <a:xfrm>
            <a:off x="475488" y="5097058"/>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Organizaciones con exceso de personal:</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donde el objetivo real es reducir la dotación de forma sistemática y con criterio aparentemente objetivo.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7" name="Shape 15"/>
          <p:cNvSpPr/>
          <p:nvPr/>
        </p:nvSpPr>
        <p:spPr>
          <a:xfrm>
            <a:off x="4681728" y="2536738"/>
            <a:ext cx="4160520" cy="38404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8" name="Text 16"/>
          <p:cNvSpPr/>
          <p:nvPr/>
        </p:nvSpPr>
        <p:spPr>
          <a:xfrm>
            <a:off x="4681728" y="2536738"/>
            <a:ext cx="4160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 NO TIENE SENTIDO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9" name="Shape 17"/>
          <p:cNvSpPr/>
          <p:nvPr/>
        </p:nvSpPr>
        <p:spPr>
          <a:xfrm>
            <a:off x="4681728" y="2920786"/>
            <a:ext cx="4160520" cy="324612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0" name="Text 18"/>
          <p:cNvSpPr/>
          <p:nvPr/>
        </p:nvSpPr>
        <p:spPr>
          <a:xfrm>
            <a:off x="4818888" y="3012226"/>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Trabajo en equipo e interdependiente:</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desarrollo de software, investigación, consultoría, salud. El output individual no puede separarse del colectivo.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1" name="Text 19"/>
          <p:cNvSpPr/>
          <p:nvPr/>
        </p:nvSpPr>
        <p:spPr>
          <a:xfrm>
            <a:off x="4818888" y="4054642"/>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Organizaciones que requieren innovación:</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compartir información es condición necesaria. El stack ranking desincentiva exactamente eso.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2" name="Text 20"/>
          <p:cNvSpPr/>
          <p:nvPr/>
        </p:nvSpPr>
        <p:spPr>
          <a:xfrm>
            <a:off x="4818888" y="5097058"/>
            <a:ext cx="3886200" cy="9601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Equipos de alto desempeño homogéneo:</a:t>
            </a: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 la distribución forzada obliga a calificar mal a personas excelentes. Microsoft es el caso paradigmático.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3" name="Text 21"/>
          <p:cNvSpPr/>
          <p:nvPr/>
        </p:nvSpPr>
        <p:spPr>
          <a:xfrm>
            <a:off x="274320" y="6473952"/>
            <a:ext cx="86868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888888"/>
                </a:solidFill>
                <a:effectLst/>
                <a:uLnTx/>
                <a:uFillTx/>
                <a:latin typeface="Tw Cen MT" pitchFamily="34" charset="0"/>
                <a:ea typeface="Tw Cen MT" pitchFamily="34" charset="-122"/>
                <a:cs typeface="Tw Cen MT" pitchFamily="34" charset="-120"/>
              </a:rPr>
              <a:t>Holmström, B. (1979). Moral Hazard and Observability. Bell Journal of Economics. | Barzel, Y. (1982). Measurement Cost and the Organization of Markets. Journal of Law and Economics.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El Caso General Electric — ¿Por Qué Funcionó el Stack Ranking?</a:t>
            </a:r>
            <a:endParaRPr lang="en-US" sz="2000" dirty="0">
              <a:latin typeface="Tw Cen MT" panose="020B0602020104020603" pitchFamily="34" charset="0"/>
            </a:endParaRPr>
          </a:p>
        </p:txBody>
      </p:sp>
      <p:sp>
        <p:nvSpPr>
          <p:cNvPr id="5" name="Shape 3"/>
          <p:cNvSpPr/>
          <p:nvPr/>
        </p:nvSpPr>
        <p:spPr>
          <a:xfrm>
            <a:off x="320040" y="804672"/>
            <a:ext cx="8503920" cy="384048"/>
          </a:xfrm>
          <a:prstGeom prst="rect">
            <a:avLst/>
          </a:prstGeom>
          <a:solidFill>
            <a:srgbClr val="1A2744"/>
          </a:solidFill>
          <a:ln w="12700">
            <a:solidFill>
              <a:srgbClr val="1A2744"/>
            </a:solidFill>
            <a:prstDash val="solid"/>
          </a:ln>
        </p:spPr>
        <p:txBody>
          <a:bodyPr/>
          <a:lstStyle/>
          <a:p>
            <a:endParaRPr lang="en-US">
              <a:latin typeface="Tw Cen MT" panose="020B0602020104020603" pitchFamily="34" charset="0"/>
            </a:endParaRPr>
          </a:p>
        </p:txBody>
      </p:sp>
      <p:sp>
        <p:nvSpPr>
          <p:cNvPr id="6" name="Text 4"/>
          <p:cNvSpPr/>
          <p:nvPr/>
        </p:nvSpPr>
        <p:spPr>
          <a:xfrm>
            <a:off x="320040" y="804672"/>
            <a:ext cx="8503920" cy="384048"/>
          </a:xfrm>
          <a:prstGeom prst="rect">
            <a:avLst/>
          </a:prstGeom>
          <a:noFill/>
          <a:ln/>
        </p:spPr>
        <p:txBody>
          <a:bodyPr wrap="square" rtlCol="0" anchor="ctr"/>
          <a:lstStyle/>
          <a:p>
            <a:pPr marL="0" indent="0" algn="ctr">
              <a:buNone/>
            </a:pPr>
            <a:r>
              <a:rPr lang="en-US" sz="1150" dirty="0">
                <a:solidFill>
                  <a:srgbClr val="D4A017"/>
                </a:solidFill>
                <a:latin typeface="Tw Cen MT" panose="020B0602020104020603" pitchFamily="34" charset="0"/>
                <a:ea typeface="Tw Cen MT" pitchFamily="34" charset="-122"/>
                <a:cs typeface="Tw Cen MT" pitchFamily="34" charset="-120"/>
              </a:rPr>
              <a:t>Jack Welch — CEO de GE 1981–2001. Implementó el sistema "Vitality Curve": 20% top, 70% medio, 10% inferior ("rank and yank").</a:t>
            </a:r>
            <a:endParaRPr lang="en-US" sz="1150" dirty="0">
              <a:latin typeface="Tw Cen MT" panose="020B0602020104020603" pitchFamily="34" charset="0"/>
            </a:endParaRPr>
          </a:p>
        </p:txBody>
      </p:sp>
      <p:sp>
        <p:nvSpPr>
          <p:cNvPr id="7" name="Shape 5"/>
          <p:cNvSpPr/>
          <p:nvPr/>
        </p:nvSpPr>
        <p:spPr>
          <a:xfrm>
            <a:off x="320040" y="1298448"/>
            <a:ext cx="384048" cy="1371600"/>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8" name="Shape 6"/>
          <p:cNvSpPr/>
          <p:nvPr/>
        </p:nvSpPr>
        <p:spPr>
          <a:xfrm>
            <a:off x="704088" y="1298448"/>
            <a:ext cx="8119872" cy="1371600"/>
          </a:xfrm>
          <a:prstGeom prst="rect">
            <a:avLst/>
          </a:prstGeom>
          <a:solidFill>
            <a:srgbClr val="F5F5F5"/>
          </a:solidFill>
          <a:ln w="12700">
            <a:solidFill>
              <a:srgbClr val="DDDDDD"/>
            </a:solidFill>
            <a:prstDash val="solid"/>
          </a:ln>
        </p:spPr>
        <p:txBody>
          <a:bodyPr/>
          <a:lstStyle/>
          <a:p>
            <a:endParaRPr lang="en-US" sz="1600" dirty="0">
              <a:latin typeface="Tw Cen MT" panose="020B0602020104020603" pitchFamily="34" charset="0"/>
            </a:endParaRPr>
          </a:p>
        </p:txBody>
      </p:sp>
      <p:sp>
        <p:nvSpPr>
          <p:cNvPr id="9" name="Text 7"/>
          <p:cNvSpPr/>
          <p:nvPr/>
        </p:nvSpPr>
        <p:spPr>
          <a:xfrm>
            <a:off x="841248" y="1344168"/>
            <a:ext cx="7845552" cy="347472"/>
          </a:xfrm>
          <a:prstGeom prst="rect">
            <a:avLst/>
          </a:prstGeom>
          <a:noFill/>
          <a:ln/>
        </p:spPr>
        <p:txBody>
          <a:bodyPr wrap="square" rtlCol="0" anchor="ctr"/>
          <a:lstStyle/>
          <a:p>
            <a:pPr marL="0" indent="0">
              <a:buNone/>
            </a:pPr>
            <a:r>
              <a:rPr lang="en-US" sz="1600" b="1" dirty="0">
                <a:solidFill>
                  <a:srgbClr val="8B0000"/>
                </a:solidFill>
                <a:latin typeface="Tw Cen MT" panose="020B0602020104020603" pitchFamily="34" charset="0"/>
                <a:ea typeface="Tw Cen MT" pitchFamily="34" charset="-122"/>
                <a:cs typeface="Tw Cen MT" pitchFamily="34" charset="-120"/>
              </a:rPr>
              <a:t>1. Conglomerado diversificado con unidades independientes</a:t>
            </a:r>
            <a:endParaRPr lang="en-US" sz="1600" dirty="0">
              <a:latin typeface="Tw Cen MT" panose="020B0602020104020603" pitchFamily="34" charset="0"/>
            </a:endParaRPr>
          </a:p>
        </p:txBody>
      </p:sp>
      <p:sp>
        <p:nvSpPr>
          <p:cNvPr id="10" name="Text 8"/>
          <p:cNvSpPr/>
          <p:nvPr/>
        </p:nvSpPr>
        <p:spPr>
          <a:xfrm>
            <a:off x="841248" y="1655064"/>
            <a:ext cx="7845552" cy="89611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GE operaba en aviación, energía, finanzas, electrodomésticos. Cada unidad de negocio era esencialmente autónoma. La interdependencia entre personas de distintas unidades era baja → el ranking individual no destruía cooperación cross-unit porque esa cooperación no era el motor del valor.</a:t>
            </a:r>
            <a:endParaRPr lang="en-US" sz="1600" dirty="0">
              <a:latin typeface="Tw Cen MT" panose="020B0602020104020603" pitchFamily="34" charset="0"/>
            </a:endParaRPr>
          </a:p>
        </p:txBody>
      </p:sp>
      <p:sp>
        <p:nvSpPr>
          <p:cNvPr id="11" name="Shape 9"/>
          <p:cNvSpPr/>
          <p:nvPr/>
        </p:nvSpPr>
        <p:spPr>
          <a:xfrm>
            <a:off x="320040" y="2852928"/>
            <a:ext cx="384048" cy="1371600"/>
          </a:xfrm>
          <a:prstGeom prst="rect">
            <a:avLst/>
          </a:prstGeom>
          <a:solidFill>
            <a:srgbClr val="1A2744"/>
          </a:solidFill>
          <a:ln w="12700">
            <a:solidFill>
              <a:srgbClr val="1A2744"/>
            </a:solidFill>
            <a:prstDash val="solid"/>
          </a:ln>
        </p:spPr>
        <p:txBody>
          <a:bodyPr/>
          <a:lstStyle/>
          <a:p>
            <a:endParaRPr lang="en-US" sz="1600">
              <a:latin typeface="Tw Cen MT" panose="020B0602020104020603" pitchFamily="34" charset="0"/>
            </a:endParaRPr>
          </a:p>
        </p:txBody>
      </p:sp>
      <p:sp>
        <p:nvSpPr>
          <p:cNvPr id="12" name="Shape 10"/>
          <p:cNvSpPr/>
          <p:nvPr/>
        </p:nvSpPr>
        <p:spPr>
          <a:xfrm>
            <a:off x="704088" y="2852928"/>
            <a:ext cx="8119872" cy="137160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3" name="Text 11"/>
          <p:cNvSpPr/>
          <p:nvPr/>
        </p:nvSpPr>
        <p:spPr>
          <a:xfrm>
            <a:off x="841248" y="2898648"/>
            <a:ext cx="7845552" cy="347472"/>
          </a:xfrm>
          <a:prstGeom prst="rect">
            <a:avLst/>
          </a:prstGeom>
          <a:noFill/>
          <a:ln/>
        </p:spPr>
        <p:txBody>
          <a:bodyPr wrap="square" rtlCol="0" anchor="ctr"/>
          <a:lstStyle/>
          <a:p>
            <a:pPr marL="0" indent="0">
              <a:buNone/>
            </a:pPr>
            <a:r>
              <a:rPr lang="en-US" sz="1600" b="1" dirty="0">
                <a:solidFill>
                  <a:srgbClr val="1A2744"/>
                </a:solidFill>
                <a:latin typeface="Tw Cen MT" panose="020B0602020104020603" pitchFamily="34" charset="0"/>
                <a:ea typeface="Tw Cen MT" pitchFamily="34" charset="-122"/>
                <a:cs typeface="Tw Cen MT" pitchFamily="34" charset="-120"/>
              </a:rPr>
              <a:t>2. Escala y burocracia heredada — necesidad de sacudir la organización</a:t>
            </a:r>
            <a:endParaRPr lang="en-US" sz="1600" dirty="0">
              <a:latin typeface="Tw Cen MT" panose="020B0602020104020603" pitchFamily="34" charset="0"/>
            </a:endParaRPr>
          </a:p>
        </p:txBody>
      </p:sp>
      <p:sp>
        <p:nvSpPr>
          <p:cNvPr id="14" name="Text 12"/>
          <p:cNvSpPr/>
          <p:nvPr/>
        </p:nvSpPr>
        <p:spPr>
          <a:xfrm>
            <a:off x="841248" y="3255264"/>
            <a:ext cx="7845552" cy="89611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En 1981, GE tenía 400.000 empleados y una cultura fuertemente burocrática. El stack ranking fue un instrumento de transformación cultural: forzó conversaciones sobre desempeño que la organización evitaba sistemáticamente. </a:t>
            </a:r>
            <a:endParaRPr lang="en-US" sz="1600" dirty="0">
              <a:latin typeface="Tw Cen MT" panose="020B0602020104020603" pitchFamily="34" charset="0"/>
            </a:endParaRPr>
          </a:p>
        </p:txBody>
      </p:sp>
      <p:sp>
        <p:nvSpPr>
          <p:cNvPr id="15" name="Shape 13"/>
          <p:cNvSpPr/>
          <p:nvPr/>
        </p:nvSpPr>
        <p:spPr>
          <a:xfrm>
            <a:off x="320040" y="4407408"/>
            <a:ext cx="384048" cy="1371600"/>
          </a:xfrm>
          <a:prstGeom prst="rect">
            <a:avLst/>
          </a:prstGeom>
          <a:solidFill>
            <a:srgbClr val="1B4332"/>
          </a:solidFill>
          <a:ln w="12700">
            <a:solidFill>
              <a:srgbClr val="1B4332"/>
            </a:solidFill>
            <a:prstDash val="solid"/>
          </a:ln>
        </p:spPr>
        <p:txBody>
          <a:bodyPr/>
          <a:lstStyle/>
          <a:p>
            <a:endParaRPr lang="en-US" sz="1600">
              <a:latin typeface="Tw Cen MT" panose="020B0602020104020603" pitchFamily="34" charset="0"/>
            </a:endParaRPr>
          </a:p>
        </p:txBody>
      </p:sp>
      <p:sp>
        <p:nvSpPr>
          <p:cNvPr id="16" name="Shape 14"/>
          <p:cNvSpPr/>
          <p:nvPr/>
        </p:nvSpPr>
        <p:spPr>
          <a:xfrm>
            <a:off x="704088" y="4407408"/>
            <a:ext cx="8119872" cy="137160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7" name="Text 15"/>
          <p:cNvSpPr/>
          <p:nvPr/>
        </p:nvSpPr>
        <p:spPr>
          <a:xfrm>
            <a:off x="841248" y="4453128"/>
            <a:ext cx="7845552" cy="347472"/>
          </a:xfrm>
          <a:prstGeom prst="rect">
            <a:avLst/>
          </a:prstGeom>
          <a:noFill/>
          <a:ln/>
        </p:spPr>
        <p:txBody>
          <a:bodyPr wrap="square" rtlCol="0" anchor="ctr"/>
          <a:lstStyle/>
          <a:p>
            <a:pPr marL="0" indent="0">
              <a:buNone/>
            </a:pPr>
            <a:r>
              <a:rPr lang="en-US" sz="1600" b="1" dirty="0">
                <a:solidFill>
                  <a:srgbClr val="1B4332"/>
                </a:solidFill>
                <a:latin typeface="Tw Cen MT" panose="020B0602020104020603" pitchFamily="34" charset="0"/>
                <a:ea typeface="Tw Cen MT" pitchFamily="34" charset="-122"/>
                <a:cs typeface="Tw Cen MT" pitchFamily="34" charset="-120"/>
              </a:rPr>
              <a:t>3. Output medible en múltiples niveles jerárquicos</a:t>
            </a:r>
            <a:endParaRPr lang="en-US" sz="1600" dirty="0">
              <a:latin typeface="Tw Cen MT" panose="020B0602020104020603" pitchFamily="34" charset="0"/>
            </a:endParaRPr>
          </a:p>
        </p:txBody>
      </p:sp>
      <p:sp>
        <p:nvSpPr>
          <p:cNvPr id="18" name="Text 16"/>
          <p:cNvSpPr/>
          <p:nvPr/>
        </p:nvSpPr>
        <p:spPr>
          <a:xfrm>
            <a:off x="841248" y="4754880"/>
            <a:ext cx="7845552" cy="89611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GE tenía métricas financieras claras por unidad, división y gerente. El desempeño de los líderes era observable en términos de resultados de negocio concretos — ingresos, márgenes, retornos. Lo que se medía se aproximaba bien a lo que la firma valoraba.</a:t>
            </a:r>
            <a:endParaRPr lang="en-US" sz="1600" dirty="0">
              <a:latin typeface="Tw Cen MT" panose="020B0602020104020603" pitchFamily="34" charset="0"/>
            </a:endParaRPr>
          </a:p>
        </p:txBody>
      </p:sp>
      <p:sp>
        <p:nvSpPr>
          <p:cNvPr id="19" name="Shape 17"/>
          <p:cNvSpPr/>
          <p:nvPr/>
        </p:nvSpPr>
        <p:spPr>
          <a:xfrm>
            <a:off x="320040" y="5989320"/>
            <a:ext cx="6126480" cy="384048"/>
          </a:xfrm>
          <a:prstGeom prst="rect">
            <a:avLst/>
          </a:prstGeom>
          <a:solidFill>
            <a:srgbClr val="1B4332"/>
          </a:solidFill>
          <a:ln w="12700">
            <a:solidFill>
              <a:srgbClr val="1B4332"/>
            </a:solidFill>
            <a:prstDash val="solid"/>
          </a:ln>
        </p:spPr>
        <p:txBody>
          <a:bodyPr/>
          <a:lstStyle/>
          <a:p>
            <a:endParaRPr lang="en-US" sz="1400">
              <a:latin typeface="Tw Cen MT" panose="020B0602020104020603" pitchFamily="34" charset="0"/>
            </a:endParaRPr>
          </a:p>
        </p:txBody>
      </p:sp>
      <p:sp>
        <p:nvSpPr>
          <p:cNvPr id="20" name="Text 18"/>
          <p:cNvSpPr/>
          <p:nvPr/>
        </p:nvSpPr>
        <p:spPr>
          <a:xfrm>
            <a:off x="320040" y="5989320"/>
            <a:ext cx="6126480" cy="384048"/>
          </a:xfrm>
          <a:prstGeom prst="rect">
            <a:avLst/>
          </a:prstGeom>
          <a:noFill/>
          <a:ln/>
        </p:spPr>
        <p:txBody>
          <a:bodyPr wrap="square" rtlCol="0" anchor="ctr"/>
          <a:lstStyle/>
          <a:p>
            <a:pPr marL="0" indent="0">
              <a:buNone/>
            </a:pPr>
            <a:r>
              <a:rPr lang="en-US" sz="1400" b="1" dirty="0">
                <a:solidFill>
                  <a:srgbClr val="FFFFFF"/>
                </a:solidFill>
                <a:latin typeface="Tw Cen MT" panose="020B0602020104020603" pitchFamily="34" charset="0"/>
                <a:ea typeface="Tw Cen MT" pitchFamily="34" charset="-122"/>
                <a:cs typeface="Tw Cen MT" pitchFamily="34" charset="-120"/>
              </a:rPr>
              <a:t>Resultado: GE multiplicó su capitalización bursátil 40 veces entre 1981 y 2001.</a:t>
            </a:r>
            <a:endParaRPr lang="en-US" sz="1400" dirty="0">
              <a:latin typeface="Tw Cen MT" panose="020B0602020104020603" pitchFamily="34" charset="0"/>
            </a:endParaRPr>
          </a:p>
        </p:txBody>
      </p:sp>
      <p:sp>
        <p:nvSpPr>
          <p:cNvPr id="21" name="Shape 19"/>
          <p:cNvSpPr/>
          <p:nvPr/>
        </p:nvSpPr>
        <p:spPr>
          <a:xfrm>
            <a:off x="6537960" y="5870448"/>
            <a:ext cx="2286000" cy="905256"/>
          </a:xfrm>
          <a:prstGeom prst="rect">
            <a:avLst/>
          </a:prstGeom>
          <a:solidFill>
            <a:srgbClr val="999999"/>
          </a:solidFill>
          <a:ln w="12700">
            <a:solidFill>
              <a:srgbClr val="999999"/>
            </a:solidFill>
            <a:prstDash val="solid"/>
          </a:ln>
        </p:spPr>
        <p:txBody>
          <a:bodyPr/>
          <a:lstStyle/>
          <a:p>
            <a:endParaRPr lang="en-US" sz="1400">
              <a:latin typeface="Tw Cen MT" panose="020B0602020104020603" pitchFamily="34" charset="0"/>
            </a:endParaRPr>
          </a:p>
        </p:txBody>
      </p:sp>
      <p:sp>
        <p:nvSpPr>
          <p:cNvPr id="22" name="Text 20"/>
          <p:cNvSpPr/>
          <p:nvPr/>
        </p:nvSpPr>
        <p:spPr>
          <a:xfrm>
            <a:off x="6537960" y="5824728"/>
            <a:ext cx="2286000" cy="905256"/>
          </a:xfrm>
          <a:prstGeom prst="rect">
            <a:avLst/>
          </a:prstGeom>
          <a:noFill/>
          <a:ln/>
        </p:spPr>
        <p:txBody>
          <a:bodyPr wrap="square" rtlCol="0" anchor="ctr"/>
          <a:lstStyle/>
          <a:p>
            <a:pPr marL="0" indent="0" algn="ctr">
              <a:buNone/>
            </a:pPr>
            <a:r>
              <a:rPr lang="en-US" sz="1400" i="1" dirty="0">
                <a:solidFill>
                  <a:srgbClr val="FFFFFF"/>
                </a:solidFill>
                <a:latin typeface="Tw Cen MT" panose="020B0602020104020603" pitchFamily="34" charset="0"/>
                <a:ea typeface="Tw Cen MT" pitchFamily="34" charset="-122"/>
                <a:cs typeface="Tw Cen MT" pitchFamily="34" charset="-120"/>
              </a:rPr>
              <a:t>Post-Welch: GE tardó décadas en resolver los problemas culturales que dejó.</a:t>
            </a:r>
            <a:endParaRPr lang="en-US" sz="1400" dirty="0">
              <a:latin typeface="Tw Cen MT" panose="020B0602020104020603" pitchFamily="34" charset="0"/>
            </a:endParaRPr>
          </a:p>
        </p:txBody>
      </p:sp>
      <p:sp>
        <p:nvSpPr>
          <p:cNvPr id="23" name="Text 21"/>
          <p:cNvSpPr/>
          <p:nvPr/>
        </p:nvSpPr>
        <p:spPr>
          <a:xfrm>
            <a:off x="274320" y="6473952"/>
            <a:ext cx="8686800" cy="256032"/>
          </a:xfrm>
          <a:prstGeom prst="rect">
            <a:avLst/>
          </a:prstGeom>
          <a:noFill/>
          <a:ln/>
        </p:spPr>
        <p:txBody>
          <a:bodyPr wrap="square" rtlCol="0" anchor="ctr"/>
          <a:lstStyle/>
          <a:p>
            <a:pPr marL="0" indent="0">
              <a:buNone/>
            </a:pPr>
            <a:r>
              <a:rPr lang="en-US" sz="850" i="1" dirty="0">
                <a:solidFill>
                  <a:srgbClr val="888888"/>
                </a:solidFill>
                <a:latin typeface="Tw Cen MT" panose="020B0602020104020603" pitchFamily="34" charset="0"/>
                <a:ea typeface="Tw Cen MT" pitchFamily="34" charset="-122"/>
                <a:cs typeface="Tw Cen MT" pitchFamily="34" charset="-120"/>
              </a:rPr>
              <a:t>Welch, J. (2001). Jack: Straight from the Gut. | Lazear, E. (1981). AER. | Barzel, Y. (1982). Journal of Law and Economics.</a:t>
            </a:r>
            <a:endParaRPr lang="en-US" sz="850" dirty="0">
              <a:latin typeface="Tw Cen MT" panose="020B0602020104020603"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3" name="Shape 1"/>
          <p:cNvSpPr/>
          <p:nvPr/>
        </p:nvSpPr>
        <p:spPr>
          <a:xfrm>
            <a:off x="0" y="658367"/>
            <a:ext cx="9144000" cy="70539"/>
          </a:xfrm>
          <a:prstGeom prst="rect">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¿Para Qué Estrategia es Recomendable el Stack Ranking?</a:t>
            </a:r>
            <a:endParaRPr lang="en-US" sz="2000" dirty="0">
              <a:latin typeface="Tw Cen MT" panose="020B0602020104020603" pitchFamily="34" charset="0"/>
            </a:endParaRPr>
          </a:p>
        </p:txBody>
      </p:sp>
      <p:sp>
        <p:nvSpPr>
          <p:cNvPr id="5" name="Shape 3"/>
          <p:cNvSpPr/>
          <p:nvPr/>
        </p:nvSpPr>
        <p:spPr>
          <a:xfrm>
            <a:off x="320040" y="804671"/>
            <a:ext cx="8503920" cy="793121"/>
          </a:xfrm>
          <a:prstGeom prst="rect">
            <a:avLst/>
          </a:prstGeom>
          <a:solidFill>
            <a:srgbClr val="1A2744"/>
          </a:solidFill>
          <a:ln w="12700">
            <a:solidFill>
              <a:srgbClr val="1A2744"/>
            </a:solidFill>
            <a:prstDash val="solid"/>
          </a:ln>
        </p:spPr>
        <p:txBody>
          <a:bodyPr/>
          <a:lstStyle/>
          <a:p>
            <a:endParaRPr lang="en-US" sz="1600">
              <a:latin typeface="Tw Cen MT" panose="020B0602020104020603" pitchFamily="34" charset="0"/>
            </a:endParaRPr>
          </a:p>
        </p:txBody>
      </p:sp>
      <p:sp>
        <p:nvSpPr>
          <p:cNvPr id="6" name="Text 4"/>
          <p:cNvSpPr/>
          <p:nvPr/>
        </p:nvSpPr>
        <p:spPr>
          <a:xfrm>
            <a:off x="320040" y="804672"/>
            <a:ext cx="8503920" cy="793122"/>
          </a:xfrm>
          <a:prstGeom prst="rect">
            <a:avLst/>
          </a:prstGeom>
          <a:noFill/>
          <a:ln/>
        </p:spPr>
        <p:txBody>
          <a:bodyPr wrap="square" rtlCol="0" anchor="ctr"/>
          <a:lstStyle/>
          <a:p>
            <a:pPr marL="0" indent="0" algn="ctr">
              <a:buNone/>
            </a:pPr>
            <a:r>
              <a:rPr lang="en-US" b="1" i="1" dirty="0">
                <a:solidFill>
                  <a:srgbClr val="D4A017"/>
                </a:solidFill>
                <a:latin typeface="Tw Cen MT" panose="020B0602020104020603" pitchFamily="34" charset="0"/>
                <a:ea typeface="Tw Cen MT" pitchFamily="34" charset="-122"/>
                <a:cs typeface="Tw Cen MT" pitchFamily="34" charset="-120"/>
              </a:rPr>
              <a:t>Condición necesaria en todos los casos: output individual observable, baja interdependencia, y lo que se mide es lo que la firma realmente valora.</a:t>
            </a:r>
            <a:endParaRPr lang="en-US" b="1" dirty="0">
              <a:latin typeface="Tw Cen MT" panose="020B0602020104020603" pitchFamily="34" charset="0"/>
            </a:endParaRPr>
          </a:p>
        </p:txBody>
      </p:sp>
      <p:sp>
        <p:nvSpPr>
          <p:cNvPr id="7" name="Shape 5"/>
          <p:cNvSpPr/>
          <p:nvPr/>
        </p:nvSpPr>
        <p:spPr>
          <a:xfrm>
            <a:off x="320040" y="1789341"/>
            <a:ext cx="4160520" cy="384048"/>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8" name="Text 6"/>
          <p:cNvSpPr/>
          <p:nvPr/>
        </p:nvSpPr>
        <p:spPr>
          <a:xfrm>
            <a:off x="320040" y="1789341"/>
            <a:ext cx="41605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Liderazgo en costos con trabajo estandarizado</a:t>
            </a:r>
            <a:endParaRPr lang="en-US" sz="1600" dirty="0">
              <a:latin typeface="Tw Cen MT" panose="020B0602020104020603" pitchFamily="34" charset="0"/>
            </a:endParaRPr>
          </a:p>
        </p:txBody>
      </p:sp>
      <p:sp>
        <p:nvSpPr>
          <p:cNvPr id="9" name="Shape 7"/>
          <p:cNvSpPr/>
          <p:nvPr/>
        </p:nvSpPr>
        <p:spPr>
          <a:xfrm>
            <a:off x="320040" y="2173389"/>
            <a:ext cx="4160520" cy="18745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0" name="Text 8"/>
          <p:cNvSpPr/>
          <p:nvPr/>
        </p:nvSpPr>
        <p:spPr>
          <a:xfrm>
            <a:off x="457200" y="2264829"/>
            <a:ext cx="3886200" cy="171907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La firma compite por precio. El trabajo es rutinario, medible y poco interdependiente — manufactura simple, ventas masivas, call centers. El output individual es comparable y el ranking discrimina eficientemente quién produce más.</a:t>
            </a:r>
            <a:endParaRPr lang="en-US" sz="1600" dirty="0">
              <a:latin typeface="Tw Cen MT" panose="020B0602020104020603" pitchFamily="34" charset="0"/>
            </a:endParaRPr>
          </a:p>
        </p:txBody>
      </p:sp>
      <p:sp>
        <p:nvSpPr>
          <p:cNvPr id="11" name="Shape 9"/>
          <p:cNvSpPr/>
          <p:nvPr/>
        </p:nvSpPr>
        <p:spPr>
          <a:xfrm>
            <a:off x="4663440" y="1811479"/>
            <a:ext cx="4160520" cy="384048"/>
          </a:xfrm>
          <a:prstGeom prst="rect">
            <a:avLst/>
          </a:prstGeom>
          <a:solidFill>
            <a:srgbClr val="1A2744"/>
          </a:solidFill>
          <a:ln w="12700">
            <a:solidFill>
              <a:srgbClr val="1A2744"/>
            </a:solidFill>
            <a:prstDash val="solid"/>
          </a:ln>
        </p:spPr>
        <p:txBody>
          <a:bodyPr/>
          <a:lstStyle/>
          <a:p>
            <a:endParaRPr lang="en-US" sz="1600">
              <a:latin typeface="Tw Cen MT" panose="020B0602020104020603" pitchFamily="34" charset="0"/>
            </a:endParaRPr>
          </a:p>
        </p:txBody>
      </p:sp>
      <p:sp>
        <p:nvSpPr>
          <p:cNvPr id="12" name="Text 10"/>
          <p:cNvSpPr/>
          <p:nvPr/>
        </p:nvSpPr>
        <p:spPr>
          <a:xfrm>
            <a:off x="4663440" y="1811479"/>
            <a:ext cx="41605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Selección y filtro en etapas de entrada</a:t>
            </a:r>
            <a:endParaRPr lang="en-US" sz="1600" dirty="0">
              <a:latin typeface="Tw Cen MT" panose="020B0602020104020603" pitchFamily="34" charset="0"/>
            </a:endParaRPr>
          </a:p>
        </p:txBody>
      </p:sp>
      <p:sp>
        <p:nvSpPr>
          <p:cNvPr id="13" name="Shape 11"/>
          <p:cNvSpPr/>
          <p:nvPr/>
        </p:nvSpPr>
        <p:spPr>
          <a:xfrm>
            <a:off x="4663440" y="2195527"/>
            <a:ext cx="4160520" cy="18745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4" name="Text 12"/>
          <p:cNvSpPr/>
          <p:nvPr/>
        </p:nvSpPr>
        <p:spPr>
          <a:xfrm>
            <a:off x="4800600" y="2286967"/>
            <a:ext cx="3886200" cy="171907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El ranking tiene sentido como mecanismo de filtro inicial en cohortes grandes de ingresantes homogéneos. Modelo ”ascender o </a:t>
            </a:r>
            <a:r>
              <a:rPr lang="en-US" sz="1600" dirty="0" err="1">
                <a:solidFill>
                  <a:srgbClr val="222222"/>
                </a:solidFill>
                <a:latin typeface="Tw Cen MT" panose="020B0602020104020603" pitchFamily="34" charset="0"/>
                <a:ea typeface="Tw Cen MT" pitchFamily="34" charset="-122"/>
                <a:cs typeface="Tw Cen MT" pitchFamily="34" charset="-120"/>
              </a:rPr>
              <a:t>salir</a:t>
            </a:r>
            <a:r>
              <a:rPr lang="en-US" sz="1600" dirty="0">
                <a:solidFill>
                  <a:srgbClr val="222222"/>
                </a:solidFill>
                <a:latin typeface="Tw Cen MT" panose="020B0602020104020603" pitchFamily="34" charset="0"/>
                <a:ea typeface="Tw Cen MT" pitchFamily="34" charset="-122"/>
                <a:cs typeface="Tw Cen MT" pitchFamily="34" charset="-120"/>
              </a:rPr>
              <a:t>” </a:t>
            </a:r>
            <a:r>
              <a:rPr lang="en-US" sz="1600" dirty="0" err="1">
                <a:solidFill>
                  <a:srgbClr val="222222"/>
                </a:solidFill>
                <a:latin typeface="Tw Cen MT" panose="020B0602020104020603" pitchFamily="34" charset="0"/>
                <a:ea typeface="Tw Cen MT" pitchFamily="34" charset="-122"/>
                <a:cs typeface="Tw Cen MT" pitchFamily="34" charset="-120"/>
              </a:rPr>
              <a:t>en</a:t>
            </a:r>
            <a:r>
              <a:rPr lang="en-US" sz="1600" dirty="0">
                <a:solidFill>
                  <a:srgbClr val="222222"/>
                </a:solidFill>
                <a:latin typeface="Tw Cen MT" panose="020B0602020104020603" pitchFamily="34" charset="0"/>
                <a:ea typeface="Tw Cen MT" pitchFamily="34" charset="-122"/>
                <a:cs typeface="Tw Cen MT" pitchFamily="34" charset="-120"/>
              </a:rPr>
              <a:t> los primeros años selecciona quién continúa, no gestiona el desempeño de quienes ya están consolidados.</a:t>
            </a:r>
            <a:endParaRPr lang="en-US" sz="1600" dirty="0">
              <a:latin typeface="Tw Cen MT" panose="020B0602020104020603" pitchFamily="34" charset="0"/>
            </a:endParaRPr>
          </a:p>
        </p:txBody>
      </p:sp>
      <p:sp>
        <p:nvSpPr>
          <p:cNvPr id="15" name="Shape 13"/>
          <p:cNvSpPr/>
          <p:nvPr/>
        </p:nvSpPr>
        <p:spPr>
          <a:xfrm>
            <a:off x="320040" y="4303936"/>
            <a:ext cx="4160520" cy="384048"/>
          </a:xfrm>
          <a:prstGeom prst="rect">
            <a:avLst/>
          </a:prstGeom>
          <a:solidFill>
            <a:srgbClr val="5C4A1E"/>
          </a:solidFill>
          <a:ln w="12700">
            <a:solidFill>
              <a:srgbClr val="5C4A1E"/>
            </a:solidFill>
            <a:prstDash val="solid"/>
          </a:ln>
        </p:spPr>
        <p:txBody>
          <a:bodyPr/>
          <a:lstStyle/>
          <a:p>
            <a:endParaRPr lang="en-US" sz="1600">
              <a:latin typeface="Tw Cen MT" panose="020B0602020104020603" pitchFamily="34" charset="0"/>
            </a:endParaRPr>
          </a:p>
        </p:txBody>
      </p:sp>
      <p:sp>
        <p:nvSpPr>
          <p:cNvPr id="16" name="Text 14"/>
          <p:cNvSpPr/>
          <p:nvPr/>
        </p:nvSpPr>
        <p:spPr>
          <a:xfrm>
            <a:off x="320040" y="4303936"/>
            <a:ext cx="41605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Reducción estructural de dotación</a:t>
            </a:r>
            <a:endParaRPr lang="en-US" sz="1600" dirty="0">
              <a:latin typeface="Tw Cen MT" panose="020B0602020104020603" pitchFamily="34" charset="0"/>
            </a:endParaRPr>
          </a:p>
        </p:txBody>
      </p:sp>
      <p:sp>
        <p:nvSpPr>
          <p:cNvPr id="17" name="Shape 15"/>
          <p:cNvSpPr/>
          <p:nvPr/>
        </p:nvSpPr>
        <p:spPr>
          <a:xfrm>
            <a:off x="320040" y="4687984"/>
            <a:ext cx="4160520" cy="18745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8" name="Text 16"/>
          <p:cNvSpPr/>
          <p:nvPr/>
        </p:nvSpPr>
        <p:spPr>
          <a:xfrm>
            <a:off x="457200" y="4779424"/>
            <a:ext cx="3886200" cy="171907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Cuando la firma necesita reducir personal de forma sistemática, el ranking relativo cumple la función de mecanismo de salida ordenada con criterio aparentemente objetivo. No es gestión del desempeño — es administración de la salida.</a:t>
            </a:r>
            <a:endParaRPr lang="en-US" sz="1600" dirty="0">
              <a:latin typeface="Tw Cen MT" panose="020B0602020104020603" pitchFamily="34" charset="0"/>
            </a:endParaRPr>
          </a:p>
        </p:txBody>
      </p:sp>
      <p:sp>
        <p:nvSpPr>
          <p:cNvPr id="19" name="Shape 17"/>
          <p:cNvSpPr/>
          <p:nvPr/>
        </p:nvSpPr>
        <p:spPr>
          <a:xfrm>
            <a:off x="4663440" y="4303936"/>
            <a:ext cx="4160520" cy="576072"/>
          </a:xfrm>
          <a:prstGeom prst="rect">
            <a:avLst/>
          </a:prstGeom>
          <a:solidFill>
            <a:srgbClr val="1B4332"/>
          </a:solidFill>
          <a:ln w="12700">
            <a:solidFill>
              <a:srgbClr val="1B4332"/>
            </a:solidFill>
            <a:prstDash val="solid"/>
          </a:ln>
        </p:spPr>
        <p:txBody>
          <a:bodyPr/>
          <a:lstStyle/>
          <a:p>
            <a:endParaRPr lang="en-US" sz="1600">
              <a:latin typeface="Tw Cen MT" panose="020B0602020104020603" pitchFamily="34" charset="0"/>
            </a:endParaRPr>
          </a:p>
        </p:txBody>
      </p:sp>
      <p:sp>
        <p:nvSpPr>
          <p:cNvPr id="20" name="Text 18"/>
          <p:cNvSpPr/>
          <p:nvPr/>
        </p:nvSpPr>
        <p:spPr>
          <a:xfrm>
            <a:off x="4663440" y="4303936"/>
            <a:ext cx="41605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Mercados de talento escaso y diferencias de impacto extremas</a:t>
            </a:r>
            <a:endParaRPr lang="en-US" sz="1600" dirty="0">
              <a:latin typeface="Tw Cen MT" panose="020B0602020104020603" pitchFamily="34" charset="0"/>
            </a:endParaRPr>
          </a:p>
        </p:txBody>
      </p:sp>
      <p:sp>
        <p:nvSpPr>
          <p:cNvPr id="21" name="Shape 19"/>
          <p:cNvSpPr/>
          <p:nvPr/>
        </p:nvSpPr>
        <p:spPr>
          <a:xfrm>
            <a:off x="4663440" y="4687984"/>
            <a:ext cx="4160520" cy="18745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22" name="Text 20"/>
          <p:cNvSpPr/>
          <p:nvPr/>
        </p:nvSpPr>
        <p:spPr>
          <a:xfrm>
            <a:off x="4800600" y="4779424"/>
            <a:ext cx="3886200" cy="1719072"/>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Mesas de trading, fondos de inversión de alto rendimiento. La diferencia entre el percentil 90 y el 95 tiene impacto económico real y medible. El ranking discrimina donde la diferencia de valor generado entre individuos es enorme.</a:t>
            </a:r>
            <a:endParaRPr lang="en-US" sz="1600" dirty="0">
              <a:latin typeface="Tw Cen MT" panose="020B0602020104020603"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01168" y="45720"/>
            <a:ext cx="8741664"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FFFFFF"/>
                </a:solidFill>
                <a:effectLst/>
                <a:uLnTx/>
                <a:uFillTx/>
                <a:latin typeface="Tw Cen MT" pitchFamily="34" charset="0"/>
                <a:ea typeface="Tw Cen MT" pitchFamily="34" charset="-122"/>
                <a:cs typeface="Tw Cen MT" pitchFamily="34" charset="-120"/>
              </a:rPr>
              <a:t>Alternativas</a:t>
            </a:r>
            <a:r>
              <a:rPr kumimoji="0" lang="en-US" sz="2000" b="1" i="0" u="none" strike="noStrike" kern="1200" cap="none" spc="0" normalizeH="0" baseline="0" noProof="0" dirty="0">
                <a:ln>
                  <a:noFill/>
                </a:ln>
                <a:solidFill>
                  <a:srgbClr val="FFFFFF"/>
                </a:solidFill>
                <a:effectLst/>
                <a:uLnTx/>
                <a:uFillTx/>
                <a:latin typeface="Tw Cen MT" pitchFamily="34" charset="0"/>
                <a:ea typeface="Tw Cen MT" pitchFamily="34" charset="-122"/>
                <a:cs typeface="Tw Cen MT" pitchFamily="34" charset="-120"/>
              </a:rPr>
              <a:t> al Stack Ranking: Medición y Compensación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32688" y="804672"/>
            <a:ext cx="790956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1" u="none" strike="noStrike" kern="1200" cap="none" spc="0" normalizeH="0" baseline="0" noProof="0" dirty="0">
                <a:ln>
                  <a:noFill/>
                </a:ln>
                <a:solidFill>
                  <a:srgbClr val="8B0000"/>
                </a:solidFill>
                <a:effectLst/>
                <a:uLnTx/>
                <a:uFillTx/>
                <a:latin typeface="Tw Cen MT" pitchFamily="34" charset="0"/>
                <a:ea typeface="Tw Cen MT" pitchFamily="34" charset="-122"/>
                <a:cs typeface="Tw Cen MT" pitchFamily="34" charset="-120"/>
              </a:rPr>
              <a:t>¿Qué alternativa de medición y compensación propondrían para reemplazarlo?</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271016"/>
            <a:ext cx="8503920" cy="384048"/>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9" name="Text 7"/>
          <p:cNvSpPr/>
          <p:nvPr/>
        </p:nvSpPr>
        <p:spPr>
          <a:xfrm>
            <a:off x="320040" y="1271016"/>
            <a:ext cx="85039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4A017"/>
                </a:solidFill>
                <a:effectLst/>
                <a:uLnTx/>
                <a:uFillTx/>
                <a:latin typeface="Tw Cen MT" panose="020B0602020104020603" pitchFamily="34" charset="0"/>
                <a:ea typeface="Tw Cen MT" pitchFamily="34" charset="-122"/>
                <a:cs typeface="Tw Cen MT" pitchFamily="34" charset="-120"/>
              </a:rPr>
              <a:t>RESPUESTA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0" name="Text 8"/>
          <p:cNvSpPr/>
          <p:nvPr/>
        </p:nvSpPr>
        <p:spPr>
          <a:xfrm>
            <a:off x="320040" y="1755648"/>
            <a:ext cx="850392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No existe una solución única. El sistema óptimo depende del tipo de tarea, la observabilidad del output y el grado de interdependencia.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1" name="Shape 9"/>
          <p:cNvSpPr/>
          <p:nvPr/>
        </p:nvSpPr>
        <p:spPr>
          <a:xfrm>
            <a:off x="274320" y="2311747"/>
            <a:ext cx="4160520" cy="502920"/>
          </a:xfrm>
          <a:prstGeom prst="rect">
            <a:avLst/>
          </a:prstGeom>
          <a:solidFill>
            <a:srgbClr val="1A2744"/>
          </a:solidFill>
          <a:ln w="12700">
            <a:solidFill>
              <a:srgbClr val="1A27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2" name="Text 10"/>
          <p:cNvSpPr/>
          <p:nvPr/>
        </p:nvSpPr>
        <p:spPr>
          <a:xfrm>
            <a:off x="274320" y="2311746"/>
            <a:ext cx="4160520" cy="515915"/>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Evaluación por objetivos absolutos (MBO)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3" name="Shape 11"/>
          <p:cNvSpPr/>
          <p:nvPr/>
        </p:nvSpPr>
        <p:spPr>
          <a:xfrm>
            <a:off x="274320" y="2659219"/>
            <a:ext cx="4160520" cy="1875482"/>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4" name="Text 12"/>
          <p:cNvSpPr/>
          <p:nvPr/>
        </p:nvSpPr>
        <p:spPr>
          <a:xfrm>
            <a:off x="411480" y="3039418"/>
            <a:ext cx="388620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Cada empleado es evaluado contra sus propias metas — no contra sus colegas. Elimina el juego de suma cero. Requiere que las metas sean bien calibradas para evitar el efecto trinquete.</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5" name="Shape 13"/>
          <p:cNvSpPr/>
          <p:nvPr/>
        </p:nvSpPr>
        <p:spPr>
          <a:xfrm>
            <a:off x="4663440" y="2324741"/>
            <a:ext cx="4160520" cy="502920"/>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6" name="Text 14"/>
          <p:cNvSpPr/>
          <p:nvPr/>
        </p:nvSpPr>
        <p:spPr>
          <a:xfrm>
            <a:off x="4663440" y="2324741"/>
            <a:ext cx="41605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Incentivos grupales + evaluación subjetiva calibrada</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7" name="Shape 15"/>
          <p:cNvSpPr/>
          <p:nvPr/>
        </p:nvSpPr>
        <p:spPr>
          <a:xfrm>
            <a:off x="4663440" y="2827661"/>
            <a:ext cx="4160520" cy="170704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18" name="Text 16"/>
          <p:cNvSpPr/>
          <p:nvPr/>
        </p:nvSpPr>
        <p:spPr>
          <a:xfrm>
            <a:off x="4800600" y="2919101"/>
            <a:ext cx="388620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Parte del bono se ata al desempeño del equipo o la unidad. El supervisor evalúa subjetivamente la contribución individual, pero rinde cuentas por esas evaluaciones. Reduce la competencia interna y alinea con el objetivo colectivo.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19" name="Shape 17"/>
          <p:cNvSpPr/>
          <p:nvPr/>
        </p:nvSpPr>
        <p:spPr>
          <a:xfrm>
            <a:off x="338328" y="4692797"/>
            <a:ext cx="4160520" cy="557784"/>
          </a:xfrm>
          <a:prstGeom prst="rect">
            <a:avLst/>
          </a:prstGeom>
          <a:solidFill>
            <a:srgbClr val="1B4332"/>
          </a:solidFill>
          <a:ln w="12700">
            <a:solidFill>
              <a:srgbClr val="1B43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0" name="Text 18"/>
          <p:cNvSpPr/>
          <p:nvPr/>
        </p:nvSpPr>
        <p:spPr>
          <a:xfrm>
            <a:off x="338328" y="4683653"/>
            <a:ext cx="4160520" cy="5669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Sistema de Deloitte — evaluación continua por proyecto</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1" name="Shape 19"/>
          <p:cNvSpPr/>
          <p:nvPr/>
        </p:nvSpPr>
        <p:spPr>
          <a:xfrm>
            <a:off x="338328" y="5250581"/>
            <a:ext cx="4160520" cy="146304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2" name="Text 20"/>
          <p:cNvSpPr/>
          <p:nvPr/>
        </p:nvSpPr>
        <p:spPr>
          <a:xfrm>
            <a:off x="475488" y="5342021"/>
            <a:ext cx="388620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Reemplaza la calificación anual por cuatro preguntas prospectivas al finalizar cada proyecto. Elimina la reunión de consenso. Reduce el sesgo del evaluador y provee retroalimentación accionable en tiempo real.</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3" name="Shape 21"/>
          <p:cNvSpPr/>
          <p:nvPr/>
        </p:nvSpPr>
        <p:spPr>
          <a:xfrm>
            <a:off x="4700016" y="4738999"/>
            <a:ext cx="4160520" cy="512063"/>
          </a:xfrm>
          <a:prstGeom prst="rect">
            <a:avLst/>
          </a:prstGeom>
          <a:solidFill>
            <a:srgbClr val="8B6914"/>
          </a:solidFill>
          <a:ln w="12700">
            <a:solidFill>
              <a:srgbClr val="8B691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4" name="Text 22"/>
          <p:cNvSpPr/>
          <p:nvPr/>
        </p:nvSpPr>
        <p:spPr>
          <a:xfrm>
            <a:off x="4700016" y="4738999"/>
            <a:ext cx="4160520" cy="512063"/>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w Cen MT" panose="020B0602020104020603" pitchFamily="34" charset="0"/>
                <a:ea typeface="Tw Cen MT" pitchFamily="34" charset="-122"/>
                <a:cs typeface="Tw Cen MT" pitchFamily="34" charset="-120"/>
              </a:rPr>
              <a:t>Compensación de largo plazo (acciones, vesting)</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
        <p:nvSpPr>
          <p:cNvPr id="25" name="Shape 23"/>
          <p:cNvSpPr/>
          <p:nvPr/>
        </p:nvSpPr>
        <p:spPr>
          <a:xfrm>
            <a:off x="4700016" y="5251062"/>
            <a:ext cx="4160520" cy="1463040"/>
          </a:xfrm>
          <a:prstGeom prst="rect">
            <a:avLst/>
          </a:prstGeom>
          <a:solidFill>
            <a:srgbClr val="F5F5F5"/>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w Cen MT" panose="020B0602020104020603" pitchFamily="34" charset="0"/>
            </a:endParaRPr>
          </a:p>
        </p:txBody>
      </p:sp>
      <p:sp>
        <p:nvSpPr>
          <p:cNvPr id="26" name="Text 24"/>
          <p:cNvSpPr/>
          <p:nvPr/>
        </p:nvSpPr>
        <p:spPr>
          <a:xfrm>
            <a:off x="4837176" y="5342502"/>
            <a:ext cx="388620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Tw Cen MT" panose="020B0602020104020603" pitchFamily="34" charset="0"/>
                <a:ea typeface="Tw Cen MT" pitchFamily="34" charset="-122"/>
                <a:cs typeface="Tw Cen MT" pitchFamily="34" charset="-120"/>
              </a:rPr>
              <a:t>Alinea al empleado con el resultado de la firma en el tiempo, no con su ranking semestral. Retiene a quienes construyen valor sostenible. Reduce el oportunismo de corto plazo que genera el stack ranking.</a:t>
            </a:r>
            <a:endParaRPr kumimoji="0" lang="en-US" sz="1600" b="0" i="0" u="none" strike="noStrike" kern="1200" cap="none" spc="0" normalizeH="0" baseline="0" noProof="0" dirty="0">
              <a:ln>
                <a:noFill/>
              </a:ln>
              <a:solidFill>
                <a:prstClr val="black"/>
              </a:solidFill>
              <a:effectLst/>
              <a:uLnTx/>
              <a:uFillTx/>
              <a:latin typeface="Tw Cen MT" panose="020B0602020104020603"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Del Experimento a las Organizaciones</a:t>
            </a:r>
            <a:endParaRPr lang="en-US" sz="2000" dirty="0">
              <a:latin typeface="Tw Cen MT" panose="020B0602020104020603" pitchFamily="34" charset="0"/>
            </a:endParaRPr>
          </a:p>
        </p:txBody>
      </p:sp>
      <p:sp>
        <p:nvSpPr>
          <p:cNvPr id="5" name="Shape 3"/>
          <p:cNvSpPr/>
          <p:nvPr/>
        </p:nvSpPr>
        <p:spPr>
          <a:xfrm>
            <a:off x="320040" y="777240"/>
            <a:ext cx="8503920" cy="384048"/>
          </a:xfrm>
          <a:prstGeom prst="rect">
            <a:avLst/>
          </a:prstGeom>
          <a:solidFill>
            <a:srgbClr val="1A2744"/>
          </a:solidFill>
          <a:ln w="12700">
            <a:solidFill>
              <a:srgbClr val="1A2744"/>
            </a:solidFill>
            <a:prstDash val="solid"/>
          </a:ln>
        </p:spPr>
        <p:txBody>
          <a:bodyPr/>
          <a:lstStyle/>
          <a:p>
            <a:endParaRPr lang="en-US">
              <a:latin typeface="Tw Cen MT" panose="020B0602020104020603" pitchFamily="34" charset="0"/>
            </a:endParaRPr>
          </a:p>
        </p:txBody>
      </p:sp>
      <p:sp>
        <p:nvSpPr>
          <p:cNvPr id="6" name="Text 4"/>
          <p:cNvSpPr/>
          <p:nvPr/>
        </p:nvSpPr>
        <p:spPr>
          <a:xfrm>
            <a:off x="320040" y="777240"/>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¿Qué pasa con las personas en las organizaciones?</a:t>
            </a:r>
            <a:endParaRPr lang="en-US" dirty="0">
              <a:latin typeface="Tw Cen MT" panose="020B0602020104020603" pitchFamily="34" charset="0"/>
            </a:endParaRPr>
          </a:p>
        </p:txBody>
      </p:sp>
      <p:sp>
        <p:nvSpPr>
          <p:cNvPr id="7" name="Shape 5"/>
          <p:cNvSpPr/>
          <p:nvPr/>
        </p:nvSpPr>
        <p:spPr>
          <a:xfrm>
            <a:off x="320040" y="1261872"/>
            <a:ext cx="8503920"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8" name="Text 6"/>
          <p:cNvSpPr/>
          <p:nvPr/>
        </p:nvSpPr>
        <p:spPr>
          <a:xfrm>
            <a:off x="320040" y="1261872"/>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Deportes profesionales (Estudio 2014)</a:t>
            </a:r>
            <a:endParaRPr lang="en-US" dirty="0">
              <a:latin typeface="Tw Cen MT" panose="020B0602020104020603" pitchFamily="34" charset="0"/>
            </a:endParaRPr>
          </a:p>
        </p:txBody>
      </p:sp>
      <p:sp>
        <p:nvSpPr>
          <p:cNvPr id="9" name="Shape 7"/>
          <p:cNvSpPr/>
          <p:nvPr/>
        </p:nvSpPr>
        <p:spPr>
          <a:xfrm>
            <a:off x="320040" y="1645920"/>
            <a:ext cx="8503920" cy="1183907"/>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0" name="Text 8"/>
          <p:cNvSpPr/>
          <p:nvPr/>
        </p:nvSpPr>
        <p:spPr>
          <a:xfrm>
            <a:off x="502920" y="1755648"/>
            <a:ext cx="8229600" cy="1074179"/>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En fútbol y básquetbol, el talento beneficia a los equipos, pero solo hasta cierto punto. Cuando demasiados jugadores "estrella" juegan en el mismo equipo, el rendimiento individual y colectivo disminuye significativamente, porque la cooperación se deteriora.</a:t>
            </a:r>
            <a:endParaRPr lang="en-US" dirty="0">
              <a:latin typeface="Tw Cen MT" panose="020B0602020104020603" pitchFamily="34" charset="0"/>
            </a:endParaRPr>
          </a:p>
        </p:txBody>
      </p:sp>
      <p:sp>
        <p:nvSpPr>
          <p:cNvPr id="11" name="Shape 9"/>
          <p:cNvSpPr/>
          <p:nvPr/>
        </p:nvSpPr>
        <p:spPr>
          <a:xfrm>
            <a:off x="320040" y="3072384"/>
            <a:ext cx="8503920" cy="384048"/>
          </a:xfrm>
          <a:prstGeom prst="rect">
            <a:avLst/>
          </a:prstGeom>
          <a:solidFill>
            <a:srgbClr val="1B4332"/>
          </a:solidFill>
          <a:ln w="12700">
            <a:solidFill>
              <a:srgbClr val="1B4332"/>
            </a:solidFill>
            <a:prstDash val="solid"/>
          </a:ln>
        </p:spPr>
        <p:txBody>
          <a:bodyPr/>
          <a:lstStyle/>
          <a:p>
            <a:endParaRPr lang="en-US">
              <a:latin typeface="Tw Cen MT" panose="020B0602020104020603" pitchFamily="34" charset="0"/>
            </a:endParaRPr>
          </a:p>
        </p:txBody>
      </p:sp>
      <p:sp>
        <p:nvSpPr>
          <p:cNvPr id="12" name="Text 10"/>
          <p:cNvSpPr/>
          <p:nvPr/>
        </p:nvSpPr>
        <p:spPr>
          <a:xfrm>
            <a:off x="320040" y="3072384"/>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Universidad de Duke — Departamento de Inglés</a:t>
            </a:r>
            <a:endParaRPr lang="en-US" dirty="0">
              <a:latin typeface="Tw Cen MT" panose="020B0602020104020603" pitchFamily="34" charset="0"/>
            </a:endParaRPr>
          </a:p>
        </p:txBody>
      </p:sp>
      <p:sp>
        <p:nvSpPr>
          <p:cNvPr id="13" name="Shape 11"/>
          <p:cNvSpPr/>
          <p:nvPr/>
        </p:nvSpPr>
        <p:spPr>
          <a:xfrm>
            <a:off x="320040" y="3456432"/>
            <a:ext cx="8503920" cy="1664208"/>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4" name="Text 12"/>
          <p:cNvSpPr/>
          <p:nvPr/>
        </p:nvSpPr>
        <p:spPr>
          <a:xfrm>
            <a:off x="502920" y="3410711"/>
            <a:ext cx="8229600" cy="146304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A principios de los 90, Duke decidió contratar todas las superestrellas literarias disponibles para crear "el mejor departamento de inglés del mundo". Resultado: disputas personales, divergencias metodológicas y graves deficiencias en el modelo curricular. (Albert-László Barabási)</a:t>
            </a:r>
            <a:endParaRPr lang="en-US" dirty="0">
              <a:latin typeface="Tw Cen MT" panose="020B0602020104020603" pitchFamily="34" charset="0"/>
            </a:endParaRPr>
          </a:p>
        </p:txBody>
      </p:sp>
      <p:sp>
        <p:nvSpPr>
          <p:cNvPr id="15" name="Shape 13"/>
          <p:cNvSpPr/>
          <p:nvPr/>
        </p:nvSpPr>
        <p:spPr>
          <a:xfrm>
            <a:off x="320040" y="5333839"/>
            <a:ext cx="8503920" cy="1103055"/>
          </a:xfrm>
          <a:prstGeom prst="rect">
            <a:avLst/>
          </a:prstGeom>
          <a:solidFill>
            <a:srgbClr val="FDF5E0"/>
          </a:solidFill>
          <a:ln w="12700">
            <a:solidFill>
              <a:srgbClr val="D4A017"/>
            </a:solidFill>
            <a:prstDash val="solid"/>
          </a:ln>
        </p:spPr>
        <p:txBody>
          <a:bodyPr/>
          <a:lstStyle/>
          <a:p>
            <a:endParaRPr lang="en-US">
              <a:latin typeface="Tw Cen MT" panose="020B0602020104020603" pitchFamily="34" charset="0"/>
            </a:endParaRPr>
          </a:p>
        </p:txBody>
      </p:sp>
      <p:sp>
        <p:nvSpPr>
          <p:cNvPr id="16" name="Text 14"/>
          <p:cNvSpPr/>
          <p:nvPr/>
        </p:nvSpPr>
        <p:spPr>
          <a:xfrm>
            <a:off x="457200" y="5333840"/>
            <a:ext cx="8229600" cy="1103054"/>
          </a:xfrm>
          <a:prstGeom prst="rect">
            <a:avLst/>
          </a:prstGeom>
          <a:noFill/>
          <a:ln/>
        </p:spPr>
        <p:txBody>
          <a:bodyPr wrap="square" rtlCol="0" anchor="ctr"/>
          <a:lstStyle/>
          <a:p>
            <a:r>
              <a:rPr lang="en-US" b="1" i="1" dirty="0">
                <a:latin typeface="Tw Cen MT" panose="020B0602020104020603" pitchFamily="34" charset="0"/>
                <a:ea typeface="Tw Cen MT" pitchFamily="34" charset="-122"/>
                <a:cs typeface="Tw Cen MT" pitchFamily="34" charset="-120"/>
              </a:rPr>
              <a:t>"Cuando </a:t>
            </a:r>
            <a:r>
              <a:rPr lang="en-US" b="1" i="1" dirty="0" err="1">
                <a:latin typeface="Tw Cen MT" panose="020B0602020104020603" pitchFamily="34" charset="0"/>
                <a:ea typeface="Tw Cen MT" pitchFamily="34" charset="-122"/>
                <a:cs typeface="Tw Cen MT" pitchFamily="34" charset="-120"/>
              </a:rPr>
              <a:t>seleccionamos</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el</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talento</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priorizando</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el</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logro</a:t>
            </a:r>
            <a:r>
              <a:rPr lang="en-US" b="1" i="1" dirty="0">
                <a:latin typeface="Tw Cen MT" panose="020B0602020104020603" pitchFamily="34" charset="0"/>
                <a:ea typeface="Tw Cen MT" pitchFamily="34" charset="-122"/>
                <a:cs typeface="Tw Cen MT" pitchFamily="34" charset="-120"/>
              </a:rPr>
              <a:t> individual </a:t>
            </a:r>
            <a:r>
              <a:rPr lang="en-US" b="1" i="1" dirty="0" err="1">
                <a:latin typeface="Tw Cen MT" panose="020B0602020104020603" pitchFamily="34" charset="0"/>
                <a:ea typeface="Tw Cen MT" pitchFamily="34" charset="-122"/>
                <a:cs typeface="Tw Cen MT" pitchFamily="34" charset="-120"/>
              </a:rPr>
              <a:t>sobre</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el</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logro</a:t>
            </a:r>
            <a:r>
              <a:rPr lang="en-US" b="1" i="1" dirty="0">
                <a:latin typeface="Tw Cen MT" panose="020B0602020104020603" pitchFamily="34" charset="0"/>
                <a:ea typeface="Tw Cen MT" pitchFamily="34" charset="-122"/>
                <a:cs typeface="Tw Cen MT" pitchFamily="34" charset="-120"/>
              </a:rPr>
              <a:t> del </a:t>
            </a:r>
            <a:r>
              <a:rPr lang="en-US" b="1" i="1" dirty="0" err="1">
                <a:latin typeface="Tw Cen MT" panose="020B0602020104020603" pitchFamily="34" charset="0"/>
                <a:ea typeface="Tw Cen MT" pitchFamily="34" charset="-122"/>
                <a:cs typeface="Tw Cen MT" pitchFamily="34" charset="-120"/>
              </a:rPr>
              <a:t>equipo</a:t>
            </a:r>
            <a:r>
              <a:rPr lang="en-US" b="1" i="1" dirty="0">
                <a:latin typeface="Tw Cen MT" panose="020B0602020104020603" pitchFamily="34" charset="0"/>
                <a:ea typeface="Tw Cen MT" pitchFamily="34" charset="-122"/>
                <a:cs typeface="Tw Cen MT" pitchFamily="34" charset="-120"/>
              </a:rPr>
              <a:t>, rara </a:t>
            </a:r>
            <a:r>
              <a:rPr lang="en-US" b="1" i="1" dirty="0" err="1">
                <a:latin typeface="Tw Cen MT" panose="020B0602020104020603" pitchFamily="34" charset="0"/>
                <a:ea typeface="Tw Cen MT" pitchFamily="34" charset="-122"/>
                <a:cs typeface="Tw Cen MT" pitchFamily="34" charset="-120"/>
              </a:rPr>
              <a:t>vez</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obtenemos</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los</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resultados</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que</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esperamos</a:t>
            </a:r>
            <a:r>
              <a:rPr lang="en-US" b="1" i="1" dirty="0">
                <a:latin typeface="Tw Cen MT" panose="020B0602020104020603" pitchFamily="34" charset="0"/>
                <a:ea typeface="Tw Cen MT" pitchFamily="34" charset="-122"/>
                <a:cs typeface="Tw Cen MT" pitchFamily="34" charset="-120"/>
              </a:rPr>
              <a:t>. Cuando las personas </a:t>
            </a:r>
            <a:r>
              <a:rPr lang="en-US" b="1" i="1" dirty="0" err="1">
                <a:latin typeface="Tw Cen MT" panose="020B0602020104020603" pitchFamily="34" charset="0"/>
                <a:ea typeface="Tw Cen MT" pitchFamily="34" charset="-122"/>
                <a:cs typeface="Tw Cen MT" pitchFamily="34" charset="-120"/>
              </a:rPr>
              <a:t>pugnan</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por</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dominar</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nadie</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puede</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concentrarse</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en</a:t>
            </a:r>
            <a:r>
              <a:rPr lang="en-US" b="1" i="1" dirty="0">
                <a:latin typeface="Tw Cen MT" panose="020B0602020104020603" pitchFamily="34" charset="0"/>
                <a:ea typeface="Tw Cen MT" pitchFamily="34" charset="-122"/>
                <a:cs typeface="Tw Cen MT" pitchFamily="34" charset="-120"/>
              </a:rPr>
              <a:t> la </a:t>
            </a:r>
            <a:r>
              <a:rPr lang="en-US" b="1" i="1" dirty="0" err="1">
                <a:latin typeface="Tw Cen MT" panose="020B0602020104020603" pitchFamily="34" charset="0"/>
                <a:ea typeface="Tw Cen MT" pitchFamily="34" charset="-122"/>
                <a:cs typeface="Tw Cen MT" pitchFamily="34" charset="-120"/>
              </a:rPr>
              <a:t>tarea</a:t>
            </a:r>
            <a:r>
              <a:rPr lang="en-US" b="1" i="1" dirty="0">
                <a:latin typeface="Tw Cen MT" panose="020B0602020104020603" pitchFamily="34" charset="0"/>
                <a:ea typeface="Tw Cen MT" pitchFamily="34" charset="-122"/>
                <a:cs typeface="Tw Cen MT" pitchFamily="34" charset="-120"/>
              </a:rPr>
              <a:t> </a:t>
            </a:r>
            <a:r>
              <a:rPr lang="en-US" b="1" i="1" dirty="0" err="1">
                <a:latin typeface="Tw Cen MT" panose="020B0602020104020603" pitchFamily="34" charset="0"/>
                <a:ea typeface="Tw Cen MT" pitchFamily="34" charset="-122"/>
                <a:cs typeface="Tw Cen MT" pitchFamily="34" charset="-120"/>
              </a:rPr>
              <a:t>que</a:t>
            </a:r>
            <a:r>
              <a:rPr lang="en-US" b="1" i="1" dirty="0">
                <a:latin typeface="Tw Cen MT" panose="020B0602020104020603" pitchFamily="34" charset="0"/>
                <a:ea typeface="Tw Cen MT" pitchFamily="34" charset="-122"/>
                <a:cs typeface="Tw Cen MT" pitchFamily="34" charset="-120"/>
              </a:rPr>
              <a:t> beneficia al conjunto."</a:t>
            </a:r>
            <a:endParaRPr lang="en-US" b="1" dirty="0">
              <a:latin typeface="Tw Cen MT" panose="020B0602020104020603" pitchFamily="34" charset="0"/>
            </a:endParaRPr>
          </a:p>
          <a:p>
            <a:r>
              <a:rPr lang="en-US" b="1" i="1" dirty="0">
                <a:latin typeface="Tw Cen MT" panose="020B0602020104020603" pitchFamily="34" charset="0"/>
                <a:ea typeface="Tw Cen MT" pitchFamily="34" charset="-122"/>
                <a:cs typeface="Tw Cen MT" pitchFamily="34" charset="-120"/>
              </a:rPr>
              <a:t>— Albert-László </a:t>
            </a:r>
            <a:r>
              <a:rPr lang="en-US" b="1" i="1" dirty="0" err="1">
                <a:latin typeface="Tw Cen MT" panose="020B0602020104020603" pitchFamily="34" charset="0"/>
                <a:ea typeface="Tw Cen MT" pitchFamily="34" charset="-122"/>
                <a:cs typeface="Tw Cen MT" pitchFamily="34" charset="-120"/>
              </a:rPr>
              <a:t>Barabási</a:t>
            </a:r>
            <a:endParaRPr lang="en-US" b="1" dirty="0">
              <a:latin typeface="Tw Cen MT" panose="020B0602020104020603"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Evaluación Subjetiva del Desempeño</a:t>
            </a:r>
            <a:endParaRPr lang="en-US" sz="2000" dirty="0">
              <a:latin typeface="Tw Cen MT" panose="020B0602020104020603" pitchFamily="34" charset="0"/>
            </a:endParaRPr>
          </a:p>
        </p:txBody>
      </p:sp>
      <p:sp>
        <p:nvSpPr>
          <p:cNvPr id="5" name="Shape 3"/>
          <p:cNvSpPr/>
          <p:nvPr/>
        </p:nvSpPr>
        <p:spPr>
          <a:xfrm>
            <a:off x="320040" y="777240"/>
            <a:ext cx="8503920" cy="384048"/>
          </a:xfrm>
          <a:prstGeom prst="rect">
            <a:avLst/>
          </a:prstGeom>
          <a:solidFill>
            <a:srgbClr val="1A2744"/>
          </a:solidFill>
          <a:ln w="12700">
            <a:solidFill>
              <a:srgbClr val="1A2744"/>
            </a:solidFill>
            <a:prstDash val="solid"/>
          </a:ln>
        </p:spPr>
        <p:txBody>
          <a:bodyPr/>
          <a:lstStyle/>
          <a:p>
            <a:endParaRPr lang="en-US" sz="1600">
              <a:latin typeface="Tw Cen MT" panose="020B0602020104020603" pitchFamily="34" charset="0"/>
            </a:endParaRPr>
          </a:p>
        </p:txBody>
      </p:sp>
      <p:sp>
        <p:nvSpPr>
          <p:cNvPr id="6" name="Text 4"/>
          <p:cNvSpPr/>
          <p:nvPr/>
        </p:nvSpPr>
        <p:spPr>
          <a:xfrm>
            <a:off x="320040" y="777240"/>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¿Por qué se usan evaluaciones subjetivas?</a:t>
            </a:r>
            <a:endParaRPr lang="en-US" dirty="0">
              <a:latin typeface="Tw Cen MT" panose="020B0602020104020603" pitchFamily="34" charset="0"/>
            </a:endParaRPr>
          </a:p>
        </p:txBody>
      </p:sp>
      <p:sp>
        <p:nvSpPr>
          <p:cNvPr id="7" name="Text 5"/>
          <p:cNvSpPr/>
          <p:nvPr/>
        </p:nvSpPr>
        <p:spPr>
          <a:xfrm>
            <a:off x="365760" y="1261872"/>
            <a:ext cx="8412480" cy="457200"/>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Se usan porque es muy caro medir objetivamente y con precisión todo el output que la firma valora del empleado.</a:t>
            </a:r>
            <a:endParaRPr lang="en-US" sz="1600" dirty="0">
              <a:latin typeface="Tw Cen MT" panose="020B0602020104020603" pitchFamily="34" charset="0"/>
            </a:endParaRPr>
          </a:p>
        </p:txBody>
      </p:sp>
      <p:sp>
        <p:nvSpPr>
          <p:cNvPr id="8" name="Shape 6"/>
          <p:cNvSpPr/>
          <p:nvPr/>
        </p:nvSpPr>
        <p:spPr>
          <a:xfrm>
            <a:off x="365760" y="2130552"/>
            <a:ext cx="8503920" cy="384048"/>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9" name="Text 7"/>
          <p:cNvSpPr/>
          <p:nvPr/>
        </p:nvSpPr>
        <p:spPr>
          <a:xfrm>
            <a:off x="365760" y="2130552"/>
            <a:ext cx="85039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1. Sistemas de Calificaciones por Escalas</a:t>
            </a:r>
            <a:endParaRPr lang="en-US" sz="1600" dirty="0">
              <a:latin typeface="Tw Cen MT" panose="020B0602020104020603" pitchFamily="34" charset="0"/>
            </a:endParaRPr>
          </a:p>
        </p:txBody>
      </p:sp>
      <p:sp>
        <p:nvSpPr>
          <p:cNvPr id="10" name="Shape 8"/>
          <p:cNvSpPr/>
          <p:nvPr/>
        </p:nvSpPr>
        <p:spPr>
          <a:xfrm>
            <a:off x="365760" y="2514600"/>
            <a:ext cx="8503920" cy="16459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1" name="Text 9"/>
          <p:cNvSpPr/>
          <p:nvPr/>
        </p:nvSpPr>
        <p:spPr>
          <a:xfrm>
            <a:off x="548640" y="2633472"/>
            <a:ext cx="8229600" cy="566928"/>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  Típicamente escala de 5 puntos en múltiples factores de performance.</a:t>
            </a:r>
            <a:endParaRPr lang="en-US" sz="1600" dirty="0">
              <a:latin typeface="Tw Cen MT" panose="020B0602020104020603" pitchFamily="34" charset="0"/>
            </a:endParaRPr>
          </a:p>
        </p:txBody>
      </p:sp>
      <p:sp>
        <p:nvSpPr>
          <p:cNvPr id="12" name="Text 10"/>
          <p:cNvSpPr/>
          <p:nvPr/>
        </p:nvSpPr>
        <p:spPr>
          <a:xfrm>
            <a:off x="548640" y="3273552"/>
            <a:ext cx="8229600" cy="566928"/>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  Factores: logra objetivos · propone y logra altos niveles de performance · buena comunicación · enfatiza el trabajo en grupo · mantiene conocimientos actualizados · identifica y resuelve problemas · evalúa objetivamente a subordinados · asegura igualdad de oportunidades.</a:t>
            </a:r>
            <a:endParaRPr lang="en-US" sz="1600" dirty="0">
              <a:latin typeface="Tw Cen MT" panose="020B0602020104020603" pitchFamily="34" charset="0"/>
            </a:endParaRPr>
          </a:p>
        </p:txBody>
      </p:sp>
      <p:sp>
        <p:nvSpPr>
          <p:cNvPr id="13" name="Shape 11"/>
          <p:cNvSpPr/>
          <p:nvPr/>
        </p:nvSpPr>
        <p:spPr>
          <a:xfrm>
            <a:off x="320040" y="4480560"/>
            <a:ext cx="8503920" cy="384048"/>
          </a:xfrm>
          <a:prstGeom prst="rect">
            <a:avLst/>
          </a:prstGeom>
          <a:solidFill>
            <a:srgbClr val="1B4332"/>
          </a:solidFill>
          <a:ln w="12700">
            <a:solidFill>
              <a:srgbClr val="1B4332"/>
            </a:solidFill>
            <a:prstDash val="solid"/>
          </a:ln>
        </p:spPr>
        <p:txBody>
          <a:bodyPr/>
          <a:lstStyle/>
          <a:p>
            <a:endParaRPr lang="en-US" sz="1600">
              <a:latin typeface="Tw Cen MT" panose="020B0602020104020603" pitchFamily="34" charset="0"/>
            </a:endParaRPr>
          </a:p>
        </p:txBody>
      </p:sp>
      <p:sp>
        <p:nvSpPr>
          <p:cNvPr id="14" name="Text 12"/>
          <p:cNvSpPr/>
          <p:nvPr/>
        </p:nvSpPr>
        <p:spPr>
          <a:xfrm>
            <a:off x="320040" y="4480560"/>
            <a:ext cx="85039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2. Sistemas Basados en Objetivos</a:t>
            </a:r>
            <a:endParaRPr lang="en-US" sz="1600" dirty="0">
              <a:latin typeface="Tw Cen MT" panose="020B0602020104020603" pitchFamily="34" charset="0"/>
            </a:endParaRPr>
          </a:p>
        </p:txBody>
      </p:sp>
      <p:sp>
        <p:nvSpPr>
          <p:cNvPr id="15" name="Shape 13"/>
          <p:cNvSpPr/>
          <p:nvPr/>
        </p:nvSpPr>
        <p:spPr>
          <a:xfrm>
            <a:off x="320040" y="4864608"/>
            <a:ext cx="8503920" cy="1645920"/>
          </a:xfrm>
          <a:prstGeom prst="rect">
            <a:avLst/>
          </a:prstGeom>
          <a:solidFill>
            <a:srgbClr val="F5F5F5"/>
          </a:solidFill>
          <a:ln w="12700">
            <a:solidFill>
              <a:srgbClr val="DDDDDD"/>
            </a:solidFill>
            <a:prstDash val="solid"/>
          </a:ln>
        </p:spPr>
        <p:txBody>
          <a:bodyPr/>
          <a:lstStyle/>
          <a:p>
            <a:endParaRPr lang="en-US" sz="1600">
              <a:latin typeface="Tw Cen MT" panose="020B0602020104020603" pitchFamily="34" charset="0"/>
            </a:endParaRPr>
          </a:p>
        </p:txBody>
      </p:sp>
      <p:sp>
        <p:nvSpPr>
          <p:cNvPr id="16" name="Text 14"/>
          <p:cNvSpPr/>
          <p:nvPr/>
        </p:nvSpPr>
        <p:spPr>
          <a:xfrm>
            <a:off x="502920" y="4983480"/>
            <a:ext cx="8229600" cy="566928"/>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  Se establecen metas más objetivas para evaluar aspectos subjetivos.</a:t>
            </a:r>
            <a:endParaRPr lang="en-US" sz="1600" dirty="0">
              <a:latin typeface="Tw Cen MT" panose="020B0602020104020603" pitchFamily="34" charset="0"/>
            </a:endParaRPr>
          </a:p>
        </p:txBody>
      </p:sp>
      <p:sp>
        <p:nvSpPr>
          <p:cNvPr id="17" name="Text 15"/>
          <p:cNvSpPr/>
          <p:nvPr/>
        </p:nvSpPr>
        <p:spPr>
          <a:xfrm>
            <a:off x="502920" y="5623560"/>
            <a:ext cx="8229600" cy="566928"/>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  Ejemplo: "realizar tres reuniones mensuales con sus pares" para medir 'trabajo en equipo'.</a:t>
            </a:r>
            <a:endParaRPr lang="en-US" sz="1600" dirty="0">
              <a:latin typeface="Tw Cen MT" panose="020B0602020104020603"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b="1" dirty="0">
                <a:solidFill>
                  <a:srgbClr val="FFFFFF"/>
                </a:solidFill>
                <a:latin typeface="Tw Cen MT" panose="020B0602020104020603" pitchFamily="34" charset="0"/>
                <a:ea typeface="Tw Cen MT" pitchFamily="34" charset="-122"/>
                <a:cs typeface="Tw Cen MT" pitchFamily="34" charset="-120"/>
              </a:rPr>
              <a:t>Problemas con las Evaluaciones Subjetivas</a:t>
            </a:r>
            <a:endParaRPr lang="en-US" dirty="0">
              <a:latin typeface="Tw Cen MT" panose="020B0602020104020603" pitchFamily="34" charset="0"/>
            </a:endParaRPr>
          </a:p>
        </p:txBody>
      </p:sp>
      <p:sp>
        <p:nvSpPr>
          <p:cNvPr id="5" name="Shape 3"/>
          <p:cNvSpPr/>
          <p:nvPr/>
        </p:nvSpPr>
        <p:spPr>
          <a:xfrm>
            <a:off x="320040" y="804672"/>
            <a:ext cx="640080" cy="12618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6" name="Text 4"/>
          <p:cNvSpPr/>
          <p:nvPr/>
        </p:nvSpPr>
        <p:spPr>
          <a:xfrm>
            <a:off x="320040" y="804672"/>
            <a:ext cx="640080" cy="12618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A</a:t>
            </a:r>
            <a:endParaRPr lang="en-US" dirty="0">
              <a:latin typeface="Tw Cen MT" panose="020B0602020104020603" pitchFamily="34" charset="0"/>
            </a:endParaRPr>
          </a:p>
        </p:txBody>
      </p:sp>
      <p:sp>
        <p:nvSpPr>
          <p:cNvPr id="7" name="Shape 5"/>
          <p:cNvSpPr/>
          <p:nvPr/>
        </p:nvSpPr>
        <p:spPr>
          <a:xfrm>
            <a:off x="960120" y="804672"/>
            <a:ext cx="7863840" cy="1261872"/>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8" name="Text 6"/>
          <p:cNvSpPr/>
          <p:nvPr/>
        </p:nvSpPr>
        <p:spPr>
          <a:xfrm>
            <a:off x="1097280" y="841248"/>
            <a:ext cx="7589520" cy="347472"/>
          </a:xfrm>
          <a:prstGeom prst="rect">
            <a:avLst/>
          </a:prstGeom>
          <a:noFill/>
          <a:ln/>
        </p:spPr>
        <p:txBody>
          <a:bodyPr wrap="square" rtlCol="0" anchor="ctr"/>
          <a:lstStyle/>
          <a:p>
            <a:pPr marL="0" indent="0">
              <a:buNone/>
            </a:pPr>
            <a:r>
              <a:rPr lang="en-US" b="1" dirty="0">
                <a:solidFill>
                  <a:srgbClr val="8B0000"/>
                </a:solidFill>
                <a:latin typeface="Tw Cen MT" panose="020B0602020104020603" pitchFamily="34" charset="0"/>
                <a:ea typeface="Tw Cen MT" pitchFamily="34" charset="-122"/>
                <a:cs typeface="Tw Cen MT" pitchFamily="34" charset="-120"/>
              </a:rPr>
              <a:t>Sesgo del evaluador a favor del evaluado</a:t>
            </a:r>
            <a:endParaRPr lang="en-US" dirty="0">
              <a:latin typeface="Tw Cen MT" panose="020B0602020104020603" pitchFamily="34" charset="0"/>
            </a:endParaRPr>
          </a:p>
        </p:txBody>
      </p:sp>
      <p:sp>
        <p:nvSpPr>
          <p:cNvPr id="9" name="Text 7"/>
          <p:cNvSpPr/>
          <p:nvPr/>
        </p:nvSpPr>
        <p:spPr>
          <a:xfrm>
            <a:off x="1097280" y="1108349"/>
            <a:ext cx="7589520" cy="731520"/>
          </a:xfrm>
          <a:prstGeom prst="rect">
            <a:avLst/>
          </a:prstGeom>
          <a:noFill/>
          <a:ln/>
        </p:spPr>
        <p:txBody>
          <a:bodyPr wrap="square" rtlCol="0" anchor="t"/>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Es más fácil para los dueños argumentar injustificadamente que el desempeño no fue tan bueno. Los supervisores pueden tener incentivos para no dar calificaciones imparciales.</a:t>
            </a:r>
            <a:endParaRPr lang="en-US" dirty="0">
              <a:latin typeface="Tw Cen MT" panose="020B0602020104020603" pitchFamily="34" charset="0"/>
            </a:endParaRPr>
          </a:p>
        </p:txBody>
      </p:sp>
      <p:sp>
        <p:nvSpPr>
          <p:cNvPr id="10" name="Shape 8"/>
          <p:cNvSpPr/>
          <p:nvPr/>
        </p:nvSpPr>
        <p:spPr>
          <a:xfrm>
            <a:off x="320040" y="2249424"/>
            <a:ext cx="640080" cy="12618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1" name="Text 9"/>
          <p:cNvSpPr/>
          <p:nvPr/>
        </p:nvSpPr>
        <p:spPr>
          <a:xfrm>
            <a:off x="320040" y="2249424"/>
            <a:ext cx="640080" cy="12618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B</a:t>
            </a:r>
            <a:endParaRPr lang="en-US" dirty="0">
              <a:latin typeface="Tw Cen MT" panose="020B0602020104020603" pitchFamily="34" charset="0"/>
            </a:endParaRPr>
          </a:p>
        </p:txBody>
      </p:sp>
      <p:sp>
        <p:nvSpPr>
          <p:cNvPr id="12" name="Shape 10"/>
          <p:cNvSpPr/>
          <p:nvPr/>
        </p:nvSpPr>
        <p:spPr>
          <a:xfrm>
            <a:off x="960120" y="2249424"/>
            <a:ext cx="7863840" cy="1261872"/>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3" name="Text 11"/>
          <p:cNvSpPr/>
          <p:nvPr/>
        </p:nvSpPr>
        <p:spPr>
          <a:xfrm>
            <a:off x="1097280" y="2231136"/>
            <a:ext cx="7589520" cy="347472"/>
          </a:xfrm>
          <a:prstGeom prst="rect">
            <a:avLst/>
          </a:prstGeom>
          <a:noFill/>
          <a:ln/>
        </p:spPr>
        <p:txBody>
          <a:bodyPr wrap="square" rtlCol="0" anchor="ctr"/>
          <a:lstStyle/>
          <a:p>
            <a:pPr marL="0" indent="0">
              <a:buNone/>
            </a:pPr>
            <a:r>
              <a:rPr lang="en-US" b="1" dirty="0">
                <a:solidFill>
                  <a:srgbClr val="8B0000"/>
                </a:solidFill>
                <a:latin typeface="Tw Cen MT" panose="020B0602020104020603" pitchFamily="34" charset="0"/>
                <a:ea typeface="Tw Cen MT" pitchFamily="34" charset="-122"/>
                <a:cs typeface="Tw Cen MT" pitchFamily="34" charset="-120"/>
              </a:rPr>
              <a:t>Imposición de distribución a priori (ej. Microsoft)</a:t>
            </a:r>
            <a:endParaRPr lang="en-US" dirty="0">
              <a:latin typeface="Tw Cen MT" panose="020B0602020104020603" pitchFamily="34" charset="0"/>
            </a:endParaRPr>
          </a:p>
        </p:txBody>
      </p:sp>
      <p:sp>
        <p:nvSpPr>
          <p:cNvPr id="14" name="Text 12"/>
          <p:cNvSpPr/>
          <p:nvPr/>
        </p:nvSpPr>
        <p:spPr>
          <a:xfrm>
            <a:off x="1097280" y="2514600"/>
            <a:ext cx="7589520" cy="731520"/>
          </a:xfrm>
          <a:prstGeom prst="rect">
            <a:avLst/>
          </a:prstGeom>
          <a:noFill/>
          <a:ln/>
        </p:spPr>
        <p:txBody>
          <a:bodyPr wrap="square" rtlCol="0" anchor="t"/>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Para evitar el sesgo de calificaciones infladas, algunas firmas imponen una distribución predefinida de calificaciones. Esto también genera problemas: buenos empleados pueden recibir calificaciones bajas por pertenecer a equipos de alto rendimiento.</a:t>
            </a:r>
            <a:endParaRPr lang="en-US" sz="1600" dirty="0">
              <a:latin typeface="Tw Cen MT" panose="020B0602020104020603" pitchFamily="34" charset="0"/>
            </a:endParaRPr>
          </a:p>
        </p:txBody>
      </p:sp>
      <p:sp>
        <p:nvSpPr>
          <p:cNvPr id="15" name="Shape 13"/>
          <p:cNvSpPr/>
          <p:nvPr/>
        </p:nvSpPr>
        <p:spPr>
          <a:xfrm>
            <a:off x="320040" y="3694176"/>
            <a:ext cx="640080" cy="12618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16" name="Text 14"/>
          <p:cNvSpPr/>
          <p:nvPr/>
        </p:nvSpPr>
        <p:spPr>
          <a:xfrm>
            <a:off x="320040" y="3694176"/>
            <a:ext cx="640080" cy="12618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C</a:t>
            </a:r>
            <a:endParaRPr lang="en-US" dirty="0">
              <a:latin typeface="Tw Cen MT" panose="020B0602020104020603" pitchFamily="34" charset="0"/>
            </a:endParaRPr>
          </a:p>
        </p:txBody>
      </p:sp>
      <p:sp>
        <p:nvSpPr>
          <p:cNvPr id="17" name="Shape 15"/>
          <p:cNvSpPr/>
          <p:nvPr/>
        </p:nvSpPr>
        <p:spPr>
          <a:xfrm>
            <a:off x="960120" y="3694176"/>
            <a:ext cx="7863840" cy="1261872"/>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18" name="Text 16"/>
          <p:cNvSpPr/>
          <p:nvPr/>
        </p:nvSpPr>
        <p:spPr>
          <a:xfrm>
            <a:off x="1097280" y="3767328"/>
            <a:ext cx="7589520" cy="347472"/>
          </a:xfrm>
          <a:prstGeom prst="rect">
            <a:avLst/>
          </a:prstGeom>
          <a:noFill/>
          <a:ln/>
        </p:spPr>
        <p:txBody>
          <a:bodyPr wrap="square" rtlCol="0" anchor="ctr"/>
          <a:lstStyle/>
          <a:p>
            <a:pPr marL="0" indent="0">
              <a:buNone/>
            </a:pPr>
            <a:r>
              <a:rPr lang="en-US" b="1" dirty="0">
                <a:solidFill>
                  <a:srgbClr val="8B0000"/>
                </a:solidFill>
                <a:latin typeface="Tw Cen MT" panose="020B0602020104020603" pitchFamily="34" charset="0"/>
                <a:ea typeface="Tw Cen MT" pitchFamily="34" charset="-122"/>
                <a:cs typeface="Tw Cen MT" pitchFamily="34" charset="-120"/>
              </a:rPr>
              <a:t>Responsabilidad de supervisores difícil de implementar</a:t>
            </a:r>
            <a:endParaRPr lang="en-US" dirty="0">
              <a:latin typeface="Tw Cen MT" panose="020B0602020104020603" pitchFamily="34" charset="0"/>
            </a:endParaRPr>
          </a:p>
        </p:txBody>
      </p:sp>
      <p:sp>
        <p:nvSpPr>
          <p:cNvPr id="19" name="Text 17"/>
          <p:cNvSpPr/>
          <p:nvPr/>
        </p:nvSpPr>
        <p:spPr>
          <a:xfrm>
            <a:off x="1097280" y="4133088"/>
            <a:ext cx="7589520" cy="731520"/>
          </a:xfrm>
          <a:prstGeom prst="rect">
            <a:avLst/>
          </a:prstGeom>
          <a:noFill/>
          <a:ln/>
        </p:spPr>
        <p:txBody>
          <a:bodyPr wrap="square" rtlCol="0" anchor="t"/>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Las parcialidades de los supervisores disminuyen si se los hace responsables de la performance futura de los individuos que progresan gracias a sus evaluaciones. Sin embargo, esto es muy difícil de implementar en la práctica.</a:t>
            </a:r>
            <a:endParaRPr lang="en-US" dirty="0">
              <a:latin typeface="Tw Cen MT" panose="020B0602020104020603" pitchFamily="34" charset="0"/>
            </a:endParaRPr>
          </a:p>
        </p:txBody>
      </p:sp>
      <p:sp>
        <p:nvSpPr>
          <p:cNvPr id="20" name="Shape 18"/>
          <p:cNvSpPr/>
          <p:nvPr/>
        </p:nvSpPr>
        <p:spPr>
          <a:xfrm>
            <a:off x="320040" y="5138928"/>
            <a:ext cx="640080" cy="126187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21" name="Text 19"/>
          <p:cNvSpPr/>
          <p:nvPr/>
        </p:nvSpPr>
        <p:spPr>
          <a:xfrm>
            <a:off x="320040" y="5138928"/>
            <a:ext cx="640080" cy="1261872"/>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D</a:t>
            </a:r>
            <a:endParaRPr lang="en-US" dirty="0">
              <a:latin typeface="Tw Cen MT" panose="020B0602020104020603" pitchFamily="34" charset="0"/>
            </a:endParaRPr>
          </a:p>
        </p:txBody>
      </p:sp>
      <p:sp>
        <p:nvSpPr>
          <p:cNvPr id="22" name="Shape 20"/>
          <p:cNvSpPr/>
          <p:nvPr/>
        </p:nvSpPr>
        <p:spPr>
          <a:xfrm>
            <a:off x="960120" y="5138928"/>
            <a:ext cx="7863840" cy="1261872"/>
          </a:xfrm>
          <a:prstGeom prst="rect">
            <a:avLst/>
          </a:prstGeom>
          <a:solidFill>
            <a:srgbClr val="F5F5F5"/>
          </a:solidFill>
          <a:ln w="12700">
            <a:solidFill>
              <a:srgbClr val="DDDDDD"/>
            </a:solidFill>
            <a:prstDash val="solid"/>
          </a:ln>
        </p:spPr>
        <p:txBody>
          <a:bodyPr/>
          <a:lstStyle/>
          <a:p>
            <a:endParaRPr lang="en-US">
              <a:latin typeface="Tw Cen MT" panose="020B0602020104020603" pitchFamily="34" charset="0"/>
            </a:endParaRPr>
          </a:p>
        </p:txBody>
      </p:sp>
      <p:sp>
        <p:nvSpPr>
          <p:cNvPr id="23" name="Text 21"/>
          <p:cNvSpPr/>
          <p:nvPr/>
        </p:nvSpPr>
        <p:spPr>
          <a:xfrm>
            <a:off x="1097280" y="5212080"/>
            <a:ext cx="7589520" cy="347472"/>
          </a:xfrm>
          <a:prstGeom prst="rect">
            <a:avLst/>
          </a:prstGeom>
          <a:noFill/>
          <a:ln/>
        </p:spPr>
        <p:txBody>
          <a:bodyPr wrap="square" rtlCol="0" anchor="ctr"/>
          <a:lstStyle/>
          <a:p>
            <a:pPr marL="0" indent="0">
              <a:buNone/>
            </a:pPr>
            <a:r>
              <a:rPr lang="en-US" b="1" dirty="0">
                <a:solidFill>
                  <a:srgbClr val="8B0000"/>
                </a:solidFill>
                <a:latin typeface="Tw Cen MT" panose="020B0602020104020603" pitchFamily="34" charset="0"/>
                <a:ea typeface="Tw Cen MT" pitchFamily="34" charset="-122"/>
                <a:cs typeface="Tw Cen MT" pitchFamily="34" charset="-120"/>
              </a:rPr>
              <a:t>Asimetrías de información sobre el proceso</a:t>
            </a:r>
            <a:endParaRPr lang="en-US" dirty="0">
              <a:latin typeface="Tw Cen MT" panose="020B0602020104020603" pitchFamily="34" charset="0"/>
            </a:endParaRPr>
          </a:p>
        </p:txBody>
      </p:sp>
      <p:sp>
        <p:nvSpPr>
          <p:cNvPr id="24" name="Text 22"/>
          <p:cNvSpPr/>
          <p:nvPr/>
        </p:nvSpPr>
        <p:spPr>
          <a:xfrm>
            <a:off x="1097280" y="5468112"/>
            <a:ext cx="7589520" cy="731520"/>
          </a:xfrm>
          <a:prstGeom prst="rect">
            <a:avLst/>
          </a:prstGeom>
          <a:noFill/>
          <a:ln/>
        </p:spPr>
        <p:txBody>
          <a:bodyPr wrap="square" rtlCol="0" anchor="t"/>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El empleado puede no saber exactamente cómo es evaluado ni qué peso se da a cada criterio, lo que reduce su capacidad de alinear su comportamiento con los objetivos de la firma.</a:t>
            </a:r>
            <a:endParaRPr lang="en-US" dirty="0">
              <a:latin typeface="Tw Cen MT" panose="020B0602020104020603"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La Autoevaluación — ¿Un Instrumento Útil?</a:t>
            </a:r>
            <a:endParaRPr lang="en-US" sz="2000" dirty="0">
              <a:latin typeface="Tw Cen MT" panose="020B0602020104020603" pitchFamily="34" charset="0"/>
            </a:endParaRPr>
          </a:p>
        </p:txBody>
      </p:sp>
      <p:sp>
        <p:nvSpPr>
          <p:cNvPr id="5" name="Shape 3"/>
          <p:cNvSpPr/>
          <p:nvPr/>
        </p:nvSpPr>
        <p:spPr>
          <a:xfrm>
            <a:off x="320040" y="777240"/>
            <a:ext cx="8503920" cy="384048"/>
          </a:xfrm>
          <a:prstGeom prst="rect">
            <a:avLst/>
          </a:prstGeom>
          <a:solidFill>
            <a:srgbClr val="1A2744"/>
          </a:solidFill>
          <a:ln w="12700">
            <a:solidFill>
              <a:srgbClr val="1A2744"/>
            </a:solidFill>
            <a:prstDash val="solid"/>
          </a:ln>
        </p:spPr>
        <p:txBody>
          <a:bodyPr/>
          <a:lstStyle/>
          <a:p>
            <a:endParaRPr lang="en-US" sz="1600">
              <a:latin typeface="Tw Cen MT" panose="020B0602020104020603" pitchFamily="34" charset="0"/>
            </a:endParaRPr>
          </a:p>
        </p:txBody>
      </p:sp>
      <p:sp>
        <p:nvSpPr>
          <p:cNvPr id="6" name="Text 4"/>
          <p:cNvSpPr/>
          <p:nvPr/>
        </p:nvSpPr>
        <p:spPr>
          <a:xfrm>
            <a:off x="320040" y="777240"/>
            <a:ext cx="8503920" cy="384048"/>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Evidencia empírica sobre la autoevaluación</a:t>
            </a:r>
            <a:endParaRPr lang="en-US" sz="1600" dirty="0">
              <a:latin typeface="Tw Cen MT" panose="020B0602020104020603" pitchFamily="34" charset="0"/>
            </a:endParaRPr>
          </a:p>
        </p:txBody>
      </p:sp>
      <p:sp>
        <p:nvSpPr>
          <p:cNvPr id="7" name="Shape 5"/>
          <p:cNvSpPr/>
          <p:nvPr/>
        </p:nvSpPr>
        <p:spPr>
          <a:xfrm>
            <a:off x="320040" y="1325880"/>
            <a:ext cx="2651760" cy="1143000"/>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8" name="Text 6"/>
          <p:cNvSpPr/>
          <p:nvPr/>
        </p:nvSpPr>
        <p:spPr>
          <a:xfrm>
            <a:off x="320040" y="1325880"/>
            <a:ext cx="2651760" cy="6858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85%</a:t>
            </a:r>
            <a:endParaRPr lang="en-US" sz="1600" dirty="0">
              <a:latin typeface="Tw Cen MT" panose="020B0602020104020603" pitchFamily="34" charset="0"/>
            </a:endParaRPr>
          </a:p>
        </p:txBody>
      </p:sp>
      <p:sp>
        <p:nvSpPr>
          <p:cNvPr id="9" name="Text 7"/>
          <p:cNvSpPr/>
          <p:nvPr/>
        </p:nvSpPr>
        <p:spPr>
          <a:xfrm>
            <a:off x="320040" y="1897380"/>
            <a:ext cx="2651760" cy="457200"/>
          </a:xfrm>
          <a:prstGeom prst="rect">
            <a:avLst/>
          </a:prstGeom>
          <a:noFill/>
          <a:ln/>
        </p:spPr>
        <p:txBody>
          <a:bodyPr wrap="square" rtlCol="0" anchor="ctr"/>
          <a:lstStyle/>
          <a:p>
            <a:pPr marL="0" indent="0" algn="ctr">
              <a:buNone/>
            </a:pPr>
            <a:r>
              <a:rPr lang="en-US" sz="1600" dirty="0">
                <a:solidFill>
                  <a:srgbClr val="FFFFFF"/>
                </a:solidFill>
                <a:latin typeface="Tw Cen MT" panose="020B0602020104020603" pitchFamily="34" charset="0"/>
                <a:ea typeface="Tw Cen MT" pitchFamily="34" charset="-122"/>
                <a:cs typeface="Tw Cen MT" pitchFamily="34" charset="-120"/>
              </a:rPr>
              <a:t>de los autoevaluadores se clasifican a sí mismos en el 25% superior.</a:t>
            </a:r>
            <a:endParaRPr lang="en-US" sz="1600" dirty="0">
              <a:latin typeface="Tw Cen MT" panose="020B0602020104020603" pitchFamily="34" charset="0"/>
            </a:endParaRPr>
          </a:p>
        </p:txBody>
      </p:sp>
      <p:sp>
        <p:nvSpPr>
          <p:cNvPr id="10" name="Shape 8"/>
          <p:cNvSpPr/>
          <p:nvPr/>
        </p:nvSpPr>
        <p:spPr>
          <a:xfrm>
            <a:off x="3172968" y="1325880"/>
            <a:ext cx="2651760" cy="1143000"/>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11" name="Text 9"/>
          <p:cNvSpPr/>
          <p:nvPr/>
        </p:nvSpPr>
        <p:spPr>
          <a:xfrm>
            <a:off x="3172968" y="1325880"/>
            <a:ext cx="2651760" cy="6858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4%</a:t>
            </a:r>
            <a:endParaRPr lang="en-US" sz="1600" dirty="0">
              <a:latin typeface="Tw Cen MT" panose="020B0602020104020603" pitchFamily="34" charset="0"/>
            </a:endParaRPr>
          </a:p>
        </p:txBody>
      </p:sp>
      <p:sp>
        <p:nvSpPr>
          <p:cNvPr id="12" name="Text 10"/>
          <p:cNvSpPr/>
          <p:nvPr/>
        </p:nvSpPr>
        <p:spPr>
          <a:xfrm>
            <a:off x="3172968" y="2011680"/>
            <a:ext cx="2651760" cy="457200"/>
          </a:xfrm>
          <a:prstGeom prst="rect">
            <a:avLst/>
          </a:prstGeom>
          <a:noFill/>
          <a:ln/>
        </p:spPr>
        <p:txBody>
          <a:bodyPr wrap="square" rtlCol="0" anchor="ctr"/>
          <a:lstStyle/>
          <a:p>
            <a:pPr marL="0" indent="0" algn="ctr">
              <a:buNone/>
            </a:pPr>
            <a:r>
              <a:rPr lang="en-US" sz="1600" dirty="0">
                <a:solidFill>
                  <a:srgbClr val="FFFFFF"/>
                </a:solidFill>
                <a:latin typeface="Tw Cen MT" panose="020B0602020104020603" pitchFamily="34" charset="0"/>
                <a:ea typeface="Tw Cen MT" pitchFamily="34" charset="-122"/>
                <a:cs typeface="Tw Cen MT" pitchFamily="34" charset="-120"/>
              </a:rPr>
              <a:t>es la superposición típica entre la autoevaluación y la calificación del supervisor (correlación 0,22).</a:t>
            </a:r>
            <a:endParaRPr lang="en-US" sz="1600" dirty="0">
              <a:latin typeface="Tw Cen MT" panose="020B0602020104020603" pitchFamily="34" charset="0"/>
            </a:endParaRPr>
          </a:p>
        </p:txBody>
      </p:sp>
      <p:sp>
        <p:nvSpPr>
          <p:cNvPr id="13" name="Shape 11"/>
          <p:cNvSpPr/>
          <p:nvPr/>
        </p:nvSpPr>
        <p:spPr>
          <a:xfrm>
            <a:off x="6025896" y="1325880"/>
            <a:ext cx="2651760" cy="1143000"/>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14" name="Text 12"/>
          <p:cNvSpPr/>
          <p:nvPr/>
        </p:nvSpPr>
        <p:spPr>
          <a:xfrm>
            <a:off x="6025896" y="1325880"/>
            <a:ext cx="2651760" cy="685800"/>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96%</a:t>
            </a:r>
            <a:endParaRPr lang="en-US" sz="1600" dirty="0">
              <a:latin typeface="Tw Cen MT" panose="020B0602020104020603" pitchFamily="34" charset="0"/>
            </a:endParaRPr>
          </a:p>
        </p:txBody>
      </p:sp>
      <p:sp>
        <p:nvSpPr>
          <p:cNvPr id="15" name="Text 13"/>
          <p:cNvSpPr/>
          <p:nvPr/>
        </p:nvSpPr>
        <p:spPr>
          <a:xfrm>
            <a:off x="6025896" y="1875964"/>
            <a:ext cx="2651760" cy="457200"/>
          </a:xfrm>
          <a:prstGeom prst="rect">
            <a:avLst/>
          </a:prstGeom>
          <a:noFill/>
          <a:ln/>
        </p:spPr>
        <p:txBody>
          <a:bodyPr wrap="square" rtlCol="0" anchor="ctr"/>
          <a:lstStyle/>
          <a:p>
            <a:pPr marL="0" indent="0" algn="ctr">
              <a:buNone/>
            </a:pPr>
            <a:r>
              <a:rPr lang="en-US" sz="1600" dirty="0">
                <a:solidFill>
                  <a:srgbClr val="FFFFFF"/>
                </a:solidFill>
                <a:latin typeface="Tw Cen MT" panose="020B0602020104020603" pitchFamily="34" charset="0"/>
                <a:ea typeface="Tw Cen MT" pitchFamily="34" charset="-122"/>
                <a:cs typeface="Tw Cen MT" pitchFamily="34" charset="-120"/>
              </a:rPr>
              <a:t>de la autoevaluación no está relacionado con la opinión del superior jerárquico.</a:t>
            </a:r>
            <a:endParaRPr lang="en-US" sz="1600" dirty="0">
              <a:latin typeface="Tw Cen MT" panose="020B0602020104020603" pitchFamily="34" charset="0"/>
            </a:endParaRPr>
          </a:p>
        </p:txBody>
      </p:sp>
      <p:sp>
        <p:nvSpPr>
          <p:cNvPr id="16" name="Shape 14"/>
          <p:cNvSpPr/>
          <p:nvPr/>
        </p:nvSpPr>
        <p:spPr>
          <a:xfrm>
            <a:off x="320040" y="2606040"/>
            <a:ext cx="8503920" cy="347472"/>
          </a:xfrm>
          <a:prstGeom prst="rect">
            <a:avLst/>
          </a:prstGeom>
          <a:solidFill>
            <a:srgbClr val="8B0000"/>
          </a:solidFill>
          <a:ln w="12700">
            <a:solidFill>
              <a:srgbClr val="8B0000"/>
            </a:solidFill>
            <a:prstDash val="solid"/>
          </a:ln>
        </p:spPr>
        <p:txBody>
          <a:bodyPr/>
          <a:lstStyle/>
          <a:p>
            <a:endParaRPr lang="en-US" sz="1600">
              <a:latin typeface="Tw Cen MT" panose="020B0602020104020603" pitchFamily="34" charset="0"/>
            </a:endParaRPr>
          </a:p>
        </p:txBody>
      </p:sp>
      <p:sp>
        <p:nvSpPr>
          <p:cNvPr id="17" name="Text 15"/>
          <p:cNvSpPr/>
          <p:nvPr/>
        </p:nvSpPr>
        <p:spPr>
          <a:xfrm>
            <a:off x="320040" y="2606040"/>
            <a:ext cx="8503920" cy="347472"/>
          </a:xfrm>
          <a:prstGeom prst="rect">
            <a:avLst/>
          </a:prstGeom>
          <a:noFill/>
          <a:ln/>
        </p:spPr>
        <p:txBody>
          <a:bodyPr wrap="square" rtlCol="0" anchor="ctr"/>
          <a:lstStyle/>
          <a:p>
            <a:pPr marL="0" indent="0" algn="ctr">
              <a:buNone/>
            </a:pPr>
            <a:r>
              <a:rPr lang="en-US" sz="1600" b="1" dirty="0">
                <a:solidFill>
                  <a:srgbClr val="FFFFFF"/>
                </a:solidFill>
                <a:latin typeface="Tw Cen MT" panose="020B0602020104020603" pitchFamily="34" charset="0"/>
                <a:ea typeface="Tw Cen MT" pitchFamily="34" charset="-122"/>
                <a:cs typeface="Tw Cen MT" pitchFamily="34" charset="-120"/>
              </a:rPr>
              <a:t>5 razones para cuestionar la autoevaluación — Marc Effron</a:t>
            </a:r>
            <a:endParaRPr lang="en-US" sz="1600" dirty="0">
              <a:latin typeface="Tw Cen MT" panose="020B0602020104020603" pitchFamily="34" charset="0"/>
            </a:endParaRPr>
          </a:p>
        </p:txBody>
      </p:sp>
      <p:sp>
        <p:nvSpPr>
          <p:cNvPr id="18" name="Shape 16"/>
          <p:cNvSpPr/>
          <p:nvPr/>
        </p:nvSpPr>
        <p:spPr>
          <a:xfrm>
            <a:off x="457200" y="3259596"/>
            <a:ext cx="292608" cy="292608"/>
          </a:xfrm>
          <a:prstGeom prst="ellipse">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19" name="Text 17"/>
          <p:cNvSpPr/>
          <p:nvPr/>
        </p:nvSpPr>
        <p:spPr>
          <a:xfrm>
            <a:off x="457200" y="3259596"/>
            <a:ext cx="292608" cy="292608"/>
          </a:xfrm>
          <a:prstGeom prst="rect">
            <a:avLst/>
          </a:prstGeom>
          <a:noFill/>
          <a:ln/>
        </p:spPr>
        <p:txBody>
          <a:bodyPr wrap="square" rtlCol="0" anchor="ctr"/>
          <a:lstStyle/>
          <a:p>
            <a:pPr marL="0" indent="0" algn="ctr">
              <a:buNone/>
            </a:pPr>
            <a:r>
              <a:rPr lang="en-US" sz="1600" b="1" dirty="0">
                <a:solidFill>
                  <a:srgbClr val="222222"/>
                </a:solidFill>
                <a:latin typeface="Tw Cen MT" panose="020B0602020104020603" pitchFamily="34" charset="0"/>
                <a:ea typeface="Tw Cen MT" pitchFamily="34" charset="-122"/>
                <a:cs typeface="Tw Cen MT" pitchFamily="34" charset="-120"/>
              </a:rPr>
              <a:t>1</a:t>
            </a:r>
            <a:endParaRPr lang="en-US" sz="1600" dirty="0">
              <a:latin typeface="Tw Cen MT" panose="020B0602020104020603" pitchFamily="34" charset="0"/>
            </a:endParaRPr>
          </a:p>
        </p:txBody>
      </p:sp>
      <p:sp>
        <p:nvSpPr>
          <p:cNvPr id="20" name="Text 18"/>
          <p:cNvSpPr/>
          <p:nvPr/>
        </p:nvSpPr>
        <p:spPr>
          <a:xfrm>
            <a:off x="850392" y="3113292"/>
            <a:ext cx="8046720" cy="530352"/>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Los empleados creen erróneamente que sus aportes influirán en el resultado de la revisión.</a:t>
            </a:r>
            <a:endParaRPr lang="en-US" sz="1600" dirty="0">
              <a:latin typeface="Tw Cen MT" panose="020B0602020104020603" pitchFamily="34" charset="0"/>
            </a:endParaRPr>
          </a:p>
        </p:txBody>
      </p:sp>
      <p:sp>
        <p:nvSpPr>
          <p:cNvPr id="21" name="Shape 19"/>
          <p:cNvSpPr/>
          <p:nvPr/>
        </p:nvSpPr>
        <p:spPr>
          <a:xfrm>
            <a:off x="457200" y="3853956"/>
            <a:ext cx="292608" cy="292608"/>
          </a:xfrm>
          <a:prstGeom prst="ellipse">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22" name="Text 20"/>
          <p:cNvSpPr/>
          <p:nvPr/>
        </p:nvSpPr>
        <p:spPr>
          <a:xfrm>
            <a:off x="457200" y="3853956"/>
            <a:ext cx="292608" cy="292608"/>
          </a:xfrm>
          <a:prstGeom prst="rect">
            <a:avLst/>
          </a:prstGeom>
          <a:noFill/>
          <a:ln/>
        </p:spPr>
        <p:txBody>
          <a:bodyPr wrap="square" rtlCol="0" anchor="ctr"/>
          <a:lstStyle/>
          <a:p>
            <a:pPr marL="0" indent="0" algn="ctr">
              <a:buNone/>
            </a:pPr>
            <a:r>
              <a:rPr lang="en-US" sz="1600" b="1" dirty="0">
                <a:solidFill>
                  <a:srgbClr val="222222"/>
                </a:solidFill>
                <a:latin typeface="Tw Cen MT" panose="020B0602020104020603" pitchFamily="34" charset="0"/>
                <a:ea typeface="Tw Cen MT" pitchFamily="34" charset="-122"/>
                <a:cs typeface="Tw Cen MT" pitchFamily="34" charset="-120"/>
              </a:rPr>
              <a:t>2</a:t>
            </a:r>
            <a:endParaRPr lang="en-US" sz="1600" dirty="0">
              <a:latin typeface="Tw Cen MT" panose="020B0602020104020603" pitchFamily="34" charset="0"/>
            </a:endParaRPr>
          </a:p>
        </p:txBody>
      </p:sp>
      <p:sp>
        <p:nvSpPr>
          <p:cNvPr id="23" name="Text 21"/>
          <p:cNvSpPr/>
          <p:nvPr/>
        </p:nvSpPr>
        <p:spPr>
          <a:xfrm>
            <a:off x="914400" y="3689364"/>
            <a:ext cx="8046720" cy="530352"/>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Es una revisión, no un debate ni una negociación.</a:t>
            </a:r>
            <a:endParaRPr lang="en-US" sz="1600" dirty="0">
              <a:latin typeface="Tw Cen MT" panose="020B0602020104020603" pitchFamily="34" charset="0"/>
            </a:endParaRPr>
          </a:p>
        </p:txBody>
      </p:sp>
      <p:sp>
        <p:nvSpPr>
          <p:cNvPr id="24" name="Shape 22"/>
          <p:cNvSpPr/>
          <p:nvPr/>
        </p:nvSpPr>
        <p:spPr>
          <a:xfrm>
            <a:off x="457200" y="4448316"/>
            <a:ext cx="292608" cy="292608"/>
          </a:xfrm>
          <a:prstGeom prst="ellipse">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25" name="Text 23"/>
          <p:cNvSpPr/>
          <p:nvPr/>
        </p:nvSpPr>
        <p:spPr>
          <a:xfrm>
            <a:off x="457200" y="4448316"/>
            <a:ext cx="292608" cy="292608"/>
          </a:xfrm>
          <a:prstGeom prst="rect">
            <a:avLst/>
          </a:prstGeom>
          <a:noFill/>
          <a:ln/>
        </p:spPr>
        <p:txBody>
          <a:bodyPr wrap="square" rtlCol="0" anchor="ctr"/>
          <a:lstStyle/>
          <a:p>
            <a:pPr marL="0" indent="0" algn="ctr">
              <a:buNone/>
            </a:pPr>
            <a:r>
              <a:rPr lang="en-US" sz="1600" b="1" dirty="0">
                <a:solidFill>
                  <a:srgbClr val="222222"/>
                </a:solidFill>
                <a:latin typeface="Tw Cen MT" panose="020B0602020104020603" pitchFamily="34" charset="0"/>
                <a:ea typeface="Tw Cen MT" pitchFamily="34" charset="-122"/>
                <a:cs typeface="Tw Cen MT" pitchFamily="34" charset="-120"/>
              </a:rPr>
              <a:t>3</a:t>
            </a:r>
            <a:endParaRPr lang="en-US" sz="1600" dirty="0">
              <a:latin typeface="Tw Cen MT" panose="020B0602020104020603" pitchFamily="34" charset="0"/>
            </a:endParaRPr>
          </a:p>
        </p:txBody>
      </p:sp>
      <p:sp>
        <p:nvSpPr>
          <p:cNvPr id="26" name="Text 24"/>
          <p:cNvSpPr/>
          <p:nvPr/>
        </p:nvSpPr>
        <p:spPr>
          <a:xfrm>
            <a:off x="850392" y="4294312"/>
            <a:ext cx="8046720" cy="530352"/>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Es increíblemente sesgada — los hombres extrovertidos tienen ventaja natural.</a:t>
            </a:r>
            <a:endParaRPr lang="en-US" sz="1600" dirty="0">
              <a:latin typeface="Tw Cen MT" panose="020B0602020104020603" pitchFamily="34" charset="0"/>
            </a:endParaRPr>
          </a:p>
        </p:txBody>
      </p:sp>
      <p:sp>
        <p:nvSpPr>
          <p:cNvPr id="27" name="Shape 25"/>
          <p:cNvSpPr/>
          <p:nvPr/>
        </p:nvSpPr>
        <p:spPr>
          <a:xfrm>
            <a:off x="457200" y="5042676"/>
            <a:ext cx="292608" cy="292608"/>
          </a:xfrm>
          <a:prstGeom prst="ellipse">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28" name="Text 26"/>
          <p:cNvSpPr/>
          <p:nvPr/>
        </p:nvSpPr>
        <p:spPr>
          <a:xfrm>
            <a:off x="457200" y="5042676"/>
            <a:ext cx="292608" cy="292608"/>
          </a:xfrm>
          <a:prstGeom prst="rect">
            <a:avLst/>
          </a:prstGeom>
          <a:noFill/>
          <a:ln/>
        </p:spPr>
        <p:txBody>
          <a:bodyPr wrap="square" rtlCol="0" anchor="ctr"/>
          <a:lstStyle/>
          <a:p>
            <a:pPr marL="0" indent="0" algn="ctr">
              <a:buNone/>
            </a:pPr>
            <a:r>
              <a:rPr lang="en-US" sz="1600" b="1" dirty="0">
                <a:solidFill>
                  <a:srgbClr val="222222"/>
                </a:solidFill>
                <a:latin typeface="Tw Cen MT" panose="020B0602020104020603" pitchFamily="34" charset="0"/>
                <a:ea typeface="Tw Cen MT" pitchFamily="34" charset="-122"/>
                <a:cs typeface="Tw Cen MT" pitchFamily="34" charset="-120"/>
              </a:rPr>
              <a:t>4</a:t>
            </a:r>
            <a:endParaRPr lang="en-US" sz="1600" dirty="0">
              <a:latin typeface="Tw Cen MT" panose="020B0602020104020603" pitchFamily="34" charset="0"/>
            </a:endParaRPr>
          </a:p>
        </p:txBody>
      </p:sp>
      <p:sp>
        <p:nvSpPr>
          <p:cNvPr id="29" name="Text 27"/>
          <p:cNvSpPr/>
          <p:nvPr/>
        </p:nvSpPr>
        <p:spPr>
          <a:xfrm>
            <a:off x="850392" y="4888672"/>
            <a:ext cx="8046720" cy="530352"/>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Los empleados son los observadores menos precisos de su propio desempeño.</a:t>
            </a:r>
            <a:endParaRPr lang="en-US" sz="1600" dirty="0">
              <a:latin typeface="Tw Cen MT" panose="020B0602020104020603" pitchFamily="34" charset="0"/>
            </a:endParaRPr>
          </a:p>
        </p:txBody>
      </p:sp>
      <p:sp>
        <p:nvSpPr>
          <p:cNvPr id="30" name="Shape 28"/>
          <p:cNvSpPr/>
          <p:nvPr/>
        </p:nvSpPr>
        <p:spPr>
          <a:xfrm>
            <a:off x="457200" y="5637036"/>
            <a:ext cx="292608" cy="292608"/>
          </a:xfrm>
          <a:prstGeom prst="ellipse">
            <a:avLst/>
          </a:prstGeom>
          <a:solidFill>
            <a:srgbClr val="D4A017"/>
          </a:solidFill>
          <a:ln w="12700">
            <a:solidFill>
              <a:srgbClr val="D4A017"/>
            </a:solidFill>
            <a:prstDash val="solid"/>
          </a:ln>
        </p:spPr>
        <p:txBody>
          <a:bodyPr/>
          <a:lstStyle/>
          <a:p>
            <a:endParaRPr lang="en-US" sz="1600">
              <a:latin typeface="Tw Cen MT" panose="020B0602020104020603" pitchFamily="34" charset="0"/>
            </a:endParaRPr>
          </a:p>
        </p:txBody>
      </p:sp>
      <p:sp>
        <p:nvSpPr>
          <p:cNvPr id="31" name="Text 29"/>
          <p:cNvSpPr/>
          <p:nvPr/>
        </p:nvSpPr>
        <p:spPr>
          <a:xfrm>
            <a:off x="457200" y="5637036"/>
            <a:ext cx="292608" cy="292608"/>
          </a:xfrm>
          <a:prstGeom prst="rect">
            <a:avLst/>
          </a:prstGeom>
          <a:noFill/>
          <a:ln/>
        </p:spPr>
        <p:txBody>
          <a:bodyPr wrap="square" rtlCol="0" anchor="ctr"/>
          <a:lstStyle/>
          <a:p>
            <a:pPr marL="0" indent="0" algn="ctr">
              <a:buNone/>
            </a:pPr>
            <a:r>
              <a:rPr lang="en-US" sz="1600" b="1" dirty="0">
                <a:solidFill>
                  <a:srgbClr val="222222"/>
                </a:solidFill>
                <a:latin typeface="Tw Cen MT" panose="020B0602020104020603" pitchFamily="34" charset="0"/>
                <a:ea typeface="Tw Cen MT" pitchFamily="34" charset="-122"/>
                <a:cs typeface="Tw Cen MT" pitchFamily="34" charset="-120"/>
              </a:rPr>
              <a:t>5</a:t>
            </a:r>
            <a:endParaRPr lang="en-US" sz="1600" dirty="0">
              <a:latin typeface="Tw Cen MT" panose="020B0602020104020603" pitchFamily="34" charset="0"/>
            </a:endParaRPr>
          </a:p>
        </p:txBody>
      </p:sp>
      <p:sp>
        <p:nvSpPr>
          <p:cNvPr id="32" name="Text 30"/>
          <p:cNvSpPr/>
          <p:nvPr/>
        </p:nvSpPr>
        <p:spPr>
          <a:xfrm>
            <a:off x="914400" y="5521533"/>
            <a:ext cx="8046720" cy="530352"/>
          </a:xfrm>
          <a:prstGeom prst="rect">
            <a:avLst/>
          </a:prstGeom>
          <a:noFill/>
          <a:ln/>
        </p:spPr>
        <p:txBody>
          <a:bodyPr wrap="square" rtlCol="0" anchor="ctr"/>
          <a:lstStyle/>
          <a:p>
            <a:pPr marL="0" indent="0">
              <a:buNone/>
            </a:pPr>
            <a:r>
              <a:rPr lang="en-US" sz="1600" dirty="0">
                <a:solidFill>
                  <a:srgbClr val="222222"/>
                </a:solidFill>
                <a:latin typeface="Tw Cen MT" panose="020B0602020104020603" pitchFamily="34" charset="0"/>
                <a:ea typeface="Tw Cen MT" pitchFamily="34" charset="-122"/>
                <a:cs typeface="Tw Cen MT" pitchFamily="34" charset="-120"/>
              </a:rPr>
              <a:t>Permite a algunos gerentes no prestarle atención a su gente.</a:t>
            </a:r>
            <a:endParaRPr lang="en-US" sz="1600" dirty="0">
              <a:latin typeface="Tw Cen MT" panose="020B0602020104020603"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TALLER — Evaluaciones en Sus Compañías</a:t>
            </a:r>
            <a:endParaRPr lang="en-US" sz="2000" dirty="0">
              <a:latin typeface="Tw Cen MT" panose="020B0602020104020603" pitchFamily="34" charset="0"/>
            </a:endParaRPr>
          </a:p>
        </p:txBody>
      </p:sp>
      <p:sp>
        <p:nvSpPr>
          <p:cNvPr id="5" name="Text 3"/>
          <p:cNvSpPr/>
          <p:nvPr/>
        </p:nvSpPr>
        <p:spPr>
          <a:xfrm>
            <a:off x="365760" y="914400"/>
            <a:ext cx="8412480" cy="365760"/>
          </a:xfrm>
          <a:prstGeom prst="rect">
            <a:avLst/>
          </a:prstGeom>
          <a:noFill/>
          <a:ln/>
        </p:spPr>
        <p:txBody>
          <a:bodyPr wrap="square" rtlCol="0" anchor="ctr"/>
          <a:lstStyle/>
          <a:p>
            <a:pPr marL="0" indent="0">
              <a:buNone/>
            </a:pPr>
            <a:r>
              <a:rPr lang="en-US" sz="2000" b="1" dirty="0">
                <a:solidFill>
                  <a:srgbClr val="D4A017"/>
                </a:solidFill>
                <a:latin typeface="Tw Cen MT" panose="020B0602020104020603" pitchFamily="34" charset="0"/>
                <a:ea typeface="Tw Cen MT" pitchFamily="34" charset="-122"/>
                <a:cs typeface="Tw Cen MT" pitchFamily="34" charset="-120"/>
              </a:rPr>
              <a:t>Reflexión a partir de la experiencia propia:</a:t>
            </a:r>
            <a:endParaRPr lang="en-US" sz="2000" dirty="0">
              <a:latin typeface="Tw Cen MT" panose="020B0602020104020603" pitchFamily="34" charset="0"/>
            </a:endParaRPr>
          </a:p>
        </p:txBody>
      </p:sp>
      <p:sp>
        <p:nvSpPr>
          <p:cNvPr id="6" name="Shape 4"/>
          <p:cNvSpPr/>
          <p:nvPr/>
        </p:nvSpPr>
        <p:spPr>
          <a:xfrm>
            <a:off x="365760" y="1691640"/>
            <a:ext cx="8412480" cy="1472184"/>
          </a:xfrm>
          <a:prstGeom prst="rect">
            <a:avLst/>
          </a:prstGeom>
          <a:solidFill>
            <a:srgbClr val="145230"/>
          </a:solidFill>
          <a:ln w="12700">
            <a:solidFill>
              <a:srgbClr val="52B788"/>
            </a:solidFill>
            <a:prstDash val="solid"/>
          </a:ln>
        </p:spPr>
        <p:txBody>
          <a:bodyPr/>
          <a:lstStyle/>
          <a:p>
            <a:endParaRPr lang="en-US">
              <a:latin typeface="Tw Cen MT" panose="020B0602020104020603" pitchFamily="34" charset="0"/>
            </a:endParaRPr>
          </a:p>
        </p:txBody>
      </p:sp>
      <p:sp>
        <p:nvSpPr>
          <p:cNvPr id="7" name="Text 5"/>
          <p:cNvSpPr/>
          <p:nvPr/>
        </p:nvSpPr>
        <p:spPr>
          <a:xfrm>
            <a:off x="548640" y="1463040"/>
            <a:ext cx="8046720" cy="2011680"/>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¿Cómo son las evaluaciones de desempeño en sus compañías?</a:t>
            </a:r>
            <a:endParaRPr lang="en-US" dirty="0">
              <a:latin typeface="Tw Cen MT" panose="020B0602020104020603" pitchFamily="34" charset="0"/>
            </a:endParaRPr>
          </a:p>
          <a:p>
            <a:pPr marL="0" indent="0" algn="ctr">
              <a:buNone/>
            </a:pPr>
            <a:endParaRPr lang="en-US" dirty="0">
              <a:latin typeface="Tw Cen MT" panose="020B0602020104020603" pitchFamily="34" charset="0"/>
            </a:endParaRPr>
          </a:p>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Discutan en equipo y enumeren las similitudes.</a:t>
            </a:r>
            <a:endParaRPr lang="en-US" dirty="0">
              <a:latin typeface="Tw Cen MT" panose="020B0602020104020603" pitchFamily="34" charset="0"/>
            </a:endParaRPr>
          </a:p>
        </p:txBody>
      </p:sp>
      <p:sp>
        <p:nvSpPr>
          <p:cNvPr id="8" name="Shape 6"/>
          <p:cNvSpPr/>
          <p:nvPr/>
        </p:nvSpPr>
        <p:spPr>
          <a:xfrm>
            <a:off x="347472" y="3474720"/>
            <a:ext cx="8412480" cy="45720"/>
          </a:xfrm>
          <a:prstGeom prst="rect">
            <a:avLst/>
          </a:prstGeom>
          <a:solidFill>
            <a:srgbClr val="52B788"/>
          </a:solidFill>
          <a:ln w="12700">
            <a:solidFill>
              <a:srgbClr val="52B788"/>
            </a:solidFill>
            <a:prstDash val="solid"/>
          </a:ln>
        </p:spPr>
        <p:txBody>
          <a:bodyPr/>
          <a:lstStyle/>
          <a:p>
            <a:endParaRPr lang="en-US">
              <a:latin typeface="Tw Cen MT" panose="020B0602020104020603" pitchFamily="34" charset="0"/>
            </a:endParaRPr>
          </a:p>
        </p:txBody>
      </p:sp>
      <p:sp>
        <p:nvSpPr>
          <p:cNvPr id="9" name="Text 7"/>
          <p:cNvSpPr/>
          <p:nvPr/>
        </p:nvSpPr>
        <p:spPr>
          <a:xfrm>
            <a:off x="365760" y="3977640"/>
            <a:ext cx="8412480" cy="347472"/>
          </a:xfrm>
          <a:prstGeom prst="rect">
            <a:avLst/>
          </a:prstGeom>
          <a:noFill/>
          <a:ln/>
        </p:spPr>
        <p:txBody>
          <a:bodyPr wrap="square" rtlCol="0" anchor="ctr"/>
          <a:lstStyle/>
          <a:p>
            <a:pPr marL="0" indent="0">
              <a:buNone/>
            </a:pPr>
            <a:r>
              <a:rPr lang="en-US" b="1" dirty="0">
                <a:solidFill>
                  <a:srgbClr val="D4A017"/>
                </a:solidFill>
                <a:latin typeface="Tw Cen MT" panose="020B0602020104020603" pitchFamily="34" charset="0"/>
                <a:ea typeface="Tw Cen MT" pitchFamily="34" charset="-122"/>
                <a:cs typeface="Tw Cen MT" pitchFamily="34" charset="-120"/>
              </a:rPr>
              <a:t>Preguntas orientadoras:</a:t>
            </a:r>
            <a:endParaRPr lang="en-US" dirty="0">
              <a:latin typeface="Tw Cen MT" panose="020B0602020104020603" pitchFamily="34" charset="0"/>
            </a:endParaRPr>
          </a:p>
        </p:txBody>
      </p:sp>
      <p:sp>
        <p:nvSpPr>
          <p:cNvPr id="10" name="Shape 8"/>
          <p:cNvSpPr/>
          <p:nvPr/>
        </p:nvSpPr>
        <p:spPr>
          <a:xfrm>
            <a:off x="411480" y="4434840"/>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1" name="Text 9"/>
          <p:cNvSpPr/>
          <p:nvPr/>
        </p:nvSpPr>
        <p:spPr>
          <a:xfrm>
            <a:off x="411480" y="4434840"/>
            <a:ext cx="292608" cy="292608"/>
          </a:xfrm>
          <a:prstGeom prst="rect">
            <a:avLst/>
          </a:prstGeom>
          <a:noFill/>
          <a:ln/>
        </p:spPr>
        <p:txBody>
          <a:bodyPr wrap="square" rtlCol="0" anchor="ctr"/>
          <a:lstStyle/>
          <a:p>
            <a:pPr marL="0" indent="0" algn="ctr">
              <a:buNone/>
            </a:pPr>
            <a:r>
              <a:rPr lang="en-US" b="1" dirty="0">
                <a:solidFill>
                  <a:srgbClr val="222222"/>
                </a:solidFill>
                <a:latin typeface="Tw Cen MT" panose="020B0602020104020603" pitchFamily="34" charset="0"/>
                <a:ea typeface="Tw Cen MT" pitchFamily="34" charset="-122"/>
                <a:cs typeface="Tw Cen MT" pitchFamily="34" charset="-120"/>
              </a:rPr>
              <a:t>1</a:t>
            </a:r>
            <a:endParaRPr lang="en-US" dirty="0">
              <a:latin typeface="Tw Cen MT" panose="020B0602020104020603" pitchFamily="34" charset="0"/>
            </a:endParaRPr>
          </a:p>
        </p:txBody>
      </p:sp>
      <p:sp>
        <p:nvSpPr>
          <p:cNvPr id="12" name="Text 10"/>
          <p:cNvSpPr/>
          <p:nvPr/>
        </p:nvSpPr>
        <p:spPr>
          <a:xfrm>
            <a:off x="891299" y="4316931"/>
            <a:ext cx="7955280" cy="50292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¿Qué tipo de evaluación utilizan (escalas, objetivos, 360°)?</a:t>
            </a:r>
            <a:endParaRPr lang="en-US" dirty="0">
              <a:latin typeface="Tw Cen MT" panose="020B0602020104020603" pitchFamily="34" charset="0"/>
            </a:endParaRPr>
          </a:p>
        </p:txBody>
      </p:sp>
      <p:sp>
        <p:nvSpPr>
          <p:cNvPr id="13" name="Shape 11"/>
          <p:cNvSpPr/>
          <p:nvPr/>
        </p:nvSpPr>
        <p:spPr>
          <a:xfrm>
            <a:off x="411480" y="4983480"/>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4" name="Text 12"/>
          <p:cNvSpPr/>
          <p:nvPr/>
        </p:nvSpPr>
        <p:spPr>
          <a:xfrm>
            <a:off x="411480" y="4983480"/>
            <a:ext cx="292608" cy="292608"/>
          </a:xfrm>
          <a:prstGeom prst="rect">
            <a:avLst/>
          </a:prstGeom>
          <a:noFill/>
          <a:ln/>
        </p:spPr>
        <p:txBody>
          <a:bodyPr wrap="square" rtlCol="0" anchor="ctr"/>
          <a:lstStyle/>
          <a:p>
            <a:pPr marL="0" indent="0" algn="ctr">
              <a:buNone/>
            </a:pPr>
            <a:r>
              <a:rPr lang="en-US" b="1" dirty="0">
                <a:solidFill>
                  <a:srgbClr val="222222"/>
                </a:solidFill>
                <a:latin typeface="Tw Cen MT" panose="020B0602020104020603" pitchFamily="34" charset="0"/>
                <a:ea typeface="Tw Cen MT" pitchFamily="34" charset="-122"/>
                <a:cs typeface="Tw Cen MT" pitchFamily="34" charset="-120"/>
              </a:rPr>
              <a:t>2</a:t>
            </a:r>
            <a:endParaRPr lang="en-US" dirty="0">
              <a:latin typeface="Tw Cen MT" panose="020B0602020104020603" pitchFamily="34" charset="0"/>
            </a:endParaRPr>
          </a:p>
        </p:txBody>
      </p:sp>
      <p:sp>
        <p:nvSpPr>
          <p:cNvPr id="15" name="Text 13"/>
          <p:cNvSpPr/>
          <p:nvPr/>
        </p:nvSpPr>
        <p:spPr>
          <a:xfrm>
            <a:off x="804672" y="4887468"/>
            <a:ext cx="7955280" cy="50292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¿Quién evalúa y con qué frecuencia?</a:t>
            </a:r>
            <a:endParaRPr lang="en-US" dirty="0">
              <a:latin typeface="Tw Cen MT" panose="020B0602020104020603" pitchFamily="34" charset="0"/>
            </a:endParaRPr>
          </a:p>
        </p:txBody>
      </p:sp>
      <p:sp>
        <p:nvSpPr>
          <p:cNvPr id="16" name="Shape 14"/>
          <p:cNvSpPr/>
          <p:nvPr/>
        </p:nvSpPr>
        <p:spPr>
          <a:xfrm>
            <a:off x="411480" y="5532120"/>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7" name="Text 15"/>
          <p:cNvSpPr/>
          <p:nvPr/>
        </p:nvSpPr>
        <p:spPr>
          <a:xfrm>
            <a:off x="411480" y="5532120"/>
            <a:ext cx="292608" cy="292608"/>
          </a:xfrm>
          <a:prstGeom prst="rect">
            <a:avLst/>
          </a:prstGeom>
          <a:noFill/>
          <a:ln/>
        </p:spPr>
        <p:txBody>
          <a:bodyPr wrap="square" rtlCol="0" anchor="ctr"/>
          <a:lstStyle/>
          <a:p>
            <a:pPr marL="0" indent="0" algn="ctr">
              <a:buNone/>
            </a:pPr>
            <a:r>
              <a:rPr lang="en-US" b="1" dirty="0">
                <a:solidFill>
                  <a:srgbClr val="222222"/>
                </a:solidFill>
                <a:latin typeface="Tw Cen MT" panose="020B0602020104020603" pitchFamily="34" charset="0"/>
                <a:ea typeface="Tw Cen MT" pitchFamily="34" charset="-122"/>
                <a:cs typeface="Tw Cen MT" pitchFamily="34" charset="-120"/>
              </a:rPr>
              <a:t>3</a:t>
            </a:r>
            <a:endParaRPr lang="en-US" dirty="0">
              <a:latin typeface="Tw Cen MT" panose="020B0602020104020603" pitchFamily="34" charset="0"/>
            </a:endParaRPr>
          </a:p>
        </p:txBody>
      </p:sp>
      <p:sp>
        <p:nvSpPr>
          <p:cNvPr id="18" name="Text 16"/>
          <p:cNvSpPr/>
          <p:nvPr/>
        </p:nvSpPr>
        <p:spPr>
          <a:xfrm>
            <a:off x="777240" y="5466187"/>
            <a:ext cx="7955280" cy="50292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¿Está vinculada a compensación variable?</a:t>
            </a:r>
            <a:endParaRPr lang="en-US" dirty="0">
              <a:latin typeface="Tw Cen MT" panose="020B0602020104020603" pitchFamily="34" charset="0"/>
            </a:endParaRPr>
          </a:p>
        </p:txBody>
      </p:sp>
      <p:sp>
        <p:nvSpPr>
          <p:cNvPr id="19" name="Shape 17"/>
          <p:cNvSpPr/>
          <p:nvPr/>
        </p:nvSpPr>
        <p:spPr>
          <a:xfrm>
            <a:off x="411480" y="6080760"/>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20" name="Text 18"/>
          <p:cNvSpPr/>
          <p:nvPr/>
        </p:nvSpPr>
        <p:spPr>
          <a:xfrm>
            <a:off x="411480" y="6080760"/>
            <a:ext cx="292608" cy="292608"/>
          </a:xfrm>
          <a:prstGeom prst="rect">
            <a:avLst/>
          </a:prstGeom>
          <a:noFill/>
          <a:ln/>
        </p:spPr>
        <p:txBody>
          <a:bodyPr wrap="square" rtlCol="0" anchor="ctr"/>
          <a:lstStyle/>
          <a:p>
            <a:pPr marL="0" indent="0" algn="ctr">
              <a:buNone/>
            </a:pPr>
            <a:r>
              <a:rPr lang="en-US" b="1" dirty="0">
                <a:solidFill>
                  <a:srgbClr val="222222"/>
                </a:solidFill>
                <a:latin typeface="Tw Cen MT" panose="020B0602020104020603" pitchFamily="34" charset="0"/>
                <a:ea typeface="Tw Cen MT" pitchFamily="34" charset="-122"/>
                <a:cs typeface="Tw Cen MT" pitchFamily="34" charset="-120"/>
              </a:rPr>
              <a:t>4</a:t>
            </a:r>
            <a:endParaRPr lang="en-US" dirty="0">
              <a:latin typeface="Tw Cen MT" panose="020B0602020104020603" pitchFamily="34" charset="0"/>
            </a:endParaRPr>
          </a:p>
        </p:txBody>
      </p:sp>
      <p:sp>
        <p:nvSpPr>
          <p:cNvPr id="21" name="Text 19"/>
          <p:cNvSpPr/>
          <p:nvPr/>
        </p:nvSpPr>
        <p:spPr>
          <a:xfrm>
            <a:off x="804672" y="5969107"/>
            <a:ext cx="7955280" cy="502920"/>
          </a:xfrm>
          <a:prstGeom prst="rect">
            <a:avLst/>
          </a:prstGeom>
          <a:noFill/>
          <a:ln/>
        </p:spPr>
        <p:txBody>
          <a:bodyPr wrap="square" rtlCol="0" anchor="ctr"/>
          <a:lstStyle/>
          <a:p>
            <a:pPr marL="0" indent="0">
              <a:buNone/>
            </a:pPr>
            <a:r>
              <a:rPr lang="en-US" dirty="0">
                <a:solidFill>
                  <a:srgbClr val="FFFFFF"/>
                </a:solidFill>
                <a:latin typeface="Tw Cen MT" panose="020B0602020104020603" pitchFamily="34" charset="0"/>
                <a:ea typeface="Tw Cen MT" pitchFamily="34" charset="-122"/>
                <a:cs typeface="Tw Cen MT" pitchFamily="34" charset="-120"/>
              </a:rPr>
              <a:t>¿Identifican alguno de los problemas vistos en clase?</a:t>
            </a:r>
            <a:endParaRPr lang="en-US" dirty="0">
              <a:latin typeface="Tw Cen MT" panose="020B0602020104020603"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3" name="Shape 1"/>
          <p:cNvSpPr/>
          <p:nvPr/>
        </p:nvSpPr>
        <p:spPr>
          <a:xfrm>
            <a:off x="0" y="658368"/>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Evaluación del Desempeño de Divisiones o Sub-Unidades</a:t>
            </a:r>
            <a:endParaRPr lang="en-US" sz="2000" dirty="0">
              <a:latin typeface="Tw Cen MT" panose="020B0602020104020603" pitchFamily="34" charset="0"/>
            </a:endParaRPr>
          </a:p>
        </p:txBody>
      </p:sp>
      <p:sp>
        <p:nvSpPr>
          <p:cNvPr id="5" name="Shape 3"/>
          <p:cNvSpPr/>
          <p:nvPr/>
        </p:nvSpPr>
        <p:spPr>
          <a:xfrm>
            <a:off x="320040" y="777240"/>
            <a:ext cx="8503920" cy="384048"/>
          </a:xfrm>
          <a:prstGeom prst="rect">
            <a:avLst/>
          </a:prstGeom>
          <a:solidFill>
            <a:srgbClr val="1A2744"/>
          </a:solidFill>
          <a:ln w="12700">
            <a:solidFill>
              <a:srgbClr val="1A2744"/>
            </a:solidFill>
            <a:prstDash val="solid"/>
          </a:ln>
        </p:spPr>
        <p:txBody>
          <a:bodyPr/>
          <a:lstStyle/>
          <a:p>
            <a:endParaRPr lang="en-US">
              <a:latin typeface="Tw Cen MT" panose="020B0602020104020603" pitchFamily="34" charset="0"/>
            </a:endParaRPr>
          </a:p>
        </p:txBody>
      </p:sp>
      <p:sp>
        <p:nvSpPr>
          <p:cNvPr id="6" name="Text 4"/>
          <p:cNvSpPr/>
          <p:nvPr/>
        </p:nvSpPr>
        <p:spPr>
          <a:xfrm>
            <a:off x="320040" y="777240"/>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El Problema de la Interdependencia</a:t>
            </a:r>
            <a:endParaRPr lang="en-US" dirty="0">
              <a:latin typeface="Tw Cen MT" panose="020B0602020104020603" pitchFamily="34" charset="0"/>
            </a:endParaRPr>
          </a:p>
        </p:txBody>
      </p:sp>
      <p:sp>
        <p:nvSpPr>
          <p:cNvPr id="7" name="Text 5"/>
          <p:cNvSpPr/>
          <p:nvPr/>
        </p:nvSpPr>
        <p:spPr>
          <a:xfrm>
            <a:off x="365760" y="1298448"/>
            <a:ext cx="8412480" cy="68580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En general, las diferentes unidades de una corporación son interdependientes. Esto hace difícil medir el desempeño de cada unidad. Muchas veces el output de una unidad es el input de otra.</a:t>
            </a:r>
            <a:endParaRPr lang="en-US" dirty="0">
              <a:latin typeface="Tw Cen MT" panose="020B0602020104020603" pitchFamily="34" charset="0"/>
            </a:endParaRPr>
          </a:p>
        </p:txBody>
      </p:sp>
      <p:sp>
        <p:nvSpPr>
          <p:cNvPr id="8" name="Shape 6"/>
          <p:cNvSpPr/>
          <p:nvPr/>
        </p:nvSpPr>
        <p:spPr>
          <a:xfrm>
            <a:off x="320040" y="2084832"/>
            <a:ext cx="8503920" cy="384048"/>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9" name="Text 7"/>
          <p:cNvSpPr/>
          <p:nvPr/>
        </p:nvSpPr>
        <p:spPr>
          <a:xfrm>
            <a:off x="320040" y="2084832"/>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El Precio de Transferencia</a:t>
            </a:r>
            <a:endParaRPr lang="en-US" dirty="0">
              <a:latin typeface="Tw Cen MT" panose="020B0602020104020603" pitchFamily="34" charset="0"/>
            </a:endParaRPr>
          </a:p>
        </p:txBody>
      </p:sp>
      <p:sp>
        <p:nvSpPr>
          <p:cNvPr id="10" name="Text 8"/>
          <p:cNvSpPr/>
          <p:nvPr/>
        </p:nvSpPr>
        <p:spPr>
          <a:xfrm>
            <a:off x="365760" y="2578608"/>
            <a:ext cx="8412480" cy="137160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 Variable clave para medir el desempeño de cada unidad interdependiente.</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No sólo determina cómo se 'divide la torta', también afecta su tamaño.</a:t>
            </a:r>
            <a:endParaRPr lang="en-US" dirty="0">
              <a:latin typeface="Tw Cen MT" panose="020B0602020104020603" pitchFamily="34" charset="0"/>
            </a:endParaRPr>
          </a:p>
          <a:p>
            <a:pPr marL="0" indent="0">
              <a:buNone/>
            </a:pPr>
            <a:r>
              <a:rPr lang="en-US" dirty="0">
                <a:solidFill>
                  <a:srgbClr val="222222"/>
                </a:solidFill>
                <a:latin typeface="Tw Cen MT" panose="020B0602020104020603" pitchFamily="34" charset="0"/>
                <a:ea typeface="Tw Cen MT" pitchFamily="34" charset="-122"/>
                <a:cs typeface="Tw Cen MT" pitchFamily="34" charset="-120"/>
              </a:rPr>
              <a:t>• El precio de transferencia óptimo de un bien es su </a:t>
            </a:r>
            <a:r>
              <a:rPr lang="en-US" b="1" dirty="0">
                <a:solidFill>
                  <a:srgbClr val="222222"/>
                </a:solidFill>
                <a:latin typeface="Tw Cen MT" panose="020B0602020104020603" pitchFamily="34" charset="0"/>
                <a:ea typeface="Tw Cen MT" pitchFamily="34" charset="-122"/>
                <a:cs typeface="Tw Cen MT" pitchFamily="34" charset="-120"/>
              </a:rPr>
              <a:t>costo de oportunidad</a:t>
            </a:r>
            <a:r>
              <a:rPr lang="en-US" dirty="0">
                <a:solidFill>
                  <a:srgbClr val="222222"/>
                </a:solidFill>
                <a:latin typeface="Tw Cen MT" panose="020B0602020104020603" pitchFamily="34" charset="0"/>
                <a:ea typeface="Tw Cen MT" pitchFamily="34" charset="-122"/>
                <a:cs typeface="Tw Cen MT" pitchFamily="34" charset="-120"/>
              </a:rPr>
              <a:t> (el valor del bien en su mejor uso alternativo).</a:t>
            </a:r>
            <a:endParaRPr lang="en-US" dirty="0">
              <a:latin typeface="Tw Cen MT" panose="020B0602020104020603" pitchFamily="34" charset="0"/>
            </a:endParaRPr>
          </a:p>
        </p:txBody>
      </p:sp>
      <p:sp>
        <p:nvSpPr>
          <p:cNvPr id="11" name="Shape 9"/>
          <p:cNvSpPr/>
          <p:nvPr/>
        </p:nvSpPr>
        <p:spPr>
          <a:xfrm>
            <a:off x="320040" y="4069080"/>
            <a:ext cx="8503920" cy="384048"/>
          </a:xfrm>
          <a:prstGeom prst="rect">
            <a:avLst/>
          </a:prstGeom>
          <a:solidFill>
            <a:srgbClr val="1A2744"/>
          </a:solidFill>
          <a:ln w="12700">
            <a:solidFill>
              <a:srgbClr val="1A2744"/>
            </a:solidFill>
            <a:prstDash val="solid"/>
          </a:ln>
        </p:spPr>
        <p:txBody>
          <a:bodyPr/>
          <a:lstStyle/>
          <a:p>
            <a:endParaRPr lang="en-US">
              <a:latin typeface="Tw Cen MT" panose="020B0602020104020603" pitchFamily="34" charset="0"/>
            </a:endParaRPr>
          </a:p>
        </p:txBody>
      </p:sp>
      <p:sp>
        <p:nvSpPr>
          <p:cNvPr id="12" name="Text 10"/>
          <p:cNvSpPr/>
          <p:nvPr/>
        </p:nvSpPr>
        <p:spPr>
          <a:xfrm>
            <a:off x="320040" y="4069080"/>
            <a:ext cx="8503920" cy="384048"/>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¿Cómo determinar el precio óptimo de transferencia?</a:t>
            </a:r>
            <a:endParaRPr lang="en-US" dirty="0">
              <a:latin typeface="Tw Cen MT" panose="020B0602020104020603" pitchFamily="34" charset="0"/>
            </a:endParaRPr>
          </a:p>
        </p:txBody>
      </p:sp>
      <p:sp>
        <p:nvSpPr>
          <p:cNvPr id="13" name="Shape 11"/>
          <p:cNvSpPr/>
          <p:nvPr/>
        </p:nvSpPr>
        <p:spPr>
          <a:xfrm>
            <a:off x="320040" y="4590288"/>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4" name="Text 12"/>
          <p:cNvSpPr/>
          <p:nvPr/>
        </p:nvSpPr>
        <p:spPr>
          <a:xfrm>
            <a:off x="713232" y="4572000"/>
            <a:ext cx="8046720" cy="36576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¿La unidad que vende determina el precio?</a:t>
            </a:r>
            <a:endParaRPr lang="en-US" dirty="0">
              <a:latin typeface="Tw Cen MT" panose="020B0602020104020603" pitchFamily="34" charset="0"/>
            </a:endParaRPr>
          </a:p>
        </p:txBody>
      </p:sp>
      <p:sp>
        <p:nvSpPr>
          <p:cNvPr id="15" name="Shape 13"/>
          <p:cNvSpPr/>
          <p:nvPr/>
        </p:nvSpPr>
        <p:spPr>
          <a:xfrm>
            <a:off x="320040" y="5001768"/>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6" name="Text 14"/>
          <p:cNvSpPr/>
          <p:nvPr/>
        </p:nvSpPr>
        <p:spPr>
          <a:xfrm>
            <a:off x="713232" y="4983480"/>
            <a:ext cx="8046720" cy="36576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¿La unidad que compra determina el precio?</a:t>
            </a:r>
            <a:endParaRPr lang="en-US" dirty="0">
              <a:latin typeface="Tw Cen MT" panose="020B0602020104020603" pitchFamily="34" charset="0"/>
            </a:endParaRPr>
          </a:p>
        </p:txBody>
      </p:sp>
      <p:sp>
        <p:nvSpPr>
          <p:cNvPr id="17" name="Shape 15"/>
          <p:cNvSpPr/>
          <p:nvPr/>
        </p:nvSpPr>
        <p:spPr>
          <a:xfrm>
            <a:off x="320040" y="5413248"/>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18" name="Text 16"/>
          <p:cNvSpPr/>
          <p:nvPr/>
        </p:nvSpPr>
        <p:spPr>
          <a:xfrm>
            <a:off x="713232" y="5394960"/>
            <a:ext cx="8046720" cy="36576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¿Negociación entre comprador y vendedor?</a:t>
            </a:r>
            <a:endParaRPr lang="en-US" dirty="0">
              <a:latin typeface="Tw Cen MT" panose="020B0602020104020603" pitchFamily="34" charset="0"/>
            </a:endParaRPr>
          </a:p>
        </p:txBody>
      </p:sp>
      <p:sp>
        <p:nvSpPr>
          <p:cNvPr id="19" name="Shape 17"/>
          <p:cNvSpPr/>
          <p:nvPr/>
        </p:nvSpPr>
        <p:spPr>
          <a:xfrm>
            <a:off x="320040" y="5824728"/>
            <a:ext cx="292608" cy="292608"/>
          </a:xfrm>
          <a:prstGeom prst="ellipse">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20" name="Text 18"/>
          <p:cNvSpPr/>
          <p:nvPr/>
        </p:nvSpPr>
        <p:spPr>
          <a:xfrm>
            <a:off x="713232" y="5806440"/>
            <a:ext cx="8046720" cy="365760"/>
          </a:xfrm>
          <a:prstGeom prst="rect">
            <a:avLst/>
          </a:prstGeom>
          <a:noFill/>
          <a:ln/>
        </p:spPr>
        <p:txBody>
          <a:bodyPr wrap="square" rtlCol="0" anchor="ctr"/>
          <a:lstStyle/>
          <a:p>
            <a:pPr marL="0" indent="0">
              <a:buNone/>
            </a:pPr>
            <a:r>
              <a:rPr lang="en-US" dirty="0">
                <a:solidFill>
                  <a:srgbClr val="222222"/>
                </a:solidFill>
                <a:latin typeface="Tw Cen MT" panose="020B0602020104020603" pitchFamily="34" charset="0"/>
                <a:ea typeface="Tw Cen MT" pitchFamily="34" charset="-122"/>
                <a:cs typeface="Tw Cen MT" pitchFamily="34" charset="-120"/>
              </a:rPr>
              <a:t>¿Precio de mercado? ¿Costo marginal? ¿Costo total?</a:t>
            </a:r>
            <a:endParaRPr lang="en-US" dirty="0">
              <a:latin typeface="Tw Cen MT" panose="020B0602020104020603" pitchFamily="34" charset="0"/>
            </a:endParaRPr>
          </a:p>
        </p:txBody>
      </p:sp>
      <p:sp>
        <p:nvSpPr>
          <p:cNvPr id="21" name="Text 19"/>
          <p:cNvSpPr/>
          <p:nvPr/>
        </p:nvSpPr>
        <p:spPr>
          <a:xfrm>
            <a:off x="365760" y="6263640"/>
            <a:ext cx="8412480" cy="320040"/>
          </a:xfrm>
          <a:prstGeom prst="rect">
            <a:avLst/>
          </a:prstGeom>
          <a:noFill/>
          <a:ln/>
        </p:spPr>
        <p:txBody>
          <a:bodyPr wrap="square" rtlCol="0" anchor="ctr"/>
          <a:lstStyle/>
          <a:p>
            <a:pPr marL="0" indent="0">
              <a:buNone/>
            </a:pPr>
            <a:r>
              <a:rPr lang="en-US" i="1" dirty="0">
                <a:solidFill>
                  <a:srgbClr val="666666"/>
                </a:solidFill>
                <a:latin typeface="Tw Cen MT" panose="020B0602020104020603" pitchFamily="34" charset="0"/>
                <a:ea typeface="Tw Cen MT" pitchFamily="34" charset="-122"/>
                <a:cs typeface="Tw Cen MT" pitchFamily="34" charset="-120"/>
              </a:rPr>
              <a:t>La determinación de los precios de transferencia es en general un problema complejo en las compañías.</a:t>
            </a:r>
            <a:endParaRPr lang="en-US" dirty="0">
              <a:latin typeface="Tw Cen MT" panose="020B0602020104020603"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5230"/>
          </a:solidFill>
          <a:ln w="12700">
            <a:solidFill>
              <a:srgbClr val="145230"/>
            </a:solidFill>
            <a:prstDash val="solid"/>
          </a:ln>
        </p:spPr>
        <p:txBody>
          <a:bodyPr/>
          <a:lstStyle/>
          <a:p>
            <a:endParaRPr lang="en-US" sz="2000">
              <a:latin typeface="Tw Cen MT" panose="020B0602020104020603" pitchFamily="34" charset="0"/>
            </a:endParaRPr>
          </a:p>
        </p:txBody>
      </p:sp>
      <p:sp>
        <p:nvSpPr>
          <p:cNvPr id="3" name="Shape 1"/>
          <p:cNvSpPr/>
          <p:nvPr/>
        </p:nvSpPr>
        <p:spPr>
          <a:xfrm>
            <a:off x="0" y="658368"/>
            <a:ext cx="9144000" cy="54864"/>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4" name="Text 2"/>
          <p:cNvSpPr/>
          <p:nvPr/>
        </p:nvSpPr>
        <p:spPr>
          <a:xfrm>
            <a:off x="201168" y="45720"/>
            <a:ext cx="8741664" cy="594360"/>
          </a:xfrm>
          <a:prstGeom prst="rect">
            <a:avLst/>
          </a:prstGeom>
          <a:noFill/>
          <a:ln/>
        </p:spPr>
        <p:txBody>
          <a:bodyPr wrap="square" rtlCol="0" anchor="ctr"/>
          <a:lstStyle/>
          <a:p>
            <a:pPr marL="0" indent="0">
              <a:buNone/>
            </a:pPr>
            <a:r>
              <a:rPr lang="en-US" sz="2000" b="1" dirty="0">
                <a:solidFill>
                  <a:srgbClr val="FFFFFF"/>
                </a:solidFill>
                <a:latin typeface="Tw Cen MT" panose="020B0602020104020603" pitchFamily="34" charset="0"/>
                <a:ea typeface="Tw Cen MT" pitchFamily="34" charset="-122"/>
                <a:cs typeface="Tw Cen MT" pitchFamily="34" charset="-120"/>
              </a:rPr>
              <a:t>TALLER — Cadena de Restaurantes Vanderschmidt</a:t>
            </a:r>
            <a:endParaRPr lang="en-US" sz="2000" dirty="0">
              <a:latin typeface="Tw Cen MT" panose="020B0602020104020603" pitchFamily="34" charset="0"/>
            </a:endParaRPr>
          </a:p>
        </p:txBody>
      </p:sp>
      <p:sp>
        <p:nvSpPr>
          <p:cNvPr id="5" name="Text 3"/>
          <p:cNvSpPr/>
          <p:nvPr/>
        </p:nvSpPr>
        <p:spPr>
          <a:xfrm>
            <a:off x="365760" y="841248"/>
            <a:ext cx="8412480" cy="3200400"/>
          </a:xfrm>
          <a:prstGeom prst="rect">
            <a:avLst/>
          </a:prstGeom>
          <a:noFill/>
          <a:ln/>
        </p:spPr>
        <p:txBody>
          <a:bodyPr wrap="square" rtlCol="0" anchor="t"/>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Jan Vanderschmidt fue el fundador de una cadena de restaurantes europea de gran éxito. Murió inesperadamente a los 55 años. Jan era el único dueño de la cadena y era muy autoritario: tomaba todas las decisiones importantes, desde la selección del menú y la provisión de comida hasta el tipo de publicidad. A los empleados les pagaba un salario fijo y los monitoreaba continuamente.</a:t>
            </a:r>
            <a:endParaRPr lang="en-US" sz="2000" dirty="0">
              <a:latin typeface="Tw Cen MT" panose="020B0602020104020603" pitchFamily="34" charset="0"/>
            </a:endParaRPr>
          </a:p>
          <a:p>
            <a:pPr marL="0" indent="0">
              <a:buNone/>
            </a:pPr>
            <a:endParaRPr lang="en-US" sz="2000" dirty="0">
              <a:latin typeface="Tw Cen MT" panose="020B0602020104020603" pitchFamily="34" charset="0"/>
            </a:endParaRPr>
          </a:p>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El hijo de Jan, Joop, pasó su juventud manejando BMWs y trabajó muy poco con su padre. Sin embargo, es inteligente y ha decidido suceder a su padre como CEO de la cadena.</a:t>
            </a:r>
            <a:endParaRPr lang="en-US" sz="2000" dirty="0">
              <a:latin typeface="Tw Cen MT" panose="020B0602020104020603" pitchFamily="34" charset="0"/>
            </a:endParaRPr>
          </a:p>
        </p:txBody>
      </p:sp>
      <p:sp>
        <p:nvSpPr>
          <p:cNvPr id="6" name="Shape 4"/>
          <p:cNvSpPr/>
          <p:nvPr/>
        </p:nvSpPr>
        <p:spPr>
          <a:xfrm>
            <a:off x="365760" y="4160520"/>
            <a:ext cx="8412480" cy="45720"/>
          </a:xfrm>
          <a:prstGeom prst="rect">
            <a:avLst/>
          </a:prstGeom>
          <a:solidFill>
            <a:srgbClr val="52B788"/>
          </a:solidFill>
          <a:ln w="12700">
            <a:solidFill>
              <a:srgbClr val="52B788"/>
            </a:solidFill>
            <a:prstDash val="solid"/>
          </a:ln>
        </p:spPr>
        <p:txBody>
          <a:bodyPr/>
          <a:lstStyle/>
          <a:p>
            <a:endParaRPr lang="en-US" sz="2000">
              <a:latin typeface="Tw Cen MT" panose="020B0602020104020603" pitchFamily="34" charset="0"/>
            </a:endParaRPr>
          </a:p>
        </p:txBody>
      </p:sp>
      <p:sp>
        <p:nvSpPr>
          <p:cNvPr id="7" name="Shape 5"/>
          <p:cNvSpPr/>
          <p:nvPr/>
        </p:nvSpPr>
        <p:spPr>
          <a:xfrm>
            <a:off x="365760" y="4279392"/>
            <a:ext cx="8412480" cy="1508760"/>
          </a:xfrm>
          <a:prstGeom prst="rect">
            <a:avLst/>
          </a:prstGeom>
          <a:solidFill>
            <a:srgbClr val="145230"/>
          </a:solidFill>
          <a:ln w="12700">
            <a:solidFill>
              <a:srgbClr val="52B788"/>
            </a:solidFill>
            <a:prstDash val="solid"/>
          </a:ln>
        </p:spPr>
        <p:txBody>
          <a:bodyPr/>
          <a:lstStyle/>
          <a:p>
            <a:endParaRPr lang="en-US" sz="2000">
              <a:latin typeface="Tw Cen MT" panose="020B0602020104020603" pitchFamily="34" charset="0"/>
            </a:endParaRPr>
          </a:p>
        </p:txBody>
      </p:sp>
      <p:sp>
        <p:nvSpPr>
          <p:cNvPr id="8" name="Text 6"/>
          <p:cNvSpPr/>
          <p:nvPr/>
        </p:nvSpPr>
        <p:spPr>
          <a:xfrm>
            <a:off x="548640" y="4352544"/>
            <a:ext cx="8229600" cy="347472"/>
          </a:xfrm>
          <a:prstGeom prst="rect">
            <a:avLst/>
          </a:prstGeom>
          <a:noFill/>
          <a:ln/>
        </p:spPr>
        <p:txBody>
          <a:bodyPr wrap="square" rtlCol="0" anchor="ctr"/>
          <a:lstStyle/>
          <a:p>
            <a:pPr marL="0" indent="0">
              <a:buNone/>
            </a:pPr>
            <a:r>
              <a:rPr lang="en-US" sz="2000" b="1" dirty="0">
                <a:solidFill>
                  <a:srgbClr val="D4A017"/>
                </a:solidFill>
                <a:latin typeface="Tw Cen MT" panose="020B0602020104020603" pitchFamily="34" charset="0"/>
                <a:ea typeface="Tw Cen MT" pitchFamily="34" charset="-122"/>
                <a:cs typeface="Tw Cen MT" pitchFamily="34" charset="-120"/>
              </a:rPr>
              <a:t>CONSIGNA:</a:t>
            </a:r>
            <a:endParaRPr lang="en-US" sz="2000" dirty="0">
              <a:latin typeface="Tw Cen MT" panose="020B0602020104020603" pitchFamily="34" charset="0"/>
            </a:endParaRPr>
          </a:p>
        </p:txBody>
      </p:sp>
      <p:sp>
        <p:nvSpPr>
          <p:cNvPr id="9" name="Text 7"/>
          <p:cNvSpPr/>
          <p:nvPr/>
        </p:nvSpPr>
        <p:spPr>
          <a:xfrm>
            <a:off x="548640" y="4709160"/>
            <a:ext cx="8046720" cy="1005840"/>
          </a:xfrm>
          <a:prstGeom prst="rect">
            <a:avLst/>
          </a:prstGeom>
          <a:noFill/>
          <a:ln/>
        </p:spPr>
        <p:txBody>
          <a:bodyPr wrap="square" rtlCol="0" anchor="t"/>
          <a:lstStyle/>
          <a:p>
            <a:pPr marL="0" indent="0">
              <a:buNone/>
            </a:pPr>
            <a:r>
              <a:rPr lang="en-US" sz="2000" dirty="0">
                <a:solidFill>
                  <a:srgbClr val="FFFFFF"/>
                </a:solidFill>
                <a:latin typeface="Tw Cen MT" panose="020B0602020104020603" pitchFamily="34" charset="0"/>
                <a:ea typeface="Tw Cen MT" pitchFamily="34" charset="-122"/>
                <a:cs typeface="Tw Cen MT" pitchFamily="34" charset="-120"/>
              </a:rPr>
              <a:t>¿Qué le recomendarían a Joop respecto de la arquitectura organizacional óptima de la cadena en la nueva situación? Consideren especialmente el sistema de medición del desempeño y la política compensatoria.</a:t>
            </a:r>
            <a:endParaRPr lang="en-US" sz="2000" dirty="0">
              <a:latin typeface="Tw Cen MT" panose="020B0602020104020603"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0">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8B0000"/>
          </a:solidFill>
          <a:ln w="12700">
            <a:solidFill>
              <a:srgbClr val="8B0000"/>
            </a:solidFill>
            <a:prstDash val="solid"/>
          </a:ln>
        </p:spPr>
        <p:txBody>
          <a:bodyPr/>
          <a:lstStyle/>
          <a:p>
            <a:endParaRPr lang="en-US"/>
          </a:p>
        </p:txBody>
      </p:sp>
      <p:sp>
        <p:nvSpPr>
          <p:cNvPr id="3" name="Shape 1"/>
          <p:cNvSpPr/>
          <p:nvPr/>
        </p:nvSpPr>
        <p:spPr>
          <a:xfrm>
            <a:off x="0" y="6693408"/>
            <a:ext cx="9144000" cy="164592"/>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4" name="Shape 2"/>
          <p:cNvSpPr/>
          <p:nvPr/>
        </p:nvSpPr>
        <p:spPr>
          <a:xfrm>
            <a:off x="0" y="164592"/>
            <a:ext cx="9144000" cy="54864"/>
          </a:xfrm>
          <a:prstGeom prst="rect">
            <a:avLst/>
          </a:prstGeom>
          <a:solidFill>
            <a:srgbClr val="D4A017"/>
          </a:solidFill>
          <a:ln w="12700">
            <a:solidFill>
              <a:srgbClr val="D4A017"/>
            </a:solidFill>
            <a:prstDash val="solid"/>
          </a:ln>
        </p:spPr>
        <p:txBody>
          <a:bodyPr/>
          <a:lstStyle/>
          <a:p>
            <a:endParaRPr lang="en-US"/>
          </a:p>
        </p:txBody>
      </p:sp>
      <p:sp>
        <p:nvSpPr>
          <p:cNvPr id="5" name="Shape 3"/>
          <p:cNvSpPr/>
          <p:nvPr/>
        </p:nvSpPr>
        <p:spPr>
          <a:xfrm>
            <a:off x="0" y="6638544"/>
            <a:ext cx="9144000" cy="54864"/>
          </a:xfrm>
          <a:prstGeom prst="rect">
            <a:avLst/>
          </a:prstGeom>
          <a:solidFill>
            <a:srgbClr val="D4A017"/>
          </a:solidFill>
          <a:ln w="12700">
            <a:solidFill>
              <a:srgbClr val="D4A017"/>
            </a:solidFill>
            <a:prstDash val="solid"/>
          </a:ln>
        </p:spPr>
        <p:txBody>
          <a:bodyPr/>
          <a:lstStyle/>
          <a:p>
            <a:endParaRPr lang="en-US">
              <a:latin typeface="Tw Cen MT" panose="020B0602020104020603" pitchFamily="34" charset="0"/>
            </a:endParaRPr>
          </a:p>
        </p:txBody>
      </p:sp>
      <p:sp>
        <p:nvSpPr>
          <p:cNvPr id="6" name="Text 4"/>
          <p:cNvSpPr/>
          <p:nvPr/>
        </p:nvSpPr>
        <p:spPr>
          <a:xfrm>
            <a:off x="457200" y="411480"/>
            <a:ext cx="8229600" cy="457200"/>
          </a:xfrm>
          <a:prstGeom prst="rect">
            <a:avLst/>
          </a:prstGeom>
          <a:noFill/>
          <a:ln/>
        </p:spPr>
        <p:txBody>
          <a:bodyPr wrap="square" rtlCol="0" anchor="ctr"/>
          <a:lstStyle/>
          <a:p>
            <a:pPr marL="0" indent="0" algn="ctr">
              <a:buNone/>
            </a:pPr>
            <a:r>
              <a:rPr lang="en-US" b="1" i="1" dirty="0">
                <a:solidFill>
                  <a:srgbClr val="D4A017"/>
                </a:solidFill>
                <a:latin typeface="Tw Cen MT" panose="020B0602020104020603" pitchFamily="34" charset="0"/>
                <a:ea typeface="Tw Cen MT" pitchFamily="34" charset="-122"/>
                <a:cs typeface="Tw Cen MT" pitchFamily="34" charset="-120"/>
              </a:rPr>
              <a:t>RESUMEN DE LA CLASE</a:t>
            </a:r>
            <a:endParaRPr lang="en-US" dirty="0">
              <a:latin typeface="Tw Cen MT" panose="020B0602020104020603" pitchFamily="34" charset="0"/>
            </a:endParaRPr>
          </a:p>
        </p:txBody>
      </p:sp>
      <p:sp>
        <p:nvSpPr>
          <p:cNvPr id="7" name="Shape 5"/>
          <p:cNvSpPr/>
          <p:nvPr/>
        </p:nvSpPr>
        <p:spPr>
          <a:xfrm>
            <a:off x="256032" y="1005840"/>
            <a:ext cx="2651760" cy="5349240"/>
          </a:xfrm>
          <a:prstGeom prst="rect">
            <a:avLst/>
          </a:prstGeom>
          <a:solidFill>
            <a:srgbClr val="1E3060"/>
          </a:solidFill>
          <a:ln w="19050">
            <a:solidFill>
              <a:srgbClr val="8B0000"/>
            </a:solidFill>
            <a:prstDash val="solid"/>
          </a:ln>
        </p:spPr>
        <p:txBody>
          <a:bodyPr/>
          <a:lstStyle/>
          <a:p>
            <a:endParaRPr lang="en-US">
              <a:latin typeface="Tw Cen MT" panose="020B0602020104020603" pitchFamily="34" charset="0"/>
            </a:endParaRPr>
          </a:p>
        </p:txBody>
      </p:sp>
      <p:sp>
        <p:nvSpPr>
          <p:cNvPr id="8" name="Shape 6"/>
          <p:cNvSpPr/>
          <p:nvPr/>
        </p:nvSpPr>
        <p:spPr>
          <a:xfrm>
            <a:off x="256032" y="1005840"/>
            <a:ext cx="2651760" cy="548640"/>
          </a:xfrm>
          <a:prstGeom prst="rect">
            <a:avLst/>
          </a:prstGeom>
          <a:solidFill>
            <a:srgbClr val="8B0000"/>
          </a:solidFill>
          <a:ln w="12700">
            <a:solidFill>
              <a:srgbClr val="8B0000"/>
            </a:solidFill>
            <a:prstDash val="solid"/>
          </a:ln>
        </p:spPr>
        <p:txBody>
          <a:bodyPr/>
          <a:lstStyle/>
          <a:p>
            <a:endParaRPr lang="en-US">
              <a:latin typeface="Tw Cen MT" panose="020B0602020104020603" pitchFamily="34" charset="0"/>
            </a:endParaRPr>
          </a:p>
        </p:txBody>
      </p:sp>
      <p:sp>
        <p:nvSpPr>
          <p:cNvPr id="9" name="Text 7"/>
          <p:cNvSpPr/>
          <p:nvPr/>
        </p:nvSpPr>
        <p:spPr>
          <a:xfrm>
            <a:off x="301752" y="1005840"/>
            <a:ext cx="2560320" cy="548640"/>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MEDICIÓN DEL DESEMPEÑO</a:t>
            </a:r>
            <a:endParaRPr lang="en-US" dirty="0">
              <a:latin typeface="Tw Cen MT" panose="020B0602020104020603" pitchFamily="34" charset="0"/>
            </a:endParaRPr>
          </a:p>
        </p:txBody>
      </p:sp>
      <p:sp>
        <p:nvSpPr>
          <p:cNvPr id="10" name="Text 8"/>
          <p:cNvSpPr/>
          <p:nvPr/>
        </p:nvSpPr>
        <p:spPr>
          <a:xfrm>
            <a:off x="393192" y="169164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Dos funciones: informar al empleado y determinar premios/castigos.</a:t>
            </a:r>
            <a:endParaRPr lang="en-US" dirty="0">
              <a:latin typeface="Tw Cen MT" panose="020B0602020104020603" pitchFamily="34" charset="0"/>
            </a:endParaRPr>
          </a:p>
        </p:txBody>
      </p:sp>
      <p:sp>
        <p:nvSpPr>
          <p:cNvPr id="11" name="Text 9"/>
          <p:cNvSpPr/>
          <p:nvPr/>
        </p:nvSpPr>
        <p:spPr>
          <a:xfrm>
            <a:off x="393192" y="315468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Validez, fiabilidad, costos y equidad como criterios de eficacia.</a:t>
            </a:r>
            <a:endParaRPr lang="en-US" dirty="0">
              <a:latin typeface="Tw Cen MT" panose="020B0602020104020603" pitchFamily="34" charset="0"/>
            </a:endParaRPr>
          </a:p>
        </p:txBody>
      </p:sp>
      <p:sp>
        <p:nvSpPr>
          <p:cNvPr id="12" name="Text 10"/>
          <p:cNvSpPr/>
          <p:nvPr/>
        </p:nvSpPr>
        <p:spPr>
          <a:xfrm>
            <a:off x="393192" y="461772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Tendencia a sistemas más complejos, activos y con seguimiento.</a:t>
            </a:r>
            <a:endParaRPr lang="en-US" dirty="0">
              <a:latin typeface="Tw Cen MT" panose="020B0602020104020603" pitchFamily="34" charset="0"/>
            </a:endParaRPr>
          </a:p>
        </p:txBody>
      </p:sp>
      <p:sp>
        <p:nvSpPr>
          <p:cNvPr id="13" name="Shape 11"/>
          <p:cNvSpPr/>
          <p:nvPr/>
        </p:nvSpPr>
        <p:spPr>
          <a:xfrm>
            <a:off x="3127248" y="1005840"/>
            <a:ext cx="2651760" cy="5349240"/>
          </a:xfrm>
          <a:prstGeom prst="rect">
            <a:avLst/>
          </a:prstGeom>
          <a:solidFill>
            <a:srgbClr val="1E3060"/>
          </a:solidFill>
          <a:ln w="19050">
            <a:solidFill>
              <a:srgbClr val="B8860B"/>
            </a:solidFill>
            <a:prstDash val="solid"/>
          </a:ln>
        </p:spPr>
        <p:txBody>
          <a:bodyPr/>
          <a:lstStyle/>
          <a:p>
            <a:endParaRPr lang="en-US">
              <a:latin typeface="Tw Cen MT" panose="020B0602020104020603" pitchFamily="34" charset="0"/>
            </a:endParaRPr>
          </a:p>
        </p:txBody>
      </p:sp>
      <p:sp>
        <p:nvSpPr>
          <p:cNvPr id="14" name="Shape 12"/>
          <p:cNvSpPr/>
          <p:nvPr/>
        </p:nvSpPr>
        <p:spPr>
          <a:xfrm>
            <a:off x="3127248" y="1005840"/>
            <a:ext cx="2651760" cy="548640"/>
          </a:xfrm>
          <a:prstGeom prst="rect">
            <a:avLst/>
          </a:prstGeom>
          <a:solidFill>
            <a:srgbClr val="B8860B"/>
          </a:solidFill>
          <a:ln w="12700">
            <a:solidFill>
              <a:srgbClr val="B8860B"/>
            </a:solidFill>
            <a:prstDash val="solid"/>
          </a:ln>
        </p:spPr>
        <p:txBody>
          <a:bodyPr/>
          <a:lstStyle/>
          <a:p>
            <a:endParaRPr lang="en-US">
              <a:latin typeface="Tw Cen MT" panose="020B0602020104020603" pitchFamily="34" charset="0"/>
            </a:endParaRPr>
          </a:p>
        </p:txBody>
      </p:sp>
      <p:sp>
        <p:nvSpPr>
          <p:cNvPr id="15" name="Text 13"/>
          <p:cNvSpPr/>
          <p:nvPr/>
        </p:nvSpPr>
        <p:spPr>
          <a:xfrm>
            <a:off x="3172968" y="1005840"/>
            <a:ext cx="2560320" cy="548640"/>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MODELOS Y COSTOS</a:t>
            </a:r>
            <a:endParaRPr lang="en-US" dirty="0">
              <a:latin typeface="Tw Cen MT" panose="020B0602020104020603" pitchFamily="34" charset="0"/>
            </a:endParaRPr>
          </a:p>
        </p:txBody>
      </p:sp>
      <p:sp>
        <p:nvSpPr>
          <p:cNvPr id="16" name="Text 14"/>
          <p:cNvSpPr/>
          <p:nvPr/>
        </p:nvSpPr>
        <p:spPr>
          <a:xfrm>
            <a:off x="3264408" y="169164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Modelo de Holmström (1979): trade-off entre incentivos y riesgo.</a:t>
            </a:r>
            <a:endParaRPr lang="en-US" dirty="0">
              <a:latin typeface="Tw Cen MT" panose="020B0602020104020603" pitchFamily="34" charset="0"/>
            </a:endParaRPr>
          </a:p>
        </p:txBody>
      </p:sp>
      <p:sp>
        <p:nvSpPr>
          <p:cNvPr id="17" name="Text 15"/>
          <p:cNvSpPr/>
          <p:nvPr/>
        </p:nvSpPr>
        <p:spPr>
          <a:xfrm>
            <a:off x="3264408" y="315468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Efecto trinquete: moderar el esfuerzo como respuesta racional.</a:t>
            </a:r>
            <a:endParaRPr lang="en-US" dirty="0">
              <a:latin typeface="Tw Cen MT" panose="020B0602020104020603" pitchFamily="34" charset="0"/>
            </a:endParaRPr>
          </a:p>
        </p:txBody>
      </p:sp>
      <p:sp>
        <p:nvSpPr>
          <p:cNvPr id="18" name="Text 16"/>
          <p:cNvSpPr/>
          <p:nvPr/>
        </p:nvSpPr>
        <p:spPr>
          <a:xfrm>
            <a:off x="3264408" y="461772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Barzel (1982): el costo de medir define qué se mide y cómo.</a:t>
            </a:r>
            <a:endParaRPr lang="en-US" dirty="0">
              <a:latin typeface="Tw Cen MT" panose="020B0602020104020603" pitchFamily="34" charset="0"/>
            </a:endParaRPr>
          </a:p>
        </p:txBody>
      </p:sp>
      <p:sp>
        <p:nvSpPr>
          <p:cNvPr id="19" name="Shape 17"/>
          <p:cNvSpPr/>
          <p:nvPr/>
        </p:nvSpPr>
        <p:spPr>
          <a:xfrm>
            <a:off x="5989320" y="1005840"/>
            <a:ext cx="2651760" cy="5349240"/>
          </a:xfrm>
          <a:prstGeom prst="rect">
            <a:avLst/>
          </a:prstGeom>
          <a:solidFill>
            <a:srgbClr val="1E3060"/>
          </a:solidFill>
          <a:ln w="19050">
            <a:solidFill>
              <a:srgbClr val="1B4332"/>
            </a:solidFill>
            <a:prstDash val="solid"/>
          </a:ln>
        </p:spPr>
        <p:txBody>
          <a:bodyPr/>
          <a:lstStyle/>
          <a:p>
            <a:endParaRPr lang="en-US">
              <a:latin typeface="Tw Cen MT" panose="020B0602020104020603" pitchFamily="34" charset="0"/>
            </a:endParaRPr>
          </a:p>
        </p:txBody>
      </p:sp>
      <p:sp>
        <p:nvSpPr>
          <p:cNvPr id="20" name="Shape 18"/>
          <p:cNvSpPr/>
          <p:nvPr/>
        </p:nvSpPr>
        <p:spPr>
          <a:xfrm>
            <a:off x="5989320" y="1005840"/>
            <a:ext cx="2651760" cy="548640"/>
          </a:xfrm>
          <a:prstGeom prst="rect">
            <a:avLst/>
          </a:prstGeom>
          <a:solidFill>
            <a:srgbClr val="1B4332"/>
          </a:solidFill>
          <a:ln w="12700">
            <a:solidFill>
              <a:srgbClr val="1B4332"/>
            </a:solidFill>
            <a:prstDash val="solid"/>
          </a:ln>
        </p:spPr>
        <p:txBody>
          <a:bodyPr/>
          <a:lstStyle/>
          <a:p>
            <a:endParaRPr lang="en-US">
              <a:latin typeface="Tw Cen MT" panose="020B0602020104020603" pitchFamily="34" charset="0"/>
            </a:endParaRPr>
          </a:p>
        </p:txBody>
      </p:sp>
      <p:sp>
        <p:nvSpPr>
          <p:cNvPr id="21" name="Text 19"/>
          <p:cNvSpPr/>
          <p:nvPr/>
        </p:nvSpPr>
        <p:spPr>
          <a:xfrm>
            <a:off x="6035040" y="1005840"/>
            <a:ext cx="2560320" cy="548640"/>
          </a:xfrm>
          <a:prstGeom prst="rect">
            <a:avLst/>
          </a:prstGeom>
          <a:noFill/>
          <a:ln/>
        </p:spPr>
        <p:txBody>
          <a:bodyPr wrap="square" rtlCol="0" anchor="ctr"/>
          <a:lstStyle/>
          <a:p>
            <a:pPr marL="0" indent="0" algn="ctr">
              <a:buNone/>
            </a:pPr>
            <a:r>
              <a:rPr lang="en-US" b="1" dirty="0">
                <a:solidFill>
                  <a:srgbClr val="FFFFFF"/>
                </a:solidFill>
                <a:latin typeface="Tw Cen MT" panose="020B0602020104020603" pitchFamily="34" charset="0"/>
                <a:ea typeface="Tw Cen MT" pitchFamily="34" charset="-122"/>
                <a:cs typeface="Tw Cen MT" pitchFamily="34" charset="-120"/>
              </a:rPr>
              <a:t>EVALUACIÓN Y ORGANIZACIÓN</a:t>
            </a:r>
            <a:endParaRPr lang="en-US" dirty="0">
              <a:latin typeface="Tw Cen MT" panose="020B0602020104020603" pitchFamily="34" charset="0"/>
            </a:endParaRPr>
          </a:p>
        </p:txBody>
      </p:sp>
      <p:sp>
        <p:nvSpPr>
          <p:cNvPr id="22" name="Text 20"/>
          <p:cNvSpPr/>
          <p:nvPr/>
        </p:nvSpPr>
        <p:spPr>
          <a:xfrm>
            <a:off x="6126480" y="169164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Stack ranking: ventajas vs. daño a la cooperación (experimento Muir).</a:t>
            </a:r>
            <a:endParaRPr lang="en-US" dirty="0">
              <a:latin typeface="Tw Cen MT" panose="020B0602020104020603" pitchFamily="34" charset="0"/>
            </a:endParaRPr>
          </a:p>
        </p:txBody>
      </p:sp>
      <p:sp>
        <p:nvSpPr>
          <p:cNvPr id="23" name="Text 21"/>
          <p:cNvSpPr/>
          <p:nvPr/>
        </p:nvSpPr>
        <p:spPr>
          <a:xfrm>
            <a:off x="6126480" y="315468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Evaluación subjetiva: sesgos del evaluador y de la autoevaluación.</a:t>
            </a:r>
            <a:endParaRPr lang="en-US" dirty="0">
              <a:latin typeface="Tw Cen MT" panose="020B0602020104020603" pitchFamily="34" charset="0"/>
            </a:endParaRPr>
          </a:p>
        </p:txBody>
      </p:sp>
      <p:sp>
        <p:nvSpPr>
          <p:cNvPr id="24" name="Text 22"/>
          <p:cNvSpPr/>
          <p:nvPr/>
        </p:nvSpPr>
        <p:spPr>
          <a:xfrm>
            <a:off x="6126480" y="4617720"/>
            <a:ext cx="2377440" cy="1325880"/>
          </a:xfrm>
          <a:prstGeom prst="rect">
            <a:avLst/>
          </a:prstGeom>
          <a:noFill/>
          <a:ln/>
        </p:spPr>
        <p:txBody>
          <a:bodyPr wrap="square" rtlCol="0" anchor="t"/>
          <a:lstStyle/>
          <a:p>
            <a:pPr marL="0" indent="0">
              <a:buNone/>
            </a:pPr>
            <a:r>
              <a:rPr lang="en-US" dirty="0">
                <a:solidFill>
                  <a:srgbClr val="C8D8F0"/>
                </a:solidFill>
                <a:latin typeface="Tw Cen MT" panose="020B0602020104020603" pitchFamily="34" charset="0"/>
                <a:ea typeface="Tw Cen MT" pitchFamily="34" charset="-122"/>
                <a:cs typeface="Tw Cen MT" pitchFamily="34" charset="-120"/>
              </a:rPr>
              <a:t>▸ Precios de transferencia: medir divisiones interdependientes.</a:t>
            </a:r>
            <a:endParaRPr lang="en-US" dirty="0">
              <a:latin typeface="Tw Cen MT" panose="020B06020201040206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6034</Words>
  <Application>Microsoft Office PowerPoint</Application>
  <PresentationFormat>Presentación en pantalla (4:3)</PresentationFormat>
  <Paragraphs>527</Paragraphs>
  <Slides>40</Slides>
  <Notes>40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40</vt:i4>
      </vt:variant>
    </vt:vector>
  </HeadingPairs>
  <TitlesOfParts>
    <vt:vector size="46" baseType="lpstr">
      <vt:lpstr>Aptos</vt:lpstr>
      <vt:lpstr>Arial</vt:lpstr>
      <vt:lpstr>Calibri</vt:lpstr>
      <vt:lpstr>Tw Cen MT</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adriana delle donne</cp:lastModifiedBy>
  <cp:revision>2</cp:revision>
  <dcterms:created xsi:type="dcterms:W3CDTF">2026-04-19T10:15:14Z</dcterms:created>
  <dcterms:modified xsi:type="dcterms:W3CDTF">2026-06-10T19:13:01Z</dcterms:modified>
</cp:coreProperties>
</file>