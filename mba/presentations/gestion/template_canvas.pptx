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775"/>
  </p:normalViewPr>
  <p:slideViewPr>
    <p:cSldViewPr snapToGrid="0" snapToObjects="1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16849-904D-494B-8F56-9F7AD1FAF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DC3F86-58C6-3B40-A562-BE78157FA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6066A9-580B-FA48-B8D8-F3897AD9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23923D-4B90-164E-A24F-7C812971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928072-AC3C-414A-9C01-BE35B34F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283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B809B-5AD8-D64C-B378-34971E18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CCF87C-0C76-CA48-AF27-D8B6B56DE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2B4D9D-3AAC-164F-AC16-96FA5347B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971345-1866-DE4B-8849-A2800FF92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A656C7-26D2-DD48-9024-D741B464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13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F3ADD-8640-ED4C-A782-75717C7D6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A70631-54AA-E246-8449-CEF84EEE3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716491-1D63-E645-9383-AEA72A6A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ECB449-FAA6-CC46-8943-0828B553A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F5D159-2AD5-784D-9217-823DE8EF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773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941E1C-FB93-4645-AD69-8B06A38E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649AB8-6332-7D4C-A92F-63B244753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0A40BA-48A8-2840-B2BA-237EE6E37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FCBBD1-A4A7-C74B-8A41-3B625D1D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5FA383-FBEB-3A40-8F5E-72EEFAF1F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5E216A-2CC8-2A46-8CBE-021D48E4E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0150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71F69-54A0-A842-8F7B-B37F94F4F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E9B514-59D3-A543-82C2-0F63AF228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709785-DBFD-0344-8666-4BB4095AB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F3FFA6-5BDF-0E47-A3B8-843C4FDEB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2303125-307F-9749-98A5-53C91573A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FAC729C-15EA-3545-8DAE-C01BE922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437D731-00EA-A84A-8C07-E15EAAAB2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308079-193C-CA41-8B2C-927952EB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777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A1C02-44AF-F946-A4BE-C67C7F88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3FB4891-9696-B547-BAB9-0909CCE0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259A3F-3728-6045-8577-D39C3AA0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AC0068-B483-BD4E-BB8B-DAB110086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500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526038-21AC-4C4C-891A-4C9A44D0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D077A0C-2C4D-8D40-A398-B3A4473B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89772C-02BF-8B4F-A211-293F01162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0242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210EE-43D6-C648-B6DD-65F0FC70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093A1-52F1-8142-A1AF-91B6A33B5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16EC6C-2408-834D-81F7-FD31D9954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392A1B-58A1-2E4A-B78C-624D1A35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CE05A9-D7B7-CE48-A165-BD9F17F5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944312-5648-F34A-A9D3-AE88D457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327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BD879-3FA9-FF4A-98F7-2FF8306F0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B29C243-F202-B94B-9F99-4D6829933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94F92B-0974-3B44-8F98-7DF2FAC43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F5CE9C-51B9-BD47-8D81-9B5DE14A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2B2EA9-DB4C-2644-9B7C-8B3FC7B63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5BF07-62C8-1442-824D-C7699E9F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0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98FBD-1BBA-1245-B04B-332AFB477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3DCCA3-3A41-DF4A-B8D8-FDE396002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12B998-8EA4-F546-AAD1-5201B985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4E1DD1-0A2D-8540-B52C-20DE3FDD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BF43DB-2B56-2B4C-AA4F-659E7964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190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47DF0C-BA34-C741-8A9F-C9DB5D468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7A1FCA-A357-0541-98DA-0AA5C3C3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710104-C54E-D94F-B33E-AF4985FD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5F92B8-1C32-794D-8D89-52ADE9253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4F422D-6826-8D4C-891F-C16C3080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433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CB89E6E-8230-8B49-AC7B-C7F0F4C2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901912-8602-4144-9E27-C8C6DA91E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20E65B-C37E-B44E-A477-9A9B523A4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A1BAF-F87C-7044-8943-D9091DFD61A9}" type="datetimeFigureOut">
              <a:rPr lang="es-ES" smtClean="0"/>
              <a:t>17/07/2021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BC5BA9-12DD-1B48-81C5-3562FCB2F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D92F66-22A0-F148-994A-E202F9845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0C5A3-6E42-B24D-8779-243927EDC52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2627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upo 62">
            <a:extLst>
              <a:ext uri="{FF2B5EF4-FFF2-40B4-BE49-F238E27FC236}">
                <a16:creationId xmlns:a16="http://schemas.microsoft.com/office/drawing/2014/main" id="{0C3A19B4-406E-4E2F-BA75-2B768D15E7EC}"/>
              </a:ext>
            </a:extLst>
          </p:cNvPr>
          <p:cNvGrpSpPr/>
          <p:nvPr/>
        </p:nvGrpSpPr>
        <p:grpSpPr>
          <a:xfrm>
            <a:off x="112542" y="98474"/>
            <a:ext cx="11966916" cy="6759526"/>
            <a:chOff x="112542" y="98474"/>
            <a:chExt cx="11966916" cy="6759526"/>
          </a:xfrm>
        </p:grpSpPr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0B5D93F1-246A-43F5-AFAB-68B17B3191A3}"/>
                </a:ext>
              </a:extLst>
            </p:cNvPr>
            <p:cNvGrpSpPr/>
            <p:nvPr/>
          </p:nvGrpSpPr>
          <p:grpSpPr>
            <a:xfrm>
              <a:off x="112542" y="98474"/>
              <a:ext cx="11966916" cy="6759526"/>
              <a:chOff x="267287" y="-11575"/>
              <a:chExt cx="11690430" cy="6870195"/>
            </a:xfrm>
          </p:grpSpPr>
          <p:grpSp>
            <p:nvGrpSpPr>
              <p:cNvPr id="73" name="Grupo 72">
                <a:extLst>
                  <a:ext uri="{FF2B5EF4-FFF2-40B4-BE49-F238E27FC236}">
                    <a16:creationId xmlns:a16="http://schemas.microsoft.com/office/drawing/2014/main" id="{4135B04B-7BD7-4D2F-A444-037526BBD52D}"/>
                  </a:ext>
                </a:extLst>
              </p:cNvPr>
              <p:cNvGrpSpPr/>
              <p:nvPr/>
            </p:nvGrpSpPr>
            <p:grpSpPr>
              <a:xfrm>
                <a:off x="267287" y="-11575"/>
                <a:ext cx="2338086" cy="5000263"/>
                <a:chOff x="0" y="-11575"/>
                <a:chExt cx="2338086" cy="5000263"/>
              </a:xfrm>
            </p:grpSpPr>
            <p:sp>
              <p:nvSpPr>
                <p:cNvPr id="118" name="Rectángulo 117">
                  <a:extLst>
                    <a:ext uri="{FF2B5EF4-FFF2-40B4-BE49-F238E27FC236}">
                      <a16:creationId xmlns:a16="http://schemas.microsoft.com/office/drawing/2014/main" id="{F5397B8B-89ED-41DE-92A1-65124A0C869E}"/>
                    </a:ext>
                  </a:extLst>
                </p:cNvPr>
                <p:cNvSpPr/>
                <p:nvPr/>
              </p:nvSpPr>
              <p:spPr>
                <a:xfrm>
                  <a:off x="0" y="-11575"/>
                  <a:ext cx="2338086" cy="5000263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9" name="CuadroTexto 118">
                  <a:extLst>
                    <a:ext uri="{FF2B5EF4-FFF2-40B4-BE49-F238E27FC236}">
                      <a16:creationId xmlns:a16="http://schemas.microsoft.com/office/drawing/2014/main" id="{4AAC33F5-D60F-4888-A7B1-96F2E9C26BC0}"/>
                    </a:ext>
                  </a:extLst>
                </p:cNvPr>
                <p:cNvSpPr txBox="1"/>
                <p:nvPr/>
              </p:nvSpPr>
              <p:spPr>
                <a:xfrm>
                  <a:off x="88109" y="97886"/>
                  <a:ext cx="13773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i="1" dirty="0"/>
                    <a:t>Socios Clave</a:t>
                  </a:r>
                </a:p>
              </p:txBody>
            </p:sp>
            <p:sp>
              <p:nvSpPr>
                <p:cNvPr id="120" name="CuadroTexto 119">
                  <a:extLst>
                    <a:ext uri="{FF2B5EF4-FFF2-40B4-BE49-F238E27FC236}">
                      <a16:creationId xmlns:a16="http://schemas.microsoft.com/office/drawing/2014/main" id="{63321516-19B5-4396-B385-583E3FE6EFD6}"/>
                    </a:ext>
                  </a:extLst>
                </p:cNvPr>
                <p:cNvSpPr txBox="1"/>
                <p:nvPr/>
              </p:nvSpPr>
              <p:spPr>
                <a:xfrm>
                  <a:off x="112843" y="467218"/>
                  <a:ext cx="1954844" cy="15953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¿Quienes son nuestros socios clave?</a:t>
                  </a:r>
                </a:p>
                <a:p>
                  <a:r>
                    <a:rPr lang="es-ES" sz="1200" i="1" dirty="0"/>
                    <a:t>¿Quiénes son nuestros proveedores clave?</a:t>
                  </a:r>
                </a:p>
                <a:p>
                  <a:r>
                    <a:rPr lang="es-ES" sz="1200" i="1" dirty="0"/>
                    <a:t>¿qué actividades clave realizan los socios, actores con los que se relaciona la organización?</a:t>
                  </a:r>
                </a:p>
              </p:txBody>
            </p:sp>
            <p:pic>
              <p:nvPicPr>
                <p:cNvPr id="121" name="Gráfico 120" descr="Anillos de boda">
                  <a:extLst>
                    <a:ext uri="{FF2B5EF4-FFF2-40B4-BE49-F238E27FC236}">
                      <a16:creationId xmlns:a16="http://schemas.microsoft.com/office/drawing/2014/main" id="{809B63AD-05C5-4E7E-954A-F906504217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0265" y="26124"/>
                  <a:ext cx="628753" cy="628753"/>
                </a:xfrm>
                <a:prstGeom prst="rect">
                  <a:avLst/>
                </a:prstGeom>
              </p:spPr>
            </p:pic>
          </p:grpSp>
          <p:grpSp>
            <p:nvGrpSpPr>
              <p:cNvPr id="74" name="Grupo 73">
                <a:extLst>
                  <a:ext uri="{FF2B5EF4-FFF2-40B4-BE49-F238E27FC236}">
                    <a16:creationId xmlns:a16="http://schemas.microsoft.com/office/drawing/2014/main" id="{0AE19701-BA60-4010-8CED-93B9F9DA0E92}"/>
                  </a:ext>
                </a:extLst>
              </p:cNvPr>
              <p:cNvGrpSpPr/>
              <p:nvPr/>
            </p:nvGrpSpPr>
            <p:grpSpPr>
              <a:xfrm>
                <a:off x="2605373" y="-11575"/>
                <a:ext cx="2338086" cy="2488557"/>
                <a:chOff x="2338086" y="-11575"/>
                <a:chExt cx="2338086" cy="2488557"/>
              </a:xfrm>
            </p:grpSpPr>
            <p:sp>
              <p:nvSpPr>
                <p:cNvPr id="114" name="Rectángulo 113">
                  <a:extLst>
                    <a:ext uri="{FF2B5EF4-FFF2-40B4-BE49-F238E27FC236}">
                      <a16:creationId xmlns:a16="http://schemas.microsoft.com/office/drawing/2014/main" id="{17B77274-0674-42C3-A7A5-15F966D5108A}"/>
                    </a:ext>
                  </a:extLst>
                </p:cNvPr>
                <p:cNvSpPr/>
                <p:nvPr/>
              </p:nvSpPr>
              <p:spPr>
                <a:xfrm>
                  <a:off x="2338086" y="-11575"/>
                  <a:ext cx="2338086" cy="2488557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5" name="CuadroTexto 114">
                  <a:extLst>
                    <a:ext uri="{FF2B5EF4-FFF2-40B4-BE49-F238E27FC236}">
                      <a16:creationId xmlns:a16="http://schemas.microsoft.com/office/drawing/2014/main" id="{DF35949F-A1F3-4769-B407-D768092588E9}"/>
                    </a:ext>
                  </a:extLst>
                </p:cNvPr>
                <p:cNvSpPr txBox="1"/>
                <p:nvPr/>
              </p:nvSpPr>
              <p:spPr>
                <a:xfrm>
                  <a:off x="2426195" y="97886"/>
                  <a:ext cx="189146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i="1" dirty="0"/>
                    <a:t>Actividades clave</a:t>
                  </a:r>
                </a:p>
              </p:txBody>
            </p:sp>
            <p:sp>
              <p:nvSpPr>
                <p:cNvPr id="116" name="CuadroTexto 115">
                  <a:extLst>
                    <a:ext uri="{FF2B5EF4-FFF2-40B4-BE49-F238E27FC236}">
                      <a16:creationId xmlns:a16="http://schemas.microsoft.com/office/drawing/2014/main" id="{E006AD75-1D4E-47D7-9785-E58BE1568DBD}"/>
                    </a:ext>
                  </a:extLst>
                </p:cNvPr>
                <p:cNvSpPr txBox="1"/>
                <p:nvPr/>
              </p:nvSpPr>
              <p:spPr>
                <a:xfrm>
                  <a:off x="2396893" y="463900"/>
                  <a:ext cx="2188704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¿qué actividades clave requiere nuestra propuesta de valor?</a:t>
                  </a:r>
                </a:p>
                <a:p>
                  <a:r>
                    <a:rPr lang="es-ES" sz="1200" i="1" dirty="0"/>
                    <a:t>¿nuestros canales de distribución?</a:t>
                  </a:r>
                </a:p>
                <a:p>
                  <a:r>
                    <a:rPr lang="es-ES" sz="1200" i="1" dirty="0"/>
                    <a:t>¿nuestras relaciones con clientes?</a:t>
                  </a:r>
                </a:p>
                <a:p>
                  <a:r>
                    <a:rPr lang="es-ES" sz="1200" i="1" dirty="0"/>
                    <a:t>¿nuestras fuentes de ingresos?</a:t>
                  </a:r>
                </a:p>
              </p:txBody>
            </p:sp>
            <p:pic>
              <p:nvPicPr>
                <p:cNvPr id="117" name="Gráfico 116" descr="Trabajo">
                  <a:extLst>
                    <a:ext uri="{FF2B5EF4-FFF2-40B4-BE49-F238E27FC236}">
                      <a16:creationId xmlns:a16="http://schemas.microsoft.com/office/drawing/2014/main" id="{39B37A4C-5F1A-467C-AC33-5D3D01FB21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67151" y="139941"/>
                  <a:ext cx="387818" cy="387818"/>
                </a:xfrm>
                <a:prstGeom prst="rect">
                  <a:avLst/>
                </a:prstGeom>
              </p:spPr>
            </p:pic>
          </p:grpSp>
          <p:grpSp>
            <p:nvGrpSpPr>
              <p:cNvPr id="75" name="Grupo 74">
                <a:extLst>
                  <a:ext uri="{FF2B5EF4-FFF2-40B4-BE49-F238E27FC236}">
                    <a16:creationId xmlns:a16="http://schemas.microsoft.com/office/drawing/2014/main" id="{E2E0E4C8-8A5C-49D9-99BC-9A6443224B5B}"/>
                  </a:ext>
                </a:extLst>
              </p:cNvPr>
              <p:cNvGrpSpPr/>
              <p:nvPr/>
            </p:nvGrpSpPr>
            <p:grpSpPr>
              <a:xfrm>
                <a:off x="2605373" y="2500131"/>
                <a:ext cx="2338086" cy="2488557"/>
                <a:chOff x="2338086" y="2500131"/>
                <a:chExt cx="2338086" cy="2488557"/>
              </a:xfrm>
            </p:grpSpPr>
            <p:sp>
              <p:nvSpPr>
                <p:cNvPr id="111" name="Rectángulo 110">
                  <a:extLst>
                    <a:ext uri="{FF2B5EF4-FFF2-40B4-BE49-F238E27FC236}">
                      <a16:creationId xmlns:a16="http://schemas.microsoft.com/office/drawing/2014/main" id="{C6F07F2B-93BE-4FB3-B481-2A336BAB3D96}"/>
                    </a:ext>
                  </a:extLst>
                </p:cNvPr>
                <p:cNvSpPr/>
                <p:nvPr/>
              </p:nvSpPr>
              <p:spPr>
                <a:xfrm>
                  <a:off x="2338086" y="2500131"/>
                  <a:ext cx="2338086" cy="2488557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12" name="CuadroTexto 111">
                  <a:extLst>
                    <a:ext uri="{FF2B5EF4-FFF2-40B4-BE49-F238E27FC236}">
                      <a16:creationId xmlns:a16="http://schemas.microsoft.com/office/drawing/2014/main" id="{A04114CD-1622-43BD-8C29-9DB91EF6479F}"/>
                    </a:ext>
                  </a:extLst>
                </p:cNvPr>
                <p:cNvSpPr txBox="1"/>
                <p:nvPr/>
              </p:nvSpPr>
              <p:spPr>
                <a:xfrm>
                  <a:off x="2396893" y="2539175"/>
                  <a:ext cx="21000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i="1" dirty="0"/>
                    <a:t>Recursos clave</a:t>
                  </a:r>
                </a:p>
              </p:txBody>
            </p:sp>
            <p:sp>
              <p:nvSpPr>
                <p:cNvPr id="113" name="CuadroTexto 112">
                  <a:extLst>
                    <a:ext uri="{FF2B5EF4-FFF2-40B4-BE49-F238E27FC236}">
                      <a16:creationId xmlns:a16="http://schemas.microsoft.com/office/drawing/2014/main" id="{BFA19BDD-2559-4E57-A3AB-52EF3BC4F662}"/>
                    </a:ext>
                  </a:extLst>
                </p:cNvPr>
                <p:cNvSpPr txBox="1"/>
                <p:nvPr/>
              </p:nvSpPr>
              <p:spPr>
                <a:xfrm>
                  <a:off x="2396893" y="2876810"/>
                  <a:ext cx="2188704" cy="12199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¿qué recursos clave requiere nuestra propuesta de valor?</a:t>
                  </a:r>
                </a:p>
                <a:p>
                  <a:r>
                    <a:rPr lang="es-ES" sz="1200" i="1" dirty="0"/>
                    <a:t>¿qué </a:t>
                  </a:r>
                  <a:r>
                    <a:rPr lang="es-ES" sz="1200" i="1"/>
                    <a:t>recursos materiales, </a:t>
                  </a:r>
                  <a:r>
                    <a:rPr lang="es-ES" sz="1200" i="1" dirty="0"/>
                    <a:t>humanos, financieros necesitamos para entregar la propuesta de valor?</a:t>
                  </a:r>
                </a:p>
              </p:txBody>
            </p:sp>
          </p:grpSp>
          <p:grpSp>
            <p:nvGrpSpPr>
              <p:cNvPr id="76" name="Grupo 75">
                <a:extLst>
                  <a:ext uri="{FF2B5EF4-FFF2-40B4-BE49-F238E27FC236}">
                    <a16:creationId xmlns:a16="http://schemas.microsoft.com/office/drawing/2014/main" id="{B450C741-E2B5-4366-9702-E2895FE78B40}"/>
                  </a:ext>
                </a:extLst>
              </p:cNvPr>
              <p:cNvGrpSpPr/>
              <p:nvPr/>
            </p:nvGrpSpPr>
            <p:grpSpPr>
              <a:xfrm>
                <a:off x="4943459" y="-11575"/>
                <a:ext cx="2338086" cy="5000263"/>
                <a:chOff x="4676172" y="-11575"/>
                <a:chExt cx="2338086" cy="5000263"/>
              </a:xfrm>
            </p:grpSpPr>
            <p:sp>
              <p:nvSpPr>
                <p:cNvPr id="107" name="Rectángulo 106">
                  <a:extLst>
                    <a:ext uri="{FF2B5EF4-FFF2-40B4-BE49-F238E27FC236}">
                      <a16:creationId xmlns:a16="http://schemas.microsoft.com/office/drawing/2014/main" id="{232E8748-6889-49CF-BECE-0E05F6096579}"/>
                    </a:ext>
                  </a:extLst>
                </p:cNvPr>
                <p:cNvSpPr/>
                <p:nvPr/>
              </p:nvSpPr>
              <p:spPr>
                <a:xfrm>
                  <a:off x="4676172" y="-11575"/>
                  <a:ext cx="2338086" cy="5000263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8" name="CuadroTexto 107">
                  <a:extLst>
                    <a:ext uri="{FF2B5EF4-FFF2-40B4-BE49-F238E27FC236}">
                      <a16:creationId xmlns:a16="http://schemas.microsoft.com/office/drawing/2014/main" id="{68E997F4-1DF3-496D-8938-ECB5BC8AE73C}"/>
                    </a:ext>
                  </a:extLst>
                </p:cNvPr>
                <p:cNvSpPr txBox="1"/>
                <p:nvPr/>
              </p:nvSpPr>
              <p:spPr>
                <a:xfrm>
                  <a:off x="4787328" y="2557149"/>
                  <a:ext cx="21000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i="1" dirty="0"/>
                    <a:t>Propuesta de valor</a:t>
                  </a:r>
                </a:p>
              </p:txBody>
            </p:sp>
            <p:sp>
              <p:nvSpPr>
                <p:cNvPr id="109" name="CuadroTexto 108">
                  <a:extLst>
                    <a:ext uri="{FF2B5EF4-FFF2-40B4-BE49-F238E27FC236}">
                      <a16:creationId xmlns:a16="http://schemas.microsoft.com/office/drawing/2014/main" id="{D2DB799D-6425-41CA-8959-1C9897B4B601}"/>
                    </a:ext>
                  </a:extLst>
                </p:cNvPr>
                <p:cNvSpPr txBox="1"/>
                <p:nvPr/>
              </p:nvSpPr>
              <p:spPr>
                <a:xfrm>
                  <a:off x="4774189" y="2923163"/>
                  <a:ext cx="2188704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¿qué valor entregamos al cliente?</a:t>
                  </a:r>
                </a:p>
                <a:p>
                  <a:r>
                    <a:rPr lang="es-ES" sz="1200" i="1" dirty="0"/>
                    <a:t>¿Cuál de los problemas de nuestro cliente vamos a ayudarle a resolver?</a:t>
                  </a:r>
                </a:p>
                <a:p>
                  <a:r>
                    <a:rPr lang="es-ES" sz="1200" i="1" dirty="0"/>
                    <a:t>¿qué paquetes de productos y servicios ofrecemos a cada segmento de cliente?</a:t>
                  </a:r>
                </a:p>
                <a:p>
                  <a:r>
                    <a:rPr lang="es-ES" sz="1200" i="1" dirty="0"/>
                    <a:t>¿qué necesidades del cliente estamos satisfaciendo? </a:t>
                  </a:r>
                </a:p>
              </p:txBody>
            </p:sp>
            <p:pic>
              <p:nvPicPr>
                <p:cNvPr id="110" name="Gráfico 109" descr="Regalo">
                  <a:extLst>
                    <a:ext uri="{FF2B5EF4-FFF2-40B4-BE49-F238E27FC236}">
                      <a16:creationId xmlns:a16="http://schemas.microsoft.com/office/drawing/2014/main" id="{254BDE25-C278-45E4-859B-59F64CE5D1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44808" y="2676859"/>
                  <a:ext cx="549420" cy="549420"/>
                </a:xfrm>
                <a:prstGeom prst="rect">
                  <a:avLst/>
                </a:prstGeom>
              </p:spPr>
            </p:pic>
          </p:grpSp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1BF1B754-9089-412C-9F55-239F23C9F3E7}"/>
                  </a:ext>
                </a:extLst>
              </p:cNvPr>
              <p:cNvGrpSpPr/>
              <p:nvPr/>
            </p:nvGrpSpPr>
            <p:grpSpPr>
              <a:xfrm>
                <a:off x="7281545" y="-11575"/>
                <a:ext cx="2354929" cy="2488557"/>
                <a:chOff x="7014258" y="-11575"/>
                <a:chExt cx="2354929" cy="2488557"/>
              </a:xfrm>
            </p:grpSpPr>
            <p:sp>
              <p:nvSpPr>
                <p:cNvPr id="103" name="Rectángulo 102">
                  <a:extLst>
                    <a:ext uri="{FF2B5EF4-FFF2-40B4-BE49-F238E27FC236}">
                      <a16:creationId xmlns:a16="http://schemas.microsoft.com/office/drawing/2014/main" id="{B15ECCE7-3B27-486B-8A94-1FCDA198AE0B}"/>
                    </a:ext>
                  </a:extLst>
                </p:cNvPr>
                <p:cNvSpPr/>
                <p:nvPr/>
              </p:nvSpPr>
              <p:spPr>
                <a:xfrm>
                  <a:off x="7014258" y="-11575"/>
                  <a:ext cx="2338086" cy="2488557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4" name="CuadroTexto 103">
                  <a:extLst>
                    <a:ext uri="{FF2B5EF4-FFF2-40B4-BE49-F238E27FC236}">
                      <a16:creationId xmlns:a16="http://schemas.microsoft.com/office/drawing/2014/main" id="{F661B846-DEBC-4CE3-8A7D-46390F91207D}"/>
                    </a:ext>
                  </a:extLst>
                </p:cNvPr>
                <p:cNvSpPr txBox="1"/>
                <p:nvPr/>
              </p:nvSpPr>
              <p:spPr>
                <a:xfrm>
                  <a:off x="7026740" y="97886"/>
                  <a:ext cx="2262024" cy="3440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600" i="1" dirty="0"/>
                    <a:t>Relaciones</a:t>
                  </a:r>
                </a:p>
              </p:txBody>
            </p:sp>
            <p:sp>
              <p:nvSpPr>
                <p:cNvPr id="105" name="CuadroTexto 104">
                  <a:extLst>
                    <a:ext uri="{FF2B5EF4-FFF2-40B4-BE49-F238E27FC236}">
                      <a16:creationId xmlns:a16="http://schemas.microsoft.com/office/drawing/2014/main" id="{7EE60887-88E7-4515-B39E-D58E1BC8948B}"/>
                    </a:ext>
                  </a:extLst>
                </p:cNvPr>
                <p:cNvSpPr txBox="1"/>
                <p:nvPr/>
              </p:nvSpPr>
              <p:spPr>
                <a:xfrm>
                  <a:off x="7038301" y="458994"/>
                  <a:ext cx="2188704" cy="17830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¿qué tipo de relación espera que establezcamos y mantengamos cada uno de nuestros segmentos de cliente y </a:t>
                  </a:r>
                  <a:r>
                    <a:rPr lang="es-ES" sz="1200" i="1"/>
                    <a:t>la comunidad?</a:t>
                  </a:r>
                  <a:endParaRPr lang="es-ES" sz="1200" i="1" dirty="0"/>
                </a:p>
                <a:p>
                  <a:r>
                    <a:rPr lang="es-ES" sz="1200" i="1" dirty="0"/>
                    <a:t>¿Cuáles hemos establecido?</a:t>
                  </a:r>
                </a:p>
                <a:p>
                  <a:r>
                    <a:rPr lang="es-ES" sz="1200" i="1" dirty="0"/>
                    <a:t>¿cómo están integrados con el resto de nuestro modelo de negocio?</a:t>
                  </a:r>
                </a:p>
                <a:p>
                  <a:r>
                    <a:rPr lang="es-ES" sz="1200" i="1" dirty="0"/>
                    <a:t>¿cuánto cuestan?</a:t>
                  </a:r>
                </a:p>
              </p:txBody>
            </p:sp>
            <p:pic>
              <p:nvPicPr>
                <p:cNvPr id="106" name="Gráfico 105" descr="Insignia de corazón">
                  <a:extLst>
                    <a:ext uri="{FF2B5EF4-FFF2-40B4-BE49-F238E27FC236}">
                      <a16:creationId xmlns:a16="http://schemas.microsoft.com/office/drawing/2014/main" id="{F6E250C7-AC2B-43A3-AB07-EC7D8CA95F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49632" y="136064"/>
                  <a:ext cx="519555" cy="519555"/>
                </a:xfrm>
                <a:prstGeom prst="rect">
                  <a:avLst/>
                </a:prstGeom>
              </p:spPr>
            </p:pic>
          </p:grpSp>
          <p:grpSp>
            <p:nvGrpSpPr>
              <p:cNvPr id="78" name="Grupo 77">
                <a:extLst>
                  <a:ext uri="{FF2B5EF4-FFF2-40B4-BE49-F238E27FC236}">
                    <a16:creationId xmlns:a16="http://schemas.microsoft.com/office/drawing/2014/main" id="{E9D2BB2F-A9DE-48E1-8813-E16B959443D1}"/>
                  </a:ext>
                </a:extLst>
              </p:cNvPr>
              <p:cNvGrpSpPr/>
              <p:nvPr/>
            </p:nvGrpSpPr>
            <p:grpSpPr>
              <a:xfrm>
                <a:off x="7281545" y="2420841"/>
                <a:ext cx="2338086" cy="2579627"/>
                <a:chOff x="7014258" y="2420841"/>
                <a:chExt cx="2338086" cy="2579627"/>
              </a:xfrm>
            </p:grpSpPr>
            <p:sp>
              <p:nvSpPr>
                <p:cNvPr id="99" name="Rectángulo 98">
                  <a:extLst>
                    <a:ext uri="{FF2B5EF4-FFF2-40B4-BE49-F238E27FC236}">
                      <a16:creationId xmlns:a16="http://schemas.microsoft.com/office/drawing/2014/main" id="{9DF8E637-B545-4347-BF9B-35EC716E90B9}"/>
                    </a:ext>
                  </a:extLst>
                </p:cNvPr>
                <p:cNvSpPr/>
                <p:nvPr/>
              </p:nvSpPr>
              <p:spPr>
                <a:xfrm>
                  <a:off x="7014258" y="2500131"/>
                  <a:ext cx="2338086" cy="2488557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00" name="CuadroTexto 99">
                  <a:extLst>
                    <a:ext uri="{FF2B5EF4-FFF2-40B4-BE49-F238E27FC236}">
                      <a16:creationId xmlns:a16="http://schemas.microsoft.com/office/drawing/2014/main" id="{F3EFF14F-4D9B-470E-974F-3DAD1A7B6352}"/>
                    </a:ext>
                  </a:extLst>
                </p:cNvPr>
                <p:cNvSpPr txBox="1"/>
                <p:nvPr/>
              </p:nvSpPr>
              <p:spPr>
                <a:xfrm>
                  <a:off x="7026740" y="2539175"/>
                  <a:ext cx="21000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i="1" dirty="0"/>
                    <a:t>Canales</a:t>
                  </a:r>
                </a:p>
              </p:txBody>
            </p:sp>
            <p:sp>
              <p:nvSpPr>
                <p:cNvPr id="101" name="CuadroTexto 100">
                  <a:extLst>
                    <a:ext uri="{FF2B5EF4-FFF2-40B4-BE49-F238E27FC236}">
                      <a16:creationId xmlns:a16="http://schemas.microsoft.com/office/drawing/2014/main" id="{12440371-B321-4721-B7CB-8F78D17D7970}"/>
                    </a:ext>
                  </a:extLst>
                </p:cNvPr>
                <p:cNvSpPr txBox="1"/>
                <p:nvPr/>
              </p:nvSpPr>
              <p:spPr>
                <a:xfrm>
                  <a:off x="7014258" y="2876810"/>
                  <a:ext cx="2188704" cy="2123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¿a través de qué canales quieren ser contactados nuestros segmentos de cliente?</a:t>
                  </a:r>
                </a:p>
                <a:p>
                  <a:r>
                    <a:rPr lang="es-ES" sz="1200" i="1" dirty="0"/>
                    <a:t>¿cómo les contactamos ahora?</a:t>
                  </a:r>
                </a:p>
                <a:p>
                  <a:r>
                    <a:rPr lang="es-ES" sz="1200" i="1" dirty="0"/>
                    <a:t>¿cómo están integrados nuestros canales?</a:t>
                  </a:r>
                </a:p>
                <a:p>
                  <a:r>
                    <a:rPr lang="es-ES" sz="1200" i="1" dirty="0"/>
                    <a:t>¿cuáles funcionan mejor?</a:t>
                  </a:r>
                </a:p>
                <a:p>
                  <a:r>
                    <a:rPr lang="es-ES" sz="1200" i="1" dirty="0"/>
                    <a:t>¿cuáles son más eficaces en costes?</a:t>
                  </a:r>
                </a:p>
                <a:p>
                  <a:r>
                    <a:rPr lang="es-ES" sz="1200" i="1" dirty="0"/>
                    <a:t>¿cómo los integramos con las rutinas de cliente?</a:t>
                  </a:r>
                </a:p>
              </p:txBody>
            </p:sp>
            <p:pic>
              <p:nvPicPr>
                <p:cNvPr id="102" name="Gráfico 101" descr="Camión">
                  <a:extLst>
                    <a:ext uri="{FF2B5EF4-FFF2-40B4-BE49-F238E27FC236}">
                      <a16:creationId xmlns:a16="http://schemas.microsoft.com/office/drawing/2014/main" id="{5F6B8387-C817-4934-A2D0-DE6C11CCFF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606095" y="2420841"/>
                  <a:ext cx="683579" cy="683579"/>
                </a:xfrm>
                <a:prstGeom prst="rect">
                  <a:avLst/>
                </a:prstGeom>
              </p:spPr>
            </p:pic>
          </p:grpSp>
          <p:grpSp>
            <p:nvGrpSpPr>
              <p:cNvPr id="79" name="Grupo 78">
                <a:extLst>
                  <a:ext uri="{FF2B5EF4-FFF2-40B4-BE49-F238E27FC236}">
                    <a16:creationId xmlns:a16="http://schemas.microsoft.com/office/drawing/2014/main" id="{58BB5E6F-E474-465D-A825-1CAEB2583F17}"/>
                  </a:ext>
                </a:extLst>
              </p:cNvPr>
              <p:cNvGrpSpPr/>
              <p:nvPr/>
            </p:nvGrpSpPr>
            <p:grpSpPr>
              <a:xfrm>
                <a:off x="9604579" y="-11575"/>
                <a:ext cx="2353138" cy="5000263"/>
                <a:chOff x="9337292" y="-11575"/>
                <a:chExt cx="2353138" cy="5000263"/>
              </a:xfrm>
            </p:grpSpPr>
            <p:sp>
              <p:nvSpPr>
                <p:cNvPr id="95" name="Rectángulo 94">
                  <a:extLst>
                    <a:ext uri="{FF2B5EF4-FFF2-40B4-BE49-F238E27FC236}">
                      <a16:creationId xmlns:a16="http://schemas.microsoft.com/office/drawing/2014/main" id="{1EE0ED5F-B0BF-4FF7-8BD3-5CDECA6EA489}"/>
                    </a:ext>
                  </a:extLst>
                </p:cNvPr>
                <p:cNvSpPr/>
                <p:nvPr/>
              </p:nvSpPr>
              <p:spPr>
                <a:xfrm>
                  <a:off x="9352344" y="-11575"/>
                  <a:ext cx="2338086" cy="5000263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23C21625-1491-4490-A938-406E8F2F290A}"/>
                    </a:ext>
                  </a:extLst>
                </p:cNvPr>
                <p:cNvSpPr txBox="1"/>
                <p:nvPr/>
              </p:nvSpPr>
              <p:spPr>
                <a:xfrm>
                  <a:off x="9352344" y="77885"/>
                  <a:ext cx="210002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600" i="1" dirty="0"/>
                    <a:t>Segmentos de cliente</a:t>
                  </a:r>
                </a:p>
              </p:txBody>
            </p:sp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9C2A4B59-CF95-4B57-9D09-0F3791BEC346}"/>
                    </a:ext>
                  </a:extLst>
                </p:cNvPr>
                <p:cNvSpPr txBox="1"/>
                <p:nvPr/>
              </p:nvSpPr>
              <p:spPr>
                <a:xfrm>
                  <a:off x="9337292" y="471659"/>
                  <a:ext cx="2188704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¿Para quién estamos creando valor?</a:t>
                  </a:r>
                </a:p>
                <a:p>
                  <a:r>
                    <a:rPr lang="es-ES" sz="1200" i="1" dirty="0"/>
                    <a:t>¿quiénes son nuestros clientes más importantes?</a:t>
                  </a:r>
                </a:p>
              </p:txBody>
            </p:sp>
            <p:pic>
              <p:nvPicPr>
                <p:cNvPr id="98" name="Gráfico 97" descr="Corona de usuario hombre">
                  <a:extLst>
                    <a:ext uri="{FF2B5EF4-FFF2-40B4-BE49-F238E27FC236}">
                      <a16:creationId xmlns:a16="http://schemas.microsoft.com/office/drawing/2014/main" id="{55DE3DB0-519E-49E5-93A8-337EA5F292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57532" y="118283"/>
                  <a:ext cx="431133" cy="431133"/>
                </a:xfrm>
                <a:prstGeom prst="rect">
                  <a:avLst/>
                </a:prstGeom>
              </p:spPr>
            </p:pic>
          </p:grpSp>
          <p:grpSp>
            <p:nvGrpSpPr>
              <p:cNvPr id="80" name="Grupo 79">
                <a:extLst>
                  <a:ext uri="{FF2B5EF4-FFF2-40B4-BE49-F238E27FC236}">
                    <a16:creationId xmlns:a16="http://schemas.microsoft.com/office/drawing/2014/main" id="{05F0AE8E-F1B6-4AD6-AED0-CA325DA559FB}"/>
                  </a:ext>
                </a:extLst>
              </p:cNvPr>
              <p:cNvGrpSpPr/>
              <p:nvPr/>
            </p:nvGrpSpPr>
            <p:grpSpPr>
              <a:xfrm>
                <a:off x="267287" y="5000468"/>
                <a:ext cx="3721142" cy="1857532"/>
                <a:chOff x="0" y="5000468"/>
                <a:chExt cx="5768625" cy="1857532"/>
              </a:xfrm>
            </p:grpSpPr>
            <p:sp>
              <p:nvSpPr>
                <p:cNvPr id="91" name="Rectángulo 90">
                  <a:extLst>
                    <a:ext uri="{FF2B5EF4-FFF2-40B4-BE49-F238E27FC236}">
                      <a16:creationId xmlns:a16="http://schemas.microsoft.com/office/drawing/2014/main" id="{B9151EF7-385E-4122-A485-67509FAE7FEB}"/>
                    </a:ext>
                  </a:extLst>
                </p:cNvPr>
                <p:cNvSpPr/>
                <p:nvPr/>
              </p:nvSpPr>
              <p:spPr>
                <a:xfrm>
                  <a:off x="0" y="5000468"/>
                  <a:ext cx="5768625" cy="1857532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92" name="CuadroTexto 91">
                  <a:extLst>
                    <a:ext uri="{FF2B5EF4-FFF2-40B4-BE49-F238E27FC236}">
                      <a16:creationId xmlns:a16="http://schemas.microsoft.com/office/drawing/2014/main" id="{E36C4890-2086-49EC-9016-80668A89C71E}"/>
                    </a:ext>
                  </a:extLst>
                </p:cNvPr>
                <p:cNvSpPr txBox="1"/>
                <p:nvPr/>
              </p:nvSpPr>
              <p:spPr>
                <a:xfrm>
                  <a:off x="88110" y="5052071"/>
                  <a:ext cx="4723862" cy="3753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i="1" dirty="0"/>
                    <a:t>Estructura de costos</a:t>
                  </a:r>
                </a:p>
              </p:txBody>
            </p:sp>
            <p:sp>
              <p:nvSpPr>
                <p:cNvPr id="93" name="CuadroTexto 92">
                  <a:extLst>
                    <a:ext uri="{FF2B5EF4-FFF2-40B4-BE49-F238E27FC236}">
                      <a16:creationId xmlns:a16="http://schemas.microsoft.com/office/drawing/2014/main" id="{65C2ACDD-7224-499A-B81F-B8EFA4083428}"/>
                    </a:ext>
                  </a:extLst>
                </p:cNvPr>
                <p:cNvSpPr txBox="1"/>
                <p:nvPr/>
              </p:nvSpPr>
              <p:spPr>
                <a:xfrm>
                  <a:off x="88106" y="5371426"/>
                  <a:ext cx="5022889" cy="8446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¿cuáles son los costos más importantes inherentes a nuestro modelo de negocio?</a:t>
                  </a:r>
                </a:p>
                <a:p>
                  <a:r>
                    <a:rPr lang="es-ES" sz="1200" i="1" dirty="0"/>
                    <a:t>¿qué recursos clave son los más costosos?</a:t>
                  </a:r>
                </a:p>
                <a:p>
                  <a:r>
                    <a:rPr lang="es-ES" sz="1200" i="1" dirty="0"/>
                    <a:t>¿qué actividades clave son las </a:t>
                  </a:r>
                  <a:r>
                    <a:rPr lang="es-ES" sz="1200" i="1"/>
                    <a:t>más costosas?</a:t>
                  </a:r>
                  <a:endParaRPr lang="es-ES" sz="1200" i="1" dirty="0"/>
                </a:p>
              </p:txBody>
            </p:sp>
            <p:pic>
              <p:nvPicPr>
                <p:cNvPr id="94" name="Gráfico 93" descr="Ábaco">
                  <a:extLst>
                    <a:ext uri="{FF2B5EF4-FFF2-40B4-BE49-F238E27FC236}">
                      <a16:creationId xmlns:a16="http://schemas.microsoft.com/office/drawing/2014/main" id="{D427B26E-1D00-4E98-BD80-20634B853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14627" y="5039432"/>
                  <a:ext cx="553998" cy="553998"/>
                </a:xfrm>
                <a:prstGeom prst="rect">
                  <a:avLst/>
                </a:prstGeom>
              </p:spPr>
            </p:pic>
          </p:grpSp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D1A71D65-9B5E-41A3-94B0-D946C129B200}"/>
                  </a:ext>
                </a:extLst>
              </p:cNvPr>
              <p:cNvGrpSpPr/>
              <p:nvPr/>
            </p:nvGrpSpPr>
            <p:grpSpPr>
              <a:xfrm>
                <a:off x="8088183" y="4989308"/>
                <a:ext cx="3869533" cy="1869312"/>
                <a:chOff x="5799826" y="4989308"/>
                <a:chExt cx="5890604" cy="1869312"/>
              </a:xfrm>
            </p:grpSpPr>
            <p:sp>
              <p:nvSpPr>
                <p:cNvPr id="87" name="CuadroTexto 86">
                  <a:extLst>
                    <a:ext uri="{FF2B5EF4-FFF2-40B4-BE49-F238E27FC236}">
                      <a16:creationId xmlns:a16="http://schemas.microsoft.com/office/drawing/2014/main" id="{36ACFA6B-5F94-4B46-89BD-4E28BD9E0CCB}"/>
                    </a:ext>
                  </a:extLst>
                </p:cNvPr>
                <p:cNvSpPr txBox="1"/>
                <p:nvPr/>
              </p:nvSpPr>
              <p:spPr>
                <a:xfrm>
                  <a:off x="5845214" y="5052071"/>
                  <a:ext cx="392288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i="1" dirty="0"/>
                    <a:t>Fuentes de Ingresos</a:t>
                  </a:r>
                </a:p>
              </p:txBody>
            </p:sp>
            <p:sp>
              <p:nvSpPr>
                <p:cNvPr id="88" name="CuadroTexto 87">
                  <a:extLst>
                    <a:ext uri="{FF2B5EF4-FFF2-40B4-BE49-F238E27FC236}">
                      <a16:creationId xmlns:a16="http://schemas.microsoft.com/office/drawing/2014/main" id="{9C8347B4-79DC-415A-BE6D-880318F26B64}"/>
                    </a:ext>
                  </a:extLst>
                </p:cNvPr>
                <p:cNvSpPr txBox="1"/>
                <p:nvPr/>
              </p:nvSpPr>
              <p:spPr>
                <a:xfrm>
                  <a:off x="5845213" y="5365367"/>
                  <a:ext cx="4975074" cy="1413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¿cómo genero ingresos? ¿qué valor están realmente dispuestos a pagar nuestros clientes?</a:t>
                  </a:r>
                </a:p>
                <a:p>
                  <a:r>
                    <a:rPr lang="es-ES" sz="1200" i="1" dirty="0"/>
                    <a:t>¿para qué pagan actualmente?</a:t>
                  </a:r>
                </a:p>
                <a:p>
                  <a:r>
                    <a:rPr lang="es-ES" sz="1200" i="1" dirty="0"/>
                    <a:t>¿cómo están pagando ahora?</a:t>
                  </a:r>
                </a:p>
                <a:p>
                  <a:r>
                    <a:rPr lang="es-ES" sz="1200" i="1" dirty="0"/>
                    <a:t>¿cómo preferirían pagar?</a:t>
                  </a:r>
                </a:p>
                <a:p>
                  <a:r>
                    <a:rPr lang="es-ES" sz="1200" i="1" dirty="0"/>
                    <a:t>¿cuánto contribuye cada fuente de </a:t>
                  </a:r>
                </a:p>
                <a:p>
                  <a:r>
                    <a:rPr lang="es-ES" sz="1200" i="1" dirty="0"/>
                    <a:t>ingresos a los ingresos totales?</a:t>
                  </a:r>
                </a:p>
              </p:txBody>
            </p:sp>
            <p:pic>
              <p:nvPicPr>
                <p:cNvPr id="89" name="Gráfico 88" descr="Caja registradora">
                  <a:extLst>
                    <a:ext uri="{FF2B5EF4-FFF2-40B4-BE49-F238E27FC236}">
                      <a16:creationId xmlns:a16="http://schemas.microsoft.com/office/drawing/2014/main" id="{3253B072-2DE7-4027-B079-DD73FEB11C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922052" y="5022219"/>
                  <a:ext cx="666613" cy="666613"/>
                </a:xfrm>
                <a:prstGeom prst="rect">
                  <a:avLst/>
                </a:prstGeom>
              </p:spPr>
            </p:pic>
            <p:sp>
              <p:nvSpPr>
                <p:cNvPr id="90" name="Rectángulo 89">
                  <a:extLst>
                    <a:ext uri="{FF2B5EF4-FFF2-40B4-BE49-F238E27FC236}">
                      <a16:creationId xmlns:a16="http://schemas.microsoft.com/office/drawing/2014/main" id="{93DB488F-671C-455F-9CA4-2D7C3BD43F42}"/>
                    </a:ext>
                  </a:extLst>
                </p:cNvPr>
                <p:cNvSpPr/>
                <p:nvPr/>
              </p:nvSpPr>
              <p:spPr>
                <a:xfrm>
                  <a:off x="5799826" y="4989308"/>
                  <a:ext cx="5890604" cy="1869312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grpSp>
            <p:nvGrpSpPr>
              <p:cNvPr id="82" name="Grupo 81">
                <a:extLst>
                  <a:ext uri="{FF2B5EF4-FFF2-40B4-BE49-F238E27FC236}">
                    <a16:creationId xmlns:a16="http://schemas.microsoft.com/office/drawing/2014/main" id="{2630C8D6-8275-4E12-8AD6-9D35731C7F31}"/>
                  </a:ext>
                </a:extLst>
              </p:cNvPr>
              <p:cNvGrpSpPr/>
              <p:nvPr/>
            </p:nvGrpSpPr>
            <p:grpSpPr>
              <a:xfrm>
                <a:off x="4025489" y="5011242"/>
                <a:ext cx="4049494" cy="1842778"/>
                <a:chOff x="39154" y="5015221"/>
                <a:chExt cx="5768625" cy="1842778"/>
              </a:xfrm>
            </p:grpSpPr>
            <p:sp>
              <p:nvSpPr>
                <p:cNvPr id="84" name="Rectángulo 83">
                  <a:extLst>
                    <a:ext uri="{FF2B5EF4-FFF2-40B4-BE49-F238E27FC236}">
                      <a16:creationId xmlns:a16="http://schemas.microsoft.com/office/drawing/2014/main" id="{83C8ED07-C8F5-4AAD-9DF9-62070D5E332A}"/>
                    </a:ext>
                  </a:extLst>
                </p:cNvPr>
                <p:cNvSpPr/>
                <p:nvPr/>
              </p:nvSpPr>
              <p:spPr>
                <a:xfrm>
                  <a:off x="39154" y="5015221"/>
                  <a:ext cx="5768625" cy="1842778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2CB6CDBF-C07D-40F7-90B3-530AB5681419}"/>
                    </a:ext>
                  </a:extLst>
                </p:cNvPr>
                <p:cNvSpPr txBox="1"/>
                <p:nvPr/>
              </p:nvSpPr>
              <p:spPr>
                <a:xfrm>
                  <a:off x="88110" y="5052071"/>
                  <a:ext cx="4723861" cy="6569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i="1" dirty="0"/>
                    <a:t>Métricas de impacto social y ambiental</a:t>
                  </a:r>
                </a:p>
              </p:txBody>
            </p:sp>
            <p:sp>
              <p:nvSpPr>
                <p:cNvPr id="86" name="CuadroTexto 85">
                  <a:extLst>
                    <a:ext uri="{FF2B5EF4-FFF2-40B4-BE49-F238E27FC236}">
                      <a16:creationId xmlns:a16="http://schemas.microsoft.com/office/drawing/2014/main" id="{69D6F019-7564-4F06-9386-38754EA7FD02}"/>
                    </a:ext>
                  </a:extLst>
                </p:cNvPr>
                <p:cNvSpPr txBox="1"/>
                <p:nvPr/>
              </p:nvSpPr>
              <p:spPr>
                <a:xfrm>
                  <a:off x="88108" y="5685983"/>
                  <a:ext cx="4819093" cy="4692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200" i="1" dirty="0"/>
                    <a:t>¿Cuál es el impacto ambiental esperado?</a:t>
                  </a:r>
                </a:p>
                <a:p>
                  <a:r>
                    <a:rPr lang="es-ES" sz="1200" i="1" dirty="0"/>
                    <a:t>¿Cuál es el impacto social esperado?</a:t>
                  </a:r>
                </a:p>
              </p:txBody>
            </p:sp>
          </p:grpSp>
          <p:pic>
            <p:nvPicPr>
              <p:cNvPr id="83" name="Gráfico 82" descr="Regar planta con relleno sólido">
                <a:extLst>
                  <a:ext uri="{FF2B5EF4-FFF2-40B4-BE49-F238E27FC236}">
                    <a16:creationId xmlns:a16="http://schemas.microsoft.com/office/drawing/2014/main" id="{39CA247D-B4C5-414D-A72A-17581B895F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7319135" y="5048092"/>
                <a:ext cx="575738" cy="575738"/>
              </a:xfrm>
              <a:prstGeom prst="rect">
                <a:avLst/>
              </a:prstGeom>
            </p:spPr>
          </p:pic>
        </p:grpSp>
        <p:pic>
          <p:nvPicPr>
            <p:cNvPr id="65" name="Gráfico 64" descr="Ciclismo en compañía con relleno sólido">
              <a:extLst>
                <a:ext uri="{FF2B5EF4-FFF2-40B4-BE49-F238E27FC236}">
                  <a16:creationId xmlns:a16="http://schemas.microsoft.com/office/drawing/2014/main" id="{9DD59794-CB4B-428A-B033-01B329A8B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365936" y="2574387"/>
              <a:ext cx="555743" cy="548020"/>
            </a:xfrm>
            <a:prstGeom prst="rect">
              <a:avLst/>
            </a:prstGeom>
          </p:spPr>
        </p:pic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15398C7D-5CF8-409F-BB22-72F515D0E63E}"/>
                </a:ext>
              </a:extLst>
            </p:cNvPr>
            <p:cNvSpPr/>
            <p:nvPr/>
          </p:nvSpPr>
          <p:spPr>
            <a:xfrm>
              <a:off x="4895155" y="2543690"/>
              <a:ext cx="2365462" cy="244847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CD2B2E27-51FB-4DC0-91E6-AAA4C91A6BCD}"/>
                </a:ext>
              </a:extLst>
            </p:cNvPr>
            <p:cNvSpPr/>
            <p:nvPr/>
          </p:nvSpPr>
          <p:spPr>
            <a:xfrm>
              <a:off x="4919485" y="1134076"/>
              <a:ext cx="2341131" cy="1412868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80CE559D-C385-44BE-9C5D-8A3700732043}"/>
                </a:ext>
              </a:extLst>
            </p:cNvPr>
            <p:cNvSpPr txBox="1"/>
            <p:nvPr/>
          </p:nvSpPr>
          <p:spPr>
            <a:xfrm>
              <a:off x="4960966" y="153522"/>
              <a:ext cx="22236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Problema identificado</a:t>
              </a:r>
            </a:p>
            <a:p>
              <a:endParaRPr lang="es-ES" i="1" dirty="0"/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89F8CA76-D092-4634-87ED-D752072CC8FF}"/>
                </a:ext>
              </a:extLst>
            </p:cNvPr>
            <p:cNvSpPr txBox="1"/>
            <p:nvPr/>
          </p:nvSpPr>
          <p:spPr>
            <a:xfrm>
              <a:off x="4959506" y="1227424"/>
              <a:ext cx="193620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Propósito</a:t>
              </a:r>
            </a:p>
            <a:p>
              <a:r>
                <a:rPr lang="es-ES" sz="1200" i="1" dirty="0"/>
                <a:t>El motivo del modelo de negocio de impacto a corto, mediano, largo plazo.</a:t>
              </a:r>
            </a:p>
          </p:txBody>
        </p:sp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3605B473-ACE0-4960-AB98-DECA5AEABA55}"/>
                </a:ext>
              </a:extLst>
            </p:cNvPr>
            <p:cNvSpPr txBox="1"/>
            <p:nvPr/>
          </p:nvSpPr>
          <p:spPr>
            <a:xfrm>
              <a:off x="4978571" y="485158"/>
              <a:ext cx="609834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200" i="1" dirty="0"/>
                <a:t>En una frase</a:t>
              </a:r>
              <a:endParaRPr lang="en-US" sz="1200" dirty="0"/>
            </a:p>
          </p:txBody>
        </p:sp>
        <p:pic>
          <p:nvPicPr>
            <p:cNvPr id="71" name="Gráfico 70" descr="Huellas con relleno sólido">
              <a:extLst>
                <a:ext uri="{FF2B5EF4-FFF2-40B4-BE49-F238E27FC236}">
                  <a16:creationId xmlns:a16="http://schemas.microsoft.com/office/drawing/2014/main" id="{EAFA4A32-1E06-4DC6-9ECB-C78BAF702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637751" y="1238279"/>
              <a:ext cx="597176" cy="597176"/>
            </a:xfrm>
            <a:prstGeom prst="rect">
              <a:avLst/>
            </a:prstGeom>
          </p:spPr>
        </p:pic>
        <p:pic>
          <p:nvPicPr>
            <p:cNvPr id="72" name="Gráfico 71" descr="Insignia signo de interrogación con relleno sólido">
              <a:extLst>
                <a:ext uri="{FF2B5EF4-FFF2-40B4-BE49-F238E27FC236}">
                  <a16:creationId xmlns:a16="http://schemas.microsoft.com/office/drawing/2014/main" id="{5F7CA178-AA79-4C25-AAC9-45C166A4F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6670875" y="444231"/>
              <a:ext cx="545798" cy="572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4067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377</Words>
  <Application>Microsoft Office PowerPoint</Application>
  <PresentationFormat>Panorámica</PresentationFormat>
  <Paragraphs>50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ISRAEL GARCIA REAL</dc:creator>
  <cp:lastModifiedBy>Fernando Troilo</cp:lastModifiedBy>
  <cp:revision>16</cp:revision>
  <dcterms:created xsi:type="dcterms:W3CDTF">2020-10-10T16:26:43Z</dcterms:created>
  <dcterms:modified xsi:type="dcterms:W3CDTF">2021-07-17T11:45:18Z</dcterms:modified>
</cp:coreProperties>
</file>